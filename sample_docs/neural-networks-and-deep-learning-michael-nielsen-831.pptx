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Default Extension="jpg" ContentType="image/jpg"/>
  <Override PartName="/ppt/slides/slide10.xml" ContentType="application/vnd.openxmlformats-officedocument.presentationml.slide+xml"/>
  <Override PartName="/ppt/slides/slide11.xml" ContentType="application/vnd.openxmlformats-officedocument.presentationml.slide+xml"/>
  <Default Extension="png" ContentType="image/png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  <p:sldId id="436" r:id="rId186"/>
    <p:sldId id="437" r:id="rId187"/>
    <p:sldId id="438" r:id="rId188"/>
    <p:sldId id="439" r:id="rId189"/>
    <p:sldId id="440" r:id="rId190"/>
    <p:sldId id="441" r:id="rId191"/>
    <p:sldId id="442" r:id="rId192"/>
    <p:sldId id="443" r:id="rId193"/>
    <p:sldId id="444" r:id="rId194"/>
    <p:sldId id="445" r:id="rId195"/>
    <p:sldId id="446" r:id="rId196"/>
    <p:sldId id="447" r:id="rId197"/>
    <p:sldId id="448" r:id="rId198"/>
    <p:sldId id="449" r:id="rId199"/>
    <p:sldId id="450" r:id="rId200"/>
    <p:sldId id="451" r:id="rId201"/>
    <p:sldId id="452" r:id="rId202"/>
    <p:sldId id="453" r:id="rId203"/>
    <p:sldId id="454" r:id="rId204"/>
    <p:sldId id="455" r:id="rId205"/>
    <p:sldId id="456" r:id="rId206"/>
    <p:sldId id="457" r:id="rId207"/>
    <p:sldId id="458" r:id="rId208"/>
    <p:sldId id="459" r:id="rId209"/>
    <p:sldId id="460" r:id="rId210"/>
    <p:sldId id="461" r:id="rId211"/>
    <p:sldId id="462" r:id="rId212"/>
    <p:sldId id="463" r:id="rId213"/>
    <p:sldId id="464" r:id="rId214"/>
    <p:sldId id="465" r:id="rId215"/>
    <p:sldId id="466" r:id="rId216"/>
    <p:sldId id="467" r:id="rId217"/>
    <p:sldId id="468" r:id="rId218"/>
    <p:sldId id="469" r:id="rId219"/>
    <p:sldId id="470" r:id="rId220"/>
    <p:sldId id="471" r:id="rId221"/>
    <p:sldId id="472" r:id="rId222"/>
    <p:sldId id="473" r:id="rId223"/>
    <p:sldId id="474" r:id="rId224"/>
    <p:sldId id="475" r:id="rId225"/>
    <p:sldId id="476" r:id="rId226"/>
    <p:sldId id="477" r:id="rId227"/>
    <p:sldId id="478" r:id="rId228"/>
    <p:sldId id="479" r:id="rId229"/>
  </p:sldIdLst>
  <p:sldSz cx="6121400" cy="8642350"/>
  <p:notesSz cx="6121400" cy="864235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Relationship Id="rId161" Type="http://schemas.openxmlformats.org/officeDocument/2006/relationships/slide" Target="slides/slide156.xml"/><Relationship Id="rId162" Type="http://schemas.openxmlformats.org/officeDocument/2006/relationships/slide" Target="slides/slide157.xml"/><Relationship Id="rId163" Type="http://schemas.openxmlformats.org/officeDocument/2006/relationships/slide" Target="slides/slide158.xml"/><Relationship Id="rId164" Type="http://schemas.openxmlformats.org/officeDocument/2006/relationships/slide" Target="slides/slide159.xml"/><Relationship Id="rId165" Type="http://schemas.openxmlformats.org/officeDocument/2006/relationships/slide" Target="slides/slide160.xml"/><Relationship Id="rId166" Type="http://schemas.openxmlformats.org/officeDocument/2006/relationships/slide" Target="slides/slide161.xml"/><Relationship Id="rId167" Type="http://schemas.openxmlformats.org/officeDocument/2006/relationships/slide" Target="slides/slide162.xml"/><Relationship Id="rId168" Type="http://schemas.openxmlformats.org/officeDocument/2006/relationships/slide" Target="slides/slide163.xml"/><Relationship Id="rId169" Type="http://schemas.openxmlformats.org/officeDocument/2006/relationships/slide" Target="slides/slide164.xml"/><Relationship Id="rId170" Type="http://schemas.openxmlformats.org/officeDocument/2006/relationships/slide" Target="slides/slide165.xml"/><Relationship Id="rId171" Type="http://schemas.openxmlformats.org/officeDocument/2006/relationships/slide" Target="slides/slide166.xml"/><Relationship Id="rId172" Type="http://schemas.openxmlformats.org/officeDocument/2006/relationships/slide" Target="slides/slide167.xml"/><Relationship Id="rId173" Type="http://schemas.openxmlformats.org/officeDocument/2006/relationships/slide" Target="slides/slide168.xml"/><Relationship Id="rId174" Type="http://schemas.openxmlformats.org/officeDocument/2006/relationships/slide" Target="slides/slide169.xml"/><Relationship Id="rId175" Type="http://schemas.openxmlformats.org/officeDocument/2006/relationships/slide" Target="slides/slide170.xml"/><Relationship Id="rId176" Type="http://schemas.openxmlformats.org/officeDocument/2006/relationships/slide" Target="slides/slide171.xml"/><Relationship Id="rId177" Type="http://schemas.openxmlformats.org/officeDocument/2006/relationships/slide" Target="slides/slide172.xml"/><Relationship Id="rId178" Type="http://schemas.openxmlformats.org/officeDocument/2006/relationships/slide" Target="slides/slide173.xml"/><Relationship Id="rId179" Type="http://schemas.openxmlformats.org/officeDocument/2006/relationships/slide" Target="slides/slide174.xml"/><Relationship Id="rId180" Type="http://schemas.openxmlformats.org/officeDocument/2006/relationships/slide" Target="slides/slide175.xml"/><Relationship Id="rId181" Type="http://schemas.openxmlformats.org/officeDocument/2006/relationships/slide" Target="slides/slide176.xml"/><Relationship Id="rId182" Type="http://schemas.openxmlformats.org/officeDocument/2006/relationships/slide" Target="slides/slide177.xml"/><Relationship Id="rId183" Type="http://schemas.openxmlformats.org/officeDocument/2006/relationships/slide" Target="slides/slide178.xml"/><Relationship Id="rId184" Type="http://schemas.openxmlformats.org/officeDocument/2006/relationships/slide" Target="slides/slide179.xml"/><Relationship Id="rId185" Type="http://schemas.openxmlformats.org/officeDocument/2006/relationships/slide" Target="slides/slide180.xml"/><Relationship Id="rId186" Type="http://schemas.openxmlformats.org/officeDocument/2006/relationships/slide" Target="slides/slide181.xml"/><Relationship Id="rId187" Type="http://schemas.openxmlformats.org/officeDocument/2006/relationships/slide" Target="slides/slide182.xml"/><Relationship Id="rId188" Type="http://schemas.openxmlformats.org/officeDocument/2006/relationships/slide" Target="slides/slide183.xml"/><Relationship Id="rId189" Type="http://schemas.openxmlformats.org/officeDocument/2006/relationships/slide" Target="slides/slide184.xml"/><Relationship Id="rId190" Type="http://schemas.openxmlformats.org/officeDocument/2006/relationships/slide" Target="slides/slide185.xml"/><Relationship Id="rId191" Type="http://schemas.openxmlformats.org/officeDocument/2006/relationships/slide" Target="slides/slide186.xml"/><Relationship Id="rId192" Type="http://schemas.openxmlformats.org/officeDocument/2006/relationships/slide" Target="slides/slide187.xml"/><Relationship Id="rId193" Type="http://schemas.openxmlformats.org/officeDocument/2006/relationships/slide" Target="slides/slide188.xml"/><Relationship Id="rId194" Type="http://schemas.openxmlformats.org/officeDocument/2006/relationships/slide" Target="slides/slide189.xml"/><Relationship Id="rId195" Type="http://schemas.openxmlformats.org/officeDocument/2006/relationships/slide" Target="slides/slide190.xml"/><Relationship Id="rId196" Type="http://schemas.openxmlformats.org/officeDocument/2006/relationships/slide" Target="slides/slide191.xml"/><Relationship Id="rId197" Type="http://schemas.openxmlformats.org/officeDocument/2006/relationships/slide" Target="slides/slide192.xml"/><Relationship Id="rId198" Type="http://schemas.openxmlformats.org/officeDocument/2006/relationships/slide" Target="slides/slide193.xml"/><Relationship Id="rId199" Type="http://schemas.openxmlformats.org/officeDocument/2006/relationships/slide" Target="slides/slide194.xml"/><Relationship Id="rId200" Type="http://schemas.openxmlformats.org/officeDocument/2006/relationships/slide" Target="slides/slide195.xml"/><Relationship Id="rId201" Type="http://schemas.openxmlformats.org/officeDocument/2006/relationships/slide" Target="slides/slide196.xml"/><Relationship Id="rId202" Type="http://schemas.openxmlformats.org/officeDocument/2006/relationships/slide" Target="slides/slide197.xml"/><Relationship Id="rId203" Type="http://schemas.openxmlformats.org/officeDocument/2006/relationships/slide" Target="slides/slide198.xml"/><Relationship Id="rId204" Type="http://schemas.openxmlformats.org/officeDocument/2006/relationships/slide" Target="slides/slide199.xml"/><Relationship Id="rId205" Type="http://schemas.openxmlformats.org/officeDocument/2006/relationships/slide" Target="slides/slide200.xml"/><Relationship Id="rId206" Type="http://schemas.openxmlformats.org/officeDocument/2006/relationships/slide" Target="slides/slide201.xml"/><Relationship Id="rId207" Type="http://schemas.openxmlformats.org/officeDocument/2006/relationships/slide" Target="slides/slide202.xml"/><Relationship Id="rId208" Type="http://schemas.openxmlformats.org/officeDocument/2006/relationships/slide" Target="slides/slide203.xml"/><Relationship Id="rId209" Type="http://schemas.openxmlformats.org/officeDocument/2006/relationships/slide" Target="slides/slide204.xml"/><Relationship Id="rId210" Type="http://schemas.openxmlformats.org/officeDocument/2006/relationships/slide" Target="slides/slide205.xml"/><Relationship Id="rId211" Type="http://schemas.openxmlformats.org/officeDocument/2006/relationships/slide" Target="slides/slide206.xml"/><Relationship Id="rId212" Type="http://schemas.openxmlformats.org/officeDocument/2006/relationships/slide" Target="slides/slide207.xml"/><Relationship Id="rId213" Type="http://schemas.openxmlformats.org/officeDocument/2006/relationships/slide" Target="slides/slide208.xml"/><Relationship Id="rId214" Type="http://schemas.openxmlformats.org/officeDocument/2006/relationships/slide" Target="slides/slide209.xml"/><Relationship Id="rId215" Type="http://schemas.openxmlformats.org/officeDocument/2006/relationships/slide" Target="slides/slide210.xml"/><Relationship Id="rId216" Type="http://schemas.openxmlformats.org/officeDocument/2006/relationships/slide" Target="slides/slide211.xml"/><Relationship Id="rId217" Type="http://schemas.openxmlformats.org/officeDocument/2006/relationships/slide" Target="slides/slide212.xml"/><Relationship Id="rId218" Type="http://schemas.openxmlformats.org/officeDocument/2006/relationships/slide" Target="slides/slide213.xml"/><Relationship Id="rId219" Type="http://schemas.openxmlformats.org/officeDocument/2006/relationships/slide" Target="slides/slide214.xml"/><Relationship Id="rId220" Type="http://schemas.openxmlformats.org/officeDocument/2006/relationships/slide" Target="slides/slide215.xml"/><Relationship Id="rId221" Type="http://schemas.openxmlformats.org/officeDocument/2006/relationships/slide" Target="slides/slide216.xml"/><Relationship Id="rId222" Type="http://schemas.openxmlformats.org/officeDocument/2006/relationships/slide" Target="slides/slide217.xml"/><Relationship Id="rId223" Type="http://schemas.openxmlformats.org/officeDocument/2006/relationships/slide" Target="slides/slide218.xml"/><Relationship Id="rId224" Type="http://schemas.openxmlformats.org/officeDocument/2006/relationships/slide" Target="slides/slide219.xml"/><Relationship Id="rId225" Type="http://schemas.openxmlformats.org/officeDocument/2006/relationships/slide" Target="slides/slide220.xml"/><Relationship Id="rId226" Type="http://schemas.openxmlformats.org/officeDocument/2006/relationships/slide" Target="slides/slide221.xml"/><Relationship Id="rId227" Type="http://schemas.openxmlformats.org/officeDocument/2006/relationships/slide" Target="slides/slide222.xml"/><Relationship Id="rId228" Type="http://schemas.openxmlformats.org/officeDocument/2006/relationships/slide" Target="slides/slide223.xml"/><Relationship Id="rId229" Type="http://schemas.openxmlformats.org/officeDocument/2006/relationships/slide" Target="slides/slide224.xml"/></Relationships>
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59105" y="2679128"/>
            <a:ext cx="5203190" cy="181489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300" b="1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918210" y="4839716"/>
            <a:ext cx="4284980" cy="216058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85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300" b="1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85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300" b="1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06070" y="1987740"/>
            <a:ext cx="2662809" cy="57039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3152521" y="1987740"/>
            <a:ext cx="2662809" cy="57039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300" b="1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177125" y="1605713"/>
            <a:ext cx="3235960" cy="37528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300" b="1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060842" y="4142315"/>
            <a:ext cx="4379595" cy="38747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85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081276" y="8037385"/>
            <a:ext cx="1958848" cy="432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06070" y="8037385"/>
            <a:ext cx="1407922" cy="432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4407408" y="8037385"/>
            <a:ext cx="1407922" cy="432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neuralnetworksanddeeplearning.com/" TargetMode="External"/></Relationships>
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5.xml"/><Relationship Id="rId3" Type="http://schemas.openxmlformats.org/officeDocument/2006/relationships/slide" Target="slide7.xml"/><Relationship Id="rId4" Type="http://schemas.openxmlformats.org/officeDocument/2006/relationships/slide" Target="slide9.xml"/><Relationship Id="rId5" Type="http://schemas.openxmlformats.org/officeDocument/2006/relationships/slide" Target="slide10.xml"/><Relationship Id="rId6" Type="http://schemas.openxmlformats.org/officeDocument/2006/relationships/slide" Target="slide15.xml"/><Relationship Id="rId7" Type="http://schemas.openxmlformats.org/officeDocument/2006/relationships/slide" Target="slide18.xml"/><Relationship Id="rId8" Type="http://schemas.openxmlformats.org/officeDocument/2006/relationships/slide" Target="slide20.xml"/><Relationship Id="rId9" Type="http://schemas.openxmlformats.org/officeDocument/2006/relationships/slide" Target="slide23.xml"/><Relationship Id="rId10" Type="http://schemas.openxmlformats.org/officeDocument/2006/relationships/slide" Target="slide32.xml"/><Relationship Id="rId11" Type="http://schemas.openxmlformats.org/officeDocument/2006/relationships/slide" Target="slide47.xml"/><Relationship Id="rId12" Type="http://schemas.openxmlformats.org/officeDocument/2006/relationships/slide" Target="slide51.xml"/><Relationship Id="rId13" Type="http://schemas.openxmlformats.org/officeDocument/2006/relationships/slide" Target="slide48.xml"/><Relationship Id="rId14" Type="http://schemas.openxmlformats.org/officeDocument/2006/relationships/slide" Target="slide49.xml"/><Relationship Id="rId15" Type="http://schemas.openxmlformats.org/officeDocument/2006/relationships/slide" Target="slide57.xml"/><Relationship Id="rId16" Type="http://schemas.openxmlformats.org/officeDocument/2006/relationships/slide" Target="slide58.xml"/><Relationship Id="rId17" Type="http://schemas.openxmlformats.org/officeDocument/2006/relationships/slide" Target="slide60.xml"/><Relationship Id="rId18" Type="http://schemas.openxmlformats.org/officeDocument/2006/relationships/slide" Target="slide61.xml"/><Relationship Id="rId19" Type="http://schemas.openxmlformats.org/officeDocument/2006/relationships/slide" Target="slide70.xml"/><Relationship Id="rId20" Type="http://schemas.openxmlformats.org/officeDocument/2006/relationships/slide" Target="slide75.xml"/><Relationship Id="rId21" Type="http://schemas.openxmlformats.org/officeDocument/2006/relationships/slide" Target="slide76.xml"/><Relationship Id="rId22" Type="http://schemas.openxmlformats.org/officeDocument/2006/relationships/slide" Target="slide78.xml"/><Relationship Id="rId23" Type="http://schemas.openxmlformats.org/officeDocument/2006/relationships/slide" Target="slide81.xml"/><Relationship Id="rId24" Type="http://schemas.openxmlformats.org/officeDocument/2006/relationships/slide" Target="slide86.xml"/><Relationship Id="rId25" Type="http://schemas.openxmlformats.org/officeDocument/2006/relationships/slide" Target="slide91.xml"/><Relationship Id="rId26" Type="http://schemas.openxmlformats.org/officeDocument/2006/relationships/slide" Target="slide95.xml"/><Relationship Id="rId27" Type="http://schemas.openxmlformats.org/officeDocument/2006/relationships/slide" Target="slide67.xml"/><Relationship Id="rId28" Type="http://schemas.openxmlformats.org/officeDocument/2006/relationships/slide" Target="slide102.xml"/><Relationship Id="rId29" Type="http://schemas.openxmlformats.org/officeDocument/2006/relationships/slide" Target="slide106.xml"/><Relationship Id="rId30" Type="http://schemas.openxmlformats.org/officeDocument/2006/relationships/slide" Target="slide115.xml"/><Relationship Id="rId31" Type="http://schemas.openxmlformats.org/officeDocument/2006/relationships/slide" Target="slide126.xml"/></Relationships>
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26.xml"/><Relationship Id="rId3" Type="http://schemas.openxmlformats.org/officeDocument/2006/relationships/slide" Target="slide135.xml"/><Relationship Id="rId4" Type="http://schemas.openxmlformats.org/officeDocument/2006/relationships/slide" Target="slide137.xml"/><Relationship Id="rId5" Type="http://schemas.openxmlformats.org/officeDocument/2006/relationships/slide" Target="slide138.xml"/><Relationship Id="rId6" Type="http://schemas.openxmlformats.org/officeDocument/2006/relationships/slide" Target="slide147.xml"/><Relationship Id="rId7" Type="http://schemas.openxmlformats.org/officeDocument/2006/relationships/slide" Target="slide154.xml"/><Relationship Id="rId8" Type="http://schemas.openxmlformats.org/officeDocument/2006/relationships/slide" Target="slide159.xml"/><Relationship Id="rId9" Type="http://schemas.openxmlformats.org/officeDocument/2006/relationships/slide" Target="slide162.xml"/><Relationship Id="rId10" Type="http://schemas.openxmlformats.org/officeDocument/2006/relationships/slide" Target="slide167.xml"/><Relationship Id="rId11" Type="http://schemas.openxmlformats.org/officeDocument/2006/relationships/slide" Target="slide171.xml"/><Relationship Id="rId12" Type="http://schemas.openxmlformats.org/officeDocument/2006/relationships/slide" Target="slide172.xml"/><Relationship Id="rId13" Type="http://schemas.openxmlformats.org/officeDocument/2006/relationships/slide" Target="slide175.xml"/><Relationship Id="rId14" Type="http://schemas.openxmlformats.org/officeDocument/2006/relationships/slide" Target="slide184.xml"/><Relationship Id="rId15" Type="http://schemas.openxmlformats.org/officeDocument/2006/relationships/slide" Target="slide193.xml"/><Relationship Id="rId16" Type="http://schemas.openxmlformats.org/officeDocument/2006/relationships/slide" Target="slide204.xml"/><Relationship Id="rId17" Type="http://schemas.openxmlformats.org/officeDocument/2006/relationships/slide" Target="slide210.xml"/><Relationship Id="rId18" Type="http://schemas.openxmlformats.org/officeDocument/2006/relationships/slide" Target="slide213.xml"/><Relationship Id="rId19" Type="http://schemas.openxmlformats.org/officeDocument/2006/relationships/slide" Target="slide219.xml"/></Relationships>
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.jpg"/></Relationships>
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jpg"/><Relationship Id="rId3" Type="http://schemas.openxmlformats.org/officeDocument/2006/relationships/hyperlink" Target="http://books.google.ca/books/about/Principles_of_neurodynamics.html?id=7FhRAAAAMAAJ" TargetMode="External"/></Relationships>
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scholar.google.ca/scholar?cluster=4035975255085082870" TargetMode="External"/><Relationship Id="rId3" Type="http://schemas.openxmlformats.org/officeDocument/2006/relationships/image" Target="../media/image3.png"/></Relationships>
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.png"/></Relationships>
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png"/><Relationship Id="rId3" Type="http://schemas.openxmlformats.org/officeDocument/2006/relationships/image" Target="../media/image6.png"/><Relationship Id="rId4" Type="http://schemas.openxmlformats.org/officeDocument/2006/relationships/image" Target="../media/image7.png"/></Relationships>
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.png"/><Relationship Id="rId3" Type="http://schemas.openxmlformats.org/officeDocument/2006/relationships/image" Target="../media/image9.png"/><Relationship Id="rId4" Type="http://schemas.openxmlformats.org/officeDocument/2006/relationships/image" Target="../media/image10.png"/></Relationships>
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.png"/></Relationships>
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Relationship Id="rId3" Type="http://schemas.openxmlformats.org/officeDocument/2006/relationships/slide" Target="slide1.xml"/></Relationships>
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/Relationships>
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6.xml"/><Relationship Id="rId3" Type="http://schemas.openxmlformats.org/officeDocument/2006/relationships/slide" Target="slide17.xml"/></Relationships>
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.png"/><Relationship Id="rId3" Type="http://schemas.openxmlformats.org/officeDocument/2006/relationships/image" Target="../media/image13.png"/></Relationships>
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.jpg"/><Relationship Id="rId3" Type="http://schemas.openxmlformats.org/officeDocument/2006/relationships/image" Target="../media/image15.jpg"/><Relationship Id="rId4" Type="http://schemas.openxmlformats.org/officeDocument/2006/relationships/image" Target="../media/image16.jpg"/></Relationships>
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.png"/></Relationships>
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8.png"/><Relationship Id="rId3" Type="http://schemas.openxmlformats.org/officeDocument/2006/relationships/image" Target="../media/image19.png"/><Relationship Id="rId4" Type="http://schemas.openxmlformats.org/officeDocument/2006/relationships/image" Target="../media/image20.jpg"/></Relationships>
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.png"/><Relationship Id="rId3" Type="http://schemas.openxmlformats.org/officeDocument/2006/relationships/hyperlink" Target="http://yann.lecun.com/exdb/mnist/" TargetMode="External"/></Relationships>
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jpg"/><Relationship Id="rId3" Type="http://schemas.openxmlformats.org/officeDocument/2006/relationships/slide" Target="slide1.xml"/></Relationships>
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4.xml"/><Relationship Id="rId3" Type="http://schemas.openxmlformats.org/officeDocument/2006/relationships/image" Target="../media/image22.jpg"/></Relationships>
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6.xml"/><Relationship Id="rId3" Type="http://schemas.openxmlformats.org/officeDocument/2006/relationships/slide" Target="slide27.xml"/></Relationships>
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3.jpg"/><Relationship Id="rId3" Type="http://schemas.openxmlformats.org/officeDocument/2006/relationships/slide" Target="slide27.xml"/><Relationship Id="rId4" Type="http://schemas.openxmlformats.org/officeDocument/2006/relationships/slide" Target="slide28.xml"/></Relationships>
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en.wikipedia.org/wiki/Cauchy%E2%80%93Schwarz_inequality" TargetMode="External"/><Relationship Id="rId3" Type="http://schemas.openxmlformats.org/officeDocument/2006/relationships/slide" Target="slide1.xml"/><Relationship Id="rId4" Type="http://schemas.openxmlformats.org/officeDocument/2006/relationships/slide" Target="slide24.xml"/></Relationships>
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4.xml"/></Relationships>
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4.xml"/><Relationship Id="rId3" Type="http://schemas.openxmlformats.org/officeDocument/2006/relationships/slide" Target="slide30.xml"/></Relationships>
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github.com/mnielsen/neural" TargetMode="External"/><Relationship Id="rId3" Type="http://schemas.openxmlformats.org/officeDocument/2006/relationships/hyperlink" Target="https://github.com/mnielsen/neural-networks-and-deep-learning/archive/master.zip" TargetMode="External"/><Relationship Id="rId4" Type="http://schemas.openxmlformats.org/officeDocument/2006/relationships/slide" Target="slide1.xml"/><Relationship Id="rId5" Type="http://schemas.openxmlformats.org/officeDocument/2006/relationships/hyperlink" Target="http://www.scipy.org/install.html" TargetMode="External"/><Relationship Id="rId6" Type="http://schemas.openxmlformats.org/officeDocument/2006/relationships/hyperlink" Target="http://yann.lecun.com/exdb/mnist/" TargetMode="External"/><Relationship Id="rId7" Type="http://schemas.openxmlformats.org/officeDocument/2006/relationships/hyperlink" Target="http://www.deeplearning.net/tutorial/gettingstarted.html" TargetMode="External"/></Relationships>
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slide" Target="slide33.xml"/><Relationship Id="rId4" Type="http://schemas.openxmlformats.org/officeDocument/2006/relationships/slide" Target="slide16.xml"/></Relationships>
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github.com/mnielsen/neural-networks-and-deep-learning/blob/master/src/network.py" TargetMode="External"/></Relationships>
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/Relationships>
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.png"/><Relationship Id="rId3" Type="http://schemas.openxmlformats.org/officeDocument/2006/relationships/hyperlink" Target="https://github.com/mnielsen/neural-networks-and-deep-learning/blob/master/src/mnist_average_darkness.py" TargetMode="External"/></Relationships>
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github.com/mnielsen/neural-networks-and-deep-learning/blob/master/src/mnist_average_darkness.py" TargetMode="External"/><Relationship Id="rId3" Type="http://schemas.openxmlformats.org/officeDocument/2006/relationships/hyperlink" Target="http://scikit-learn.org/stable/" TargetMode="External"/><Relationship Id="rId4" Type="http://schemas.openxmlformats.org/officeDocument/2006/relationships/hyperlink" Target="http://www.csie.ntu.edu.tw/~cjlin/libsvm/" TargetMode="External"/><Relationship Id="rId5" Type="http://schemas.openxmlformats.org/officeDocument/2006/relationships/hyperlink" Target="https://github.com/mnielsen/neural-networks-and-deep-learning/blob/master/src/mnist_svm.py" TargetMode="External"/><Relationship Id="rId6" Type="http://schemas.openxmlformats.org/officeDocument/2006/relationships/hyperlink" Target="http://peekaboo-vision.blogspot.de/2010/09/mnist-for-ever.html" TargetMode="External"/><Relationship Id="rId7" Type="http://schemas.openxmlformats.org/officeDocument/2006/relationships/image" Target="../media/image25.png"/></Relationships>
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6.jpg"/><Relationship Id="rId3" Type="http://schemas.openxmlformats.org/officeDocument/2006/relationships/image" Target="../media/image27.jpg"/><Relationship Id="rId4" Type="http://schemas.openxmlformats.org/officeDocument/2006/relationships/image" Target="../media/image28.jpg"/></Relationships>
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9.png"/><Relationship Id="rId3" Type="http://schemas.openxmlformats.org/officeDocument/2006/relationships/image" Target="../media/image30.png"/></Relationships>
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://www.nature.com/nature/journal/v323/n6088/pdf/323533a0.pdf" TargetMode="External"/></Relationships>
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32.xml"/><Relationship Id="rId3" Type="http://schemas.openxmlformats.org/officeDocument/2006/relationships/image" Target="../media/image31.png"/><Relationship Id="rId4" Type="http://schemas.openxmlformats.org/officeDocument/2006/relationships/image" Target="../media/image32.png"/><Relationship Id="rId5" Type="http://schemas.openxmlformats.org/officeDocument/2006/relationships/slide" Target="slide16.xml"/></Relationships>
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49.xml"/><Relationship Id="rId3" Type="http://schemas.openxmlformats.org/officeDocument/2006/relationships/slide" Target="slide1.xml"/><Relationship Id="rId4" Type="http://schemas.openxmlformats.org/officeDocument/2006/relationships/slide" Target="slide32.xml"/></Relationships>
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4.xml"/><Relationship Id="rId3" Type="http://schemas.openxmlformats.org/officeDocument/2006/relationships/image" Target="../media/image33.png"/></Relationships>
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4.png"/></Relationships>
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slide" Target="slide57.xml"/><Relationship Id="rId4" Type="http://schemas.openxmlformats.org/officeDocument/2006/relationships/slide" Target="slide58.xml"/><Relationship Id="rId5" Type="http://schemas.openxmlformats.org/officeDocument/2006/relationships/slide" Target="slide61.xml"/></Relationships>
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52.xml"/><Relationship Id="rId3" Type="http://schemas.openxmlformats.org/officeDocument/2006/relationships/slide" Target="slide53.xml"/></Relationships>
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52.xml"/><Relationship Id="rId3" Type="http://schemas.openxmlformats.org/officeDocument/2006/relationships/slide" Target="slide53.xml"/><Relationship Id="rId4" Type="http://schemas.openxmlformats.org/officeDocument/2006/relationships/image" Target="../media/image35.png"/><Relationship Id="rId5" Type="http://schemas.openxmlformats.org/officeDocument/2006/relationships/slide" Target="slide54.xml"/><Relationship Id="rId6" Type="http://schemas.openxmlformats.org/officeDocument/2006/relationships/slide" Target="slide1.xml"/></Relationships>
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54.xml"/><Relationship Id="rId3" Type="http://schemas.openxmlformats.org/officeDocument/2006/relationships/image" Target="../media/image36.png"/><Relationship Id="rId4" Type="http://schemas.openxmlformats.org/officeDocument/2006/relationships/slide" Target="slide52.xml"/><Relationship Id="rId5" Type="http://schemas.openxmlformats.org/officeDocument/2006/relationships/slide" Target="slide53.xml"/></Relationships>
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54.xml"/><Relationship Id="rId3" Type="http://schemas.openxmlformats.org/officeDocument/2006/relationships/slide" Target="slide52.xml"/><Relationship Id="rId4" Type="http://schemas.openxmlformats.org/officeDocument/2006/relationships/slide" Target="slide53.xml"/></Relationships>
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56.xml"/><Relationship Id="rId3" Type="http://schemas.openxmlformats.org/officeDocument/2006/relationships/slide" Target="slide53.xml"/><Relationship Id="rId4" Type="http://schemas.openxmlformats.org/officeDocument/2006/relationships/slide" Target="slide54.xml"/></Relationships>
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60.xml"/></Relationships>
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slide" Target="slide60.xml"/><Relationship Id="rId4" Type="http://schemas.openxmlformats.org/officeDocument/2006/relationships/image" Target="../media/image37.png"/></Relationships>
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8.png"/><Relationship Id="rId3" Type="http://schemas.openxmlformats.org/officeDocument/2006/relationships/image" Target="../media/image39.png"/><Relationship Id="rId4" Type="http://schemas.openxmlformats.org/officeDocument/2006/relationships/image" Target="../media/image40.png"/></Relationships>
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1.png"/><Relationship Id="rId3" Type="http://schemas.openxmlformats.org/officeDocument/2006/relationships/slide" Target="slide63.xml"/></Relationships>
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62.xml"/><Relationship Id="rId3" Type="http://schemas.openxmlformats.org/officeDocument/2006/relationships/slide" Target="slide64.xml"/><Relationship Id="rId4" Type="http://schemas.openxmlformats.org/officeDocument/2006/relationships/image" Target="../media/image42.png"/></Relationships>
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slide" Target="slide64.xml"/></Relationships>
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67.xml"/><Relationship Id="rId3" Type="http://schemas.openxmlformats.org/officeDocument/2006/relationships/slide" Target="slide81.xml"/><Relationship Id="rId4" Type="http://schemas.openxmlformats.org/officeDocument/2006/relationships/slide" Target="slide102.xml"/><Relationship Id="rId5" Type="http://schemas.openxmlformats.org/officeDocument/2006/relationships/slide" Target="slide115.xml"/><Relationship Id="rId6" Type="http://schemas.openxmlformats.org/officeDocument/2006/relationships/slide" Target="slide126.xml"/><Relationship Id="rId7" Type="http://schemas.openxmlformats.org/officeDocument/2006/relationships/slide" Target="slide106.xml"/></Relationships>
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3.png"/><Relationship Id="rId3" Type="http://schemas.openxmlformats.org/officeDocument/2006/relationships/image" Target="../media/image44.png"/></Relationships>
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5.png"/><Relationship Id="rId3" Type="http://schemas.openxmlformats.org/officeDocument/2006/relationships/slide" Target="slide24.xml"/></Relationships>
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69.xml"/><Relationship Id="rId3" Type="http://schemas.openxmlformats.org/officeDocument/2006/relationships/image" Target="../media/image46.png"/><Relationship Id="rId4" Type="http://schemas.openxmlformats.org/officeDocument/2006/relationships/slide" Target="slide70.xml"/></Relationships>
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70.xml"/><Relationship Id="rId3" Type="http://schemas.openxmlformats.org/officeDocument/2006/relationships/slide" Target="slide1.xml"/><Relationship Id="rId4" Type="http://schemas.openxmlformats.org/officeDocument/2006/relationships/slide" Target="slide69.xml"/></Relationships>
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69.xml"/><Relationship Id="rId3" Type="http://schemas.openxmlformats.org/officeDocument/2006/relationships/image" Target="../media/image47.png"/><Relationship Id="rId4" Type="http://schemas.openxmlformats.org/officeDocument/2006/relationships/image" Target="../media/image48.png"/></Relationships>
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70.xml"/><Relationship Id="rId3" Type="http://schemas.openxmlformats.org/officeDocument/2006/relationships/slide" Target="slide73.xml"/><Relationship Id="rId4" Type="http://schemas.openxmlformats.org/officeDocument/2006/relationships/slide" Target="slide1.xml"/></Relationships>
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s://github.com/mnielsen/neural-networks-and-deep-learning/blob/master/src/network2.py" TargetMode="External"/></Relationships>

</file>

<file path=ppt/slides/_rels/slide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69.xml"/><Relationship Id="rId3" Type="http://schemas.openxmlformats.org/officeDocument/2006/relationships/slide" Target="slide77.xml"/></Relationships>

</file>

<file path=ppt/slides/_rels/slide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en.wikipedia.org/wiki/Cross_entropy#Motivation" TargetMode="External"/><Relationship Id="rId3" Type="http://schemas.openxmlformats.org/officeDocument/2006/relationships/hyperlink" Target="http://books.google.ca/books?id=VWq5GG6ycxMC" TargetMode="External"/><Relationship Id="rId4" Type="http://schemas.openxmlformats.org/officeDocument/2006/relationships/slide" Target="slide71.xml"/><Relationship Id="rId5" Type="http://schemas.openxmlformats.org/officeDocument/2006/relationships/slide" Target="slide1.xml"/><Relationship Id="rId6" Type="http://schemas.openxmlformats.org/officeDocument/2006/relationships/slide" Target="slide78.xml"/><Relationship Id="rId7" Type="http://schemas.openxmlformats.org/officeDocument/2006/relationships/slide" Target="slide79.xml"/></Relationships>

</file>

<file path=ppt/slides/_rels/slide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78.xml"/></Relationships>

</file>

<file path=ppt/slides/_rels/slide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78.xml"/><Relationship Id="rId3" Type="http://schemas.openxmlformats.org/officeDocument/2006/relationships/slide" Target="slide1.xml"/></Relationships>

</file>

<file path=ppt/slides/_rels/slide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80.xml"/><Relationship Id="rId3" Type="http://schemas.openxmlformats.org/officeDocument/2006/relationships/slide" Target="slide74.xml"/></Relationships>

</file>

<file path=ppt/slides/_rels/slide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www.nature.com/nature/journal/v427/n6972/full/427297a.html" TargetMode="External"/><Relationship Id="rId4" Type="http://schemas.openxmlformats.org/officeDocument/2006/relationships/hyperlink" Target="http://www.johndcook.com/blog/2011/06/21/how-to-fit-an-elephant/" TargetMode="External"/><Relationship Id="rId5" Type="http://schemas.openxmlformats.org/officeDocument/2006/relationships/hyperlink" Target="https://github.com/mnielsen/neural-networks-and-deep-learning/blob/master/fig/overfitting.py" TargetMode="External"/></Relationships>

</file>

<file path=ppt/slides/_rels/slide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9.jpg"/><Relationship Id="rId3" Type="http://schemas.openxmlformats.org/officeDocument/2006/relationships/image" Target="../media/image50.jpg"/></Relationships>

</file>

<file path=ppt/slides/_rels/slide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1.jpg"/><Relationship Id="rId3" Type="http://schemas.openxmlformats.org/officeDocument/2006/relationships/image" Target="../media/image52.jpg"/></Relationships>

</file>

<file path=ppt/slides/_rels/slide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/Relationships>

</file>

<file path=ppt/slides/_rels/slide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3.jpg"/></Relationships>

</file>

<file path=ppt/slides/_rels/slide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87.xml"/><Relationship Id="rId3" Type="http://schemas.openxmlformats.org/officeDocument/2006/relationships/slide" Target="slide30.xml"/></Relationships>

</file>

<file path=ppt/slides/_rels/slide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54.png"/><Relationship Id="rId4" Type="http://schemas.openxmlformats.org/officeDocument/2006/relationships/image" Target="../media/image55.jpg"/></Relationships>

</file>

<file path=ppt/slides/_rels/slide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.jpg"/></Relationships>

</file>

<file path=ppt/slides/_rels/slide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neuralnetworksanddeeplearning.com/js/polynomial_model.js" TargetMode="External"/></Relationships>

</file>

<file path=ppt/slides/_rels/slide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s://www.aip.org/history-programs/niels-bohr-library/oral-histories/5020-4" TargetMode="External"/><Relationship Id="rId4" Type="http://schemas.openxmlformats.org/officeDocument/2006/relationships/hyperlink" Target="http://en.wikipedia.org/wiki/Problem_of_induction" TargetMode="External"/><Relationship Id="rId5" Type="http://schemas.openxmlformats.org/officeDocument/2006/relationships/hyperlink" Target="http://www.gutenberg.org/ebooks/9662" TargetMode="External"/><Relationship Id="rId6" Type="http://schemas.openxmlformats.org/officeDocument/2006/relationships/hyperlink" Target="http://ieeexplore.ieee.org/xpl/articleDetails.jsp?tp&amp;arnumber=585893" TargetMode="External"/></Relationships>

</file>

<file path=ppt/slides/_rels/slide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yann.lecun.com/exdb/publis/pdf/lecun-01a.pdf" TargetMode="External"/></Relationships>

</file>

<file path=ppt/slides/_rels/slide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88.xml"/><Relationship Id="rId3" Type="http://schemas.openxmlformats.org/officeDocument/2006/relationships/slide" Target="slide96.xml"/></Relationships>

</file>

<file path=ppt/slides/_rels/slide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7.png"/><Relationship Id="rId3" Type="http://schemas.openxmlformats.org/officeDocument/2006/relationships/image" Target="../media/image58.png"/></Relationships>

</file>

<file path=ppt/slides/_rels/slide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s://papers.nips.cc/paper/4824-imagenet-classification-with-deep-convolutional-neural-networks.pdf" TargetMode="External"/><Relationship Id="rId4" Type="http://schemas.openxmlformats.org/officeDocument/2006/relationships/hyperlink" Target="http://arxiv.org/pdf/1207.0580.pdf" TargetMode="External"/></Relationships>

</file>

<file path=ppt/slides/_rels/slide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59.jpg"/><Relationship Id="rId4" Type="http://schemas.openxmlformats.org/officeDocument/2006/relationships/image" Target="../media/image60.jpg"/></Relationships>

</file>

<file path=ppt/slides/_rels/slide1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1.png"/><Relationship Id="rId3" Type="http://schemas.openxmlformats.org/officeDocument/2006/relationships/image" Target="../media/image62.png"/><Relationship Id="rId4" Type="http://schemas.openxmlformats.org/officeDocument/2006/relationships/slide" Target="slide1.xml"/><Relationship Id="rId5" Type="http://schemas.openxmlformats.org/officeDocument/2006/relationships/hyperlink" Target="http://dx.doi.org/10.1109/ICDAR.2003.1227801" TargetMode="External"/></Relationships>

</file>

<file path=ppt/slides/_rels/slide1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0.jpg"/><Relationship Id="rId3" Type="http://schemas.openxmlformats.org/officeDocument/2006/relationships/slide" Target="slide1.xml"/><Relationship Id="rId4" Type="http://schemas.openxmlformats.org/officeDocument/2006/relationships/image" Target="../media/image63.jpg"/></Relationships>

</file>

<file path=ppt/slides/_rels/slide1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dx.doi.org/10.3115/1073012.1073017" TargetMode="External"/></Relationships>

</file>

<file path=ppt/slides/_rels/slide1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4.png"/><Relationship Id="rId3" Type="http://schemas.openxmlformats.org/officeDocument/2006/relationships/slide" Target="slide1.xml"/></Relationships>

</file>

<file path=ppt/slides/_rels/slide1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65.jpg"/></Relationships>

</file>

<file path=ppt/slides/_rels/slide1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6.jpg"/><Relationship Id="rId3" Type="http://schemas.openxmlformats.org/officeDocument/2006/relationships/slide" Target="slide1.xml"/><Relationship Id="rId4" Type="http://schemas.openxmlformats.org/officeDocument/2006/relationships/hyperlink" Target="http://arxiv.org/pdf/1206.5533v2.pdf" TargetMode="External"/></Relationships>

</file>

<file path=ppt/slides/_rels/slide1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/Relationships>

</file>

<file path=ppt/slides/_rels/slide1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74.xml"/><Relationship Id="rId3" Type="http://schemas.openxmlformats.org/officeDocument/2006/relationships/slide" Target="slide52.xml"/></Relationships>

</file>

<file path=ppt/slides/_rels/slide1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67.jpg"/></Relationships>

</file>

<file path=ppt/slides/_rels/slide1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8.png"/><Relationship Id="rId3" Type="http://schemas.openxmlformats.org/officeDocument/2006/relationships/slide" Target="slide1.xml"/></Relationships>

</file>

<file path=ppt/slides/_rels/slide1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arxiv.org/abs/1003.0358" TargetMode="External"/><Relationship Id="rId4" Type="http://schemas.openxmlformats.org/officeDocument/2006/relationships/hyperlink" Target="mailto:mn@michaelnielsen.org" TargetMode="External"/></Relationships>

</file>

<file path=ppt/slides/_rels/slide1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59.xml"/></Relationships>

</file>

<file path=ppt/slides/_rels/slide1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dl.acm.org/citation.cfm?id=2188395" TargetMode="External"/></Relationships>

</file>

<file path=ppt/slides/_rels/slide1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s://github.com/jaberg/hyperopt" TargetMode="External"/><Relationship Id="rId4" Type="http://schemas.openxmlformats.org/officeDocument/2006/relationships/hyperlink" Target="http://papers.nips.cc/paper/4522-practical-bayesian-optimization-of-machine-learning-algorithms.pdf" TargetMode="External"/><Relationship Id="rId5" Type="http://schemas.openxmlformats.org/officeDocument/2006/relationships/hyperlink" Target="http://arxiv.org/abs/1206.5533" TargetMode="External"/><Relationship Id="rId6" Type="http://schemas.openxmlformats.org/officeDocument/2006/relationships/hyperlink" Target="http://yann.lecun.com/exdb/publis/pdf/lecun-98b.pdf" TargetMode="External"/><Relationship Id="rId7" Type="http://schemas.openxmlformats.org/officeDocument/2006/relationships/hyperlink" Target="http://www.springer.com/computer/theoretical%2Bcomputer%2Bscience/book/978-3-642-35288-1" TargetMode="External"/></Relationships>

</file>

<file path=ppt/slides/_rels/slide1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slide" Target="slide126.xml"/><Relationship Id="rId4" Type="http://schemas.openxmlformats.org/officeDocument/2006/relationships/slide" Target="slide24.xml"/></Relationships>

</file>

<file path=ppt/slides/_rels/slide1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69.png"/><Relationship Id="rId4" Type="http://schemas.openxmlformats.org/officeDocument/2006/relationships/slide" Target="slide128.xml"/></Relationships>

</file>

<file path=ppt/slides/_rels/slide1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yann.lecun.com/exdb/publis/pdf/lecun-98b.pdf" TargetMode="External"/><Relationship Id="rId4" Type="http://schemas.openxmlformats.org/officeDocument/2006/relationships/hyperlink" Target="http://www.cs.toronto.edu/~hinton/absps/momentum.pdf" TargetMode="External"/></Relationships>

</file>

<file path=ppt/slides/_rels/slide1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slide" Target="slide130.xml"/><Relationship Id="rId4" Type="http://schemas.openxmlformats.org/officeDocument/2006/relationships/hyperlink" Target="http://yann.lecun.com/exdb/publis/pdf/lecun-98b.pdf" TargetMode="External"/><Relationship Id="rId5" Type="http://schemas.openxmlformats.org/officeDocument/2006/relationships/hyperlink" Target="http://jmlr.org/proceedings/papers/v9/glorot10a/glorot10a.pdf" TargetMode="External"/></Relationships>

</file>

<file path=ppt/slides/_rels/slide1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yann.lecun.com/exdb/publis/pdf/jarrett-iccv-09.pdf" TargetMode="External"/><Relationship Id="rId4" Type="http://schemas.openxmlformats.org/officeDocument/2006/relationships/hyperlink" Target="https://papers.nips.cc/paper/4824-imagenet-classification-with-deep-convolutional-neural-networks.pdf" TargetMode="External"/><Relationship Id="rId5" Type="http://schemas.openxmlformats.org/officeDocument/2006/relationships/hyperlink" Target="https://www.cs.toronto.edu/~hinton/absps/reluICML.pdf" TargetMode="External"/></Relationships>

</file>

<file path=ppt/slides/_rels/slide1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s://papers.nips.cc/paper/4824-imagenet-classification-with-deep-convolutional-neural-networks.pdf" TargetMode="External"/></Relationships>

</file>

<file path=ppt/slides/_rels/slide1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0.png"/><Relationship Id="rId3" Type="http://schemas.openxmlformats.org/officeDocument/2006/relationships/image" Target="../media/image71.png"/><Relationship Id="rId4" Type="http://schemas.openxmlformats.org/officeDocument/2006/relationships/slide" Target="slide1.xml"/><Relationship Id="rId5" Type="http://schemas.openxmlformats.org/officeDocument/2006/relationships/hyperlink" Target="http://www.dartmouth.edu/~gvc/Cybenko_MCSS.pdf" TargetMode="External"/><Relationship Id="rId6" Type="http://schemas.openxmlformats.org/officeDocument/2006/relationships/hyperlink" Target="http://www.sciencedirect.com/science/article/pii/0893608089900208" TargetMode="External"/></Relationships>

</file>

<file path=ppt/slides/_rels/slide1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slide" Target="slide135.xml"/><Relationship Id="rId4" Type="http://schemas.openxmlformats.org/officeDocument/2006/relationships/image" Target="../media/image72.png"/></Relationships>

</file>

<file path=ppt/slides/_rels/slide1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3.png"/></Relationships>

</file>

<file path=ppt/slides/_rels/slide1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74.jpg"/></Relationships>

</file>

<file path=ppt/slides/_rels/slide1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5.png"/><Relationship Id="rId3" Type="http://schemas.openxmlformats.org/officeDocument/2006/relationships/image" Target="../media/image76.png"/><Relationship Id="rId4" Type="http://schemas.openxmlformats.org/officeDocument/2006/relationships/image" Target="../media/image77.png"/></Relationships>

</file>

<file path=ppt/slides/_rels/slide1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78.jpg"/><Relationship Id="rId4" Type="http://schemas.openxmlformats.org/officeDocument/2006/relationships/image" Target="../media/image79.png"/></Relationships>

</file>

<file path=ppt/slides/_rels/slide1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0.png"/></Relationships>

</file>

<file path=ppt/slides/_rels/slide1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1.png"/></Relationships>

</file>

<file path=ppt/slides/_rels/slide1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/Relationships>

</file>

<file path=ppt/slides/_rels/slide1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82.png"/></Relationships>

</file>

<file path=ppt/slides/_rels/slide1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3.png"/><Relationship Id="rId3" Type="http://schemas.openxmlformats.org/officeDocument/2006/relationships/image" Target="../media/image84.png"/><Relationship Id="rId4" Type="http://schemas.openxmlformats.org/officeDocument/2006/relationships/image" Target="../media/image85.png"/><Relationship Id="rId5" Type="http://schemas.openxmlformats.org/officeDocument/2006/relationships/image" Target="../media/image86.png"/><Relationship Id="rId6" Type="http://schemas.openxmlformats.org/officeDocument/2006/relationships/image" Target="../media/image87.png"/><Relationship Id="rId7" Type="http://schemas.openxmlformats.org/officeDocument/2006/relationships/image" Target="../media/image88.png"/><Relationship Id="rId8" Type="http://schemas.openxmlformats.org/officeDocument/2006/relationships/image" Target="../media/image89.png"/></Relationships>

</file>

<file path=ppt/slides/_rels/slide1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0.png"/><Relationship Id="rId3" Type="http://schemas.openxmlformats.org/officeDocument/2006/relationships/image" Target="../media/image91.png"/><Relationship Id="rId4" Type="http://schemas.openxmlformats.org/officeDocument/2006/relationships/image" Target="../media/image92.png"/><Relationship Id="rId5" Type="http://schemas.openxmlformats.org/officeDocument/2006/relationships/image" Target="../media/image93.png"/><Relationship Id="rId6" Type="http://schemas.openxmlformats.org/officeDocument/2006/relationships/image" Target="../media/image94.png"/><Relationship Id="rId7" Type="http://schemas.openxmlformats.org/officeDocument/2006/relationships/image" Target="../media/image95.png"/></Relationships>

</file>

<file path=ppt/slides/_rels/slide1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6.png"/><Relationship Id="rId3" Type="http://schemas.openxmlformats.org/officeDocument/2006/relationships/image" Target="../media/image97.png"/><Relationship Id="rId4" Type="http://schemas.openxmlformats.org/officeDocument/2006/relationships/image" Target="../media/image98.png"/><Relationship Id="rId5" Type="http://schemas.openxmlformats.org/officeDocument/2006/relationships/image" Target="../media/image99.png"/><Relationship Id="rId6" Type="http://schemas.openxmlformats.org/officeDocument/2006/relationships/image" Target="../media/image100.png"/><Relationship Id="rId7" Type="http://schemas.openxmlformats.org/officeDocument/2006/relationships/image" Target="../media/image101.png"/></Relationships>

</file>

<file path=ppt/slides/_rels/slide1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2.png"/><Relationship Id="rId3" Type="http://schemas.openxmlformats.org/officeDocument/2006/relationships/image" Target="../media/image103.png"/><Relationship Id="rId4" Type="http://schemas.openxmlformats.org/officeDocument/2006/relationships/image" Target="../media/image104.png"/></Relationships>

</file>

<file path=ppt/slides/_rels/slide1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5.png"/></Relationships>

</file>

<file path=ppt/slides/_rels/slide1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6.png"/><Relationship Id="rId3" Type="http://schemas.openxmlformats.org/officeDocument/2006/relationships/image" Target="../media/image107.png"/><Relationship Id="rId4" Type="http://schemas.openxmlformats.org/officeDocument/2006/relationships/image" Target="../media/image108.png"/><Relationship Id="rId5" Type="http://schemas.openxmlformats.org/officeDocument/2006/relationships/image" Target="../media/image109.png"/><Relationship Id="rId6" Type="http://schemas.openxmlformats.org/officeDocument/2006/relationships/image" Target="../media/image110.png"/><Relationship Id="rId7" Type="http://schemas.openxmlformats.org/officeDocument/2006/relationships/image" Target="../media/image111.png"/><Relationship Id="rId8" Type="http://schemas.openxmlformats.org/officeDocument/2006/relationships/image" Target="../media/image112.png"/><Relationship Id="rId9" Type="http://schemas.openxmlformats.org/officeDocument/2006/relationships/image" Target="../media/image113.png"/><Relationship Id="rId10" Type="http://schemas.openxmlformats.org/officeDocument/2006/relationships/image" Target="../media/image114.png"/><Relationship Id="rId11" Type="http://schemas.openxmlformats.org/officeDocument/2006/relationships/image" Target="../media/image115.png"/><Relationship Id="rId12" Type="http://schemas.openxmlformats.org/officeDocument/2006/relationships/image" Target="../media/image116.png"/><Relationship Id="rId13" Type="http://schemas.openxmlformats.org/officeDocument/2006/relationships/image" Target="../media/image117.png"/></Relationships>

</file>

<file path=ppt/slides/_rels/slide1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8.png"/><Relationship Id="rId3" Type="http://schemas.openxmlformats.org/officeDocument/2006/relationships/image" Target="../media/image119.png"/></Relationships>

</file>

<file path=ppt/slides/_rels/slide1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0.png"/><Relationship Id="rId3" Type="http://schemas.openxmlformats.org/officeDocument/2006/relationships/image" Target="../media/image121.png"/></Relationships>

</file>

<file path=ppt/slides/_rels/slide1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2.png"/></Relationships>

</file>

<file path=ppt/slides/_rels/slide1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3.png"/><Relationship Id="rId3" Type="http://schemas.openxmlformats.org/officeDocument/2006/relationships/image" Target="../media/image124.png"/></Relationships>

</file>

<file path=ppt/slides/_rels/slide1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5.png"/><Relationship Id="rId3" Type="http://schemas.openxmlformats.org/officeDocument/2006/relationships/image" Target="../media/image126.png"/><Relationship Id="rId4" Type="http://schemas.openxmlformats.org/officeDocument/2006/relationships/image" Target="../media/image127.png"/></Relationships>

</file>

<file path=ppt/slides/_rels/slide1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jendodd.com/" TargetMode="External"/><Relationship Id="rId3" Type="http://schemas.openxmlformats.org/officeDocument/2006/relationships/hyperlink" Target="http://colah.github.io/about.html" TargetMode="External"/><Relationship Id="rId4" Type="http://schemas.openxmlformats.org/officeDocument/2006/relationships/hyperlink" Target="http://bost.ocks.org/mike/algorithms/" TargetMode="External"/><Relationship Id="rId5" Type="http://schemas.openxmlformats.org/officeDocument/2006/relationships/hyperlink" Target="http://www-cs-students.stanford.edu/~amitp/" TargetMode="External"/><Relationship Id="rId6" Type="http://schemas.openxmlformats.org/officeDocument/2006/relationships/hyperlink" Target="http://worrydream.com/" TargetMode="External"/><Relationship Id="rId7" Type="http://schemas.openxmlformats.org/officeDocument/2006/relationships/hyperlink" Target="http://acko.net/" TargetMode="External"/></Relationships>

</file>

<file path=ppt/slides/_rels/slide1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28.png"/></Relationships>

</file>

<file path=ppt/slides/_rels/slide1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9.png"/><Relationship Id="rId3" Type="http://schemas.openxmlformats.org/officeDocument/2006/relationships/slide" Target="slide1.xml"/><Relationship Id="rId4" Type="http://schemas.openxmlformats.org/officeDocument/2006/relationships/hyperlink" Target="http://eccc.hpi-web.de/report/2012/137/" TargetMode="External"/></Relationships>

</file>

<file path=ppt/slides/_rels/slide1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0.png"/><Relationship Id="rId3" Type="http://schemas.openxmlformats.org/officeDocument/2006/relationships/image" Target="../media/image131.png"/><Relationship Id="rId4" Type="http://schemas.openxmlformats.org/officeDocument/2006/relationships/slide" Target="slide1.xml"/><Relationship Id="rId5" Type="http://schemas.openxmlformats.org/officeDocument/2006/relationships/hyperlink" Target="http://arxiv.org/pdf/1312.6098.pdf" TargetMode="External"/><Relationship Id="rId6" Type="http://schemas.openxmlformats.org/officeDocument/2006/relationships/hyperlink" Target="http://www.iro.umontreal.ca/~bengioy/papers/ftml_book.pdf" TargetMode="External"/></Relationships>

</file>

<file path=ppt/slides/_rels/slide1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s://github.com/mnielsen/neural" TargetMode="External"/><Relationship Id="rId4" Type="http://schemas.openxmlformats.org/officeDocument/2006/relationships/hyperlink" Target="https://github.com/mnielsen/neural-networks-and-deep-learning/archive/master.zip" TargetMode="External"/><Relationship Id="rId5" Type="http://schemas.openxmlformats.org/officeDocument/2006/relationships/slide" Target="slide23.xml"/><Relationship Id="rId6" Type="http://schemas.openxmlformats.org/officeDocument/2006/relationships/slide" Target="slide32.xml"/></Relationships>

</file>

<file path=ppt/slides/_rels/slide1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slide" Target="slide171.xml"/></Relationships>

</file>

<file path=ppt/slides/_rels/slide1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132.png"/></Relationships>

</file>

<file path=ppt/slides/_rels/slide1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3.jpg"/></Relationships>

</file>

<file path=ppt/slides/_rels/slide1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4.png"/><Relationship Id="rId3" Type="http://schemas.openxmlformats.org/officeDocument/2006/relationships/image" Target="../media/image135.jpg"/></Relationships>

</file>

<file path=ppt/slides/_rels/slide1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136.png"/><Relationship Id="rId4" Type="http://schemas.openxmlformats.org/officeDocument/2006/relationships/hyperlink" Target="http://citeseerx.ist.psu.edu/viewdoc/summary?doi=10.1.1.24.7321" TargetMode="External"/><Relationship Id="rId5" Type="http://schemas.openxmlformats.org/officeDocument/2006/relationships/hyperlink" Target="http://www.idsia.ch/~juergen/SeppHochreiter1991ThesisAdvisorSchmidhuber.pdf" TargetMode="External"/></Relationships>

</file>

<file path=ppt/slides/_rels/slide1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7.png"/></Relationships>

</file>

<file path=ppt/slides/_rels/slide1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8.png"/></Relationships>

</file>

<file path=ppt/slides/_rels/slide1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1.png"/><Relationship Id="rId3" Type="http://schemas.openxmlformats.org/officeDocument/2006/relationships/slide" Target="slide1.xml"/><Relationship Id="rId4" Type="http://schemas.openxmlformats.org/officeDocument/2006/relationships/hyperlink" Target="http://jmlr.org/proceedings/papers/v9/glorot10a/glorot10a.pdf" TargetMode="External"/><Relationship Id="rId5" Type="http://schemas.openxmlformats.org/officeDocument/2006/relationships/hyperlink" Target="http://yann.lecun.com/exdb/publis/pdf/lecun-98b.pdf" TargetMode="External"/></Relationships>

</file>

<file path=ppt/slides/_rels/slide1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www.cs.toronto.edu/~hinton/absps/momentum.pdf" TargetMode="External"/></Relationships>

</file>

<file path=ppt/slides/_rels/slide1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39.jpg"/></Relationships>

</file>

<file path=ppt/slides/_rels/slide1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0.jpg"/></Relationships>

</file>

<file path=ppt/slides/_rels/slide1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9.jpg"/><Relationship Id="rId3" Type="http://schemas.openxmlformats.org/officeDocument/2006/relationships/image" Target="../media/image131.png"/></Relationships>

</file>

<file path=ppt/slides/_rels/slide1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141.png"/><Relationship Id="rId4" Type="http://schemas.openxmlformats.org/officeDocument/2006/relationships/image" Target="../media/image142.png"/><Relationship Id="rId5" Type="http://schemas.openxmlformats.org/officeDocument/2006/relationships/hyperlink" Target="http://yann.lecun.com/exdb/publis/pdf/lecun-98.pdf" TargetMode="External"/><Relationship Id="rId6" Type="http://schemas.openxmlformats.org/officeDocument/2006/relationships/hyperlink" Target="https://www.facebook.com/yann.lecun/posts/10152348155137143" TargetMode="External"/></Relationships>

</file>

<file path=ppt/slides/_rels/slide1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3.png"/><Relationship Id="rId3" Type="http://schemas.openxmlformats.org/officeDocument/2006/relationships/image" Target="../media/image144.png"/><Relationship Id="rId4" Type="http://schemas.openxmlformats.org/officeDocument/2006/relationships/slide" Target="slide1.xml"/></Relationships>

</file>

<file path=ppt/slides/_rels/slide1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145.png"/></Relationships>

</file>

<file path=ppt/slides/_rels/slide1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6.png"/><Relationship Id="rId3" Type="http://schemas.openxmlformats.org/officeDocument/2006/relationships/hyperlink" Target="http://arxiv.org/abs/1311.2901" TargetMode="External"/></Relationships>

</file>

<file path=ppt/slides/_rels/slide1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147.png"/><Relationship Id="rId4" Type="http://schemas.openxmlformats.org/officeDocument/2006/relationships/image" Target="../media/image148.png"/></Relationships>

</file>

<file path=ppt/slides/_rels/slide1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9.png"/></Relationships>

</file>

<file path=ppt/slides/_rels/slide1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54.xml"/><Relationship Id="rId3" Type="http://schemas.openxmlformats.org/officeDocument/2006/relationships/slide" Target="slide1.xml"/><Relationship Id="rId4" Type="http://schemas.openxmlformats.org/officeDocument/2006/relationships/hyperlink" Target="https://github.com/mnielsen/neural-networks-and-deep-learning/blob/master/src/network3.py" TargetMode="External"/><Relationship Id="rId5" Type="http://schemas.openxmlformats.org/officeDocument/2006/relationships/hyperlink" Target="http://www.iro.umontreal.ca/~lisa/pointeurs/theano_scipy2010.pdf" TargetMode="External"/><Relationship Id="rId6" Type="http://schemas.openxmlformats.org/officeDocument/2006/relationships/hyperlink" Target="http://deeplearning.net/software/pylearn2/" TargetMode="External"/><Relationship Id="rId7" Type="http://schemas.openxmlformats.org/officeDocument/2006/relationships/hyperlink" Target="http://keras.io/" TargetMode="External"/><Relationship Id="rId8" Type="http://schemas.openxmlformats.org/officeDocument/2006/relationships/hyperlink" Target="http://caffe.berkeleyvision.org/" TargetMode="External"/><Relationship Id="rId9" Type="http://schemas.openxmlformats.org/officeDocument/2006/relationships/hyperlink" Target="http://torch.ch/" TargetMode="External"/></Relationships>

</file>

<file path=ppt/slides/_rels/slide1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/Relationships>

</file>

<file path=ppt/slides/_rels/slide1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0.png"/><Relationship Id="rId3" Type="http://schemas.openxmlformats.org/officeDocument/2006/relationships/slide" Target="slide1.xml"/></Relationships>

</file>

<file path=ppt/slides/_rels/slide1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/Relationships>

</file>

<file path=ppt/slides/_rels/slide1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yann.lecun.com/exdb/publis/pdf/lecun-98.pdf" TargetMode="External"/><Relationship Id="rId4" Type="http://schemas.openxmlformats.org/officeDocument/2006/relationships/hyperlink" Target="https://github.com/mnielsen/neural-networks-and-deep-learning/blob/master/src/expand_mnist.py" TargetMode="External"/></Relationships>

</file>

<file path=ppt/slides/_rels/slide1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dx.doi.org/10.1109/ICDAR.2003.1227801" TargetMode="External"/></Relationships>

</file>

<file path=ppt/slides/_rels/slide1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0.jpg"/></Relationships>

</file>

<file path=ppt/slides/_rels/slide1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arxiv.org/abs/1003.0358" TargetMode="External"/></Relationships>

</file>

<file path=ppt/slides/_rels/slide1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/Relationships>

</file>

<file path=ppt/slides/_rels/slide1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deeplearning.net/software/theano/index.html" TargetMode="External"/><Relationship Id="rId4" Type="http://schemas.openxmlformats.org/officeDocument/2006/relationships/hyperlink" Target="http://nbviewer.ipython.org/github/craffel/theano-tutorial/blob/master/Theano%20Tutorial.ipynb" TargetMode="External"/></Relationships>

</file>

<file path=ppt/slides/_rels/slide1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deeplearning.net/tutorial/lenet.html" TargetMode="External"/><Relationship Id="rId4" Type="http://schemas.openxmlformats.org/officeDocument/2006/relationships/hyperlink" Target="https://github.com/mdenil/dropout" TargetMode="External"/><Relationship Id="rId5" Type="http://schemas.openxmlformats.org/officeDocument/2006/relationships/hyperlink" Target="http://colah.github.io/" TargetMode="External"/></Relationships>

</file>

<file path=ppt/slides/_rels/slide1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groups.google.com/forum/%23!topic/theano-users/NQ9NYLvleGc" TargetMode="External"/></Relationships>

</file>

<file path=ppt/slides/_rels/slide2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151.jpg"/><Relationship Id="rId4" Type="http://schemas.openxmlformats.org/officeDocument/2006/relationships/image" Target="../media/image152.jpg"/><Relationship Id="rId5" Type="http://schemas.openxmlformats.org/officeDocument/2006/relationships/image" Target="../media/image153.jpg"/><Relationship Id="rId6" Type="http://schemas.openxmlformats.org/officeDocument/2006/relationships/image" Target="../media/image154.jpg"/><Relationship Id="rId7" Type="http://schemas.openxmlformats.org/officeDocument/2006/relationships/hyperlink" Target="http://www.image-net.org/synset?wnid=n03489162" TargetMode="External"/><Relationship Id="rId8" Type="http://schemas.openxmlformats.org/officeDocument/2006/relationships/hyperlink" Target="http://research.google.com/pubs/pub38115.html" TargetMode="External"/><Relationship Id="rId9" Type="http://schemas.openxmlformats.org/officeDocument/2006/relationships/hyperlink" Target="http://www.image-net.org/papers/imagenet_cvpr09.pdf" TargetMode="External"/><Relationship Id="rId10" Type="http://schemas.openxmlformats.org/officeDocument/2006/relationships/hyperlink" Target="http://www.cs.toronto.edu/~fritz/absps/imagenet.pdf" TargetMode="External"/></Relationships>

</file>

<file path=ppt/slides/_rels/slide2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155.jpg"/></Relationships>

</file>

<file path=ppt/slides/_rels/slide2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86.xml"/><Relationship Id="rId3" Type="http://schemas.openxmlformats.org/officeDocument/2006/relationships/slide" Target="slide126.xml"/><Relationship Id="rId4" Type="http://schemas.openxmlformats.org/officeDocument/2006/relationships/hyperlink" Target="https://code.google.com/p/cuda-convnet/" TargetMode="External"/><Relationship Id="rId5" Type="http://schemas.openxmlformats.org/officeDocument/2006/relationships/slide" Target="slide1.xml"/><Relationship Id="rId6" Type="http://schemas.openxmlformats.org/officeDocument/2006/relationships/hyperlink" Target="https://github.com/uoguelph-mlrg/theano_alexnet" TargetMode="External"/><Relationship Id="rId7" Type="http://schemas.openxmlformats.org/officeDocument/2006/relationships/hyperlink" Target="http://caffe.berkeleyvision.org/model_zoo.html" TargetMode="External"/><Relationship Id="rId8" Type="http://schemas.openxmlformats.org/officeDocument/2006/relationships/hyperlink" Target="http://www.clarifai.com/" TargetMode="External"/><Relationship Id="rId9" Type="http://schemas.openxmlformats.org/officeDocument/2006/relationships/hyperlink" Target="http://arxiv.org/abs/1412.2302" TargetMode="External"/><Relationship Id="rId10" Type="http://schemas.openxmlformats.org/officeDocument/2006/relationships/hyperlink" Target="http://arxiv.org/abs/1409.4842" TargetMode="External"/><Relationship Id="rId11" Type="http://schemas.openxmlformats.org/officeDocument/2006/relationships/hyperlink" Target="http://arxiv.org/abs/1409.0575" TargetMode="External"/></Relationships>

</file>

<file path=ppt/slides/_rels/slide2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karpathy.github.io/2014/09/02/what-i-learned-from-competing-against-a-convnet-on-imagenet/" TargetMode="External"/><Relationship Id="rId3" Type="http://schemas.openxmlformats.org/officeDocument/2006/relationships/slide" Target="slide1.xml"/><Relationship Id="rId4" Type="http://schemas.openxmlformats.org/officeDocument/2006/relationships/hyperlink" Target="http://arxiv.org/abs/1312.6082" TargetMode="External"/></Relationships>

</file>

<file path=ppt/slides/_rels/slide2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image" Target="../media/image156.jpg"/><Relationship Id="rId4" Type="http://schemas.openxmlformats.org/officeDocument/2006/relationships/hyperlink" Target="http://arxiv.org/abs/1312.6199" TargetMode="External"/></Relationships>

</file>

<file path=ppt/slides/_rels/slide2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arxiv.org/abs/1412.1897" TargetMode="External"/></Relationships>

</file>

<file path=ppt/slides/_rels/slide2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arxiv.org/abs/1410.4615" TargetMode="External"/><Relationship Id="rId3" Type="http://schemas.openxmlformats.org/officeDocument/2006/relationships/hyperlink" Target="http://arxiv.org/abs/1410.5401" TargetMode="External"/><Relationship Id="rId4" Type="http://schemas.openxmlformats.org/officeDocument/2006/relationships/hyperlink" Target="http://arxiv.org/abs/1303.5778" TargetMode="External"/><Relationship Id="rId5" Type="http://schemas.openxmlformats.org/officeDocument/2006/relationships/hyperlink" Target="http://www.fit.vutbr.cz/~imikolov/rnnlm/thesis.pdf" TargetMode="External"/><Relationship Id="rId6" Type="http://schemas.openxmlformats.org/officeDocument/2006/relationships/hyperlink" Target="http://arxiv.org/abs/1309.1501" TargetMode="External"/><Relationship Id="rId7" Type="http://schemas.openxmlformats.org/officeDocument/2006/relationships/hyperlink" Target="http://research.google.com/pubs/VincentVanhoucke.html" TargetMode="External"/></Relationships>

</file>

<file path=ppt/slides/_rels/slide2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dx.doi.org/10.1162/neco.1997.9.8.1735" TargetMode="External"/><Relationship Id="rId3" Type="http://schemas.openxmlformats.org/officeDocument/2006/relationships/slide" Target="slide1.xml"/><Relationship Id="rId4" Type="http://schemas.openxmlformats.org/officeDocument/2006/relationships/hyperlink" Target="http://www.sciencedirect.com/science/article/pii/S0079612306650346" TargetMode="External"/><Relationship Id="rId5" Type="http://schemas.openxmlformats.org/officeDocument/2006/relationships/hyperlink" Target="http://www.cs.toronto.edu/~hinton/absps/fastnc.pdf" TargetMode="External"/><Relationship Id="rId6" Type="http://schemas.openxmlformats.org/officeDocument/2006/relationships/hyperlink" Target="http://www.sciencemag.org/content/313/5786/504.short" TargetMode="External"/></Relationships>

</file>

<file path=ppt/slides/_rels/slide2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scholarpedia.org/article/Deep_belief_networks" TargetMode="External"/><Relationship Id="rId3" Type="http://schemas.openxmlformats.org/officeDocument/2006/relationships/hyperlink" Target="http://www.cs.toronto.edu/~hinton/absps/guideTR.pdf" TargetMode="External"/><Relationship Id="rId4" Type="http://schemas.openxmlformats.org/officeDocument/2006/relationships/hyperlink" Target="http://machinelearning.org/archive/icml2008/papers/391.pdf" TargetMode="External"/><Relationship Id="rId5" Type="http://schemas.openxmlformats.org/officeDocument/2006/relationships/hyperlink" Target="http://arxiv.org/abs/1103.0398" TargetMode="External"/><Relationship Id="rId6" Type="http://schemas.openxmlformats.org/officeDocument/2006/relationships/hyperlink" Target="http://neuralnetworksanddeeplearning.com/assets/MachineTranslation.pdf" TargetMode="External"/><Relationship Id="rId7" Type="http://schemas.openxmlformats.org/officeDocument/2006/relationships/hyperlink" Target="http://yann.lecun.com/exdb/publis/pdf/humphrey-jiis-13.pdf" TargetMode="External"/><Relationship Id="rId8" Type="http://schemas.openxmlformats.org/officeDocument/2006/relationships/hyperlink" Target="http://www.cs.toronto.edu/~vmnih/docs/dqn.pdf" TargetMode="External"/><Relationship Id="rId9" Type="http://schemas.openxmlformats.org/officeDocument/2006/relationships/hyperlink" Target="http://www.nature.com/nature/journal/v518/n7540/abs/nature14236.html" TargetMode="External"/><Relationship Id="rId10" Type="http://schemas.openxmlformats.org/officeDocument/2006/relationships/hyperlink" Target="http://googleblog.blogspot.ca/2012/08/building-search-engine-of-future-one.html" TargetMode="External"/><Relationship Id="rId11" Type="http://schemas.openxmlformats.org/officeDocument/2006/relationships/hyperlink" Target="http://arxiv.org/abs/1411.4555" TargetMode="External"/></Relationships>

</file>

<file path=ppt/slides/_rels/slide2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en.wikipedia.org/wiki/Conway%27s_law" TargetMode="External"/></Relationships>

</file>

<file path=ppt/slides/_rels/slide2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s://www.facebook.com/yann.lecun/posts/10152348155137143" TargetMode="External"/></Relationships>

</file>

<file path=ppt/slides/_rels/slide2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.xml"/><Relationship Id="rId3" Type="http://schemas.openxmlformats.org/officeDocument/2006/relationships/hyperlink" Target="http://www.nature.com/nature/journal/v437/n7055/full/nature04072.html" TargetMode="External"/><Relationship Id="rId4" Type="http://schemas.openxmlformats.org/officeDocument/2006/relationships/hyperlink" Target="http://genome.cshlp.org/content/15/12/1746.full" TargetMode="External"/></Relationships>

</file>

<file path=ppt/slides/_rels/slide2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ia902602.us.archive.org/23/items/bstj30-1-50/bstj30-1-50.pdf" TargetMode="External"/></Relationships>

</file>

<file path=ppt/slides/_rels/slide2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nature.com/nature/journal/v404/n6780/abs/404841a0.html" TargetMode="External"/></Relationships>

</file>

<file path=ppt/slides/_rels/slide2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en.wikipedia.org/wiki/Society_of_Mind" TargetMode="External"/><Relationship Id="rId3" Type="http://schemas.openxmlformats.org/officeDocument/2006/relationships/slide" Target="slide1.xml"/><Relationship Id="rId4" Type="http://schemas.openxmlformats.org/officeDocument/2006/relationships/hyperlink" Target="https://dl.acm.org/citation.cfm?id=561822" TargetMode="External"/></Relationships>

</file>

<file path=ppt/slides/_rels/slide2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books.google.ca/books?id=nFvY20pHghAC" TargetMode="External"/>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557400" y="3367774"/>
            <a:ext cx="3365500" cy="2774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50" spc="55">
                <a:latin typeface="Calibri"/>
                <a:cs typeface="Calibri"/>
              </a:rPr>
              <a:t>Neural</a:t>
            </a:r>
            <a:r>
              <a:rPr dirty="0" sz="1650" spc="225">
                <a:latin typeface="Calibri"/>
                <a:cs typeface="Calibri"/>
              </a:rPr>
              <a:t> </a:t>
            </a:r>
            <a:r>
              <a:rPr dirty="0" sz="1650">
                <a:latin typeface="Calibri"/>
                <a:cs typeface="Calibri"/>
              </a:rPr>
              <a:t>Networks</a:t>
            </a:r>
            <a:r>
              <a:rPr dirty="0" sz="1650" spc="225">
                <a:latin typeface="Calibri"/>
                <a:cs typeface="Calibri"/>
              </a:rPr>
              <a:t> </a:t>
            </a:r>
            <a:r>
              <a:rPr dirty="0" sz="1650" spc="55">
                <a:latin typeface="Calibri"/>
                <a:cs typeface="Calibri"/>
              </a:rPr>
              <a:t>and</a:t>
            </a:r>
            <a:r>
              <a:rPr dirty="0" sz="1650" spc="229">
                <a:latin typeface="Calibri"/>
                <a:cs typeface="Calibri"/>
              </a:rPr>
              <a:t> </a:t>
            </a:r>
            <a:r>
              <a:rPr dirty="0" sz="1650">
                <a:latin typeface="Calibri"/>
                <a:cs typeface="Calibri"/>
              </a:rPr>
              <a:t>Deep</a:t>
            </a:r>
            <a:r>
              <a:rPr dirty="0" sz="1650" spc="225">
                <a:latin typeface="Calibri"/>
                <a:cs typeface="Calibri"/>
              </a:rPr>
              <a:t> </a:t>
            </a:r>
            <a:r>
              <a:rPr dirty="0" sz="1650" spc="60">
                <a:latin typeface="Calibri"/>
                <a:cs typeface="Calibri"/>
              </a:rPr>
              <a:t>Learning</a:t>
            </a:r>
            <a:endParaRPr sz="16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051520" y="4060859"/>
            <a:ext cx="2377440" cy="664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latin typeface="Calibri"/>
                <a:cs typeface="Calibri"/>
              </a:rPr>
              <a:t>Michael</a:t>
            </a:r>
            <a:r>
              <a:rPr dirty="0" sz="950" spc="260">
                <a:latin typeface="Calibri"/>
                <a:cs typeface="Calibri"/>
              </a:rPr>
              <a:t> </a:t>
            </a:r>
            <a:r>
              <a:rPr dirty="0" sz="950" spc="-10">
                <a:latin typeface="Calibri"/>
                <a:cs typeface="Calibri"/>
              </a:rPr>
              <a:t>Nielsen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950">
              <a:latin typeface="Calibri"/>
              <a:cs typeface="Calibri"/>
            </a:endParaRPr>
          </a:p>
          <a:p>
            <a:pPr algn="ctr" marL="12700" marR="5080" indent="-2540">
              <a:lnSpc>
                <a:spcPct val="113599"/>
              </a:lnSpc>
            </a:pPr>
            <a:r>
              <a:rPr dirty="0" sz="950" spc="10">
                <a:latin typeface="Calibri"/>
                <a:cs typeface="Calibri"/>
              </a:rPr>
              <a:t>The</a:t>
            </a:r>
            <a:r>
              <a:rPr dirty="0" sz="950" spc="150">
                <a:latin typeface="Calibri"/>
                <a:cs typeface="Calibri"/>
              </a:rPr>
              <a:t> </a:t>
            </a:r>
            <a:r>
              <a:rPr dirty="0" sz="950" spc="10">
                <a:latin typeface="Calibri"/>
                <a:cs typeface="Calibri"/>
              </a:rPr>
              <a:t>original</a:t>
            </a:r>
            <a:r>
              <a:rPr dirty="0" sz="950" spc="150">
                <a:latin typeface="Calibri"/>
                <a:cs typeface="Calibri"/>
              </a:rPr>
              <a:t> </a:t>
            </a:r>
            <a:r>
              <a:rPr dirty="0" sz="950" spc="10">
                <a:latin typeface="Calibri"/>
                <a:cs typeface="Calibri"/>
              </a:rPr>
              <a:t>online</a:t>
            </a:r>
            <a:r>
              <a:rPr dirty="0" sz="950" spc="155">
                <a:latin typeface="Calibri"/>
                <a:cs typeface="Calibri"/>
              </a:rPr>
              <a:t> </a:t>
            </a:r>
            <a:r>
              <a:rPr dirty="0" sz="950" spc="10">
                <a:latin typeface="Calibri"/>
                <a:cs typeface="Calibri"/>
              </a:rPr>
              <a:t>book</a:t>
            </a:r>
            <a:r>
              <a:rPr dirty="0" sz="950" spc="150">
                <a:latin typeface="Calibri"/>
                <a:cs typeface="Calibri"/>
              </a:rPr>
              <a:t> </a:t>
            </a:r>
            <a:r>
              <a:rPr dirty="0" sz="950" spc="10">
                <a:latin typeface="Calibri"/>
                <a:cs typeface="Calibri"/>
              </a:rPr>
              <a:t>can</a:t>
            </a:r>
            <a:r>
              <a:rPr dirty="0" sz="950" spc="155">
                <a:latin typeface="Calibri"/>
                <a:cs typeface="Calibri"/>
              </a:rPr>
              <a:t> </a:t>
            </a:r>
            <a:r>
              <a:rPr dirty="0" sz="950" spc="10">
                <a:latin typeface="Calibri"/>
                <a:cs typeface="Calibri"/>
              </a:rPr>
              <a:t>be</a:t>
            </a:r>
            <a:r>
              <a:rPr dirty="0" sz="950" spc="150">
                <a:latin typeface="Calibri"/>
                <a:cs typeface="Calibri"/>
              </a:rPr>
              <a:t> </a:t>
            </a:r>
            <a:r>
              <a:rPr dirty="0" sz="950" spc="10">
                <a:latin typeface="Calibri"/>
                <a:cs typeface="Calibri"/>
              </a:rPr>
              <a:t>found</a:t>
            </a:r>
            <a:r>
              <a:rPr dirty="0" sz="950" spc="155">
                <a:latin typeface="Calibri"/>
                <a:cs typeface="Calibri"/>
              </a:rPr>
              <a:t> </a:t>
            </a:r>
            <a:r>
              <a:rPr dirty="0" sz="950" spc="-25">
                <a:latin typeface="Calibri"/>
                <a:cs typeface="Calibri"/>
              </a:rPr>
              <a:t>at</a:t>
            </a:r>
            <a:r>
              <a:rPr dirty="0" sz="950" spc="-10">
                <a:latin typeface="Calibri"/>
                <a:cs typeface="Calibri"/>
              </a:rPr>
              <a:t> </a:t>
            </a:r>
            <a:r>
              <a:rPr dirty="0" sz="950" spc="-10">
                <a:latin typeface="Calibri"/>
                <a:cs typeface="Calibri"/>
                <a:hlinkClick r:id="rId2"/>
              </a:rPr>
              <a:t>http:</a:t>
            </a:r>
            <a:r>
              <a:rPr dirty="0" sz="950" spc="-10">
                <a:latin typeface="Lucida Sans Unicode"/>
                <a:cs typeface="Lucida Sans Unicode"/>
                <a:hlinkClick r:id="rId2"/>
              </a:rPr>
              <a:t>//</a:t>
            </a:r>
            <a:r>
              <a:rPr dirty="0" sz="950" spc="-10">
                <a:latin typeface="Calibri"/>
                <a:cs typeface="Calibri"/>
                <a:hlinkClick r:id="rId2"/>
              </a:rPr>
              <a:t>neuralnetworksanddeeplearning.com</a:t>
            </a:r>
            <a:endParaRPr sz="9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59704" y="368724"/>
            <a:ext cx="16954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5080">
              <a:lnSpc>
                <a:spcPts val="525"/>
              </a:lnSpc>
              <a:spcBef>
                <a:spcPts val="110"/>
              </a:spcBef>
            </a:pPr>
            <a:r>
              <a:rPr dirty="0" sz="850" spc="-50">
                <a:latin typeface="Calibri"/>
                <a:cs typeface="Calibri"/>
              </a:rPr>
              <a:t>i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xfrm>
            <a:off x="4188589" y="1429841"/>
            <a:ext cx="1224280" cy="37528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85"/>
              <a:t>Contents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067298" y="2314935"/>
            <a:ext cx="1229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b="1">
                <a:latin typeface="Calibri"/>
                <a:cs typeface="Calibri"/>
                <a:hlinkClick r:id="rId2" action="ppaction://hlinksldjump"/>
              </a:rPr>
              <a:t>What</a:t>
            </a:r>
            <a:r>
              <a:rPr dirty="0" sz="850" spc="195" b="1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850" b="1">
                <a:latin typeface="Calibri"/>
                <a:cs typeface="Calibri"/>
                <a:hlinkClick r:id="rId2" action="ppaction://hlinksldjump"/>
              </a:rPr>
              <a:t>this</a:t>
            </a:r>
            <a:r>
              <a:rPr dirty="0" sz="850" spc="190" b="1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850" b="1">
                <a:latin typeface="Calibri"/>
                <a:cs typeface="Calibri"/>
                <a:hlinkClick r:id="rId2" action="ppaction://hlinksldjump"/>
              </a:rPr>
              <a:t>book</a:t>
            </a:r>
            <a:r>
              <a:rPr dirty="0" sz="850" spc="195" b="1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850" b="1">
                <a:latin typeface="Calibri"/>
                <a:cs typeface="Calibri"/>
                <a:hlinkClick r:id="rId2" action="ppaction://hlinksldjump"/>
              </a:rPr>
              <a:t>is</a:t>
            </a:r>
            <a:r>
              <a:rPr dirty="0" sz="850" spc="195" b="1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850" spc="-10" b="1">
                <a:latin typeface="Calibri"/>
                <a:cs typeface="Calibri"/>
                <a:hlinkClick r:id="rId2" action="ppaction://hlinksldjump"/>
              </a:rPr>
              <a:t>about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287234" y="2314935"/>
            <a:ext cx="1257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5" b="1">
                <a:latin typeface="Calibri"/>
                <a:cs typeface="Calibri"/>
              </a:rPr>
              <a:t>iii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7298" y="2572869"/>
            <a:ext cx="15849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5" b="1">
                <a:latin typeface="Calibri"/>
                <a:cs typeface="Calibri"/>
                <a:hlinkClick r:id="rId3" action="ppaction://hlinksldjump"/>
              </a:rPr>
              <a:t>On</a:t>
            </a:r>
            <a:r>
              <a:rPr dirty="0" sz="850" spc="114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20" b="1">
                <a:latin typeface="Calibri"/>
                <a:cs typeface="Calibri"/>
                <a:hlinkClick r:id="rId3" action="ppaction://hlinksldjump"/>
              </a:rPr>
              <a:t>the</a:t>
            </a:r>
            <a:r>
              <a:rPr dirty="0" sz="850" spc="114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20" b="1">
                <a:latin typeface="Calibri"/>
                <a:cs typeface="Calibri"/>
                <a:hlinkClick r:id="rId3" action="ppaction://hlinksldjump"/>
              </a:rPr>
              <a:t>exercises</a:t>
            </a:r>
            <a:r>
              <a:rPr dirty="0" sz="850" spc="114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55" b="1">
                <a:latin typeface="Calibri"/>
                <a:cs typeface="Calibri"/>
                <a:hlinkClick r:id="rId3" action="ppaction://hlinksldjump"/>
              </a:rPr>
              <a:t>and</a:t>
            </a:r>
            <a:r>
              <a:rPr dirty="0" sz="850" spc="114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-10" b="1">
                <a:latin typeface="Calibri"/>
                <a:cs typeface="Calibri"/>
                <a:hlinkClick r:id="rId3" action="ppaction://hlinksldjump"/>
              </a:rPr>
              <a:t>problems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335441" y="2572869"/>
            <a:ext cx="819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b="1">
                <a:latin typeface="Calibri"/>
                <a:cs typeface="Calibri"/>
              </a:rPr>
              <a:t>v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7298" y="2830823"/>
            <a:ext cx="27025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0" b="1">
                <a:latin typeface="Calibri"/>
                <a:cs typeface="Calibri"/>
                <a:hlinkClick r:id="rId4" action="ppaction://hlinksldjump"/>
              </a:rPr>
              <a:t>1</a:t>
            </a:r>
            <a:r>
              <a:rPr dirty="0" sz="850" spc="229" b="1">
                <a:latin typeface="Calibri"/>
                <a:cs typeface="Calibri"/>
                <a:hlinkClick r:id="rId4" action="ppaction://hlinksldjump"/>
              </a:rPr>
              <a:t>  </a:t>
            </a:r>
            <a:r>
              <a:rPr dirty="0" sz="850" spc="55" b="1">
                <a:latin typeface="Calibri"/>
                <a:cs typeface="Calibri"/>
                <a:hlinkClick r:id="rId4" action="ppaction://hlinksldjump"/>
              </a:rPr>
              <a:t>Using</a:t>
            </a:r>
            <a:r>
              <a:rPr dirty="0" sz="850" spc="85" b="1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850" spc="50" b="1">
                <a:latin typeface="Calibri"/>
                <a:cs typeface="Calibri"/>
                <a:hlinkClick r:id="rId4" action="ppaction://hlinksldjump"/>
              </a:rPr>
              <a:t>neural</a:t>
            </a:r>
            <a:r>
              <a:rPr dirty="0" sz="850" spc="80" b="1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850" spc="30" b="1">
                <a:latin typeface="Calibri"/>
                <a:cs typeface="Calibri"/>
                <a:hlinkClick r:id="rId4" action="ppaction://hlinksldjump"/>
              </a:rPr>
              <a:t>nets</a:t>
            </a:r>
            <a:r>
              <a:rPr dirty="0" sz="850" spc="80" b="1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850" spc="30" b="1">
                <a:latin typeface="Calibri"/>
                <a:cs typeface="Calibri"/>
                <a:hlinkClick r:id="rId4" action="ppaction://hlinksldjump"/>
              </a:rPr>
              <a:t>to</a:t>
            </a:r>
            <a:r>
              <a:rPr dirty="0" sz="850" spc="80" b="1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850" spc="50" b="1">
                <a:latin typeface="Calibri"/>
                <a:cs typeface="Calibri"/>
                <a:hlinkClick r:id="rId4" action="ppaction://hlinksldjump"/>
              </a:rPr>
              <a:t>recognize</a:t>
            </a:r>
            <a:r>
              <a:rPr dirty="0" sz="850" spc="75" b="1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850" spc="30" b="1">
                <a:latin typeface="Calibri"/>
                <a:cs typeface="Calibri"/>
                <a:hlinkClick r:id="rId4" action="ppaction://hlinksldjump"/>
              </a:rPr>
              <a:t>handwritten</a:t>
            </a:r>
            <a:r>
              <a:rPr dirty="0" sz="850" spc="80" b="1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850" spc="-10" b="1">
                <a:latin typeface="Calibri"/>
                <a:cs typeface="Calibri"/>
                <a:hlinkClick r:id="rId4" action="ppaction://hlinksldjump"/>
              </a:rPr>
              <a:t>digits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231281" y="2813619"/>
            <a:ext cx="4196080" cy="1212850"/>
          </a:xfrm>
          <a:prstGeom prst="rect">
            <a:avLst/>
          </a:prstGeom>
        </p:spPr>
        <p:txBody>
          <a:bodyPr wrap="square" lIns="0" tIns="31115" rIns="0" bIns="0" rtlCol="0" vert="horz">
            <a:spAutoFit/>
          </a:bodyPr>
          <a:lstStyle/>
          <a:p>
            <a:pPr marL="4119245">
              <a:lnSpc>
                <a:spcPct val="100000"/>
              </a:lnSpc>
              <a:spcBef>
                <a:spcPts val="245"/>
              </a:spcBef>
            </a:pPr>
            <a:r>
              <a:rPr dirty="0" sz="850" spc="20" b="1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260985" algn="l"/>
                <a:tab pos="4112260" algn="l"/>
              </a:tabLst>
            </a:pPr>
            <a:r>
              <a:rPr dirty="0" sz="850">
                <a:latin typeface="Calibri"/>
                <a:cs typeface="Calibri"/>
                <a:hlinkClick r:id="rId5" action="ppaction://hlinksldjump"/>
              </a:rPr>
              <a:t>Perceptrons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2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60985" algn="l"/>
                <a:tab pos="4114800" algn="l"/>
              </a:tabLst>
            </a:pPr>
            <a:r>
              <a:rPr dirty="0" sz="850" spc="20">
                <a:latin typeface="Calibri"/>
                <a:cs typeface="Calibri"/>
                <a:hlinkClick r:id="rId6" action="ppaction://hlinksldjump"/>
              </a:rPr>
              <a:t>Sigmoid</a:t>
            </a:r>
            <a:r>
              <a:rPr dirty="0" sz="850" spc="50"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6" action="ppaction://hlinksldjump"/>
              </a:rPr>
              <a:t>neurons</a:t>
            </a:r>
            <a:r>
              <a:rPr dirty="0" sz="850" spc="180">
                <a:latin typeface="Calibri"/>
                <a:cs typeface="Calibri"/>
              </a:rPr>
              <a:t> 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7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260985" algn="l"/>
              </a:tabLst>
            </a:pPr>
            <a:r>
              <a:rPr dirty="0" sz="850">
                <a:latin typeface="Calibri"/>
                <a:cs typeface="Calibri"/>
                <a:hlinkClick r:id="rId7" action="ppaction://hlinksldjump"/>
              </a:rPr>
              <a:t>The</a:t>
            </a:r>
            <a:r>
              <a:rPr dirty="0" sz="850" spc="70"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7" action="ppaction://hlinksldjump"/>
              </a:rPr>
              <a:t>architecture</a:t>
            </a:r>
            <a:r>
              <a:rPr dirty="0" sz="850" spc="75"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7" action="ppaction://hlinksldjump"/>
              </a:rPr>
              <a:t>of</a:t>
            </a:r>
            <a:r>
              <a:rPr dirty="0" sz="850" spc="75"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7" action="ppaction://hlinksldjump"/>
              </a:rPr>
              <a:t>neural</a:t>
            </a:r>
            <a:r>
              <a:rPr dirty="0" sz="850" spc="75"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7" action="ppaction://hlinksldjump"/>
              </a:rPr>
              <a:t>networks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85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10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260985" algn="l"/>
              </a:tabLst>
            </a:pPr>
            <a:r>
              <a:rPr dirty="0" sz="850" spc="55">
                <a:latin typeface="Calibri"/>
                <a:cs typeface="Calibri"/>
                <a:hlinkClick r:id="rId8" action="ppaction://hlinksldjump"/>
              </a:rPr>
              <a:t>A</a:t>
            </a:r>
            <a:r>
              <a:rPr dirty="0" sz="850" spc="65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8" action="ppaction://hlinksldjump"/>
              </a:rPr>
              <a:t>simple</a:t>
            </a:r>
            <a:r>
              <a:rPr dirty="0" sz="850" spc="65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8" action="ppaction://hlinksldjump"/>
              </a:rPr>
              <a:t>network</a:t>
            </a:r>
            <a:r>
              <a:rPr dirty="0" sz="850" spc="70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8" action="ppaction://hlinksldjump"/>
              </a:rPr>
              <a:t>to</a:t>
            </a:r>
            <a:r>
              <a:rPr dirty="0" sz="850" spc="65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8" action="ppaction://hlinksldjump"/>
              </a:rPr>
              <a:t>classify</a:t>
            </a:r>
            <a:r>
              <a:rPr dirty="0" sz="850" spc="70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8" action="ppaction://hlinksldjump"/>
              </a:rPr>
              <a:t>handwritten</a:t>
            </a:r>
            <a:r>
              <a:rPr dirty="0" sz="850" spc="65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8" action="ppaction://hlinksldjump"/>
              </a:rPr>
              <a:t>digits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90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12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60985" algn="l"/>
              </a:tabLst>
            </a:pPr>
            <a:r>
              <a:rPr dirty="0" sz="850" spc="10">
                <a:latin typeface="Calibri"/>
                <a:cs typeface="Calibri"/>
                <a:hlinkClick r:id="rId9" action="ppaction://hlinksldjump"/>
              </a:rPr>
              <a:t>Learning</a:t>
            </a:r>
            <a:r>
              <a:rPr dirty="0" sz="850" spc="60"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9" action="ppaction://hlinksldjump"/>
              </a:rPr>
              <a:t>with</a:t>
            </a:r>
            <a:r>
              <a:rPr dirty="0" sz="850" spc="65"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9" action="ppaction://hlinksldjump"/>
              </a:rPr>
              <a:t>gradient</a:t>
            </a:r>
            <a:r>
              <a:rPr dirty="0" sz="850" spc="60"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9" action="ppaction://hlinksldjump"/>
              </a:rPr>
              <a:t>descent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65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15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260985" algn="l"/>
              </a:tabLst>
            </a:pP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Implementing</a:t>
            </a:r>
            <a:r>
              <a:rPr dirty="0" sz="850" spc="50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our</a:t>
            </a:r>
            <a:r>
              <a:rPr dirty="0" sz="850" spc="55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network</a:t>
            </a:r>
            <a:r>
              <a:rPr dirty="0" sz="850" spc="55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to</a:t>
            </a:r>
            <a:r>
              <a:rPr dirty="0" sz="850" spc="50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classify</a:t>
            </a:r>
            <a:r>
              <a:rPr dirty="0" sz="850" spc="55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digits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265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24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260985" algn="l"/>
              </a:tabLst>
            </a:pPr>
            <a:r>
              <a:rPr dirty="0" sz="850">
                <a:latin typeface="Calibri"/>
                <a:cs typeface="Calibri"/>
              </a:rPr>
              <a:t>Toward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8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75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35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7298" y="4127489"/>
            <a:ext cx="23698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0" b="1">
                <a:latin typeface="Calibri"/>
                <a:cs typeface="Calibri"/>
                <a:hlinkClick r:id="rId11" action="ppaction://hlinksldjump"/>
              </a:rPr>
              <a:t>2</a:t>
            </a:r>
            <a:r>
              <a:rPr dirty="0" sz="850" spc="235" b="1">
                <a:latin typeface="Calibri"/>
                <a:cs typeface="Calibri"/>
                <a:hlinkClick r:id="rId11" action="ppaction://hlinksldjump"/>
              </a:rPr>
              <a:t>  </a:t>
            </a:r>
            <a:r>
              <a:rPr dirty="0" sz="850" spc="65" b="1">
                <a:latin typeface="Calibri"/>
                <a:cs typeface="Calibri"/>
                <a:hlinkClick r:id="rId11" action="ppaction://hlinksldjump"/>
              </a:rPr>
              <a:t>How</a:t>
            </a:r>
            <a:r>
              <a:rPr dirty="0" sz="850" spc="80" b="1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850" spc="40" b="1">
                <a:latin typeface="Calibri"/>
                <a:cs typeface="Calibri"/>
                <a:hlinkClick r:id="rId11" action="ppaction://hlinksldjump"/>
              </a:rPr>
              <a:t>the</a:t>
            </a:r>
            <a:r>
              <a:rPr dirty="0" sz="850" spc="80" b="1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850" spc="40" b="1">
                <a:latin typeface="Calibri"/>
                <a:cs typeface="Calibri"/>
                <a:hlinkClick r:id="rId11" action="ppaction://hlinksldjump"/>
              </a:rPr>
              <a:t>backpropagation</a:t>
            </a:r>
            <a:r>
              <a:rPr dirty="0" sz="850" spc="85" b="1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850" spc="40" b="1">
                <a:latin typeface="Calibri"/>
                <a:cs typeface="Calibri"/>
                <a:hlinkClick r:id="rId11" action="ppaction://hlinksldjump"/>
              </a:rPr>
              <a:t>algorithm</a:t>
            </a:r>
            <a:r>
              <a:rPr dirty="0" sz="850" spc="80" b="1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850" spc="-10" b="1">
                <a:latin typeface="Calibri"/>
                <a:cs typeface="Calibri"/>
                <a:hlinkClick r:id="rId11" action="ppaction://hlinksldjump"/>
              </a:rPr>
              <a:t>works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265042" y="4127489"/>
            <a:ext cx="1530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45" b="1">
                <a:latin typeface="Calibri"/>
                <a:cs typeface="Calibri"/>
              </a:rPr>
              <a:t>39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482716" y="4720694"/>
            <a:ext cx="36988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  <a:hlinkClick r:id="rId12" action="ppaction://hlinksldjump"/>
              </a:rPr>
              <a:t>The</a:t>
            </a:r>
            <a:r>
              <a:rPr dirty="0" sz="850" spc="70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2" action="ppaction://hlinksldjump"/>
              </a:rPr>
              <a:t>Hadamard</a:t>
            </a:r>
            <a:r>
              <a:rPr dirty="0" sz="850" spc="75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2" action="ppaction://hlinksldjump"/>
              </a:rPr>
              <a:t>product,</a:t>
            </a:r>
            <a:r>
              <a:rPr dirty="0" sz="850" spc="70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 i="1">
                <a:latin typeface="Calibri"/>
                <a:cs typeface="Calibri"/>
                <a:hlinkClick r:id="rId12" action="ppaction://hlinksldjump"/>
              </a:rPr>
              <a:t>s</a:t>
            </a:r>
            <a:r>
              <a:rPr dirty="0" sz="850" spc="5" i="1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 spc="-100">
                <a:latin typeface="Cambria"/>
                <a:cs typeface="Cambria"/>
                <a:hlinkClick r:id="rId12" action="ppaction://hlinksldjump"/>
              </a:rPr>
              <a:t>◉</a:t>
            </a:r>
            <a:r>
              <a:rPr dirty="0" sz="850" spc="50">
                <a:latin typeface="Cambria"/>
                <a:cs typeface="Cambria"/>
                <a:hlinkClick r:id="rId12" action="ppaction://hlinksldjump"/>
              </a:rPr>
              <a:t> </a:t>
            </a:r>
            <a:r>
              <a:rPr dirty="0" sz="850" i="1">
                <a:latin typeface="Calibri"/>
                <a:cs typeface="Calibri"/>
                <a:hlinkClick r:id="rId12" action="ppaction://hlinksldjump"/>
              </a:rPr>
              <a:t>t</a:t>
            </a:r>
            <a:r>
              <a:rPr dirty="0" sz="850" spc="24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231281" y="4259024"/>
            <a:ext cx="4186554" cy="15087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lvl="1" marL="260350" marR="9525" indent="-248285">
              <a:lnSpc>
                <a:spcPct val="114300"/>
              </a:lnSpc>
              <a:spcBef>
                <a:spcPts val="95"/>
              </a:spcBef>
              <a:buAutoNum type="arabicPeriod"/>
              <a:tabLst>
                <a:tab pos="263525" algn="l"/>
              </a:tabLst>
            </a:pPr>
            <a:r>
              <a:rPr dirty="0" sz="850" spc="10">
                <a:latin typeface="Calibri"/>
                <a:cs typeface="Calibri"/>
                <a:hlinkClick r:id="rId13" action="ppaction://hlinksldjump"/>
              </a:rPr>
              <a:t>Warm</a:t>
            </a:r>
            <a:r>
              <a:rPr dirty="0" sz="850" spc="5"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3" action="ppaction://hlinksldjump"/>
              </a:rPr>
              <a:t>up:</a:t>
            </a:r>
            <a:r>
              <a:rPr dirty="0" sz="850" spc="114"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3" action="ppaction://hlinksldjump"/>
              </a:rPr>
              <a:t>a fast</a:t>
            </a:r>
            <a:r>
              <a:rPr dirty="0" sz="850" spc="5"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3" action="ppaction://hlinksldjump"/>
              </a:rPr>
              <a:t>matrix-based approach</a:t>
            </a:r>
            <a:r>
              <a:rPr dirty="0" sz="850" spc="5"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3" action="ppaction://hlinksldjump"/>
              </a:rPr>
              <a:t>to computing</a:t>
            </a:r>
            <a:r>
              <a:rPr dirty="0" sz="850" spc="5"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3" action="ppaction://hlinksldjump"/>
              </a:rPr>
              <a:t>the output from</a:t>
            </a:r>
            <a:r>
              <a:rPr dirty="0" sz="850" spc="5"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3" action="ppaction://hlinksldjump"/>
              </a:rPr>
              <a:t>a </a:t>
            </a:r>
            <a:r>
              <a:rPr dirty="0" sz="850" spc="-10">
                <a:latin typeface="Calibri"/>
                <a:cs typeface="Calibri"/>
                <a:hlinkClick r:id="rId13" action="ppaction://hlinksldjump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500">
                <a:latin typeface="Calibri"/>
                <a:cs typeface="Calibri"/>
              </a:rPr>
              <a:t>	</a:t>
            </a:r>
            <a:r>
              <a:rPr dirty="0" sz="850">
                <a:latin typeface="Calibri"/>
                <a:cs typeface="Calibri"/>
                <a:hlinkClick r:id="rId13" action="ppaction://hlinksldjump"/>
              </a:rPr>
              <a:t>network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65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40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260985" algn="l"/>
              </a:tabLst>
            </a:pPr>
            <a:r>
              <a:rPr dirty="0" sz="850">
                <a:latin typeface="Calibri"/>
                <a:cs typeface="Calibri"/>
                <a:hlinkClick r:id="rId14" action="ppaction://hlinksldjump"/>
              </a:rPr>
              <a:t>The</a:t>
            </a:r>
            <a:r>
              <a:rPr dirty="0" sz="850" spc="80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4" action="ppaction://hlinksldjump"/>
              </a:rPr>
              <a:t>two</a:t>
            </a:r>
            <a:r>
              <a:rPr dirty="0" sz="850" spc="80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4" action="ppaction://hlinksldjump"/>
              </a:rPr>
              <a:t>assumptions</a:t>
            </a:r>
            <a:r>
              <a:rPr dirty="0" sz="850" spc="80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4" action="ppaction://hlinksldjump"/>
              </a:rPr>
              <a:t>we</a:t>
            </a:r>
            <a:r>
              <a:rPr dirty="0" sz="850" spc="80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4" action="ppaction://hlinksldjump"/>
              </a:rPr>
              <a:t>need</a:t>
            </a:r>
            <a:r>
              <a:rPr dirty="0" sz="850" spc="80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4" action="ppaction://hlinksldjump"/>
              </a:rPr>
              <a:t>about</a:t>
            </a:r>
            <a:r>
              <a:rPr dirty="0" sz="850" spc="80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4" action="ppaction://hlinksldjump"/>
              </a:rPr>
              <a:t>the</a:t>
            </a:r>
            <a:r>
              <a:rPr dirty="0" sz="850" spc="80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4" action="ppaction://hlinksldjump"/>
              </a:rPr>
              <a:t>cost</a:t>
            </a:r>
            <a:r>
              <a:rPr dirty="0" sz="850" spc="85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4" action="ppaction://hlinksldjump"/>
              </a:rPr>
              <a:t>function</a:t>
            </a:r>
            <a:r>
              <a:rPr dirty="0" sz="850" spc="17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15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42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  <a:tabLst>
                <a:tab pos="4046854" algn="l"/>
              </a:tabLst>
            </a:pPr>
            <a:r>
              <a:rPr dirty="0" sz="850" spc="-25">
                <a:latin typeface="Calibri"/>
                <a:cs typeface="Calibri"/>
                <a:hlinkClick r:id="rId12" action="ppaction://hlinksldjump"/>
              </a:rPr>
              <a:t>2.3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43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45"/>
              </a:spcBef>
              <a:buAutoNum type="arabicPeriod" startAt="4"/>
              <a:tabLst>
                <a:tab pos="260985" algn="l"/>
              </a:tabLst>
            </a:pPr>
            <a:r>
              <a:rPr dirty="0" sz="850" spc="10">
                <a:latin typeface="Calibri"/>
                <a:cs typeface="Calibri"/>
                <a:hlinkClick r:id="rId12" action="ppaction://hlinksldjump"/>
              </a:rPr>
              <a:t>The</a:t>
            </a:r>
            <a:r>
              <a:rPr dirty="0" sz="850" spc="70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2" action="ppaction://hlinksldjump"/>
              </a:rPr>
              <a:t>four</a:t>
            </a:r>
            <a:r>
              <a:rPr dirty="0" sz="850" spc="75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2" action="ppaction://hlinksldjump"/>
              </a:rPr>
              <a:t>fundamental</a:t>
            </a:r>
            <a:r>
              <a:rPr dirty="0" sz="850" spc="75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2" action="ppaction://hlinksldjump"/>
              </a:rPr>
              <a:t>equations</a:t>
            </a:r>
            <a:r>
              <a:rPr dirty="0" sz="850" spc="75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2" action="ppaction://hlinksldjump"/>
              </a:rPr>
              <a:t>behind</a:t>
            </a:r>
            <a:r>
              <a:rPr dirty="0" sz="850" spc="75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2" action="ppaction://hlinksldjump"/>
              </a:rPr>
              <a:t>backpropagation</a:t>
            </a:r>
            <a:r>
              <a:rPr dirty="0" sz="850" spc="160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85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43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50"/>
              </a:spcBef>
              <a:buAutoNum type="arabicPeriod" startAt="4"/>
              <a:tabLst>
                <a:tab pos="260985" algn="l"/>
              </a:tabLst>
            </a:pPr>
            <a:r>
              <a:rPr dirty="0" sz="850" spc="10">
                <a:latin typeface="Calibri"/>
                <a:cs typeface="Calibri"/>
              </a:rPr>
              <a:t>Proof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(optional)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75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48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50"/>
              </a:spcBef>
              <a:buAutoNum type="arabicPeriod" startAt="4"/>
              <a:tabLst>
                <a:tab pos="260985" algn="l"/>
              </a:tabLst>
            </a:pPr>
            <a:r>
              <a:rPr dirty="0" sz="850" spc="10">
                <a:latin typeface="Calibri"/>
                <a:cs typeface="Calibri"/>
                <a:hlinkClick r:id="rId15" action="ppaction://hlinksldjump"/>
              </a:rPr>
              <a:t>The</a:t>
            </a:r>
            <a:r>
              <a:rPr dirty="0" sz="850" spc="60"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5" action="ppaction://hlinksldjump"/>
              </a:rPr>
              <a:t>backpropagation</a:t>
            </a:r>
            <a:r>
              <a:rPr dirty="0" sz="850" spc="65"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5" action="ppaction://hlinksldjump"/>
              </a:rPr>
              <a:t>algorithm</a:t>
            </a:r>
            <a:r>
              <a:rPr dirty="0" sz="850" spc="160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85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49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45"/>
              </a:spcBef>
              <a:buAutoNum type="arabicPeriod" startAt="4"/>
              <a:tabLst>
                <a:tab pos="260985" algn="l"/>
              </a:tabLst>
            </a:pPr>
            <a:r>
              <a:rPr dirty="0" sz="850">
                <a:latin typeface="Calibri"/>
                <a:cs typeface="Calibri"/>
                <a:hlinkClick r:id="rId16" action="ppaction://hlinksldjump"/>
              </a:rPr>
              <a:t>The</a:t>
            </a:r>
            <a:r>
              <a:rPr dirty="0" sz="850" spc="70"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6" action="ppaction://hlinksldjump"/>
              </a:rPr>
              <a:t>code</a:t>
            </a:r>
            <a:r>
              <a:rPr dirty="0" sz="850" spc="70"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6" action="ppaction://hlinksldjump"/>
              </a:rPr>
              <a:t>for</a:t>
            </a:r>
            <a:r>
              <a:rPr dirty="0" sz="850" spc="70"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6" action="ppaction://hlinksldjump"/>
              </a:rPr>
              <a:t>backpropagation</a:t>
            </a:r>
            <a:r>
              <a:rPr dirty="0" sz="850" spc="16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80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50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50"/>
              </a:spcBef>
              <a:buAutoNum type="arabicPeriod" startAt="4"/>
              <a:tabLst>
                <a:tab pos="260985" algn="l"/>
              </a:tabLst>
            </a:pPr>
            <a:r>
              <a:rPr dirty="0" sz="850" spc="10">
                <a:latin typeface="Calibri"/>
                <a:cs typeface="Calibri"/>
                <a:hlinkClick r:id="rId17" action="ppaction://hlinksldjump"/>
              </a:rPr>
              <a:t>In</a:t>
            </a:r>
            <a:r>
              <a:rPr dirty="0" sz="850" spc="65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7" action="ppaction://hlinksldjump"/>
              </a:rPr>
              <a:t>what</a:t>
            </a:r>
            <a:r>
              <a:rPr dirty="0" sz="850" spc="70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7" action="ppaction://hlinksldjump"/>
              </a:rPr>
              <a:t>sense</a:t>
            </a:r>
            <a:r>
              <a:rPr dirty="0" sz="850" spc="65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7" action="ppaction://hlinksldjump"/>
              </a:rPr>
              <a:t>is</a:t>
            </a:r>
            <a:r>
              <a:rPr dirty="0" sz="850" spc="70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7" action="ppaction://hlinksldjump"/>
              </a:rPr>
              <a:t>backpropagation</a:t>
            </a:r>
            <a:r>
              <a:rPr dirty="0" sz="850" spc="65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7" action="ppaction://hlinksldjump"/>
              </a:rPr>
              <a:t>a</a:t>
            </a:r>
            <a:r>
              <a:rPr dirty="0" sz="850" spc="70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7" action="ppaction://hlinksldjump"/>
              </a:rPr>
              <a:t>fast</a:t>
            </a:r>
            <a:r>
              <a:rPr dirty="0" sz="850" spc="70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7" action="ppaction://hlinksldjump"/>
              </a:rPr>
              <a:t>algorithm?</a:t>
            </a:r>
            <a:r>
              <a:rPr dirty="0" sz="850" spc="4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90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52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50"/>
              </a:spcBef>
              <a:buAutoNum type="arabicPeriod" startAt="4"/>
              <a:tabLst>
                <a:tab pos="260985" algn="l"/>
              </a:tabLst>
            </a:pPr>
            <a:r>
              <a:rPr dirty="0" sz="850" spc="20">
                <a:latin typeface="Calibri"/>
                <a:cs typeface="Calibri"/>
                <a:hlinkClick r:id="rId18" action="ppaction://hlinksldjump"/>
              </a:rPr>
              <a:t>Backpropagation:</a:t>
            </a:r>
            <a:r>
              <a:rPr dirty="0" sz="850" spc="125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8" action="ppaction://hlinksldjump"/>
              </a:rPr>
              <a:t>the</a:t>
            </a:r>
            <a:r>
              <a:rPr dirty="0" sz="850" spc="55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8" action="ppaction://hlinksldjump"/>
              </a:rPr>
              <a:t>big</a:t>
            </a:r>
            <a:r>
              <a:rPr dirty="0" sz="850" spc="50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8" action="ppaction://hlinksldjump"/>
              </a:rPr>
              <a:t>picture</a:t>
            </a:r>
            <a:r>
              <a:rPr dirty="0" sz="850" spc="165">
                <a:latin typeface="Calibri"/>
                <a:cs typeface="Calibri"/>
              </a:rPr>
              <a:t> 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245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53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482713" y="6148558"/>
            <a:ext cx="3698875" cy="619125"/>
          </a:xfrm>
          <a:prstGeom prst="rect">
            <a:avLst/>
          </a:prstGeom>
        </p:spPr>
        <p:txBody>
          <a:bodyPr wrap="square" lIns="0" tIns="31115" rIns="0" bIns="0" rtlCol="0" vert="horz">
            <a:spAutoFit/>
          </a:bodyPr>
          <a:lstStyle/>
          <a:p>
            <a:pPr lvl="2" marL="359410" indent="-346710">
              <a:lnSpc>
                <a:spcPct val="100000"/>
              </a:lnSpc>
              <a:spcBef>
                <a:spcPts val="245"/>
              </a:spcBef>
              <a:buAutoNum type="arabicPeriod"/>
              <a:tabLst>
                <a:tab pos="359410" algn="l"/>
              </a:tabLst>
            </a:pPr>
            <a:r>
              <a:rPr dirty="0" sz="850" spc="20">
                <a:latin typeface="Calibri"/>
                <a:cs typeface="Calibri"/>
                <a:hlinkClick r:id="rId19" action="ppaction://hlinksldjump"/>
              </a:rPr>
              <a:t>Introducing</a:t>
            </a:r>
            <a:r>
              <a:rPr dirty="0" sz="850" spc="50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9" action="ppaction://hlinksldjump"/>
              </a:rPr>
              <a:t>the</a:t>
            </a:r>
            <a:r>
              <a:rPr dirty="0" sz="850" spc="50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9" action="ppaction://hlinksldjump"/>
              </a:rPr>
              <a:t>cross-</a:t>
            </a:r>
            <a:r>
              <a:rPr dirty="0" sz="850" spc="20">
                <a:latin typeface="Calibri"/>
                <a:cs typeface="Calibri"/>
                <a:hlinkClick r:id="rId19" action="ppaction://hlinksldjump"/>
              </a:rPr>
              <a:t>entropy</a:t>
            </a:r>
            <a:r>
              <a:rPr dirty="0" sz="850" spc="50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9" action="ppaction://hlinksldjump"/>
              </a:rPr>
              <a:t>cost</a:t>
            </a:r>
            <a:r>
              <a:rPr dirty="0" sz="850" spc="50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9" action="ppaction://hlinksldjump"/>
              </a:rPr>
              <a:t>function</a:t>
            </a:r>
            <a:r>
              <a:rPr dirty="0" sz="850" spc="190">
                <a:latin typeface="Calibri"/>
                <a:cs typeface="Calibri"/>
              </a:rPr>
              <a:t> 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lvl="2" marL="359410" indent="-346710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359410" algn="l"/>
              </a:tabLst>
            </a:pPr>
            <a:r>
              <a:rPr dirty="0" sz="850">
                <a:latin typeface="Calibri"/>
                <a:cs typeface="Calibri"/>
                <a:hlinkClick r:id="rId20" action="ppaction://hlinksldjump"/>
              </a:rPr>
              <a:t>Using</a:t>
            </a:r>
            <a:r>
              <a:rPr dirty="0" sz="850" spc="85"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0" action="ppaction://hlinksldjump"/>
              </a:rPr>
              <a:t>the</a:t>
            </a:r>
            <a:r>
              <a:rPr dirty="0" sz="850" spc="85"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0" action="ppaction://hlinksldjump"/>
              </a:rPr>
              <a:t>cross-entropy</a:t>
            </a:r>
            <a:r>
              <a:rPr dirty="0" sz="850" spc="85"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0" action="ppaction://hlinksldjump"/>
              </a:rPr>
              <a:t>to</a:t>
            </a:r>
            <a:r>
              <a:rPr dirty="0" sz="850" spc="90"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0" action="ppaction://hlinksldjump"/>
              </a:rPr>
              <a:t>classify</a:t>
            </a:r>
            <a:r>
              <a:rPr dirty="0" sz="850" spc="85"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850" spc="60">
                <a:latin typeface="Calibri"/>
                <a:cs typeface="Calibri"/>
                <a:hlinkClick r:id="rId20" action="ppaction://hlinksldjump"/>
              </a:rPr>
              <a:t>MNIST</a:t>
            </a:r>
            <a:r>
              <a:rPr dirty="0" sz="850" spc="85"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0" action="ppaction://hlinksldjump"/>
              </a:rPr>
              <a:t>digits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lvl="2" marL="359410" indent="-346710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359410" algn="l"/>
              </a:tabLst>
            </a:pPr>
            <a:r>
              <a:rPr dirty="0" sz="850">
                <a:latin typeface="Calibri"/>
                <a:cs typeface="Calibri"/>
                <a:hlinkClick r:id="rId21" action="ppaction://hlinksldjump"/>
              </a:rPr>
              <a:t>What</a:t>
            </a:r>
            <a:r>
              <a:rPr dirty="0" sz="850" spc="100"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1" action="ppaction://hlinksldjump"/>
              </a:rPr>
              <a:t>does</a:t>
            </a:r>
            <a:r>
              <a:rPr dirty="0" sz="850" spc="105"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1" action="ppaction://hlinksldjump"/>
              </a:rPr>
              <a:t>the</a:t>
            </a:r>
            <a:r>
              <a:rPr dirty="0" sz="850" spc="105"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1" action="ppaction://hlinksldjump"/>
              </a:rPr>
              <a:t>cross-entropy</a:t>
            </a:r>
            <a:r>
              <a:rPr dirty="0" sz="850" spc="100"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1" action="ppaction://hlinksldjump"/>
              </a:rPr>
              <a:t>mean?</a:t>
            </a:r>
            <a:r>
              <a:rPr dirty="0" sz="850" spc="200"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1" action="ppaction://hlinksldjump"/>
              </a:rPr>
              <a:t>Where</a:t>
            </a:r>
            <a:r>
              <a:rPr dirty="0" sz="850" spc="105"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1" action="ppaction://hlinksldjump"/>
              </a:rPr>
              <a:t>does</a:t>
            </a:r>
            <a:r>
              <a:rPr dirty="0" sz="850" spc="100"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1" action="ppaction://hlinksldjump"/>
              </a:rPr>
              <a:t>it</a:t>
            </a:r>
            <a:r>
              <a:rPr dirty="0" sz="850" spc="105"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1" action="ppaction://hlinksldjump"/>
              </a:rPr>
              <a:t>come</a:t>
            </a:r>
            <a:r>
              <a:rPr dirty="0" sz="850" spc="105"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1" action="ppaction://hlinksldjump"/>
              </a:rPr>
              <a:t>from?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6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lvl="2" marL="359410" indent="-346710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359410" algn="l"/>
              </a:tabLst>
            </a:pPr>
            <a:r>
              <a:rPr dirty="0" sz="850">
                <a:latin typeface="Calibri"/>
                <a:cs typeface="Calibri"/>
                <a:hlinkClick r:id="rId22" action="ppaction://hlinksldjump"/>
              </a:rPr>
              <a:t>Softmax</a:t>
            </a:r>
            <a:r>
              <a:rPr dirty="0" sz="850" spc="4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31282" y="6759309"/>
            <a:ext cx="39503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  <a:hlinkClick r:id="rId23" action="ppaction://hlinksldjump"/>
              </a:rPr>
              <a:t>3.2</a:t>
            </a:r>
            <a:r>
              <a:rPr dirty="0" sz="850" spc="225">
                <a:latin typeface="Calibri"/>
                <a:cs typeface="Calibri"/>
                <a:hlinkClick r:id="rId23" action="ppaction://hlinksldjump"/>
              </a:rPr>
              <a:t>  </a:t>
            </a:r>
            <a:r>
              <a:rPr dirty="0" sz="850" spc="10">
                <a:latin typeface="Calibri"/>
                <a:cs typeface="Calibri"/>
                <a:hlinkClick r:id="rId23" action="ppaction://hlinksldjump"/>
              </a:rPr>
              <a:t>Overfitting</a:t>
            </a:r>
            <a:r>
              <a:rPr dirty="0" sz="850" spc="65"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23" action="ppaction://hlinksldjump"/>
              </a:rPr>
              <a:t>and</a:t>
            </a:r>
            <a:r>
              <a:rPr dirty="0" sz="850" spc="65"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23" action="ppaction://hlinksldjump"/>
              </a:rPr>
              <a:t>regularization</a:t>
            </a:r>
            <a:r>
              <a:rPr dirty="0" sz="850" spc="175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482713" y="6890508"/>
            <a:ext cx="3698875" cy="471170"/>
          </a:xfrm>
          <a:prstGeom prst="rect">
            <a:avLst/>
          </a:prstGeom>
        </p:spPr>
        <p:txBody>
          <a:bodyPr wrap="square" lIns="0" tIns="31115" rIns="0" bIns="0" rtlCol="0" vert="horz">
            <a:spAutoFit/>
          </a:bodyPr>
          <a:lstStyle/>
          <a:p>
            <a:pPr lvl="2" marL="359410" indent="-346710">
              <a:lnSpc>
                <a:spcPct val="100000"/>
              </a:lnSpc>
              <a:spcBef>
                <a:spcPts val="245"/>
              </a:spcBef>
              <a:buAutoNum type="arabicPeriod"/>
              <a:tabLst>
                <a:tab pos="359410" algn="l"/>
              </a:tabLst>
            </a:pPr>
            <a:r>
              <a:rPr dirty="0" sz="850">
                <a:latin typeface="Calibri"/>
                <a:cs typeface="Calibri"/>
                <a:hlinkClick r:id="rId24" action="ppaction://hlinksldjump"/>
              </a:rPr>
              <a:t>Regularization</a:t>
            </a:r>
            <a:r>
              <a:rPr dirty="0" sz="850" spc="18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lvl="2" marL="359410" indent="-346710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359410" algn="l"/>
              </a:tabLst>
            </a:pPr>
            <a:r>
              <a:rPr dirty="0" sz="850" spc="20">
                <a:latin typeface="Calibri"/>
                <a:cs typeface="Calibri"/>
                <a:hlinkClick r:id="rId25" action="ppaction://hlinksldjump"/>
              </a:rPr>
              <a:t>Why</a:t>
            </a:r>
            <a:r>
              <a:rPr dirty="0" sz="850" spc="55"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25" action="ppaction://hlinksldjump"/>
              </a:rPr>
              <a:t>does</a:t>
            </a:r>
            <a:r>
              <a:rPr dirty="0" sz="850" spc="55"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25" action="ppaction://hlinksldjump"/>
              </a:rPr>
              <a:t>regularization</a:t>
            </a:r>
            <a:r>
              <a:rPr dirty="0" sz="850" spc="55"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25" action="ppaction://hlinksldjump"/>
              </a:rPr>
              <a:t>help</a:t>
            </a:r>
            <a:r>
              <a:rPr dirty="0" sz="850" spc="55"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25" action="ppaction://hlinksldjump"/>
              </a:rPr>
              <a:t>reduce</a:t>
            </a:r>
            <a:r>
              <a:rPr dirty="0" sz="850" spc="55"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25" action="ppaction://hlinksldjump"/>
              </a:rPr>
              <a:t>overfitting?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6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lvl="2" marL="359410" indent="-346710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359410" algn="l"/>
              </a:tabLst>
            </a:pPr>
            <a:r>
              <a:rPr dirty="0" sz="850">
                <a:latin typeface="Calibri"/>
                <a:cs typeface="Calibri"/>
                <a:hlinkClick r:id="rId26" action="ppaction://hlinksldjump"/>
              </a:rPr>
              <a:t>Other</a:t>
            </a:r>
            <a:r>
              <a:rPr dirty="0" sz="850" spc="80"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6" action="ppaction://hlinksldjump"/>
              </a:rPr>
              <a:t>techniques</a:t>
            </a:r>
            <a:r>
              <a:rPr dirty="0" sz="850" spc="80"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6" action="ppaction://hlinksldjump"/>
              </a:rPr>
              <a:t>for</a:t>
            </a:r>
            <a:r>
              <a:rPr dirty="0" sz="850" spc="80"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6" action="ppaction://hlinksldjump"/>
              </a:rPr>
              <a:t>regularization</a:t>
            </a:r>
            <a:r>
              <a:rPr dirty="0" sz="850" spc="204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67299" y="5851774"/>
            <a:ext cx="4352925" cy="1806575"/>
          </a:xfrm>
          <a:prstGeom prst="rect">
            <a:avLst/>
          </a:prstGeom>
        </p:spPr>
        <p:txBody>
          <a:bodyPr wrap="square" lIns="0" tIns="31115" rIns="0" bIns="0" rtlCol="0" vert="horz">
            <a:spAutoFit/>
          </a:bodyPr>
          <a:lstStyle/>
          <a:p>
            <a:pPr algn="r" marL="161290" marR="6985" indent="-161290">
              <a:lnSpc>
                <a:spcPct val="100000"/>
              </a:lnSpc>
              <a:spcBef>
                <a:spcPts val="245"/>
              </a:spcBef>
              <a:buAutoNum type="arabicPlain" startAt="3"/>
              <a:tabLst>
                <a:tab pos="161290" algn="l"/>
                <a:tab pos="4197350" algn="l"/>
              </a:tabLst>
            </a:pPr>
            <a:r>
              <a:rPr dirty="0" sz="850" spc="55" b="1">
                <a:latin typeface="Calibri"/>
                <a:cs typeface="Calibri"/>
                <a:hlinkClick r:id="rId27" action="ppaction://hlinksldjump"/>
              </a:rPr>
              <a:t>Improving</a:t>
            </a:r>
            <a:r>
              <a:rPr dirty="0" sz="850" spc="120" b="1"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850" spc="20" b="1">
                <a:latin typeface="Calibri"/>
                <a:cs typeface="Calibri"/>
                <a:hlinkClick r:id="rId27" action="ppaction://hlinksldjump"/>
              </a:rPr>
              <a:t>the</a:t>
            </a:r>
            <a:r>
              <a:rPr dirty="0" sz="850" spc="125" b="1"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850" spc="20" b="1">
                <a:latin typeface="Calibri"/>
                <a:cs typeface="Calibri"/>
                <a:hlinkClick r:id="rId27" action="ppaction://hlinksldjump"/>
              </a:rPr>
              <a:t>way</a:t>
            </a:r>
            <a:r>
              <a:rPr dirty="0" sz="850" spc="120" b="1"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850" spc="50" b="1">
                <a:latin typeface="Calibri"/>
                <a:cs typeface="Calibri"/>
                <a:hlinkClick r:id="rId27" action="ppaction://hlinksldjump"/>
              </a:rPr>
              <a:t>neural</a:t>
            </a:r>
            <a:r>
              <a:rPr dirty="0" sz="850" spc="125" b="1"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850" spc="20" b="1">
                <a:latin typeface="Calibri"/>
                <a:cs typeface="Calibri"/>
                <a:hlinkClick r:id="rId27" action="ppaction://hlinksldjump"/>
              </a:rPr>
              <a:t>networks</a:t>
            </a:r>
            <a:r>
              <a:rPr dirty="0" sz="850" spc="120" b="1"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850" spc="-10" b="1">
                <a:latin typeface="Calibri"/>
                <a:cs typeface="Calibri"/>
                <a:hlinkClick r:id="rId27" action="ppaction://hlinksldjump"/>
              </a:rPr>
              <a:t>learn</a:t>
            </a:r>
            <a:r>
              <a:rPr dirty="0" sz="850" b="1">
                <a:latin typeface="Calibri"/>
                <a:cs typeface="Calibri"/>
              </a:rPr>
              <a:t>	</a:t>
            </a:r>
            <a:r>
              <a:rPr dirty="0" sz="850" spc="45" b="1">
                <a:latin typeface="Calibri"/>
                <a:cs typeface="Calibri"/>
              </a:rPr>
              <a:t>59</a:t>
            </a:r>
            <a:endParaRPr sz="850">
              <a:latin typeface="Calibri"/>
              <a:cs typeface="Calibri"/>
            </a:endParaRPr>
          </a:p>
          <a:p>
            <a:pPr algn="r" lvl="1" marL="248285" marR="12065" indent="-248285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248285" algn="l"/>
              </a:tabLst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9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80">
                <a:latin typeface="Calibri"/>
                <a:cs typeface="Calibri"/>
              </a:rPr>
              <a:t>  </a:t>
            </a:r>
            <a:r>
              <a:rPr dirty="0" sz="850" spc="25">
                <a:latin typeface="Calibri"/>
                <a:cs typeface="Calibri"/>
              </a:rPr>
              <a:t>60</a:t>
            </a:r>
            <a:endParaRPr sz="850">
              <a:latin typeface="Calibri"/>
              <a:cs typeface="Calibri"/>
            </a:endParaRPr>
          </a:p>
          <a:p>
            <a:pPr algn="r" marR="7620">
              <a:lnSpc>
                <a:spcPct val="100000"/>
              </a:lnSpc>
              <a:spcBef>
                <a:spcPts val="145"/>
              </a:spcBef>
            </a:pPr>
            <a:r>
              <a:rPr dirty="0" sz="850" spc="25">
                <a:latin typeface="Calibri"/>
                <a:cs typeface="Calibri"/>
              </a:rPr>
              <a:t>62</a:t>
            </a:r>
            <a:endParaRPr sz="8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150"/>
              </a:spcBef>
            </a:pPr>
            <a:r>
              <a:rPr dirty="0" sz="850" spc="25">
                <a:latin typeface="Calibri"/>
                <a:cs typeface="Calibri"/>
              </a:rPr>
              <a:t>67</a:t>
            </a:r>
            <a:endParaRPr sz="850">
              <a:latin typeface="Calibri"/>
              <a:cs typeface="Calibri"/>
            </a:endParaRPr>
          </a:p>
          <a:p>
            <a:pPr algn="r" marR="12065">
              <a:lnSpc>
                <a:spcPct val="100000"/>
              </a:lnSpc>
              <a:spcBef>
                <a:spcPts val="150"/>
              </a:spcBef>
            </a:pPr>
            <a:r>
              <a:rPr dirty="0" sz="850" spc="25">
                <a:latin typeface="Calibri"/>
                <a:cs typeface="Calibri"/>
              </a:rPr>
              <a:t>68</a:t>
            </a:r>
            <a:endParaRPr sz="850">
              <a:latin typeface="Calibri"/>
              <a:cs typeface="Calibri"/>
            </a:endParaRPr>
          </a:p>
          <a:p>
            <a:pPr algn="r" marR="12065">
              <a:lnSpc>
                <a:spcPct val="100000"/>
              </a:lnSpc>
              <a:spcBef>
                <a:spcPts val="145"/>
              </a:spcBef>
            </a:pPr>
            <a:r>
              <a:rPr dirty="0" sz="850" spc="25">
                <a:latin typeface="Calibri"/>
                <a:cs typeface="Calibri"/>
              </a:rPr>
              <a:t>70</a:t>
            </a:r>
            <a:endParaRPr sz="850">
              <a:latin typeface="Calibri"/>
              <a:cs typeface="Calibri"/>
            </a:endParaRPr>
          </a:p>
          <a:p>
            <a:pPr algn="r" marR="12065">
              <a:lnSpc>
                <a:spcPct val="100000"/>
              </a:lnSpc>
              <a:spcBef>
                <a:spcPts val="150"/>
              </a:spcBef>
            </a:pPr>
            <a:r>
              <a:rPr dirty="0" sz="850" spc="25">
                <a:latin typeface="Calibri"/>
                <a:cs typeface="Calibri"/>
              </a:rPr>
              <a:t>73</a:t>
            </a:r>
            <a:endParaRPr sz="850">
              <a:latin typeface="Calibri"/>
              <a:cs typeface="Calibri"/>
            </a:endParaRPr>
          </a:p>
          <a:p>
            <a:pPr algn="r" marR="12065">
              <a:lnSpc>
                <a:spcPct val="100000"/>
              </a:lnSpc>
              <a:spcBef>
                <a:spcPts val="150"/>
              </a:spcBef>
            </a:pPr>
            <a:r>
              <a:rPr dirty="0" sz="850" spc="25">
                <a:latin typeface="Calibri"/>
                <a:cs typeface="Calibri"/>
              </a:rPr>
              <a:t>78</a:t>
            </a:r>
            <a:endParaRPr sz="850">
              <a:latin typeface="Calibri"/>
              <a:cs typeface="Calibri"/>
            </a:endParaRPr>
          </a:p>
          <a:p>
            <a:pPr algn="r" marR="12065">
              <a:lnSpc>
                <a:spcPct val="100000"/>
              </a:lnSpc>
              <a:spcBef>
                <a:spcPts val="145"/>
              </a:spcBef>
            </a:pPr>
            <a:r>
              <a:rPr dirty="0" sz="850" spc="25">
                <a:latin typeface="Calibri"/>
                <a:cs typeface="Calibri"/>
              </a:rPr>
              <a:t>83</a:t>
            </a:r>
            <a:endParaRPr sz="8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150"/>
              </a:spcBef>
            </a:pPr>
            <a:r>
              <a:rPr dirty="0" sz="850" spc="25">
                <a:latin typeface="Calibri"/>
                <a:cs typeface="Calibri"/>
              </a:rPr>
              <a:t>87</a:t>
            </a:r>
            <a:endParaRPr sz="850">
              <a:latin typeface="Calibri"/>
              <a:cs typeface="Calibri"/>
            </a:endParaRPr>
          </a:p>
          <a:p>
            <a:pPr algn="r" marR="7620">
              <a:lnSpc>
                <a:spcPct val="100000"/>
              </a:lnSpc>
              <a:spcBef>
                <a:spcPts val="150"/>
              </a:spcBef>
            </a:pPr>
            <a:r>
              <a:rPr dirty="0" sz="850" spc="25">
                <a:latin typeface="Calibri"/>
                <a:cs typeface="Calibri"/>
              </a:rPr>
              <a:t>94</a:t>
            </a:r>
            <a:endParaRPr sz="850">
              <a:latin typeface="Calibri"/>
              <a:cs typeface="Calibri"/>
            </a:endParaRPr>
          </a:p>
          <a:p>
            <a:pPr algn="r" marR="12065">
              <a:lnSpc>
                <a:spcPct val="100000"/>
              </a:lnSpc>
              <a:spcBef>
                <a:spcPts val="145"/>
              </a:spcBef>
            </a:pPr>
            <a:r>
              <a:rPr dirty="0" sz="850" spc="25">
                <a:latin typeface="Calibri"/>
                <a:cs typeface="Calibri"/>
              </a:rPr>
              <a:t>98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31282" y="7335653"/>
            <a:ext cx="4201795" cy="619125"/>
          </a:xfrm>
          <a:prstGeom prst="rect">
            <a:avLst/>
          </a:prstGeom>
        </p:spPr>
        <p:txBody>
          <a:bodyPr wrap="square" lIns="0" tIns="31115" rIns="0" bIns="0" rtlCol="0" vert="horz">
            <a:spAutoFit/>
          </a:bodyPr>
          <a:lstStyle/>
          <a:p>
            <a:pPr lvl="1" marL="260985" indent="-248285">
              <a:lnSpc>
                <a:spcPct val="100000"/>
              </a:lnSpc>
              <a:spcBef>
                <a:spcPts val="245"/>
              </a:spcBef>
              <a:buAutoNum type="arabicPeriod" startAt="3"/>
              <a:tabLst>
                <a:tab pos="260985" algn="l"/>
              </a:tabLst>
            </a:pPr>
            <a:r>
              <a:rPr dirty="0" sz="850">
                <a:latin typeface="Calibri"/>
                <a:cs typeface="Calibri"/>
                <a:hlinkClick r:id="rId28" action="ppaction://hlinksldjump"/>
              </a:rPr>
              <a:t>Weight</a:t>
            </a:r>
            <a:r>
              <a:rPr dirty="0" sz="850" spc="70"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8" action="ppaction://hlinksldjump"/>
              </a:rPr>
              <a:t>initialization</a:t>
            </a:r>
            <a:r>
              <a:rPr dirty="0" sz="850" spc="19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50"/>
              </a:spcBef>
              <a:buAutoNum type="arabicPeriod" startAt="3"/>
              <a:tabLst>
                <a:tab pos="260985" algn="l"/>
              </a:tabLst>
            </a:pPr>
            <a:r>
              <a:rPr dirty="0" sz="850" spc="20">
                <a:latin typeface="Calibri"/>
                <a:cs typeface="Calibri"/>
                <a:hlinkClick r:id="rId29" action="ppaction://hlinksldjump"/>
              </a:rPr>
              <a:t>Handwriting</a:t>
            </a:r>
            <a:r>
              <a:rPr dirty="0" sz="850" spc="55"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29" action="ppaction://hlinksldjump"/>
              </a:rPr>
              <a:t>recognition</a:t>
            </a:r>
            <a:r>
              <a:rPr dirty="0" sz="850" spc="55"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29" action="ppaction://hlinksldjump"/>
              </a:rPr>
              <a:t>revisited:</a:t>
            </a:r>
            <a:r>
              <a:rPr dirty="0" sz="850" spc="130"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29" action="ppaction://hlinksldjump"/>
              </a:rPr>
              <a:t>the</a:t>
            </a:r>
            <a:r>
              <a:rPr dirty="0" sz="850" spc="55"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29" action="ppaction://hlinksldjump"/>
              </a:rPr>
              <a:t>code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45"/>
              </a:spcBef>
              <a:buAutoNum type="arabicPeriod" startAt="3"/>
              <a:tabLst>
                <a:tab pos="260985" algn="l"/>
              </a:tabLst>
            </a:pPr>
            <a:r>
              <a:rPr dirty="0" sz="850" spc="55">
                <a:latin typeface="Calibri"/>
                <a:cs typeface="Calibri"/>
                <a:hlinkClick r:id="rId30" action="ppaction://hlinksldjump"/>
              </a:rPr>
              <a:t>How</a:t>
            </a:r>
            <a:r>
              <a:rPr dirty="0" sz="850" spc="80"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30" action="ppaction://hlinksldjump"/>
              </a:rPr>
              <a:t>to</a:t>
            </a:r>
            <a:r>
              <a:rPr dirty="0" sz="850" spc="80"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30" action="ppaction://hlinksldjump"/>
              </a:rPr>
              <a:t>choose</a:t>
            </a:r>
            <a:r>
              <a:rPr dirty="0" sz="850" spc="85"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30" action="ppaction://hlinksldjump"/>
              </a:rPr>
              <a:t>a</a:t>
            </a:r>
            <a:r>
              <a:rPr dirty="0" sz="850" spc="80"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30" action="ppaction://hlinksldjump"/>
              </a:rPr>
              <a:t>neural</a:t>
            </a:r>
            <a:r>
              <a:rPr dirty="0" sz="850" spc="85"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30" action="ppaction://hlinksldjump"/>
              </a:rPr>
              <a:t>network’s</a:t>
            </a:r>
            <a:r>
              <a:rPr dirty="0" sz="850" spc="80"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30" action="ppaction://hlinksldjump"/>
              </a:rPr>
              <a:t>hyper-parameters?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107</a:t>
            </a:r>
            <a:endParaRPr sz="850">
              <a:latin typeface="Calibri"/>
              <a:cs typeface="Calibri"/>
            </a:endParaRPr>
          </a:p>
          <a:p>
            <a:pPr lvl="1" marL="260985" indent="-248285">
              <a:lnSpc>
                <a:spcPct val="100000"/>
              </a:lnSpc>
              <a:spcBef>
                <a:spcPts val="150"/>
              </a:spcBef>
              <a:buAutoNum type="arabicPeriod" startAt="3"/>
              <a:tabLst>
                <a:tab pos="260985" algn="l"/>
              </a:tabLst>
            </a:pPr>
            <a:r>
              <a:rPr dirty="0" sz="850">
                <a:latin typeface="Calibri"/>
                <a:cs typeface="Calibri"/>
                <a:hlinkClick r:id="rId31" action="ppaction://hlinksldjump"/>
              </a:rPr>
              <a:t>Other</a:t>
            </a:r>
            <a:r>
              <a:rPr dirty="0" sz="850" spc="65"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31" action="ppaction://hlinksldjump"/>
              </a:rPr>
              <a:t>techniques</a:t>
            </a:r>
            <a:r>
              <a:rPr dirty="0" sz="850" spc="17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118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4531" y="368721"/>
            <a:ext cx="4535805" cy="41167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47650" algn="l"/>
              </a:tabLst>
            </a:pPr>
            <a:r>
              <a:rPr dirty="0" sz="850" spc="-25">
                <a:latin typeface="Calibri"/>
                <a:cs typeface="Calibri"/>
              </a:rPr>
              <a:t>ii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-10">
                <a:latin typeface="Calibri"/>
                <a:cs typeface="Calibri"/>
              </a:rPr>
              <a:t>Contents</a:t>
            </a:r>
            <a:endParaRPr sz="850">
              <a:latin typeface="Calibri"/>
              <a:cs typeface="Calibri"/>
            </a:endParaRPr>
          </a:p>
          <a:p>
            <a:pPr marL="13462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algn="r" marR="9525">
              <a:lnSpc>
                <a:spcPct val="100000"/>
              </a:lnSpc>
            </a:pPr>
            <a:r>
              <a:rPr dirty="0" sz="850">
                <a:latin typeface="Calibri"/>
                <a:cs typeface="Calibri"/>
                <a:hlinkClick r:id="rId2" action="ppaction://hlinksldjump"/>
              </a:rPr>
              <a:t>3.6.1</a:t>
            </a:r>
            <a:r>
              <a:rPr dirty="0" sz="850" spc="280">
                <a:latin typeface="Calibri"/>
                <a:cs typeface="Calibri"/>
                <a:hlinkClick r:id="rId2" action="ppaction://hlinksldjump"/>
              </a:rPr>
              <a:t> 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Variations</a:t>
            </a:r>
            <a:r>
              <a:rPr dirty="0" sz="850" spc="85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on</a:t>
            </a:r>
            <a:r>
              <a:rPr dirty="0" sz="850" spc="80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stochastic</a:t>
            </a:r>
            <a:r>
              <a:rPr dirty="0" sz="850" spc="80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gradient</a:t>
            </a:r>
            <a:r>
              <a:rPr dirty="0" sz="850" spc="80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descent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118</a:t>
            </a:r>
            <a:endParaRPr sz="850">
              <a:latin typeface="Calibri"/>
              <a:cs typeface="Calibri"/>
            </a:endParaRPr>
          </a:p>
          <a:p>
            <a:pPr algn="r" marL="161290" marR="14604" indent="-161290">
              <a:lnSpc>
                <a:spcPct val="100000"/>
              </a:lnSpc>
              <a:spcBef>
                <a:spcPts val="1005"/>
              </a:spcBef>
              <a:buAutoNum type="arabicPlain" startAt="4"/>
              <a:tabLst>
                <a:tab pos="161290" algn="l"/>
                <a:tab pos="4136390" algn="l"/>
              </a:tabLst>
            </a:pPr>
            <a:r>
              <a:rPr dirty="0" sz="850" spc="10" b="1">
                <a:latin typeface="Calibri"/>
                <a:cs typeface="Calibri"/>
                <a:hlinkClick r:id="rId3" action="ppaction://hlinksldjump"/>
              </a:rPr>
              <a:t>A</a:t>
            </a:r>
            <a:r>
              <a:rPr dirty="0" sz="850" spc="150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10" b="1">
                <a:latin typeface="Calibri"/>
                <a:cs typeface="Calibri"/>
                <a:hlinkClick r:id="rId3" action="ppaction://hlinksldjump"/>
              </a:rPr>
              <a:t>visual</a:t>
            </a:r>
            <a:r>
              <a:rPr dirty="0" sz="850" spc="150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10" b="1">
                <a:latin typeface="Calibri"/>
                <a:cs typeface="Calibri"/>
                <a:hlinkClick r:id="rId3" action="ppaction://hlinksldjump"/>
              </a:rPr>
              <a:t>proof</a:t>
            </a:r>
            <a:r>
              <a:rPr dirty="0" sz="850" spc="150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10" b="1">
                <a:latin typeface="Calibri"/>
                <a:cs typeface="Calibri"/>
                <a:hlinkClick r:id="rId3" action="ppaction://hlinksldjump"/>
              </a:rPr>
              <a:t>that</a:t>
            </a:r>
            <a:r>
              <a:rPr dirty="0" sz="850" spc="150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50" b="1">
                <a:latin typeface="Calibri"/>
                <a:cs typeface="Calibri"/>
                <a:hlinkClick r:id="rId3" action="ppaction://hlinksldjump"/>
              </a:rPr>
              <a:t>neural</a:t>
            </a:r>
            <a:r>
              <a:rPr dirty="0" sz="850" spc="155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10" b="1">
                <a:latin typeface="Calibri"/>
                <a:cs typeface="Calibri"/>
                <a:hlinkClick r:id="rId3" action="ppaction://hlinksldjump"/>
              </a:rPr>
              <a:t>nets</a:t>
            </a:r>
            <a:r>
              <a:rPr dirty="0" sz="850" spc="150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55" b="1">
                <a:latin typeface="Calibri"/>
                <a:cs typeface="Calibri"/>
                <a:hlinkClick r:id="rId3" action="ppaction://hlinksldjump"/>
              </a:rPr>
              <a:t>can</a:t>
            </a:r>
            <a:r>
              <a:rPr dirty="0" sz="850" spc="150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10" b="1">
                <a:latin typeface="Calibri"/>
                <a:cs typeface="Calibri"/>
                <a:hlinkClick r:id="rId3" action="ppaction://hlinksldjump"/>
              </a:rPr>
              <a:t>compute</a:t>
            </a:r>
            <a:r>
              <a:rPr dirty="0" sz="850" spc="150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50" b="1">
                <a:latin typeface="Calibri"/>
                <a:cs typeface="Calibri"/>
                <a:hlinkClick r:id="rId3" action="ppaction://hlinksldjump"/>
              </a:rPr>
              <a:t>any</a:t>
            </a:r>
            <a:r>
              <a:rPr dirty="0" sz="850" spc="150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-10" b="1">
                <a:latin typeface="Calibri"/>
                <a:cs typeface="Calibri"/>
                <a:hlinkClick r:id="rId3" action="ppaction://hlinksldjump"/>
              </a:rPr>
              <a:t>function</a:t>
            </a:r>
            <a:r>
              <a:rPr dirty="0" sz="850" b="1">
                <a:latin typeface="Calibri"/>
                <a:cs typeface="Calibri"/>
              </a:rPr>
              <a:t>	</a:t>
            </a:r>
            <a:r>
              <a:rPr dirty="0" sz="850" spc="45" b="1">
                <a:latin typeface="Calibri"/>
                <a:cs typeface="Calibri"/>
              </a:rPr>
              <a:t>127</a:t>
            </a:r>
            <a:endParaRPr sz="850">
              <a:latin typeface="Calibri"/>
              <a:cs typeface="Calibri"/>
            </a:endParaRPr>
          </a:p>
          <a:p>
            <a:pPr algn="r" lvl="1" marL="248285" marR="5080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48285" algn="l"/>
              </a:tabLst>
            </a:pPr>
            <a:r>
              <a:rPr dirty="0" sz="850">
                <a:latin typeface="Calibri"/>
                <a:cs typeface="Calibri"/>
                <a:hlinkClick r:id="rId4" action="ppaction://hlinksldjump"/>
              </a:rPr>
              <a:t>Two</a:t>
            </a:r>
            <a:r>
              <a:rPr dirty="0" sz="850" spc="60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4" action="ppaction://hlinksldjump"/>
              </a:rPr>
              <a:t>caveats</a:t>
            </a:r>
            <a:r>
              <a:rPr dirty="0" sz="850" spc="204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129</a:t>
            </a:r>
            <a:endParaRPr sz="850">
              <a:latin typeface="Calibri"/>
              <a:cs typeface="Calibri"/>
            </a:endParaRPr>
          </a:p>
          <a:p>
            <a:pPr algn="r" lvl="1" marL="248285" marR="9525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48285" algn="l"/>
              </a:tabLst>
            </a:pPr>
            <a:r>
              <a:rPr dirty="0" sz="850" spc="10">
                <a:latin typeface="Calibri"/>
                <a:cs typeface="Calibri"/>
                <a:hlinkClick r:id="rId5" action="ppaction://hlinksldjump"/>
              </a:rPr>
              <a:t>Universality</a:t>
            </a:r>
            <a:r>
              <a:rPr dirty="0" sz="850" spc="6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with</a:t>
            </a:r>
            <a:r>
              <a:rPr dirty="0" sz="850" spc="6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one</a:t>
            </a:r>
            <a:r>
              <a:rPr dirty="0" sz="850" spc="6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input</a:t>
            </a:r>
            <a:r>
              <a:rPr dirty="0" sz="850" spc="6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and</a:t>
            </a:r>
            <a:r>
              <a:rPr dirty="0" sz="850" spc="6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one</a:t>
            </a:r>
            <a:r>
              <a:rPr dirty="0" sz="850" spc="6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output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130</a:t>
            </a:r>
            <a:endParaRPr sz="850">
              <a:latin typeface="Calibri"/>
              <a:cs typeface="Calibri"/>
            </a:endParaRPr>
          </a:p>
          <a:p>
            <a:pPr algn="r" lvl="1" marL="248285" marR="5080" indent="-248285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248285" algn="l"/>
              </a:tabLst>
            </a:pPr>
            <a:r>
              <a:rPr dirty="0" sz="850">
                <a:latin typeface="Calibri"/>
                <a:cs typeface="Calibri"/>
                <a:hlinkClick r:id="rId6" action="ppaction://hlinksldjump"/>
              </a:rPr>
              <a:t>Many</a:t>
            </a:r>
            <a:r>
              <a:rPr dirty="0" sz="850" spc="65"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6" action="ppaction://hlinksldjump"/>
              </a:rPr>
              <a:t>input</a:t>
            </a:r>
            <a:r>
              <a:rPr dirty="0" sz="850" spc="70"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6" action="ppaction://hlinksldjump"/>
              </a:rPr>
              <a:t>variables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7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139</a:t>
            </a:r>
            <a:endParaRPr sz="850">
              <a:latin typeface="Calibri"/>
              <a:cs typeface="Calibri"/>
            </a:endParaRPr>
          </a:p>
          <a:p>
            <a:pPr algn="r" lvl="1" marL="248285" marR="9525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48285" algn="l"/>
              </a:tabLst>
            </a:pPr>
            <a:r>
              <a:rPr dirty="0" sz="850" spc="10">
                <a:latin typeface="Calibri"/>
                <a:cs typeface="Calibri"/>
                <a:hlinkClick r:id="rId7" action="ppaction://hlinksldjump"/>
              </a:rPr>
              <a:t>Extension</a:t>
            </a:r>
            <a:r>
              <a:rPr dirty="0" sz="850" spc="60"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7" action="ppaction://hlinksldjump"/>
              </a:rPr>
              <a:t>beyond</a:t>
            </a:r>
            <a:r>
              <a:rPr dirty="0" sz="850" spc="65"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7" action="ppaction://hlinksldjump"/>
              </a:rPr>
              <a:t>sigmoid</a:t>
            </a:r>
            <a:r>
              <a:rPr dirty="0" sz="850" spc="65"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7" action="ppaction://hlinksldjump"/>
              </a:rPr>
              <a:t>neurons</a:t>
            </a:r>
            <a:r>
              <a:rPr dirty="0" sz="850" spc="4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146</a:t>
            </a:r>
            <a:endParaRPr sz="850">
              <a:latin typeface="Calibri"/>
              <a:cs typeface="Calibri"/>
            </a:endParaRPr>
          </a:p>
          <a:p>
            <a:pPr algn="r" lvl="1" marL="248285" marR="9525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48285" algn="l"/>
              </a:tabLst>
            </a:pPr>
            <a:r>
              <a:rPr dirty="0" sz="850" spc="50">
                <a:latin typeface="Calibri"/>
                <a:cs typeface="Calibri"/>
              </a:rPr>
              <a:t>Fixing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148</a:t>
            </a:r>
            <a:endParaRPr sz="850">
              <a:latin typeface="Calibri"/>
              <a:cs typeface="Calibri"/>
            </a:endParaRPr>
          </a:p>
          <a:p>
            <a:pPr algn="r" marL="161290" marR="8255" indent="-161290">
              <a:lnSpc>
                <a:spcPct val="100000"/>
              </a:lnSpc>
              <a:spcBef>
                <a:spcPts val="1005"/>
              </a:spcBef>
              <a:buAutoNum type="arabicPlain" startAt="4"/>
              <a:tabLst>
                <a:tab pos="161290" algn="l"/>
                <a:tab pos="4143375" algn="l"/>
              </a:tabLst>
            </a:pPr>
            <a:r>
              <a:rPr dirty="0" sz="850" spc="20" b="1">
                <a:latin typeface="Calibri"/>
                <a:cs typeface="Calibri"/>
                <a:hlinkClick r:id="rId8" action="ppaction://hlinksldjump"/>
              </a:rPr>
              <a:t>Why</a:t>
            </a:r>
            <a:r>
              <a:rPr dirty="0" sz="850" spc="114" b="1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20" b="1">
                <a:latin typeface="Calibri"/>
                <a:cs typeface="Calibri"/>
                <a:hlinkClick r:id="rId8" action="ppaction://hlinksldjump"/>
              </a:rPr>
              <a:t>are</a:t>
            </a:r>
            <a:r>
              <a:rPr dirty="0" sz="850" spc="114" b="1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20" b="1">
                <a:latin typeface="Calibri"/>
                <a:cs typeface="Calibri"/>
                <a:hlinkClick r:id="rId8" action="ppaction://hlinksldjump"/>
              </a:rPr>
              <a:t>deep</a:t>
            </a:r>
            <a:r>
              <a:rPr dirty="0" sz="850" spc="114" b="1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50" b="1">
                <a:latin typeface="Calibri"/>
                <a:cs typeface="Calibri"/>
                <a:hlinkClick r:id="rId8" action="ppaction://hlinksldjump"/>
              </a:rPr>
              <a:t>neural</a:t>
            </a:r>
            <a:r>
              <a:rPr dirty="0" sz="850" spc="114" b="1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20" b="1">
                <a:latin typeface="Calibri"/>
                <a:cs typeface="Calibri"/>
                <a:hlinkClick r:id="rId8" action="ppaction://hlinksldjump"/>
              </a:rPr>
              <a:t>networks</a:t>
            </a:r>
            <a:r>
              <a:rPr dirty="0" sz="850" spc="114" b="1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55" b="1">
                <a:latin typeface="Calibri"/>
                <a:cs typeface="Calibri"/>
                <a:hlinkClick r:id="rId8" action="ppaction://hlinksldjump"/>
              </a:rPr>
              <a:t>hard</a:t>
            </a:r>
            <a:r>
              <a:rPr dirty="0" sz="850" spc="114" b="1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20" b="1">
                <a:latin typeface="Calibri"/>
                <a:cs typeface="Calibri"/>
                <a:hlinkClick r:id="rId8" action="ppaction://hlinksldjump"/>
              </a:rPr>
              <a:t>to</a:t>
            </a:r>
            <a:r>
              <a:rPr dirty="0" sz="850" spc="120" b="1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850" spc="-10" b="1">
                <a:latin typeface="Calibri"/>
                <a:cs typeface="Calibri"/>
                <a:hlinkClick r:id="rId8" action="ppaction://hlinksldjump"/>
              </a:rPr>
              <a:t>train?</a:t>
            </a:r>
            <a:r>
              <a:rPr dirty="0" sz="850" b="1">
                <a:latin typeface="Calibri"/>
                <a:cs typeface="Calibri"/>
              </a:rPr>
              <a:t>	</a:t>
            </a:r>
            <a:r>
              <a:rPr dirty="0" sz="850" spc="45" b="1">
                <a:latin typeface="Calibri"/>
                <a:cs typeface="Calibri"/>
              </a:rPr>
              <a:t>151</a:t>
            </a:r>
            <a:endParaRPr sz="850">
              <a:latin typeface="Calibri"/>
              <a:cs typeface="Calibri"/>
            </a:endParaRPr>
          </a:p>
          <a:p>
            <a:pPr algn="r" lvl="1" marL="248285" marR="5080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48285" algn="l"/>
              </a:tabLst>
            </a:pPr>
            <a:r>
              <a:rPr dirty="0" sz="850" spc="10">
                <a:latin typeface="Calibri"/>
                <a:cs typeface="Calibri"/>
                <a:hlinkClick r:id="rId9" action="ppaction://hlinksldjump"/>
              </a:rPr>
              <a:t>The</a:t>
            </a:r>
            <a:r>
              <a:rPr dirty="0" sz="850" spc="60"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9" action="ppaction://hlinksldjump"/>
              </a:rPr>
              <a:t>vanishing</a:t>
            </a:r>
            <a:r>
              <a:rPr dirty="0" sz="850" spc="65"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9" action="ppaction://hlinksldjump"/>
              </a:rPr>
              <a:t>gradient</a:t>
            </a:r>
            <a:r>
              <a:rPr dirty="0" sz="850" spc="65"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9" action="ppaction://hlinksldjump"/>
              </a:rPr>
              <a:t>problem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154</a:t>
            </a:r>
            <a:endParaRPr sz="850">
              <a:latin typeface="Calibri"/>
              <a:cs typeface="Calibri"/>
            </a:endParaRPr>
          </a:p>
          <a:p>
            <a:pPr lvl="1" marL="597535" marR="5080" indent="-248285">
              <a:lnSpc>
                <a:spcPct val="114300"/>
              </a:lnSpc>
              <a:buAutoNum type="arabicPeriod"/>
              <a:tabLst>
                <a:tab pos="600710" algn="l"/>
              </a:tabLst>
            </a:pP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What’s</a:t>
            </a:r>
            <a:r>
              <a:rPr dirty="0" sz="850" spc="85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causing</a:t>
            </a:r>
            <a:r>
              <a:rPr dirty="0" sz="850" spc="90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the</a:t>
            </a:r>
            <a:r>
              <a:rPr dirty="0" sz="850" spc="85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vanishing</a:t>
            </a:r>
            <a:r>
              <a:rPr dirty="0" sz="850" spc="90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gradient</a:t>
            </a:r>
            <a:r>
              <a:rPr dirty="0" sz="850" spc="85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problem?</a:t>
            </a:r>
            <a:r>
              <a:rPr dirty="0" sz="850" spc="180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Unstable</a:t>
            </a:r>
            <a:r>
              <a:rPr dirty="0" sz="850" spc="85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gradients</a:t>
            </a:r>
            <a:r>
              <a:rPr dirty="0" sz="850" spc="90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0" action="ppaction://hlinksldjump"/>
              </a:rPr>
              <a:t>in</a:t>
            </a:r>
            <a:r>
              <a:rPr dirty="0" sz="850" spc="90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 spc="-20">
                <a:latin typeface="Calibri"/>
                <a:cs typeface="Calibri"/>
                <a:hlinkClick r:id="rId10" action="ppaction://hlinksldjump"/>
              </a:rPr>
              <a:t>deep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500">
                <a:latin typeface="Calibri"/>
                <a:cs typeface="Calibri"/>
              </a:rPr>
              <a:t>	</a:t>
            </a:r>
            <a:r>
              <a:rPr dirty="0" sz="850">
                <a:latin typeface="Calibri"/>
                <a:cs typeface="Calibri"/>
                <a:hlinkClick r:id="rId10" action="ppaction://hlinksldjump"/>
              </a:rPr>
              <a:t>neural</a:t>
            </a:r>
            <a:r>
              <a:rPr dirty="0" sz="850" spc="60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0" action="ppaction://hlinksldjump"/>
              </a:rPr>
              <a:t>nets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159</a:t>
            </a:r>
            <a:endParaRPr sz="850">
              <a:latin typeface="Calibri"/>
              <a:cs typeface="Calibri"/>
            </a:endParaRPr>
          </a:p>
          <a:p>
            <a:pPr lvl="1" marL="597535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597535" algn="l"/>
              </a:tabLst>
            </a:pPr>
            <a:r>
              <a:rPr dirty="0" sz="850">
                <a:latin typeface="Calibri"/>
                <a:cs typeface="Calibri"/>
                <a:hlinkClick r:id="rId11" action="ppaction://hlinksldjump"/>
              </a:rPr>
              <a:t>Unstable</a:t>
            </a:r>
            <a:r>
              <a:rPr dirty="0" sz="850" spc="80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1" action="ppaction://hlinksldjump"/>
              </a:rPr>
              <a:t>gradients</a:t>
            </a:r>
            <a:r>
              <a:rPr dirty="0" sz="850" spc="80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1" action="ppaction://hlinksldjump"/>
              </a:rPr>
              <a:t>in</a:t>
            </a:r>
            <a:r>
              <a:rPr dirty="0" sz="850" spc="85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1" action="ppaction://hlinksldjump"/>
              </a:rPr>
              <a:t>more</a:t>
            </a:r>
            <a:r>
              <a:rPr dirty="0" sz="850" spc="80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1" action="ppaction://hlinksldjump"/>
              </a:rPr>
              <a:t>complex</a:t>
            </a:r>
            <a:r>
              <a:rPr dirty="0" sz="850" spc="80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1" action="ppaction://hlinksldjump"/>
              </a:rPr>
              <a:t>networks</a:t>
            </a:r>
            <a:r>
              <a:rPr dirty="0" sz="850" spc="18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163</a:t>
            </a:r>
            <a:endParaRPr sz="850">
              <a:latin typeface="Calibri"/>
              <a:cs typeface="Calibri"/>
            </a:endParaRPr>
          </a:p>
          <a:p>
            <a:pPr lvl="1" marL="597535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597535" algn="l"/>
              </a:tabLst>
            </a:pPr>
            <a:r>
              <a:rPr dirty="0" sz="850">
                <a:latin typeface="Calibri"/>
                <a:cs typeface="Calibri"/>
                <a:hlinkClick r:id="rId12" action="ppaction://hlinksldjump"/>
              </a:rPr>
              <a:t>Other</a:t>
            </a:r>
            <a:r>
              <a:rPr dirty="0" sz="850" spc="70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2" action="ppaction://hlinksldjump"/>
              </a:rPr>
              <a:t>obstacles</a:t>
            </a:r>
            <a:r>
              <a:rPr dirty="0" sz="850" spc="70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2" action="ppaction://hlinksldjump"/>
              </a:rPr>
              <a:t>to</a:t>
            </a:r>
            <a:r>
              <a:rPr dirty="0" sz="850" spc="70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2" action="ppaction://hlinksldjump"/>
              </a:rPr>
              <a:t>deep</a:t>
            </a:r>
            <a:r>
              <a:rPr dirty="0" sz="850" spc="70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2" action="ppaction://hlinksldjump"/>
              </a:rPr>
              <a:t>learning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164</a:t>
            </a:r>
            <a:endParaRPr sz="850">
              <a:latin typeface="Calibri"/>
              <a:cs typeface="Calibri"/>
            </a:endParaRPr>
          </a:p>
          <a:p>
            <a:pPr algn="r" marL="161290" marR="14604" indent="-161290">
              <a:lnSpc>
                <a:spcPct val="100000"/>
              </a:lnSpc>
              <a:spcBef>
                <a:spcPts val="1010"/>
              </a:spcBef>
              <a:buAutoNum type="arabicPlain" startAt="4"/>
              <a:tabLst>
                <a:tab pos="161290" algn="l"/>
                <a:tab pos="4136390" algn="l"/>
              </a:tabLst>
            </a:pPr>
            <a:r>
              <a:rPr dirty="0" sz="850" b="1">
                <a:latin typeface="Calibri"/>
                <a:cs typeface="Calibri"/>
                <a:hlinkClick r:id="rId13" action="ppaction://hlinksldjump"/>
              </a:rPr>
              <a:t>Deep</a:t>
            </a:r>
            <a:r>
              <a:rPr dirty="0" sz="850" spc="235" b="1"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850" spc="40" b="1">
                <a:latin typeface="Calibri"/>
                <a:cs typeface="Calibri"/>
                <a:hlinkClick r:id="rId13" action="ppaction://hlinksldjump"/>
              </a:rPr>
              <a:t>learning</a:t>
            </a:r>
            <a:r>
              <a:rPr dirty="0" sz="850" b="1">
                <a:latin typeface="Calibri"/>
                <a:cs typeface="Calibri"/>
              </a:rPr>
              <a:t>	</a:t>
            </a:r>
            <a:r>
              <a:rPr dirty="0" sz="850" spc="45" b="1">
                <a:latin typeface="Calibri"/>
                <a:cs typeface="Calibri"/>
              </a:rPr>
              <a:t>167</a:t>
            </a:r>
            <a:endParaRPr sz="850">
              <a:latin typeface="Calibri"/>
              <a:cs typeface="Calibri"/>
            </a:endParaRPr>
          </a:p>
          <a:p>
            <a:pPr algn="r" lvl="1" marL="248285" marR="5080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48285" algn="l"/>
              </a:tabLst>
            </a:pPr>
            <a:r>
              <a:rPr dirty="0" sz="850" spc="20">
                <a:latin typeface="Calibri"/>
                <a:cs typeface="Calibri"/>
              </a:rPr>
              <a:t>Introducing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169</a:t>
            </a:r>
            <a:endParaRPr sz="850">
              <a:latin typeface="Calibri"/>
              <a:cs typeface="Calibri"/>
            </a:endParaRPr>
          </a:p>
          <a:p>
            <a:pPr algn="r" lvl="1" marL="248285" marR="9525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48285" algn="l"/>
              </a:tabLst>
            </a:pPr>
            <a:r>
              <a:rPr dirty="0" sz="850" spc="20">
                <a:latin typeface="Calibri"/>
                <a:cs typeface="Calibri"/>
                <a:hlinkClick r:id="rId14" action="ppaction://hlinksldjump"/>
              </a:rPr>
              <a:t>Convolutional</a:t>
            </a:r>
            <a:r>
              <a:rPr dirty="0" sz="850" spc="50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4" action="ppaction://hlinksldjump"/>
              </a:rPr>
              <a:t>neural</a:t>
            </a:r>
            <a:r>
              <a:rPr dirty="0" sz="850" spc="55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4" action="ppaction://hlinksldjump"/>
              </a:rPr>
              <a:t>networks</a:t>
            </a:r>
            <a:r>
              <a:rPr dirty="0" sz="850" spc="55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4" action="ppaction://hlinksldjump"/>
              </a:rPr>
              <a:t>in</a:t>
            </a:r>
            <a:r>
              <a:rPr dirty="0" sz="850" spc="55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14" action="ppaction://hlinksldjump"/>
              </a:rPr>
              <a:t>practice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176</a:t>
            </a:r>
            <a:endParaRPr sz="850">
              <a:latin typeface="Calibri"/>
              <a:cs typeface="Calibri"/>
            </a:endParaRPr>
          </a:p>
          <a:p>
            <a:pPr algn="r" lvl="1" marL="248285" marR="9525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48285" algn="l"/>
              </a:tabLst>
            </a:pPr>
            <a:r>
              <a:rPr dirty="0" sz="850" spc="10">
                <a:latin typeface="Calibri"/>
                <a:cs typeface="Calibri"/>
                <a:hlinkClick r:id="rId15" action="ppaction://hlinksldjump"/>
              </a:rPr>
              <a:t>The</a:t>
            </a:r>
            <a:r>
              <a:rPr dirty="0" sz="850" spc="65"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5" action="ppaction://hlinksldjump"/>
              </a:rPr>
              <a:t>code</a:t>
            </a:r>
            <a:r>
              <a:rPr dirty="0" sz="850" spc="65"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5" action="ppaction://hlinksldjump"/>
              </a:rPr>
              <a:t>for</a:t>
            </a:r>
            <a:r>
              <a:rPr dirty="0" sz="850" spc="65"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5" action="ppaction://hlinksldjump"/>
              </a:rPr>
              <a:t>our</a:t>
            </a:r>
            <a:r>
              <a:rPr dirty="0" sz="850" spc="65"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5" action="ppaction://hlinksldjump"/>
              </a:rPr>
              <a:t>convolutional</a:t>
            </a:r>
            <a:r>
              <a:rPr dirty="0" sz="850" spc="65"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15" action="ppaction://hlinksldjump"/>
              </a:rPr>
              <a:t>networks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185</a:t>
            </a:r>
            <a:endParaRPr sz="850">
              <a:latin typeface="Calibri"/>
              <a:cs typeface="Calibri"/>
            </a:endParaRPr>
          </a:p>
          <a:p>
            <a:pPr algn="r" lvl="1" marL="248285" marR="9525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48285" algn="l"/>
              </a:tabLst>
            </a:pPr>
            <a:r>
              <a:rPr dirty="0" sz="850">
                <a:latin typeface="Calibri"/>
                <a:cs typeface="Calibri"/>
                <a:hlinkClick r:id="rId16" action="ppaction://hlinksldjump"/>
              </a:rPr>
              <a:t>Recent</a:t>
            </a:r>
            <a:r>
              <a:rPr dirty="0" sz="850" spc="75"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6" action="ppaction://hlinksldjump"/>
              </a:rPr>
              <a:t>progress</a:t>
            </a:r>
            <a:r>
              <a:rPr dirty="0" sz="850" spc="75"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6" action="ppaction://hlinksldjump"/>
              </a:rPr>
              <a:t>in</a:t>
            </a:r>
            <a:r>
              <a:rPr dirty="0" sz="850" spc="80"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6" action="ppaction://hlinksldjump"/>
              </a:rPr>
              <a:t>image</a:t>
            </a:r>
            <a:r>
              <a:rPr dirty="0" sz="850" spc="75"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6" action="ppaction://hlinksldjump"/>
              </a:rPr>
              <a:t>recognition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196</a:t>
            </a:r>
            <a:endParaRPr sz="850">
              <a:latin typeface="Calibri"/>
              <a:cs typeface="Calibri"/>
            </a:endParaRPr>
          </a:p>
          <a:p>
            <a:pPr algn="r" lvl="1" marL="248285" marR="5080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48285" algn="l"/>
              </a:tabLst>
            </a:pPr>
            <a:r>
              <a:rPr dirty="0" sz="850">
                <a:latin typeface="Calibri"/>
                <a:cs typeface="Calibri"/>
                <a:hlinkClick r:id="rId17" action="ppaction://hlinksldjump"/>
              </a:rPr>
              <a:t>Other</a:t>
            </a:r>
            <a:r>
              <a:rPr dirty="0" sz="850" spc="70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7" action="ppaction://hlinksldjump"/>
              </a:rPr>
              <a:t>approaches</a:t>
            </a:r>
            <a:r>
              <a:rPr dirty="0" sz="850" spc="70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7" action="ppaction://hlinksldjump"/>
              </a:rPr>
              <a:t>to</a:t>
            </a:r>
            <a:r>
              <a:rPr dirty="0" sz="850" spc="75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7" action="ppaction://hlinksldjump"/>
              </a:rPr>
              <a:t>deep</a:t>
            </a:r>
            <a:r>
              <a:rPr dirty="0" sz="850" spc="70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7" action="ppaction://hlinksldjump"/>
              </a:rPr>
              <a:t>neural</a:t>
            </a:r>
            <a:r>
              <a:rPr dirty="0" sz="850" spc="70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7" action="ppaction://hlinksldjump"/>
              </a:rPr>
              <a:t>nets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202</a:t>
            </a:r>
            <a:endParaRPr sz="850">
              <a:latin typeface="Calibri"/>
              <a:cs typeface="Calibri"/>
            </a:endParaRPr>
          </a:p>
          <a:p>
            <a:pPr algn="r" lvl="1" marL="248285" marR="9525" indent="-248285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48285" algn="l"/>
              </a:tabLst>
            </a:pPr>
            <a:r>
              <a:rPr dirty="0" sz="850" spc="50">
                <a:latin typeface="Calibri"/>
                <a:cs typeface="Calibri"/>
                <a:hlinkClick r:id="rId18" action="ppaction://hlinksldjump"/>
              </a:rPr>
              <a:t>On</a:t>
            </a:r>
            <a:r>
              <a:rPr dirty="0" sz="850" spc="65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8" action="ppaction://hlinksldjump"/>
              </a:rPr>
              <a:t>the</a:t>
            </a:r>
            <a:r>
              <a:rPr dirty="0" sz="850" spc="70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8" action="ppaction://hlinksldjump"/>
              </a:rPr>
              <a:t>future</a:t>
            </a:r>
            <a:r>
              <a:rPr dirty="0" sz="850" spc="70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8" action="ppaction://hlinksldjump"/>
              </a:rPr>
              <a:t>of</a:t>
            </a:r>
            <a:r>
              <a:rPr dirty="0" sz="850" spc="70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8" action="ppaction://hlinksldjump"/>
              </a:rPr>
              <a:t>neural</a:t>
            </a:r>
            <a:r>
              <a:rPr dirty="0" sz="850" spc="65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850">
                <a:latin typeface="Calibri"/>
                <a:cs typeface="Calibri"/>
                <a:hlinkClick r:id="rId18" action="ppaction://hlinksldjump"/>
              </a:rPr>
              <a:t>networks</a:t>
            </a:r>
            <a:r>
              <a:rPr dirty="0" sz="850" spc="18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205</a:t>
            </a:r>
            <a:endParaRPr sz="850">
              <a:latin typeface="Calibri"/>
              <a:cs typeface="Calibri"/>
            </a:endParaRPr>
          </a:p>
          <a:p>
            <a:pPr marL="185420">
              <a:lnSpc>
                <a:spcPct val="100000"/>
              </a:lnSpc>
              <a:spcBef>
                <a:spcPts val="1010"/>
              </a:spcBef>
              <a:tabLst>
                <a:tab pos="4328795" algn="l"/>
              </a:tabLst>
            </a:pPr>
            <a:r>
              <a:rPr dirty="0" sz="850" spc="30" b="1">
                <a:latin typeface="Calibri"/>
                <a:cs typeface="Calibri"/>
                <a:hlinkClick r:id="rId19" action="ppaction://hlinksldjump"/>
              </a:rPr>
              <a:t>A</a:t>
            </a:r>
            <a:r>
              <a:rPr dirty="0" sz="850" spc="204" b="1">
                <a:latin typeface="Calibri"/>
                <a:cs typeface="Calibri"/>
                <a:hlinkClick r:id="rId19" action="ppaction://hlinksldjump"/>
              </a:rPr>
              <a:t>  </a:t>
            </a:r>
            <a:r>
              <a:rPr dirty="0" sz="850" spc="60" b="1">
                <a:latin typeface="Calibri"/>
                <a:cs typeface="Calibri"/>
                <a:hlinkClick r:id="rId19" action="ppaction://hlinksldjump"/>
              </a:rPr>
              <a:t>Is</a:t>
            </a:r>
            <a:r>
              <a:rPr dirty="0" sz="850" spc="90" b="1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850" spc="30" b="1">
                <a:latin typeface="Calibri"/>
                <a:cs typeface="Calibri"/>
                <a:hlinkClick r:id="rId19" action="ppaction://hlinksldjump"/>
              </a:rPr>
              <a:t>there</a:t>
            </a:r>
            <a:r>
              <a:rPr dirty="0" sz="850" spc="80" b="1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850" spc="30" b="1">
                <a:latin typeface="Calibri"/>
                <a:cs typeface="Calibri"/>
                <a:hlinkClick r:id="rId19" action="ppaction://hlinksldjump"/>
              </a:rPr>
              <a:t>a</a:t>
            </a:r>
            <a:r>
              <a:rPr dirty="0" sz="850" spc="85" b="1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850" spc="50" b="1">
                <a:latin typeface="Calibri"/>
                <a:cs typeface="Calibri"/>
                <a:hlinkClick r:id="rId19" action="ppaction://hlinksldjump"/>
              </a:rPr>
              <a:t>simple</a:t>
            </a:r>
            <a:r>
              <a:rPr dirty="0" sz="850" spc="85" b="1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850" spc="30" b="1">
                <a:latin typeface="Calibri"/>
                <a:cs typeface="Calibri"/>
                <a:hlinkClick r:id="rId19" action="ppaction://hlinksldjump"/>
              </a:rPr>
              <a:t>algorithm</a:t>
            </a:r>
            <a:r>
              <a:rPr dirty="0" sz="850" spc="85" b="1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850" spc="30" b="1">
                <a:latin typeface="Calibri"/>
                <a:cs typeface="Calibri"/>
                <a:hlinkClick r:id="rId19" action="ppaction://hlinksldjump"/>
              </a:rPr>
              <a:t>for</a:t>
            </a:r>
            <a:r>
              <a:rPr dirty="0" sz="850" spc="85" b="1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850" spc="-10" b="1">
                <a:latin typeface="Calibri"/>
                <a:cs typeface="Calibri"/>
                <a:hlinkClick r:id="rId19" action="ppaction://hlinksldjump"/>
              </a:rPr>
              <a:t>intelligence?</a:t>
            </a:r>
            <a:r>
              <a:rPr dirty="0" sz="850" b="1">
                <a:latin typeface="Calibri"/>
                <a:cs typeface="Calibri"/>
              </a:rPr>
              <a:t>	</a:t>
            </a:r>
            <a:r>
              <a:rPr dirty="0" sz="850" spc="45" b="1">
                <a:latin typeface="Calibri"/>
                <a:cs typeface="Calibri"/>
              </a:rPr>
              <a:t>211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59704" y="368724"/>
            <a:ext cx="230504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5095">
              <a:lnSpc>
                <a:spcPts val="525"/>
              </a:lnSpc>
              <a:spcBef>
                <a:spcPts val="110"/>
              </a:spcBef>
            </a:pPr>
            <a:r>
              <a:rPr dirty="0" sz="850" spc="-25">
                <a:latin typeface="Calibri"/>
                <a:cs typeface="Calibri"/>
              </a:rPr>
              <a:t>iii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75"/>
              <a:t>What</a:t>
            </a:r>
            <a:r>
              <a:rPr dirty="0" spc="155"/>
              <a:t> </a:t>
            </a:r>
            <a:r>
              <a:rPr dirty="0" spc="95"/>
              <a:t>this</a:t>
            </a:r>
            <a:r>
              <a:rPr dirty="0" spc="155"/>
              <a:t> </a:t>
            </a:r>
            <a:r>
              <a:rPr dirty="0" spc="95"/>
              <a:t>book</a:t>
            </a:r>
            <a:r>
              <a:rPr dirty="0" spc="160"/>
              <a:t> </a:t>
            </a:r>
            <a:r>
              <a:rPr dirty="0" spc="125"/>
              <a:t>is</a:t>
            </a:r>
            <a:r>
              <a:rPr dirty="0" spc="155"/>
              <a:t> </a:t>
            </a:r>
            <a:r>
              <a:rPr dirty="0" spc="65"/>
              <a:t>about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067296" y="2383099"/>
            <a:ext cx="4373245" cy="27285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30">
                <a:latin typeface="Calibri"/>
                <a:cs typeface="Calibri"/>
              </a:rPr>
              <a:t>Neural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are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one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beautiful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programming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paradigms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ever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invented.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conventional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programming,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tell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breaking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big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precisely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tasks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perform.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contrast,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Instead,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observational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own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solution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hand.</a:t>
            </a:r>
            <a:endParaRPr sz="850">
              <a:latin typeface="Calibri"/>
              <a:cs typeface="Calibri"/>
            </a:endParaRPr>
          </a:p>
          <a:p>
            <a:pPr algn="just" marL="12700" marR="27940" indent="189230">
              <a:lnSpc>
                <a:spcPct val="114300"/>
              </a:lnSpc>
              <a:spcBef>
                <a:spcPts val="155"/>
              </a:spcBef>
            </a:pPr>
            <a:r>
              <a:rPr dirty="0" sz="850" spc="20">
                <a:latin typeface="Calibri"/>
                <a:cs typeface="Calibri"/>
              </a:rPr>
              <a:t>Automatically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sounds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promising.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However,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until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2006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didn’t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surpass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traditional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approaches,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except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specialized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2006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discovery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so-called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25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deep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today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outstanding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important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vision,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speech</a:t>
            </a:r>
            <a:r>
              <a:rPr dirty="0" sz="850" spc="20">
                <a:latin typeface="Calibri"/>
                <a:cs typeface="Calibri"/>
              </a:rPr>
              <a:t> recognition,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natural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language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processing.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They’re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deployed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scale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companies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Google,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Microsoft,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Facebook.</a:t>
            </a:r>
            <a:endParaRPr sz="850">
              <a:latin typeface="Calibri"/>
              <a:cs typeface="Calibri"/>
            </a:endParaRPr>
          </a:p>
          <a:p>
            <a:pPr algn="just" marL="12700" marR="9525" indent="189230">
              <a:lnSpc>
                <a:spcPct val="114300"/>
              </a:lnSpc>
              <a:spcBef>
                <a:spcPts val="150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purpose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master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concepts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networks,</a:t>
            </a:r>
            <a:r>
              <a:rPr dirty="0" sz="850" spc="20">
                <a:latin typeface="Calibri"/>
                <a:cs typeface="Calibri"/>
              </a:rPr>
              <a:t> including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modern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techniques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After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through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written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pattern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foundation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deep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attack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own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devising.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0856" y="5424492"/>
            <a:ext cx="4358005" cy="2592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905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latin typeface="Calibri"/>
                <a:cs typeface="Calibri"/>
              </a:rPr>
              <a:t>A</a:t>
            </a:r>
            <a:r>
              <a:rPr dirty="0" sz="1050" spc="32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principle-</a:t>
            </a:r>
            <a:r>
              <a:rPr dirty="0" sz="1050" spc="50" b="1">
                <a:latin typeface="Calibri"/>
                <a:cs typeface="Calibri"/>
              </a:rPr>
              <a:t>oriented</a:t>
            </a:r>
            <a:r>
              <a:rPr dirty="0" sz="1050" spc="320" b="1">
                <a:latin typeface="Calibri"/>
                <a:cs typeface="Calibri"/>
              </a:rPr>
              <a:t> </a:t>
            </a:r>
            <a:r>
              <a:rPr dirty="0" sz="1050" spc="45" b="1">
                <a:latin typeface="Calibri"/>
                <a:cs typeface="Calibri"/>
              </a:rPr>
              <a:t>approach</a:t>
            </a:r>
            <a:endParaRPr sz="10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Calibri"/>
              <a:cs typeface="Calibri"/>
            </a:endParaRPr>
          </a:p>
          <a:p>
            <a:pPr algn="just" marL="19050" marR="6350" indent="-635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One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conviction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underlying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obtain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solid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hazy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laundry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understood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rapidly</a:t>
            </a:r>
            <a:r>
              <a:rPr dirty="0" sz="850" spc="30">
                <a:latin typeface="Calibri"/>
                <a:cs typeface="Calibri"/>
              </a:rPr>
              <a:t> understand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other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material.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 </a:t>
            </a:r>
            <a:r>
              <a:rPr dirty="0" sz="850" spc="30">
                <a:latin typeface="Calibri"/>
                <a:cs typeface="Calibri"/>
              </a:rPr>
              <a:t>programming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language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terms,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think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mastering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syntax,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libraries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language.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“know”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fraction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total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language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languages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enormous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standard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libraries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libraries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understood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easily.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  <a:spcBef>
                <a:spcPts val="150"/>
              </a:spcBef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emphatically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tutorial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library.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around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book!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library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wish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tutorials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documentation.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warned.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immediate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problem-solving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payoff,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networks,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insights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relevant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years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library.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durable,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insights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underlying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Technologies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technologies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insight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forever.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11135" y="368721"/>
            <a:ext cx="4569460" cy="49980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71145" algn="l"/>
              </a:tabLst>
            </a:pPr>
            <a:r>
              <a:rPr dirty="0" sz="850" spc="-25">
                <a:latin typeface="Calibri"/>
                <a:cs typeface="Calibri"/>
              </a:rPr>
              <a:t>iv</a:t>
            </a:r>
            <a:r>
              <a:rPr dirty="0" sz="850">
                <a:latin typeface="Calibri"/>
                <a:cs typeface="Calibri"/>
              </a:rPr>
              <a:t>	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endParaRPr sz="850">
              <a:latin typeface="Calibri"/>
              <a:cs typeface="Calibri"/>
            </a:endParaRPr>
          </a:p>
          <a:p>
            <a:pPr marL="15811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850">
              <a:latin typeface="Arial MT"/>
              <a:cs typeface="Arial MT"/>
            </a:endParaRPr>
          </a:p>
          <a:p>
            <a:pPr marL="208279">
              <a:lnSpc>
                <a:spcPct val="100000"/>
              </a:lnSpc>
            </a:pPr>
            <a:r>
              <a:rPr dirty="0" sz="1050" b="1">
                <a:latin typeface="Calibri"/>
                <a:cs typeface="Calibri"/>
              </a:rPr>
              <a:t>A</a:t>
            </a:r>
            <a:r>
              <a:rPr dirty="0" sz="1050" spc="23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hands-</a:t>
            </a:r>
            <a:r>
              <a:rPr dirty="0" sz="1050" spc="55" b="1">
                <a:latin typeface="Calibri"/>
                <a:cs typeface="Calibri"/>
              </a:rPr>
              <a:t>on</a:t>
            </a:r>
            <a:r>
              <a:rPr dirty="0" sz="1050" spc="235" b="1">
                <a:latin typeface="Calibri"/>
                <a:cs typeface="Calibri"/>
              </a:rPr>
              <a:t> </a:t>
            </a:r>
            <a:r>
              <a:rPr dirty="0" sz="1050" spc="45" b="1">
                <a:latin typeface="Calibri"/>
                <a:cs typeface="Calibri"/>
              </a:rPr>
              <a:t>approach</a:t>
            </a:r>
            <a:endParaRPr sz="1050">
              <a:latin typeface="Calibri"/>
              <a:cs typeface="Calibri"/>
            </a:endParaRPr>
          </a:p>
          <a:p>
            <a:pPr algn="just" marL="203200" marR="5080" indent="-2540">
              <a:lnSpc>
                <a:spcPct val="114300"/>
              </a:lnSpc>
              <a:spcBef>
                <a:spcPts val="1020"/>
              </a:spcBef>
            </a:pP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behind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attacking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concrete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problem: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teaching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recognize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handwritten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conventional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programming.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special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libraries.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program</a:t>
            </a:r>
            <a:r>
              <a:rPr dirty="0" sz="850" spc="20">
                <a:latin typeface="Calibri"/>
                <a:cs typeface="Calibri"/>
              </a:rPr>
              <a:t> through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iterations,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gradually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incorporating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learning.</a:t>
            </a:r>
            <a:endParaRPr sz="850">
              <a:latin typeface="Calibri"/>
              <a:cs typeface="Calibri"/>
            </a:endParaRPr>
          </a:p>
          <a:p>
            <a:pPr algn="just" marL="194945" marR="27940" indent="20320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hands-on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you’ll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programming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experience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read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professional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programmer.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written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Python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(version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2.7),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Python,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20">
                <a:latin typeface="Calibri"/>
                <a:cs typeface="Calibri"/>
              </a:rPr>
              <a:t> just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little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effort.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Through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course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develop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little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library,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understanding.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available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download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finished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feature-complete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libraries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intended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production.</a:t>
            </a:r>
            <a:endParaRPr sz="850">
              <a:latin typeface="Calibri"/>
              <a:cs typeface="Calibri"/>
            </a:endParaRPr>
          </a:p>
          <a:p>
            <a:pPr algn="just" marL="201930" marR="9525" indent="196215">
              <a:lnSpc>
                <a:spcPct val="114300"/>
              </a:lnSpc>
            </a:pPr>
            <a:r>
              <a:rPr dirty="0" sz="850" spc="55">
                <a:latin typeface="Calibri"/>
                <a:cs typeface="Calibri"/>
              </a:rPr>
              <a:t>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requirements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modest.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elementary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algebra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plots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expect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readers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okay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occasionally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advanced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mathematics,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material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follow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mathematical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elude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heavier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mathematics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extensively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2,</a:t>
            </a:r>
            <a:r>
              <a:rPr dirty="0" sz="850" spc="20">
                <a:latin typeface="Calibri"/>
                <a:cs typeface="Calibri"/>
              </a:rPr>
              <a:t> 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requires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little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multivariable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calculus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linear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algebra.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familiar,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 </a:t>
            </a:r>
            <a:r>
              <a:rPr dirty="0" sz="850" spc="10">
                <a:latin typeface="Calibri"/>
                <a:cs typeface="Calibri"/>
              </a:rPr>
              <a:t>begin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navigate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heavy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skip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summary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worry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outset.</a:t>
            </a:r>
            <a:endParaRPr sz="850">
              <a:latin typeface="Calibri"/>
              <a:cs typeface="Calibri"/>
            </a:endParaRPr>
          </a:p>
          <a:p>
            <a:pPr algn="just" marL="208279" marR="32384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rare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aim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principle-oriented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hands-on.</a:t>
            </a:r>
            <a:r>
              <a:rPr dirty="0" sz="850" spc="43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believe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develop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living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abstract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extend.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you’ll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knowledge.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59704" y="368724"/>
            <a:ext cx="19304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5095">
              <a:lnSpc>
                <a:spcPts val="525"/>
              </a:lnSpc>
              <a:spcBef>
                <a:spcPts val="110"/>
              </a:spcBef>
            </a:pPr>
            <a:r>
              <a:rPr dirty="0" sz="850" spc="-50">
                <a:latin typeface="Calibri"/>
                <a:cs typeface="Calibri"/>
              </a:rPr>
              <a:t>v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xfrm>
            <a:off x="1229692" y="1490080"/>
            <a:ext cx="4183379" cy="37528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150"/>
              <a:t>On</a:t>
            </a:r>
            <a:r>
              <a:rPr dirty="0" spc="160"/>
              <a:t> </a:t>
            </a:r>
            <a:r>
              <a:rPr dirty="0" spc="60"/>
              <a:t>the</a:t>
            </a:r>
            <a:r>
              <a:rPr dirty="0" spc="165"/>
              <a:t> </a:t>
            </a:r>
            <a:r>
              <a:rPr dirty="0" spc="90"/>
              <a:t>exercises</a:t>
            </a:r>
            <a:r>
              <a:rPr dirty="0" spc="165"/>
              <a:t> </a:t>
            </a:r>
            <a:r>
              <a:rPr dirty="0" spc="120"/>
              <a:t>and</a:t>
            </a:r>
            <a:r>
              <a:rPr dirty="0" spc="165"/>
              <a:t> </a:t>
            </a:r>
            <a:r>
              <a:rPr dirty="0" spc="100"/>
              <a:t>problems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059750" y="2248160"/>
            <a:ext cx="4380865" cy="3578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698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uncommon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technical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include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admonition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author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readers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exercises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peculiar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warnings.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exercises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problems?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not.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expense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understanding.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not.</a:t>
            </a:r>
            <a:endParaRPr sz="850">
              <a:latin typeface="Calibri"/>
              <a:cs typeface="Calibri"/>
            </a:endParaRPr>
          </a:p>
          <a:p>
            <a:pPr algn="just" marL="19685" marR="32384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book?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advice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attempt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exercises,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aim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not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problems.</a:t>
            </a:r>
            <a:endParaRPr sz="850">
              <a:latin typeface="Calibri"/>
              <a:cs typeface="Calibri"/>
            </a:endParaRPr>
          </a:p>
          <a:p>
            <a:pPr algn="r" marL="19685" marR="508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exercises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basic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checks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understood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material.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can’t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exercise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relatively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probably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missed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something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fundamental.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stuck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occasional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exercise,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chances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misunderstanding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poorly.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exercises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struggle,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probably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reread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material.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matter.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They’re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exercises,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you’ll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struggle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annoying,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patience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face</a:t>
            </a:r>
            <a:endParaRPr sz="850">
              <a:latin typeface="Calibri"/>
              <a:cs typeface="Calibri"/>
            </a:endParaRPr>
          </a:p>
          <a:p>
            <a:pPr algn="just" marL="19685">
              <a:lnSpc>
                <a:spcPct val="100000"/>
              </a:lnSpc>
              <a:spcBef>
                <a:spcPts val="145"/>
              </a:spcBef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frustration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internalize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subject.</a:t>
            </a:r>
            <a:endParaRPr sz="850">
              <a:latin typeface="Calibri"/>
              <a:cs typeface="Calibri"/>
            </a:endParaRPr>
          </a:p>
          <a:p>
            <a:pPr algn="r" marL="19685" marR="508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recommend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working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problems.</a:t>
            </a:r>
            <a:r>
              <a:rPr dirty="0" sz="850" spc="170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even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own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project.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music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collection.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predict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prices.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whatever.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find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project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you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care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about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ignore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inspiration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your</a:t>
            </a:r>
            <a:r>
              <a:rPr dirty="0" sz="850" spc="20">
                <a:latin typeface="Calibri"/>
                <a:cs typeface="Calibri"/>
              </a:rPr>
              <a:t> own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project.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Struggling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project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teach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Emotional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commitment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mastery.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project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front.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fine.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motivated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material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endParaRPr sz="850">
              <a:latin typeface="Calibri"/>
              <a:cs typeface="Calibri"/>
            </a:endParaRPr>
          </a:p>
          <a:p>
            <a:pPr algn="just" marL="19685">
              <a:lnSpc>
                <a:spcPct val="100000"/>
              </a:lnSpc>
              <a:spcBef>
                <a:spcPts val="145"/>
              </a:spcBef>
            </a:pP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search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creative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personal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projects.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11135" y="368721"/>
            <a:ext cx="174434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71145" algn="l"/>
              </a:tabLst>
            </a:pPr>
            <a:r>
              <a:rPr dirty="0" sz="850" spc="-25">
                <a:latin typeface="Calibri"/>
                <a:cs typeface="Calibri"/>
              </a:rPr>
              <a:t>vi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exercises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problems</a:t>
            </a:r>
            <a:endParaRPr sz="850">
              <a:latin typeface="Calibri"/>
              <a:cs typeface="Calibri"/>
            </a:endParaRPr>
          </a:p>
          <a:p>
            <a:pPr marL="15811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59704" y="368724"/>
            <a:ext cx="19939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5095">
              <a:lnSpc>
                <a:spcPts val="525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xfrm>
            <a:off x="3970820" y="966469"/>
            <a:ext cx="1428750" cy="292862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-1891" sz="17625" spc="-8385">
                <a:solidFill>
                  <a:srgbClr val="B2B2B2"/>
                </a:solidFill>
              </a:rPr>
              <a:t>1</a:t>
            </a:r>
            <a:r>
              <a:rPr dirty="0" sz="19050" spc="-9250">
                <a:solidFill>
                  <a:srgbClr val="7F7F7F"/>
                </a:solidFill>
              </a:rPr>
              <a:t>1</a:t>
            </a:r>
            <a:r>
              <a:rPr dirty="0" sz="18650" spc="-9050">
                <a:solidFill>
                  <a:srgbClr val="A5A5A5"/>
                </a:solidFill>
              </a:rPr>
              <a:t>1</a:t>
            </a:r>
            <a:r>
              <a:rPr dirty="0" sz="18250" spc="320">
                <a:solidFill>
                  <a:srgbClr val="CCCCCC"/>
                </a:solidFill>
              </a:rPr>
              <a:t>1</a:t>
            </a:r>
            <a:endParaRPr sz="18250"/>
          </a:p>
        </p:txBody>
      </p:sp>
      <p:sp>
        <p:nvSpPr>
          <p:cNvPr id="4" name="object 4"/>
          <p:cNvSpPr txBox="1"/>
          <p:nvPr/>
        </p:nvSpPr>
        <p:spPr>
          <a:xfrm>
            <a:off x="1269339" y="2188704"/>
            <a:ext cx="4143375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135" b="1">
                <a:latin typeface="Calibri"/>
                <a:cs typeface="Calibri"/>
              </a:rPr>
              <a:t>Using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110" b="1">
                <a:latin typeface="Calibri"/>
                <a:cs typeface="Calibri"/>
              </a:rPr>
              <a:t>neural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70" b="1">
                <a:latin typeface="Calibri"/>
                <a:cs typeface="Calibri"/>
              </a:rPr>
              <a:t>nets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50" b="1">
                <a:latin typeface="Calibri"/>
                <a:cs typeface="Calibri"/>
              </a:rPr>
              <a:t>to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110" b="1">
                <a:latin typeface="Calibri"/>
                <a:cs typeface="Calibri"/>
              </a:rPr>
              <a:t>recognize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890164" y="2583455"/>
            <a:ext cx="2522855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95" b="1">
                <a:latin typeface="Calibri"/>
                <a:cs typeface="Calibri"/>
              </a:rPr>
              <a:t>handwritten</a:t>
            </a:r>
            <a:r>
              <a:rPr dirty="0" sz="2300" spc="175" b="1">
                <a:latin typeface="Calibri"/>
                <a:cs typeface="Calibri"/>
              </a:rPr>
              <a:t> </a:t>
            </a:r>
            <a:r>
              <a:rPr dirty="0" sz="2300" spc="100" b="1">
                <a:latin typeface="Calibri"/>
                <a:cs typeface="Calibri"/>
              </a:rPr>
              <a:t>digits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2380" y="4324814"/>
            <a:ext cx="435038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system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wonders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world.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sequence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99994" y="4858744"/>
            <a:ext cx="1079982" cy="221890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1028228" y="5272348"/>
            <a:ext cx="4432935" cy="2744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333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effortlessly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504192.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deceptive.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each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hemisphere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primary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cortex,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containing</a:t>
            </a:r>
            <a:r>
              <a:rPr dirty="0" sz="850" spc="55">
                <a:latin typeface="Calibri"/>
                <a:cs typeface="Calibri"/>
              </a:rPr>
              <a:t> 140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billions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human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involves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series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cortices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</a:t>
            </a:r>
            <a:r>
              <a:rPr dirty="0" baseline="-20202" sz="825">
                <a:latin typeface="Calibri"/>
                <a:cs typeface="Calibri"/>
              </a:rPr>
              <a:t>3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</a:t>
            </a:r>
            <a:r>
              <a:rPr dirty="0" baseline="-20202" sz="825">
                <a:latin typeface="Calibri"/>
                <a:cs typeface="Calibri"/>
              </a:rPr>
              <a:t>4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</a:t>
            </a:r>
            <a:r>
              <a:rPr dirty="0" baseline="-20202" sz="825">
                <a:latin typeface="Calibri"/>
                <a:cs typeface="Calibri"/>
              </a:rPr>
              <a:t>5</a:t>
            </a:r>
            <a:r>
              <a:rPr dirty="0" baseline="-20202" sz="825" spc="3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progressively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processing.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carry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heads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supercomputer,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tuned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evolution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hundreds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years,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superbly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adapted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world.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stupendously,</a:t>
            </a:r>
            <a:r>
              <a:rPr dirty="0" sz="850" spc="20">
                <a:latin typeface="Calibri"/>
                <a:cs typeface="Calibri"/>
              </a:rPr>
              <a:t> astoundingly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making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sense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eyes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nearly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unconsciously.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appreciate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tough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visual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solve.</a:t>
            </a:r>
            <a:endParaRPr sz="850">
              <a:latin typeface="Calibri"/>
              <a:cs typeface="Calibri"/>
            </a:endParaRPr>
          </a:p>
          <a:p>
            <a:pPr algn="just" marL="51435" marR="50165" indent="189230">
              <a:lnSpc>
                <a:spcPct val="114300"/>
              </a:lnSpc>
              <a:spcBef>
                <a:spcPts val="21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pattern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becomes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apparent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attempt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write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ourselves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suddenly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becomes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recognize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shapes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9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vertical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stroke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bottom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right”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express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algorithmically.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rules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precise,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morass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exceptions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caveats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hopeless.</a:t>
            </a:r>
            <a:endParaRPr sz="850">
              <a:latin typeface="Calibri"/>
              <a:cs typeface="Calibri"/>
            </a:endParaRPr>
          </a:p>
          <a:p>
            <a:pPr algn="just" marL="51435" marR="52705" indent="189230">
              <a:lnSpc>
                <a:spcPct val="114300"/>
              </a:lnSpc>
              <a:spcBef>
                <a:spcPts val="215"/>
              </a:spcBef>
            </a:pP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large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examples,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4962" y="368721"/>
            <a:ext cx="261493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47015" algn="l"/>
              </a:tabLst>
            </a:pPr>
            <a:r>
              <a:rPr dirty="0" sz="850">
                <a:latin typeface="Calibri"/>
                <a:cs typeface="Calibri"/>
              </a:rPr>
              <a:t>2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3398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99996" y="926045"/>
            <a:ext cx="2160143" cy="172811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90905" y="2739981"/>
            <a:ext cx="4384675" cy="52768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8575" marR="2476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words,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neural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examples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automatically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infer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rules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recognizing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handwritten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Furthermore,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handwriting,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100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thousands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billions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examples.</a:t>
            </a:r>
            <a:endParaRPr sz="850">
              <a:latin typeface="Calibri"/>
              <a:cs typeface="Calibri"/>
            </a:endParaRPr>
          </a:p>
          <a:p>
            <a:pPr algn="just" marL="22225" marR="24130" indent="196215">
              <a:lnSpc>
                <a:spcPct val="114300"/>
              </a:lnSpc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chapter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write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recognize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handwritten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74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special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libraries.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short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recognize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over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96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intervention.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Furthermore,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ideas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99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commercial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banks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cheques,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offices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addresses.</a:t>
            </a:r>
            <a:endParaRPr sz="850">
              <a:latin typeface="Calibri"/>
              <a:cs typeface="Calibri"/>
            </a:endParaRPr>
          </a:p>
          <a:p>
            <a:pPr algn="just" marL="12700" marR="5080" indent="205740">
              <a:lnSpc>
                <a:spcPct val="114300"/>
              </a:lnSpc>
            </a:pPr>
            <a:r>
              <a:rPr dirty="0" sz="850" spc="-20">
                <a:latin typeface="Calibri"/>
                <a:cs typeface="Calibri"/>
              </a:rPr>
              <a:t>We’re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focusing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handwriting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excellent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prototype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prototype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hits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sweet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spot: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challenging</a:t>
            </a:r>
            <a:r>
              <a:rPr dirty="0" sz="850" spc="500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require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</a:t>
            </a:r>
            <a:r>
              <a:rPr dirty="0" sz="850" spc="20">
                <a:latin typeface="Calibri"/>
                <a:cs typeface="Calibri"/>
              </a:rPr>
              <a:t> extremely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complicated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solution,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tremendous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computational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power.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Furthermore,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advanced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throughout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return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repeatedly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handwriting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recognition.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vision,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speech,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natural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language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processing,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domains.</a:t>
            </a:r>
            <a:endParaRPr sz="850">
              <a:latin typeface="Calibri"/>
              <a:cs typeface="Calibri"/>
            </a:endParaRPr>
          </a:p>
          <a:p>
            <a:pPr algn="just" marL="15240" marR="5080" indent="20320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recognize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handwritten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shorter!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along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develop</a:t>
            </a:r>
            <a:r>
              <a:rPr dirty="0" sz="850" spc="20">
                <a:latin typeface="Calibri"/>
                <a:cs typeface="Calibri"/>
              </a:rPr>
              <a:t> many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key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including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two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important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types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artificial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r>
              <a:rPr dirty="0" sz="850" spc="20">
                <a:latin typeface="Calibri"/>
                <a:cs typeface="Calibri"/>
              </a:rPr>
              <a:t> (the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perceptron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neuron),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standard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20">
                <a:latin typeface="Calibri"/>
                <a:cs typeface="Calibri"/>
              </a:rPr>
              <a:t> networks,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stochastic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Throughout,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focus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explaining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why</a:t>
            </a:r>
            <a:r>
              <a:rPr dirty="0" sz="850" spc="2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things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done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building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intuition.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requires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lengthier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presented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basic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mechanics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worth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attain.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Amongst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payoffs,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end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matters.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30"/>
              </a:spcBef>
            </a:pPr>
            <a:endParaRPr sz="850">
              <a:latin typeface="Calibri"/>
              <a:cs typeface="Calibri"/>
            </a:endParaRPr>
          </a:p>
          <a:p>
            <a:pPr marL="28575">
              <a:lnSpc>
                <a:spcPct val="100000"/>
              </a:lnSpc>
              <a:spcBef>
                <a:spcPts val="5"/>
              </a:spcBef>
              <a:tabLst>
                <a:tab pos="356235" algn="l"/>
              </a:tabLst>
            </a:pPr>
            <a:r>
              <a:rPr dirty="0" sz="1050" spc="30" b="1">
                <a:latin typeface="Calibri"/>
                <a:cs typeface="Calibri"/>
              </a:rPr>
              <a:t>1.1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-10" b="1">
                <a:latin typeface="Calibri"/>
                <a:cs typeface="Calibri"/>
              </a:rPr>
              <a:t>Perceptrons</a:t>
            </a:r>
            <a:endParaRPr sz="1050">
              <a:latin typeface="Calibri"/>
              <a:cs typeface="Calibri"/>
            </a:endParaRPr>
          </a:p>
          <a:p>
            <a:pPr algn="just" marL="28575" marR="23495" indent="-7620">
              <a:lnSpc>
                <a:spcPct val="114300"/>
              </a:lnSpc>
              <a:spcBef>
                <a:spcPts val="1015"/>
              </a:spcBef>
            </a:pP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network?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started,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perceptron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3"/>
              </a:rPr>
              <a:t>developed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1950s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1960s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scientist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Frank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6" name="object 6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41896" y="368721"/>
            <a:ext cx="4542790" cy="16109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30480">
              <a:lnSpc>
                <a:spcPts val="525"/>
              </a:lnSpc>
              <a:spcBef>
                <a:spcPts val="110"/>
              </a:spcBef>
              <a:tabLst>
                <a:tab pos="970915" algn="l"/>
              </a:tabLst>
            </a:pPr>
            <a:r>
              <a:rPr dirty="0" sz="850">
                <a:latin typeface="Calibri"/>
                <a:cs typeface="Calibri"/>
              </a:rPr>
              <a:t>1.1.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Perceptrons</a:t>
            </a:r>
            <a:r>
              <a:rPr dirty="0" sz="850">
                <a:latin typeface="Calibri"/>
                <a:cs typeface="Calibri"/>
              </a:rPr>
              <a:t>	3</a:t>
            </a:r>
            <a:endParaRPr sz="850">
              <a:latin typeface="Calibri"/>
              <a:cs typeface="Calibri"/>
            </a:endParaRPr>
          </a:p>
          <a:p>
            <a:pPr algn="r" marR="1670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100" marR="17208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Rosenblatt,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inspired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work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Warren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McCulloch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Walter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Pitts.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Today,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common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artificial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modern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sigmoid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neuron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get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shortly.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perceptrons.</a:t>
            </a:r>
            <a:endParaRPr sz="850">
              <a:latin typeface="Calibri"/>
              <a:cs typeface="Calibri"/>
            </a:endParaRPr>
          </a:p>
          <a:p>
            <a:pPr algn="just" marL="38100" marR="176530" indent="189230">
              <a:lnSpc>
                <a:spcPct val="114300"/>
              </a:lnSpc>
              <a:spcBef>
                <a:spcPts val="30"/>
              </a:spcBef>
            </a:pP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perceptrons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work?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perceptron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several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binary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produces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single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binary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95448" y="2137994"/>
            <a:ext cx="1682750" cy="80009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41896" y="3098883"/>
            <a:ext cx="439674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>
              <a:lnSpc>
                <a:spcPct val="114300"/>
              </a:lnSpc>
              <a:spcBef>
                <a:spcPts val="95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inputs,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3</a:t>
            </a:r>
            <a:r>
              <a:rPr dirty="0" sz="850" spc="65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could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Rosenblatt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proposed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He </a:t>
            </a:r>
            <a:r>
              <a:rPr dirty="0" sz="850" spc="10">
                <a:latin typeface="Calibri"/>
                <a:cs typeface="Calibri"/>
              </a:rPr>
              <a:t>introduced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weights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2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importance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respective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7296" y="3559838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determined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weighted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303439" y="3614346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97572" y="3778292"/>
            <a:ext cx="3378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3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7296" y="3707869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15290" algn="l"/>
              </a:tabLst>
            </a:pPr>
            <a:r>
              <a:rPr dirty="0" sz="850" spc="-25">
                <a:latin typeface="Calibri"/>
                <a:cs typeface="Calibri"/>
              </a:rPr>
              <a:t>sum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33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25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threshold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value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7289" y="3855913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threshold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precise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7296" y="4003944"/>
            <a:ext cx="7912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algebraic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terms: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81719" y="4061362"/>
            <a:ext cx="1066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300">
                <a:latin typeface="Arial MT"/>
                <a:cs typeface="Arial MT"/>
              </a:rPr>
              <a:t>¨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217649" y="4236064"/>
            <a:ext cx="3378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3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63162" y="4165651"/>
            <a:ext cx="13646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39750" algn="l"/>
              </a:tabLst>
            </a:pPr>
            <a:r>
              <a:rPr dirty="0" sz="850" spc="50">
                <a:latin typeface="Calibri"/>
                <a:cs typeface="Calibri"/>
              </a:rPr>
              <a:t>0</a:t>
            </a:r>
            <a:r>
              <a:rPr dirty="0" sz="850" spc="229">
                <a:latin typeface="Calibri"/>
                <a:cs typeface="Calibri"/>
              </a:rPr>
              <a:t>  </a:t>
            </a:r>
            <a:r>
              <a:rPr dirty="0" sz="850" spc="-25">
                <a:latin typeface="Calibri"/>
                <a:cs typeface="Calibri"/>
              </a:rPr>
              <a:t>if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04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370" i="1">
                <a:latin typeface="Calibri"/>
                <a:cs typeface="Calibri"/>
              </a:rPr>
              <a:t> </a:t>
            </a:r>
            <a:r>
              <a:rPr dirty="0" sz="850" spc="195">
                <a:latin typeface="Cambria"/>
                <a:cs typeface="Cambria"/>
              </a:rPr>
              <a:t>≤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-10">
                <a:latin typeface="Calibri"/>
                <a:cs typeface="Calibri"/>
              </a:rPr>
              <a:t>threshold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763162" y="4343287"/>
            <a:ext cx="2616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229">
                <a:latin typeface="Calibri"/>
                <a:cs typeface="Calibri"/>
              </a:rPr>
              <a:t>  </a:t>
            </a:r>
            <a:r>
              <a:rPr dirty="0" sz="850" spc="-25">
                <a:latin typeface="Calibri"/>
                <a:cs typeface="Calibri"/>
              </a:rPr>
              <a:t>if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228264" y="4249764"/>
            <a:ext cx="1031240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505"/>
              </a:lnSpc>
              <a:spcBef>
                <a:spcPts val="114"/>
              </a:spcBef>
            </a:pP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  <a:p>
            <a:pPr algn="r" marR="5080">
              <a:lnSpc>
                <a:spcPts val="505"/>
              </a:lnSpc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217648" y="4343287"/>
            <a:ext cx="9353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5252" sz="825" i="1">
                <a:latin typeface="Calibri"/>
                <a:cs typeface="Calibri"/>
              </a:rPr>
              <a:t>j</a:t>
            </a:r>
            <a:r>
              <a:rPr dirty="0" baseline="-25252" sz="825" spc="172" i="1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37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-70" i="1">
                <a:latin typeface="Calibri"/>
                <a:cs typeface="Calibri"/>
              </a:rPr>
              <a:t> </a:t>
            </a:r>
            <a:r>
              <a:rPr dirty="0" baseline="-20202" sz="825" i="1">
                <a:latin typeface="Calibri"/>
                <a:cs typeface="Calibri"/>
              </a:rPr>
              <a:t>j</a:t>
            </a:r>
            <a:r>
              <a:rPr dirty="0" baseline="-20202" sz="825" spc="270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&gt;</a:t>
            </a:r>
            <a:r>
              <a:rPr dirty="0" sz="850" spc="5" i="1">
                <a:latin typeface="Times New Roman"/>
                <a:cs typeface="Times New Roman"/>
              </a:rPr>
              <a:t> </a:t>
            </a:r>
            <a:r>
              <a:rPr dirty="0" sz="850" spc="-10">
                <a:latin typeface="Calibri"/>
                <a:cs typeface="Calibri"/>
              </a:rPr>
              <a:t>threshold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144171" y="4250537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(1.1)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21650" y="4565905"/>
            <a:ext cx="4457065" cy="3451225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algn="just" marL="53340">
              <a:lnSpc>
                <a:spcPct val="100000"/>
              </a:lnSpc>
              <a:spcBef>
                <a:spcPts val="275"/>
              </a:spcBef>
            </a:pP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works!</a:t>
            </a:r>
            <a:endParaRPr sz="850">
              <a:latin typeface="Calibri"/>
              <a:cs typeface="Calibri"/>
            </a:endParaRPr>
          </a:p>
          <a:p>
            <a:pPr algn="just" marL="57785" marR="67310" indent="189230">
              <a:lnSpc>
                <a:spcPct val="114300"/>
              </a:lnSpc>
              <a:spcBef>
                <a:spcPts val="30"/>
              </a:spcBef>
            </a:pP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it’s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device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decisions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evidence.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example.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realistic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realistic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weekend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heard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cheese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festival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city.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cheese,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decide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festival.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decision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factors:</a:t>
            </a:r>
            <a:endParaRPr sz="850">
              <a:latin typeface="Calibri"/>
              <a:cs typeface="Calibri"/>
            </a:endParaRPr>
          </a:p>
          <a:p>
            <a:pPr marL="372110" indent="-152400">
              <a:lnSpc>
                <a:spcPct val="100000"/>
              </a:lnSpc>
              <a:spcBef>
                <a:spcPts val="180"/>
              </a:spcBef>
              <a:buAutoNum type="arabicPeriod"/>
              <a:tabLst>
                <a:tab pos="372110" algn="l"/>
              </a:tabLst>
            </a:pP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weather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good?</a:t>
            </a:r>
            <a:endParaRPr sz="850">
              <a:latin typeface="Calibri"/>
              <a:cs typeface="Calibri"/>
            </a:endParaRPr>
          </a:p>
          <a:p>
            <a:pPr marL="372110" indent="-152400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372110" algn="l"/>
              </a:tabLst>
            </a:pP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boyfriend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girlfriend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accompany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you?</a:t>
            </a:r>
            <a:endParaRPr sz="850">
              <a:latin typeface="Calibri"/>
              <a:cs typeface="Calibri"/>
            </a:endParaRPr>
          </a:p>
          <a:p>
            <a:pPr marL="372110" indent="-152400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372110" algn="l"/>
              </a:tabLst>
            </a:pP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festival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public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transit?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own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car).</a:t>
            </a:r>
            <a:endParaRPr sz="850">
              <a:latin typeface="Calibri"/>
              <a:cs typeface="Calibri"/>
            </a:endParaRPr>
          </a:p>
          <a:p>
            <a:pPr algn="just" marL="57785" marR="47625" indent="-7620">
              <a:lnSpc>
                <a:spcPct val="114300"/>
              </a:lnSpc>
              <a:spcBef>
                <a:spcPts val="35"/>
              </a:spcBef>
            </a:pP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represent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three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factors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binary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variables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baseline="-20202" sz="825" spc="28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3</a:t>
            </a:r>
            <a:r>
              <a:rPr dirty="0" sz="850" spc="65">
                <a:latin typeface="Calibri"/>
                <a:cs typeface="Calibri"/>
              </a:rPr>
              <a:t>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baseline="-20202" sz="825" spc="254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weather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baseline="-20202" sz="825" spc="254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weather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Similarly,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baseline="-20202" sz="825" spc="262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1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boyfriend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girlfriend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baseline="-20202" sz="825" spc="262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3</a:t>
            </a:r>
            <a:r>
              <a:rPr dirty="0" baseline="-20202" sz="825" spc="397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public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transit.</a:t>
            </a:r>
            <a:endParaRPr sz="850">
              <a:latin typeface="Calibri"/>
              <a:cs typeface="Calibri"/>
            </a:endParaRPr>
          </a:p>
          <a:p>
            <a:pPr algn="just" marL="51435" marR="43180" indent="196215">
              <a:lnSpc>
                <a:spcPct val="114300"/>
              </a:lnSpc>
              <a:spcBef>
                <a:spcPts val="30"/>
              </a:spcBef>
            </a:pPr>
            <a:r>
              <a:rPr dirty="0" sz="850" spc="10">
                <a:latin typeface="Calibri"/>
                <a:cs typeface="Calibri"/>
              </a:rPr>
              <a:t>Now,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absolutely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cheese,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festival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boyfriend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girlfriend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uninterested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festival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hard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loathe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weather,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festival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weather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bad.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kind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decision-making.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375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55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6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weather,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375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55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3</a:t>
            </a:r>
            <a:r>
              <a:rPr dirty="0" baseline="-20202" sz="825" spc="375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55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conditions.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397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indicates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weather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matters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you,</a:t>
            </a:r>
            <a:r>
              <a:rPr dirty="0" sz="850" spc="20">
                <a:latin typeface="Calibri"/>
                <a:cs typeface="Calibri"/>
              </a:rPr>
              <a:t> much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boyfriend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girlfriend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joins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nearness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public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transit.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Finally,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threshold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5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choices,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decision-making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outputting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whenever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20" name="object 20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4962" y="368721"/>
            <a:ext cx="4545330" cy="23564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47015" algn="l"/>
              </a:tabLst>
            </a:pPr>
            <a:r>
              <a:rPr dirty="0" sz="850">
                <a:latin typeface="Calibri"/>
                <a:cs typeface="Calibri"/>
              </a:rPr>
              <a:t>4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3398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78435" marR="29209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weather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whenever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weather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boyfriend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girlfriend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public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nearby.</a:t>
            </a:r>
            <a:endParaRPr sz="850">
              <a:latin typeface="Calibri"/>
              <a:cs typeface="Calibri"/>
            </a:endParaRPr>
          </a:p>
          <a:p>
            <a:pPr algn="just" marL="178435" marR="5080" indent="196215">
              <a:lnSpc>
                <a:spcPct val="114300"/>
              </a:lnSpc>
              <a:spcBef>
                <a:spcPts val="35"/>
              </a:spcBef>
            </a:pP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varying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threshold,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decision-</a:t>
            </a:r>
            <a:r>
              <a:rPr dirty="0" sz="850" spc="-10">
                <a:latin typeface="Calibri"/>
                <a:cs typeface="Calibri"/>
              </a:rPr>
              <a:t>making.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threshold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decide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festival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whenever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weather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festival</a:t>
            </a:r>
            <a:r>
              <a:rPr dirty="0" sz="850" spc="20">
                <a:latin typeface="Calibri"/>
                <a:cs typeface="Calibri"/>
              </a:rPr>
              <a:t> was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near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public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transit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boyfriend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girlfriend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join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r>
              <a:rPr dirty="0" sz="850" spc="20">
                <a:latin typeface="Calibri"/>
                <a:cs typeface="Calibri"/>
              </a:rPr>
              <a:t> words,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decision-making.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Dropping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threshold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you’re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festival.</a:t>
            </a:r>
            <a:endParaRPr sz="850">
              <a:latin typeface="Calibri"/>
              <a:cs typeface="Calibri"/>
            </a:endParaRPr>
          </a:p>
          <a:p>
            <a:pPr algn="just" marL="184785" marR="29209" indent="189230">
              <a:lnSpc>
                <a:spcPct val="114300"/>
              </a:lnSpc>
              <a:spcBef>
                <a:spcPts val="35"/>
              </a:spcBef>
            </a:pPr>
            <a:r>
              <a:rPr dirty="0" sz="850">
                <a:latin typeface="Calibri"/>
                <a:cs typeface="Calibri"/>
              </a:rPr>
              <a:t>Obviously,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decision-making!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illustrates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order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decisions.</a:t>
            </a:r>
            <a:r>
              <a:rPr dirty="0" sz="850" spc="3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plausible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subtle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decisions: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09954" y="2846705"/>
            <a:ext cx="3340100" cy="133985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90905" y="4310526"/>
            <a:ext cx="4389755" cy="1954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32384" indent="1587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column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layer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making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three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decisions,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evidence.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layer?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decision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decision-making.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second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decision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abstract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level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decisions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made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third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many-layer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engage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sophisticated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decision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making.</a:t>
            </a:r>
            <a:endParaRPr sz="850">
              <a:latin typeface="Calibri"/>
              <a:cs typeface="Calibri"/>
            </a:endParaRPr>
          </a:p>
          <a:p>
            <a:pPr algn="just" marL="28575" marR="5080" indent="189230">
              <a:lnSpc>
                <a:spcPct val="114300"/>
              </a:lnSpc>
              <a:spcBef>
                <a:spcPts val="35"/>
              </a:spcBef>
            </a:pPr>
            <a:r>
              <a:rPr dirty="0" sz="850">
                <a:latin typeface="Calibri"/>
                <a:cs typeface="Calibri"/>
              </a:rPr>
              <a:t>Incidentally,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output.</a:t>
            </a:r>
            <a:r>
              <a:rPr dirty="0" sz="850" spc="50">
                <a:latin typeface="Calibri"/>
                <a:cs typeface="Calibri"/>
              </a:rPr>
              <a:t> 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multiple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outputs.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they’re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arrows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merely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useful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indicating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less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unwieldy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drawing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splits.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952379" y="6167363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046498" y="6331309"/>
            <a:ext cx="3378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3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97091" y="6260886"/>
            <a:ext cx="41560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234690" algn="l"/>
              </a:tabLst>
            </a:pP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simplify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perceptrons.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condition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sz="850" spc="240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x</a:t>
            </a:r>
            <a:r>
              <a:rPr dirty="0" sz="850" spc="459" i="1">
                <a:latin typeface="Calibri"/>
                <a:cs typeface="Calibri"/>
              </a:rPr>
              <a:t> </a:t>
            </a:r>
            <a:r>
              <a:rPr dirty="0" sz="850" spc="20" i="1">
                <a:latin typeface="Times New Roman"/>
                <a:cs typeface="Times New Roman"/>
              </a:rPr>
              <a:t>&gt;</a:t>
            </a:r>
            <a:r>
              <a:rPr dirty="0" sz="850" spc="20">
                <a:latin typeface="Calibri"/>
                <a:cs typeface="Calibri"/>
              </a:rPr>
              <a:t>threshold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297" y="6408916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cumbersome,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notational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simplify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it.</a:t>
            </a:r>
            <a:r>
              <a:rPr dirty="0" sz="850" spc="4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238021" y="6463439"/>
            <a:ext cx="18141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690370" algn="l"/>
              </a:tabLst>
            </a:pPr>
            <a:r>
              <a:rPr dirty="0" sz="850" spc="250">
                <a:latin typeface="Arial MT"/>
                <a:cs typeface="Arial MT"/>
              </a:rPr>
              <a:t>P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319440" y="6627375"/>
            <a:ext cx="20415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1728470" algn="l"/>
              </a:tabLst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3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3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297" y="6556960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709930" algn="l"/>
                <a:tab pos="2388235" algn="l"/>
              </a:tabLst>
            </a:pP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write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65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0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10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95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2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3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whose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7300" y="6688139"/>
            <a:ext cx="434594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components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respectively.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threshold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side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inequality,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replace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bias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</a:t>
            </a:r>
            <a:r>
              <a:rPr dirty="0" sz="850" spc="10">
                <a:latin typeface="Cambria"/>
                <a:cs typeface="Cambria"/>
              </a:rPr>
              <a:t>≡</a:t>
            </a:r>
            <a:r>
              <a:rPr dirty="0" sz="850" spc="110">
                <a:latin typeface="Cambria"/>
                <a:cs typeface="Cambria"/>
              </a:rPr>
              <a:t> </a:t>
            </a:r>
            <a:r>
              <a:rPr dirty="0" sz="850" spc="10">
                <a:latin typeface="Cambria"/>
                <a:cs typeface="Cambria"/>
              </a:rPr>
              <a:t>−</a:t>
            </a:r>
            <a:r>
              <a:rPr dirty="0" sz="850" spc="10">
                <a:latin typeface="Calibri"/>
                <a:cs typeface="Calibri"/>
              </a:rPr>
              <a:t>threshold.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threshold,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7301" y="7149099"/>
            <a:ext cx="10604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rewritten: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514967" y="7183339"/>
            <a:ext cx="1066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300">
                <a:latin typeface="Arial MT"/>
                <a:cs typeface="Arial MT"/>
              </a:rPr>
              <a:t>¨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596415" y="7287628"/>
            <a:ext cx="9779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0</a:t>
            </a:r>
            <a:r>
              <a:rPr dirty="0" sz="850" spc="24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60">
                <a:latin typeface="Calibri"/>
                <a:cs typeface="Calibri"/>
              </a:rPr>
              <a:t> 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30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4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35" i="1">
                <a:latin typeface="Calibri"/>
                <a:cs typeface="Calibri"/>
              </a:rPr>
              <a:t> </a:t>
            </a:r>
            <a:r>
              <a:rPr dirty="0" sz="850" spc="195">
                <a:latin typeface="Cambria"/>
                <a:cs typeface="Cambria"/>
              </a:rPr>
              <a:t>≤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061527" y="7372520"/>
            <a:ext cx="29914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734945" algn="l"/>
              </a:tabLst>
            </a:pP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50">
                <a:latin typeface="Calibri"/>
                <a:cs typeface="Calibri"/>
              </a:rPr>
              <a:t>(1.2)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02489" y="7465279"/>
            <a:ext cx="4353560" cy="55181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90627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24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54">
                <a:latin typeface="Calibri"/>
                <a:cs typeface="Calibri"/>
              </a:rPr>
              <a:t> 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20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4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30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&gt;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  <a:p>
            <a:pPr marL="17145" marR="5080" indent="-5080">
              <a:lnSpc>
                <a:spcPct val="114300"/>
              </a:lnSpc>
              <a:spcBef>
                <a:spcPts val="775"/>
              </a:spcBef>
            </a:pP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measure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biological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measure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get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19" name="object 19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6" y="368721"/>
            <a:ext cx="4498340" cy="20510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5080">
              <a:lnSpc>
                <a:spcPts val="525"/>
              </a:lnSpc>
              <a:spcBef>
                <a:spcPts val="110"/>
              </a:spcBef>
              <a:tabLst>
                <a:tab pos="970915" algn="l"/>
              </a:tabLst>
            </a:pPr>
            <a:r>
              <a:rPr dirty="0" sz="850">
                <a:latin typeface="Calibri"/>
                <a:cs typeface="Calibri"/>
              </a:rPr>
              <a:t>1.1.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Perceptrons</a:t>
            </a:r>
            <a:r>
              <a:rPr dirty="0" sz="850">
                <a:latin typeface="Calibri"/>
                <a:cs typeface="Calibri"/>
              </a:rPr>
              <a:t>	5</a:t>
            </a:r>
            <a:endParaRPr sz="850">
              <a:latin typeface="Calibri"/>
              <a:cs typeface="Calibri"/>
            </a:endParaRPr>
          </a:p>
          <a:p>
            <a:pPr algn="r" marR="1416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9050" marR="15113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fire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negative,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Obviously,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introducing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describe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perceptrons,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leads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notational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simplifications.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remainder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threshold,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bias.</a:t>
            </a:r>
            <a:endParaRPr sz="850">
              <a:latin typeface="Calibri"/>
              <a:cs typeface="Calibri"/>
            </a:endParaRPr>
          </a:p>
          <a:p>
            <a:pPr algn="just" marL="12700" marR="146685" indent="196215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weighing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decisions.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Another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elementary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logical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think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underlying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computation,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NAND.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suppose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–2,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Here’s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90698" y="2517546"/>
            <a:ext cx="1460500" cy="57785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54287" y="3206173"/>
            <a:ext cx="4385945" cy="10617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7620">
              <a:lnSpc>
                <a:spcPct val="114300"/>
              </a:lnSpc>
              <a:spcBef>
                <a:spcPts val="95"/>
              </a:spcBef>
            </a:pPr>
            <a:r>
              <a:rPr dirty="0" sz="850" spc="50">
                <a:latin typeface="Calibri"/>
                <a:cs typeface="Calibri"/>
              </a:rPr>
              <a:t>Then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see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input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00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produces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output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1,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since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>
                <a:latin typeface="Cambria"/>
                <a:cs typeface="Cambria"/>
              </a:rPr>
              <a:t>−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20">
                <a:latin typeface="Cambria"/>
                <a:cs typeface="Cambria"/>
              </a:rPr>
              <a:t>∗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+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>
                <a:latin typeface="Cambria"/>
                <a:cs typeface="Cambria"/>
              </a:rPr>
              <a:t>−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20">
                <a:latin typeface="Cambria"/>
                <a:cs typeface="Cambria"/>
              </a:rPr>
              <a:t>∗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+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3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60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3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positive.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Here,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I’ve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introduced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mbria"/>
                <a:cs typeface="Cambria"/>
              </a:rPr>
              <a:t>∗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20">
                <a:latin typeface="Calibri"/>
                <a:cs typeface="Calibri"/>
              </a:rPr>
              <a:t>symbol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multiplications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explicit.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Similar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calculations</a:t>
            </a:r>
            <a:r>
              <a:rPr dirty="0" sz="850" spc="10">
                <a:latin typeface="Calibri"/>
                <a:cs typeface="Calibri"/>
              </a:rPr>
              <a:t> show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01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10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1.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11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0,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50">
                <a:latin typeface="Tahoma"/>
                <a:cs typeface="Tahoma"/>
              </a:rPr>
              <a:t>(</a:t>
            </a:r>
            <a:r>
              <a:rPr dirty="0" sz="850" spc="50">
                <a:latin typeface="Cambria"/>
                <a:cs typeface="Cambria"/>
              </a:rPr>
              <a:t>−</a:t>
            </a:r>
            <a:r>
              <a:rPr dirty="0" sz="850" spc="50">
                <a:latin typeface="Calibri"/>
                <a:cs typeface="Calibri"/>
              </a:rPr>
              <a:t>2</a:t>
            </a:r>
            <a:r>
              <a:rPr dirty="0" sz="850" spc="50">
                <a:latin typeface="Tahoma"/>
                <a:cs typeface="Tahoma"/>
              </a:rPr>
              <a:t>)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20">
                <a:latin typeface="Cambria"/>
                <a:cs typeface="Cambria"/>
              </a:rPr>
              <a:t>∗</a:t>
            </a:r>
            <a:r>
              <a:rPr dirty="0" sz="850" spc="-30">
                <a:latin typeface="Cambria"/>
                <a:cs typeface="Cambria"/>
              </a:rPr>
              <a:t>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50">
                <a:latin typeface="Tahoma"/>
                <a:cs typeface="Tahoma"/>
              </a:rPr>
              <a:t>(</a:t>
            </a:r>
            <a:r>
              <a:rPr dirty="0" sz="850" spc="50">
                <a:latin typeface="Cambria"/>
                <a:cs typeface="Cambria"/>
              </a:rPr>
              <a:t>−</a:t>
            </a:r>
            <a:r>
              <a:rPr dirty="0" sz="850" spc="50">
                <a:latin typeface="Calibri"/>
                <a:cs typeface="Calibri"/>
              </a:rPr>
              <a:t>2</a:t>
            </a:r>
            <a:r>
              <a:rPr dirty="0" sz="850" spc="50">
                <a:latin typeface="Tahoma"/>
                <a:cs typeface="Tahoma"/>
              </a:rPr>
              <a:t>)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20">
                <a:latin typeface="Cambria"/>
                <a:cs typeface="Cambria"/>
              </a:rPr>
              <a:t>∗</a:t>
            </a:r>
            <a:r>
              <a:rPr dirty="0" sz="850" spc="-30">
                <a:latin typeface="Cambria"/>
                <a:cs typeface="Cambria"/>
              </a:rPr>
              <a:t>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3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 spc="95">
                <a:latin typeface="Calibri"/>
                <a:cs typeface="Calibri"/>
              </a:rPr>
              <a:t>1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negative.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perceptron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NAND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gate!</a:t>
            </a:r>
            <a:endParaRPr sz="850">
              <a:latin typeface="Calibri"/>
              <a:cs typeface="Calibri"/>
            </a:endParaRPr>
          </a:p>
          <a:p>
            <a:pPr algn="just" marL="25400" marR="27940" indent="189230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NAND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shows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logical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any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logical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NAND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universal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computation,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7296" y="4259278"/>
            <a:ext cx="43484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computation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NAND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gates.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NAND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gates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circuit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745101" y="4322321"/>
            <a:ext cx="1479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430">
                <a:latin typeface="Arial MT"/>
                <a:cs typeface="Arial MT"/>
              </a:rPr>
              <a:t>L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41612" y="4468462"/>
            <a:ext cx="287337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5760" algn="l"/>
                <a:tab pos="2553970" algn="l"/>
                <a:tab pos="2820035" algn="l"/>
              </a:tabLst>
            </a:pP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6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0856" y="4407322"/>
            <a:ext cx="43522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843020" algn="l"/>
              </a:tabLst>
            </a:pP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bits,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204" i="1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30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requires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bitwise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i="1">
                <a:latin typeface="Calibri"/>
                <a:cs typeface="Calibri"/>
              </a:rPr>
              <a:t>	x</a:t>
            </a:r>
            <a:r>
              <a:rPr dirty="0" sz="850" spc="25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well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41896" y="4538504"/>
            <a:ext cx="439674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carry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baseline="-20202" sz="825" spc="29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baseline="-20202" sz="825" spc="29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carry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bitwise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baseline="-20202" sz="825" spc="44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x</a:t>
            </a:r>
            <a:r>
              <a:rPr dirty="0" baseline="-20202" sz="825" spc="75">
                <a:latin typeface="Calibri"/>
                <a:cs typeface="Calibri"/>
              </a:rPr>
              <a:t>2</a:t>
            </a:r>
            <a:r>
              <a:rPr dirty="0" sz="850" spc="5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19173" y="4958550"/>
            <a:ext cx="3028950" cy="914400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1060856" y="5977401"/>
            <a:ext cx="4379595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27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equivalent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replace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NAND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gates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–2,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bottom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NAND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little,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draw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arrows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diagram: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827123" y="6693014"/>
            <a:ext cx="2813050" cy="1250950"/>
          </a:xfrm>
          <a:prstGeom prst="rect">
            <a:avLst/>
          </a:prstGeom>
        </p:spPr>
      </p:pic>
      <p:grpSp>
        <p:nvGrpSpPr>
          <p:cNvPr id="13" name="object 13"/>
          <p:cNvGrpSpPr/>
          <p:nvPr/>
        </p:nvGrpSpPr>
        <p:grpSpPr>
          <a:xfrm>
            <a:off x="5778775" y="863965"/>
            <a:ext cx="344170" cy="457200"/>
            <a:chOff x="5778775" y="863965"/>
            <a:chExt cx="344170" cy="457200"/>
          </a:xfrm>
        </p:grpSpPr>
        <p:sp>
          <p:nvSpPr>
            <p:cNvPr id="14" name="object 14"/>
            <p:cNvSpPr/>
            <p:nvPr/>
          </p:nvSpPr>
          <p:spPr>
            <a:xfrm>
              <a:off x="5781306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68" y="0"/>
                  </a:moveTo>
                  <a:lnTo>
                    <a:pt x="72008" y="0"/>
                  </a:lnTo>
                  <a:lnTo>
                    <a:pt x="43982" y="5657"/>
                  </a:lnTo>
                  <a:lnTo>
                    <a:pt x="21093" y="21088"/>
                  </a:lnTo>
                  <a:lnTo>
                    <a:pt x="5659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9" y="407731"/>
                  </a:lnTo>
                  <a:lnTo>
                    <a:pt x="21093" y="430620"/>
                  </a:lnTo>
                  <a:lnTo>
                    <a:pt x="43982" y="446053"/>
                  </a:lnTo>
                  <a:lnTo>
                    <a:pt x="72008" y="451713"/>
                  </a:lnTo>
                  <a:lnTo>
                    <a:pt x="336168" y="451713"/>
                  </a:lnTo>
                  <a:lnTo>
                    <a:pt x="338696" y="451203"/>
                  </a:lnTo>
                  <a:lnTo>
                    <a:pt x="338696" y="510"/>
                  </a:lnTo>
                  <a:lnTo>
                    <a:pt x="336168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781306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96" y="510"/>
                  </a:moveTo>
                  <a:lnTo>
                    <a:pt x="336168" y="0"/>
                  </a:lnTo>
                  <a:lnTo>
                    <a:pt x="72008" y="0"/>
                  </a:lnTo>
                  <a:lnTo>
                    <a:pt x="43982" y="5657"/>
                  </a:lnTo>
                  <a:lnTo>
                    <a:pt x="21093" y="21088"/>
                  </a:lnTo>
                  <a:lnTo>
                    <a:pt x="5659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9" y="407731"/>
                  </a:lnTo>
                  <a:lnTo>
                    <a:pt x="21093" y="430620"/>
                  </a:lnTo>
                  <a:lnTo>
                    <a:pt x="43982" y="446053"/>
                  </a:lnTo>
                  <a:lnTo>
                    <a:pt x="72008" y="451713"/>
                  </a:lnTo>
                  <a:lnTo>
                    <a:pt x="336168" y="451713"/>
                  </a:lnTo>
                  <a:lnTo>
                    <a:pt x="338696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4962" y="368721"/>
            <a:ext cx="4544060" cy="175513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47015" algn="l"/>
              </a:tabLst>
            </a:pPr>
            <a:r>
              <a:rPr dirty="0" sz="850">
                <a:latin typeface="Calibri"/>
                <a:cs typeface="Calibri"/>
              </a:rPr>
              <a:t>6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3398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84785" marR="5080" indent="-635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One notable aspect of this network of perceptrons is that the output from the leftmost </a:t>
            </a:r>
            <a:r>
              <a:rPr dirty="0" sz="850" spc="-20">
                <a:latin typeface="Calibri"/>
                <a:cs typeface="Calibri"/>
              </a:rPr>
              <a:t>per-</a:t>
            </a:r>
            <a:r>
              <a:rPr dirty="0" sz="850">
                <a:latin typeface="Calibri"/>
                <a:cs typeface="Calibri"/>
              </a:rPr>
              <a:t>ceptron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twice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bottommost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double-output-to-the-same-place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allowed.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Actu-</a:t>
            </a:r>
            <a:r>
              <a:rPr dirty="0" sz="850">
                <a:latin typeface="Calibri"/>
                <a:cs typeface="Calibri"/>
              </a:rPr>
              <a:t>ally,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matter.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possible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merge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–4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two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–2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(If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yourself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equivalent.)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follows,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unmarked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–2,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3,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–4,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marked: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67129" y="2273338"/>
            <a:ext cx="2813050" cy="125095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81901" y="3678651"/>
            <a:ext cx="439674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drawing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baseline="-20202" sz="825" spc="41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baseline="-20202" sz="825" spc="41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floating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left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conventional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draw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encode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00454" y="4298086"/>
            <a:ext cx="2901950" cy="1250950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702384" y="5720247"/>
            <a:ext cx="381507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inputs,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543454" y="5988672"/>
            <a:ext cx="673100" cy="254000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707301" y="6375770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shorthand.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suppose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820553" y="6430291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914677" y="6594223"/>
            <a:ext cx="3378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3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0852" y="6523814"/>
            <a:ext cx="43522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298825" algn="l"/>
              </a:tabLst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sum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7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60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75452" y="6654997"/>
            <a:ext cx="4429125" cy="13620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53340" indent="635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zero,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&gt;</a:t>
            </a:r>
            <a:r>
              <a:rPr dirty="0" sz="850" spc="4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195">
                <a:latin typeface="Cambria"/>
                <a:cs typeface="Cambria"/>
              </a:rPr>
              <a:t>≤</a:t>
            </a:r>
            <a:r>
              <a:rPr dirty="0" sz="850" spc="6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fixed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90">
                <a:latin typeface="Calibri"/>
                <a:cs typeface="Calibri"/>
              </a:rPr>
              <a:t>(</a:t>
            </a:r>
            <a:r>
              <a:rPr dirty="0" sz="850" spc="90" i="1">
                <a:latin typeface="Calibri"/>
                <a:cs typeface="Calibri"/>
              </a:rPr>
              <a:t>x</a:t>
            </a:r>
            <a:r>
              <a:rPr dirty="0" baseline="-20202" sz="825" spc="135">
                <a:latin typeface="Calibri"/>
                <a:cs typeface="Calibri"/>
              </a:rPr>
              <a:t>1</a:t>
            </a:r>
            <a:r>
              <a:rPr dirty="0" sz="850" spc="90">
                <a:latin typeface="Calibri"/>
                <a:cs typeface="Calibri"/>
              </a:rPr>
              <a:t>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above).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rather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special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44450" marR="33655" indent="189230">
              <a:lnSpc>
                <a:spcPct val="114300"/>
              </a:lnSpc>
              <a:spcBef>
                <a:spcPts val="1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demonstrates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simulate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circuit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containing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NAND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gates.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NAND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gates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computation,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computation.</a:t>
            </a:r>
            <a:endParaRPr sz="850">
              <a:latin typeface="Calibri"/>
              <a:cs typeface="Calibri"/>
            </a:endParaRPr>
          </a:p>
          <a:p>
            <a:pPr algn="just" marL="44450" marR="30480" indent="189230">
              <a:lnSpc>
                <a:spcPct val="114300"/>
              </a:lnSpc>
              <a:spcBef>
                <a:spcPts val="15"/>
              </a:spcBef>
            </a:pPr>
            <a:r>
              <a:rPr dirty="0" sz="850" spc="20">
                <a:latin typeface="Calibri"/>
                <a:cs typeface="Calibri"/>
              </a:rPr>
              <a:t>The computational universality of perceptrons is simultaneously reassuring and </a:t>
            </a:r>
            <a:r>
              <a:rPr dirty="0" sz="850" spc="-10">
                <a:latin typeface="Calibri"/>
                <a:cs typeface="Calibri"/>
              </a:rPr>
              <a:t>disap-</a:t>
            </a:r>
            <a:r>
              <a:rPr dirty="0" sz="850">
                <a:latin typeface="Calibri"/>
                <a:cs typeface="Calibri"/>
              </a:rPr>
              <a:t>pointing.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reassuring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14" name="object 14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96" y="368721"/>
            <a:ext cx="4491990" cy="20510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5080">
              <a:lnSpc>
                <a:spcPts val="525"/>
              </a:lnSpc>
              <a:spcBef>
                <a:spcPts val="110"/>
              </a:spcBef>
              <a:tabLst>
                <a:tab pos="1221740" algn="l"/>
              </a:tabLst>
            </a:pPr>
            <a:r>
              <a:rPr dirty="0" sz="850" spc="20">
                <a:latin typeface="Calibri"/>
                <a:cs typeface="Calibri"/>
              </a:rPr>
              <a:t>1.2.</a:t>
            </a:r>
            <a:r>
              <a:rPr dirty="0" sz="850" spc="4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</a:t>
            </a:r>
            <a:r>
              <a:rPr dirty="0" sz="850">
                <a:latin typeface="Calibri"/>
                <a:cs typeface="Calibri"/>
              </a:rPr>
              <a:t>	7</a:t>
            </a:r>
            <a:endParaRPr sz="850">
              <a:latin typeface="Calibri"/>
              <a:cs typeface="Calibri"/>
            </a:endParaRPr>
          </a:p>
          <a:p>
            <a:pPr algn="r" marR="1416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2700" marR="15113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device.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disappointing,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though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merely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type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NAND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gate.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news!</a:t>
            </a:r>
            <a:endParaRPr sz="850">
              <a:latin typeface="Calibri"/>
              <a:cs typeface="Calibri"/>
            </a:endParaRPr>
          </a:p>
          <a:p>
            <a:pPr algn="just" marL="12700" marR="12827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situation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devise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automatically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tune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tuning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response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external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stimuli,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without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direct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intervention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programmer.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enable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artificial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radically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conventional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logic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gates.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circuit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NAND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gates,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extremely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conventional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circuit.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0856" y="2620941"/>
            <a:ext cx="4354830" cy="1795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  <a:tabLst>
                <a:tab pos="346075" algn="l"/>
              </a:tabLst>
            </a:pPr>
            <a:r>
              <a:rPr dirty="0" sz="1050" spc="30" b="1">
                <a:latin typeface="Calibri"/>
                <a:cs typeface="Calibri"/>
              </a:rPr>
              <a:t>1.2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70" b="1">
                <a:latin typeface="Calibri"/>
                <a:cs typeface="Calibri"/>
              </a:rPr>
              <a:t>Sigmoid</a:t>
            </a:r>
            <a:r>
              <a:rPr dirty="0" sz="1050" spc="65" b="1">
                <a:latin typeface="Calibri"/>
                <a:cs typeface="Calibri"/>
              </a:rPr>
              <a:t> </a:t>
            </a:r>
            <a:r>
              <a:rPr dirty="0" sz="1050" spc="45" b="1">
                <a:latin typeface="Calibri"/>
                <a:cs typeface="Calibri"/>
              </a:rPr>
              <a:t>neurons</a:t>
            </a:r>
            <a:endParaRPr sz="1050">
              <a:latin typeface="Calibri"/>
              <a:cs typeface="Calibri"/>
            </a:endParaRPr>
          </a:p>
          <a:p>
            <a:pPr algn="just" marL="12700" marR="5080" indent="6350">
              <a:lnSpc>
                <a:spcPct val="114300"/>
              </a:lnSpc>
              <a:spcBef>
                <a:spcPts val="1020"/>
              </a:spcBef>
            </a:pP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sound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terrific.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devise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network?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solve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raw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scanned,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What</a:t>
            </a:r>
            <a:r>
              <a:rPr dirty="0" sz="850" spc="20">
                <a:latin typeface="Calibri"/>
                <a:cs typeface="Calibri"/>
              </a:rPr>
              <a:t> we’d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property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20">
                <a:latin typeface="Calibri"/>
                <a:cs typeface="Calibri"/>
              </a:rPr>
              <a:t> possible.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Schematically,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here’s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(obviously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do</a:t>
            </a:r>
            <a:r>
              <a:rPr dirty="0" sz="850" spc="20">
                <a:latin typeface="Calibri"/>
                <a:cs typeface="Calibri"/>
              </a:rPr>
              <a:t> handwriting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recognition!):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93773" y="4567351"/>
            <a:ext cx="3048000" cy="167640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062052" y="6362847"/>
            <a:ext cx="4378325" cy="16541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bias)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modify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behave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manner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mistakenly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classifying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“8”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“9”.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closer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classifying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“9”.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repeat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learning.</a:t>
            </a:r>
            <a:endParaRPr sz="850">
              <a:latin typeface="Calibri"/>
              <a:cs typeface="Calibri"/>
            </a:endParaRPr>
          </a:p>
          <a:p>
            <a:pPr algn="just" marL="17780" marR="5080" indent="189230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perceptrons.</a:t>
            </a:r>
            <a:r>
              <a:rPr dirty="0" sz="850" spc="55">
                <a:latin typeface="Calibri"/>
                <a:cs typeface="Calibri"/>
              </a:rPr>
              <a:t> 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flip,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flip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completely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7" name="object 7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4962" y="368721"/>
            <a:ext cx="4544060" cy="236791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47015" algn="l"/>
              </a:tabLst>
            </a:pPr>
            <a:r>
              <a:rPr dirty="0" sz="850">
                <a:latin typeface="Calibri"/>
                <a:cs typeface="Calibri"/>
              </a:rPr>
              <a:t>8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3398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84785" marR="5080" indent="-444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complicated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“9”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correctly,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 network on all the other images is likely to have completely changed in some hard-</a:t>
            </a:r>
            <a:r>
              <a:rPr dirty="0" sz="850" spc="-25">
                <a:latin typeface="Calibri"/>
                <a:cs typeface="Calibri"/>
              </a:rPr>
              <a:t>to-</a:t>
            </a:r>
            <a:r>
              <a:rPr dirty="0" sz="850" spc="10">
                <a:latin typeface="Calibri"/>
                <a:cs typeface="Calibri"/>
              </a:rPr>
              <a:t>control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gradually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clever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around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immediately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learn.</a:t>
            </a:r>
            <a:endParaRPr sz="850">
              <a:latin typeface="Calibri"/>
              <a:cs typeface="Calibri"/>
            </a:endParaRPr>
          </a:p>
          <a:p>
            <a:pPr algn="just" marL="184785" marR="31115" indent="189230">
              <a:lnSpc>
                <a:spcPct val="114300"/>
              </a:lnSpc>
              <a:spcBef>
                <a:spcPts val="80"/>
              </a:spcBef>
            </a:pP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overcome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introducing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type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artificial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called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Sigmoid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modified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small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crucial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allow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learn.</a:t>
            </a:r>
            <a:endParaRPr sz="850">
              <a:latin typeface="Calibri"/>
              <a:cs typeface="Calibri"/>
            </a:endParaRPr>
          </a:p>
          <a:p>
            <a:pPr algn="just" marL="178435" marR="26670" indent="196215">
              <a:lnSpc>
                <a:spcPct val="114300"/>
              </a:lnSpc>
              <a:spcBef>
                <a:spcPts val="80"/>
              </a:spcBef>
            </a:pPr>
            <a:r>
              <a:rPr dirty="0" sz="850">
                <a:latin typeface="Calibri"/>
                <a:cs typeface="Calibri"/>
              </a:rPr>
              <a:t>Okay,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depict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depicted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35454" y="2919501"/>
            <a:ext cx="1682750" cy="800100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2880283" y="4921427"/>
            <a:ext cx="328930" cy="0"/>
          </a:xfrm>
          <a:custGeom>
            <a:avLst/>
            <a:gdLst/>
            <a:ahLst/>
            <a:cxnLst/>
            <a:rect l="l" t="t" r="r" b="b"/>
            <a:pathLst>
              <a:path w="328930" h="0">
                <a:moveTo>
                  <a:pt x="0" y="0"/>
                </a:moveTo>
                <a:lnTo>
                  <a:pt x="32848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50052" y="3899008"/>
            <a:ext cx="4476750" cy="15132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5405" marR="78105" indent="-3175">
              <a:lnSpc>
                <a:spcPct val="114300"/>
              </a:lnSpc>
              <a:spcBef>
                <a:spcPts val="95"/>
              </a:spcBef>
            </a:pPr>
            <a:r>
              <a:rPr dirty="0" sz="850" spc="30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like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perceptron,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sigmoid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has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0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1,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these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15">
                <a:latin typeface="Calibri"/>
                <a:cs typeface="Calibri"/>
              </a:rPr>
              <a:t> can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0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1.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So,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0.638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15">
                <a:latin typeface="Calibri"/>
                <a:cs typeface="Calibri"/>
              </a:rPr>
              <a:t> is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valid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input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neuron.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just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like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perceptron,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neuron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weights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input,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>
                <a:latin typeface="Calibri"/>
                <a:cs typeface="Calibri"/>
              </a:rPr>
              <a:t>1</a:t>
            </a:r>
            <a:r>
              <a:rPr dirty="0" sz="850" spc="40">
                <a:latin typeface="Calibri"/>
                <a:cs typeface="Calibri"/>
              </a:rPr>
              <a:t>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>
                <a:latin typeface="Calibri"/>
                <a:cs typeface="Calibri"/>
              </a:rPr>
              <a:t>2</a:t>
            </a:r>
            <a:r>
              <a:rPr dirty="0" sz="850" spc="40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overall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bias,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But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not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1.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Instead,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it’s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wx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spc="15" i="1">
                <a:latin typeface="Calibri"/>
                <a:cs typeface="Calibri"/>
              </a:rPr>
              <a:t>b</a:t>
            </a:r>
            <a:r>
              <a:rPr dirty="0" sz="850" spc="15">
                <a:latin typeface="Tahoma"/>
                <a:cs typeface="Tahoma"/>
              </a:rPr>
              <a:t>)</a:t>
            </a:r>
            <a:r>
              <a:rPr dirty="0" sz="850" spc="15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40" i="1">
                <a:latin typeface="Times New Roman"/>
                <a:cs typeface="Times New Roman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called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sigmoid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function</a:t>
            </a:r>
            <a:r>
              <a:rPr dirty="0" baseline="35353" sz="825" spc="44">
                <a:latin typeface="Calibri"/>
                <a:cs typeface="Calibri"/>
                <a:hlinkClick r:id="rId3" action="ppaction://hlinksldjump"/>
              </a:rPr>
              <a:t>1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defined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by:</a:t>
            </a:r>
            <a:endParaRPr sz="850">
              <a:latin typeface="Calibri"/>
              <a:cs typeface="Calibri"/>
            </a:endParaRPr>
          </a:p>
          <a:p>
            <a:pPr algn="ctr" marL="312420">
              <a:lnSpc>
                <a:spcPts val="815"/>
              </a:lnSpc>
              <a:spcBef>
                <a:spcPts val="92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 marL="1855470">
              <a:lnSpc>
                <a:spcPts val="815"/>
              </a:lnSpc>
              <a:tabLst>
                <a:tab pos="4146550" algn="l"/>
              </a:tabLst>
            </a:pP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z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>
                <a:latin typeface="Cambria"/>
                <a:cs typeface="Cambria"/>
              </a:rPr>
              <a:t>≡</a:t>
            </a:r>
            <a:r>
              <a:rPr dirty="0" sz="850" spc="190">
                <a:latin typeface="Cambria"/>
                <a:cs typeface="Cambria"/>
              </a:rPr>
              <a:t> </a:t>
            </a:r>
            <a:r>
              <a:rPr dirty="0" baseline="-42483" sz="1275" spc="75">
                <a:latin typeface="Calibri"/>
                <a:cs typeface="Calibri"/>
              </a:rPr>
              <a:t>1</a:t>
            </a:r>
            <a:r>
              <a:rPr dirty="0" baseline="-42483" sz="1275" spc="-15">
                <a:latin typeface="Calibri"/>
                <a:cs typeface="Calibri"/>
              </a:rPr>
              <a:t> </a:t>
            </a:r>
            <a:r>
              <a:rPr dirty="0" baseline="-42483" sz="1275">
                <a:latin typeface="Tahoma"/>
                <a:cs typeface="Tahoma"/>
              </a:rPr>
              <a:t>+</a:t>
            </a:r>
            <a:r>
              <a:rPr dirty="0" baseline="-42483" sz="1275" spc="-75">
                <a:latin typeface="Tahoma"/>
                <a:cs typeface="Tahoma"/>
              </a:rPr>
              <a:t> </a:t>
            </a:r>
            <a:r>
              <a:rPr dirty="0" baseline="-42483" sz="1275" i="1">
                <a:latin typeface="Calibri"/>
                <a:cs typeface="Calibri"/>
              </a:rPr>
              <a:t>e</a:t>
            </a:r>
            <a:r>
              <a:rPr dirty="0" baseline="-40404" sz="825">
                <a:latin typeface="Cambria"/>
                <a:cs typeface="Cambria"/>
              </a:rPr>
              <a:t>−</a:t>
            </a:r>
            <a:r>
              <a:rPr dirty="0" baseline="-40404" sz="825" i="1">
                <a:latin typeface="Calibri"/>
                <a:cs typeface="Calibri"/>
              </a:rPr>
              <a:t>z</a:t>
            </a:r>
            <a:r>
              <a:rPr dirty="0" baseline="-40404" sz="825" spc="157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(1.3)</a:t>
            </a:r>
            <a:endParaRPr sz="850">
              <a:latin typeface="Calibri"/>
              <a:cs typeface="Calibri"/>
            </a:endParaRPr>
          </a:p>
          <a:p>
            <a:pPr algn="just" marL="63500" marR="55880" indent="1270">
              <a:lnSpc>
                <a:spcPct val="114300"/>
              </a:lnSpc>
              <a:spcBef>
                <a:spcPts val="1010"/>
              </a:spcBef>
            </a:pP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little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explicitly,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output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sigmoid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neuron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with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inputs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baseline="-20202" sz="825" spc="104">
                <a:latin typeface="Calibri"/>
                <a:cs typeface="Calibri"/>
              </a:rPr>
              <a:t>1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baseline="-20202" sz="825" spc="104">
                <a:latin typeface="Calibri"/>
                <a:cs typeface="Calibri"/>
              </a:rPr>
              <a:t>2</a:t>
            </a:r>
            <a:r>
              <a:rPr dirty="0" sz="850" spc="70">
                <a:latin typeface="Calibri"/>
                <a:cs typeface="Calibri"/>
              </a:rPr>
              <a:t>,.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.,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>
                <a:latin typeface="Calibri"/>
                <a:cs typeface="Calibri"/>
              </a:rPr>
              <a:t>1</a:t>
            </a:r>
            <a:r>
              <a:rPr dirty="0" sz="850" spc="40">
                <a:latin typeface="Calibri"/>
                <a:cs typeface="Calibri"/>
              </a:rPr>
              <a:t>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>
                <a:latin typeface="Calibri"/>
                <a:cs typeface="Calibri"/>
              </a:rPr>
              <a:t>2</a:t>
            </a:r>
            <a:r>
              <a:rPr dirty="0" sz="850" spc="40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5" i="1">
                <a:latin typeface="Calibri"/>
                <a:cs typeface="Calibri"/>
              </a:rPr>
              <a:t>b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290991" y="5700293"/>
            <a:ext cx="1148080" cy="0"/>
          </a:xfrm>
          <a:custGeom>
            <a:avLst/>
            <a:gdLst/>
            <a:ahLst/>
            <a:cxnLst/>
            <a:rect l="l" t="t" r="r" b="b"/>
            <a:pathLst>
              <a:path w="1148079" h="0">
                <a:moveTo>
                  <a:pt x="0" y="0"/>
                </a:moveTo>
                <a:lnTo>
                  <a:pt x="114763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2252891" y="5472381"/>
            <a:ext cx="1223645" cy="408940"/>
          </a:xfrm>
          <a:prstGeom prst="rect">
            <a:avLst/>
          </a:prstGeom>
        </p:spPr>
        <p:txBody>
          <a:bodyPr wrap="square" lIns="0" tIns="7429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585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490"/>
              </a:spcBef>
            </a:pP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8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exp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baseline="58823" sz="1275" spc="82">
                <a:latin typeface="Arial MT"/>
                <a:cs typeface="Arial MT"/>
              </a:rPr>
              <a:t></a:t>
            </a:r>
            <a:r>
              <a:rPr dirty="0" sz="850" spc="55">
                <a:latin typeface="Cambria"/>
                <a:cs typeface="Cambria"/>
              </a:rPr>
              <a:t>−</a:t>
            </a:r>
            <a:r>
              <a:rPr dirty="0" baseline="49019" sz="1275" spc="82">
                <a:latin typeface="Arial MT"/>
                <a:cs typeface="Arial MT"/>
              </a:rPr>
              <a:t>P</a:t>
            </a:r>
            <a:r>
              <a:rPr dirty="0" baseline="-25252" sz="825" spc="82" i="1">
                <a:latin typeface="Calibri"/>
                <a:cs typeface="Calibri"/>
              </a:rPr>
              <a:t>j</a:t>
            </a:r>
            <a:r>
              <a:rPr dirty="0" baseline="-25252" sz="825" spc="187" i="1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52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-65" i="1">
                <a:latin typeface="Calibri"/>
                <a:cs typeface="Calibri"/>
              </a:rPr>
              <a:t> </a:t>
            </a:r>
            <a:r>
              <a:rPr dirty="0" baseline="-20202" sz="825" i="1">
                <a:latin typeface="Calibri"/>
                <a:cs typeface="Calibri"/>
              </a:rPr>
              <a:t>j</a:t>
            </a:r>
            <a:r>
              <a:rPr dirty="0" baseline="-20202" sz="825" spc="209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70">
                <a:latin typeface="Cambria"/>
                <a:cs typeface="Cambri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b</a:t>
            </a:r>
            <a:r>
              <a:rPr dirty="0" baseline="58823" sz="1275" spc="-37">
                <a:latin typeface="Arial MT"/>
                <a:cs typeface="Arial MT"/>
              </a:rPr>
              <a:t></a:t>
            </a:r>
            <a:endParaRPr baseline="58823" sz="1275">
              <a:latin typeface="Arial MT"/>
              <a:cs typeface="Arial M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41105" y="5609859"/>
            <a:ext cx="558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784199" y="5609859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(1.4)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720001" y="765438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643801" y="6027160"/>
            <a:ext cx="4472940" cy="19875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67945" indent="-571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sight,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appear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algebraic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opaque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forbidding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you’re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already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familiar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20">
                <a:latin typeface="Calibri"/>
                <a:cs typeface="Calibri"/>
              </a:rPr>
              <a:t> it.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similarities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between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perceptrons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algebraic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technical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true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barrier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understanding.</a:t>
            </a:r>
            <a:endParaRPr sz="850">
              <a:latin typeface="Calibri"/>
              <a:cs typeface="Calibri"/>
            </a:endParaRPr>
          </a:p>
          <a:p>
            <a:pPr algn="just" marL="76200" marR="67945" indent="189230">
              <a:lnSpc>
                <a:spcPct val="114300"/>
              </a:lnSpc>
              <a:spcBef>
                <a:spcPts val="80"/>
              </a:spcBef>
            </a:pP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similarity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perceptron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model,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z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spc="20">
                <a:latin typeface="Cambria"/>
                <a:cs typeface="Cambria"/>
              </a:rPr>
              <a:t>≡</a:t>
            </a:r>
            <a:r>
              <a:rPr dirty="0" sz="850" spc="60">
                <a:latin typeface="Cambria"/>
                <a:cs typeface="Cambria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-20" i="1">
                <a:latin typeface="Calibri"/>
                <a:cs typeface="Calibri"/>
              </a:rPr>
              <a:t> </a:t>
            </a:r>
            <a:r>
              <a:rPr dirty="0" sz="850" spc="20">
                <a:latin typeface="Cambria"/>
                <a:cs typeface="Cambria"/>
              </a:rPr>
              <a:t>·</a:t>
            </a:r>
            <a:r>
              <a:rPr dirty="0" sz="850" spc="60">
                <a:latin typeface="Cambria"/>
                <a:cs typeface="Cambria"/>
              </a:rPr>
              <a:t> </a:t>
            </a:r>
            <a:r>
              <a:rPr dirty="0" sz="850" spc="20" i="1">
                <a:latin typeface="Calibri"/>
                <a:cs typeface="Calibri"/>
              </a:rPr>
              <a:t>x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+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large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</a:t>
            </a:r>
            <a:r>
              <a:rPr dirty="0" baseline="35353" sz="825">
                <a:latin typeface="Cambria"/>
                <a:cs typeface="Cambria"/>
              </a:rPr>
              <a:t>−</a:t>
            </a:r>
            <a:r>
              <a:rPr dirty="0" baseline="35353" sz="825" i="1">
                <a:latin typeface="Calibri"/>
                <a:cs typeface="Calibri"/>
              </a:rPr>
              <a:t>z</a:t>
            </a:r>
            <a:r>
              <a:rPr dirty="0" baseline="35353" sz="825" spc="330" i="1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6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z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6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words,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8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1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large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positive,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approximately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9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1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negative.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</a:t>
            </a:r>
            <a:r>
              <a:rPr dirty="0" baseline="35353" sz="825">
                <a:latin typeface="Cambria"/>
                <a:cs typeface="Cambria"/>
              </a:rPr>
              <a:t>−</a:t>
            </a:r>
            <a:r>
              <a:rPr dirty="0" baseline="35353" sz="825" i="1">
                <a:latin typeface="Calibri"/>
                <a:cs typeface="Calibri"/>
              </a:rPr>
              <a:t>z</a:t>
            </a:r>
            <a:r>
              <a:rPr dirty="0" baseline="35353" sz="825" spc="30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55">
                <a:latin typeface="Cambria"/>
                <a:cs typeface="Cambria"/>
              </a:rPr>
              <a:t> </a:t>
            </a:r>
            <a:r>
              <a:rPr dirty="0" sz="850" spc="210">
                <a:latin typeface="Cambria"/>
                <a:cs typeface="Cambria"/>
              </a:rPr>
              <a:t>∞</a:t>
            </a:r>
            <a:r>
              <a:rPr dirty="0" sz="850" spc="21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z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5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5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negative,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sigmoid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85"/>
              </a:spcBef>
            </a:pPr>
            <a:endParaRPr sz="850">
              <a:latin typeface="Calibri"/>
              <a:cs typeface="Calibri"/>
            </a:endParaRPr>
          </a:p>
          <a:p>
            <a:pPr algn="just" marL="69850" marR="67945" indent="133350">
              <a:lnSpc>
                <a:spcPts val="800"/>
              </a:lnSpc>
              <a:spcBef>
                <a:spcPts val="5"/>
              </a:spcBef>
            </a:pPr>
            <a:r>
              <a:rPr dirty="0" baseline="30303" sz="825" spc="15">
                <a:latin typeface="Calibri"/>
                <a:cs typeface="Calibri"/>
              </a:rPr>
              <a:t>1</a:t>
            </a:r>
            <a:r>
              <a:rPr dirty="0" sz="750" spc="10">
                <a:latin typeface="Calibri"/>
                <a:cs typeface="Calibri"/>
              </a:rPr>
              <a:t>Incidentally,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90" i="1">
                <a:latin typeface="Times New Roman"/>
                <a:cs typeface="Times New Roman"/>
              </a:rPr>
              <a:t>σ</a:t>
            </a:r>
            <a:r>
              <a:rPr dirty="0" sz="750" spc="70" i="1">
                <a:latin typeface="Times New Roman"/>
                <a:cs typeface="Times New Roman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sometimes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called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logistic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function,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new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class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neurons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called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logistic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neurons.</a:t>
            </a:r>
            <a:r>
              <a:rPr dirty="0" sz="750" spc="2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It’s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useful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remember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terminology,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since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these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terms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are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many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people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working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with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neural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nets.</a:t>
            </a:r>
            <a:r>
              <a:rPr dirty="0" sz="750" spc="2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However,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we’ll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stick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with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sigmoid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terminology.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13" name="object 13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250588" y="368721"/>
            <a:ext cx="130873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234440" algn="l"/>
              </a:tabLst>
            </a:pPr>
            <a:r>
              <a:rPr dirty="0" sz="850" spc="20">
                <a:latin typeface="Calibri"/>
                <a:cs typeface="Calibri"/>
              </a:rPr>
              <a:t>1.2.</a:t>
            </a:r>
            <a:r>
              <a:rPr dirty="0" sz="850" spc="4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</a:t>
            </a:r>
            <a:r>
              <a:rPr dirty="0" sz="850">
                <a:latin typeface="Calibri"/>
                <a:cs typeface="Calibri"/>
              </a:rPr>
              <a:t>	9</a:t>
            </a:r>
            <a:endParaRPr sz="850">
              <a:latin typeface="Calibri"/>
              <a:cs typeface="Calibri"/>
            </a:endParaRPr>
          </a:p>
          <a:p>
            <a:pPr algn="r" marR="1416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7296" y="930569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neuron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closely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perceptron.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sz="850" spc="-5" i="1">
                <a:latin typeface="Calibri"/>
                <a:cs typeface="Calibri"/>
              </a:rPr>
              <a:t> </a:t>
            </a:r>
            <a:r>
              <a:rPr dirty="0" sz="850" spc="20">
                <a:latin typeface="Cambria"/>
                <a:cs typeface="Cambria"/>
              </a:rPr>
              <a:t>·</a:t>
            </a:r>
            <a:r>
              <a:rPr dirty="0" sz="850" spc="75">
                <a:latin typeface="Cambria"/>
                <a:cs typeface="Cambria"/>
              </a:rPr>
              <a:t> </a:t>
            </a:r>
            <a:r>
              <a:rPr dirty="0" sz="850" spc="20" i="1">
                <a:latin typeface="Calibri"/>
                <a:cs typeface="Calibri"/>
              </a:rPr>
              <a:t>x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+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size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7296" y="1053281"/>
            <a:ext cx="4373245" cy="635000"/>
          </a:xfrm>
          <a:prstGeom prst="rect">
            <a:avLst/>
          </a:prstGeom>
        </p:spPr>
        <p:txBody>
          <a:bodyPr wrap="square" lIns="0" tIns="3937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10"/>
              </a:spcBef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deviation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model.</a:t>
            </a:r>
            <a:endParaRPr sz="850">
              <a:latin typeface="Calibri"/>
              <a:cs typeface="Calibri"/>
            </a:endParaRPr>
          </a:p>
          <a:p>
            <a:pPr algn="just" marL="12700" marR="5080" indent="189230">
              <a:lnSpc>
                <a:spcPct val="114300"/>
              </a:lnSpc>
              <a:spcBef>
                <a:spcPts val="65"/>
              </a:spcBef>
            </a:pP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algebraic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sz="850" spc="125">
                <a:latin typeface="Calibri"/>
                <a:cs typeface="Calibri"/>
              </a:rPr>
              <a:t>?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that?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exact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0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important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matters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shape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plotted.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shape: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373122" y="2017267"/>
            <a:ext cx="1854200" cy="1541145"/>
            <a:chOff x="2373122" y="2017267"/>
            <a:chExt cx="1854200" cy="1541145"/>
          </a:xfrm>
        </p:grpSpPr>
        <p:sp>
          <p:nvSpPr>
            <p:cNvPr id="6" name="object 6"/>
            <p:cNvSpPr/>
            <p:nvPr/>
          </p:nvSpPr>
          <p:spPr>
            <a:xfrm>
              <a:off x="2375039" y="2019172"/>
              <a:ext cx="1850389" cy="1537335"/>
            </a:xfrm>
            <a:custGeom>
              <a:avLst/>
              <a:gdLst/>
              <a:ahLst/>
              <a:cxnLst/>
              <a:rect l="l" t="t" r="r" b="b"/>
              <a:pathLst>
                <a:path w="1850389" h="1537335">
                  <a:moveTo>
                    <a:pt x="0" y="1537220"/>
                  </a:moveTo>
                  <a:lnTo>
                    <a:pt x="0" y="1496733"/>
                  </a:lnTo>
                </a:path>
                <a:path w="1850389" h="1537335">
                  <a:moveTo>
                    <a:pt x="308394" y="1537220"/>
                  </a:moveTo>
                  <a:lnTo>
                    <a:pt x="308394" y="1496733"/>
                  </a:lnTo>
                </a:path>
                <a:path w="1850389" h="1537335">
                  <a:moveTo>
                    <a:pt x="616788" y="1537220"/>
                  </a:moveTo>
                  <a:lnTo>
                    <a:pt x="616788" y="1496733"/>
                  </a:lnTo>
                </a:path>
                <a:path w="1850389" h="1537335">
                  <a:moveTo>
                    <a:pt x="925169" y="1537220"/>
                  </a:moveTo>
                  <a:lnTo>
                    <a:pt x="925169" y="1496733"/>
                  </a:lnTo>
                </a:path>
                <a:path w="1850389" h="1537335">
                  <a:moveTo>
                    <a:pt x="1233563" y="1537220"/>
                  </a:moveTo>
                  <a:lnTo>
                    <a:pt x="1233563" y="1496733"/>
                  </a:lnTo>
                </a:path>
                <a:path w="1850389" h="1537335">
                  <a:moveTo>
                    <a:pt x="1541957" y="1537220"/>
                  </a:moveTo>
                  <a:lnTo>
                    <a:pt x="1541957" y="1496733"/>
                  </a:lnTo>
                </a:path>
                <a:path w="1850389" h="1537335">
                  <a:moveTo>
                    <a:pt x="1850351" y="1537220"/>
                  </a:moveTo>
                  <a:lnTo>
                    <a:pt x="1850351" y="1496733"/>
                  </a:lnTo>
                </a:path>
                <a:path w="1850389" h="1537335">
                  <a:moveTo>
                    <a:pt x="0" y="0"/>
                  </a:moveTo>
                  <a:lnTo>
                    <a:pt x="0" y="40500"/>
                  </a:lnTo>
                </a:path>
                <a:path w="1850389" h="1537335">
                  <a:moveTo>
                    <a:pt x="308394" y="0"/>
                  </a:moveTo>
                  <a:lnTo>
                    <a:pt x="308394" y="40500"/>
                  </a:lnTo>
                </a:path>
                <a:path w="1850389" h="1537335">
                  <a:moveTo>
                    <a:pt x="616788" y="0"/>
                  </a:moveTo>
                  <a:lnTo>
                    <a:pt x="616788" y="40500"/>
                  </a:lnTo>
                </a:path>
                <a:path w="1850389" h="1537335">
                  <a:moveTo>
                    <a:pt x="925169" y="0"/>
                  </a:moveTo>
                  <a:lnTo>
                    <a:pt x="925169" y="40500"/>
                  </a:lnTo>
                </a:path>
                <a:path w="1850389" h="1537335">
                  <a:moveTo>
                    <a:pt x="1233563" y="0"/>
                  </a:moveTo>
                  <a:lnTo>
                    <a:pt x="1233563" y="40500"/>
                  </a:lnTo>
                </a:path>
                <a:path w="1850389" h="1537335">
                  <a:moveTo>
                    <a:pt x="1541957" y="0"/>
                  </a:moveTo>
                  <a:lnTo>
                    <a:pt x="1541957" y="40500"/>
                  </a:lnTo>
                </a:path>
                <a:path w="1850389" h="1537335">
                  <a:moveTo>
                    <a:pt x="1850351" y="0"/>
                  </a:moveTo>
                  <a:lnTo>
                    <a:pt x="1850351" y="4050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375027" y="2138565"/>
              <a:ext cx="1850389" cy="1298575"/>
            </a:xfrm>
            <a:custGeom>
              <a:avLst/>
              <a:gdLst/>
              <a:ahLst/>
              <a:cxnLst/>
              <a:rect l="l" t="t" r="r" b="b"/>
              <a:pathLst>
                <a:path w="1850389" h="1298575">
                  <a:moveTo>
                    <a:pt x="0" y="1298422"/>
                  </a:moveTo>
                  <a:lnTo>
                    <a:pt x="40500" y="1298422"/>
                  </a:lnTo>
                </a:path>
                <a:path w="1850389" h="1298575">
                  <a:moveTo>
                    <a:pt x="0" y="1038733"/>
                  </a:moveTo>
                  <a:lnTo>
                    <a:pt x="40500" y="1038733"/>
                  </a:lnTo>
                </a:path>
                <a:path w="1850389" h="1298575">
                  <a:moveTo>
                    <a:pt x="0" y="779056"/>
                  </a:moveTo>
                  <a:lnTo>
                    <a:pt x="40500" y="779056"/>
                  </a:lnTo>
                </a:path>
                <a:path w="1850389" h="1298575">
                  <a:moveTo>
                    <a:pt x="0" y="519366"/>
                  </a:moveTo>
                  <a:lnTo>
                    <a:pt x="40500" y="519366"/>
                  </a:lnTo>
                </a:path>
                <a:path w="1850389" h="1298575">
                  <a:moveTo>
                    <a:pt x="0" y="259689"/>
                  </a:moveTo>
                  <a:lnTo>
                    <a:pt x="40500" y="259689"/>
                  </a:lnTo>
                </a:path>
                <a:path w="1850389" h="1298575">
                  <a:moveTo>
                    <a:pt x="0" y="0"/>
                  </a:moveTo>
                  <a:lnTo>
                    <a:pt x="40500" y="0"/>
                  </a:lnTo>
                </a:path>
                <a:path w="1850389" h="1298575">
                  <a:moveTo>
                    <a:pt x="1850377" y="1298422"/>
                  </a:moveTo>
                  <a:lnTo>
                    <a:pt x="1809877" y="1298422"/>
                  </a:lnTo>
                </a:path>
                <a:path w="1850389" h="1298575">
                  <a:moveTo>
                    <a:pt x="1850377" y="1038733"/>
                  </a:moveTo>
                  <a:lnTo>
                    <a:pt x="1809877" y="1038733"/>
                  </a:lnTo>
                </a:path>
                <a:path w="1850389" h="1298575">
                  <a:moveTo>
                    <a:pt x="1850377" y="779056"/>
                  </a:moveTo>
                  <a:lnTo>
                    <a:pt x="1809877" y="779056"/>
                  </a:lnTo>
                </a:path>
                <a:path w="1850389" h="1298575">
                  <a:moveTo>
                    <a:pt x="1850377" y="519366"/>
                  </a:moveTo>
                  <a:lnTo>
                    <a:pt x="1809877" y="519366"/>
                  </a:lnTo>
                </a:path>
                <a:path w="1850389" h="1298575">
                  <a:moveTo>
                    <a:pt x="1850377" y="259689"/>
                  </a:moveTo>
                  <a:lnTo>
                    <a:pt x="1809877" y="259689"/>
                  </a:lnTo>
                </a:path>
                <a:path w="1850389" h="1298575">
                  <a:moveTo>
                    <a:pt x="1850377" y="0"/>
                  </a:moveTo>
                  <a:lnTo>
                    <a:pt x="1809877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375027" y="2019172"/>
              <a:ext cx="1850389" cy="1537335"/>
            </a:xfrm>
            <a:custGeom>
              <a:avLst/>
              <a:gdLst/>
              <a:ahLst/>
              <a:cxnLst/>
              <a:rect l="l" t="t" r="r" b="b"/>
              <a:pathLst>
                <a:path w="1850389" h="1537335">
                  <a:moveTo>
                    <a:pt x="0" y="1537220"/>
                  </a:moveTo>
                  <a:lnTo>
                    <a:pt x="0" y="0"/>
                  </a:lnTo>
                  <a:lnTo>
                    <a:pt x="1850377" y="0"/>
                  </a:lnTo>
                  <a:lnTo>
                    <a:pt x="1850377" y="1537220"/>
                  </a:lnTo>
                  <a:lnTo>
                    <a:pt x="0" y="1537220"/>
                  </a:lnTo>
                  <a:close/>
                </a:path>
              </a:pathLst>
            </a:custGeom>
            <a:ln w="3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2309571" y="3549423"/>
            <a:ext cx="13144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Calibri"/>
                <a:cs typeface="Calibri"/>
              </a:rPr>
              <a:t>6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617963" y="3546149"/>
            <a:ext cx="13144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Calibri"/>
                <a:cs typeface="Calibri"/>
              </a:rPr>
              <a:t>4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926355" y="3547216"/>
            <a:ext cx="13144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Calibri"/>
                <a:cs typeface="Calibri"/>
              </a:rPr>
              <a:t>2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264710" y="3547216"/>
            <a:ext cx="7112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73102" y="3547216"/>
            <a:ext cx="7112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Calibri"/>
                <a:cs typeface="Calibri"/>
              </a:rPr>
              <a:t>2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881484" y="3546149"/>
            <a:ext cx="7112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Calibri"/>
                <a:cs typeface="Calibri"/>
              </a:rPr>
              <a:t>4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189871" y="3549423"/>
            <a:ext cx="7112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Calibri"/>
                <a:cs typeface="Calibri"/>
              </a:rPr>
              <a:t>6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219146" y="2071743"/>
            <a:ext cx="139700" cy="1422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6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</a:pPr>
            <a:r>
              <a:rPr dirty="0" sz="650" spc="-25">
                <a:latin typeface="Calibri"/>
                <a:cs typeface="Calibri"/>
              </a:rPr>
              <a:t>0.8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6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</a:pPr>
            <a:r>
              <a:rPr dirty="0" sz="650" spc="-25">
                <a:latin typeface="Calibri"/>
                <a:cs typeface="Calibri"/>
              </a:rPr>
              <a:t>0.6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6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650" spc="-25">
                <a:latin typeface="Calibri"/>
                <a:cs typeface="Calibri"/>
              </a:rPr>
              <a:t>0.4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6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</a:pPr>
            <a:r>
              <a:rPr dirty="0" sz="650" spc="-25">
                <a:latin typeface="Calibri"/>
                <a:cs typeface="Calibri"/>
              </a:rPr>
              <a:t>0.2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6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</a:pPr>
            <a:r>
              <a:rPr dirty="0" sz="650" spc="-5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2529230" y="2147277"/>
            <a:ext cx="1542415" cy="1281430"/>
          </a:xfrm>
          <a:custGeom>
            <a:avLst/>
            <a:gdLst/>
            <a:ahLst/>
            <a:cxnLst/>
            <a:rect l="l" t="t" r="r" b="b"/>
            <a:pathLst>
              <a:path w="1542414" h="1281429">
                <a:moveTo>
                  <a:pt x="0" y="1281010"/>
                </a:moveTo>
                <a:lnTo>
                  <a:pt x="38557" y="1278572"/>
                </a:lnTo>
                <a:lnTo>
                  <a:pt x="77101" y="1275435"/>
                </a:lnTo>
                <a:lnTo>
                  <a:pt x="115646" y="1271447"/>
                </a:lnTo>
                <a:lnTo>
                  <a:pt x="154203" y="1266355"/>
                </a:lnTo>
                <a:lnTo>
                  <a:pt x="192747" y="1259865"/>
                </a:lnTo>
                <a:lnTo>
                  <a:pt x="231292" y="1251635"/>
                </a:lnTo>
                <a:lnTo>
                  <a:pt x="269849" y="1241234"/>
                </a:lnTo>
                <a:lnTo>
                  <a:pt x="308394" y="1228128"/>
                </a:lnTo>
                <a:lnTo>
                  <a:pt x="346938" y="1211681"/>
                </a:lnTo>
                <a:lnTo>
                  <a:pt x="385495" y="1191209"/>
                </a:lnTo>
                <a:lnTo>
                  <a:pt x="424040" y="1165898"/>
                </a:lnTo>
                <a:lnTo>
                  <a:pt x="462597" y="1134935"/>
                </a:lnTo>
                <a:lnTo>
                  <a:pt x="501142" y="1097457"/>
                </a:lnTo>
                <a:lnTo>
                  <a:pt x="539686" y="1052830"/>
                </a:lnTo>
                <a:lnTo>
                  <a:pt x="578243" y="1000544"/>
                </a:lnTo>
                <a:lnTo>
                  <a:pt x="616788" y="940511"/>
                </a:lnTo>
                <a:lnTo>
                  <a:pt x="655345" y="873137"/>
                </a:lnTo>
                <a:lnTo>
                  <a:pt x="674611" y="837018"/>
                </a:lnTo>
                <a:lnTo>
                  <a:pt x="693889" y="799490"/>
                </a:lnTo>
                <a:lnTo>
                  <a:pt x="713155" y="760818"/>
                </a:lnTo>
                <a:lnTo>
                  <a:pt x="732434" y="721233"/>
                </a:lnTo>
                <a:lnTo>
                  <a:pt x="751713" y="681012"/>
                </a:lnTo>
                <a:lnTo>
                  <a:pt x="770978" y="640499"/>
                </a:lnTo>
                <a:lnTo>
                  <a:pt x="790257" y="600062"/>
                </a:lnTo>
                <a:lnTo>
                  <a:pt x="809536" y="559866"/>
                </a:lnTo>
                <a:lnTo>
                  <a:pt x="828814" y="520217"/>
                </a:lnTo>
                <a:lnTo>
                  <a:pt x="848080" y="481571"/>
                </a:lnTo>
                <a:lnTo>
                  <a:pt x="867359" y="444030"/>
                </a:lnTo>
                <a:lnTo>
                  <a:pt x="886637" y="407885"/>
                </a:lnTo>
                <a:lnTo>
                  <a:pt x="905903" y="373341"/>
                </a:lnTo>
                <a:lnTo>
                  <a:pt x="944460" y="309537"/>
                </a:lnTo>
                <a:lnTo>
                  <a:pt x="983005" y="253352"/>
                </a:lnTo>
                <a:lnTo>
                  <a:pt x="1021549" y="204927"/>
                </a:lnTo>
                <a:lnTo>
                  <a:pt x="1060107" y="163944"/>
                </a:lnTo>
                <a:lnTo>
                  <a:pt x="1098651" y="129794"/>
                </a:lnTo>
                <a:lnTo>
                  <a:pt x="1137196" y="101803"/>
                </a:lnTo>
                <a:lnTo>
                  <a:pt x="1175753" y="78994"/>
                </a:lnTo>
                <a:lnTo>
                  <a:pt x="1214297" y="60629"/>
                </a:lnTo>
                <a:lnTo>
                  <a:pt x="1252855" y="45923"/>
                </a:lnTo>
                <a:lnTo>
                  <a:pt x="1291399" y="34264"/>
                </a:lnTo>
                <a:lnTo>
                  <a:pt x="1329944" y="24993"/>
                </a:lnTo>
                <a:lnTo>
                  <a:pt x="1368488" y="17703"/>
                </a:lnTo>
                <a:lnTo>
                  <a:pt x="1407045" y="11950"/>
                </a:lnTo>
                <a:lnTo>
                  <a:pt x="1445590" y="7442"/>
                </a:lnTo>
                <a:lnTo>
                  <a:pt x="1484147" y="3937"/>
                </a:lnTo>
                <a:lnTo>
                  <a:pt x="1522691" y="1130"/>
                </a:lnTo>
                <a:lnTo>
                  <a:pt x="1541970" y="0"/>
                </a:lnTo>
              </a:path>
            </a:pathLst>
          </a:custGeom>
          <a:ln w="3795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2980461" y="1819810"/>
            <a:ext cx="64008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10">
                <a:latin typeface="Calibri"/>
                <a:cs typeface="Calibri"/>
              </a:rPr>
              <a:t>Sigmoid</a:t>
            </a:r>
            <a:r>
              <a:rPr dirty="0" sz="650" spc="170">
                <a:latin typeface="Calibri"/>
                <a:cs typeface="Calibri"/>
              </a:rPr>
              <a:t> </a:t>
            </a:r>
            <a:r>
              <a:rPr dirty="0" sz="650" spc="-10">
                <a:latin typeface="Calibri"/>
                <a:cs typeface="Calibri"/>
              </a:rPr>
              <a:t>function</a:t>
            </a:r>
            <a:endParaRPr sz="650">
              <a:latin typeface="Calibri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2373122" y="4311306"/>
            <a:ext cx="1854200" cy="1541145"/>
            <a:chOff x="2373122" y="4311306"/>
            <a:chExt cx="1854200" cy="1541145"/>
          </a:xfrm>
        </p:grpSpPr>
        <p:sp>
          <p:nvSpPr>
            <p:cNvPr id="20" name="object 20"/>
            <p:cNvSpPr/>
            <p:nvPr/>
          </p:nvSpPr>
          <p:spPr>
            <a:xfrm>
              <a:off x="2375039" y="4313211"/>
              <a:ext cx="1850389" cy="1537335"/>
            </a:xfrm>
            <a:custGeom>
              <a:avLst/>
              <a:gdLst/>
              <a:ahLst/>
              <a:cxnLst/>
              <a:rect l="l" t="t" r="r" b="b"/>
              <a:pathLst>
                <a:path w="1850389" h="1537335">
                  <a:moveTo>
                    <a:pt x="0" y="1537309"/>
                  </a:moveTo>
                  <a:lnTo>
                    <a:pt x="0" y="1496809"/>
                  </a:lnTo>
                </a:path>
                <a:path w="1850389" h="1537335">
                  <a:moveTo>
                    <a:pt x="308394" y="1537309"/>
                  </a:moveTo>
                  <a:lnTo>
                    <a:pt x="308394" y="1496809"/>
                  </a:lnTo>
                </a:path>
                <a:path w="1850389" h="1537335">
                  <a:moveTo>
                    <a:pt x="616788" y="1537309"/>
                  </a:moveTo>
                  <a:lnTo>
                    <a:pt x="616788" y="1496809"/>
                  </a:lnTo>
                </a:path>
                <a:path w="1850389" h="1537335">
                  <a:moveTo>
                    <a:pt x="925169" y="1537309"/>
                  </a:moveTo>
                  <a:lnTo>
                    <a:pt x="925169" y="1496809"/>
                  </a:lnTo>
                </a:path>
                <a:path w="1850389" h="1537335">
                  <a:moveTo>
                    <a:pt x="1233563" y="1537309"/>
                  </a:moveTo>
                  <a:lnTo>
                    <a:pt x="1233563" y="1496809"/>
                  </a:lnTo>
                </a:path>
                <a:path w="1850389" h="1537335">
                  <a:moveTo>
                    <a:pt x="1541957" y="1537309"/>
                  </a:moveTo>
                  <a:lnTo>
                    <a:pt x="1541957" y="1496809"/>
                  </a:lnTo>
                </a:path>
                <a:path w="1850389" h="1537335">
                  <a:moveTo>
                    <a:pt x="1850351" y="1537309"/>
                  </a:moveTo>
                  <a:lnTo>
                    <a:pt x="1850351" y="1496809"/>
                  </a:lnTo>
                </a:path>
                <a:path w="1850389" h="1537335">
                  <a:moveTo>
                    <a:pt x="0" y="0"/>
                  </a:moveTo>
                  <a:lnTo>
                    <a:pt x="0" y="40513"/>
                  </a:lnTo>
                </a:path>
                <a:path w="1850389" h="1537335">
                  <a:moveTo>
                    <a:pt x="308394" y="0"/>
                  </a:moveTo>
                  <a:lnTo>
                    <a:pt x="308394" y="40513"/>
                  </a:lnTo>
                </a:path>
                <a:path w="1850389" h="1537335">
                  <a:moveTo>
                    <a:pt x="616788" y="0"/>
                  </a:moveTo>
                  <a:lnTo>
                    <a:pt x="616788" y="40513"/>
                  </a:lnTo>
                </a:path>
                <a:path w="1850389" h="1537335">
                  <a:moveTo>
                    <a:pt x="925169" y="0"/>
                  </a:moveTo>
                  <a:lnTo>
                    <a:pt x="925169" y="40513"/>
                  </a:lnTo>
                </a:path>
                <a:path w="1850389" h="1537335">
                  <a:moveTo>
                    <a:pt x="1233563" y="0"/>
                  </a:moveTo>
                  <a:lnTo>
                    <a:pt x="1233563" y="40513"/>
                  </a:lnTo>
                </a:path>
                <a:path w="1850389" h="1537335">
                  <a:moveTo>
                    <a:pt x="1541957" y="0"/>
                  </a:moveTo>
                  <a:lnTo>
                    <a:pt x="1541957" y="40513"/>
                  </a:lnTo>
                </a:path>
                <a:path w="1850389" h="1537335">
                  <a:moveTo>
                    <a:pt x="1850351" y="0"/>
                  </a:moveTo>
                  <a:lnTo>
                    <a:pt x="1850351" y="40513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375027" y="4441329"/>
              <a:ext cx="1850389" cy="1281430"/>
            </a:xfrm>
            <a:custGeom>
              <a:avLst/>
              <a:gdLst/>
              <a:ahLst/>
              <a:cxnLst/>
              <a:rect l="l" t="t" r="r" b="b"/>
              <a:pathLst>
                <a:path w="1850389" h="1281429">
                  <a:moveTo>
                    <a:pt x="0" y="1281074"/>
                  </a:moveTo>
                  <a:lnTo>
                    <a:pt x="40500" y="1281074"/>
                  </a:lnTo>
                </a:path>
                <a:path w="1850389" h="1281429">
                  <a:moveTo>
                    <a:pt x="0" y="1024864"/>
                  </a:moveTo>
                  <a:lnTo>
                    <a:pt x="40500" y="1024864"/>
                  </a:lnTo>
                </a:path>
                <a:path w="1850389" h="1281429">
                  <a:moveTo>
                    <a:pt x="0" y="768642"/>
                  </a:moveTo>
                  <a:lnTo>
                    <a:pt x="40500" y="768642"/>
                  </a:lnTo>
                </a:path>
                <a:path w="1850389" h="1281429">
                  <a:moveTo>
                    <a:pt x="0" y="512432"/>
                  </a:moveTo>
                  <a:lnTo>
                    <a:pt x="40500" y="512432"/>
                  </a:lnTo>
                </a:path>
                <a:path w="1850389" h="1281429">
                  <a:moveTo>
                    <a:pt x="0" y="256222"/>
                  </a:moveTo>
                  <a:lnTo>
                    <a:pt x="40500" y="256222"/>
                  </a:lnTo>
                </a:path>
                <a:path w="1850389" h="1281429">
                  <a:moveTo>
                    <a:pt x="0" y="0"/>
                  </a:moveTo>
                  <a:lnTo>
                    <a:pt x="40500" y="0"/>
                  </a:lnTo>
                </a:path>
                <a:path w="1850389" h="1281429">
                  <a:moveTo>
                    <a:pt x="1850377" y="1281074"/>
                  </a:moveTo>
                  <a:lnTo>
                    <a:pt x="1809877" y="1281074"/>
                  </a:lnTo>
                </a:path>
                <a:path w="1850389" h="1281429">
                  <a:moveTo>
                    <a:pt x="1850377" y="1024864"/>
                  </a:moveTo>
                  <a:lnTo>
                    <a:pt x="1809877" y="1024864"/>
                  </a:lnTo>
                </a:path>
                <a:path w="1850389" h="1281429">
                  <a:moveTo>
                    <a:pt x="1850377" y="768642"/>
                  </a:moveTo>
                  <a:lnTo>
                    <a:pt x="1809877" y="768642"/>
                  </a:lnTo>
                </a:path>
                <a:path w="1850389" h="1281429">
                  <a:moveTo>
                    <a:pt x="1850377" y="512432"/>
                  </a:moveTo>
                  <a:lnTo>
                    <a:pt x="1809877" y="512432"/>
                  </a:lnTo>
                </a:path>
                <a:path w="1850389" h="1281429">
                  <a:moveTo>
                    <a:pt x="1850377" y="256222"/>
                  </a:moveTo>
                  <a:lnTo>
                    <a:pt x="1809877" y="256222"/>
                  </a:lnTo>
                </a:path>
                <a:path w="1850389" h="1281429">
                  <a:moveTo>
                    <a:pt x="1850377" y="0"/>
                  </a:moveTo>
                  <a:lnTo>
                    <a:pt x="1809877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375027" y="4313211"/>
              <a:ext cx="1850389" cy="1537335"/>
            </a:xfrm>
            <a:custGeom>
              <a:avLst/>
              <a:gdLst/>
              <a:ahLst/>
              <a:cxnLst/>
              <a:rect l="l" t="t" r="r" b="b"/>
              <a:pathLst>
                <a:path w="1850389" h="1537335">
                  <a:moveTo>
                    <a:pt x="0" y="1537309"/>
                  </a:moveTo>
                  <a:lnTo>
                    <a:pt x="0" y="0"/>
                  </a:lnTo>
                  <a:lnTo>
                    <a:pt x="1850377" y="0"/>
                  </a:lnTo>
                  <a:lnTo>
                    <a:pt x="1850377" y="1537309"/>
                  </a:lnTo>
                  <a:lnTo>
                    <a:pt x="0" y="1537309"/>
                  </a:lnTo>
                  <a:close/>
                </a:path>
              </a:pathLst>
            </a:custGeom>
            <a:ln w="3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2309571" y="5843564"/>
            <a:ext cx="13144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Calibri"/>
                <a:cs typeface="Calibri"/>
              </a:rPr>
              <a:t>6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617963" y="5840284"/>
            <a:ext cx="13144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Calibri"/>
                <a:cs typeface="Calibri"/>
              </a:rPr>
              <a:t>4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926355" y="5841351"/>
            <a:ext cx="13144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Calibri"/>
                <a:cs typeface="Calibri"/>
              </a:rPr>
              <a:t>2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264710" y="5841351"/>
            <a:ext cx="7112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573102" y="5841351"/>
            <a:ext cx="7112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Calibri"/>
                <a:cs typeface="Calibri"/>
              </a:rPr>
              <a:t>2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881484" y="5840284"/>
            <a:ext cx="7112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Calibri"/>
                <a:cs typeface="Calibri"/>
              </a:rPr>
              <a:t>4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189871" y="5843564"/>
            <a:ext cx="7112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Calibri"/>
                <a:cs typeface="Calibri"/>
              </a:rPr>
              <a:t>6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2529230" y="4441329"/>
            <a:ext cx="1542415" cy="1281430"/>
          </a:xfrm>
          <a:custGeom>
            <a:avLst/>
            <a:gdLst/>
            <a:ahLst/>
            <a:cxnLst/>
            <a:rect l="l" t="t" r="r" b="b"/>
            <a:pathLst>
              <a:path w="1542414" h="1281429">
                <a:moveTo>
                  <a:pt x="0" y="1281074"/>
                </a:moveTo>
                <a:lnTo>
                  <a:pt x="761352" y="1281074"/>
                </a:lnTo>
                <a:lnTo>
                  <a:pt x="770978" y="640537"/>
                </a:lnTo>
                <a:lnTo>
                  <a:pt x="780618" y="0"/>
                </a:lnTo>
                <a:lnTo>
                  <a:pt x="1532331" y="0"/>
                </a:lnTo>
                <a:lnTo>
                  <a:pt x="1541970" y="0"/>
                </a:lnTo>
              </a:path>
            </a:pathLst>
          </a:custGeom>
          <a:ln w="3795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1062380" y="3825217"/>
            <a:ext cx="2680970" cy="19545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shape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smoothed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version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50">
              <a:latin typeface="Calibri"/>
              <a:cs typeface="Calibri"/>
            </a:endParaRPr>
          </a:p>
          <a:p>
            <a:pPr algn="r" marR="195580">
              <a:lnSpc>
                <a:spcPct val="100000"/>
              </a:lnSpc>
            </a:pPr>
            <a:r>
              <a:rPr dirty="0" sz="650">
                <a:latin typeface="Calibri"/>
                <a:cs typeface="Calibri"/>
              </a:rPr>
              <a:t>Step</a:t>
            </a:r>
            <a:r>
              <a:rPr dirty="0" sz="650" spc="100">
                <a:latin typeface="Calibri"/>
                <a:cs typeface="Calibri"/>
              </a:rPr>
              <a:t> </a:t>
            </a:r>
            <a:r>
              <a:rPr dirty="0" sz="650" spc="-10">
                <a:latin typeface="Calibri"/>
                <a:cs typeface="Calibri"/>
              </a:rPr>
              <a:t>function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75"/>
              </a:spcBef>
            </a:pPr>
            <a:endParaRPr sz="650">
              <a:latin typeface="Calibri"/>
              <a:cs typeface="Calibri"/>
            </a:endParaRPr>
          </a:p>
          <a:p>
            <a:pPr algn="r" marR="1389380">
              <a:lnSpc>
                <a:spcPct val="100000"/>
              </a:lnSpc>
              <a:spcBef>
                <a:spcPts val="5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650">
              <a:latin typeface="Calibri"/>
              <a:cs typeface="Calibri"/>
            </a:endParaRPr>
          </a:p>
          <a:p>
            <a:pPr algn="r" marR="1389380">
              <a:lnSpc>
                <a:spcPct val="100000"/>
              </a:lnSpc>
              <a:spcBef>
                <a:spcPts val="5"/>
              </a:spcBef>
            </a:pPr>
            <a:r>
              <a:rPr dirty="0" sz="650" spc="-25">
                <a:latin typeface="Calibri"/>
                <a:cs typeface="Calibri"/>
              </a:rPr>
              <a:t>0.8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5"/>
              </a:spcBef>
            </a:pPr>
            <a:endParaRPr sz="650">
              <a:latin typeface="Calibri"/>
              <a:cs typeface="Calibri"/>
            </a:endParaRPr>
          </a:p>
          <a:p>
            <a:pPr algn="r" marR="1389380">
              <a:lnSpc>
                <a:spcPct val="100000"/>
              </a:lnSpc>
            </a:pPr>
            <a:r>
              <a:rPr dirty="0" sz="650" spc="-25">
                <a:latin typeface="Calibri"/>
                <a:cs typeface="Calibri"/>
              </a:rPr>
              <a:t>0.6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25"/>
              </a:spcBef>
            </a:pPr>
            <a:endParaRPr sz="650">
              <a:latin typeface="Calibri"/>
              <a:cs typeface="Calibri"/>
            </a:endParaRPr>
          </a:p>
          <a:p>
            <a:pPr algn="r" marR="1389380">
              <a:lnSpc>
                <a:spcPct val="100000"/>
              </a:lnSpc>
            </a:pPr>
            <a:r>
              <a:rPr dirty="0" sz="650" spc="-25">
                <a:latin typeface="Calibri"/>
                <a:cs typeface="Calibri"/>
              </a:rPr>
              <a:t>0.4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5"/>
              </a:spcBef>
            </a:pPr>
            <a:endParaRPr sz="650">
              <a:latin typeface="Calibri"/>
              <a:cs typeface="Calibri"/>
            </a:endParaRPr>
          </a:p>
          <a:p>
            <a:pPr algn="r" marR="1389380">
              <a:lnSpc>
                <a:spcPct val="100000"/>
              </a:lnSpc>
            </a:pPr>
            <a:r>
              <a:rPr dirty="0" sz="650" spc="-25">
                <a:latin typeface="Calibri"/>
                <a:cs typeface="Calibri"/>
              </a:rPr>
              <a:t>0.2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Calibri"/>
              <a:cs typeface="Calibri"/>
            </a:endParaRPr>
          </a:p>
          <a:p>
            <a:pPr algn="r" marR="1389380">
              <a:lnSpc>
                <a:spcPct val="100000"/>
              </a:lnSpc>
              <a:spcBef>
                <a:spcPts val="5"/>
              </a:spcBef>
            </a:pPr>
            <a:r>
              <a:rPr dirty="0" sz="650" spc="-5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024280" y="6102471"/>
            <a:ext cx="4454525" cy="10617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2545" indent="444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14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had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since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would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depending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-15" i="1">
                <a:latin typeface="Calibri"/>
                <a:cs typeface="Calibri"/>
              </a:rPr>
              <a:t> </a:t>
            </a:r>
            <a:r>
              <a:rPr dirty="0" sz="850" spc="20">
                <a:latin typeface="Cambria"/>
                <a:cs typeface="Cambria"/>
              </a:rPr>
              <a:t>·</a:t>
            </a:r>
            <a:r>
              <a:rPr dirty="0" sz="850" spc="75">
                <a:latin typeface="Cambria"/>
                <a:cs typeface="Cambria"/>
              </a:rPr>
              <a:t> </a:t>
            </a:r>
            <a:r>
              <a:rPr dirty="0" sz="850" spc="20" i="1">
                <a:latin typeface="Calibri"/>
                <a:cs typeface="Calibri"/>
              </a:rPr>
              <a:t>x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+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positive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negative</a:t>
            </a:r>
            <a:r>
              <a:rPr dirty="0" baseline="35353" sz="825" spc="30">
                <a:latin typeface="Calibri"/>
                <a:cs typeface="Calibri"/>
                <a:hlinkClick r:id="rId2" action="ppaction://hlinksldjump"/>
              </a:rPr>
              <a:t>2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By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3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already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implied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smoothed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perceptron.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smoothness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20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crucial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form.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smoothness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2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baseline="-20202" sz="825" spc="157" i="1">
                <a:latin typeface="Calibri"/>
                <a:cs typeface="Calibri"/>
              </a:rPr>
              <a:t>j</a:t>
            </a:r>
            <a:r>
              <a:rPr dirty="0" baseline="-20202" sz="825" spc="43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b</a:t>
            </a:r>
            <a:r>
              <a:rPr dirty="0" sz="850" spc="14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 i="1">
                <a:latin typeface="Arial"/>
                <a:cs typeface="Arial"/>
              </a:rPr>
              <a:t>∆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calculus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tells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 i="1">
                <a:latin typeface="Arial"/>
                <a:cs typeface="Arial"/>
              </a:rPr>
              <a:t>∆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199714" y="7369430"/>
            <a:ext cx="5454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0" i="1">
                <a:latin typeface="Arial"/>
                <a:cs typeface="Arial"/>
              </a:rPr>
              <a:t>∆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95">
                <a:latin typeface="Cambria"/>
                <a:cs typeface="Cambria"/>
              </a:rPr>
              <a:t>”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745323" y="7249355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814940" y="7532339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929126" y="7290185"/>
            <a:ext cx="4191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4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026371" y="7450332"/>
            <a:ext cx="1835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195743" y="751147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522420" y="7430584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337749" y="7369429"/>
            <a:ext cx="3397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sz="850" spc="280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+</a:t>
            </a:r>
            <a:endParaRPr sz="850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687763" y="7261217"/>
            <a:ext cx="419100" cy="346075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35"/>
              </a:spcBef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4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44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096373" y="7369429"/>
            <a:ext cx="1816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0" i="1">
                <a:latin typeface="Arial"/>
                <a:cs typeface="Arial"/>
              </a:rPr>
              <a:t>∆</a:t>
            </a:r>
            <a:r>
              <a:rPr dirty="0" sz="850" spc="10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144173" y="7369429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(1.5)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1079996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 txBox="1"/>
          <p:nvPr/>
        </p:nvSpPr>
        <p:spPr>
          <a:xfrm>
            <a:off x="1054596" y="7770959"/>
            <a:ext cx="4400550" cy="2438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25400" marR="43180" indent="127635">
              <a:lnSpc>
                <a:spcPts val="800"/>
              </a:lnSpc>
              <a:spcBef>
                <a:spcPts val="225"/>
              </a:spcBef>
            </a:pPr>
            <a:r>
              <a:rPr dirty="0" baseline="30303" sz="825">
                <a:latin typeface="Calibri"/>
                <a:cs typeface="Calibri"/>
              </a:rPr>
              <a:t>2</a:t>
            </a:r>
            <a:r>
              <a:rPr dirty="0" sz="750">
                <a:latin typeface="Calibri"/>
                <a:cs typeface="Calibri"/>
              </a:rPr>
              <a:t>Actually,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when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i="1">
                <a:latin typeface="Calibri"/>
                <a:cs typeface="Calibri"/>
              </a:rPr>
              <a:t>w</a:t>
            </a:r>
            <a:r>
              <a:rPr dirty="0" sz="750" spc="-5" i="1">
                <a:latin typeface="Calibri"/>
                <a:cs typeface="Calibri"/>
              </a:rPr>
              <a:t> </a:t>
            </a:r>
            <a:r>
              <a:rPr dirty="0" sz="750">
                <a:latin typeface="Cambria"/>
                <a:cs typeface="Cambria"/>
              </a:rPr>
              <a:t>·</a:t>
            </a:r>
            <a:r>
              <a:rPr dirty="0" sz="750" spc="80">
                <a:latin typeface="Cambria"/>
                <a:cs typeface="Cambria"/>
              </a:rPr>
              <a:t> </a:t>
            </a:r>
            <a:r>
              <a:rPr dirty="0" sz="750" i="1">
                <a:latin typeface="Calibri"/>
                <a:cs typeface="Calibri"/>
              </a:rPr>
              <a:t>x</a:t>
            </a:r>
            <a:r>
              <a:rPr dirty="0" sz="750" spc="85" i="1">
                <a:latin typeface="Calibri"/>
                <a:cs typeface="Calibri"/>
              </a:rPr>
              <a:t> </a:t>
            </a:r>
            <a:r>
              <a:rPr dirty="0" sz="750">
                <a:latin typeface="Tahoma"/>
                <a:cs typeface="Tahoma"/>
              </a:rPr>
              <a:t>+</a:t>
            </a:r>
            <a:r>
              <a:rPr dirty="0" sz="750" spc="5">
                <a:latin typeface="Tahoma"/>
                <a:cs typeface="Tahoma"/>
              </a:rPr>
              <a:t> </a:t>
            </a:r>
            <a:r>
              <a:rPr dirty="0" sz="750" i="1">
                <a:latin typeface="Calibri"/>
                <a:cs typeface="Calibri"/>
              </a:rPr>
              <a:t>b</a:t>
            </a:r>
            <a:r>
              <a:rPr dirty="0" sz="750" spc="80" i="1">
                <a:latin typeface="Calibri"/>
                <a:cs typeface="Calibri"/>
              </a:rPr>
              <a:t> </a:t>
            </a:r>
            <a:r>
              <a:rPr dirty="0" sz="750">
                <a:latin typeface="Tahoma"/>
                <a:cs typeface="Tahoma"/>
              </a:rPr>
              <a:t>=</a:t>
            </a:r>
            <a:r>
              <a:rPr dirty="0" sz="750" spc="-5">
                <a:latin typeface="Tahoma"/>
                <a:cs typeface="Tahoma"/>
              </a:rPr>
              <a:t> </a:t>
            </a:r>
            <a:r>
              <a:rPr dirty="0" sz="750">
                <a:latin typeface="Calibri"/>
                <a:cs typeface="Calibri"/>
              </a:rPr>
              <a:t>0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perceptron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outputs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0,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while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step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function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outputs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1.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So,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strictly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speaking,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we’d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need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modify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step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function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at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point.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But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you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get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idea.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47" name="object 47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" name="object 49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48781" y="368721"/>
            <a:ext cx="4657090" cy="22009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33375" algn="l"/>
              </a:tabLst>
            </a:pPr>
            <a:r>
              <a:rPr dirty="0" sz="850" spc="25">
                <a:latin typeface="Calibri"/>
                <a:cs typeface="Calibri"/>
              </a:rPr>
              <a:t>10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2203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66065" marR="30480" indent="-1905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sum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 i="1">
                <a:latin typeface="Calibri"/>
                <a:cs typeface="Calibri"/>
              </a:rPr>
              <a:t>j</a:t>
            </a:r>
            <a:r>
              <a:rPr dirty="0" baseline="-20202" sz="825" spc="-44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-45" i="1">
                <a:latin typeface="Times New Roman"/>
                <a:cs typeface="Times New Roman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20" i="1">
                <a:latin typeface="Times New Roman"/>
                <a:cs typeface="Times New Roman"/>
              </a:rPr>
              <a:t>/∂</a:t>
            </a:r>
            <a:r>
              <a:rPr dirty="0" sz="850" spc="-15" i="1">
                <a:latin typeface="Times New Roman"/>
                <a:cs typeface="Times New Roman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262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-40" i="1">
                <a:latin typeface="Times New Roman"/>
                <a:cs typeface="Times New Roman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20" i="1">
                <a:latin typeface="Times New Roman"/>
                <a:cs typeface="Times New Roman"/>
              </a:rPr>
              <a:t>/∂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denote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respect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457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respectively.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panic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comfortable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derivatives!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complicated,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good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news):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 i="1">
                <a:latin typeface="Arial"/>
                <a:cs typeface="Arial"/>
              </a:rPr>
              <a:t>∆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baseline="-20202" sz="825" spc="157" i="1">
                <a:latin typeface="Calibri"/>
                <a:cs typeface="Calibri"/>
              </a:rPr>
              <a:t>j</a:t>
            </a:r>
            <a:r>
              <a:rPr dirty="0" baseline="-20202" sz="825" spc="509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b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bias.</a:t>
            </a:r>
            <a:r>
              <a:rPr dirty="0" sz="850" spc="50">
                <a:latin typeface="Calibri"/>
                <a:cs typeface="Calibri"/>
              </a:rPr>
              <a:t> 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linearity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achieve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same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qualitative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behavior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output.</a:t>
            </a:r>
            <a:endParaRPr sz="850">
              <a:latin typeface="Calibri"/>
              <a:cs typeface="Calibri"/>
            </a:endParaRPr>
          </a:p>
          <a:p>
            <a:pPr algn="just" marL="271145" marR="53340" indent="189230">
              <a:lnSpc>
                <a:spcPct val="114300"/>
              </a:lnSpc>
              <a:spcBef>
                <a:spcPts val="15"/>
              </a:spcBef>
            </a:pP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shape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204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matters,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particular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90" i="1">
                <a:latin typeface="Times New Roman"/>
                <a:cs typeface="Times New Roman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2" action="ppaction://hlinksldjump"/>
              </a:rPr>
              <a:t>1.3?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occasionally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93638" y="2544020"/>
            <a:ext cx="4386580" cy="5473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1590" marR="29209" indent="381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where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output</a:t>
            </a:r>
            <a:r>
              <a:rPr dirty="0" sz="850" spc="15">
                <a:latin typeface="Calibri"/>
                <a:cs typeface="Calibri"/>
              </a:rPr>
              <a:t> 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5" i="1">
                <a:latin typeface="Calibri"/>
                <a:cs typeface="Calibri"/>
              </a:rPr>
              <a:t>f</a:t>
            </a:r>
            <a:r>
              <a:rPr dirty="0" sz="850" spc="1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-95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45" i="1">
                <a:latin typeface="Calibri"/>
                <a:cs typeface="Calibri"/>
              </a:rPr>
              <a:t>x</a:t>
            </a:r>
            <a:r>
              <a:rPr dirty="0" sz="850" spc="-2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5" i="1">
                <a:latin typeface="Calibri"/>
                <a:cs typeface="Calibri"/>
              </a:rPr>
              <a:t>b</a:t>
            </a:r>
            <a:r>
              <a:rPr dirty="0" sz="850" spc="5">
                <a:latin typeface="Tahoma"/>
                <a:cs typeface="Tahoma"/>
              </a:rPr>
              <a:t>)</a:t>
            </a:r>
            <a:r>
              <a:rPr dirty="0" sz="850" spc="-6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5" i="1">
                <a:latin typeface="Calibri"/>
                <a:cs typeface="Calibri"/>
              </a:rPr>
              <a:t>activation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5" i="1">
                <a:latin typeface="Calibri"/>
                <a:cs typeface="Calibri"/>
              </a:rPr>
              <a:t>function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 spc="-15" i="1">
                <a:latin typeface="Calibri"/>
                <a:cs typeface="Calibri"/>
              </a:rPr>
              <a:t>f</a:t>
            </a:r>
            <a:r>
              <a:rPr dirty="0" sz="850" spc="10" i="1">
                <a:latin typeface="Calibri"/>
                <a:cs typeface="Calibri"/>
              </a:rPr>
              <a:t> </a:t>
            </a:r>
            <a:r>
              <a:rPr dirty="0" sz="850" spc="5">
                <a:latin typeface="Tahoma"/>
                <a:cs typeface="Tahoma"/>
              </a:rPr>
              <a:t>(</a:t>
            </a:r>
            <a:r>
              <a:rPr dirty="0" sz="850" spc="5">
                <a:latin typeface="Cambria"/>
                <a:cs typeface="Cambria"/>
              </a:rPr>
              <a:t>·</a:t>
            </a:r>
            <a:r>
              <a:rPr dirty="0" sz="850" spc="5">
                <a:latin typeface="Tahoma"/>
                <a:cs typeface="Tahoma"/>
              </a:rPr>
              <a:t>)</a:t>
            </a:r>
            <a:r>
              <a:rPr dirty="0" sz="850" spc="5">
                <a:latin typeface="Calibri"/>
                <a:cs typeface="Calibri"/>
              </a:rPr>
              <a:t>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main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thing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changes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when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activation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function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particular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partial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Equation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  <a:hlinkClick r:id="rId3" action="ppaction://hlinksldjump"/>
              </a:rPr>
              <a:t>1.5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change.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when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compute</a:t>
            </a:r>
            <a:r>
              <a:rPr dirty="0" sz="850">
                <a:latin typeface="Calibri"/>
                <a:cs typeface="Calibri"/>
              </a:rPr>
              <a:t> those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partial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later,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using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40" i="1">
                <a:latin typeface="Times New Roman"/>
                <a:cs typeface="Times New Roman"/>
              </a:rPr>
              <a:t> </a:t>
            </a:r>
            <a:r>
              <a:rPr dirty="0" sz="850" spc="35">
                <a:latin typeface="Calibri"/>
                <a:cs typeface="Calibri"/>
              </a:rPr>
              <a:t>will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simplify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algebra,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exponentials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have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lovely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properties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when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differentiated.</a:t>
            </a:r>
            <a:r>
              <a:rPr dirty="0" sz="850">
                <a:latin typeface="Calibri"/>
                <a:cs typeface="Calibri"/>
              </a:rPr>
              <a:t> 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any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case,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65" i="1">
                <a:latin typeface="Times New Roman"/>
                <a:cs typeface="Times New Roman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commonly-used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work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on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neural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activation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function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we’ll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most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book.</a:t>
            </a:r>
            <a:endParaRPr sz="850">
              <a:latin typeface="Calibri"/>
              <a:cs typeface="Calibri"/>
            </a:endParaRPr>
          </a:p>
          <a:p>
            <a:pPr marL="26034" marR="29209" indent="189230">
              <a:lnSpc>
                <a:spcPct val="114300"/>
              </a:lnSpc>
              <a:spcBef>
                <a:spcPts val="15"/>
              </a:spcBef>
            </a:pP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interpret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neuron?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Obviously,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or</a:t>
            </a:r>
            <a:endParaRPr sz="850">
              <a:latin typeface="Calibri"/>
              <a:cs typeface="Calibri"/>
            </a:endParaRPr>
          </a:p>
          <a:p>
            <a:pPr marL="26034" marR="27940" indent="-13970">
              <a:lnSpc>
                <a:spcPct val="114100"/>
              </a:lnSpc>
              <a:spcBef>
                <a:spcPts val="5"/>
              </a:spcBef>
            </a:pPr>
            <a:r>
              <a:rPr dirty="0" sz="850" spc="30">
                <a:latin typeface="Calibri"/>
                <a:cs typeface="Calibri"/>
              </a:rPr>
              <a:t>1.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have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output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number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between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1,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values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0.173.</a:t>
            </a:r>
            <a:r>
              <a:rPr dirty="0" sz="850" spc="-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7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r>
              <a:rPr dirty="0" sz="850" spc="30">
                <a:latin typeface="Calibri"/>
                <a:cs typeface="Calibri"/>
              </a:rPr>
              <a:t> and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0.689.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.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are legitimate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outputs.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This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can be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useful, for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example, if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 want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 use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represent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average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intensity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nuisance.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indicate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9”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9”.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Obviously,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easiest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deciding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interpret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0.5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indicating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“9”,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0.5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indicating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9”.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always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convention,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confusion.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1050" spc="40" b="1">
                <a:latin typeface="Calibri"/>
                <a:cs typeface="Calibri"/>
              </a:rPr>
              <a:t>Exercises</a:t>
            </a:r>
            <a:endParaRPr sz="1050">
              <a:latin typeface="Calibri"/>
              <a:cs typeface="Calibri"/>
            </a:endParaRPr>
          </a:p>
          <a:p>
            <a:pPr algn="just" marL="342265" marR="5080" indent="-118745">
              <a:lnSpc>
                <a:spcPts val="1170"/>
              </a:lnSpc>
              <a:spcBef>
                <a:spcPts val="35"/>
              </a:spcBef>
              <a:buFont typeface="Cambria"/>
              <a:buChar char="•"/>
              <a:tabLst>
                <a:tab pos="342265" algn="l"/>
              </a:tabLst>
            </a:pPr>
            <a:r>
              <a:rPr dirty="0" sz="850" spc="60" b="1">
                <a:latin typeface="Calibri"/>
                <a:cs typeface="Calibri"/>
              </a:rPr>
              <a:t>Sigmoid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neurons</a:t>
            </a:r>
            <a:r>
              <a:rPr dirty="0" sz="850" spc="9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simulating</a:t>
            </a:r>
            <a:r>
              <a:rPr dirty="0" sz="850" spc="85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perceptrons,</a:t>
            </a:r>
            <a:r>
              <a:rPr dirty="0" sz="850" spc="90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part</a:t>
            </a:r>
            <a:r>
              <a:rPr dirty="0" sz="850" spc="90" b="1">
                <a:latin typeface="Calibri"/>
                <a:cs typeface="Calibri"/>
              </a:rPr>
              <a:t> </a:t>
            </a:r>
            <a:r>
              <a:rPr dirty="0" sz="850" spc="75" b="1">
                <a:latin typeface="Calibri"/>
                <a:cs typeface="Calibri"/>
              </a:rPr>
              <a:t>I</a:t>
            </a:r>
            <a:r>
              <a:rPr dirty="0" sz="850" spc="70" b="1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Suppose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take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perceptrons,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multiply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constant,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</a:t>
            </a:r>
            <a:r>
              <a:rPr dirty="0" sz="850" spc="-20">
                <a:latin typeface="Lucida Sans Unicode"/>
                <a:cs typeface="Lucida Sans Unicode"/>
              </a:rPr>
              <a:t>&gt;</a:t>
            </a:r>
            <a:r>
              <a:rPr dirty="0" sz="850" spc="-20">
                <a:latin typeface="Calibri"/>
                <a:cs typeface="Calibri"/>
              </a:rPr>
              <a:t>0.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change.</a:t>
            </a:r>
            <a:endParaRPr sz="850">
              <a:latin typeface="Calibri"/>
              <a:cs typeface="Calibri"/>
            </a:endParaRPr>
          </a:p>
          <a:p>
            <a:pPr marL="341630" indent="-118110">
              <a:lnSpc>
                <a:spcPct val="100000"/>
              </a:lnSpc>
              <a:spcBef>
                <a:spcPts val="70"/>
              </a:spcBef>
              <a:buFont typeface="Cambria"/>
              <a:buChar char="•"/>
              <a:tabLst>
                <a:tab pos="341630" algn="l"/>
              </a:tabLst>
            </a:pPr>
            <a:r>
              <a:rPr dirty="0" sz="850" spc="60" b="1">
                <a:latin typeface="Calibri"/>
                <a:cs typeface="Calibri"/>
              </a:rPr>
              <a:t>Sigmoid</a:t>
            </a:r>
            <a:r>
              <a:rPr dirty="0" sz="850" spc="4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neurons simulating </a:t>
            </a:r>
            <a:r>
              <a:rPr dirty="0" sz="850" spc="30" b="1">
                <a:latin typeface="Calibri"/>
                <a:cs typeface="Calibri"/>
              </a:rPr>
              <a:t>perceptrons,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part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75" b="1">
                <a:latin typeface="Calibri"/>
                <a:cs typeface="Calibri"/>
              </a:rPr>
              <a:t>II</a:t>
            </a:r>
            <a:r>
              <a:rPr dirty="0" sz="850" spc="40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have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setup</a:t>
            </a:r>
            <a:endParaRPr sz="850">
              <a:latin typeface="Calibri"/>
              <a:cs typeface="Calibri"/>
            </a:endParaRPr>
          </a:p>
          <a:p>
            <a:pPr algn="just" marL="342265" marR="5080">
              <a:lnSpc>
                <a:spcPct val="114300"/>
              </a:lnSpc>
            </a:pPr>
            <a:r>
              <a:rPr dirty="0" sz="850" spc="5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last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–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network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perceptrons.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Suppose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overall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network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5">
                <a:latin typeface="Calibri"/>
                <a:cs typeface="Calibri"/>
              </a:rPr>
              <a:t> perceptrons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chosen.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30">
                <a:latin typeface="Calibri"/>
                <a:cs typeface="Calibri"/>
              </a:rPr>
              <a:t>We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input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value,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input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been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fixed.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Suppose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50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45" i="1">
                <a:latin typeface="Calibri"/>
                <a:cs typeface="Calibri"/>
              </a:rPr>
              <a:t>x</a:t>
            </a:r>
            <a:r>
              <a:rPr dirty="0" sz="850" spc="3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55">
                <a:latin typeface="Tahoma"/>
                <a:cs typeface="Tahoma"/>
              </a:rPr>
              <a:t> </a:t>
            </a:r>
            <a:r>
              <a:rPr dirty="0" sz="850" spc="-5" i="1">
                <a:latin typeface="Calibri"/>
                <a:cs typeface="Calibri"/>
              </a:rPr>
              <a:t>b</a:t>
            </a:r>
            <a:r>
              <a:rPr dirty="0" sz="850" spc="25" i="1">
                <a:latin typeface="Calibri"/>
                <a:cs typeface="Calibri"/>
              </a:rPr>
              <a:t> </a:t>
            </a:r>
            <a:r>
              <a:rPr dirty="0" sz="850" spc="-515">
                <a:latin typeface="Tahoma"/>
                <a:cs typeface="Tahoma"/>
              </a:rPr>
              <a:t>=</a:t>
            </a:r>
            <a:r>
              <a:rPr dirty="0" sz="850" spc="-515">
                <a:latin typeface="Cambria"/>
                <a:cs typeface="Cambria"/>
              </a:rPr>
              <a:t>/</a:t>
            </a:r>
            <a:r>
              <a:rPr dirty="0" sz="850" spc="675">
                <a:latin typeface="Cambria"/>
                <a:cs typeface="Cambria"/>
              </a:rPr>
              <a:t> </a:t>
            </a:r>
            <a:r>
              <a:rPr dirty="0" sz="850" spc="40">
                <a:latin typeface="Calibri"/>
                <a:cs typeface="Calibri"/>
              </a:rPr>
              <a:t>0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input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x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particular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perceptron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network.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Now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replace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perceptrons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sigmoid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neurons,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multiply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weights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and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biases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positive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constant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5" i="1">
                <a:latin typeface="Calibri"/>
                <a:cs typeface="Calibri"/>
              </a:rPr>
              <a:t>c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&gt;</a:t>
            </a:r>
            <a:r>
              <a:rPr dirty="0" sz="850" spc="-10" i="1">
                <a:latin typeface="Times New Roman"/>
                <a:cs typeface="Times New Roman"/>
              </a:rPr>
              <a:t> </a:t>
            </a:r>
            <a:r>
              <a:rPr dirty="0" sz="850" spc="30">
                <a:latin typeface="Calibri"/>
                <a:cs typeface="Calibri"/>
              </a:rPr>
              <a:t>0.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Show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limit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5" i="1">
                <a:latin typeface="Calibri"/>
                <a:cs typeface="Calibri"/>
              </a:rPr>
              <a:t>c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15">
                <a:latin typeface="Cambria"/>
                <a:cs typeface="Cambria"/>
              </a:rPr>
              <a:t> </a:t>
            </a:r>
            <a:r>
              <a:rPr dirty="0" sz="850" spc="405">
                <a:latin typeface="Cambria"/>
                <a:cs typeface="Cambria"/>
              </a:rPr>
              <a:t>∞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behaviour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 </a:t>
            </a:r>
            <a:r>
              <a:rPr dirty="0" sz="850" spc="25">
                <a:latin typeface="Calibri"/>
                <a:cs typeface="Calibri"/>
              </a:rPr>
              <a:t>this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sigmoid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neurons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exactly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same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perceptrons.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fail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when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35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45" i="1">
                <a:latin typeface="Calibri"/>
                <a:cs typeface="Calibri"/>
              </a:rPr>
              <a:t>x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spc="-5" i="1">
                <a:latin typeface="Calibri"/>
                <a:cs typeface="Calibri"/>
              </a:rPr>
              <a:t>b</a:t>
            </a:r>
            <a:r>
              <a:rPr dirty="0" sz="850" spc="2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0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perceptrons?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60"/>
              </a:spcBef>
            </a:pPr>
            <a:endParaRPr sz="850">
              <a:latin typeface="Calibri"/>
              <a:cs typeface="Calibri"/>
            </a:endParaRPr>
          </a:p>
          <a:p>
            <a:pPr marL="26034">
              <a:lnSpc>
                <a:spcPct val="100000"/>
              </a:lnSpc>
              <a:spcBef>
                <a:spcPts val="5"/>
              </a:spcBef>
              <a:tabLst>
                <a:tab pos="353695" algn="l"/>
              </a:tabLst>
            </a:pPr>
            <a:r>
              <a:rPr dirty="0" sz="1050" spc="30" b="1">
                <a:latin typeface="Calibri"/>
                <a:cs typeface="Calibri"/>
              </a:rPr>
              <a:t>1.3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60" b="1">
                <a:latin typeface="Calibri"/>
                <a:cs typeface="Calibri"/>
              </a:rPr>
              <a:t>The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30" b="1">
                <a:latin typeface="Calibri"/>
                <a:cs typeface="Calibri"/>
              </a:rPr>
              <a:t>architecture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30" b="1">
                <a:latin typeface="Calibri"/>
                <a:cs typeface="Calibri"/>
              </a:rPr>
              <a:t>of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neural</a:t>
            </a:r>
            <a:r>
              <a:rPr dirty="0" sz="1050" spc="130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networks</a:t>
            </a:r>
            <a:endParaRPr sz="1050">
              <a:latin typeface="Calibri"/>
              <a:cs typeface="Calibri"/>
            </a:endParaRPr>
          </a:p>
          <a:p>
            <a:pPr algn="just" marL="26034" marR="32384">
              <a:lnSpc>
                <a:spcPct val="114300"/>
              </a:lnSpc>
              <a:spcBef>
                <a:spcPts val="1045"/>
              </a:spcBef>
            </a:pP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introduce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job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classifying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preparation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terminology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5" name="object 5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346196" y="368721"/>
            <a:ext cx="227393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138680" algn="l"/>
              </a:tabLst>
            </a:pPr>
            <a:r>
              <a:rPr dirty="0" sz="850">
                <a:latin typeface="Calibri"/>
                <a:cs typeface="Calibri"/>
              </a:rPr>
              <a:t>1.3.</a:t>
            </a:r>
            <a:r>
              <a:rPr dirty="0" sz="850" spc="4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11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82698" y="926058"/>
            <a:ext cx="2470150" cy="133985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62052" y="2396599"/>
            <a:ext cx="4370705" cy="1358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780" marR="5080" indent="-571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mentioned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leftmost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input</a:t>
            </a:r>
            <a:r>
              <a:rPr dirty="0" sz="850" spc="14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neurons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rightmost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output</a:t>
            </a:r>
            <a:r>
              <a:rPr dirty="0" sz="850" spc="14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contains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output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neurons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middle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hidden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layer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neither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“hidden”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sounds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mysterious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heard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r>
              <a:rPr dirty="0" sz="850" spc="20">
                <a:latin typeface="Calibri"/>
                <a:cs typeface="Calibri"/>
              </a:rPr>
              <a:t> some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philosophical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mathematical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significance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nothing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“not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output”.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r>
              <a:rPr dirty="0" sz="850" spc="20">
                <a:latin typeface="Calibri"/>
                <a:cs typeface="Calibri"/>
              </a:rPr>
              <a:t> networks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multiple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example,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following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four-layer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82623" y="3878656"/>
            <a:ext cx="3670300" cy="2057400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060856" y="6066768"/>
            <a:ext cx="4379595" cy="1950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5715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Somewhat confusingly, and for historical reasons, such multiple layer networks are </a:t>
            </a:r>
            <a:r>
              <a:rPr dirty="0" sz="850" spc="-10">
                <a:latin typeface="Calibri"/>
                <a:cs typeface="Calibri"/>
              </a:rPr>
              <a:t>some-</a:t>
            </a:r>
            <a:r>
              <a:rPr dirty="0" sz="850" spc="10">
                <a:latin typeface="Calibri"/>
                <a:cs typeface="Calibri"/>
              </a:rPr>
              <a:t>times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multilayer</a:t>
            </a:r>
            <a:r>
              <a:rPr dirty="0" sz="850" spc="204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perceptrons</a:t>
            </a:r>
            <a:r>
              <a:rPr dirty="0" sz="850" spc="21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MLPs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despite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made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neurons,</a:t>
            </a:r>
            <a:r>
              <a:rPr dirty="0" sz="850" spc="20">
                <a:latin typeface="Calibri"/>
                <a:cs typeface="Calibri"/>
              </a:rPr>
              <a:t> 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perceptrons.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MLP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terminology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confusing,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warn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existence.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design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straightforward.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determine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handwritten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depicts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“9”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not.</a:t>
            </a:r>
            <a:r>
              <a:rPr dirty="0" sz="850" spc="50">
                <a:latin typeface="Calibri"/>
                <a:cs typeface="Calibri"/>
              </a:rPr>
              <a:t> 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natural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encode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intensities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64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64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greyscale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4,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096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64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25">
                <a:latin typeface="Calibri"/>
                <a:cs typeface="Calibri"/>
              </a:rPr>
              <a:t>64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intensities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scaled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appropriately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0.5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indicating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“input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9”,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greater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0.5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indicating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“input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9”.</a:t>
            </a:r>
            <a:endParaRPr sz="850">
              <a:latin typeface="Calibri"/>
              <a:cs typeface="Calibri"/>
            </a:endParaRPr>
          </a:p>
          <a:p>
            <a:pPr algn="just" marL="19050" marR="5715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straight-</a:t>
            </a:r>
            <a:r>
              <a:rPr dirty="0" sz="850" spc="10">
                <a:latin typeface="Calibri"/>
                <a:cs typeface="Calibri"/>
              </a:rPr>
              <a:t>forward,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design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8" name="object 8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606290" cy="427609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12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45745" marR="50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thumb.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researchers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heuristics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hidden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such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heuristics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determine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trade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against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required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heuristics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book.</a:t>
            </a:r>
            <a:endParaRPr sz="850">
              <a:latin typeface="Calibri"/>
              <a:cs typeface="Calibri"/>
            </a:endParaRPr>
          </a:p>
          <a:p>
            <a:pPr algn="r" marL="245745" marR="6350" indent="189230">
              <a:lnSpc>
                <a:spcPct val="114300"/>
              </a:lnSpc>
              <a:spcBef>
                <a:spcPts val="10"/>
              </a:spcBef>
            </a:pP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feedforward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loops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information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always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forward,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never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loops,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situations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10" i="1">
                <a:latin typeface="Times New Roman"/>
                <a:cs typeface="Times New Roman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depended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loops.</a:t>
            </a:r>
            <a:endParaRPr sz="850">
              <a:latin typeface="Calibri"/>
              <a:cs typeface="Calibri"/>
            </a:endParaRPr>
          </a:p>
          <a:p>
            <a:pPr algn="just" marL="240665" marR="5080" indent="194310">
              <a:lnSpc>
                <a:spcPct val="114300"/>
              </a:lnSpc>
              <a:spcBef>
                <a:spcPts val="10"/>
              </a:spcBef>
            </a:pP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feedback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loops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recurrent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limited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duration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before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becoming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quiescent.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stimulate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limited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duration.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fire,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cascade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firing.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Loops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affects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instantaneously.</a:t>
            </a:r>
            <a:endParaRPr sz="850">
              <a:latin typeface="Calibri"/>
              <a:cs typeface="Calibri"/>
            </a:endParaRPr>
          </a:p>
          <a:p>
            <a:pPr algn="just" marL="245745" marR="5080" indent="189230">
              <a:lnSpc>
                <a:spcPct val="114300"/>
              </a:lnSpc>
              <a:spcBef>
                <a:spcPts val="15"/>
              </a:spcBef>
            </a:pPr>
            <a:r>
              <a:rPr dirty="0" sz="850" spc="10">
                <a:latin typeface="Calibri"/>
                <a:cs typeface="Calibri"/>
              </a:rPr>
              <a:t>Recurrent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influential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feedforward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part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recurrent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date)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powerful.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recurrent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extremely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interesting.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spirit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feedforward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recurrent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solve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important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feedforward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limit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scope,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concentrate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widely-</a:t>
            </a:r>
            <a:r>
              <a:rPr dirty="0" sz="850" spc="-20">
                <a:latin typeface="Calibri"/>
                <a:cs typeface="Calibri"/>
              </a:rPr>
              <a:t>used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feedforward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01" y="4857701"/>
            <a:ext cx="4349750" cy="9105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9725" algn="l"/>
              </a:tabLst>
            </a:pPr>
            <a:r>
              <a:rPr dirty="0" sz="1050" spc="30" b="1">
                <a:latin typeface="Calibri"/>
                <a:cs typeface="Calibri"/>
              </a:rPr>
              <a:t>1.4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30" b="1">
                <a:latin typeface="Calibri"/>
                <a:cs typeface="Calibri"/>
              </a:rPr>
              <a:t>A</a:t>
            </a:r>
            <a:r>
              <a:rPr dirty="0" sz="1050" spc="145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simple</a:t>
            </a:r>
            <a:r>
              <a:rPr dirty="0" sz="1050" spc="150" b="1">
                <a:latin typeface="Calibri"/>
                <a:cs typeface="Calibri"/>
              </a:rPr>
              <a:t> </a:t>
            </a:r>
            <a:r>
              <a:rPr dirty="0" sz="1050" spc="30" b="1">
                <a:latin typeface="Calibri"/>
                <a:cs typeface="Calibri"/>
              </a:rPr>
              <a:t>network</a:t>
            </a:r>
            <a:r>
              <a:rPr dirty="0" sz="1050" spc="150" b="1">
                <a:latin typeface="Calibri"/>
                <a:cs typeface="Calibri"/>
              </a:rPr>
              <a:t> </a:t>
            </a:r>
            <a:r>
              <a:rPr dirty="0" sz="1050" spc="30" b="1">
                <a:latin typeface="Calibri"/>
                <a:cs typeface="Calibri"/>
              </a:rPr>
              <a:t>to</a:t>
            </a:r>
            <a:r>
              <a:rPr dirty="0" sz="1050" spc="145" b="1">
                <a:latin typeface="Calibri"/>
                <a:cs typeface="Calibri"/>
              </a:rPr>
              <a:t> </a:t>
            </a:r>
            <a:r>
              <a:rPr dirty="0" sz="1050" spc="30" b="1">
                <a:latin typeface="Calibri"/>
                <a:cs typeface="Calibri"/>
              </a:rPr>
              <a:t>classify</a:t>
            </a:r>
            <a:r>
              <a:rPr dirty="0" sz="1050" spc="150" b="1">
                <a:latin typeface="Calibri"/>
                <a:cs typeface="Calibri"/>
              </a:rPr>
              <a:t> </a:t>
            </a:r>
            <a:r>
              <a:rPr dirty="0" sz="1050" spc="30" b="1">
                <a:latin typeface="Calibri"/>
                <a:cs typeface="Calibri"/>
              </a:rPr>
              <a:t>handwritten</a:t>
            </a:r>
            <a:r>
              <a:rPr dirty="0" sz="1050" spc="150" b="1">
                <a:latin typeface="Calibri"/>
                <a:cs typeface="Calibri"/>
              </a:rPr>
              <a:t> </a:t>
            </a:r>
            <a:r>
              <a:rPr dirty="0" sz="1050" spc="40" b="1">
                <a:latin typeface="Calibri"/>
                <a:cs typeface="Calibri"/>
              </a:rPr>
              <a:t>digits</a:t>
            </a:r>
            <a:endParaRPr sz="1050">
              <a:latin typeface="Calibri"/>
              <a:cs typeface="Calibri"/>
            </a:endParaRPr>
          </a:p>
          <a:p>
            <a:pPr algn="just" marL="12700" marR="5080">
              <a:lnSpc>
                <a:spcPct val="114300"/>
              </a:lnSpc>
              <a:spcBef>
                <a:spcPts val="1040"/>
              </a:spcBef>
            </a:pPr>
            <a:r>
              <a:rPr dirty="0" sz="850" spc="55">
                <a:latin typeface="Calibri"/>
                <a:cs typeface="Calibri"/>
              </a:rPr>
              <a:t>Having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defined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neural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networks,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return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handwriting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recognition.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can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split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problem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recognizing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handwritten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two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sub-problems.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First,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breaking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containing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sequence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separate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images,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each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break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67915" y="5878169"/>
            <a:ext cx="1424177" cy="29260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707301" y="6302593"/>
            <a:ext cx="11982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six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separate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images,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27873" y="6569303"/>
            <a:ext cx="2304288" cy="362102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699754" y="7046373"/>
            <a:ext cx="4356735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685" marR="5080" indent="-762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humans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solve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segmentation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problem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challenging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break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segmented,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program</a:t>
            </a:r>
            <a:r>
              <a:rPr dirty="0" sz="850" spc="20">
                <a:latin typeface="Calibri"/>
                <a:cs typeface="Calibri"/>
              </a:rPr>
              <a:t> then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individual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instance,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above,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787878" y="7791869"/>
            <a:ext cx="184251" cy="190195"/>
          </a:xfrm>
          <a:prstGeom prst="rect">
            <a:avLst/>
          </a:prstGeom>
        </p:spPr>
      </p:pic>
      <p:grpSp>
        <p:nvGrpSpPr>
          <p:cNvPr id="9" name="object 9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10" name="object 10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51203"/>
                  </a:lnTo>
                  <a:lnTo>
                    <a:pt x="2525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3"/>
                  </a:moveTo>
                  <a:lnTo>
                    <a:pt x="2525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815234" y="368721"/>
            <a:ext cx="280479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669540" algn="l"/>
              </a:tabLst>
            </a:pPr>
            <a:r>
              <a:rPr dirty="0" sz="850" spc="10">
                <a:latin typeface="Calibri"/>
                <a:cs typeface="Calibri"/>
              </a:rPr>
              <a:t>1.4.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13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0856" y="913714"/>
            <a:ext cx="4379595" cy="224599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algn="just" marL="19050">
              <a:lnSpc>
                <a:spcPct val="100000"/>
              </a:lnSpc>
              <a:spcBef>
                <a:spcPts val="240"/>
              </a:spcBef>
            </a:pP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5.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</a:pP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focus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classifying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individual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segmentation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classifying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individual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approaches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solving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segmentation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problem.</a:t>
            </a:r>
            <a:r>
              <a:rPr dirty="0" sz="850" spc="195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trial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segmenting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individual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score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trial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segmentation.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trial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segmentation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high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score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individual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confident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segments,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score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trouble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segments.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trouble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somewhere,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trouble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segmentation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chosen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incorrectly.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idea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variations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segmentation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worrying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segmentation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concentrate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namely,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individual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handwritten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digits.</a:t>
            </a:r>
            <a:endParaRPr sz="850">
              <a:latin typeface="Calibri"/>
              <a:cs typeface="Calibri"/>
            </a:endParaRPr>
          </a:p>
          <a:p>
            <a:pPr algn="just" marL="208915">
              <a:lnSpc>
                <a:spcPct val="100000"/>
              </a:lnSpc>
              <a:spcBef>
                <a:spcPts val="145"/>
              </a:spcBef>
            </a:pP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recognize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individual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three-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8264" y="3296339"/>
            <a:ext cx="4223532" cy="355580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062380" y="6954984"/>
            <a:ext cx="4350385" cy="10617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encoding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28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28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scanned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784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28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30">
                <a:latin typeface="Calibri"/>
                <a:cs typeface="Calibri"/>
              </a:rPr>
              <a:t>28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simplicity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omitted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784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diagram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greyscale,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0.0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representing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white,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representing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black,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representing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gradually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darkening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shades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grey.</a:t>
            </a:r>
            <a:endParaRPr sz="850">
              <a:latin typeface="Calibri"/>
              <a:cs typeface="Calibri"/>
            </a:endParaRPr>
          </a:p>
          <a:p>
            <a:pPr algn="just" marL="207010">
              <a:lnSpc>
                <a:spcPct val="100000"/>
              </a:lnSpc>
              <a:spcBef>
                <a:spcPts val="14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7" name="object 7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578985" cy="1016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14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245745" marR="50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shown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illustrates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15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  <a:p>
            <a:pPr marL="435609">
              <a:lnSpc>
                <a:spcPct val="100000"/>
              </a:lnSpc>
              <a:spcBef>
                <a:spcPts val="15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fires,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has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62752" y="1359009"/>
            <a:ext cx="4433570" cy="3284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7150" marR="431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8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indicate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second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indicate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precisely,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highest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6,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guess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6.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  <a:p>
            <a:pPr algn="just" marL="50800" marR="43815" indent="196215">
              <a:lnSpc>
                <a:spcPct val="114300"/>
              </a:lnSpc>
              <a:spcBef>
                <a:spcPts val="10"/>
              </a:spcBef>
            </a:pPr>
            <a:r>
              <a:rPr dirty="0" sz="850" spc="25">
                <a:latin typeface="Calibri"/>
                <a:cs typeface="Calibri"/>
              </a:rPr>
              <a:t>You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might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wonder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why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output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neurons.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After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all,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goal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tell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which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digit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(0,1,2,.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.,9) </a:t>
            </a:r>
            <a:r>
              <a:rPr dirty="0" sz="850" spc="25">
                <a:latin typeface="Calibri"/>
                <a:cs typeface="Calibri"/>
              </a:rPr>
              <a:t>corresponds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input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image.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seemingly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natural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way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doing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4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neurons,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treating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each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neuron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taking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binary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value,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depending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whether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neuron’s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output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closer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0 </a:t>
            </a:r>
            <a:r>
              <a:rPr dirty="0" sz="850" spc="25">
                <a:latin typeface="Calibri"/>
                <a:cs typeface="Calibri"/>
              </a:rPr>
              <a:t>or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1.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Four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neurons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enough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encode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answer,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2</a:t>
            </a:r>
            <a:r>
              <a:rPr dirty="0" baseline="35353" sz="825" spc="60">
                <a:latin typeface="Calibri"/>
                <a:cs typeface="Calibri"/>
              </a:rPr>
              <a:t>4</a:t>
            </a:r>
            <a:r>
              <a:rPr dirty="0" baseline="35353" sz="825">
                <a:latin typeface="Calibri"/>
                <a:cs typeface="Calibri"/>
              </a:rPr>
              <a:t>  </a:t>
            </a:r>
            <a:r>
              <a:rPr dirty="0" sz="850" spc="4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40">
                <a:latin typeface="Calibri"/>
                <a:cs typeface="Calibri"/>
              </a:rPr>
              <a:t>16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more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than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10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input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digit.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Why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should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network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instead?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inefficient?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ultimate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justification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empirical: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try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both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network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designs,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this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particular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problem,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with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output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neurons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learns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recognize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digits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network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4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neurons.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leaves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us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wondering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why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using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10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better.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some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heuristic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would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advance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should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10-output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encoding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instead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4-output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encoding?</a:t>
            </a:r>
            <a:endParaRPr sz="850">
              <a:latin typeface="Calibri"/>
              <a:cs typeface="Calibri"/>
            </a:endParaRPr>
          </a:p>
          <a:p>
            <a:pPr algn="just" marL="57150" marR="45085" indent="189230">
              <a:lnSpc>
                <a:spcPct val="114300"/>
              </a:lnSpc>
              <a:spcBef>
                <a:spcPts val="10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concentrate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decide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digit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0.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evidence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doing?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first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detects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present: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81135" y="4851202"/>
            <a:ext cx="105036" cy="13576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707301" y="5298421"/>
            <a:ext cx="4349750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heavily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pixels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overlap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only</a:t>
            </a:r>
            <a:r>
              <a:rPr dirty="0" sz="850" spc="20">
                <a:latin typeface="Calibri"/>
                <a:cs typeface="Calibri"/>
              </a:rPr>
              <a:t> lightly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inputs.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similar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sake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argument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third,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fourth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detect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present: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03234" y="6043315"/>
            <a:ext cx="1347418" cy="407332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702057" y="6570822"/>
            <a:ext cx="435102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780" marR="5080" indent="-571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guessed,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together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earlier: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664866" y="7001125"/>
            <a:ext cx="430268" cy="432007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690905" y="7547126"/>
            <a:ext cx="436245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587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conclude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sort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conclude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0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could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legitimately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(say,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through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translations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above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11" name="object 11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51203"/>
                  </a:lnTo>
                  <a:lnTo>
                    <a:pt x="2525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3"/>
                  </a:moveTo>
                  <a:lnTo>
                    <a:pt x="2525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6" y="368721"/>
            <a:ext cx="4559300" cy="29698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25395">
              <a:lnSpc>
                <a:spcPts val="525"/>
              </a:lnSpc>
              <a:spcBef>
                <a:spcPts val="110"/>
              </a:spcBef>
              <a:tabLst>
                <a:tab pos="4424045" algn="l"/>
              </a:tabLst>
            </a:pPr>
            <a:r>
              <a:rPr dirty="0" sz="850" spc="10">
                <a:latin typeface="Calibri"/>
                <a:cs typeface="Calibri"/>
              </a:rPr>
              <a:t>1.5.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15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9050" marR="211454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images,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slight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distortions).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safe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conclude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0.</a:t>
            </a:r>
            <a:endParaRPr sz="850">
              <a:latin typeface="Calibri"/>
              <a:cs typeface="Calibri"/>
            </a:endParaRPr>
          </a:p>
          <a:p>
            <a:pPr algn="just" marL="19050" marR="188595" indent="189230">
              <a:lnSpc>
                <a:spcPct val="114300"/>
              </a:lnSpc>
              <a:spcBef>
                <a:spcPts val="10"/>
              </a:spcBef>
            </a:pPr>
            <a:r>
              <a:rPr dirty="0" sz="850" spc="10">
                <a:latin typeface="Calibri"/>
                <a:cs typeface="Calibri"/>
              </a:rPr>
              <a:t>Supposing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plausible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explanation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4.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4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decide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significant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relate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significant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shapes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above.</a:t>
            </a:r>
            <a:r>
              <a:rPr dirty="0" sz="850" spc="4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hard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imagine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historical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component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shapes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closely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(say)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significant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output.</a:t>
            </a:r>
            <a:endParaRPr sz="850">
              <a:latin typeface="Calibri"/>
              <a:cs typeface="Calibri"/>
            </a:endParaRPr>
          </a:p>
          <a:p>
            <a:pPr algn="just" marL="12700" marR="207645" indent="196215">
              <a:lnSpc>
                <a:spcPct val="114300"/>
              </a:lnSpc>
              <a:spcBef>
                <a:spcPts val="10"/>
              </a:spcBef>
            </a:pP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said,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heuristic.</a:t>
            </a:r>
            <a:r>
              <a:rPr dirty="0" sz="850" spc="16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Nothing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three-</a:t>
            </a:r>
            <a:r>
              <a:rPr dirty="0" sz="850" spc="-10">
                <a:latin typeface="Calibri"/>
                <a:cs typeface="Calibri"/>
              </a:rPr>
              <a:t>layer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operate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described,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detecting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component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shapes.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clever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assignment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weights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4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heuristic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architectures.</a:t>
            </a:r>
            <a:endParaRPr sz="8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30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65034" y="3309769"/>
            <a:ext cx="4161790" cy="913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30810" marR="5080" indent="-118745">
              <a:lnSpc>
                <a:spcPct val="114300"/>
              </a:lnSpc>
              <a:spcBef>
                <a:spcPts val="95"/>
              </a:spcBef>
              <a:buFont typeface="Cambria"/>
              <a:buChar char="•"/>
              <a:tabLst>
                <a:tab pos="130810" algn="l"/>
              </a:tabLst>
            </a:pP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determining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bitwise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representation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extra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three-layer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converts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previous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binary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representation,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illustrated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below.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Assume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third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(i.e.,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layer)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0.99,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incorrect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0.01.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40392" y="4359564"/>
            <a:ext cx="3864158" cy="220389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067296" y="6810456"/>
            <a:ext cx="4368800" cy="1206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9725" algn="l"/>
              </a:tabLst>
            </a:pPr>
            <a:r>
              <a:rPr dirty="0" sz="1050" spc="30" b="1">
                <a:latin typeface="Calibri"/>
                <a:cs typeface="Calibri"/>
              </a:rPr>
              <a:t>1.5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70" b="1">
                <a:latin typeface="Calibri"/>
                <a:cs typeface="Calibri"/>
              </a:rPr>
              <a:t>Learning</a:t>
            </a:r>
            <a:r>
              <a:rPr dirty="0" sz="1050" spc="13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with</a:t>
            </a:r>
            <a:r>
              <a:rPr dirty="0" sz="1050" spc="14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gradient</a:t>
            </a:r>
            <a:r>
              <a:rPr dirty="0" sz="1050" spc="140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descent</a:t>
            </a:r>
            <a:endParaRPr sz="1050">
              <a:latin typeface="Calibri"/>
              <a:cs typeface="Calibri"/>
            </a:endParaRPr>
          </a:p>
          <a:p>
            <a:pPr algn="just" marL="12700" marR="5080">
              <a:lnSpc>
                <a:spcPct val="114300"/>
              </a:lnSpc>
              <a:spcBef>
                <a:spcPts val="1040"/>
              </a:spcBef>
            </a:pP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digits?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so-called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  <a:hlinkClick r:id="rId3"/>
              </a:rPr>
              <a:t>MNIST</a:t>
            </a:r>
            <a:r>
              <a:rPr dirty="0" sz="850" spc="95">
                <a:latin typeface="Calibri"/>
                <a:cs typeface="Calibri"/>
                <a:hlinkClick r:id="rId3"/>
              </a:rPr>
              <a:t> </a:t>
            </a:r>
            <a:r>
              <a:rPr dirty="0" sz="850" spc="10">
                <a:latin typeface="Calibri"/>
                <a:cs typeface="Calibri"/>
                <a:hlinkClick r:id="rId3"/>
              </a:rPr>
              <a:t>data</a:t>
            </a:r>
            <a:r>
              <a:rPr dirty="0" sz="850" spc="95">
                <a:latin typeface="Calibri"/>
                <a:cs typeface="Calibri"/>
                <a:hlinkClick r:id="rId3"/>
              </a:rPr>
              <a:t> </a:t>
            </a:r>
            <a:r>
              <a:rPr dirty="0" sz="850" spc="10">
                <a:latin typeface="Calibri"/>
                <a:cs typeface="Calibri"/>
                <a:hlinkClick r:id="rId3"/>
              </a:rPr>
              <a:t>set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thousands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scanned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together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correct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classifications.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modified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collected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NIST,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States’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National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Institute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Technology.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MNIST: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7" name="object 7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67589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16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27873" y="926058"/>
            <a:ext cx="2304288" cy="36210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65048" y="1357651"/>
            <a:ext cx="4453255" cy="34302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4610" marR="70485" indent="-5715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shown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beginning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challenge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ask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set!</a:t>
            </a:r>
            <a:endParaRPr sz="850">
              <a:latin typeface="Calibri"/>
              <a:cs typeface="Calibri"/>
            </a:endParaRPr>
          </a:p>
          <a:p>
            <a:pPr algn="just" marL="46990" marR="42545" indent="19685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MNIST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60,000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used</a:t>
            </a:r>
            <a:r>
              <a:rPr dirty="0" sz="850" spc="20">
                <a:latin typeface="Calibri"/>
                <a:cs typeface="Calibri"/>
              </a:rPr>
              <a:t> 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scanned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handwriting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samples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250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people,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half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whom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US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Census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Bureau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employees,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half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whom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high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school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students.</a:t>
            </a:r>
            <a:r>
              <a:rPr dirty="0" sz="850" spc="50">
                <a:latin typeface="Calibri"/>
                <a:cs typeface="Calibri"/>
              </a:rPr>
              <a:t> 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greyscale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28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28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data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10,000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28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28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greyscale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evaluate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recognize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250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(albeit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group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split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Census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Bureau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employees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high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school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students).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confidence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system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didn’t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during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training.</a:t>
            </a:r>
            <a:endParaRPr sz="850">
              <a:latin typeface="Calibri"/>
              <a:cs typeface="Calibri"/>
            </a:endParaRPr>
          </a:p>
          <a:p>
            <a:pPr algn="just" marL="50800" marR="43180" indent="193675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notation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22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denote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regard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each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28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10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28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784-dimensional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represents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corresponding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80">
                <a:latin typeface="Tahoma"/>
                <a:cs typeface="Tahoma"/>
              </a:rPr>
              <a:t> </a:t>
            </a:r>
            <a:r>
              <a:rPr dirty="0" sz="850" spc="60" i="1">
                <a:latin typeface="Calibri"/>
                <a:cs typeface="Calibri"/>
              </a:rPr>
              <a:t>y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x</a:t>
            </a:r>
            <a:r>
              <a:rPr dirty="0" sz="850" spc="60">
                <a:latin typeface="Tahoma"/>
                <a:cs typeface="Tahoma"/>
              </a:rPr>
              <a:t>)</a:t>
            </a:r>
            <a:r>
              <a:rPr dirty="0" sz="850" spc="60">
                <a:latin typeface="Calibri"/>
                <a:cs typeface="Calibri"/>
              </a:rPr>
              <a:t>,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10-dimensional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depicts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6,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75" i="1">
                <a:latin typeface="Calibri"/>
                <a:cs typeface="Calibri"/>
              </a:rPr>
              <a:t>y</a:t>
            </a:r>
            <a:r>
              <a:rPr dirty="0" sz="850" spc="75">
                <a:latin typeface="Tahoma"/>
                <a:cs typeface="Tahoma"/>
              </a:rPr>
              <a:t>(</a:t>
            </a:r>
            <a:r>
              <a:rPr dirty="0" sz="850" spc="75" i="1">
                <a:latin typeface="Calibri"/>
                <a:cs typeface="Calibri"/>
              </a:rPr>
              <a:t>x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baseline="35353" sz="825" i="1">
                <a:latin typeface="Calibri"/>
                <a:cs typeface="Calibri"/>
              </a:rPr>
              <a:t>T</a:t>
            </a:r>
            <a:r>
              <a:rPr dirty="0" baseline="35353" sz="825" spc="51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T</a:t>
            </a:r>
            <a:r>
              <a:rPr dirty="0" sz="850" spc="23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transpose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operation,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ordinary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(column)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vector.</a:t>
            </a:r>
            <a:endParaRPr sz="850">
              <a:latin typeface="Calibri"/>
              <a:cs typeface="Calibri"/>
            </a:endParaRPr>
          </a:p>
          <a:p>
            <a:pPr algn="just" marL="54610" marR="6731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approximates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y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5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quantify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baseline="35353" sz="825" spc="-15">
                <a:latin typeface="Calibri"/>
                <a:cs typeface="Calibri"/>
                <a:hlinkClick r:id="rId3" action="ppaction://hlinksldjump"/>
              </a:rPr>
              <a:t>3</a:t>
            </a:r>
            <a:r>
              <a:rPr dirty="0" sz="850" spc="-1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170618" y="4985117"/>
            <a:ext cx="4857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C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 spc="-50">
                <a:latin typeface="Cambria"/>
                <a:cs typeface="Cambria"/>
              </a:rPr>
              <a:t>≡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71343" y="4881478"/>
            <a:ext cx="149860" cy="3416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1900"/>
              </a:lnSpc>
              <a:spcBef>
                <a:spcPts val="95"/>
              </a:spcBef>
            </a:pPr>
            <a:r>
              <a:rPr dirty="0" u="sng" sz="85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50" spc="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2</a:t>
            </a:r>
            <a:r>
              <a:rPr dirty="0" sz="850" spc="3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826065" y="4865042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884752" y="5144281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994697" y="4985117"/>
            <a:ext cx="5505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80">
                <a:latin typeface="Cambria"/>
                <a:cs typeface="Cambria"/>
              </a:rPr>
              <a:t>ǁ</a:t>
            </a:r>
            <a:r>
              <a:rPr dirty="0" sz="850" spc="-80">
                <a:latin typeface="Cambria"/>
                <a:cs typeface="Cambria"/>
              </a:rPr>
              <a:t> </a:t>
            </a:r>
            <a:r>
              <a:rPr dirty="0" sz="850" spc="75" i="1">
                <a:latin typeface="Calibri"/>
                <a:cs typeface="Calibri"/>
              </a:rPr>
              <a:t>y</a:t>
            </a:r>
            <a:r>
              <a:rPr dirty="0" sz="850" spc="75">
                <a:latin typeface="Tahoma"/>
                <a:cs typeface="Tahoma"/>
              </a:rPr>
              <a:t>(</a:t>
            </a:r>
            <a:r>
              <a:rPr dirty="0" sz="850" spc="75" i="1">
                <a:latin typeface="Calibri"/>
                <a:cs typeface="Calibri"/>
              </a:rPr>
              <a:t>x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-100">
                <a:latin typeface="Tahoma"/>
                <a:cs typeface="Tahoma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 </a:t>
            </a:r>
            <a:r>
              <a:rPr dirty="0" sz="850" spc="30" i="1">
                <a:latin typeface="Calibri"/>
                <a:cs typeface="Calibri"/>
              </a:rPr>
              <a:t>a</a:t>
            </a:r>
            <a:r>
              <a:rPr dirty="0" sz="850" spc="30">
                <a:latin typeface="Cambria"/>
                <a:cs typeface="Cambria"/>
              </a:rPr>
              <a:t>ǁ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519851" y="4975103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784176" y="4985117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(1.6)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720001" y="765438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669201" y="5358950"/>
            <a:ext cx="4424680" cy="26555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43815" marR="29845" indent="635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Here,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denotes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collection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total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1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depends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keep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haven’t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explicitly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indicated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dependence.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60">
                <a:latin typeface="Cambria"/>
                <a:cs typeface="Cambria"/>
              </a:rPr>
              <a:t>ǁ</a:t>
            </a:r>
            <a:r>
              <a:rPr dirty="0" sz="850" spc="60" i="1">
                <a:latin typeface="Calibri"/>
                <a:cs typeface="Calibri"/>
              </a:rPr>
              <a:t>v</a:t>
            </a:r>
            <a:r>
              <a:rPr dirty="0" sz="850" spc="60">
                <a:latin typeface="Cambria"/>
                <a:cs typeface="Cambria"/>
              </a:rPr>
              <a:t>ǁ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v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quadratic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function;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mean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squared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error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MSE.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Inspecting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C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8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non-negative,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sum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non-negative.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Furthermore,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C</a:t>
            </a:r>
            <a:r>
              <a:rPr dirty="0" sz="850" spc="20">
                <a:latin typeface="Tahoma"/>
                <a:cs typeface="Tahoma"/>
              </a:rPr>
              <a:t>(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sz="850" spc="20">
                <a:latin typeface="Tahoma"/>
                <a:cs typeface="Tahoma"/>
              </a:rPr>
              <a:t>)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becomes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i.e.,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C</a:t>
            </a:r>
            <a:r>
              <a:rPr dirty="0" sz="850" spc="20">
                <a:latin typeface="Tahoma"/>
                <a:cs typeface="Tahoma"/>
              </a:rPr>
              <a:t>(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sz="850" spc="20">
                <a:latin typeface="Tahoma"/>
                <a:cs typeface="Tahoma"/>
              </a:rPr>
              <a:t>)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75">
                <a:latin typeface="Cambria"/>
                <a:cs typeface="Cambria"/>
              </a:rPr>
              <a:t> </a:t>
            </a:r>
            <a:r>
              <a:rPr dirty="0" sz="850" spc="20">
                <a:latin typeface="Calibri"/>
                <a:cs typeface="Calibri"/>
              </a:rPr>
              <a:t>0,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precisely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y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Tahoma"/>
                <a:cs typeface="Tahoma"/>
              </a:rPr>
              <a:t>)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approximately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job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C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95">
                <a:latin typeface="Tahoma"/>
                <a:cs typeface="Tahoma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17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0.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By </a:t>
            </a:r>
            <a:r>
              <a:rPr dirty="0" sz="850">
                <a:latin typeface="Calibri"/>
                <a:cs typeface="Calibri"/>
              </a:rPr>
              <a:t>contrast,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C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114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y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114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aim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minimize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C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do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gradient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descent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50800" marR="43180" indent="127635">
              <a:lnSpc>
                <a:spcPts val="800"/>
              </a:lnSpc>
              <a:spcBef>
                <a:spcPts val="840"/>
              </a:spcBef>
            </a:pPr>
            <a:r>
              <a:rPr dirty="0" baseline="30303" sz="825" spc="30">
                <a:latin typeface="Calibri"/>
                <a:cs typeface="Calibri"/>
              </a:rPr>
              <a:t>3</a:t>
            </a:r>
            <a:r>
              <a:rPr dirty="0" sz="750" spc="20">
                <a:latin typeface="Calibri"/>
                <a:cs typeface="Calibri"/>
              </a:rPr>
              <a:t>Sometimes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referred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loss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or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objective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function.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use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term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cost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function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throughout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book,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but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you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should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note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other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terminology,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since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it’s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often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research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papers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other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discussions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neural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networks.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15" name="object 15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6980" y="368721"/>
            <a:ext cx="4608195" cy="54641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49525">
              <a:lnSpc>
                <a:spcPts val="525"/>
              </a:lnSpc>
              <a:spcBef>
                <a:spcPts val="110"/>
              </a:spcBef>
              <a:tabLst>
                <a:tab pos="4448175" algn="l"/>
              </a:tabLst>
            </a:pPr>
            <a:r>
              <a:rPr dirty="0" sz="850" spc="10">
                <a:latin typeface="Calibri"/>
                <a:cs typeface="Calibri"/>
              </a:rPr>
              <a:t>1.5.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17</a:t>
            </a:r>
            <a:endParaRPr sz="850">
              <a:latin typeface="Calibri"/>
              <a:cs typeface="Calibri"/>
            </a:endParaRPr>
          </a:p>
          <a:p>
            <a:pPr algn="r" marR="2279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100" marR="209550" indent="19431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introduce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cost?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aren’t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primarily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number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correctly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network?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maximize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directly,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minimizing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proxy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measure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cost?</a:t>
            </a:r>
            <a:r>
              <a:rPr dirty="0" sz="850" spc="4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correctly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classified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smooth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making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correctly.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improved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smooth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focus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minimizing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examine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accuracy.</a:t>
            </a:r>
            <a:endParaRPr sz="850">
              <a:latin typeface="Calibri"/>
              <a:cs typeface="Calibri"/>
            </a:endParaRPr>
          </a:p>
          <a:p>
            <a:pPr algn="just" marL="42545" marR="234315" indent="189230">
              <a:lnSpc>
                <a:spcPct val="114300"/>
              </a:lnSpc>
              <a:spcBef>
                <a:spcPts val="20"/>
              </a:spcBef>
            </a:pP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smooth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wonder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1.6.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hoc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choice?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Perhaps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totally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minimizing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biases?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valid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concern,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revisit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modifications.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1.6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perfectly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stick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now.</a:t>
            </a:r>
            <a:endParaRPr sz="850">
              <a:latin typeface="Calibri"/>
              <a:cs typeface="Calibri"/>
            </a:endParaRPr>
          </a:p>
          <a:p>
            <a:pPr algn="just" marL="38735" marR="214629" indent="193675">
              <a:lnSpc>
                <a:spcPct val="114300"/>
              </a:lnSpc>
              <a:spcBef>
                <a:spcPts val="20"/>
              </a:spcBef>
            </a:pPr>
            <a:r>
              <a:rPr dirty="0" sz="850" spc="20">
                <a:latin typeface="Calibri"/>
                <a:cs typeface="Calibri"/>
              </a:rPr>
              <a:t>Recapping,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minimize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C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well-posed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lot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distracting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currently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interpretation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70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lurking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background,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MNIST,</a:t>
            </a:r>
            <a:r>
              <a:rPr dirty="0" sz="850" spc="20">
                <a:latin typeface="Calibri"/>
                <a:cs typeface="Calibri"/>
              </a:rPr>
              <a:t> 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turns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tremendous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amount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ignoring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concentrating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minimization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aspect.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forget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specific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imagine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many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minimize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called</a:t>
            </a:r>
            <a:r>
              <a:rPr dirty="0" sz="850" spc="20">
                <a:latin typeface="Calibri"/>
                <a:cs typeface="Calibri"/>
              </a:rPr>
              <a:t> gradient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solve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minimization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problems.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come</a:t>
            </a:r>
            <a:r>
              <a:rPr dirty="0" sz="850" spc="20">
                <a:latin typeface="Calibri"/>
                <a:cs typeface="Calibri"/>
              </a:rPr>
              <a:t> back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specific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minimize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  <a:p>
            <a:pPr algn="just" marL="42545" marR="233045" indent="189230">
              <a:lnSpc>
                <a:spcPct val="114300"/>
              </a:lnSpc>
              <a:spcBef>
                <a:spcPts val="25"/>
              </a:spcBef>
            </a:pPr>
            <a:r>
              <a:rPr dirty="0" sz="850" spc="25">
                <a:latin typeface="Calibri"/>
                <a:cs typeface="Calibri"/>
              </a:rPr>
              <a:t>Okay,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let’s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trying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minimize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function,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C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v</a:t>
            </a:r>
            <a:r>
              <a:rPr dirty="0" sz="850" spc="60">
                <a:latin typeface="Tahoma"/>
                <a:cs typeface="Tahoma"/>
              </a:rPr>
              <a:t>)</a:t>
            </a:r>
            <a:r>
              <a:rPr dirty="0" sz="850" spc="60">
                <a:latin typeface="Calibri"/>
                <a:cs typeface="Calibri"/>
              </a:rPr>
              <a:t>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could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any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real-</a:t>
            </a:r>
            <a:r>
              <a:rPr dirty="0" sz="850" spc="25">
                <a:latin typeface="Calibri"/>
                <a:cs typeface="Calibri"/>
              </a:rPr>
              <a:t>valued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function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many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variables,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v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45" i="1">
                <a:latin typeface="Calibri"/>
                <a:cs typeface="Calibri"/>
              </a:rPr>
              <a:t>v</a:t>
            </a:r>
            <a:r>
              <a:rPr dirty="0" sz="850" spc="45">
                <a:latin typeface="Calibri"/>
                <a:cs typeface="Calibri"/>
              </a:rPr>
              <a:t>1,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 spc="45" i="1">
                <a:latin typeface="Calibri"/>
                <a:cs typeface="Calibri"/>
              </a:rPr>
              <a:t>v</a:t>
            </a:r>
            <a:r>
              <a:rPr dirty="0" sz="850" spc="45">
                <a:latin typeface="Calibri"/>
                <a:cs typeface="Calibri"/>
              </a:rPr>
              <a:t>2,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I’ve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replaced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5" i="1">
                <a:latin typeface="Calibri"/>
                <a:cs typeface="Calibri"/>
              </a:rPr>
              <a:t>b </a:t>
            </a:r>
            <a:r>
              <a:rPr dirty="0" sz="850" spc="10">
                <a:latin typeface="Calibri"/>
                <a:cs typeface="Calibri"/>
              </a:rPr>
              <a:t>notation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v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emphasize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could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be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–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we’re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not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specifically</a:t>
            </a:r>
            <a:r>
              <a:rPr dirty="0" sz="850" spc="25">
                <a:latin typeface="Calibri"/>
                <a:cs typeface="Calibri"/>
              </a:rPr>
              <a:t> thinking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neural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context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minimize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C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v</a:t>
            </a:r>
            <a:r>
              <a:rPr dirty="0" sz="850" spc="60">
                <a:latin typeface="Tahoma"/>
                <a:cs typeface="Tahoma"/>
              </a:rPr>
              <a:t>)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imagine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two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variables,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which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we’ll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v</a:t>
            </a:r>
            <a:r>
              <a:rPr dirty="0" baseline="-20202" sz="825" spc="22">
                <a:latin typeface="Calibri"/>
                <a:cs typeface="Calibri"/>
              </a:rPr>
              <a:t>1</a:t>
            </a:r>
            <a:r>
              <a:rPr dirty="0" baseline="-20202" sz="825" spc="247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v</a:t>
            </a:r>
            <a:r>
              <a:rPr dirty="0" baseline="-20202" sz="825" spc="60">
                <a:latin typeface="Calibri"/>
                <a:cs typeface="Calibri"/>
              </a:rPr>
              <a:t>2</a:t>
            </a:r>
            <a:r>
              <a:rPr dirty="0" sz="850" spc="4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99323" y="6192279"/>
            <a:ext cx="1513213" cy="121945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59750" y="7695138"/>
            <a:ext cx="435356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685" marR="5080" indent="-762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32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achieves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global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minimum.</a:t>
            </a:r>
            <a:r>
              <a:rPr dirty="0" sz="850" spc="4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plotted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eyeball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graph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minimum.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sense,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I’ve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6" name="object 6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48781" y="368721"/>
            <a:ext cx="4657090" cy="64789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33375" algn="l"/>
              </a:tabLst>
            </a:pPr>
            <a:r>
              <a:rPr dirty="0" sz="850" spc="25">
                <a:latin typeface="Calibri"/>
                <a:cs typeface="Calibri"/>
              </a:rPr>
              <a:t>18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2203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71145" marR="5778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slightly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function!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sz="850" spc="85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complicated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eyeball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find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minimum.</a:t>
            </a:r>
            <a:endParaRPr sz="850">
              <a:latin typeface="Calibri"/>
              <a:cs typeface="Calibri"/>
            </a:endParaRPr>
          </a:p>
          <a:p>
            <a:pPr algn="just" marL="263525" marR="30480" indent="196850">
              <a:lnSpc>
                <a:spcPct val="114300"/>
              </a:lnSpc>
              <a:spcBef>
                <a:spcPts val="210"/>
              </a:spcBef>
            </a:pP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attacking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calculus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minimum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analytically.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places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extremum.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luck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3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nightmare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biggest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depend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billions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extremely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complicated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calculus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minimize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won’t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work!</a:t>
            </a:r>
            <a:endParaRPr sz="850">
              <a:latin typeface="Calibri"/>
              <a:cs typeface="Calibri"/>
            </a:endParaRPr>
          </a:p>
          <a:p>
            <a:pPr algn="just" marL="264160" marR="30480" indent="196215">
              <a:lnSpc>
                <a:spcPct val="114300"/>
              </a:lnSpc>
              <a:spcBef>
                <a:spcPts val="215"/>
              </a:spcBef>
            </a:pPr>
            <a:r>
              <a:rPr dirty="0" sz="850" spc="10">
                <a:latin typeface="Calibri"/>
                <a:cs typeface="Calibri"/>
              </a:rPr>
              <a:t>(After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asserting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insight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variables,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around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twice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paragraphs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“hey,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variables?”</a:t>
            </a:r>
            <a:r>
              <a:rPr dirty="0" sz="850" spc="4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Sorry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that.</a:t>
            </a:r>
            <a:r>
              <a:rPr dirty="0" sz="850" spc="4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Please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believe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imagine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1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sometimes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picture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breaks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paragraphs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dealing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breakdowns.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involves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juggling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pictures,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appropriate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picture,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not.)</a:t>
            </a:r>
            <a:endParaRPr sz="850">
              <a:latin typeface="Calibri"/>
              <a:cs typeface="Calibri"/>
            </a:endParaRPr>
          </a:p>
          <a:p>
            <a:pPr algn="just" marL="263525" marR="30480" indent="196850">
              <a:lnSpc>
                <a:spcPct val="114300"/>
              </a:lnSpc>
              <a:spcBef>
                <a:spcPts val="210"/>
              </a:spcBef>
            </a:pPr>
            <a:r>
              <a:rPr dirty="0" sz="850">
                <a:latin typeface="Calibri"/>
                <a:cs typeface="Calibri"/>
              </a:rPr>
              <a:t>Okay,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calculus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Fortunately,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beautiful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analogy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suggests</a:t>
            </a:r>
            <a:r>
              <a:rPr dirty="0" sz="850" spc="20">
                <a:latin typeface="Calibri"/>
                <a:cs typeface="Calibri"/>
              </a:rPr>
              <a:t> 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pretty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start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kind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valley.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squint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plot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shouldn’t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imagine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rolling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slope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valley.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everyday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experience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tells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eventually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bottom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valley.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minimum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function?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(imaginary)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ball,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simulate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rolled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bottom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valley.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simulation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second</a:t>
            </a:r>
            <a:r>
              <a:rPr dirty="0" sz="850" spc="20">
                <a:latin typeface="Calibri"/>
                <a:cs typeface="Calibri"/>
              </a:rPr>
              <a:t> derivatives)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derivatives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would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everything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“shape”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valley,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therefore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roll.</a:t>
            </a:r>
            <a:endParaRPr sz="850">
              <a:latin typeface="Calibri"/>
              <a:cs typeface="Calibri"/>
            </a:endParaRPr>
          </a:p>
          <a:p>
            <a:pPr algn="just" marL="264160" marR="33020" indent="196215">
              <a:lnSpc>
                <a:spcPct val="114300"/>
              </a:lnSpc>
              <a:spcBef>
                <a:spcPts val="215"/>
              </a:spcBef>
            </a:pPr>
            <a:r>
              <a:rPr dirty="0" sz="850">
                <a:latin typeface="Calibri"/>
                <a:cs typeface="Calibri"/>
              </a:rPr>
              <a:t>Based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written,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down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Newton’s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ball,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friction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gravity,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ball-rolling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analogy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seriously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–</a:t>
            </a:r>
            <a:r>
              <a:rPr dirty="0" sz="850" spc="20">
                <a:latin typeface="Calibri"/>
                <a:cs typeface="Calibri"/>
              </a:rPr>
              <a:t> we’re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devising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minimize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C,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developing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accurate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simulation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laws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physics!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ball’s-</a:t>
            </a:r>
            <a:r>
              <a:rPr dirty="0" sz="850" spc="10">
                <a:latin typeface="Calibri"/>
                <a:cs typeface="Calibri"/>
              </a:rPr>
              <a:t>eye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stimulate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imagination,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constrain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thinking.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messy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physics,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ourselves: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declared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own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laws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physics,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dictating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roll,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laws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rolled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bottom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valley?</a:t>
            </a:r>
            <a:endParaRPr sz="850">
              <a:latin typeface="Calibri"/>
              <a:cs typeface="Calibri"/>
            </a:endParaRPr>
          </a:p>
          <a:p>
            <a:pPr algn="just" marL="265430" marR="30480" indent="194945">
              <a:lnSpc>
                <a:spcPct val="114300"/>
              </a:lnSpc>
              <a:spcBef>
                <a:spcPts val="210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precise,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amount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90" i="1">
                <a:latin typeface="Arial"/>
                <a:cs typeface="Arial"/>
              </a:rPr>
              <a:t>∆</a:t>
            </a:r>
            <a:r>
              <a:rPr dirty="0" sz="850" spc="90" i="1">
                <a:latin typeface="Calibri"/>
                <a:cs typeface="Calibri"/>
              </a:rPr>
              <a:t>v</a:t>
            </a:r>
            <a:r>
              <a:rPr dirty="0" baseline="-20202" sz="825" spc="135">
                <a:latin typeface="Calibri"/>
                <a:cs typeface="Calibri"/>
              </a:rPr>
              <a:t>1</a:t>
            </a:r>
            <a:r>
              <a:rPr dirty="0" baseline="-20202" sz="825" spc="41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v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baseline="-20202" sz="825" spc="427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direction,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amount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90" i="1">
                <a:latin typeface="Arial"/>
                <a:cs typeface="Arial"/>
              </a:rPr>
              <a:t>∆</a:t>
            </a:r>
            <a:r>
              <a:rPr dirty="0" sz="850" spc="90" i="1">
                <a:latin typeface="Calibri"/>
                <a:cs typeface="Calibri"/>
              </a:rPr>
              <a:t>v</a:t>
            </a:r>
            <a:r>
              <a:rPr dirty="0" baseline="-20202" sz="825" spc="135">
                <a:latin typeface="Calibri"/>
                <a:cs typeface="Calibri"/>
              </a:rPr>
              <a:t>2</a:t>
            </a:r>
            <a:r>
              <a:rPr dirty="0" baseline="-20202" sz="825" spc="427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v</a:t>
            </a:r>
            <a:r>
              <a:rPr dirty="0" baseline="-20202" sz="825" spc="15">
                <a:latin typeface="Calibri"/>
                <a:cs typeface="Calibri"/>
              </a:rPr>
              <a:t>2</a:t>
            </a:r>
            <a:r>
              <a:rPr dirty="0" baseline="-20202" sz="825" spc="427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direction.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Calculus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tells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9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follows: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63177" y="7131484"/>
            <a:ext cx="1574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 </a:t>
            </a:r>
            <a:r>
              <a:rPr dirty="0" sz="850" spc="-50" i="1">
                <a:latin typeface="Calibri"/>
                <a:cs typeface="Calibri"/>
              </a:rPr>
              <a:t>v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63177" y="6973622"/>
            <a:ext cx="6997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30860" algn="l"/>
              </a:tabLst>
            </a:pPr>
            <a:r>
              <a:rPr dirty="0" u="sng" sz="850" spc="-1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 spc="-11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81553" y="7131484"/>
            <a:ext cx="1574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 </a:t>
            </a:r>
            <a:r>
              <a:rPr dirty="0" sz="850" spc="-50" i="1">
                <a:latin typeface="Calibri"/>
                <a:cs typeface="Calibri"/>
              </a:rPr>
              <a:t>v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92400" y="7192625"/>
            <a:ext cx="5848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30860" algn="l"/>
              </a:tabLst>
            </a:pP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898938" y="7111741"/>
            <a:ext cx="5848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30860" algn="l"/>
              </a:tabLst>
            </a:pP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40052" y="7050586"/>
            <a:ext cx="12801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26415" algn="l"/>
                <a:tab pos="1045210" algn="l"/>
              </a:tabLst>
            </a:pP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295">
                <a:latin typeface="Cambria"/>
                <a:cs typeface="Cambria"/>
              </a:rPr>
              <a:t>”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305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+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784193" y="7050586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(1.7)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48954" y="7399085"/>
            <a:ext cx="4455160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0485" marR="56515" indent="-762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90" i="1">
                <a:latin typeface="Arial"/>
                <a:cs typeface="Arial"/>
              </a:rPr>
              <a:t>∆</a:t>
            </a:r>
            <a:r>
              <a:rPr dirty="0" sz="850" spc="90" i="1">
                <a:latin typeface="Calibri"/>
                <a:cs typeface="Calibri"/>
              </a:rPr>
              <a:t>v</a:t>
            </a:r>
            <a:r>
              <a:rPr dirty="0" baseline="-20202" sz="825" spc="135">
                <a:latin typeface="Calibri"/>
                <a:cs typeface="Calibri"/>
              </a:rPr>
              <a:t>1</a:t>
            </a:r>
            <a:r>
              <a:rPr dirty="0" baseline="-20202" sz="825" spc="35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90" i="1">
                <a:latin typeface="Arial"/>
                <a:cs typeface="Arial"/>
              </a:rPr>
              <a:t>∆</a:t>
            </a:r>
            <a:r>
              <a:rPr dirty="0" sz="850" spc="90" i="1">
                <a:latin typeface="Calibri"/>
                <a:cs typeface="Calibri"/>
              </a:rPr>
              <a:t>v</a:t>
            </a:r>
            <a:r>
              <a:rPr dirty="0" baseline="-20202" sz="825" spc="135">
                <a:latin typeface="Calibri"/>
                <a:cs typeface="Calibri"/>
              </a:rPr>
              <a:t>2</a:t>
            </a:r>
            <a:r>
              <a:rPr dirty="0" baseline="-20202" sz="825" spc="35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negative;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i.e.,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rolling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valley.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v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≡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Arial"/>
                <a:cs typeface="Arial"/>
              </a:rPr>
              <a:t>∆</a:t>
            </a:r>
            <a:r>
              <a:rPr dirty="0" sz="850" spc="60" i="1">
                <a:latin typeface="Calibri"/>
                <a:cs typeface="Calibri"/>
              </a:rPr>
              <a:t>v</a:t>
            </a:r>
            <a:r>
              <a:rPr dirty="0" baseline="-20202" sz="825" spc="89">
                <a:latin typeface="Calibri"/>
                <a:cs typeface="Calibri"/>
              </a:rPr>
              <a:t>1</a:t>
            </a:r>
            <a:r>
              <a:rPr dirty="0" sz="850" spc="60">
                <a:latin typeface="Calibri"/>
                <a:cs typeface="Calibri"/>
              </a:rPr>
              <a:t>,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 spc="80" i="1">
                <a:latin typeface="Arial"/>
                <a:cs typeface="Arial"/>
              </a:rPr>
              <a:t>∆</a:t>
            </a:r>
            <a:r>
              <a:rPr dirty="0" sz="850" spc="80" i="1">
                <a:latin typeface="Calibri"/>
                <a:cs typeface="Calibri"/>
              </a:rPr>
              <a:t>v</a:t>
            </a:r>
            <a:r>
              <a:rPr dirty="0" baseline="-20202" sz="825" spc="120">
                <a:latin typeface="Calibri"/>
                <a:cs typeface="Calibri"/>
              </a:rPr>
              <a:t>2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baseline="35353" sz="825" spc="120" i="1">
                <a:latin typeface="Calibri"/>
                <a:cs typeface="Calibri"/>
              </a:rPr>
              <a:t>T</a:t>
            </a:r>
            <a:r>
              <a:rPr dirty="0" baseline="35353" sz="825" spc="2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T</a:t>
            </a:r>
            <a:r>
              <a:rPr dirty="0" sz="850" spc="204" i="1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transpose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operation,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row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column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vectors.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define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12" name="object 12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574122" y="368721"/>
            <a:ext cx="204597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910714" algn="l"/>
              </a:tabLst>
            </a:pPr>
            <a:r>
              <a:rPr dirty="0" sz="850" spc="10">
                <a:latin typeface="Calibri"/>
                <a:cs typeface="Calibri"/>
              </a:rPr>
              <a:t>1.5.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19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759428" y="931855"/>
            <a:ext cx="3543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550" spc="-5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5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55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550" spc="5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550" spc="2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550" spc="490" i="1">
                <a:latin typeface="Calibri"/>
                <a:cs typeface="Calibri"/>
              </a:rPr>
              <a:t> </a:t>
            </a:r>
            <a:r>
              <a:rPr dirty="0" u="sng" sz="550" spc="-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5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55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550" spc="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5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34028" y="1018876"/>
            <a:ext cx="3987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Times New Roman"/>
                <a:cs typeface="Times New Roman"/>
              </a:rPr>
              <a:t>∂</a:t>
            </a:r>
            <a:r>
              <a:rPr dirty="0" sz="550" spc="10" i="1">
                <a:latin typeface="Times New Roman"/>
                <a:cs typeface="Times New Roman"/>
              </a:rPr>
              <a:t> </a:t>
            </a:r>
            <a:r>
              <a:rPr dirty="0" sz="550" i="1">
                <a:latin typeface="Calibri"/>
                <a:cs typeface="Calibri"/>
              </a:rPr>
              <a:t>v</a:t>
            </a:r>
            <a:r>
              <a:rPr dirty="0" baseline="-18518" sz="675">
                <a:latin typeface="Calibri"/>
                <a:cs typeface="Calibri"/>
              </a:rPr>
              <a:t>1</a:t>
            </a:r>
            <a:r>
              <a:rPr dirty="0" baseline="-18518" sz="675" spc="352">
                <a:latin typeface="Calibri"/>
                <a:cs typeface="Calibri"/>
              </a:rPr>
              <a:t>  </a:t>
            </a:r>
            <a:r>
              <a:rPr dirty="0" sz="550" i="1">
                <a:latin typeface="Times New Roman"/>
                <a:cs typeface="Times New Roman"/>
              </a:rPr>
              <a:t>∂</a:t>
            </a:r>
            <a:r>
              <a:rPr dirty="0" sz="550" spc="20" i="1">
                <a:latin typeface="Times New Roman"/>
                <a:cs typeface="Times New Roman"/>
              </a:rPr>
              <a:t> </a:t>
            </a:r>
            <a:r>
              <a:rPr dirty="0" sz="550" spc="-25" i="1">
                <a:latin typeface="Calibri"/>
                <a:cs typeface="Calibri"/>
              </a:rPr>
              <a:t>v</a:t>
            </a:r>
            <a:r>
              <a:rPr dirty="0" baseline="-18518" sz="675" spc="-37">
                <a:latin typeface="Calibri"/>
                <a:cs typeface="Calibri"/>
              </a:rPr>
              <a:t>2</a:t>
            </a:r>
            <a:endParaRPr baseline="-18518" sz="675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689693" y="829325"/>
            <a:ext cx="4933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25450" algn="l"/>
              </a:tabLst>
            </a:pPr>
            <a:r>
              <a:rPr dirty="0" sz="850" spc="-475">
                <a:latin typeface="Arial MT"/>
                <a:cs typeface="Arial MT"/>
              </a:rPr>
              <a:t>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475">
                <a:latin typeface="Arial MT"/>
                <a:cs typeface="Arial MT"/>
              </a:rPr>
              <a:t>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161281" y="889604"/>
            <a:ext cx="6667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T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7296" y="946139"/>
            <a:ext cx="43484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846070" algn="l"/>
                <a:tab pos="3162300" algn="l"/>
              </a:tabLst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gradient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derivatives,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-50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3143" y="1094171"/>
            <a:ext cx="9055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20">
                <a:latin typeface="Cambria"/>
                <a:cs typeface="Cambria"/>
              </a:rPr>
              <a:t>𝝯</a:t>
            </a:r>
            <a:r>
              <a:rPr dirty="0" sz="850" spc="120" i="1">
                <a:latin typeface="Calibri"/>
                <a:cs typeface="Calibri"/>
              </a:rPr>
              <a:t>C</a:t>
            </a:r>
            <a:r>
              <a:rPr dirty="0" sz="850" spc="120">
                <a:latin typeface="Calibri"/>
                <a:cs typeface="Calibri"/>
              </a:rPr>
              <a:t>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i.e.: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22978" y="1308012"/>
            <a:ext cx="3079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-50">
                <a:latin typeface="Cambria"/>
                <a:cs typeface="Cambria"/>
              </a:rPr>
              <a:t>≡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14446" y="1231053"/>
            <a:ext cx="4337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-1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sz="850" spc="185" i="1">
                <a:latin typeface="Calibri"/>
                <a:cs typeface="Calibri"/>
              </a:rPr>
              <a:t>  </a:t>
            </a:r>
            <a:r>
              <a:rPr dirty="0" u="sng" sz="850" spc="-11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243653" y="1450055"/>
            <a:ext cx="3181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4160" algn="l"/>
              </a:tabLst>
            </a:pP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030929" y="1156872"/>
            <a:ext cx="6203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39115" algn="l"/>
              </a:tabLst>
            </a:pPr>
            <a:r>
              <a:rPr dirty="0" sz="850" spc="-365">
                <a:latin typeface="Arial MT"/>
                <a:cs typeface="Arial MT"/>
              </a:rPr>
              <a:t>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375">
                <a:latin typeface="Arial MT"/>
                <a:cs typeface="Arial MT"/>
              </a:rPr>
              <a:t>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629723" y="1217099"/>
            <a:ext cx="6667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T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14446" y="1308012"/>
            <a:ext cx="2298700" cy="23749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03835">
              <a:lnSpc>
                <a:spcPts val="830"/>
              </a:lnSpc>
              <a:spcBef>
                <a:spcPts val="110"/>
              </a:spcBef>
              <a:tabLst>
                <a:tab pos="598805" algn="l"/>
                <a:tab pos="2042160" algn="l"/>
              </a:tabLst>
            </a:pPr>
            <a:r>
              <a:rPr dirty="0" sz="850" spc="-50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-50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(1.8)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830"/>
              </a:lnSpc>
            </a:pPr>
            <a:r>
              <a:rPr dirty="0" sz="850" i="1">
                <a:latin typeface="Times New Roman"/>
                <a:cs typeface="Times New Roman"/>
              </a:rPr>
              <a:t>∂ </a:t>
            </a:r>
            <a:r>
              <a:rPr dirty="0" sz="850" i="1">
                <a:latin typeface="Calibri"/>
                <a:cs typeface="Calibri"/>
              </a:rPr>
              <a:t>v</a:t>
            </a:r>
            <a:r>
              <a:rPr dirty="0" sz="850" spc="280" i="1">
                <a:latin typeface="Calibri"/>
                <a:cs typeface="Calibri"/>
              </a:rPr>
              <a:t> 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v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60856" y="1590695"/>
            <a:ext cx="4377055" cy="1358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6350">
              <a:lnSpc>
                <a:spcPct val="114300"/>
              </a:lnSpc>
              <a:spcBef>
                <a:spcPts val="95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rewrite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27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22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20">
                <a:latin typeface="Cambria"/>
                <a:cs typeface="Cambria"/>
              </a:rPr>
              <a:t>𝝯</a:t>
            </a:r>
            <a:r>
              <a:rPr dirty="0" sz="850" spc="120" i="1">
                <a:latin typeface="Calibri"/>
                <a:cs typeface="Calibri"/>
              </a:rPr>
              <a:t>C</a:t>
            </a:r>
            <a:r>
              <a:rPr dirty="0" sz="850" spc="120">
                <a:latin typeface="Calibri"/>
                <a:cs typeface="Calibri"/>
              </a:rPr>
              <a:t>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Before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clarify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something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meeting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27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notation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wonder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70">
                <a:latin typeface="Cambria"/>
                <a:cs typeface="Cambria"/>
              </a:rPr>
              <a:t>𝝯</a:t>
            </a:r>
            <a:r>
              <a:rPr dirty="0" sz="850" spc="21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symbol.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exactly,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30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mean?</a:t>
            </a:r>
            <a:r>
              <a:rPr dirty="0" sz="850" spc="4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20">
                <a:latin typeface="Calibri"/>
                <a:cs typeface="Calibri"/>
              </a:rPr>
              <a:t> perfectly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single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mathematical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object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vector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defined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–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symbols.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22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piece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notational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flag-waving,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“hey,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22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vector”.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advanced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204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independent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entity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own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operator),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view.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02828" y="3615309"/>
            <a:ext cx="4483735" cy="328231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66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definitions,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2" action="ppaction://hlinksldjump"/>
              </a:rPr>
              <a:t>1.7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rewritten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50">
              <a:latin typeface="Calibri"/>
              <a:cs typeface="Calibri"/>
            </a:endParaRPr>
          </a:p>
          <a:p>
            <a:pPr marL="1885314">
              <a:lnSpc>
                <a:spcPct val="100000"/>
              </a:lnSpc>
              <a:spcBef>
                <a:spcPts val="5"/>
              </a:spcBef>
              <a:tabLst>
                <a:tab pos="4153535" algn="l"/>
              </a:tabLst>
            </a:pP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-30">
                <a:latin typeface="Cambria"/>
                <a:cs typeface="Cambria"/>
              </a:rPr>
              <a:t> </a:t>
            </a:r>
            <a:r>
              <a:rPr dirty="0" sz="850" spc="100" i="1">
                <a:latin typeface="Arial"/>
                <a:cs typeface="Arial"/>
              </a:rPr>
              <a:t>∆</a:t>
            </a:r>
            <a:r>
              <a:rPr dirty="0" sz="850" spc="100" i="1">
                <a:latin typeface="Calibri"/>
                <a:cs typeface="Calibri"/>
              </a:rPr>
              <a:t>v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(1.9)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50">
              <a:latin typeface="Calibri"/>
              <a:cs typeface="Calibri"/>
            </a:endParaRPr>
          </a:p>
          <a:p>
            <a:pPr algn="just" marL="76835" marR="50800" indent="-5080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24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vector: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24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v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sz="850" spc="85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expect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exciting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negative.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choose</a:t>
            </a:r>
            <a:endParaRPr sz="850">
              <a:latin typeface="Calibri"/>
              <a:cs typeface="Calibri"/>
            </a:endParaRPr>
          </a:p>
          <a:p>
            <a:pPr marL="1915160">
              <a:lnSpc>
                <a:spcPct val="100000"/>
              </a:lnSpc>
              <a:spcBef>
                <a:spcPts val="145"/>
              </a:spcBef>
              <a:tabLst>
                <a:tab pos="4093210" algn="l"/>
              </a:tabLst>
            </a:pP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0">
                <a:latin typeface="Tahoma"/>
                <a:cs typeface="Tahoma"/>
              </a:rPr>
              <a:t> </a:t>
            </a:r>
            <a:r>
              <a:rPr dirty="0" sz="850" spc="114">
                <a:latin typeface="Cambria"/>
                <a:cs typeface="Cambria"/>
              </a:rPr>
              <a:t>−</a:t>
            </a:r>
            <a:r>
              <a:rPr dirty="0" sz="850" spc="114" i="1">
                <a:latin typeface="Times New Roman"/>
                <a:cs typeface="Times New Roman"/>
              </a:rPr>
              <a:t>η</a:t>
            </a:r>
            <a:r>
              <a:rPr dirty="0" sz="850" spc="114">
                <a:latin typeface="Cambria"/>
                <a:cs typeface="Cambria"/>
              </a:rPr>
              <a:t>𝝯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(1.10)</a:t>
            </a:r>
            <a:endParaRPr sz="850">
              <a:latin typeface="Calibri"/>
              <a:cs typeface="Calibri"/>
            </a:endParaRPr>
          </a:p>
          <a:p>
            <a:pPr algn="just" marL="76835" marR="55880" indent="-6985">
              <a:lnSpc>
                <a:spcPct val="114300"/>
              </a:lnSpc>
              <a:spcBef>
                <a:spcPts val="775"/>
              </a:spcBef>
            </a:pP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(known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learning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rate</a:t>
            </a:r>
            <a:r>
              <a:rPr dirty="0" sz="850" spc="10">
                <a:latin typeface="Calibri"/>
                <a:cs typeface="Calibri"/>
              </a:rPr>
              <a:t>).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 action="ppaction://hlinksldjump"/>
              </a:rPr>
              <a:t>1.9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tells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135">
                <a:latin typeface="Cambria"/>
                <a:cs typeface="Cambria"/>
              </a:rPr>
              <a:t>−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35">
                <a:latin typeface="Cambria"/>
                <a:cs typeface="Cambria"/>
              </a:rPr>
              <a:t>𝝯</a:t>
            </a:r>
            <a:r>
              <a:rPr dirty="0" sz="850" spc="135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10">
                <a:latin typeface="Cambria"/>
                <a:cs typeface="Cambria"/>
              </a:rPr>
              <a:t>·</a:t>
            </a:r>
            <a:r>
              <a:rPr dirty="0" sz="850">
                <a:latin typeface="Cambria"/>
                <a:cs typeface="Cambria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10">
                <a:latin typeface="Cambria"/>
                <a:cs typeface="Cambria"/>
              </a:rPr>
              <a:t>−</a:t>
            </a:r>
            <a:r>
              <a:rPr dirty="0" sz="850" spc="110" i="1">
                <a:latin typeface="Times New Roman"/>
                <a:cs typeface="Times New Roman"/>
              </a:rPr>
              <a:t>η</a:t>
            </a:r>
            <a:r>
              <a:rPr dirty="0" sz="850" spc="110">
                <a:latin typeface="Cambria"/>
                <a:cs typeface="Cambria"/>
              </a:rPr>
              <a:t>ǁ𝝯</a:t>
            </a:r>
            <a:r>
              <a:rPr dirty="0" sz="850" spc="110" i="1">
                <a:latin typeface="Calibri"/>
                <a:cs typeface="Calibri"/>
              </a:rPr>
              <a:t>C</a:t>
            </a:r>
            <a:r>
              <a:rPr dirty="0" sz="850" spc="110">
                <a:latin typeface="Cambria"/>
                <a:cs typeface="Cambria"/>
              </a:rPr>
              <a:t>ǁ</a:t>
            </a:r>
            <a:r>
              <a:rPr dirty="0" baseline="35353" sz="825" spc="165">
                <a:latin typeface="Calibri"/>
                <a:cs typeface="Calibri"/>
              </a:rPr>
              <a:t>2</a:t>
            </a:r>
            <a:r>
              <a:rPr dirty="0" sz="850" spc="11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5">
                <a:latin typeface="Cambria"/>
                <a:cs typeface="Cambria"/>
              </a:rPr>
              <a:t>ǁ𝝯</a:t>
            </a:r>
            <a:r>
              <a:rPr dirty="0" sz="850" spc="105" i="1">
                <a:latin typeface="Calibri"/>
                <a:cs typeface="Calibri"/>
              </a:rPr>
              <a:t>C</a:t>
            </a:r>
            <a:r>
              <a:rPr dirty="0" sz="850" spc="105">
                <a:latin typeface="Cambria"/>
                <a:cs typeface="Cambria"/>
              </a:rPr>
              <a:t>ǁ</a:t>
            </a:r>
            <a:r>
              <a:rPr dirty="0" baseline="35353" sz="825" spc="157">
                <a:latin typeface="Calibri"/>
                <a:cs typeface="Calibri"/>
              </a:rPr>
              <a:t>2</a:t>
            </a:r>
            <a:r>
              <a:rPr dirty="0" baseline="35353" sz="825" spc="247">
                <a:latin typeface="Calibri"/>
                <a:cs typeface="Calibri"/>
              </a:rPr>
              <a:t> </a:t>
            </a:r>
            <a:r>
              <a:rPr dirty="0" sz="850" spc="195">
                <a:latin typeface="Cambria"/>
                <a:cs typeface="Cambria"/>
              </a:rPr>
              <a:t>≥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0,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guarantees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95">
                <a:latin typeface="Cambria"/>
                <a:cs typeface="Cambria"/>
              </a:rPr>
              <a:t>≤</a:t>
            </a:r>
            <a:r>
              <a:rPr dirty="0" sz="850" spc="55">
                <a:latin typeface="Cambria"/>
                <a:cs typeface="Cambria"/>
              </a:rPr>
              <a:t> </a:t>
            </a:r>
            <a:r>
              <a:rPr dirty="0" sz="850" spc="-25">
                <a:latin typeface="Calibri"/>
                <a:cs typeface="Calibri"/>
              </a:rPr>
              <a:t>0,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i.e.,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always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never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v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according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prescription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  <a:p>
            <a:pPr algn="just" marL="76835" marR="78105" indent="-1397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  <a:hlinkClick r:id="rId3" action="ppaction://hlinksldjump"/>
              </a:rPr>
              <a:t>1.10.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(Within,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limits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 action="ppaction://hlinksldjump"/>
              </a:rPr>
              <a:t>1.9).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property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wanted!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 action="ppaction://hlinksldjump"/>
              </a:rPr>
              <a:t>1.10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“law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motion”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 action="ppaction://hlinksldjump"/>
              </a:rPr>
              <a:t>1.10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value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v</a:t>
            </a:r>
            <a:r>
              <a:rPr dirty="0" sz="850" spc="105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ball’s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v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amount: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850">
              <a:latin typeface="Calibri"/>
              <a:cs typeface="Calibri"/>
            </a:endParaRPr>
          </a:p>
          <a:p>
            <a:pPr marL="1790064">
              <a:lnSpc>
                <a:spcPct val="100000"/>
              </a:lnSpc>
              <a:tabLst>
                <a:tab pos="4092575" algn="l"/>
              </a:tabLst>
            </a:pPr>
            <a:r>
              <a:rPr dirty="0" sz="850" i="1">
                <a:latin typeface="Calibri"/>
                <a:cs typeface="Calibri"/>
              </a:rPr>
              <a:t>v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65">
                <a:latin typeface="Cambria"/>
                <a:cs typeface="Cambria"/>
              </a:rPr>
              <a:t> </a:t>
            </a:r>
            <a:r>
              <a:rPr dirty="0" sz="850" spc="55" i="1">
                <a:latin typeface="Calibri"/>
                <a:cs typeface="Calibri"/>
              </a:rPr>
              <a:t>v</a:t>
            </a:r>
            <a:r>
              <a:rPr dirty="0" baseline="35353" sz="825" spc="82">
                <a:latin typeface="Cambria"/>
                <a:cs typeface="Cambria"/>
              </a:rPr>
              <a:t>’</a:t>
            </a:r>
            <a:r>
              <a:rPr dirty="0" baseline="35353" sz="825" spc="209">
                <a:latin typeface="Cambria"/>
                <a:cs typeface="Cambri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v</a:t>
            </a:r>
            <a:r>
              <a:rPr dirty="0" sz="850" spc="2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0">
                <a:latin typeface="Cambria"/>
                <a:cs typeface="Cambria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η</a:t>
            </a:r>
            <a:r>
              <a:rPr dirty="0" sz="850" spc="100">
                <a:latin typeface="Cambria"/>
                <a:cs typeface="Cambria"/>
              </a:rPr>
              <a:t>𝝯</a:t>
            </a:r>
            <a:r>
              <a:rPr dirty="0" sz="850" spc="100" i="1">
                <a:latin typeface="Calibri"/>
                <a:cs typeface="Calibri"/>
              </a:rPr>
              <a:t>C</a:t>
            </a:r>
            <a:r>
              <a:rPr dirty="0" sz="850" spc="100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(1.11)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50">
              <a:latin typeface="Calibri"/>
              <a:cs typeface="Calibri"/>
            </a:endParaRPr>
          </a:p>
          <a:p>
            <a:pPr algn="just" marL="76835" marR="74930" indent="-5080">
              <a:lnSpc>
                <a:spcPct val="114300"/>
              </a:lnSpc>
              <a:spcBef>
                <a:spcPts val="5"/>
              </a:spcBef>
            </a:pPr>
            <a:r>
              <a:rPr dirty="0" sz="850" spc="50">
                <a:latin typeface="Calibri"/>
                <a:cs typeface="Calibri"/>
              </a:rPr>
              <a:t>Then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move.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over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decreasing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1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until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hope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global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minimum.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63143" y="7547126"/>
            <a:ext cx="434975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93675">
              <a:lnSpc>
                <a:spcPct val="114300"/>
              </a:lnSpc>
              <a:spcBef>
                <a:spcPts val="95"/>
              </a:spcBef>
            </a:pPr>
            <a:r>
              <a:rPr dirty="0" sz="850" spc="60">
                <a:latin typeface="Calibri"/>
                <a:cs typeface="Calibri"/>
              </a:rPr>
              <a:t>Summing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repeatedly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14">
                <a:latin typeface="Cambria"/>
                <a:cs typeface="Cambria"/>
              </a:rPr>
              <a:t>𝝯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opposite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“falling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down”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slope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valley.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visualize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19" name="object 19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67589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20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62051" y="1218757"/>
            <a:ext cx="1953441" cy="161019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43801" y="3349619"/>
            <a:ext cx="4495800" cy="31502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8763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Notice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reproduce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physical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motion.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real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life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momentum,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momentum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allow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across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slope,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(momentarily)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uphill.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effects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friction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guaranteed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valley.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contrast,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“go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now”.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minimum!</a:t>
            </a:r>
            <a:endParaRPr sz="850">
              <a:latin typeface="Calibri"/>
              <a:cs typeface="Calibri"/>
            </a:endParaRPr>
          </a:p>
          <a:p>
            <a:pPr algn="just" marL="76200" marR="90805" indent="189230">
              <a:lnSpc>
                <a:spcPct val="114300"/>
              </a:lnSpc>
              <a:spcBef>
                <a:spcPts val="520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correctly,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9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 action="ppaction://hlinksldjump"/>
              </a:rPr>
              <a:t>1.9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endParaRPr sz="850">
              <a:latin typeface="Calibri"/>
              <a:cs typeface="Calibri"/>
            </a:endParaRPr>
          </a:p>
          <a:p>
            <a:pPr algn="just" marL="69215" marR="86360" indent="6350">
              <a:lnSpc>
                <a:spcPct val="114300"/>
              </a:lnSpc>
            </a:pP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&gt;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good!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0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tiny,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thus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algorithm</a:t>
            </a:r>
            <a:r>
              <a:rPr dirty="0" sz="850" spc="20">
                <a:latin typeface="Calibri"/>
                <a:cs typeface="Calibri"/>
              </a:rPr>
              <a:t> will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slowly.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practical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implementations,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80" i="1">
                <a:latin typeface="Times New Roman"/>
                <a:cs typeface="Times New Roman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often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varied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  <a:hlinkClick r:id="rId3" action="ppaction://hlinksldjump"/>
              </a:rPr>
              <a:t>1.9</a:t>
            </a:r>
            <a:r>
              <a:rPr dirty="0" sz="850" spc="20">
                <a:latin typeface="Calibri"/>
                <a:cs typeface="Calibri"/>
              </a:rPr>
              <a:t> remains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approximation,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slow.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works.</a:t>
            </a:r>
            <a:endParaRPr sz="850">
              <a:latin typeface="Calibri"/>
              <a:cs typeface="Calibri"/>
            </a:endParaRPr>
          </a:p>
          <a:p>
            <a:pPr algn="just" marL="76200" marR="68580" indent="189230">
              <a:lnSpc>
                <a:spcPct val="114300"/>
              </a:lnSpc>
              <a:spcBef>
                <a:spcPts val="515"/>
              </a:spcBef>
            </a:pPr>
            <a:r>
              <a:rPr dirty="0" sz="850" spc="15">
                <a:latin typeface="Calibri"/>
                <a:cs typeface="Calibri"/>
              </a:rPr>
              <a:t>I’ve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explained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gradient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descent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function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two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variables.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But,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fact,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everything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well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even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when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function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more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variables.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Suppose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15">
                <a:latin typeface="Calibri"/>
                <a:cs typeface="Calibri"/>
              </a:rPr>
              <a:t> particular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function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m</a:t>
            </a:r>
            <a:r>
              <a:rPr dirty="0" sz="850" spc="35" i="1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variables,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v</a:t>
            </a:r>
            <a:r>
              <a:rPr dirty="0" baseline="-20202" sz="825" spc="44">
                <a:latin typeface="Calibri"/>
                <a:cs typeface="Calibri"/>
              </a:rPr>
              <a:t>1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,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v</a:t>
            </a:r>
            <a:r>
              <a:rPr dirty="0" baseline="-20202" sz="825" spc="44" i="1">
                <a:latin typeface="Calibri"/>
                <a:cs typeface="Calibri"/>
              </a:rPr>
              <a:t>m</a:t>
            </a:r>
            <a:r>
              <a:rPr dirty="0" sz="850" spc="30">
                <a:latin typeface="Calibri"/>
                <a:cs typeface="Calibri"/>
              </a:rPr>
              <a:t>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change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produced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small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change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Arial"/>
                <a:cs typeface="Arial"/>
              </a:rPr>
              <a:t>∆</a:t>
            </a:r>
            <a:r>
              <a:rPr dirty="0" sz="850" spc="70" i="1">
                <a:latin typeface="Calibri"/>
                <a:cs typeface="Calibri"/>
              </a:rPr>
              <a:t>v</a:t>
            </a:r>
            <a:r>
              <a:rPr dirty="0" baseline="-20202" sz="825" spc="104">
                <a:latin typeface="Calibri"/>
                <a:cs typeface="Calibri"/>
              </a:rPr>
              <a:t>1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80" i="1">
                <a:latin typeface="Arial"/>
                <a:cs typeface="Arial"/>
              </a:rPr>
              <a:t>∆</a:t>
            </a:r>
            <a:r>
              <a:rPr dirty="0" sz="850" spc="80" i="1">
                <a:latin typeface="Calibri"/>
                <a:cs typeface="Calibri"/>
              </a:rPr>
              <a:t>v</a:t>
            </a:r>
            <a:r>
              <a:rPr dirty="0" baseline="-20202" sz="825" spc="120" i="1">
                <a:latin typeface="Calibri"/>
                <a:cs typeface="Calibri"/>
              </a:rPr>
              <a:t>m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baseline="35353" sz="825" spc="120" i="1">
                <a:latin typeface="Calibri"/>
                <a:cs typeface="Calibri"/>
              </a:rPr>
              <a:t>T</a:t>
            </a:r>
            <a:r>
              <a:rPr dirty="0" baseline="35353" sz="825" spc="352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50">
              <a:latin typeface="Calibri"/>
              <a:cs typeface="Calibri"/>
            </a:endParaRPr>
          </a:p>
          <a:p>
            <a:pPr marL="1871345">
              <a:lnSpc>
                <a:spcPct val="100000"/>
              </a:lnSpc>
              <a:tabLst>
                <a:tab pos="4091940" algn="l"/>
              </a:tabLst>
            </a:pP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-30">
                <a:latin typeface="Cambria"/>
                <a:cs typeface="Cambria"/>
              </a:rPr>
              <a:t> </a:t>
            </a:r>
            <a:r>
              <a:rPr dirty="0" sz="850" spc="65" i="1">
                <a:latin typeface="Arial"/>
                <a:cs typeface="Arial"/>
              </a:rPr>
              <a:t>∆</a:t>
            </a:r>
            <a:r>
              <a:rPr dirty="0" sz="850" spc="65" i="1">
                <a:latin typeface="Calibri"/>
                <a:cs typeface="Calibri"/>
              </a:rPr>
              <a:t>v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(1.12)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850">
              <a:latin typeface="Calibri"/>
              <a:cs typeface="Calibri"/>
            </a:endParaRPr>
          </a:p>
          <a:p>
            <a:pPr algn="just" marL="69215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20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vector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782026" y="6863633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52814" y="6644629"/>
            <a:ext cx="6572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47040" algn="l"/>
              </a:tabLst>
            </a:pPr>
            <a:r>
              <a:rPr dirty="0" u="sng" sz="850" spc="-1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 spc="-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18484" y="6863633"/>
            <a:ext cx="8509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m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569310" y="6570447"/>
            <a:ext cx="82359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742315" algn="l"/>
              </a:tabLst>
            </a:pPr>
            <a:r>
              <a:rPr dirty="0" sz="850" spc="-365">
                <a:latin typeface="Arial MT"/>
                <a:cs typeface="Arial MT"/>
              </a:rPr>
              <a:t>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375">
                <a:latin typeface="Arial MT"/>
                <a:cs typeface="Arial MT"/>
              </a:rPr>
              <a:t>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71355" y="6630678"/>
            <a:ext cx="6667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T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235964" y="6721588"/>
            <a:ext cx="12884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1219200" algn="l"/>
              </a:tabLst>
            </a:pP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≡</a:t>
            </a:r>
            <a:r>
              <a:rPr dirty="0" sz="850" spc="270">
                <a:latin typeface="Cambria"/>
                <a:cs typeface="Cambria"/>
              </a:rPr>
              <a:t>  </a:t>
            </a:r>
            <a:r>
              <a:rPr dirty="0" baseline="-42483" sz="1275" i="1">
                <a:latin typeface="Times New Roman"/>
                <a:cs typeface="Times New Roman"/>
              </a:rPr>
              <a:t>∂</a:t>
            </a:r>
            <a:r>
              <a:rPr dirty="0" baseline="-42483" sz="1275" spc="30" i="1">
                <a:latin typeface="Times New Roman"/>
                <a:cs typeface="Times New Roman"/>
              </a:rPr>
              <a:t> </a:t>
            </a:r>
            <a:r>
              <a:rPr dirty="0" baseline="-42483" sz="1275" i="1">
                <a:latin typeface="Calibri"/>
                <a:cs typeface="Calibri"/>
              </a:rPr>
              <a:t>v</a:t>
            </a:r>
            <a:r>
              <a:rPr dirty="0" baseline="-42483" sz="1275" spc="44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baseline="-42483" sz="1275" i="1">
                <a:latin typeface="Times New Roman"/>
                <a:cs typeface="Times New Roman"/>
              </a:rPr>
              <a:t>∂</a:t>
            </a:r>
            <a:r>
              <a:rPr dirty="0" baseline="-42483" sz="1275" spc="22" i="1">
                <a:latin typeface="Times New Roman"/>
                <a:cs typeface="Times New Roman"/>
              </a:rPr>
              <a:t> </a:t>
            </a:r>
            <a:r>
              <a:rPr dirty="0" baseline="-42483" sz="1275" spc="-75" i="1">
                <a:latin typeface="Calibri"/>
                <a:cs typeface="Calibri"/>
              </a:rPr>
              <a:t>v</a:t>
            </a:r>
            <a:r>
              <a:rPr dirty="0" baseline="-42483" sz="1275" i="1">
                <a:latin typeface="Calibri"/>
                <a:cs typeface="Calibri"/>
              </a:rPr>
              <a:t>	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723421" y="6721589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(1.13)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0089" y="7086972"/>
            <a:ext cx="4357370" cy="9302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choose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50">
              <a:latin typeface="Calibri"/>
              <a:cs typeface="Calibri"/>
            </a:endParaRPr>
          </a:p>
          <a:p>
            <a:pPr marL="1858010">
              <a:lnSpc>
                <a:spcPct val="100000"/>
              </a:lnSpc>
              <a:tabLst>
                <a:tab pos="4035425" algn="l"/>
              </a:tabLst>
            </a:pP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0">
                <a:latin typeface="Tahoma"/>
                <a:cs typeface="Tahoma"/>
              </a:rPr>
              <a:t> </a:t>
            </a:r>
            <a:r>
              <a:rPr dirty="0" sz="850" spc="114">
                <a:latin typeface="Cambria"/>
                <a:cs typeface="Cambria"/>
              </a:rPr>
              <a:t>−</a:t>
            </a:r>
            <a:r>
              <a:rPr dirty="0" sz="850" spc="114" i="1">
                <a:latin typeface="Times New Roman"/>
                <a:cs typeface="Times New Roman"/>
              </a:rPr>
              <a:t>η</a:t>
            </a:r>
            <a:r>
              <a:rPr dirty="0" sz="850" spc="114">
                <a:latin typeface="Cambria"/>
                <a:cs typeface="Cambria"/>
              </a:rPr>
              <a:t>𝝯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(1.14)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850">
              <a:latin typeface="Calibri"/>
              <a:cs typeface="Calibri"/>
            </a:endParaRPr>
          </a:p>
          <a:p>
            <a:pPr marL="19685" marR="508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guaranteed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(approximate)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expression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4" action="ppaction://hlinksldjump"/>
              </a:rPr>
              <a:t>1.12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negative.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20">
                <a:latin typeface="Calibri"/>
                <a:cs typeface="Calibri"/>
              </a:rPr>
              <a:t> gives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following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minimum,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many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14" name="object 14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574122" y="368721"/>
            <a:ext cx="204597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910714" algn="l"/>
              </a:tabLst>
            </a:pPr>
            <a:r>
              <a:rPr dirty="0" sz="850" spc="10">
                <a:latin typeface="Calibri"/>
                <a:cs typeface="Calibri"/>
              </a:rPr>
              <a:t>1.5.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21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25045" y="930566"/>
            <a:ext cx="4438650" cy="15220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variables,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repeatedly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rule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50">
              <a:latin typeface="Calibri"/>
              <a:cs typeface="Calibri"/>
            </a:endParaRPr>
          </a:p>
          <a:p>
            <a:pPr marL="1767839">
              <a:lnSpc>
                <a:spcPct val="100000"/>
              </a:lnSpc>
              <a:tabLst>
                <a:tab pos="4070350" algn="l"/>
              </a:tabLst>
            </a:pPr>
            <a:r>
              <a:rPr dirty="0" sz="850" i="1">
                <a:latin typeface="Calibri"/>
                <a:cs typeface="Calibri"/>
              </a:rPr>
              <a:t>v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65">
                <a:latin typeface="Cambria"/>
                <a:cs typeface="Cambria"/>
              </a:rPr>
              <a:t> </a:t>
            </a:r>
            <a:r>
              <a:rPr dirty="0" sz="850" spc="55" i="1">
                <a:latin typeface="Calibri"/>
                <a:cs typeface="Calibri"/>
              </a:rPr>
              <a:t>v</a:t>
            </a:r>
            <a:r>
              <a:rPr dirty="0" baseline="35353" sz="825" spc="82">
                <a:latin typeface="Cambria"/>
                <a:cs typeface="Cambria"/>
              </a:rPr>
              <a:t>’</a:t>
            </a:r>
            <a:r>
              <a:rPr dirty="0" baseline="35353" sz="825" spc="209">
                <a:latin typeface="Cambria"/>
                <a:cs typeface="Cambri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v</a:t>
            </a:r>
            <a:r>
              <a:rPr dirty="0" sz="850" spc="2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0">
                <a:latin typeface="Cambria"/>
                <a:cs typeface="Cambria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η</a:t>
            </a:r>
            <a:r>
              <a:rPr dirty="0" sz="850" spc="100">
                <a:latin typeface="Cambria"/>
                <a:cs typeface="Cambria"/>
              </a:rPr>
              <a:t>𝝯</a:t>
            </a:r>
            <a:r>
              <a:rPr dirty="0" sz="850" spc="100" i="1">
                <a:latin typeface="Calibri"/>
                <a:cs typeface="Calibri"/>
              </a:rPr>
              <a:t>C</a:t>
            </a:r>
            <a:r>
              <a:rPr dirty="0" sz="850" spc="100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(1.15)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850">
              <a:latin typeface="Calibri"/>
              <a:cs typeface="Calibri"/>
            </a:endParaRPr>
          </a:p>
          <a:p>
            <a:pPr algn="just" marL="48260" marR="52705" indent="127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defining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repeatedly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minimum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C</a:t>
            </a:r>
            <a:r>
              <a:rPr dirty="0" sz="850" spc="80">
                <a:latin typeface="Calibri"/>
                <a:cs typeface="Calibri"/>
              </a:rPr>
              <a:t>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prevent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global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minimum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sz="850" spc="85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return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extremely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it’s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powerful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way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minimizing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 </a:t>
            </a:r>
            <a:r>
              <a:rPr dirty="0" sz="850" spc="30">
                <a:latin typeface="Calibri"/>
                <a:cs typeface="Calibri"/>
              </a:rPr>
              <a:t>function,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helping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10056" y="2507266"/>
            <a:ext cx="4468495" cy="4958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47625" indent="19621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Indeed,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there’s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optimal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strategy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searching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minimum.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25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2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equivalent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minimizing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215" i="1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140">
                <a:latin typeface="Cambria"/>
                <a:cs typeface="Cambria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 spc="10">
                <a:latin typeface="Cambria"/>
                <a:cs typeface="Cambria"/>
              </a:rPr>
              <a:t>·</a:t>
            </a:r>
            <a:r>
              <a:rPr dirty="0" sz="850" spc="30">
                <a:latin typeface="Cambria"/>
                <a:cs typeface="Cambria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v</a:t>
            </a:r>
            <a:r>
              <a:rPr dirty="0" sz="850" spc="105">
                <a:latin typeface="Calibri"/>
                <a:cs typeface="Calibri"/>
              </a:rPr>
              <a:t>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constrain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10">
                <a:latin typeface="Cambria"/>
                <a:cs typeface="Cambria"/>
              </a:rPr>
              <a:t>ǁ</a:t>
            </a:r>
            <a:r>
              <a:rPr dirty="0" sz="850" spc="110" i="1">
                <a:latin typeface="Arial"/>
                <a:cs typeface="Arial"/>
              </a:rPr>
              <a:t>∆</a:t>
            </a:r>
            <a:r>
              <a:rPr dirty="0" sz="850" spc="110" i="1">
                <a:latin typeface="Calibri"/>
                <a:cs typeface="Calibri"/>
              </a:rPr>
              <a:t>v</a:t>
            </a:r>
            <a:r>
              <a:rPr dirty="0" sz="850" spc="110">
                <a:latin typeface="Cambria"/>
                <a:cs typeface="Cambria"/>
              </a:rPr>
              <a:t>ǁ</a:t>
            </a:r>
            <a:r>
              <a:rPr dirty="0" sz="850" spc="60">
                <a:latin typeface="Cambria"/>
                <a:cs typeface="Cambria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120" i="1">
                <a:latin typeface="Times New Roman"/>
                <a:cs typeface="Times New Roman"/>
              </a:rPr>
              <a:t>ε</a:t>
            </a:r>
            <a:r>
              <a:rPr dirty="0" sz="850" spc="8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fixed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20" i="1">
                <a:latin typeface="Times New Roman"/>
                <a:cs typeface="Times New Roman"/>
              </a:rPr>
              <a:t>ε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&gt;</a:t>
            </a:r>
            <a:r>
              <a:rPr dirty="0" sz="850" spc="4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words,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fixed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movement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4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0" i="1">
                <a:latin typeface="Arial"/>
                <a:cs typeface="Arial"/>
              </a:rPr>
              <a:t>∆</a:t>
            </a:r>
            <a:r>
              <a:rPr dirty="0" sz="850" spc="100" i="1">
                <a:latin typeface="Calibri"/>
                <a:cs typeface="Calibri"/>
              </a:rPr>
              <a:t>v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minimizes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20">
                <a:latin typeface="Cambria"/>
                <a:cs typeface="Cambria"/>
              </a:rPr>
              <a:t>·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v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 spc="130">
                <a:latin typeface="Cambria"/>
                <a:cs typeface="Cambria"/>
              </a:rPr>
              <a:t>−</a:t>
            </a:r>
            <a:r>
              <a:rPr dirty="0" sz="850" spc="130" i="1">
                <a:latin typeface="Times New Roman"/>
                <a:cs typeface="Times New Roman"/>
              </a:rPr>
              <a:t>η</a:t>
            </a:r>
            <a:r>
              <a:rPr dirty="0" sz="850" spc="130">
                <a:latin typeface="Cambria"/>
                <a:cs typeface="Cambria"/>
              </a:rPr>
              <a:t>𝝯</a:t>
            </a:r>
            <a:r>
              <a:rPr dirty="0" sz="850" spc="130" i="1">
                <a:latin typeface="Calibri"/>
                <a:cs typeface="Calibri"/>
              </a:rPr>
              <a:t>C</a:t>
            </a:r>
            <a:r>
              <a:rPr dirty="0" sz="850" spc="13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80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25">
                <a:latin typeface="Tahoma"/>
                <a:cs typeface="Tahoma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ε/</a:t>
            </a:r>
            <a:r>
              <a:rPr dirty="0" sz="850" spc="135">
                <a:latin typeface="Cambria"/>
                <a:cs typeface="Cambria"/>
              </a:rPr>
              <a:t>ǁ𝝯</a:t>
            </a:r>
            <a:r>
              <a:rPr dirty="0" sz="850" spc="135" i="1">
                <a:latin typeface="Calibri"/>
                <a:cs typeface="Calibri"/>
              </a:rPr>
              <a:t>C</a:t>
            </a:r>
            <a:r>
              <a:rPr dirty="0" sz="850" spc="135">
                <a:latin typeface="Cambria"/>
                <a:cs typeface="Cambria"/>
              </a:rPr>
              <a:t>ǁ</a:t>
            </a:r>
            <a:r>
              <a:rPr dirty="0" sz="850" spc="125">
                <a:latin typeface="Cambria"/>
                <a:cs typeface="Cambria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determined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size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constraint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10">
                <a:latin typeface="Cambria"/>
                <a:cs typeface="Cambria"/>
              </a:rPr>
              <a:t>ǁ</a:t>
            </a:r>
            <a:r>
              <a:rPr dirty="0" sz="850" spc="110" i="1">
                <a:latin typeface="Arial"/>
                <a:cs typeface="Arial"/>
              </a:rPr>
              <a:t>∆</a:t>
            </a:r>
            <a:r>
              <a:rPr dirty="0" sz="850" spc="110" i="1">
                <a:latin typeface="Calibri"/>
                <a:cs typeface="Calibri"/>
              </a:rPr>
              <a:t>v</a:t>
            </a:r>
            <a:r>
              <a:rPr dirty="0" sz="850" spc="110">
                <a:latin typeface="Cambria"/>
                <a:cs typeface="Cambria"/>
              </a:rPr>
              <a:t>ǁ</a:t>
            </a:r>
            <a:r>
              <a:rPr dirty="0" sz="850" spc="75">
                <a:latin typeface="Cambria"/>
                <a:cs typeface="Cambria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ε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immediately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C</a:t>
            </a:r>
            <a:r>
              <a:rPr dirty="0" sz="850" spc="6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69850">
              <a:lnSpc>
                <a:spcPct val="100000"/>
              </a:lnSpc>
              <a:spcBef>
                <a:spcPts val="750"/>
              </a:spcBef>
            </a:pPr>
            <a:r>
              <a:rPr dirty="0" sz="1050" spc="40" b="1">
                <a:latin typeface="Calibri"/>
                <a:cs typeface="Calibri"/>
              </a:rPr>
              <a:t>Exercises</a:t>
            </a:r>
            <a:endParaRPr sz="1050">
              <a:latin typeface="Calibri"/>
              <a:cs typeface="Calibri"/>
            </a:endParaRPr>
          </a:p>
          <a:p>
            <a:pPr algn="just" marL="381000" marR="70485" indent="-113664">
              <a:lnSpc>
                <a:spcPct val="114300"/>
              </a:lnSpc>
              <a:spcBef>
                <a:spcPts val="595"/>
              </a:spcBef>
              <a:buFont typeface="Cambria"/>
              <a:buChar char="•"/>
              <a:tabLst>
                <a:tab pos="381000" algn="l"/>
                <a:tab pos="385445" algn="l"/>
              </a:tabLst>
            </a:pPr>
            <a:r>
              <a:rPr dirty="0" sz="850">
                <a:latin typeface="Calibri"/>
                <a:cs typeface="Calibri"/>
              </a:rPr>
              <a:t>	Prove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assertion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paragraph.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Hint: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already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familiar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2"/>
              </a:rPr>
              <a:t>Cauchy-Schwarz</a:t>
            </a:r>
            <a:r>
              <a:rPr dirty="0" sz="850" spc="100">
                <a:latin typeface="Calibri"/>
                <a:cs typeface="Calibri"/>
                <a:hlinkClick r:id="rId2"/>
              </a:rPr>
              <a:t> </a:t>
            </a:r>
            <a:r>
              <a:rPr dirty="0" sz="850" spc="20">
                <a:latin typeface="Calibri"/>
                <a:cs typeface="Calibri"/>
                <a:hlinkClick r:id="rId2"/>
              </a:rPr>
              <a:t>inequality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helpful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familiarize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yourself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it.</a:t>
            </a:r>
            <a:endParaRPr sz="850">
              <a:latin typeface="Calibri"/>
              <a:cs typeface="Calibri"/>
            </a:endParaRPr>
          </a:p>
          <a:p>
            <a:pPr algn="just" marL="386080" marR="67310" indent="-118745">
              <a:lnSpc>
                <a:spcPct val="114300"/>
              </a:lnSpc>
              <a:buFont typeface="Cambria"/>
              <a:buChar char="•"/>
              <a:tabLst>
                <a:tab pos="386080" algn="l"/>
              </a:tabLst>
            </a:pP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8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4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just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variable?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geometric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interpretation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one-dimensional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case?</a:t>
            </a:r>
            <a:endParaRPr sz="850">
              <a:latin typeface="Calibri"/>
              <a:cs typeface="Calibri"/>
            </a:endParaRPr>
          </a:p>
          <a:p>
            <a:pPr algn="just" marL="63500" marR="56515" indent="196215">
              <a:lnSpc>
                <a:spcPct val="114300"/>
              </a:lnSpc>
              <a:spcBef>
                <a:spcPts val="630"/>
              </a:spcBef>
            </a:pP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investigated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variations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descent,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including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variations</a:t>
            </a:r>
            <a:r>
              <a:rPr dirty="0" sz="850" spc="20">
                <a:latin typeface="Calibri"/>
                <a:cs typeface="Calibri"/>
              </a:rPr>
              <a:t> 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closely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mimic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physical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ball.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ball-mimicking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variations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advantages,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major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disadvantage: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necessary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sz="850" spc="85">
                <a:latin typeface="Calibri"/>
                <a:cs typeface="Calibri"/>
              </a:rPr>
              <a:t>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costly.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costly,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suppose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baseline="35353" sz="825" spc="15">
                <a:latin typeface="Calibri"/>
                <a:cs typeface="Calibri"/>
              </a:rPr>
              <a:t>2</a:t>
            </a:r>
            <a:r>
              <a:rPr dirty="0" baseline="35353" sz="825" spc="-44">
                <a:latin typeface="Calibri"/>
                <a:cs typeface="Calibri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 spc="50" i="1">
                <a:latin typeface="Calibri"/>
                <a:cs typeface="Calibri"/>
              </a:rPr>
              <a:t>v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sz="850" spc="50" i="1">
                <a:latin typeface="Times New Roman"/>
                <a:cs typeface="Times New Roman"/>
              </a:rPr>
              <a:t>∂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v</a:t>
            </a:r>
            <a:r>
              <a:rPr dirty="0" baseline="-20202" sz="825" i="1">
                <a:latin typeface="Calibri"/>
                <a:cs typeface="Calibri"/>
              </a:rPr>
              <a:t>k</a:t>
            </a:r>
            <a:r>
              <a:rPr dirty="0" baseline="-20202" sz="825" spc="-44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million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v</a:t>
            </a:r>
            <a:r>
              <a:rPr dirty="0" baseline="-20202" sz="825" i="1">
                <a:latin typeface="Calibri"/>
                <a:cs typeface="Calibri"/>
              </a:rPr>
              <a:t>j</a:t>
            </a:r>
            <a:r>
              <a:rPr dirty="0" baseline="-20202" sz="825" spc="42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something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trillion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(i.e.,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million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squared)</a:t>
            </a:r>
            <a:r>
              <a:rPr dirty="0" sz="850" spc="20">
                <a:latin typeface="Calibri"/>
                <a:cs typeface="Calibri"/>
              </a:rPr>
              <a:t> second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derivatives</a:t>
            </a:r>
            <a:r>
              <a:rPr dirty="0" baseline="35353" sz="825" spc="30">
                <a:latin typeface="Calibri"/>
                <a:cs typeface="Calibri"/>
                <a:hlinkClick r:id="rId3" action="ppaction://hlinksldjump"/>
              </a:rPr>
              <a:t>4</a:t>
            </a:r>
            <a:r>
              <a:rPr dirty="0" sz="850" spc="20">
                <a:latin typeface="Calibri"/>
                <a:cs typeface="Calibri"/>
              </a:rPr>
              <a:t>!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computationally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costly.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said,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tricks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kind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alternatives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investigation.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variations)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  <a:p>
            <a:pPr algn="just" marL="69850" marR="70485" indent="189230">
              <a:lnSpc>
                <a:spcPct val="114300"/>
              </a:lnSpc>
              <a:spcBef>
                <a:spcPts val="630"/>
              </a:spcBef>
            </a:pPr>
            <a:r>
              <a:rPr dirty="0" sz="850" spc="65">
                <a:latin typeface="Calibri"/>
                <a:cs typeface="Calibri"/>
              </a:rPr>
              <a:t>How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network?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use</a:t>
            </a:r>
            <a:r>
              <a:rPr dirty="0" sz="850" spc="20">
                <a:latin typeface="Calibri"/>
                <a:cs typeface="Calibri"/>
              </a:rPr>
              <a:t> gradient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baseline="-20202" sz="825" spc="30" i="1">
                <a:latin typeface="Calibri"/>
                <a:cs typeface="Calibri"/>
              </a:rPr>
              <a:t>k</a:t>
            </a:r>
            <a:r>
              <a:rPr dirty="0" baseline="-20202" sz="825" spc="307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baseline="-20202" sz="825" spc="30" i="1">
                <a:latin typeface="Calibri"/>
                <a:cs typeface="Calibri"/>
              </a:rPr>
              <a:t>l</a:t>
            </a:r>
            <a:r>
              <a:rPr dirty="0" baseline="-20202" sz="825" spc="352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minimize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Equation</a:t>
            </a:r>
            <a:endParaRPr sz="850">
              <a:latin typeface="Calibri"/>
              <a:cs typeface="Calibri"/>
            </a:endParaRPr>
          </a:p>
          <a:p>
            <a:pPr algn="just" marL="69850" marR="43180" indent="-1397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  <a:hlinkClick r:id="rId4" action="ppaction://hlinksldjump"/>
              </a:rPr>
              <a:t>1.6.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restate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replacing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v</a:t>
            </a:r>
            <a:r>
              <a:rPr dirty="0" baseline="-20202" sz="825" i="1">
                <a:latin typeface="Calibri"/>
                <a:cs typeface="Calibri"/>
              </a:rPr>
              <a:t>j</a:t>
            </a:r>
            <a:r>
              <a:rPr dirty="0" baseline="-20202" sz="825" spc="-4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words,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“position”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components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-20202" sz="825" spc="-37" i="1">
                <a:latin typeface="Calibri"/>
                <a:cs typeface="Calibri"/>
              </a:rPr>
              <a:t>k</a:t>
            </a:r>
            <a:r>
              <a:rPr dirty="0" baseline="-20202" sz="825" spc="75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baseline="-20202" sz="825" spc="15" i="1">
                <a:latin typeface="Calibri"/>
                <a:cs typeface="Calibri"/>
              </a:rPr>
              <a:t>l</a:t>
            </a:r>
            <a:r>
              <a:rPr dirty="0" baseline="-20202" sz="825" spc="-37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vector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components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 i="1">
                <a:latin typeface="Times New Roman"/>
                <a:cs typeface="Times New Roman"/>
              </a:rPr>
              <a:t>∂</a:t>
            </a:r>
            <a:r>
              <a:rPr dirty="0" sz="850" spc="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baseline="-20202" sz="825" spc="30" i="1">
                <a:latin typeface="Calibri"/>
                <a:cs typeface="Calibri"/>
              </a:rPr>
              <a:t>k</a:t>
            </a:r>
            <a:r>
              <a:rPr dirty="0" baseline="-20202" sz="825" spc="337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 i="1">
                <a:latin typeface="Times New Roman"/>
                <a:cs typeface="Times New Roman"/>
              </a:rPr>
              <a:t>∂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baseline="-20202" sz="825" spc="15" i="1">
                <a:latin typeface="Calibri"/>
                <a:cs typeface="Calibri"/>
              </a:rPr>
              <a:t>l</a:t>
            </a:r>
            <a:r>
              <a:rPr dirty="0" baseline="-20202" sz="825" spc="-30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079996" y="7856489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169962" y="7872192"/>
            <a:ext cx="4040504" cy="1422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30303" sz="825" spc="15">
                <a:latin typeface="Calibri"/>
                <a:cs typeface="Calibri"/>
              </a:rPr>
              <a:t>4</a:t>
            </a:r>
            <a:r>
              <a:rPr dirty="0" sz="750" spc="10">
                <a:latin typeface="Calibri"/>
                <a:cs typeface="Calibri"/>
              </a:rPr>
              <a:t>Actually,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more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like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half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trillion,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since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 i="1">
                <a:latin typeface="Times New Roman"/>
                <a:cs typeface="Times New Roman"/>
              </a:rPr>
              <a:t>∂</a:t>
            </a:r>
            <a:r>
              <a:rPr dirty="0" sz="750" spc="5" i="1">
                <a:latin typeface="Times New Roman"/>
                <a:cs typeface="Times New Roman"/>
              </a:rPr>
              <a:t> </a:t>
            </a:r>
            <a:r>
              <a:rPr dirty="0" baseline="30303" sz="825" spc="15">
                <a:latin typeface="Calibri"/>
                <a:cs typeface="Calibri"/>
              </a:rPr>
              <a:t>2</a:t>
            </a:r>
            <a:r>
              <a:rPr dirty="0" baseline="30303" sz="825" spc="-67">
                <a:latin typeface="Calibri"/>
                <a:cs typeface="Calibri"/>
              </a:rPr>
              <a:t> </a:t>
            </a:r>
            <a:r>
              <a:rPr dirty="0" sz="750" spc="105" i="1">
                <a:latin typeface="Calibri"/>
                <a:cs typeface="Calibri"/>
              </a:rPr>
              <a:t>C</a:t>
            </a:r>
            <a:r>
              <a:rPr dirty="0" sz="750" spc="105" i="1">
                <a:latin typeface="Times New Roman"/>
                <a:cs typeface="Times New Roman"/>
              </a:rPr>
              <a:t>/∂</a:t>
            </a:r>
            <a:r>
              <a:rPr dirty="0" sz="750" spc="50" i="1">
                <a:latin typeface="Times New Roman"/>
                <a:cs typeface="Times New Roman"/>
              </a:rPr>
              <a:t> </a:t>
            </a:r>
            <a:r>
              <a:rPr dirty="0" sz="750" spc="50" i="1">
                <a:latin typeface="Calibri"/>
                <a:cs typeface="Calibri"/>
              </a:rPr>
              <a:t>v</a:t>
            </a:r>
            <a:r>
              <a:rPr dirty="0" baseline="-15151" sz="825" spc="75" i="1">
                <a:latin typeface="Calibri"/>
                <a:cs typeface="Calibri"/>
              </a:rPr>
              <a:t>j</a:t>
            </a:r>
            <a:r>
              <a:rPr dirty="0" sz="750" spc="50" i="1">
                <a:latin typeface="Times New Roman"/>
                <a:cs typeface="Times New Roman"/>
              </a:rPr>
              <a:t>∂ </a:t>
            </a:r>
            <a:r>
              <a:rPr dirty="0" sz="750" spc="10" i="1">
                <a:latin typeface="Calibri"/>
                <a:cs typeface="Calibri"/>
              </a:rPr>
              <a:t>v</a:t>
            </a:r>
            <a:r>
              <a:rPr dirty="0" baseline="-15151" sz="825" spc="15" i="1">
                <a:latin typeface="Calibri"/>
                <a:cs typeface="Calibri"/>
              </a:rPr>
              <a:t>k</a:t>
            </a:r>
            <a:r>
              <a:rPr dirty="0" baseline="-15151" sz="825" spc="270" i="1">
                <a:latin typeface="Calibri"/>
                <a:cs typeface="Calibri"/>
              </a:rPr>
              <a:t> </a:t>
            </a:r>
            <a:r>
              <a:rPr dirty="0" sz="750" spc="10">
                <a:latin typeface="Tahoma"/>
                <a:cs typeface="Tahoma"/>
              </a:rPr>
              <a:t>=</a:t>
            </a:r>
            <a:r>
              <a:rPr dirty="0" sz="750" spc="-5">
                <a:latin typeface="Tahoma"/>
                <a:cs typeface="Tahoma"/>
              </a:rPr>
              <a:t> </a:t>
            </a:r>
            <a:r>
              <a:rPr dirty="0" sz="750" spc="10" i="1">
                <a:latin typeface="Times New Roman"/>
                <a:cs typeface="Times New Roman"/>
              </a:rPr>
              <a:t>∂</a:t>
            </a:r>
            <a:r>
              <a:rPr dirty="0" sz="750" spc="5" i="1">
                <a:latin typeface="Times New Roman"/>
                <a:cs typeface="Times New Roman"/>
              </a:rPr>
              <a:t> </a:t>
            </a:r>
            <a:r>
              <a:rPr dirty="0" baseline="30303" sz="825" spc="15">
                <a:latin typeface="Calibri"/>
                <a:cs typeface="Calibri"/>
              </a:rPr>
              <a:t>2</a:t>
            </a:r>
            <a:r>
              <a:rPr dirty="0" baseline="30303" sz="825" spc="-67">
                <a:latin typeface="Calibri"/>
                <a:cs typeface="Calibri"/>
              </a:rPr>
              <a:t> </a:t>
            </a:r>
            <a:r>
              <a:rPr dirty="0" sz="750" spc="105" i="1">
                <a:latin typeface="Calibri"/>
                <a:cs typeface="Calibri"/>
              </a:rPr>
              <a:t>C</a:t>
            </a:r>
            <a:r>
              <a:rPr dirty="0" sz="750" spc="105" i="1">
                <a:latin typeface="Times New Roman"/>
                <a:cs typeface="Times New Roman"/>
              </a:rPr>
              <a:t>/∂</a:t>
            </a:r>
            <a:r>
              <a:rPr dirty="0" sz="750" spc="50" i="1">
                <a:latin typeface="Times New Roman"/>
                <a:cs typeface="Times New Roman"/>
              </a:rPr>
              <a:t> </a:t>
            </a:r>
            <a:r>
              <a:rPr dirty="0" sz="750" spc="10" i="1">
                <a:latin typeface="Calibri"/>
                <a:cs typeface="Calibri"/>
              </a:rPr>
              <a:t>v</a:t>
            </a:r>
            <a:r>
              <a:rPr dirty="0" baseline="-15151" sz="825" spc="15" i="1">
                <a:latin typeface="Calibri"/>
                <a:cs typeface="Calibri"/>
              </a:rPr>
              <a:t>k</a:t>
            </a:r>
            <a:r>
              <a:rPr dirty="0" sz="750" spc="10" i="1">
                <a:latin typeface="Times New Roman"/>
                <a:cs typeface="Times New Roman"/>
              </a:rPr>
              <a:t>∂</a:t>
            </a:r>
            <a:r>
              <a:rPr dirty="0" sz="750" spc="50" i="1">
                <a:latin typeface="Times New Roman"/>
                <a:cs typeface="Times New Roman"/>
              </a:rPr>
              <a:t> </a:t>
            </a:r>
            <a:r>
              <a:rPr dirty="0" sz="750" spc="10" i="1">
                <a:latin typeface="Calibri"/>
                <a:cs typeface="Calibri"/>
              </a:rPr>
              <a:t>v</a:t>
            </a:r>
            <a:r>
              <a:rPr dirty="0" baseline="-15151" sz="825" spc="15" i="1">
                <a:latin typeface="Calibri"/>
                <a:cs typeface="Calibri"/>
              </a:rPr>
              <a:t>j</a:t>
            </a:r>
            <a:r>
              <a:rPr dirty="0" baseline="-15151" sz="825" spc="-44" i="1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.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Still,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you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get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point.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8" name="object 8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3983990" cy="718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22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marL="238125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Writing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components,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290659" y="1351296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780622" y="1280136"/>
            <a:ext cx="495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>
                <a:latin typeface="Cambria"/>
                <a:cs typeface="Cambria"/>
              </a:rPr>
              <a:t>’</a:t>
            </a:r>
            <a:endParaRPr sz="550">
              <a:latin typeface="Cambria"/>
              <a:cs typeface="Cambr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785181" y="1364531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52888" y="1351296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208159" y="1290155"/>
            <a:ext cx="11080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66700" algn="l"/>
                <a:tab pos="506730" algn="l"/>
              </a:tabLst>
            </a:pPr>
            <a:r>
              <a:rPr dirty="0" sz="850" spc="-50" i="1">
                <a:latin typeface="Calibri"/>
                <a:cs typeface="Calibri"/>
              </a:rPr>
              <a:t>w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95">
                <a:latin typeface="Cambria"/>
                <a:cs typeface="Cambria"/>
              </a:rPr>
              <a:t>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39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35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η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06292" y="1213191"/>
            <a:ext cx="23367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06292" y="1371056"/>
            <a:ext cx="1835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68386" y="1432197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723398" y="1290158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(1.16)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304440" y="1665525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66303" y="1594350"/>
            <a:ext cx="495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>
                <a:latin typeface="Cambria"/>
                <a:cs typeface="Cambria"/>
              </a:rPr>
              <a:t>’</a:t>
            </a:r>
            <a:endParaRPr sz="550">
              <a:latin typeface="Cambria"/>
              <a:cs typeface="Cambri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765400" y="1678745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999537" y="1665525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239173" y="1527405"/>
            <a:ext cx="1803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-14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239173" y="1685267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381477" y="1746407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247191" y="1604369"/>
            <a:ext cx="12376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27965" algn="l"/>
                <a:tab pos="473075" algn="l"/>
                <a:tab pos="1193800" algn="l"/>
              </a:tabLst>
            </a:pPr>
            <a:r>
              <a:rPr dirty="0" sz="850" spc="-50" i="1">
                <a:latin typeface="Calibri"/>
                <a:cs typeface="Calibri"/>
              </a:rPr>
              <a:t>b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95">
                <a:latin typeface="Cambria"/>
                <a:cs typeface="Cambria"/>
              </a:rPr>
              <a:t>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26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22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30">
                <a:latin typeface="Cambria"/>
                <a:cs typeface="Cambria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η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723376" y="1604369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(1.17)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07300" y="1952885"/>
            <a:ext cx="4373245" cy="7962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32384">
              <a:lnSpc>
                <a:spcPct val="114300"/>
              </a:lnSpc>
              <a:spcBef>
                <a:spcPts val="95"/>
              </a:spcBef>
            </a:pPr>
            <a:r>
              <a:rPr dirty="0" sz="850" spc="55">
                <a:latin typeface="Calibri"/>
                <a:cs typeface="Calibri"/>
              </a:rPr>
              <a:t>By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repeatedly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“roll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hill”,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hopefully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minimum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endParaRPr sz="850">
              <a:latin typeface="Calibri"/>
              <a:cs typeface="Calibri"/>
            </a:endParaRPr>
          </a:p>
          <a:p>
            <a:pPr algn="just" marL="12700" marR="5080" indent="189230">
              <a:lnSpc>
                <a:spcPct val="114300"/>
              </a:lnSpc>
              <a:spcBef>
                <a:spcPts val="240"/>
              </a:spcBef>
            </a:pP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challenges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applying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rule.</a:t>
            </a:r>
            <a:r>
              <a:rPr dirty="0" sz="850" spc="155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look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depth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chapters.</a:t>
            </a:r>
            <a:r>
              <a:rPr dirty="0" sz="850" spc="17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mention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2384" y="2740077"/>
            <a:ext cx="43783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  <a:hlinkClick r:id="rId2" action="ppaction://hlinksldjump"/>
              </a:rPr>
              <a:t>1.6.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021787" y="2873826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3033572" y="2978543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 h="0">
                <a:moveTo>
                  <a:pt x="0" y="0"/>
                </a:moveTo>
                <a:lnTo>
                  <a:pt x="42341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3093653" y="2794588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997301" y="2960846"/>
            <a:ext cx="435609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24790" algn="l"/>
              </a:tabLst>
            </a:pPr>
            <a:r>
              <a:rPr dirty="0" sz="550" spc="-50" i="1">
                <a:latin typeface="Calibri"/>
                <a:cs typeface="Calibri"/>
              </a:rPr>
              <a:t>n</a:t>
            </a:r>
            <a:r>
              <a:rPr dirty="0" sz="550" i="1">
                <a:latin typeface="Calibri"/>
                <a:cs typeface="Calibri"/>
              </a:rPr>
              <a:t>	x</a:t>
            </a:r>
            <a:r>
              <a:rPr dirty="0" sz="550" spc="295" i="1">
                <a:latin typeface="Calibri"/>
                <a:cs typeface="Calibri"/>
              </a:rPr>
              <a:t>  </a:t>
            </a:r>
            <a:r>
              <a:rPr dirty="0" baseline="10101" sz="825" spc="-75" i="1">
                <a:latin typeface="Calibri"/>
                <a:cs typeface="Calibri"/>
              </a:rPr>
              <a:t>x</a:t>
            </a:r>
            <a:endParaRPr baseline="10101" sz="825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07300" y="2888112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580640" algn="l"/>
              </a:tabLst>
            </a:pPr>
            <a:r>
              <a:rPr dirty="0" sz="850" spc="10">
                <a:latin typeface="Calibri"/>
                <a:cs typeface="Calibri"/>
              </a:rPr>
              <a:t>Notice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34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average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costs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10029" y="3065655"/>
            <a:ext cx="25590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415" i="1">
                <a:latin typeface="Calibri"/>
                <a:cs typeface="Calibri"/>
              </a:rPr>
              <a:t> </a:t>
            </a:r>
            <a:r>
              <a:rPr dirty="0" sz="850" spc="-50">
                <a:latin typeface="Cambria"/>
                <a:cs typeface="Cambria"/>
              </a:rPr>
              <a:t>≡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81491" y="3044816"/>
            <a:ext cx="3486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550" spc="6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ǁ</a:t>
            </a:r>
            <a:r>
              <a:rPr dirty="0" u="sng" sz="550" spc="-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55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550" spc="5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(</a:t>
            </a:r>
            <a:r>
              <a:rPr dirty="0" u="sng" sz="55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x</a:t>
            </a:r>
            <a:r>
              <a:rPr dirty="0" u="sng" sz="550" spc="5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)</a:t>
            </a:r>
            <a:r>
              <a:rPr dirty="0" u="sng" sz="550" spc="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55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</a:t>
            </a:r>
            <a:r>
              <a:rPr dirty="0" u="sng" sz="550" spc="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ǁ</a:t>
            </a:r>
            <a:endParaRPr sz="550">
              <a:latin typeface="Cambria"/>
              <a:cs typeface="Cambri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304493" y="3027881"/>
            <a:ext cx="59690" cy="984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u="sng" sz="45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56131" y="3138392"/>
            <a:ext cx="4781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98780" algn="l"/>
              </a:tabLst>
            </a:pPr>
            <a:r>
              <a:rPr dirty="0" baseline="10101" sz="825" spc="-75" i="1">
                <a:latin typeface="Calibri"/>
                <a:cs typeface="Calibri"/>
              </a:rPr>
              <a:t>x</a:t>
            </a:r>
            <a:r>
              <a:rPr dirty="0" baseline="10101" sz="825" i="1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390294" y="3065655"/>
            <a:ext cx="366267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individual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81901" y="3213699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10">
                <a:latin typeface="Cambria"/>
                <a:cs typeface="Cambria"/>
              </a:rPr>
              <a:t>𝝯</a:t>
            </a:r>
            <a:r>
              <a:rPr dirty="0" sz="850" spc="110" i="1">
                <a:latin typeface="Calibri"/>
                <a:cs typeface="Calibri"/>
              </a:rPr>
              <a:t>C</a:t>
            </a:r>
            <a:r>
              <a:rPr dirty="0" baseline="-20202" sz="825" spc="165" i="1">
                <a:latin typeface="Calibri"/>
                <a:cs typeface="Calibri"/>
              </a:rPr>
              <a:t>x</a:t>
            </a:r>
            <a:r>
              <a:rPr dirty="0" baseline="-20202" sz="825" spc="427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separately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x,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average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328775" y="3347447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1340561" y="3452152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 h="0">
                <a:moveTo>
                  <a:pt x="0" y="0"/>
                </a:moveTo>
                <a:lnTo>
                  <a:pt x="42341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 txBox="1"/>
          <p:nvPr/>
        </p:nvSpPr>
        <p:spPr>
          <a:xfrm>
            <a:off x="1400633" y="3268209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304277" y="3434467"/>
            <a:ext cx="5276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24790" algn="l"/>
                <a:tab pos="454025" algn="l"/>
              </a:tabLst>
            </a:pPr>
            <a:r>
              <a:rPr dirty="0" sz="550" spc="-50" i="1">
                <a:latin typeface="Calibri"/>
                <a:cs typeface="Calibri"/>
              </a:rPr>
              <a:t>n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x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baseline="10101" sz="825" spc="-75" i="1">
                <a:latin typeface="Calibri"/>
                <a:cs typeface="Calibri"/>
              </a:rPr>
              <a:t>x</a:t>
            </a:r>
            <a:endParaRPr baseline="10101" sz="825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07301" y="3361730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884555" algn="l"/>
              </a:tabLst>
            </a:pPr>
            <a:r>
              <a:rPr dirty="0" sz="850">
                <a:latin typeface="Calibri"/>
                <a:cs typeface="Calibri"/>
              </a:rPr>
              <a:t>them,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32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Unfortunately,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07301" y="3462751"/>
            <a:ext cx="4345940" cy="382270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slowly.</a:t>
            </a:r>
            <a:endParaRPr sz="850">
              <a:latin typeface="Calibri"/>
              <a:cs typeface="Calibri"/>
            </a:endParaRPr>
          </a:p>
          <a:p>
            <a:pPr marL="201930">
              <a:lnSpc>
                <a:spcPct val="100000"/>
              </a:lnSpc>
              <a:spcBef>
                <a:spcPts val="384"/>
              </a:spcBef>
            </a:pPr>
            <a:r>
              <a:rPr dirty="0" sz="850" spc="60">
                <a:latin typeface="Calibri"/>
                <a:cs typeface="Calibri"/>
              </a:rPr>
              <a:t>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stochastic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gradient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descent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idea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43796" y="3819135"/>
            <a:ext cx="4472940" cy="1240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67945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estimate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10">
                <a:latin typeface="Cambria"/>
                <a:cs typeface="Cambria"/>
              </a:rPr>
              <a:t>𝝯</a:t>
            </a:r>
            <a:r>
              <a:rPr dirty="0" sz="850" spc="110" i="1">
                <a:latin typeface="Calibri"/>
                <a:cs typeface="Calibri"/>
              </a:rPr>
              <a:t>C</a:t>
            </a:r>
            <a:r>
              <a:rPr dirty="0" baseline="-20202" sz="825" spc="165" i="1">
                <a:latin typeface="Calibri"/>
                <a:cs typeface="Calibri"/>
              </a:rPr>
              <a:t>x</a:t>
            </a:r>
            <a:r>
              <a:rPr dirty="0" baseline="-20202" sz="825" spc="412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sample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randomly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chosen</a:t>
            </a:r>
            <a:r>
              <a:rPr dirty="0" sz="850" spc="20">
                <a:latin typeface="Calibri"/>
                <a:cs typeface="Calibri"/>
              </a:rPr>
              <a:t> training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averaging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sample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turns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quickly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estimate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20">
                <a:latin typeface="Cambria"/>
                <a:cs typeface="Cambria"/>
              </a:rPr>
              <a:t>𝝯</a:t>
            </a:r>
            <a:r>
              <a:rPr dirty="0" sz="850" spc="120" i="1">
                <a:latin typeface="Calibri"/>
                <a:cs typeface="Calibri"/>
              </a:rPr>
              <a:t>C</a:t>
            </a:r>
            <a:r>
              <a:rPr dirty="0" sz="850" spc="120">
                <a:latin typeface="Calibri"/>
                <a:cs typeface="Calibri"/>
              </a:rPr>
              <a:t>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thus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learning.</a:t>
            </a:r>
            <a:endParaRPr sz="850">
              <a:latin typeface="Calibri"/>
              <a:cs typeface="Calibri"/>
            </a:endParaRPr>
          </a:p>
          <a:p>
            <a:pPr algn="just" marL="76200" marR="67945" indent="189230">
              <a:lnSpc>
                <a:spcPct val="114300"/>
              </a:lnSpc>
              <a:spcBef>
                <a:spcPts val="240"/>
              </a:spcBef>
            </a:pPr>
            <a:r>
              <a:rPr dirty="0" sz="850" spc="5">
                <a:latin typeface="Calibri"/>
                <a:cs typeface="Calibri"/>
              </a:rPr>
              <a:t>To </a:t>
            </a:r>
            <a:r>
              <a:rPr dirty="0" sz="850" spc="15">
                <a:latin typeface="Calibri"/>
                <a:cs typeface="Calibri"/>
              </a:rPr>
              <a:t>make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these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5">
                <a:latin typeface="Calibri"/>
                <a:cs typeface="Calibri"/>
              </a:rPr>
              <a:t> more </a:t>
            </a:r>
            <a:r>
              <a:rPr dirty="0" sz="850" spc="10">
                <a:latin typeface="Calibri"/>
                <a:cs typeface="Calibri"/>
              </a:rPr>
              <a:t>precise,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stochastic </a:t>
            </a:r>
            <a:r>
              <a:rPr dirty="0" sz="850" spc="15">
                <a:latin typeface="Calibri"/>
                <a:cs typeface="Calibri"/>
              </a:rPr>
              <a:t>gradient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by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randomly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picking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out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number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m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randomly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chosen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inputs.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We’ll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label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random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10">
                <a:latin typeface="Calibri"/>
                <a:cs typeface="Calibri"/>
              </a:rPr>
              <a:t> inputs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baseline="-20202" sz="825" spc="104">
                <a:latin typeface="Calibri"/>
                <a:cs typeface="Calibri"/>
              </a:rPr>
              <a:t>1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baseline="-20202" sz="825" spc="104">
                <a:latin typeface="Calibri"/>
                <a:cs typeface="Calibri"/>
              </a:rPr>
              <a:t>2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baseline="-20202" sz="825" spc="104" i="1">
                <a:latin typeface="Calibri"/>
                <a:cs typeface="Calibri"/>
              </a:rPr>
              <a:t>m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refer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mini-batch.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Provided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sample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size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m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enough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expect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average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value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0">
                <a:latin typeface="Cambria"/>
                <a:cs typeface="Cambria"/>
              </a:rPr>
              <a:t>𝝯</a:t>
            </a:r>
            <a:r>
              <a:rPr dirty="0" sz="850" spc="100" i="1">
                <a:latin typeface="Calibri"/>
                <a:cs typeface="Calibri"/>
              </a:rPr>
              <a:t>C</a:t>
            </a:r>
            <a:r>
              <a:rPr dirty="0" baseline="-20202" sz="825" spc="150" i="1">
                <a:latin typeface="Calibri"/>
                <a:cs typeface="Calibri"/>
              </a:rPr>
              <a:t>X</a:t>
            </a:r>
            <a:r>
              <a:rPr dirty="0" baseline="-20202" sz="825" spc="-37" i="1">
                <a:latin typeface="Calibri"/>
                <a:cs typeface="Calibri"/>
              </a:rPr>
              <a:t> </a:t>
            </a:r>
            <a:r>
              <a:rPr dirty="0" baseline="-37037" sz="675" spc="22" i="1">
                <a:latin typeface="Calibri"/>
                <a:cs typeface="Calibri"/>
              </a:rPr>
              <a:t>j</a:t>
            </a:r>
            <a:r>
              <a:rPr dirty="0" baseline="-37037" sz="675" spc="382" i="1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will </a:t>
            </a:r>
            <a:r>
              <a:rPr dirty="0" sz="850" spc="5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roughly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average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81901" y="5050424"/>
            <a:ext cx="10636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10">
                <a:latin typeface="Cambria"/>
                <a:cs typeface="Cambria"/>
              </a:rPr>
              <a:t>𝝯</a:t>
            </a:r>
            <a:r>
              <a:rPr dirty="0" sz="850" spc="110" i="1">
                <a:latin typeface="Calibri"/>
                <a:cs typeface="Calibri"/>
              </a:rPr>
              <a:t>C</a:t>
            </a:r>
            <a:r>
              <a:rPr dirty="0" baseline="-20202" sz="825" spc="165" i="1">
                <a:latin typeface="Calibri"/>
                <a:cs typeface="Calibri"/>
              </a:rPr>
              <a:t>x</a:t>
            </a:r>
            <a:r>
              <a:rPr dirty="0" baseline="-20202" sz="82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162214" y="5093287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274441" y="5146518"/>
            <a:ext cx="154305" cy="22796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dirty="0" sz="550" spc="-50" i="1">
                <a:latin typeface="Calibri"/>
                <a:cs typeface="Calibri"/>
              </a:rPr>
              <a:t>m</a:t>
            </a:r>
            <a:endParaRPr sz="550">
              <a:latin typeface="Calibri"/>
              <a:cs typeface="Calibri"/>
            </a:endParaRPr>
          </a:p>
          <a:p>
            <a:pPr marL="19685">
              <a:lnSpc>
                <a:spcPct val="100000"/>
              </a:lnSpc>
              <a:spcBef>
                <a:spcPts val="135"/>
              </a:spcBef>
            </a:pPr>
            <a:r>
              <a:rPr dirty="0" sz="550" spc="-25" i="1">
                <a:latin typeface="Calibri"/>
                <a:cs typeface="Calibri"/>
              </a:rPr>
              <a:t>j</a:t>
            </a:r>
            <a:r>
              <a:rPr dirty="0" sz="550" spc="-25">
                <a:latin typeface="Tahoma"/>
                <a:cs typeface="Tahoma"/>
              </a:rPr>
              <a:t>=</a:t>
            </a:r>
            <a:r>
              <a:rPr dirty="0" sz="550" spc="-2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424430" y="5186810"/>
            <a:ext cx="1866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0">
                <a:latin typeface="Cambria"/>
                <a:cs typeface="Cambria"/>
              </a:rPr>
              <a:t>𝝯</a:t>
            </a:r>
            <a:r>
              <a:rPr dirty="0" sz="850" spc="100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587168" y="5247950"/>
            <a:ext cx="6731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641704" y="5276567"/>
            <a:ext cx="41910" cy="984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50" i="1">
                <a:latin typeface="Calibri"/>
                <a:cs typeface="Calibri"/>
              </a:rPr>
              <a:t>j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2174913" y="5386158"/>
            <a:ext cx="511809" cy="0"/>
          </a:xfrm>
          <a:custGeom>
            <a:avLst/>
            <a:gdLst/>
            <a:ahLst/>
            <a:cxnLst/>
            <a:rect l="l" t="t" r="r" b="b"/>
            <a:pathLst>
              <a:path w="511810" h="0">
                <a:moveTo>
                  <a:pt x="0" y="0"/>
                </a:moveTo>
                <a:lnTo>
                  <a:pt x="511517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 txBox="1"/>
          <p:nvPr/>
        </p:nvSpPr>
        <p:spPr>
          <a:xfrm>
            <a:off x="2840950" y="5113136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019871" y="5206660"/>
            <a:ext cx="1866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0">
                <a:latin typeface="Cambria"/>
                <a:cs typeface="Cambria"/>
              </a:rPr>
              <a:t>𝝯</a:t>
            </a:r>
            <a:r>
              <a:rPr dirty="0" sz="850" spc="100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931428" y="5277087"/>
            <a:ext cx="34099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67335" algn="l"/>
              </a:tabLst>
            </a:pPr>
            <a:r>
              <a:rPr dirty="0" sz="550" spc="-50" i="1">
                <a:latin typeface="Calibri"/>
                <a:cs typeface="Calibri"/>
              </a:rPr>
              <a:t>x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x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2853651" y="5386158"/>
            <a:ext cx="393700" cy="0"/>
          </a:xfrm>
          <a:custGeom>
            <a:avLst/>
            <a:gdLst/>
            <a:ahLst/>
            <a:cxnLst/>
            <a:rect l="l" t="t" r="r" b="b"/>
            <a:pathLst>
              <a:path w="393700" h="0">
                <a:moveTo>
                  <a:pt x="0" y="0"/>
                </a:moveTo>
                <a:lnTo>
                  <a:pt x="393103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 txBox="1"/>
          <p:nvPr/>
        </p:nvSpPr>
        <p:spPr>
          <a:xfrm>
            <a:off x="2374785" y="5376636"/>
            <a:ext cx="7200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45795" algn="l"/>
              </a:tabLst>
            </a:pPr>
            <a:r>
              <a:rPr dirty="0" sz="850" spc="-50" i="1">
                <a:latin typeface="Calibri"/>
                <a:cs typeface="Calibri"/>
              </a:rPr>
              <a:t>m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2714322" y="5295738"/>
            <a:ext cx="8991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72770" algn="l"/>
              </a:tabLst>
            </a:pPr>
            <a:r>
              <a:rPr dirty="0" sz="850" spc="295">
                <a:latin typeface="Cambria"/>
                <a:cs typeface="Cambria"/>
              </a:rPr>
              <a:t>”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95">
                <a:latin typeface="Cambria"/>
                <a:cs typeface="Cambria"/>
              </a:rPr>
              <a:t>𝝯</a:t>
            </a:r>
            <a:r>
              <a:rPr dirty="0" sz="850" spc="95" i="1">
                <a:latin typeface="Calibri"/>
                <a:cs typeface="Calibri"/>
              </a:rPr>
              <a:t>C</a:t>
            </a:r>
            <a:r>
              <a:rPr dirty="0" sz="850" spc="95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723398" y="5295738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(1.18)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700850" y="5570896"/>
            <a:ext cx="40132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second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sum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entire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Swapping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sides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get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2743580" y="5881386"/>
            <a:ext cx="1022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-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913748" y="5852723"/>
            <a:ext cx="8509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m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865845" y="5838256"/>
            <a:ext cx="1657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395056" y="5958345"/>
            <a:ext cx="9702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651510" algn="l"/>
              </a:tabLst>
            </a:pP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160">
                <a:latin typeface="Cambria"/>
                <a:cs typeface="Cambria"/>
              </a:rPr>
              <a:t> </a:t>
            </a:r>
            <a:r>
              <a:rPr dirty="0" baseline="-42483" sz="1275" spc="-75" i="1">
                <a:latin typeface="Calibri"/>
                <a:cs typeface="Calibri"/>
              </a:rPr>
              <a:t>m</a:t>
            </a:r>
            <a:r>
              <a:rPr dirty="0" baseline="-42483" sz="1275" i="1">
                <a:latin typeface="Calibri"/>
                <a:cs typeface="Calibri"/>
              </a:rPr>
              <a:t>	</a:t>
            </a:r>
            <a:r>
              <a:rPr dirty="0" sz="850" spc="100">
                <a:latin typeface="Cambria"/>
                <a:cs typeface="Cambria"/>
              </a:rPr>
              <a:t>𝝯</a:t>
            </a:r>
            <a:r>
              <a:rPr dirty="0" sz="850" spc="100" i="1">
                <a:latin typeface="Calibri"/>
                <a:cs typeface="Calibri"/>
              </a:rPr>
              <a:t>C</a:t>
            </a:r>
            <a:r>
              <a:rPr dirty="0" baseline="-20202" sz="825" spc="150" i="1">
                <a:latin typeface="Calibri"/>
                <a:cs typeface="Calibri"/>
              </a:rPr>
              <a:t>X</a:t>
            </a:r>
            <a:r>
              <a:rPr dirty="0" baseline="-20202" sz="825" spc="-30" i="1">
                <a:latin typeface="Calibri"/>
                <a:cs typeface="Calibri"/>
              </a:rPr>
              <a:t> </a:t>
            </a:r>
            <a:r>
              <a:rPr dirty="0" baseline="-37037" sz="675" i="1">
                <a:latin typeface="Calibri"/>
                <a:cs typeface="Calibri"/>
              </a:rPr>
              <a:t>j</a:t>
            </a:r>
            <a:r>
              <a:rPr dirty="0" baseline="-37037" sz="675" spc="52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886522" y="6121239"/>
            <a:ext cx="1466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</a:t>
            </a:r>
            <a:r>
              <a:rPr dirty="0" sz="550" spc="-25">
                <a:latin typeface="Tahoma"/>
                <a:cs typeface="Tahoma"/>
              </a:rPr>
              <a:t>=</a:t>
            </a:r>
            <a:r>
              <a:rPr dirty="0" sz="550" spc="-2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723387" y="5958345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(1.19)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700852" y="6351226"/>
            <a:ext cx="4352290" cy="7962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508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confirming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estimate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randomly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chosen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</a:t>
            </a:r>
            <a:r>
              <a:rPr dirty="0" sz="850" spc="-10">
                <a:latin typeface="Calibri"/>
                <a:cs typeface="Calibri"/>
              </a:rPr>
              <a:t>batch.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  <a:spcBef>
                <a:spcPts val="240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wk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denote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picking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chosen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those,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650467" y="7371925"/>
            <a:ext cx="495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>
                <a:latin typeface="Cambria"/>
                <a:cs typeface="Cambria"/>
              </a:rPr>
              <a:t>’</a:t>
            </a:r>
            <a:endParaRPr sz="550">
              <a:latin typeface="Cambria"/>
              <a:cs typeface="Cambri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655026" y="7456316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2922728" y="7443095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2052599" y="7381940"/>
            <a:ext cx="1066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292100" algn="l"/>
                <a:tab pos="532130" algn="l"/>
              </a:tabLst>
            </a:pP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-20202" sz="825" spc="-37" i="1">
                <a:latin typeface="Calibri"/>
                <a:cs typeface="Calibri"/>
              </a:rPr>
              <a:t>k</a:t>
            </a:r>
            <a:r>
              <a:rPr dirty="0" baseline="-20202" sz="825" i="1">
                <a:latin typeface="Calibri"/>
                <a:cs typeface="Calibri"/>
              </a:rPr>
              <a:t>	</a:t>
            </a:r>
            <a:r>
              <a:rPr dirty="0" sz="850" spc="95">
                <a:latin typeface="Cambria"/>
                <a:cs typeface="Cambria"/>
              </a:rPr>
              <a:t>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39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350" i="1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104095" y="7303621"/>
            <a:ext cx="10731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8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η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226360" y="7273013"/>
            <a:ext cx="3549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baseline="6535" sz="1275" spc="952">
                <a:latin typeface="Arial MT"/>
                <a:cs typeface="Arial MT"/>
              </a:rPr>
              <a:t>X</a:t>
            </a:r>
            <a:r>
              <a:rPr dirty="0" baseline="6535" sz="1275" spc="7">
                <a:latin typeface="Arial MT"/>
                <a:cs typeface="Arial MT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295967" y="7544850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557602" y="7334153"/>
            <a:ext cx="6731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612122" y="7362770"/>
            <a:ext cx="41910" cy="984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50" i="1">
                <a:latin typeface="Calibri"/>
                <a:cs typeface="Calibri"/>
              </a:rPr>
              <a:t>j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3422865" y="7472374"/>
            <a:ext cx="234315" cy="0"/>
          </a:xfrm>
          <a:custGeom>
            <a:avLst/>
            <a:gdLst/>
            <a:ahLst/>
            <a:cxnLst/>
            <a:rect l="l" t="t" r="r" b="b"/>
            <a:pathLst>
              <a:path w="234314" h="0">
                <a:moveTo>
                  <a:pt x="0" y="0"/>
                </a:moveTo>
                <a:lnTo>
                  <a:pt x="233984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 txBox="1"/>
          <p:nvPr/>
        </p:nvSpPr>
        <p:spPr>
          <a:xfrm>
            <a:off x="3106826" y="7462839"/>
            <a:ext cx="4997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28930" algn="l"/>
              </a:tabLst>
            </a:pPr>
            <a:r>
              <a:rPr dirty="0" sz="850" spc="-50" i="1">
                <a:latin typeface="Calibri"/>
                <a:cs typeface="Calibri"/>
              </a:rPr>
              <a:t>m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585389" y="7523979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723398" y="7381940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(1.20)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636155" y="7762769"/>
            <a:ext cx="495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>
                <a:latin typeface="Cambria"/>
                <a:cs typeface="Cambria"/>
              </a:rPr>
              <a:t>’</a:t>
            </a:r>
            <a:endParaRPr sz="550">
              <a:latin typeface="Cambria"/>
              <a:cs typeface="Cambri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635237" y="7847169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869378" y="7833938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091627" y="7772798"/>
            <a:ext cx="9607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253365" algn="l"/>
                <a:tab pos="498475" algn="l"/>
              </a:tabLst>
            </a:pPr>
            <a:r>
              <a:rPr dirty="0" sz="850" spc="-25" i="1">
                <a:latin typeface="Calibri"/>
                <a:cs typeface="Calibri"/>
              </a:rPr>
              <a:t>b</a:t>
            </a:r>
            <a:r>
              <a:rPr dirty="0" baseline="-20202" sz="825" spc="-37" i="1">
                <a:latin typeface="Calibri"/>
                <a:cs typeface="Calibri"/>
              </a:rPr>
              <a:t>l</a:t>
            </a:r>
            <a:r>
              <a:rPr dirty="0" baseline="-20202" sz="825" i="1">
                <a:latin typeface="Calibri"/>
                <a:cs typeface="Calibri"/>
              </a:rPr>
              <a:t>	</a:t>
            </a:r>
            <a:r>
              <a:rPr dirty="0" sz="850" spc="95">
                <a:latin typeface="Cambria"/>
                <a:cs typeface="Cambria"/>
              </a:rPr>
              <a:t>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26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220" i="1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036976" y="7694465"/>
            <a:ext cx="10731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8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η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3228847" y="7935693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3159240" y="7663855"/>
            <a:ext cx="3549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baseline="6535" sz="1275" spc="952">
                <a:latin typeface="Arial MT"/>
                <a:cs typeface="Arial MT"/>
              </a:rPr>
              <a:t>X</a:t>
            </a:r>
            <a:r>
              <a:rPr dirty="0" baseline="6535" sz="1275" spc="7">
                <a:latin typeface="Arial MT"/>
                <a:cs typeface="Arial MT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490482" y="7724996"/>
            <a:ext cx="6731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3545003" y="7753612"/>
            <a:ext cx="41910" cy="984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50" i="1">
                <a:latin typeface="Calibri"/>
                <a:cs typeface="Calibri"/>
              </a:rPr>
              <a:t>j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85" name="object 85"/>
          <p:cNvSpPr/>
          <p:nvPr/>
        </p:nvSpPr>
        <p:spPr>
          <a:xfrm>
            <a:off x="3355746" y="7863216"/>
            <a:ext cx="234315" cy="0"/>
          </a:xfrm>
          <a:custGeom>
            <a:avLst/>
            <a:gdLst/>
            <a:ahLst/>
            <a:cxnLst/>
            <a:rect l="l" t="t" r="r" b="b"/>
            <a:pathLst>
              <a:path w="234314" h="0">
                <a:moveTo>
                  <a:pt x="0" y="0"/>
                </a:moveTo>
                <a:lnTo>
                  <a:pt x="233984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 txBox="1"/>
          <p:nvPr/>
        </p:nvSpPr>
        <p:spPr>
          <a:xfrm>
            <a:off x="3515272" y="7914837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039706" y="7772798"/>
            <a:ext cx="608330" cy="23749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65150">
              <a:lnSpc>
                <a:spcPts val="830"/>
              </a:lnSpc>
              <a:spcBef>
                <a:spcPts val="110"/>
              </a:spcBef>
            </a:pP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830"/>
              </a:lnSpc>
              <a:tabLst>
                <a:tab pos="345440" algn="l"/>
              </a:tabLst>
            </a:pPr>
            <a:r>
              <a:rPr dirty="0" sz="850" spc="-50" i="1">
                <a:latin typeface="Calibri"/>
                <a:cs typeface="Calibri"/>
              </a:rPr>
              <a:t>m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4723445" y="7772798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(1.21)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89" name="object 89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90" name="object 90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2" name="object 92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456" y="368721"/>
            <a:ext cx="4610100" cy="14782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50795">
              <a:lnSpc>
                <a:spcPts val="525"/>
              </a:lnSpc>
              <a:spcBef>
                <a:spcPts val="110"/>
              </a:spcBef>
              <a:tabLst>
                <a:tab pos="4449445" algn="l"/>
              </a:tabLst>
            </a:pPr>
            <a:r>
              <a:rPr dirty="0" sz="850" spc="10">
                <a:latin typeface="Calibri"/>
                <a:cs typeface="Calibri"/>
              </a:rPr>
              <a:t>1.5.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23</a:t>
            </a:r>
            <a:endParaRPr sz="850">
              <a:latin typeface="Calibri"/>
              <a:cs typeface="Calibri"/>
            </a:endParaRPr>
          </a:p>
          <a:p>
            <a:pPr algn="r" marR="2279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100" marR="23431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-15" i="1">
                <a:latin typeface="Calibri"/>
                <a:cs typeface="Calibri"/>
              </a:rPr>
              <a:t> </a:t>
            </a:r>
            <a:r>
              <a:rPr dirty="0" baseline="-20202" sz="825" spc="15" i="1">
                <a:latin typeface="Calibri"/>
                <a:cs typeface="Calibri"/>
              </a:rPr>
              <a:t>j</a:t>
            </a:r>
            <a:r>
              <a:rPr dirty="0" baseline="-20202" sz="825" spc="472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current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chosen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until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exhausted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epoch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point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epoch.</a:t>
            </a:r>
            <a:endParaRPr sz="850">
              <a:latin typeface="Calibri"/>
              <a:cs typeface="Calibri"/>
            </a:endParaRPr>
          </a:p>
          <a:p>
            <a:pPr algn="just" marL="44450" marR="234315" indent="189230">
              <a:lnSpc>
                <a:spcPct val="114300"/>
              </a:lnSpc>
              <a:spcBef>
                <a:spcPts val="150"/>
              </a:spcBef>
            </a:pPr>
            <a:r>
              <a:rPr dirty="0" sz="850">
                <a:latin typeface="Calibri"/>
                <a:cs typeface="Calibri"/>
              </a:rPr>
              <a:t>Incidentally,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conventions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scaling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1.6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scaled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overall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061057" y="1928799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 h="0">
                <a:moveTo>
                  <a:pt x="0" y="0"/>
                </a:moveTo>
                <a:lnTo>
                  <a:pt x="42341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3518052" y="1928799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 h="0">
                <a:moveTo>
                  <a:pt x="0" y="0"/>
                </a:moveTo>
                <a:lnTo>
                  <a:pt x="42341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2050186" y="1911115"/>
            <a:ext cx="15233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469390" algn="l"/>
              </a:tabLst>
            </a:pPr>
            <a:r>
              <a:rPr dirty="0" sz="550" spc="-50" i="1">
                <a:latin typeface="Calibri"/>
                <a:cs typeface="Calibri"/>
              </a:rPr>
              <a:t>n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n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41896" y="1838378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baseline="40404" sz="825" spc="15">
                <a:latin typeface="Calibri"/>
                <a:cs typeface="Calibri"/>
              </a:rPr>
              <a:t>1</a:t>
            </a:r>
            <a:r>
              <a:rPr dirty="0" baseline="40404" sz="825" spc="37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omit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baseline="40404" sz="825" spc="15">
                <a:latin typeface="Calibri"/>
                <a:cs typeface="Calibri"/>
              </a:rPr>
              <a:t>1</a:t>
            </a:r>
            <a:r>
              <a:rPr dirty="0" baseline="40404" sz="825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summing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individual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7296" y="1969548"/>
            <a:ext cx="4349115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examples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instead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averaging.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useful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total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number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advance.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generated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  <a:hlinkClick r:id="rId3" action="ppaction://hlinksldjump"/>
              </a:rPr>
              <a:t>1.20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41896" y="2430515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 action="ppaction://hlinksldjump"/>
              </a:rPr>
              <a:t>1.21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omit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u="sng" baseline="40404" sz="825" spc="-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40404" sz="825" spc="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40404" sz="825" spc="472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front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sums.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Conceptually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little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0856" y="2503252"/>
            <a:ext cx="4355465" cy="20745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410335">
              <a:lnSpc>
                <a:spcPts val="62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m</a:t>
            </a:r>
            <a:endParaRPr sz="550">
              <a:latin typeface="Calibri"/>
              <a:cs typeface="Calibri"/>
            </a:endParaRPr>
          </a:p>
          <a:p>
            <a:pPr algn="just" marL="19050">
              <a:lnSpc>
                <a:spcPts val="980"/>
              </a:lnSpc>
            </a:pPr>
            <a:r>
              <a:rPr dirty="0" sz="850" spc="10">
                <a:latin typeface="Calibri"/>
                <a:cs typeface="Calibri"/>
              </a:rPr>
              <a:t>difference,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equivalent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rescaling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η</a:t>
            </a:r>
            <a:r>
              <a:rPr dirty="0" sz="850" spc="80">
                <a:latin typeface="Calibri"/>
                <a:cs typeface="Calibri"/>
              </a:rPr>
              <a:t>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detailed</a:t>
            </a:r>
            <a:endParaRPr sz="8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150"/>
              </a:spcBef>
            </a:pPr>
            <a:r>
              <a:rPr dirty="0" sz="850" spc="10">
                <a:latin typeface="Calibri"/>
                <a:cs typeface="Calibri"/>
              </a:rPr>
              <a:t>comparisons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watching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for.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  <a:spcBef>
                <a:spcPts val="150"/>
              </a:spcBef>
            </a:pPr>
            <a:r>
              <a:rPr dirty="0" sz="850" spc="-1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political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polling: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easier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sample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batch,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carrying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election.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</a:t>
            </a:r>
            <a:r>
              <a:rPr dirty="0" sz="850" spc="10">
                <a:latin typeface="Lucida Sans Unicode"/>
                <a:cs typeface="Lucida Sans Unicode"/>
              </a:rPr>
              <a:t>=</a:t>
            </a:r>
            <a:r>
              <a:rPr dirty="0" sz="850" spc="10">
                <a:latin typeface="Calibri"/>
                <a:cs typeface="Calibri"/>
              </a:rPr>
              <a:t>60,000,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MNIST,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(say)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m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10,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means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6,000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speedup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estimating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gradient!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estimate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perfect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statistical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fluctuations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perfect: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decrease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C,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means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powerful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book.</a:t>
            </a:r>
            <a:endParaRPr sz="8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75"/>
              </a:spcBef>
            </a:pPr>
            <a:r>
              <a:rPr dirty="0" sz="1050" spc="50" b="1">
                <a:latin typeface="Calibri"/>
                <a:cs typeface="Calibri"/>
              </a:rPr>
              <a:t>Exercize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34707" y="4566827"/>
            <a:ext cx="4432300" cy="34499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61315" marR="36195" indent="-118745">
              <a:lnSpc>
                <a:spcPct val="114300"/>
              </a:lnSpc>
              <a:spcBef>
                <a:spcPts val="95"/>
              </a:spcBef>
              <a:buFont typeface="Cambria"/>
              <a:buChar char="•"/>
              <a:tabLst>
                <a:tab pos="361315" algn="l"/>
              </a:tabLst>
            </a:pPr>
            <a:r>
              <a:rPr dirty="0" sz="850" spc="55">
                <a:latin typeface="Calibri"/>
                <a:cs typeface="Calibri"/>
              </a:rPr>
              <a:t>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version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is,</a:t>
            </a:r>
            <a:r>
              <a:rPr dirty="0" sz="850" spc="20">
                <a:latin typeface="Calibri"/>
                <a:cs typeface="Calibri"/>
              </a:rPr>
              <a:t> given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75" i="1">
                <a:latin typeface="Calibri"/>
                <a:cs typeface="Calibri"/>
              </a:rPr>
              <a:t>x</a:t>
            </a:r>
            <a:r>
              <a:rPr dirty="0" sz="850" spc="75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update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according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rules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 i="1">
                <a:latin typeface="Calibri"/>
                <a:cs typeface="Calibri"/>
              </a:rPr>
              <a:t>k</a:t>
            </a:r>
            <a:r>
              <a:rPr dirty="0" baseline="-20202" sz="825" spc="247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6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>
                <a:latin typeface="Cambria"/>
                <a:cs typeface="Cambria"/>
              </a:rPr>
              <a:t>’</a:t>
            </a:r>
            <a:r>
              <a:rPr dirty="0" baseline="-30303" sz="825" i="1">
                <a:latin typeface="Calibri"/>
                <a:cs typeface="Calibri"/>
              </a:rPr>
              <a:t>k</a:t>
            </a:r>
            <a:r>
              <a:rPr dirty="0" baseline="-30303" sz="825" spc="254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 i="1">
                <a:latin typeface="Calibri"/>
                <a:cs typeface="Calibri"/>
              </a:rPr>
              <a:t>k</a:t>
            </a:r>
            <a:r>
              <a:rPr dirty="0" baseline="-20202" sz="825" spc="187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5">
                <a:latin typeface="Cambria"/>
                <a:cs typeface="Cambria"/>
              </a:rPr>
              <a:t> </a:t>
            </a:r>
            <a:r>
              <a:rPr dirty="0" sz="850" spc="70" i="1">
                <a:latin typeface="Times New Roman"/>
                <a:cs typeface="Times New Roman"/>
              </a:rPr>
              <a:t>η∂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 spc="70" i="1">
                <a:latin typeface="Calibri"/>
                <a:cs typeface="Calibri"/>
              </a:rPr>
              <a:t>C</a:t>
            </a:r>
            <a:r>
              <a:rPr dirty="0" baseline="-20202" sz="825" spc="104" i="1">
                <a:latin typeface="Calibri"/>
                <a:cs typeface="Calibri"/>
              </a:rPr>
              <a:t>x</a:t>
            </a:r>
            <a:r>
              <a:rPr dirty="0" baseline="-20202" sz="825" spc="-15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/∂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 i="1">
                <a:latin typeface="Calibri"/>
                <a:cs typeface="Calibri"/>
              </a:rPr>
              <a:t>k</a:t>
            </a:r>
            <a:r>
              <a:rPr dirty="0" baseline="-20202" sz="825" spc="32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 i="1">
                <a:latin typeface="Calibri"/>
                <a:cs typeface="Calibri"/>
              </a:rPr>
              <a:t>l</a:t>
            </a:r>
            <a:r>
              <a:rPr dirty="0" baseline="-20202" sz="825" spc="30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11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30303" sz="825" i="1">
                <a:latin typeface="Calibri"/>
                <a:cs typeface="Calibri"/>
              </a:rPr>
              <a:t>l</a:t>
            </a:r>
            <a:r>
              <a:rPr dirty="0" baseline="35353" sz="825">
                <a:latin typeface="Cambria"/>
                <a:cs typeface="Cambria"/>
              </a:rPr>
              <a:t>’</a:t>
            </a:r>
            <a:r>
              <a:rPr dirty="0" baseline="35353" sz="825" spc="247">
                <a:latin typeface="Cambria"/>
                <a:cs typeface="Cambria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 i="1">
                <a:latin typeface="Calibri"/>
                <a:cs typeface="Calibri"/>
              </a:rPr>
              <a:t>l</a:t>
            </a:r>
            <a:r>
              <a:rPr dirty="0" baseline="-20202" sz="825" spc="22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5">
                <a:latin typeface="Cambria"/>
                <a:cs typeface="Cambria"/>
              </a:rPr>
              <a:t> </a:t>
            </a:r>
            <a:r>
              <a:rPr dirty="0" sz="850" spc="70" i="1">
                <a:latin typeface="Times New Roman"/>
                <a:cs typeface="Times New Roman"/>
              </a:rPr>
              <a:t>η∂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 spc="70" i="1">
                <a:latin typeface="Calibri"/>
                <a:cs typeface="Calibri"/>
              </a:rPr>
              <a:t>C</a:t>
            </a:r>
            <a:r>
              <a:rPr dirty="0" baseline="-20202" sz="825" spc="104" i="1">
                <a:latin typeface="Calibri"/>
                <a:cs typeface="Calibri"/>
              </a:rPr>
              <a:t>x</a:t>
            </a:r>
            <a:r>
              <a:rPr dirty="0" baseline="-20202" sz="825" spc="-22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/∂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 i="1">
                <a:latin typeface="Calibri"/>
                <a:cs typeface="Calibri"/>
              </a:rPr>
              <a:t>l</a:t>
            </a:r>
            <a:r>
              <a:rPr dirty="0" baseline="-20202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another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repeatedly.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procedure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online,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on-line,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incremental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online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(just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beings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do).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advantage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disadvantage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online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compared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20.</a:t>
            </a:r>
            <a:endParaRPr sz="850">
              <a:latin typeface="Calibri"/>
              <a:cs typeface="Calibri"/>
            </a:endParaRPr>
          </a:p>
          <a:p>
            <a:pPr algn="just" marL="25400" marR="36830" indent="19685">
              <a:lnSpc>
                <a:spcPct val="114300"/>
              </a:lnSpc>
              <a:spcBef>
                <a:spcPts val="155"/>
              </a:spcBef>
            </a:pPr>
            <a:r>
              <a:rPr dirty="0" sz="850" spc="10">
                <a:latin typeface="Calibri"/>
                <a:cs typeface="Calibri"/>
              </a:rPr>
              <a:t>Let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conclude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section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discussing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bugs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surface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high-</a:t>
            </a:r>
            <a:r>
              <a:rPr dirty="0" sz="850" spc="-10">
                <a:latin typeface="Calibri"/>
                <a:cs typeface="Calibri"/>
              </a:rPr>
              <a:t>dimensional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space.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thinking: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“Hey,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visualize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dimensions”.</a:t>
            </a:r>
            <a:r>
              <a:rPr dirty="0" sz="850" spc="170">
                <a:latin typeface="Calibri"/>
                <a:cs typeface="Calibri"/>
              </a:rPr>
              <a:t> 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worry:</a:t>
            </a:r>
            <a:r>
              <a:rPr dirty="0" sz="850" spc="4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“I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can’t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dimensions,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let</a:t>
            </a:r>
            <a:r>
              <a:rPr dirty="0" sz="850" spc="20">
                <a:latin typeface="Calibri"/>
                <a:cs typeface="Calibri"/>
              </a:rPr>
              <a:t> alone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million)”.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special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ability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they’re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missing,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ability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“real”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supermathematicians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have?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course,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answer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professional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mathematicians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visualize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dimensions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especially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trick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use,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representing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above: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algebraic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(rather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visual)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representation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20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how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decrease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sz="850" spc="85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People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high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dimensions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mental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library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lines;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algebraic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trick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simplicity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accustomed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visualizing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dimensions,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once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library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get</a:t>
            </a:r>
            <a:r>
              <a:rPr dirty="0" sz="850" spc="20">
                <a:latin typeface="Calibri"/>
                <a:cs typeface="Calibri"/>
              </a:rPr>
              <a:t> pretty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high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dimensions.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won’t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detail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here,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you’re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12" name="object 12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578985" cy="11626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24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45745" marR="50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interested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enjoy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professional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mathematicians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dimensions.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accessible,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mastered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anyone.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2057" y="1748934"/>
            <a:ext cx="4373880" cy="91249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780">
              <a:lnSpc>
                <a:spcPct val="100000"/>
              </a:lnSpc>
              <a:spcBef>
                <a:spcPts val="100"/>
              </a:spcBef>
              <a:tabLst>
                <a:tab pos="344805" algn="l"/>
              </a:tabLst>
            </a:pPr>
            <a:r>
              <a:rPr dirty="0" sz="1050" spc="30" b="1">
                <a:latin typeface="Calibri"/>
                <a:cs typeface="Calibri"/>
              </a:rPr>
              <a:t>1.6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60" b="1">
                <a:latin typeface="Calibri"/>
                <a:cs typeface="Calibri"/>
              </a:rPr>
              <a:t>Implementing</a:t>
            </a:r>
            <a:r>
              <a:rPr dirty="0" sz="1050" spc="185" b="1">
                <a:latin typeface="Calibri"/>
                <a:cs typeface="Calibri"/>
              </a:rPr>
              <a:t> </a:t>
            </a:r>
            <a:r>
              <a:rPr dirty="0" sz="1050" spc="60" b="1">
                <a:latin typeface="Calibri"/>
                <a:cs typeface="Calibri"/>
              </a:rPr>
              <a:t>our</a:t>
            </a:r>
            <a:r>
              <a:rPr dirty="0" sz="1050" spc="185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network</a:t>
            </a:r>
            <a:r>
              <a:rPr dirty="0" sz="1050" spc="185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to</a:t>
            </a:r>
            <a:r>
              <a:rPr dirty="0" sz="1050" spc="190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classify</a:t>
            </a:r>
            <a:r>
              <a:rPr dirty="0" sz="1050" spc="185" b="1">
                <a:latin typeface="Calibri"/>
                <a:cs typeface="Calibri"/>
              </a:rPr>
              <a:t> </a:t>
            </a:r>
            <a:r>
              <a:rPr dirty="0" sz="1050" spc="40" b="1">
                <a:latin typeface="Calibri"/>
                <a:cs typeface="Calibri"/>
              </a:rPr>
              <a:t>digits</a:t>
            </a:r>
            <a:endParaRPr sz="1050">
              <a:latin typeface="Calibri"/>
              <a:cs typeface="Calibri"/>
            </a:endParaRPr>
          </a:p>
          <a:p>
            <a:pPr algn="just" marL="17780" marR="5080" indent="-5715">
              <a:lnSpc>
                <a:spcPct val="114300"/>
              </a:lnSpc>
              <a:spcBef>
                <a:spcPts val="1055"/>
              </a:spcBef>
            </a:pPr>
            <a:r>
              <a:rPr dirty="0" sz="850" spc="10">
                <a:latin typeface="Calibri"/>
                <a:cs typeface="Calibri"/>
              </a:rPr>
              <a:t>Alright,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stochastic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short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Python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(2.7)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program,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74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code!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MNIST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user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repository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book,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79514" y="2872397"/>
            <a:ext cx="4401185" cy="19621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250"/>
              </a:spcBef>
            </a:pPr>
            <a:r>
              <a:rPr dirty="0" sz="700" spc="145">
                <a:latin typeface="Calibri"/>
                <a:cs typeface="Calibri"/>
              </a:rPr>
              <a:t>git</a:t>
            </a:r>
            <a:r>
              <a:rPr dirty="0" sz="700" spc="42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clone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  <a:hlinkClick r:id="rId2"/>
              </a:rPr>
              <a:t>https://github.com/mnielsen/neural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215">
                <a:latin typeface="Calibri"/>
                <a:cs typeface="Calibri"/>
              </a:rPr>
              <a:t>-</a:t>
            </a:r>
            <a:r>
              <a:rPr dirty="0" sz="700" spc="65">
                <a:latin typeface="Calibri"/>
                <a:cs typeface="Calibri"/>
              </a:rPr>
              <a:t>networks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204">
                <a:latin typeface="Calibri"/>
                <a:cs typeface="Calibri"/>
              </a:rPr>
              <a:t>-</a:t>
            </a:r>
            <a:r>
              <a:rPr dirty="0" sz="700" spc="10">
                <a:solidFill>
                  <a:srgbClr val="003FFF"/>
                </a:solidFill>
                <a:latin typeface="Calibri"/>
                <a:cs typeface="Calibri"/>
              </a:rPr>
              <a:t>and</a:t>
            </a:r>
            <a:r>
              <a:rPr dirty="0" sz="700" spc="-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10">
                <a:latin typeface="Calibri"/>
                <a:cs typeface="Calibri"/>
              </a:rPr>
              <a:t>-</a:t>
            </a:r>
            <a:r>
              <a:rPr dirty="0" sz="700" spc="10">
                <a:latin typeface="Calibri"/>
                <a:cs typeface="Calibri"/>
              </a:rPr>
              <a:t>deep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-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learning.git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5452" y="3092673"/>
            <a:ext cx="4430395" cy="2699385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algn="just" marL="44450">
              <a:lnSpc>
                <a:spcPct val="100000"/>
              </a:lnSpc>
              <a:spcBef>
                <a:spcPts val="260"/>
              </a:spcBef>
            </a:pP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download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  <a:hlinkClick r:id="rId3"/>
              </a:rPr>
              <a:t>here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38100" marR="34925" indent="196215">
              <a:lnSpc>
                <a:spcPct val="114300"/>
              </a:lnSpc>
              <a:spcBef>
                <a:spcPts val="20"/>
              </a:spcBef>
            </a:pPr>
            <a:r>
              <a:rPr dirty="0" sz="850" spc="10">
                <a:latin typeface="Calibri"/>
                <a:cs typeface="Calibri"/>
              </a:rPr>
              <a:t>Incidentally,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split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60,000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10,000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images.</a:t>
            </a:r>
            <a:r>
              <a:rPr dirty="0" sz="850" spc="3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official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description.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Actually,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split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differently.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split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60,000-</a:t>
            </a:r>
            <a:r>
              <a:rPr dirty="0" sz="850" spc="50">
                <a:latin typeface="Calibri"/>
                <a:cs typeface="Calibri"/>
              </a:rPr>
              <a:t>image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parts: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50,000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separate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10,000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validation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useful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certain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selected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Although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isn’t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specification,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fashion,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refer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“MNIST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data”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referring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50,000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60,000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set</a:t>
            </a:r>
            <a:r>
              <a:rPr dirty="0" baseline="35353" sz="825" spc="-15">
                <a:latin typeface="Calibri"/>
                <a:cs typeface="Calibri"/>
                <a:hlinkClick r:id="rId4" action="ppaction://hlinksldjump"/>
              </a:rPr>
              <a:t>5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44450" marR="54610" indent="189230">
              <a:lnSpc>
                <a:spcPct val="114300"/>
              </a:lnSpc>
              <a:spcBef>
                <a:spcPts val="15"/>
              </a:spcBef>
            </a:pPr>
            <a:r>
              <a:rPr dirty="0" sz="850">
                <a:latin typeface="Calibri"/>
                <a:cs typeface="Calibri"/>
              </a:rPr>
              <a:t>Apart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MNIST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Python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Numpy,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fast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algebra.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already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Numpy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installed,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  <a:hlinkClick r:id="rId5"/>
              </a:rPr>
              <a:t>here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44450" marR="30480" indent="189230">
              <a:lnSpc>
                <a:spcPct val="111000"/>
              </a:lnSpc>
              <a:spcBef>
                <a:spcPts val="55"/>
              </a:spcBef>
            </a:pPr>
            <a:r>
              <a:rPr dirty="0" sz="850">
                <a:latin typeface="Calibri"/>
                <a:cs typeface="Calibri"/>
              </a:rPr>
              <a:t>Let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listing,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below.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centerpiece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</a:t>
            </a:r>
            <a:r>
              <a:rPr dirty="0" sz="90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represent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object: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044754" y="6242598"/>
            <a:ext cx="99060" cy="0"/>
          </a:xfrm>
          <a:custGeom>
            <a:avLst/>
            <a:gdLst/>
            <a:ahLst/>
            <a:cxnLst/>
            <a:rect l="l" t="t" r="r" b="b"/>
            <a:pathLst>
              <a:path w="99059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359168" y="6242598"/>
            <a:ext cx="99060" cy="0"/>
          </a:xfrm>
          <a:custGeom>
            <a:avLst/>
            <a:gdLst/>
            <a:ahLst/>
            <a:cxnLst/>
            <a:rect l="l" t="t" r="r" b="b"/>
            <a:pathLst>
              <a:path w="99059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679514" y="6003632"/>
            <a:ext cx="4401185" cy="77216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Network(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95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70"/>
              </a:spcBef>
              <a:tabLst>
                <a:tab pos="469900" algn="l"/>
              </a:tabLst>
            </a:pPr>
            <a:r>
              <a:rPr dirty="0" sz="700" spc="55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	</a:t>
            </a:r>
            <a:r>
              <a:rPr dirty="0" sz="700" spc="165">
                <a:latin typeface="Calibri"/>
                <a:cs typeface="Calibri"/>
              </a:rPr>
              <a:t>init</a:t>
            </a:r>
            <a:r>
              <a:rPr dirty="0" sz="700" spc="310">
                <a:latin typeface="Calibri"/>
                <a:cs typeface="Calibri"/>
              </a:rPr>
              <a:t>  </a:t>
            </a:r>
            <a:r>
              <a:rPr dirty="0" sz="700" spc="170">
                <a:latin typeface="Calibri"/>
                <a:cs typeface="Calibri"/>
              </a:rPr>
              <a:t>(self,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sizes):</a:t>
            </a:r>
            <a:endParaRPr sz="700">
              <a:latin typeface="Calibri"/>
              <a:cs typeface="Calibri"/>
            </a:endParaRPr>
          </a:p>
          <a:p>
            <a:pPr marL="257810" marR="2655570">
              <a:lnSpc>
                <a:spcPct val="107900"/>
              </a:lnSpc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num_layers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30">
                <a:latin typeface="Calibri"/>
                <a:cs typeface="Calibri"/>
              </a:rPr>
              <a:t>(sizes) </a:t>
            </a:r>
            <a:r>
              <a:rPr dirty="0" sz="700" spc="155">
                <a:latin typeface="Calibri"/>
                <a:cs typeface="Calibri"/>
              </a:rPr>
              <a:t>self.sizes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sizes</a:t>
            </a:r>
            <a:endParaRPr sz="700">
              <a:latin typeface="Calibri"/>
              <a:cs typeface="Calibri"/>
            </a:endParaRPr>
          </a:p>
          <a:p>
            <a:pPr marL="257810">
              <a:lnSpc>
                <a:spcPct val="100000"/>
              </a:lnSpc>
              <a:spcBef>
                <a:spcPts val="65"/>
              </a:spcBef>
            </a:pPr>
            <a:r>
              <a:rPr dirty="0" sz="700" spc="140">
                <a:latin typeface="Calibri"/>
                <a:cs typeface="Calibri"/>
              </a:rPr>
              <a:t>self.biases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[np.random.randn(y,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1)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sizes[1:]]</a:t>
            </a:r>
            <a:endParaRPr sz="700">
              <a:latin typeface="Calibri"/>
              <a:cs typeface="Calibri"/>
            </a:endParaRPr>
          </a:p>
          <a:p>
            <a:pPr marL="257810">
              <a:lnSpc>
                <a:spcPct val="100000"/>
              </a:lnSpc>
              <a:spcBef>
                <a:spcPts val="65"/>
              </a:spcBef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weights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[np.random.randn(y,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x)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65">
                <a:latin typeface="Calibri"/>
                <a:cs typeface="Calibri"/>
              </a:rPr>
              <a:t>(sizes[:-</a:t>
            </a:r>
            <a:r>
              <a:rPr dirty="0" sz="700" spc="150">
                <a:latin typeface="Calibri"/>
                <a:cs typeface="Calibri"/>
              </a:rPr>
              <a:t>1],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sizes[1:])]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20001" y="7350709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669201" y="6802847"/>
            <a:ext cx="4446270" cy="121158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50800" marR="64135">
              <a:lnSpc>
                <a:spcPct val="110200"/>
              </a:lnSpc>
              <a:spcBef>
                <a:spcPts val="75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900" spc="125">
                <a:latin typeface="Calibri"/>
                <a:cs typeface="Calibri"/>
              </a:rPr>
              <a:t>sizes</a:t>
            </a:r>
            <a:r>
              <a:rPr dirty="0" sz="90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create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</a:t>
            </a:r>
            <a:r>
              <a:rPr dirty="0" sz="90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object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3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code: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Calibri"/>
              <a:cs typeface="Calibri"/>
            </a:endParaRPr>
          </a:p>
          <a:p>
            <a:pPr algn="just" marL="50800" marR="43180" indent="127635">
              <a:lnSpc>
                <a:spcPts val="800"/>
              </a:lnSpc>
            </a:pPr>
            <a:r>
              <a:rPr dirty="0" baseline="30303" sz="825" spc="75">
                <a:latin typeface="Calibri"/>
                <a:cs typeface="Calibri"/>
              </a:rPr>
              <a:t>5</a:t>
            </a:r>
            <a:r>
              <a:rPr dirty="0" sz="750" spc="50">
                <a:latin typeface="Calibri"/>
                <a:cs typeface="Calibri"/>
              </a:rPr>
              <a:t>As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noted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earlier,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MNIST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data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set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based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two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data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sets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collected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NIST,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United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States’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National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Institute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Standards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Technology.</a:t>
            </a:r>
            <a:r>
              <a:rPr dirty="0" sz="750" spc="20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construct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MNIST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70">
                <a:latin typeface="Calibri"/>
                <a:cs typeface="Calibri"/>
              </a:rPr>
              <a:t>NIST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data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sets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were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stripped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down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put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into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more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convenient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format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Yann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LeCun,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Corinna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Cortes,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Christopher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65">
                <a:latin typeface="Calibri"/>
                <a:cs typeface="Calibri"/>
              </a:rPr>
              <a:t>J.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C.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Burges.</a:t>
            </a:r>
            <a:r>
              <a:rPr dirty="0" sz="750" spc="20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this</a:t>
            </a:r>
            <a:r>
              <a:rPr dirty="0" sz="750" spc="110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link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more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details.</a:t>
            </a:r>
            <a:r>
              <a:rPr dirty="0" sz="750" spc="20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data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repository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form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makes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easy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to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load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manipulate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65">
                <a:latin typeface="Calibri"/>
                <a:cs typeface="Calibri"/>
              </a:rPr>
              <a:t>MNIST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data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Python.</a:t>
            </a:r>
            <a:r>
              <a:rPr dirty="0" sz="750" spc="254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obtained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particular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form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data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from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the</a:t>
            </a:r>
            <a:r>
              <a:rPr dirty="0" sz="750" spc="65">
                <a:latin typeface="Calibri"/>
                <a:cs typeface="Calibri"/>
              </a:rPr>
              <a:t> LISA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machine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learning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laboratory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University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Montreal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40">
                <a:latin typeface="Calibri"/>
                <a:cs typeface="Calibri"/>
              </a:rPr>
              <a:t>(</a:t>
            </a:r>
            <a:r>
              <a:rPr dirty="0" sz="750" spc="40">
                <a:latin typeface="Calibri"/>
                <a:cs typeface="Calibri"/>
                <a:hlinkClick r:id="rId7"/>
              </a:rPr>
              <a:t>link</a:t>
            </a:r>
            <a:r>
              <a:rPr dirty="0" sz="750" spc="40">
                <a:latin typeface="Calibri"/>
                <a:cs typeface="Calibri"/>
              </a:rPr>
              <a:t>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12" name="object 12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83699" y="368721"/>
            <a:ext cx="263652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501265" algn="l"/>
              </a:tabLst>
            </a:pPr>
            <a:r>
              <a:rPr dirty="0" sz="850" spc="20">
                <a:latin typeface="Calibri"/>
                <a:cs typeface="Calibri"/>
              </a:rPr>
              <a:t>1.6.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25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9510" y="1149172"/>
            <a:ext cx="4401185" cy="19621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250"/>
              </a:spcBef>
            </a:pP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Network([2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3,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1])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86180" y="1373496"/>
            <a:ext cx="4527550" cy="4235450"/>
          </a:xfrm>
          <a:prstGeom prst="rect">
            <a:avLst/>
          </a:prstGeom>
        </p:spPr>
        <p:txBody>
          <a:bodyPr wrap="square" lIns="0" tIns="5715" rIns="0" bIns="0" rtlCol="0" vert="horz">
            <a:spAutoFit/>
          </a:bodyPr>
          <a:lstStyle/>
          <a:p>
            <a:pPr algn="just" marL="93345" marR="101600" indent="-5080">
              <a:lnSpc>
                <a:spcPct val="112900"/>
              </a:lnSpc>
              <a:spcBef>
                <a:spcPts val="4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Network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object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randomly,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Numpy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np.random.randn</a:t>
            </a:r>
            <a:r>
              <a:rPr dirty="0" sz="90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function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generate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Gaussian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distributions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with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mean</a:t>
            </a:r>
            <a:r>
              <a:rPr dirty="0" sz="850" spc="55">
                <a:latin typeface="Calibri"/>
                <a:cs typeface="Calibri"/>
              </a:rPr>
              <a:t> 0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standard</a:t>
            </a:r>
            <a:r>
              <a:rPr dirty="0" sz="850" spc="20">
                <a:latin typeface="Calibri"/>
                <a:cs typeface="Calibri"/>
              </a:rPr>
              <a:t> deviation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random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gives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stochastic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30">
                <a:latin typeface="Calibri"/>
                <a:cs typeface="Calibri"/>
              </a:rPr>
              <a:t> place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start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from.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later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chapters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we’ll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find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better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ways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initializing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weights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biases,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now.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initialization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assumes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omits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layers.</a:t>
            </a:r>
            <a:endParaRPr sz="850">
              <a:latin typeface="Calibri"/>
              <a:cs typeface="Calibri"/>
            </a:endParaRPr>
          </a:p>
          <a:p>
            <a:pPr algn="just" marL="93345" marR="81280" indent="189230">
              <a:lnSpc>
                <a:spcPct val="112400"/>
              </a:lnSpc>
              <a:spcBef>
                <a:spcPts val="40"/>
              </a:spcBef>
            </a:pP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stored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lists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Numpy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matrices.</a:t>
            </a:r>
            <a:r>
              <a:rPr dirty="0" sz="850" spc="4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900" spc="90">
                <a:latin typeface="Calibri"/>
                <a:cs typeface="Calibri"/>
              </a:rPr>
              <a:t>net.weights[1]</a:t>
            </a:r>
            <a:r>
              <a:rPr dirty="0" sz="90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Numpy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matrix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storing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third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(It’s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Python’s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indexing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starts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0.)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900" spc="90">
                <a:latin typeface="Calibri"/>
                <a:cs typeface="Calibri"/>
              </a:rPr>
              <a:t>net.weights[1]</a:t>
            </a:r>
            <a:r>
              <a:rPr dirty="0" sz="90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verbose,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matrix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matrix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w</a:t>
            </a:r>
            <a:r>
              <a:rPr dirty="0" baseline="-20202" sz="825" spc="89" i="1">
                <a:latin typeface="Calibri"/>
                <a:cs typeface="Calibri"/>
              </a:rPr>
              <a:t>jk</a:t>
            </a:r>
            <a:r>
              <a:rPr dirty="0" baseline="-20202" sz="825" spc="43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k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third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ordering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k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indices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strange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–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surely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swap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k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indices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around?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advantage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ordering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third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850">
              <a:latin typeface="Calibri"/>
              <a:cs typeface="Calibri"/>
            </a:endParaRPr>
          </a:p>
          <a:p>
            <a:pPr marL="1876425">
              <a:lnSpc>
                <a:spcPct val="100000"/>
              </a:lnSpc>
              <a:tabLst>
                <a:tab pos="4109720" algn="l"/>
              </a:tabLst>
            </a:pP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35353" sz="825">
                <a:latin typeface="Cambria"/>
                <a:cs typeface="Cambria"/>
              </a:rPr>
              <a:t>’</a:t>
            </a:r>
            <a:r>
              <a:rPr dirty="0" baseline="35353" sz="825" spc="247">
                <a:latin typeface="Cambria"/>
                <a:cs typeface="Cambri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spc="70" i="1">
                <a:latin typeface="Times New Roman"/>
                <a:cs typeface="Times New Roman"/>
              </a:rPr>
              <a:t>σ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wa</a:t>
            </a:r>
            <a:r>
              <a:rPr dirty="0" sz="850" spc="1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b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(1.22)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50">
              <a:latin typeface="Calibri"/>
              <a:cs typeface="Calibri"/>
            </a:endParaRPr>
          </a:p>
          <a:p>
            <a:pPr algn="just" marL="93345" marR="101600" indent="-508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unpack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piece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piece.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vector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35353" sz="825">
                <a:latin typeface="Cambria"/>
                <a:cs typeface="Cambria"/>
              </a:rPr>
              <a:t>’</a:t>
            </a:r>
            <a:r>
              <a:rPr dirty="0" baseline="35353" sz="825" spc="322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multiply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matrix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9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elementwise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entry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wa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45">
                <a:latin typeface="Tahoma"/>
                <a:cs typeface="Tahoma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6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verify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3" action="ppaction://hlinksldjump"/>
              </a:rPr>
              <a:t>1.22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4" action="ppaction://hlinksldjump"/>
              </a:rPr>
              <a:t>1.4,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neuron.</a:t>
            </a:r>
            <a:endParaRPr sz="850">
              <a:latin typeface="Calibri"/>
              <a:cs typeface="Calibri"/>
            </a:endParaRPr>
          </a:p>
          <a:p>
            <a:pPr marL="93345">
              <a:lnSpc>
                <a:spcPct val="100000"/>
              </a:lnSpc>
              <a:spcBef>
                <a:spcPts val="140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  <a:p>
            <a:pPr marL="409575" marR="102870" indent="-118745">
              <a:lnSpc>
                <a:spcPts val="1170"/>
              </a:lnSpc>
              <a:spcBef>
                <a:spcPts val="40"/>
              </a:spcBef>
              <a:buFont typeface="Cambria"/>
              <a:buChar char="•"/>
              <a:tabLst>
                <a:tab pos="409575" algn="l"/>
              </a:tabLst>
            </a:pPr>
            <a:r>
              <a:rPr dirty="0" sz="850" spc="10">
                <a:latin typeface="Calibri"/>
                <a:cs typeface="Calibri"/>
              </a:rPr>
              <a:t>Write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 action="ppaction://hlinksldjump"/>
              </a:rPr>
              <a:t>1.22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component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verify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4" action="ppaction://hlinksldjump"/>
              </a:rPr>
              <a:t>1.4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neuron.</a:t>
            </a:r>
            <a:endParaRPr sz="850">
              <a:latin typeface="Calibri"/>
              <a:cs typeface="Calibri"/>
            </a:endParaRPr>
          </a:p>
          <a:p>
            <a:pPr algn="just" marL="85725" marR="78105">
              <a:lnSpc>
                <a:spcPts val="1170"/>
              </a:lnSpc>
              <a:spcBef>
                <a:spcPts val="15"/>
              </a:spcBef>
            </a:pP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mind,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instance.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begin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39510" y="5670715"/>
            <a:ext cx="4401185" cy="31178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25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sigmoid(z):</a:t>
            </a:r>
            <a:endParaRPr sz="70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  <a:spcBef>
                <a:spcPts val="70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4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1.0/(1.0+np.exp(-</a:t>
            </a:r>
            <a:r>
              <a:rPr dirty="0" sz="700" spc="140">
                <a:latin typeface="Calibri"/>
                <a:cs typeface="Calibri"/>
              </a:rPr>
              <a:t>z))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036980" y="6837070"/>
            <a:ext cx="4406265" cy="504190"/>
          </a:xfrm>
          <a:custGeom>
            <a:avLst/>
            <a:gdLst/>
            <a:ahLst/>
            <a:cxnLst/>
            <a:rect l="l" t="t" r="r" b="b"/>
            <a:pathLst>
              <a:path w="4406265" h="504190">
                <a:moveTo>
                  <a:pt x="2529" y="43014"/>
                </a:moveTo>
                <a:lnTo>
                  <a:pt x="2529" y="0"/>
                </a:lnTo>
              </a:path>
              <a:path w="4406265" h="504190">
                <a:moveTo>
                  <a:pt x="0" y="2527"/>
                </a:moveTo>
                <a:lnTo>
                  <a:pt x="43016" y="2527"/>
                </a:lnTo>
              </a:path>
              <a:path w="4406265" h="504190">
                <a:moveTo>
                  <a:pt x="43016" y="2527"/>
                </a:moveTo>
                <a:lnTo>
                  <a:pt x="4363008" y="2527"/>
                </a:lnTo>
              </a:path>
              <a:path w="4406265" h="504190">
                <a:moveTo>
                  <a:pt x="4363021" y="2527"/>
                </a:moveTo>
                <a:lnTo>
                  <a:pt x="4406036" y="2527"/>
                </a:lnTo>
              </a:path>
              <a:path w="4406265" h="504190">
                <a:moveTo>
                  <a:pt x="4403509" y="43014"/>
                </a:moveTo>
                <a:lnTo>
                  <a:pt x="4403509" y="0"/>
                </a:lnTo>
              </a:path>
              <a:path w="4406265" h="504190">
                <a:moveTo>
                  <a:pt x="2529" y="158153"/>
                </a:moveTo>
                <a:lnTo>
                  <a:pt x="2529" y="43014"/>
                </a:lnTo>
              </a:path>
              <a:path w="4406265" h="504190">
                <a:moveTo>
                  <a:pt x="4403509" y="158153"/>
                </a:moveTo>
                <a:lnTo>
                  <a:pt x="4403509" y="43014"/>
                </a:lnTo>
              </a:path>
              <a:path w="4406265" h="504190">
                <a:moveTo>
                  <a:pt x="2529" y="273291"/>
                </a:moveTo>
                <a:lnTo>
                  <a:pt x="2529" y="158153"/>
                </a:lnTo>
              </a:path>
              <a:path w="4406265" h="504190">
                <a:moveTo>
                  <a:pt x="4403509" y="273291"/>
                </a:moveTo>
                <a:lnTo>
                  <a:pt x="4403509" y="158153"/>
                </a:lnTo>
              </a:path>
              <a:path w="4406265" h="504190">
                <a:moveTo>
                  <a:pt x="2529" y="388429"/>
                </a:moveTo>
                <a:lnTo>
                  <a:pt x="2529" y="273291"/>
                </a:lnTo>
              </a:path>
              <a:path w="4406265" h="504190">
                <a:moveTo>
                  <a:pt x="4403509" y="388429"/>
                </a:moveTo>
                <a:lnTo>
                  <a:pt x="4403509" y="273291"/>
                </a:lnTo>
              </a:path>
              <a:path w="4406265" h="504190">
                <a:moveTo>
                  <a:pt x="2529" y="503567"/>
                </a:moveTo>
                <a:lnTo>
                  <a:pt x="2529" y="388429"/>
                </a:lnTo>
              </a:path>
              <a:path w="4406265" h="504190">
                <a:moveTo>
                  <a:pt x="4403509" y="503567"/>
                </a:moveTo>
                <a:lnTo>
                  <a:pt x="4403509" y="388429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079996" y="7431391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1002828" y="6010164"/>
            <a:ext cx="4464050" cy="200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835" marR="58419">
              <a:lnSpc>
                <a:spcPct val="107900"/>
              </a:lnSpc>
              <a:spcBef>
                <a:spcPts val="100"/>
              </a:spcBef>
            </a:pPr>
            <a:r>
              <a:rPr dirty="0" sz="850" spc="20">
                <a:latin typeface="Calibri"/>
                <a:cs typeface="Calibri"/>
              </a:rPr>
              <a:t>Note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900" spc="114">
                <a:latin typeface="Calibri"/>
                <a:cs typeface="Calibri"/>
              </a:rPr>
              <a:t>z</a:t>
            </a:r>
            <a:r>
              <a:rPr dirty="0" sz="90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vector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Numpy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array,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Numpy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automatically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applies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900" spc="55">
                <a:latin typeface="Calibri"/>
                <a:cs typeface="Calibri"/>
              </a:rPr>
              <a:t>sigmoid</a:t>
            </a:r>
            <a:r>
              <a:rPr dirty="0" sz="90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elementwise,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vectorized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form.</a:t>
            </a:r>
            <a:endParaRPr sz="850">
              <a:latin typeface="Calibri"/>
              <a:cs typeface="Calibri"/>
            </a:endParaRPr>
          </a:p>
          <a:p>
            <a:pPr marL="76835" marR="55880" indent="189230">
              <a:lnSpc>
                <a:spcPts val="1170"/>
              </a:lnSpc>
              <a:spcBef>
                <a:spcPts val="70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feedforward</a:t>
            </a:r>
            <a:r>
              <a:rPr dirty="0" sz="90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</a:t>
            </a:r>
            <a:r>
              <a:rPr dirty="0" sz="90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returns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baseline="35353" sz="825" spc="30">
                <a:latin typeface="Calibri"/>
                <a:cs typeface="Calibri"/>
                <a:hlinkClick r:id="rId2" action="ppaction://hlinksldjump"/>
              </a:rPr>
              <a:t>7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method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applies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Equation</a:t>
            </a:r>
            <a:endParaRPr sz="85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80"/>
              </a:spcBef>
            </a:pPr>
            <a:r>
              <a:rPr dirty="0" sz="850">
                <a:latin typeface="Calibri"/>
                <a:cs typeface="Calibri"/>
                <a:hlinkClick r:id="rId3" action="ppaction://hlinksldjump"/>
              </a:rPr>
              <a:t>1.22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layer:</a:t>
            </a:r>
            <a:endParaRPr sz="850">
              <a:latin typeface="Calibri"/>
              <a:cs typeface="Calibri"/>
            </a:endParaRPr>
          </a:p>
          <a:p>
            <a:pPr marL="81915">
              <a:lnSpc>
                <a:spcPct val="100000"/>
              </a:lnSpc>
              <a:spcBef>
                <a:spcPts val="84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8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feedforward(self,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a):</a:t>
            </a:r>
            <a:endParaRPr sz="700">
              <a:latin typeface="Calibri"/>
              <a:cs typeface="Calibri"/>
            </a:endParaRPr>
          </a:p>
          <a:p>
            <a:pPr marL="187960">
              <a:lnSpc>
                <a:spcPct val="100000"/>
              </a:lnSpc>
              <a:spcBef>
                <a:spcPts val="70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"a"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input."""</a:t>
            </a:r>
            <a:endParaRPr sz="700">
              <a:latin typeface="Calibri"/>
              <a:cs typeface="Calibri"/>
            </a:endParaRPr>
          </a:p>
          <a:p>
            <a:pPr marL="187960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1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b,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0">
                <a:latin typeface="Calibri"/>
                <a:cs typeface="Calibri"/>
              </a:rPr>
              <a:t>(self.biases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weights):</a:t>
            </a:r>
            <a:endParaRPr sz="700">
              <a:latin typeface="Calibri"/>
              <a:cs typeface="Calibri"/>
            </a:endParaRPr>
          </a:p>
          <a:p>
            <a:pPr marL="292735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a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sigmoid(np.dot(w,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a)+b)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700">
              <a:latin typeface="Calibri"/>
              <a:cs typeface="Calibri"/>
            </a:endParaRPr>
          </a:p>
          <a:p>
            <a:pPr algn="just" marL="205104">
              <a:lnSpc>
                <a:spcPts val="894"/>
              </a:lnSpc>
              <a:spcBef>
                <a:spcPts val="5"/>
              </a:spcBef>
            </a:pPr>
            <a:r>
              <a:rPr dirty="0" baseline="30303" sz="825" spc="75">
                <a:latin typeface="Calibri"/>
                <a:cs typeface="Calibri"/>
              </a:rPr>
              <a:t>6</a:t>
            </a:r>
            <a:r>
              <a:rPr dirty="0" sz="750" spc="50">
                <a:latin typeface="Calibri"/>
                <a:cs typeface="Calibri"/>
              </a:rPr>
              <a:t>This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called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i="1">
                <a:latin typeface="Calibri"/>
                <a:cs typeface="Calibri"/>
              </a:rPr>
              <a:t>vectorizing</a:t>
            </a:r>
            <a:r>
              <a:rPr dirty="0" sz="750" spc="140" i="1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function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85" i="1">
                <a:latin typeface="Times New Roman"/>
                <a:cs typeface="Times New Roman"/>
              </a:rPr>
              <a:t>σ</a:t>
            </a:r>
            <a:r>
              <a:rPr dirty="0" sz="750" spc="85">
                <a:latin typeface="Calibri"/>
                <a:cs typeface="Calibri"/>
              </a:rPr>
              <a:t>.</a:t>
            </a:r>
            <a:endParaRPr sz="750">
              <a:latin typeface="Calibri"/>
              <a:cs typeface="Calibri"/>
            </a:endParaRPr>
          </a:p>
          <a:p>
            <a:pPr algn="just" marL="76835" marR="55244" indent="127635">
              <a:lnSpc>
                <a:spcPts val="800"/>
              </a:lnSpc>
              <a:spcBef>
                <a:spcPts val="150"/>
              </a:spcBef>
            </a:pPr>
            <a:r>
              <a:rPr dirty="0" baseline="30303" sz="825">
                <a:latin typeface="Calibri"/>
                <a:cs typeface="Calibri"/>
              </a:rPr>
              <a:t>7</a:t>
            </a:r>
            <a:r>
              <a:rPr dirty="0" sz="750">
                <a:latin typeface="Calibri"/>
                <a:cs typeface="Calibri"/>
              </a:rPr>
              <a:t>It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assumed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input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a</a:t>
            </a:r>
            <a:r>
              <a:rPr dirty="0" sz="800" spc="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800" spc="125">
                <a:latin typeface="Calibri"/>
                <a:cs typeface="Calibri"/>
              </a:rPr>
              <a:t>(n,</a:t>
            </a:r>
            <a:r>
              <a:rPr dirty="0" sz="800" spc="320">
                <a:latin typeface="Calibri"/>
                <a:cs typeface="Calibri"/>
              </a:rPr>
              <a:t> </a:t>
            </a:r>
            <a:r>
              <a:rPr dirty="0" sz="800" spc="95">
                <a:latin typeface="Calibri"/>
                <a:cs typeface="Calibri"/>
              </a:rPr>
              <a:t>1)</a:t>
            </a:r>
            <a:r>
              <a:rPr dirty="0" sz="800" spc="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Numpy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ndarray,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not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800" spc="140">
                <a:latin typeface="Calibri"/>
                <a:cs typeface="Calibri"/>
              </a:rPr>
              <a:t>(n,)</a:t>
            </a:r>
            <a:r>
              <a:rPr dirty="0" sz="800" spc="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vector.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Here,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n</a:t>
            </a:r>
            <a:r>
              <a:rPr dirty="0" sz="800" spc="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number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inputs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network.</a:t>
            </a:r>
            <a:r>
              <a:rPr dirty="0" sz="750" spc="2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If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you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try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800" spc="140">
                <a:latin typeface="Calibri"/>
                <a:cs typeface="Calibri"/>
              </a:rPr>
              <a:t>(n,)</a:t>
            </a:r>
            <a:r>
              <a:rPr dirty="0" sz="80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vector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input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you’ll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get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strange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results.</a:t>
            </a:r>
            <a:r>
              <a:rPr dirty="0" sz="750" spc="23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Although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using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800" spc="140">
                <a:latin typeface="Calibri"/>
                <a:cs typeface="Calibri"/>
              </a:rPr>
              <a:t>(n,)</a:t>
            </a:r>
            <a:r>
              <a:rPr dirty="0" sz="80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vector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appears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more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natural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choice,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using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800" spc="125">
                <a:latin typeface="Calibri"/>
                <a:cs typeface="Calibri"/>
              </a:rPr>
              <a:t>(n,</a:t>
            </a:r>
            <a:r>
              <a:rPr dirty="0" sz="800" spc="360">
                <a:latin typeface="Calibri"/>
                <a:cs typeface="Calibri"/>
              </a:rPr>
              <a:t> </a:t>
            </a:r>
            <a:r>
              <a:rPr dirty="0" sz="800" spc="95">
                <a:latin typeface="Calibri"/>
                <a:cs typeface="Calibri"/>
              </a:rPr>
              <a:t>1) </a:t>
            </a:r>
            <a:r>
              <a:rPr dirty="0" sz="750" spc="10">
                <a:latin typeface="Calibri"/>
                <a:cs typeface="Calibri"/>
              </a:rPr>
              <a:t>ndarray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makes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particularly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easy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modify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code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feedforward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multiple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inputs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once,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sometimes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convenient.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10" name="object 10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67589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26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9514" y="971994"/>
            <a:ext cx="4401185" cy="115570"/>
          </a:xfrm>
          <a:custGeom>
            <a:avLst/>
            <a:gdLst/>
            <a:ahLst/>
            <a:cxnLst/>
            <a:rect l="l" t="t" r="r" b="b"/>
            <a:pathLst>
              <a:path w="4401185" h="115569">
                <a:moveTo>
                  <a:pt x="0" y="115138"/>
                </a:moveTo>
                <a:lnTo>
                  <a:pt x="0" y="0"/>
                </a:lnTo>
              </a:path>
              <a:path w="4401185" h="115569">
                <a:moveTo>
                  <a:pt x="4400967" y="115138"/>
                </a:moveTo>
                <a:lnTo>
                  <a:pt x="4400967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2042" y="951321"/>
            <a:ext cx="4396105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9860">
              <a:lnSpc>
                <a:spcPct val="100000"/>
              </a:lnSpc>
              <a:spcBef>
                <a:spcPts val="9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-50">
                <a:latin typeface="Calibri"/>
                <a:cs typeface="Calibri"/>
              </a:rPr>
              <a:t>a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76984" y="1087132"/>
            <a:ext cx="4406265" cy="43180"/>
          </a:xfrm>
          <a:custGeom>
            <a:avLst/>
            <a:gdLst/>
            <a:ahLst/>
            <a:cxnLst/>
            <a:rect l="l" t="t" r="r" b="b"/>
            <a:pathLst>
              <a:path w="4406265" h="43180">
                <a:moveTo>
                  <a:pt x="2529" y="43014"/>
                </a:moveTo>
                <a:lnTo>
                  <a:pt x="2529" y="0"/>
                </a:lnTo>
              </a:path>
              <a:path w="4406265" h="43180">
                <a:moveTo>
                  <a:pt x="0" y="40487"/>
                </a:moveTo>
                <a:lnTo>
                  <a:pt x="43016" y="40487"/>
                </a:lnTo>
              </a:path>
              <a:path w="4406265" h="43180">
                <a:moveTo>
                  <a:pt x="43016" y="40487"/>
                </a:moveTo>
                <a:lnTo>
                  <a:pt x="4363010" y="40487"/>
                </a:lnTo>
              </a:path>
              <a:path w="4406265" h="43180">
                <a:moveTo>
                  <a:pt x="4363010" y="40487"/>
                </a:moveTo>
                <a:lnTo>
                  <a:pt x="4406025" y="40487"/>
                </a:lnTo>
              </a:path>
              <a:path w="4406265" h="43180">
                <a:moveTo>
                  <a:pt x="4403497" y="43014"/>
                </a:moveTo>
                <a:lnTo>
                  <a:pt x="4403497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0852" y="1153063"/>
            <a:ext cx="4352290" cy="46863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12700" marR="5080" indent="196215">
              <a:lnSpc>
                <a:spcPct val="110200"/>
              </a:lnSpc>
              <a:spcBef>
                <a:spcPts val="75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</a:t>
            </a:r>
            <a:r>
              <a:rPr dirty="0" sz="90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objects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end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them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900" spc="-20">
                <a:latin typeface="Calibri"/>
                <a:cs typeface="Calibri"/>
              </a:rPr>
              <a:t>SGD</a:t>
            </a:r>
            <a:r>
              <a:rPr dirty="0" sz="90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implements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mysterious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places,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break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below,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listing.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9514" y="1680908"/>
            <a:ext cx="4401185" cy="249936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25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SGD(self,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epochs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eta,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test_data=None):</a:t>
            </a:r>
            <a:endParaRPr sz="700">
              <a:latin typeface="Calibri"/>
              <a:cs typeface="Calibri"/>
            </a:endParaRPr>
          </a:p>
          <a:p>
            <a:pPr marL="296545" marR="64135" indent="-14541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Train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mini-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batch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stochastic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descent.</a:t>
            </a:r>
            <a:r>
              <a:rPr dirty="0" sz="700" spc="30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"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training_data"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tuples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"(x,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y)"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representing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inputs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desired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outputs.</a:t>
            </a:r>
            <a:r>
              <a:rPr dirty="0" sz="700" spc="31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other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non-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optional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parameters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self-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explanatory.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test_data"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provided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then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will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evaluated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against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test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after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each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epoch,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partial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progress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printed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out.</a:t>
            </a:r>
            <a:endParaRPr sz="700">
              <a:latin typeface="Calibri"/>
              <a:cs typeface="Calibri"/>
            </a:endParaRPr>
          </a:p>
          <a:p>
            <a:pPr marL="298450" marR="17018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This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useful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tracking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progress,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but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slows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things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down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substantially.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70"/>
              </a:spcBef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test_data:</a:t>
            </a:r>
            <a:endParaRPr sz="700">
              <a:latin typeface="Calibri"/>
              <a:cs typeface="Calibri"/>
            </a:endParaRPr>
          </a:p>
          <a:p>
            <a:pPr marL="255904" marR="2921000" indent="1905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n_test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test_data) </a:t>
            </a:r>
            <a:r>
              <a:rPr dirty="0" sz="700">
                <a:latin typeface="Calibri"/>
                <a:cs typeface="Calibri"/>
              </a:rPr>
              <a:t>n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training_data)</a:t>
            </a:r>
            <a:endParaRPr sz="700">
              <a:latin typeface="Calibri"/>
              <a:cs typeface="Calibri"/>
            </a:endParaRPr>
          </a:p>
          <a:p>
            <a:pPr marL="258445" marR="2602230" indent="-107314">
              <a:lnSpc>
                <a:spcPct val="107900"/>
              </a:lnSpc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j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95">
                <a:latin typeface="Calibri"/>
                <a:cs typeface="Calibri"/>
              </a:rPr>
              <a:t>(epochs):</a:t>
            </a:r>
            <a:r>
              <a:rPr dirty="0" sz="700" spc="50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random.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shuffle(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training_data)</a:t>
            </a:r>
            <a:endParaRPr sz="700">
              <a:latin typeface="Calibri"/>
              <a:cs typeface="Calibri"/>
            </a:endParaRPr>
          </a:p>
          <a:p>
            <a:pPr marL="299720" marR="316865" indent="-40640">
              <a:lnSpc>
                <a:spcPct val="107900"/>
              </a:lnSpc>
            </a:pPr>
            <a:r>
              <a:rPr dirty="0" sz="700" spc="85">
                <a:latin typeface="Calibri"/>
                <a:cs typeface="Calibri"/>
              </a:rPr>
              <a:t>mini_batches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[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training_data[k:k+mini_batch_size]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k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110">
                <a:latin typeface="Calibri"/>
                <a:cs typeface="Calibri"/>
              </a:rPr>
              <a:t>(0,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n, mini_batch_size)]</a:t>
            </a:r>
            <a:endParaRPr sz="700">
              <a:latin typeface="Calibri"/>
              <a:cs typeface="Calibri"/>
            </a:endParaRPr>
          </a:p>
          <a:p>
            <a:pPr marL="364490" marR="1964689" indent="-106680">
              <a:lnSpc>
                <a:spcPct val="107900"/>
              </a:lnSpc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mini_batches:</a:t>
            </a:r>
            <a:r>
              <a:rPr dirty="0" sz="700" spc="500">
                <a:latin typeface="Calibri"/>
                <a:cs typeface="Calibri"/>
              </a:rPr>
              <a:t>   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update_mini_batch(mini_batch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eta)</a:t>
            </a:r>
            <a:endParaRPr sz="7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65"/>
              </a:spcBef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test_data:</a:t>
            </a:r>
            <a:endParaRPr sz="700">
              <a:latin typeface="Calibri"/>
              <a:cs typeface="Calibri"/>
            </a:endParaRPr>
          </a:p>
          <a:p>
            <a:pPr marL="151765" marR="318135" indent="106045">
              <a:lnSpc>
                <a:spcPct val="107900"/>
              </a:lnSpc>
            </a:pP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solidFill>
                  <a:srgbClr val="007F00"/>
                </a:solidFill>
                <a:latin typeface="Calibri"/>
                <a:cs typeface="Calibri"/>
              </a:rPr>
              <a:t>"Epoch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45">
                <a:solidFill>
                  <a:srgbClr val="007F00"/>
                </a:solidFill>
                <a:latin typeface="Calibri"/>
                <a:cs typeface="Calibri"/>
              </a:rPr>
              <a:t>{0}: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{1}</a:t>
            </a:r>
            <a:r>
              <a:rPr dirty="0" sz="700" spc="34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/</a:t>
            </a:r>
            <a:r>
              <a:rPr dirty="0" sz="700" spc="34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7F00"/>
                </a:solidFill>
                <a:latin typeface="Calibri"/>
                <a:cs typeface="Calibri"/>
              </a:rPr>
              <a:t>{2}"</a:t>
            </a:r>
            <a:r>
              <a:rPr dirty="0" sz="700" spc="140">
                <a:latin typeface="Calibri"/>
                <a:cs typeface="Calibri"/>
              </a:rPr>
              <a:t>.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40">
                <a:latin typeface="Calibri"/>
                <a:cs typeface="Calibri"/>
              </a:rPr>
              <a:t>(j,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evaluate(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test_data),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n_test) </a:t>
            </a: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else</a:t>
            </a:r>
            <a:r>
              <a:rPr dirty="0" sz="700" spc="125">
                <a:latin typeface="Calibri"/>
                <a:cs typeface="Calibri"/>
              </a:rPr>
              <a:t>:</a:t>
            </a:r>
            <a:endParaRPr sz="700">
              <a:latin typeface="Calibri"/>
              <a:cs typeface="Calibri"/>
            </a:endParaRPr>
          </a:p>
          <a:p>
            <a:pPr marL="258445">
              <a:lnSpc>
                <a:spcPct val="100000"/>
              </a:lnSpc>
              <a:spcBef>
                <a:spcPts val="70"/>
              </a:spcBef>
            </a:pP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solidFill>
                  <a:srgbClr val="007F00"/>
                </a:solidFill>
                <a:latin typeface="Calibri"/>
                <a:cs typeface="Calibri"/>
              </a:rPr>
              <a:t>"Epoch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{0}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solidFill>
                  <a:srgbClr val="007F00"/>
                </a:solidFill>
                <a:latin typeface="Calibri"/>
                <a:cs typeface="Calibri"/>
              </a:rPr>
              <a:t>complete"</a:t>
            </a:r>
            <a:r>
              <a:rPr dirty="0" sz="700" spc="100">
                <a:latin typeface="Calibri"/>
                <a:cs typeface="Calibri"/>
              </a:rPr>
              <a:t>.</a:t>
            </a:r>
            <a:r>
              <a:rPr dirty="0" sz="700" spc="10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00">
                <a:latin typeface="Calibri"/>
                <a:cs typeface="Calibri"/>
              </a:rPr>
              <a:t>(j)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676984" y="6361645"/>
            <a:ext cx="4406265" cy="1655445"/>
          </a:xfrm>
          <a:custGeom>
            <a:avLst/>
            <a:gdLst/>
            <a:ahLst/>
            <a:cxnLst/>
            <a:rect l="l" t="t" r="r" b="b"/>
            <a:pathLst>
              <a:path w="4406265" h="1655445">
                <a:moveTo>
                  <a:pt x="2529" y="43014"/>
                </a:moveTo>
                <a:lnTo>
                  <a:pt x="2529" y="0"/>
                </a:lnTo>
              </a:path>
              <a:path w="4406265" h="1655445">
                <a:moveTo>
                  <a:pt x="0" y="2527"/>
                </a:moveTo>
                <a:lnTo>
                  <a:pt x="43016" y="2527"/>
                </a:lnTo>
              </a:path>
              <a:path w="4406265" h="1655445">
                <a:moveTo>
                  <a:pt x="43016" y="2527"/>
                </a:moveTo>
                <a:lnTo>
                  <a:pt x="4363010" y="2527"/>
                </a:lnTo>
              </a:path>
              <a:path w="4406265" h="1655445">
                <a:moveTo>
                  <a:pt x="4363010" y="2527"/>
                </a:moveTo>
                <a:lnTo>
                  <a:pt x="4406025" y="2527"/>
                </a:lnTo>
              </a:path>
              <a:path w="4406265" h="1655445">
                <a:moveTo>
                  <a:pt x="4403497" y="43014"/>
                </a:moveTo>
                <a:lnTo>
                  <a:pt x="4403497" y="0"/>
                </a:lnTo>
              </a:path>
              <a:path w="4406265" h="1655445">
                <a:moveTo>
                  <a:pt x="2529" y="158153"/>
                </a:moveTo>
                <a:lnTo>
                  <a:pt x="2529" y="43014"/>
                </a:lnTo>
              </a:path>
              <a:path w="4406265" h="1655445">
                <a:moveTo>
                  <a:pt x="4403497" y="158153"/>
                </a:moveTo>
                <a:lnTo>
                  <a:pt x="4403497" y="43014"/>
                </a:lnTo>
              </a:path>
              <a:path w="4406265" h="1655445">
                <a:moveTo>
                  <a:pt x="2529" y="273291"/>
                </a:moveTo>
                <a:lnTo>
                  <a:pt x="2529" y="158153"/>
                </a:lnTo>
              </a:path>
              <a:path w="4406265" h="1655445">
                <a:moveTo>
                  <a:pt x="4403497" y="273291"/>
                </a:moveTo>
                <a:lnTo>
                  <a:pt x="4403497" y="158153"/>
                </a:lnTo>
              </a:path>
              <a:path w="4406265" h="1655445">
                <a:moveTo>
                  <a:pt x="2529" y="388429"/>
                </a:moveTo>
                <a:lnTo>
                  <a:pt x="2529" y="273291"/>
                </a:lnTo>
              </a:path>
              <a:path w="4406265" h="1655445">
                <a:moveTo>
                  <a:pt x="4403497" y="388429"/>
                </a:moveTo>
                <a:lnTo>
                  <a:pt x="4403497" y="273291"/>
                </a:lnTo>
              </a:path>
              <a:path w="4406265" h="1655445">
                <a:moveTo>
                  <a:pt x="2529" y="503567"/>
                </a:moveTo>
                <a:lnTo>
                  <a:pt x="2529" y="388429"/>
                </a:lnTo>
              </a:path>
              <a:path w="4406265" h="1655445">
                <a:moveTo>
                  <a:pt x="4403497" y="503567"/>
                </a:moveTo>
                <a:lnTo>
                  <a:pt x="4403497" y="388429"/>
                </a:lnTo>
              </a:path>
              <a:path w="4406265" h="1655445">
                <a:moveTo>
                  <a:pt x="2529" y="618705"/>
                </a:moveTo>
                <a:lnTo>
                  <a:pt x="2529" y="503567"/>
                </a:lnTo>
              </a:path>
              <a:path w="4406265" h="1655445">
                <a:moveTo>
                  <a:pt x="4403497" y="618705"/>
                </a:moveTo>
                <a:lnTo>
                  <a:pt x="4403497" y="503567"/>
                </a:lnTo>
              </a:path>
              <a:path w="4406265" h="1655445">
                <a:moveTo>
                  <a:pt x="2529" y="733844"/>
                </a:moveTo>
                <a:lnTo>
                  <a:pt x="2529" y="618705"/>
                </a:lnTo>
              </a:path>
              <a:path w="4406265" h="1655445">
                <a:moveTo>
                  <a:pt x="4403497" y="733844"/>
                </a:moveTo>
                <a:lnTo>
                  <a:pt x="4403497" y="618705"/>
                </a:lnTo>
              </a:path>
              <a:path w="4406265" h="1655445">
                <a:moveTo>
                  <a:pt x="2529" y="848995"/>
                </a:moveTo>
                <a:lnTo>
                  <a:pt x="2529" y="733856"/>
                </a:lnTo>
              </a:path>
              <a:path w="4406265" h="1655445">
                <a:moveTo>
                  <a:pt x="4403497" y="848995"/>
                </a:moveTo>
                <a:lnTo>
                  <a:pt x="4403497" y="733856"/>
                </a:lnTo>
              </a:path>
              <a:path w="4406265" h="1655445">
                <a:moveTo>
                  <a:pt x="2529" y="964133"/>
                </a:moveTo>
                <a:lnTo>
                  <a:pt x="2529" y="848995"/>
                </a:lnTo>
              </a:path>
              <a:path w="4406265" h="1655445">
                <a:moveTo>
                  <a:pt x="4403497" y="964133"/>
                </a:moveTo>
                <a:lnTo>
                  <a:pt x="4403497" y="848995"/>
                </a:lnTo>
              </a:path>
              <a:path w="4406265" h="1655445">
                <a:moveTo>
                  <a:pt x="2529" y="1079270"/>
                </a:moveTo>
                <a:lnTo>
                  <a:pt x="2529" y="964133"/>
                </a:lnTo>
              </a:path>
              <a:path w="4406265" h="1655445">
                <a:moveTo>
                  <a:pt x="4403497" y="1079270"/>
                </a:moveTo>
                <a:lnTo>
                  <a:pt x="4403497" y="964133"/>
                </a:lnTo>
              </a:path>
              <a:path w="4406265" h="1655445">
                <a:moveTo>
                  <a:pt x="2529" y="1194408"/>
                </a:moveTo>
                <a:lnTo>
                  <a:pt x="2529" y="1079270"/>
                </a:lnTo>
              </a:path>
              <a:path w="4406265" h="1655445">
                <a:moveTo>
                  <a:pt x="4403497" y="1194408"/>
                </a:moveTo>
                <a:lnTo>
                  <a:pt x="4403497" y="1079270"/>
                </a:lnTo>
              </a:path>
              <a:path w="4406265" h="1655445">
                <a:moveTo>
                  <a:pt x="2529" y="1309546"/>
                </a:moveTo>
                <a:lnTo>
                  <a:pt x="2529" y="1194408"/>
                </a:lnTo>
              </a:path>
              <a:path w="4406265" h="1655445">
                <a:moveTo>
                  <a:pt x="4403497" y="1309546"/>
                </a:moveTo>
                <a:lnTo>
                  <a:pt x="4403497" y="1194408"/>
                </a:lnTo>
              </a:path>
              <a:path w="4406265" h="1655445">
                <a:moveTo>
                  <a:pt x="2529" y="1424686"/>
                </a:moveTo>
                <a:lnTo>
                  <a:pt x="2529" y="1309546"/>
                </a:lnTo>
              </a:path>
              <a:path w="4406265" h="1655445">
                <a:moveTo>
                  <a:pt x="4403497" y="1424686"/>
                </a:moveTo>
                <a:lnTo>
                  <a:pt x="4403497" y="1309546"/>
                </a:lnTo>
              </a:path>
              <a:path w="4406265" h="1655445">
                <a:moveTo>
                  <a:pt x="2529" y="1539824"/>
                </a:moveTo>
                <a:lnTo>
                  <a:pt x="2529" y="1424686"/>
                </a:lnTo>
              </a:path>
              <a:path w="4406265" h="1655445">
                <a:moveTo>
                  <a:pt x="4403497" y="1539824"/>
                </a:moveTo>
                <a:lnTo>
                  <a:pt x="4403497" y="1424686"/>
                </a:lnTo>
              </a:path>
              <a:path w="4406265" h="1655445">
                <a:moveTo>
                  <a:pt x="2529" y="1654962"/>
                </a:moveTo>
                <a:lnTo>
                  <a:pt x="2529" y="1539824"/>
                </a:lnTo>
              </a:path>
              <a:path w="4406265" h="1655445">
                <a:moveTo>
                  <a:pt x="4403497" y="1654962"/>
                </a:moveTo>
                <a:lnTo>
                  <a:pt x="4403497" y="1539824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682042" y="4205214"/>
            <a:ext cx="4397375" cy="3807460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algn="just" marL="37465" marR="5080" indent="-5080">
              <a:lnSpc>
                <a:spcPct val="111300"/>
              </a:lnSpc>
              <a:spcBef>
                <a:spcPts val="65"/>
              </a:spcBef>
            </a:pPr>
            <a:r>
              <a:rPr dirty="0" sz="850" spc="50">
                <a:latin typeface="Calibri"/>
                <a:cs typeface="Calibri"/>
              </a:rPr>
              <a:t>The </a:t>
            </a:r>
            <a:r>
              <a:rPr dirty="0" sz="900" spc="90">
                <a:latin typeface="Calibri"/>
                <a:cs typeface="Calibri"/>
              </a:rPr>
              <a:t>training_data </a:t>
            </a:r>
            <a:r>
              <a:rPr dirty="0" sz="850" spc="10">
                <a:latin typeface="Calibri"/>
                <a:cs typeface="Calibri"/>
              </a:rPr>
              <a:t>is a list of tuples </a:t>
            </a:r>
            <a:r>
              <a:rPr dirty="0" sz="900" spc="170">
                <a:latin typeface="Calibri"/>
                <a:cs typeface="Calibri"/>
              </a:rPr>
              <a:t>(x,</a:t>
            </a:r>
            <a:r>
              <a:rPr dirty="0" sz="900" spc="170">
                <a:latin typeface="Calibri"/>
                <a:cs typeface="Calibri"/>
              </a:rPr>
              <a:t> </a:t>
            </a:r>
            <a:r>
              <a:rPr dirty="0" sz="900" spc="120">
                <a:latin typeface="Calibri"/>
                <a:cs typeface="Calibri"/>
              </a:rPr>
              <a:t>y) </a:t>
            </a:r>
            <a:r>
              <a:rPr dirty="0" sz="850" spc="10">
                <a:latin typeface="Calibri"/>
                <a:cs typeface="Calibri"/>
              </a:rPr>
              <a:t>representing the training inputs and </a:t>
            </a:r>
            <a:r>
              <a:rPr dirty="0" sz="850" spc="-10">
                <a:latin typeface="Calibri"/>
                <a:cs typeface="Calibri"/>
              </a:rPr>
              <a:t>corre-</a:t>
            </a:r>
            <a:r>
              <a:rPr dirty="0" sz="850" spc="10">
                <a:latin typeface="Calibri"/>
                <a:cs typeface="Calibri"/>
              </a:rPr>
              <a:t>sponding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outputs.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epochs</a:t>
            </a:r>
            <a:r>
              <a:rPr dirty="0" sz="90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900" spc="70">
                <a:latin typeface="Calibri"/>
                <a:cs typeface="Calibri"/>
              </a:rPr>
              <a:t>mini_batch_size</a:t>
            </a:r>
            <a:r>
              <a:rPr dirty="0" sz="90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you’d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expect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sampling.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eta</a:t>
            </a:r>
            <a:r>
              <a:rPr dirty="0" sz="90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η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optional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test_data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supplied,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then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evaluate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after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epoch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print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progress.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useful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tracking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progress,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substantially.</a:t>
            </a:r>
            <a:endParaRPr sz="850">
              <a:latin typeface="Calibri"/>
              <a:cs typeface="Calibri"/>
            </a:endParaRPr>
          </a:p>
          <a:p>
            <a:pPr algn="just" marL="37465" marR="31115" indent="189230">
              <a:lnSpc>
                <a:spcPct val="110500"/>
              </a:lnSpc>
              <a:spcBef>
                <a:spcPts val="4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follows.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epoch,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starts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randomly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shuffling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appropriate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sampling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randomly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900" spc="55">
                <a:latin typeface="Calibri"/>
                <a:cs typeface="Calibri"/>
              </a:rPr>
              <a:t>mini_batch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single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900" spc="60">
                <a:latin typeface="Calibri"/>
                <a:cs typeface="Calibri"/>
              </a:rPr>
              <a:t>self.update_mini_batch(mini_batch</a:t>
            </a:r>
            <a:endParaRPr sz="900">
              <a:latin typeface="Calibri"/>
              <a:cs typeface="Calibri"/>
            </a:endParaRPr>
          </a:p>
          <a:p>
            <a:pPr algn="just" marL="37465" marR="31115">
              <a:lnSpc>
                <a:spcPct val="107900"/>
              </a:lnSpc>
            </a:pPr>
            <a:r>
              <a:rPr dirty="0" sz="900" spc="245">
                <a:latin typeface="Calibri"/>
                <a:cs typeface="Calibri"/>
              </a:rPr>
              <a:t>,</a:t>
            </a:r>
            <a:r>
              <a:rPr dirty="0" sz="900" spc="380">
                <a:latin typeface="Calibri"/>
                <a:cs typeface="Calibri"/>
              </a:rPr>
              <a:t> </a:t>
            </a:r>
            <a:r>
              <a:rPr dirty="0" sz="900" spc="90">
                <a:latin typeface="Calibri"/>
                <a:cs typeface="Calibri"/>
              </a:rPr>
              <a:t>eta)</a:t>
            </a:r>
            <a:r>
              <a:rPr dirty="0" sz="850" spc="90">
                <a:latin typeface="Calibri"/>
                <a:cs typeface="Calibri"/>
              </a:rPr>
              <a:t>,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updates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according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iteration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mini_batch</a:t>
            </a:r>
            <a:r>
              <a:rPr dirty="0" sz="850" spc="50">
                <a:latin typeface="Calibri"/>
                <a:cs typeface="Calibri"/>
              </a:rPr>
              <a:t>.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900" spc="40">
                <a:latin typeface="Calibri"/>
                <a:cs typeface="Calibri"/>
              </a:rPr>
              <a:t>update_mini_batch</a:t>
            </a:r>
            <a:r>
              <a:rPr dirty="0" sz="90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method: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50"/>
              </a:spcBef>
            </a:pPr>
            <a:endParaRPr sz="85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  <a:spcBef>
                <a:spcPts val="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8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update_mini_batch(self,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mini_batch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eta):</a:t>
            </a:r>
            <a:endParaRPr sz="700">
              <a:latin typeface="Calibri"/>
              <a:cs typeface="Calibri"/>
            </a:endParaRPr>
          </a:p>
          <a:p>
            <a:pPr marL="297180" marR="64769" indent="-14859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Update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network’s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weights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applying</a:t>
            </a:r>
            <a:r>
              <a:rPr dirty="0" sz="700" spc="42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42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descent</a:t>
            </a:r>
            <a:r>
              <a:rPr dirty="0" sz="700" spc="42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using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backpropagation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single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mini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batch.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mini_batch"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tuples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"(x,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5" i="1">
                <a:solidFill>
                  <a:srgbClr val="980000"/>
                </a:solidFill>
                <a:latin typeface="Calibri"/>
                <a:cs typeface="Calibri"/>
              </a:rPr>
              <a:t>y)",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"eta"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learning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rate."""</a:t>
            </a:r>
            <a:endParaRPr sz="700">
              <a:latin typeface="Calibri"/>
              <a:cs typeface="Calibri"/>
            </a:endParaRPr>
          </a:p>
          <a:p>
            <a:pPr marL="148590" marR="1537970" indent="635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nabla_b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[np.zeros(b.shape)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b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self.biases] </a:t>
            </a:r>
            <a:r>
              <a:rPr dirty="0" sz="700" spc="55">
                <a:latin typeface="Calibri"/>
                <a:cs typeface="Calibri"/>
              </a:rPr>
              <a:t>nabla_w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1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[np.zeros(w.shape)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weights]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mini_batch: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65"/>
              </a:spcBef>
            </a:pPr>
            <a:r>
              <a:rPr dirty="0" sz="700" spc="90">
                <a:latin typeface="Calibri"/>
                <a:cs typeface="Calibri"/>
              </a:rPr>
              <a:t>delta_nabla_b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delta_nabla_w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backprop(x,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y)</a:t>
            </a:r>
            <a:endParaRPr sz="700">
              <a:latin typeface="Calibri"/>
              <a:cs typeface="Calibri"/>
            </a:endParaRPr>
          </a:p>
          <a:p>
            <a:pPr marL="255904" marR="900430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nabla_b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[nb+dnb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nb,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dnb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05">
                <a:latin typeface="Calibri"/>
                <a:cs typeface="Calibri"/>
              </a:rPr>
              <a:t>(nabla_b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delta_nabla_b)] </a:t>
            </a:r>
            <a:r>
              <a:rPr dirty="0" sz="700" spc="55">
                <a:latin typeface="Calibri"/>
                <a:cs typeface="Calibri"/>
              </a:rPr>
              <a:t>nabla_w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[nw+dnw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nw,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dnw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90">
                <a:latin typeface="Calibri"/>
                <a:cs typeface="Calibri"/>
              </a:rPr>
              <a:t>(nabla_w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delta_nabla_w)]</a:t>
            </a:r>
            <a:endParaRPr sz="700">
              <a:latin typeface="Calibri"/>
              <a:cs typeface="Calibri"/>
            </a:endParaRPr>
          </a:p>
          <a:p>
            <a:pPr marL="296545" marR="368935" indent="-147320">
              <a:lnSpc>
                <a:spcPct val="107900"/>
              </a:lnSpc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weights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[w-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eta/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0">
                <a:latin typeface="Calibri"/>
                <a:cs typeface="Calibri"/>
              </a:rPr>
              <a:t>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mini_batch))*nw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w,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nw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30">
                <a:latin typeface="Calibri"/>
                <a:cs typeface="Calibri"/>
              </a:rPr>
              <a:t>(self.weights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80">
                <a:latin typeface="Calibri"/>
                <a:cs typeface="Calibri"/>
              </a:rPr>
              <a:t>nabla_w)]</a:t>
            </a:r>
            <a:endParaRPr sz="700">
              <a:latin typeface="Calibri"/>
              <a:cs typeface="Calibri"/>
            </a:endParaRPr>
          </a:p>
          <a:p>
            <a:pPr marL="149225">
              <a:lnSpc>
                <a:spcPct val="100000"/>
              </a:lnSpc>
              <a:spcBef>
                <a:spcPts val="65"/>
              </a:spcBef>
            </a:pPr>
            <a:r>
              <a:rPr dirty="0" sz="700" spc="140">
                <a:latin typeface="Calibri"/>
                <a:cs typeface="Calibri"/>
              </a:rPr>
              <a:t>self.biases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[b-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eta/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0">
                <a:latin typeface="Calibri"/>
                <a:cs typeface="Calibri"/>
              </a:rPr>
              <a:t>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mini_batch))*nb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b,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nb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0">
                <a:latin typeface="Calibri"/>
                <a:cs typeface="Calibri"/>
              </a:rPr>
              <a:t>(self.biases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nabla_b</a:t>
            </a:r>
            <a:endParaRPr sz="700">
              <a:latin typeface="Calibri"/>
              <a:cs typeface="Calibri"/>
            </a:endParaRPr>
          </a:p>
          <a:p>
            <a:pPr marL="294005">
              <a:lnSpc>
                <a:spcPct val="100000"/>
              </a:lnSpc>
              <a:spcBef>
                <a:spcPts val="70"/>
              </a:spcBef>
            </a:pPr>
            <a:r>
              <a:rPr dirty="0" sz="700" spc="150">
                <a:latin typeface="Calibri"/>
                <a:cs typeface="Calibri"/>
              </a:rPr>
              <a:t>)]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11" name="object 11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83699" y="368721"/>
            <a:ext cx="263652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501265" algn="l"/>
              </a:tabLst>
            </a:pPr>
            <a:r>
              <a:rPr dirty="0" sz="850" spc="20">
                <a:latin typeface="Calibri"/>
                <a:cs typeface="Calibri"/>
              </a:rPr>
              <a:t>1.6.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27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6980" y="1052588"/>
            <a:ext cx="4406265" cy="43180"/>
          </a:xfrm>
          <a:custGeom>
            <a:avLst/>
            <a:gdLst/>
            <a:ahLst/>
            <a:cxnLst/>
            <a:rect l="l" t="t" r="r" b="b"/>
            <a:pathLst>
              <a:path w="4406265" h="43180">
                <a:moveTo>
                  <a:pt x="2529" y="43014"/>
                </a:moveTo>
                <a:lnTo>
                  <a:pt x="2529" y="0"/>
                </a:lnTo>
              </a:path>
              <a:path w="4406265" h="43180">
                <a:moveTo>
                  <a:pt x="0" y="40487"/>
                </a:moveTo>
                <a:lnTo>
                  <a:pt x="43016" y="40487"/>
                </a:lnTo>
              </a:path>
              <a:path w="4406265" h="43180">
                <a:moveTo>
                  <a:pt x="43016" y="40487"/>
                </a:moveTo>
                <a:lnTo>
                  <a:pt x="4363008" y="40487"/>
                </a:lnTo>
              </a:path>
              <a:path w="4406265" h="43180">
                <a:moveTo>
                  <a:pt x="4363021" y="40487"/>
                </a:moveTo>
                <a:lnTo>
                  <a:pt x="4406036" y="40487"/>
                </a:lnTo>
              </a:path>
              <a:path w="4406265" h="43180">
                <a:moveTo>
                  <a:pt x="4403509" y="43014"/>
                </a:moveTo>
                <a:lnTo>
                  <a:pt x="4403509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67296" y="1144653"/>
            <a:ext cx="17437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line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39510" y="1370685"/>
            <a:ext cx="4401185" cy="19621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 spc="90">
                <a:latin typeface="Calibri"/>
                <a:cs typeface="Calibri"/>
              </a:rPr>
              <a:t>delta_nabla_b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delta_nabla_w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backprop(x,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y)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036980" y="4519434"/>
            <a:ext cx="4406265" cy="3497579"/>
            <a:chOff x="1036980" y="4519434"/>
            <a:chExt cx="4406265" cy="3497579"/>
          </a:xfrm>
        </p:grpSpPr>
        <p:sp>
          <p:nvSpPr>
            <p:cNvPr id="7" name="object 7"/>
            <p:cNvSpPr/>
            <p:nvPr/>
          </p:nvSpPr>
          <p:spPr>
            <a:xfrm>
              <a:off x="1036980" y="4519434"/>
              <a:ext cx="4406265" cy="1885314"/>
            </a:xfrm>
            <a:custGeom>
              <a:avLst/>
              <a:gdLst/>
              <a:ahLst/>
              <a:cxnLst/>
              <a:rect l="l" t="t" r="r" b="b"/>
              <a:pathLst>
                <a:path w="4406265" h="1885314">
                  <a:moveTo>
                    <a:pt x="2529" y="43014"/>
                  </a:moveTo>
                  <a:lnTo>
                    <a:pt x="2529" y="0"/>
                  </a:lnTo>
                </a:path>
                <a:path w="4406265" h="1885314">
                  <a:moveTo>
                    <a:pt x="0" y="2527"/>
                  </a:moveTo>
                  <a:lnTo>
                    <a:pt x="43016" y="2527"/>
                  </a:lnTo>
                </a:path>
                <a:path w="4406265" h="1885314">
                  <a:moveTo>
                    <a:pt x="43016" y="2527"/>
                  </a:moveTo>
                  <a:lnTo>
                    <a:pt x="4363008" y="2527"/>
                  </a:lnTo>
                </a:path>
                <a:path w="4406265" h="1885314">
                  <a:moveTo>
                    <a:pt x="4363021" y="2527"/>
                  </a:moveTo>
                  <a:lnTo>
                    <a:pt x="4406036" y="2527"/>
                  </a:lnTo>
                </a:path>
                <a:path w="4406265" h="1885314">
                  <a:moveTo>
                    <a:pt x="4403509" y="43014"/>
                  </a:moveTo>
                  <a:lnTo>
                    <a:pt x="4403509" y="0"/>
                  </a:lnTo>
                </a:path>
                <a:path w="4406265" h="1885314">
                  <a:moveTo>
                    <a:pt x="2529" y="158153"/>
                  </a:moveTo>
                  <a:lnTo>
                    <a:pt x="2529" y="43014"/>
                  </a:lnTo>
                </a:path>
                <a:path w="4406265" h="1885314">
                  <a:moveTo>
                    <a:pt x="4403509" y="158153"/>
                  </a:moveTo>
                  <a:lnTo>
                    <a:pt x="4403509" y="43014"/>
                  </a:lnTo>
                </a:path>
                <a:path w="4406265" h="1885314">
                  <a:moveTo>
                    <a:pt x="2529" y="273291"/>
                  </a:moveTo>
                  <a:lnTo>
                    <a:pt x="2529" y="158153"/>
                  </a:lnTo>
                </a:path>
                <a:path w="4406265" h="1885314">
                  <a:moveTo>
                    <a:pt x="4403509" y="273291"/>
                  </a:moveTo>
                  <a:lnTo>
                    <a:pt x="4403509" y="158153"/>
                  </a:lnTo>
                </a:path>
                <a:path w="4406265" h="1885314">
                  <a:moveTo>
                    <a:pt x="2529" y="388429"/>
                  </a:moveTo>
                  <a:lnTo>
                    <a:pt x="2529" y="273291"/>
                  </a:lnTo>
                </a:path>
                <a:path w="4406265" h="1885314">
                  <a:moveTo>
                    <a:pt x="4403509" y="388429"/>
                  </a:moveTo>
                  <a:lnTo>
                    <a:pt x="4403509" y="273291"/>
                  </a:lnTo>
                </a:path>
                <a:path w="4406265" h="1885314">
                  <a:moveTo>
                    <a:pt x="2529" y="503567"/>
                  </a:moveTo>
                  <a:lnTo>
                    <a:pt x="2529" y="388429"/>
                  </a:lnTo>
                </a:path>
                <a:path w="4406265" h="1885314">
                  <a:moveTo>
                    <a:pt x="4403509" y="503567"/>
                  </a:moveTo>
                  <a:lnTo>
                    <a:pt x="4403509" y="388429"/>
                  </a:lnTo>
                </a:path>
                <a:path w="4406265" h="1885314">
                  <a:moveTo>
                    <a:pt x="2529" y="618705"/>
                  </a:moveTo>
                  <a:lnTo>
                    <a:pt x="2529" y="503567"/>
                  </a:lnTo>
                </a:path>
                <a:path w="4406265" h="1885314">
                  <a:moveTo>
                    <a:pt x="4403509" y="618705"/>
                  </a:moveTo>
                  <a:lnTo>
                    <a:pt x="4403509" y="503567"/>
                  </a:lnTo>
                </a:path>
                <a:path w="4406265" h="1885314">
                  <a:moveTo>
                    <a:pt x="2529" y="733844"/>
                  </a:moveTo>
                  <a:lnTo>
                    <a:pt x="2529" y="618705"/>
                  </a:lnTo>
                </a:path>
                <a:path w="4406265" h="1885314">
                  <a:moveTo>
                    <a:pt x="4403509" y="733844"/>
                  </a:moveTo>
                  <a:lnTo>
                    <a:pt x="4403509" y="618705"/>
                  </a:lnTo>
                </a:path>
                <a:path w="4406265" h="1885314">
                  <a:moveTo>
                    <a:pt x="2529" y="848982"/>
                  </a:moveTo>
                  <a:lnTo>
                    <a:pt x="2529" y="733844"/>
                  </a:lnTo>
                </a:path>
                <a:path w="4406265" h="1885314">
                  <a:moveTo>
                    <a:pt x="4403509" y="848982"/>
                  </a:moveTo>
                  <a:lnTo>
                    <a:pt x="4403509" y="733844"/>
                  </a:lnTo>
                </a:path>
                <a:path w="4406265" h="1885314">
                  <a:moveTo>
                    <a:pt x="2529" y="964120"/>
                  </a:moveTo>
                  <a:lnTo>
                    <a:pt x="2529" y="848982"/>
                  </a:lnTo>
                </a:path>
                <a:path w="4406265" h="1885314">
                  <a:moveTo>
                    <a:pt x="4403509" y="964120"/>
                  </a:moveTo>
                  <a:lnTo>
                    <a:pt x="4403509" y="848982"/>
                  </a:lnTo>
                </a:path>
                <a:path w="4406265" h="1885314">
                  <a:moveTo>
                    <a:pt x="2529" y="1079258"/>
                  </a:moveTo>
                  <a:lnTo>
                    <a:pt x="2529" y="964120"/>
                  </a:lnTo>
                </a:path>
                <a:path w="4406265" h="1885314">
                  <a:moveTo>
                    <a:pt x="4403509" y="1079258"/>
                  </a:moveTo>
                  <a:lnTo>
                    <a:pt x="4403509" y="964120"/>
                  </a:lnTo>
                </a:path>
                <a:path w="4406265" h="1885314">
                  <a:moveTo>
                    <a:pt x="2529" y="1194396"/>
                  </a:moveTo>
                  <a:lnTo>
                    <a:pt x="2529" y="1079258"/>
                  </a:lnTo>
                </a:path>
                <a:path w="4406265" h="1885314">
                  <a:moveTo>
                    <a:pt x="4403509" y="1194396"/>
                  </a:moveTo>
                  <a:lnTo>
                    <a:pt x="4403509" y="1079258"/>
                  </a:lnTo>
                </a:path>
                <a:path w="4406265" h="1885314">
                  <a:moveTo>
                    <a:pt x="2529" y="1309535"/>
                  </a:moveTo>
                  <a:lnTo>
                    <a:pt x="2529" y="1194396"/>
                  </a:lnTo>
                </a:path>
                <a:path w="4406265" h="1885314">
                  <a:moveTo>
                    <a:pt x="4403509" y="1309535"/>
                  </a:moveTo>
                  <a:lnTo>
                    <a:pt x="4403509" y="1194396"/>
                  </a:lnTo>
                </a:path>
                <a:path w="4406265" h="1885314">
                  <a:moveTo>
                    <a:pt x="2529" y="1424673"/>
                  </a:moveTo>
                  <a:lnTo>
                    <a:pt x="2529" y="1309535"/>
                  </a:lnTo>
                </a:path>
                <a:path w="4406265" h="1885314">
                  <a:moveTo>
                    <a:pt x="4403509" y="1424673"/>
                  </a:moveTo>
                  <a:lnTo>
                    <a:pt x="4403509" y="1309535"/>
                  </a:lnTo>
                </a:path>
                <a:path w="4406265" h="1885314">
                  <a:moveTo>
                    <a:pt x="2529" y="1539811"/>
                  </a:moveTo>
                  <a:lnTo>
                    <a:pt x="2529" y="1424673"/>
                  </a:lnTo>
                </a:path>
                <a:path w="4406265" h="1885314">
                  <a:moveTo>
                    <a:pt x="4403509" y="1539811"/>
                  </a:moveTo>
                  <a:lnTo>
                    <a:pt x="4403509" y="1424673"/>
                  </a:lnTo>
                </a:path>
                <a:path w="4406265" h="1885314">
                  <a:moveTo>
                    <a:pt x="2529" y="1654949"/>
                  </a:moveTo>
                  <a:lnTo>
                    <a:pt x="2529" y="1539811"/>
                  </a:lnTo>
                </a:path>
                <a:path w="4406265" h="1885314">
                  <a:moveTo>
                    <a:pt x="4403509" y="1654949"/>
                  </a:moveTo>
                  <a:lnTo>
                    <a:pt x="4403509" y="1539811"/>
                  </a:lnTo>
                </a:path>
                <a:path w="4406265" h="1885314">
                  <a:moveTo>
                    <a:pt x="2529" y="1770087"/>
                  </a:moveTo>
                  <a:lnTo>
                    <a:pt x="2529" y="1654949"/>
                  </a:lnTo>
                </a:path>
                <a:path w="4406265" h="1885314">
                  <a:moveTo>
                    <a:pt x="4403509" y="1770087"/>
                  </a:moveTo>
                  <a:lnTo>
                    <a:pt x="4403509" y="1654949"/>
                  </a:lnTo>
                </a:path>
                <a:path w="4406265" h="1885314">
                  <a:moveTo>
                    <a:pt x="2529" y="1885226"/>
                  </a:moveTo>
                  <a:lnTo>
                    <a:pt x="2529" y="1770087"/>
                  </a:lnTo>
                </a:path>
                <a:path w="4406265" h="1885314">
                  <a:moveTo>
                    <a:pt x="4403509" y="1885226"/>
                  </a:moveTo>
                  <a:lnTo>
                    <a:pt x="4403509" y="1770087"/>
                  </a:lnTo>
                </a:path>
              </a:pathLst>
            </a:custGeom>
            <a:ln w="50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404746" y="6372874"/>
              <a:ext cx="413384" cy="0"/>
            </a:xfrm>
            <a:custGeom>
              <a:avLst/>
              <a:gdLst/>
              <a:ahLst/>
              <a:cxnLst/>
              <a:rect l="l" t="t" r="r" b="b"/>
              <a:pathLst>
                <a:path w="413385" h="0">
                  <a:moveTo>
                    <a:pt x="0" y="0"/>
                  </a:moveTo>
                  <a:lnTo>
                    <a:pt x="98929" y="0"/>
                  </a:lnTo>
                </a:path>
                <a:path w="413385" h="0">
                  <a:moveTo>
                    <a:pt x="314414" y="0"/>
                  </a:moveTo>
                  <a:lnTo>
                    <a:pt x="413344" y="0"/>
                  </a:lnTo>
                </a:path>
              </a:pathLst>
            </a:custGeom>
            <a:ln w="54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039510" y="6404660"/>
              <a:ext cx="4401185" cy="1612265"/>
            </a:xfrm>
            <a:custGeom>
              <a:avLst/>
              <a:gdLst/>
              <a:ahLst/>
              <a:cxnLst/>
              <a:rect l="l" t="t" r="r" b="b"/>
              <a:pathLst>
                <a:path w="4401185" h="1612265">
                  <a:moveTo>
                    <a:pt x="0" y="115138"/>
                  </a:moveTo>
                  <a:lnTo>
                    <a:pt x="0" y="0"/>
                  </a:lnTo>
                </a:path>
                <a:path w="4401185" h="1612265">
                  <a:moveTo>
                    <a:pt x="4400979" y="115138"/>
                  </a:moveTo>
                  <a:lnTo>
                    <a:pt x="4400979" y="0"/>
                  </a:lnTo>
                </a:path>
                <a:path w="4401185" h="1612265">
                  <a:moveTo>
                    <a:pt x="0" y="230276"/>
                  </a:moveTo>
                  <a:lnTo>
                    <a:pt x="0" y="115138"/>
                  </a:lnTo>
                </a:path>
                <a:path w="4401185" h="1612265">
                  <a:moveTo>
                    <a:pt x="4400979" y="230276"/>
                  </a:moveTo>
                  <a:lnTo>
                    <a:pt x="4400979" y="115138"/>
                  </a:lnTo>
                </a:path>
                <a:path w="4401185" h="1612265">
                  <a:moveTo>
                    <a:pt x="0" y="345414"/>
                  </a:moveTo>
                  <a:lnTo>
                    <a:pt x="0" y="230276"/>
                  </a:lnTo>
                </a:path>
                <a:path w="4401185" h="1612265">
                  <a:moveTo>
                    <a:pt x="4400979" y="345414"/>
                  </a:moveTo>
                  <a:lnTo>
                    <a:pt x="4400979" y="230276"/>
                  </a:lnTo>
                </a:path>
                <a:path w="4401185" h="1612265">
                  <a:moveTo>
                    <a:pt x="0" y="460552"/>
                  </a:moveTo>
                  <a:lnTo>
                    <a:pt x="0" y="345414"/>
                  </a:lnTo>
                </a:path>
                <a:path w="4401185" h="1612265">
                  <a:moveTo>
                    <a:pt x="4400979" y="460552"/>
                  </a:moveTo>
                  <a:lnTo>
                    <a:pt x="4400979" y="345414"/>
                  </a:lnTo>
                </a:path>
                <a:path w="4401185" h="1612265">
                  <a:moveTo>
                    <a:pt x="0" y="575691"/>
                  </a:moveTo>
                  <a:lnTo>
                    <a:pt x="0" y="460552"/>
                  </a:lnTo>
                </a:path>
                <a:path w="4401185" h="1612265">
                  <a:moveTo>
                    <a:pt x="4400979" y="575691"/>
                  </a:moveTo>
                  <a:lnTo>
                    <a:pt x="4400979" y="460552"/>
                  </a:lnTo>
                </a:path>
                <a:path w="4401185" h="1612265">
                  <a:moveTo>
                    <a:pt x="0" y="690829"/>
                  </a:moveTo>
                  <a:lnTo>
                    <a:pt x="0" y="575691"/>
                  </a:lnTo>
                </a:path>
                <a:path w="4401185" h="1612265">
                  <a:moveTo>
                    <a:pt x="4400979" y="690829"/>
                  </a:moveTo>
                  <a:lnTo>
                    <a:pt x="4400979" y="575691"/>
                  </a:lnTo>
                </a:path>
                <a:path w="4401185" h="1612265">
                  <a:moveTo>
                    <a:pt x="0" y="805980"/>
                  </a:moveTo>
                  <a:lnTo>
                    <a:pt x="0" y="690841"/>
                  </a:lnTo>
                </a:path>
                <a:path w="4401185" h="1612265">
                  <a:moveTo>
                    <a:pt x="4400979" y="805980"/>
                  </a:moveTo>
                  <a:lnTo>
                    <a:pt x="4400979" y="690841"/>
                  </a:lnTo>
                </a:path>
                <a:path w="4401185" h="1612265">
                  <a:moveTo>
                    <a:pt x="0" y="921118"/>
                  </a:moveTo>
                  <a:lnTo>
                    <a:pt x="0" y="805980"/>
                  </a:lnTo>
                </a:path>
                <a:path w="4401185" h="1612265">
                  <a:moveTo>
                    <a:pt x="4400979" y="921118"/>
                  </a:moveTo>
                  <a:lnTo>
                    <a:pt x="4400979" y="805980"/>
                  </a:lnTo>
                </a:path>
                <a:path w="4401185" h="1612265">
                  <a:moveTo>
                    <a:pt x="0" y="1036255"/>
                  </a:moveTo>
                  <a:lnTo>
                    <a:pt x="0" y="921118"/>
                  </a:lnTo>
                </a:path>
                <a:path w="4401185" h="1612265">
                  <a:moveTo>
                    <a:pt x="4400979" y="1036255"/>
                  </a:moveTo>
                  <a:lnTo>
                    <a:pt x="4400979" y="921118"/>
                  </a:lnTo>
                </a:path>
                <a:path w="4401185" h="1612265">
                  <a:moveTo>
                    <a:pt x="0" y="1151393"/>
                  </a:moveTo>
                  <a:lnTo>
                    <a:pt x="0" y="1036255"/>
                  </a:lnTo>
                </a:path>
                <a:path w="4401185" h="1612265">
                  <a:moveTo>
                    <a:pt x="4400979" y="1151393"/>
                  </a:moveTo>
                  <a:lnTo>
                    <a:pt x="4400979" y="1036255"/>
                  </a:lnTo>
                </a:path>
                <a:path w="4401185" h="1612265">
                  <a:moveTo>
                    <a:pt x="0" y="1266531"/>
                  </a:moveTo>
                  <a:lnTo>
                    <a:pt x="0" y="1151393"/>
                  </a:lnTo>
                </a:path>
                <a:path w="4401185" h="1612265">
                  <a:moveTo>
                    <a:pt x="4400979" y="1266531"/>
                  </a:moveTo>
                  <a:lnTo>
                    <a:pt x="4400979" y="1151393"/>
                  </a:lnTo>
                </a:path>
                <a:path w="4401185" h="1612265">
                  <a:moveTo>
                    <a:pt x="0" y="1381671"/>
                  </a:moveTo>
                  <a:lnTo>
                    <a:pt x="0" y="1266531"/>
                  </a:lnTo>
                </a:path>
                <a:path w="4401185" h="1612265">
                  <a:moveTo>
                    <a:pt x="4400979" y="1381671"/>
                  </a:moveTo>
                  <a:lnTo>
                    <a:pt x="4400979" y="1266531"/>
                  </a:lnTo>
                </a:path>
                <a:path w="4401185" h="1612265">
                  <a:moveTo>
                    <a:pt x="0" y="1496809"/>
                  </a:moveTo>
                  <a:lnTo>
                    <a:pt x="0" y="1381671"/>
                  </a:lnTo>
                </a:path>
                <a:path w="4401185" h="1612265">
                  <a:moveTo>
                    <a:pt x="4400979" y="1496809"/>
                  </a:moveTo>
                  <a:lnTo>
                    <a:pt x="4400979" y="1381671"/>
                  </a:lnTo>
                </a:path>
                <a:path w="4401185" h="1612265">
                  <a:moveTo>
                    <a:pt x="0" y="1611947"/>
                  </a:moveTo>
                  <a:lnTo>
                    <a:pt x="0" y="1496809"/>
                  </a:lnTo>
                </a:path>
                <a:path w="4401185" h="1612265">
                  <a:moveTo>
                    <a:pt x="4400979" y="1611947"/>
                  </a:moveTo>
                  <a:lnTo>
                    <a:pt x="4400979" y="1496809"/>
                  </a:lnTo>
                </a:path>
              </a:pathLst>
            </a:custGeom>
            <a:ln w="50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1042037" y="1606586"/>
            <a:ext cx="4398645" cy="64065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just" marL="37465" marR="5715" indent="-5080">
              <a:lnSpc>
                <a:spcPct val="108600"/>
              </a:lnSpc>
              <a:spcBef>
                <a:spcPts val="114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invokes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something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backpropagation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comput-</a:t>
            </a:r>
            <a:r>
              <a:rPr dirty="0" sz="850" spc="40">
                <a:latin typeface="Calibri"/>
                <a:cs typeface="Calibri"/>
              </a:rPr>
              <a:t>ing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gradient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of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cost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function.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900" spc="40">
                <a:latin typeface="Calibri"/>
                <a:cs typeface="Calibri"/>
              </a:rPr>
              <a:t>update_mini_batch</a:t>
            </a:r>
            <a:r>
              <a:rPr dirty="0" sz="90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works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simply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by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mini_batch</a:t>
            </a:r>
            <a:r>
              <a:rPr dirty="0" sz="850" spc="50">
                <a:latin typeface="Calibri"/>
                <a:cs typeface="Calibri"/>
              </a:rPr>
              <a:t>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updating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900" spc="125">
                <a:latin typeface="Calibri"/>
                <a:cs typeface="Calibri"/>
              </a:rPr>
              <a:t>self</a:t>
            </a:r>
            <a:endParaRPr sz="900">
              <a:latin typeface="Calibri"/>
              <a:cs typeface="Calibri"/>
            </a:endParaRPr>
          </a:p>
          <a:p>
            <a:pPr algn="just" marL="37465">
              <a:lnSpc>
                <a:spcPct val="100000"/>
              </a:lnSpc>
              <a:spcBef>
                <a:spcPts val="85"/>
              </a:spcBef>
            </a:pPr>
            <a:r>
              <a:rPr dirty="0" sz="900" spc="80">
                <a:latin typeface="Calibri"/>
                <a:cs typeface="Calibri"/>
              </a:rPr>
              <a:t>.weights</a:t>
            </a:r>
            <a:r>
              <a:rPr dirty="0" sz="90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900" spc="125">
                <a:latin typeface="Calibri"/>
                <a:cs typeface="Calibri"/>
              </a:rPr>
              <a:t>self.biases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appropriately.</a:t>
            </a:r>
            <a:endParaRPr sz="850">
              <a:latin typeface="Calibri"/>
              <a:cs typeface="Calibri"/>
            </a:endParaRPr>
          </a:p>
          <a:p>
            <a:pPr algn="just" marL="37465" marR="5715" indent="189230">
              <a:lnSpc>
                <a:spcPct val="111600"/>
              </a:lnSpc>
              <a:spcBef>
                <a:spcPts val="10"/>
              </a:spcBef>
            </a:pPr>
            <a:r>
              <a:rPr dirty="0" sz="850">
                <a:latin typeface="Calibri"/>
                <a:cs typeface="Calibri"/>
              </a:rPr>
              <a:t>I’m not going to show the code for </a:t>
            </a:r>
            <a:r>
              <a:rPr dirty="0" sz="900" spc="85">
                <a:latin typeface="Calibri"/>
                <a:cs typeface="Calibri"/>
              </a:rPr>
              <a:t>self.backprop </a:t>
            </a:r>
            <a:r>
              <a:rPr dirty="0" sz="850">
                <a:latin typeface="Calibri"/>
                <a:cs typeface="Calibri"/>
              </a:rPr>
              <a:t>right now.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 study how </a:t>
            </a:r>
            <a:r>
              <a:rPr dirty="0" sz="850" spc="-10">
                <a:latin typeface="Calibri"/>
                <a:cs typeface="Calibri"/>
              </a:rPr>
              <a:t>back-</a:t>
            </a:r>
            <a:r>
              <a:rPr dirty="0" sz="850" spc="10">
                <a:latin typeface="Calibri"/>
                <a:cs typeface="Calibri"/>
              </a:rPr>
              <a:t>propagation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next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including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self.backprop</a:t>
            </a:r>
            <a:r>
              <a:rPr dirty="0" sz="850" spc="80">
                <a:latin typeface="Calibri"/>
                <a:cs typeface="Calibri"/>
              </a:rPr>
              <a:t>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just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assume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claimed,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returning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appropriate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associated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x.</a:t>
            </a:r>
            <a:endParaRPr sz="850">
              <a:latin typeface="Calibri"/>
              <a:cs typeface="Calibri"/>
            </a:endParaRPr>
          </a:p>
          <a:p>
            <a:pPr algn="just" marL="33020" marR="5080" indent="194310">
              <a:lnSpc>
                <a:spcPct val="111100"/>
              </a:lnSpc>
              <a:spcBef>
                <a:spcPts val="85"/>
              </a:spcBef>
            </a:pP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including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documentation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strings,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omitted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above.</a:t>
            </a:r>
            <a:r>
              <a:rPr dirty="0" sz="850" spc="180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Apart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self.backprop</a:t>
            </a:r>
            <a:r>
              <a:rPr dirty="0" sz="90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self-explanatory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heavy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lift-</a:t>
            </a:r>
            <a:r>
              <a:rPr dirty="0" sz="850">
                <a:latin typeface="Calibri"/>
                <a:cs typeface="Calibri"/>
              </a:rPr>
              <a:t>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self.SGD</a:t>
            </a:r>
            <a:r>
              <a:rPr dirty="0" sz="90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900" spc="70">
                <a:latin typeface="Calibri"/>
                <a:cs typeface="Calibri"/>
              </a:rPr>
              <a:t>self.update_mini_batch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already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discussed.</a:t>
            </a:r>
            <a:r>
              <a:rPr dirty="0" sz="850" spc="50">
                <a:latin typeface="Calibri"/>
                <a:cs typeface="Calibri"/>
              </a:rPr>
              <a:t> 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self.backprop</a:t>
            </a:r>
            <a:r>
              <a:rPr dirty="0" sz="90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method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extra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namely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900" spc="45">
                <a:latin typeface="Calibri"/>
                <a:cs typeface="Calibri"/>
              </a:rPr>
              <a:t>sigmoid_prime</a:t>
            </a:r>
            <a:r>
              <a:rPr dirty="0" sz="850" spc="45">
                <a:latin typeface="Calibri"/>
                <a:cs typeface="Calibri"/>
              </a:rPr>
              <a:t>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7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900" spc="110">
                <a:latin typeface="Calibri"/>
                <a:cs typeface="Calibri"/>
              </a:rPr>
              <a:t>self.cost_derivative</a:t>
            </a:r>
            <a:r>
              <a:rPr dirty="0" sz="90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(and </a:t>
            </a:r>
            <a:r>
              <a:rPr dirty="0" sz="850" spc="20">
                <a:latin typeface="Calibri"/>
                <a:cs typeface="Calibri"/>
              </a:rPr>
              <a:t>perhaps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details)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documentation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strings.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appears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lengthy,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code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documentation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strings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intended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74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non-whitespace,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non-comment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GitHub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  <a:hlinkClick r:id="rId2"/>
              </a:rPr>
              <a:t>here</a:t>
            </a:r>
            <a:r>
              <a:rPr dirty="0" sz="850" spc="-2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  <a:spcBef>
                <a:spcPts val="900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70"/>
              </a:spcBef>
            </a:pP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network.py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65"/>
              </a:spcBef>
            </a:pPr>
            <a:r>
              <a:rPr dirty="0" sz="700" spc="40" i="1">
                <a:solidFill>
                  <a:srgbClr val="980000"/>
                </a:solidFill>
                <a:latin typeface="Calibri"/>
                <a:cs typeface="Calibri"/>
              </a:rPr>
              <a:t>~~~~~~~~~~</a:t>
            </a:r>
            <a:endParaRPr sz="700">
              <a:latin typeface="Calibri"/>
              <a:cs typeface="Calibri"/>
            </a:endParaRPr>
          </a:p>
          <a:p>
            <a:pPr marL="42545" marR="688975" indent="-1905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module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implement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stochastic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descent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learning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algorithm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feedforward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network.</a:t>
            </a:r>
            <a:r>
              <a:rPr dirty="0" sz="700" spc="31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Gradients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calculated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backpropagation.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have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focused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making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5" i="1">
                <a:solidFill>
                  <a:srgbClr val="980000"/>
                </a:solidFill>
                <a:latin typeface="Calibri"/>
                <a:cs typeface="Calibri"/>
              </a:rPr>
              <a:t>code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 simple,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easily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readable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easily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modifiable.</a:t>
            </a:r>
            <a:r>
              <a:rPr dirty="0" sz="700" spc="31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It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not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optimized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,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omits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many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desirable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features.</a:t>
            </a:r>
            <a:endParaRPr sz="70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  <a:spcBef>
                <a:spcPts val="6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41275">
              <a:lnSpc>
                <a:spcPct val="100000"/>
              </a:lnSpc>
              <a:spcBef>
                <a:spcPts val="70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Libraries</a:t>
            </a:r>
            <a:endParaRPr sz="700">
              <a:latin typeface="Calibri"/>
              <a:cs typeface="Calibri"/>
            </a:endParaRPr>
          </a:p>
          <a:p>
            <a:pPr marL="41275">
              <a:lnSpc>
                <a:spcPct val="100000"/>
              </a:lnSpc>
              <a:spcBef>
                <a:spcPts val="6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Standard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library</a:t>
            </a: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65"/>
              </a:spcBef>
            </a:pP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random</a:t>
            </a:r>
            <a:endParaRPr sz="700">
              <a:latin typeface="Calibri"/>
              <a:cs typeface="Calibri"/>
            </a:endParaRPr>
          </a:p>
          <a:p>
            <a:pPr marL="43180" marR="3135630" indent="-2540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Third</a:t>
            </a:r>
            <a:r>
              <a:rPr dirty="0" sz="700" spc="-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-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party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libraries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numpy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as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np</a:t>
            </a:r>
            <a:r>
              <a:rPr dirty="0" sz="700" spc="500"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Network(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95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 marL="148590">
              <a:lnSpc>
                <a:spcPct val="100000"/>
              </a:lnSpc>
              <a:spcBef>
                <a:spcPts val="70"/>
              </a:spcBef>
              <a:tabLst>
                <a:tab pos="467359" algn="l"/>
              </a:tabLst>
            </a:pPr>
            <a:r>
              <a:rPr dirty="0" sz="700" spc="55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	</a:t>
            </a:r>
            <a:r>
              <a:rPr dirty="0" sz="700" spc="165">
                <a:latin typeface="Calibri"/>
                <a:cs typeface="Calibri"/>
              </a:rPr>
              <a:t>init</a:t>
            </a:r>
            <a:r>
              <a:rPr dirty="0" sz="700" spc="310">
                <a:latin typeface="Calibri"/>
                <a:cs typeface="Calibri"/>
              </a:rPr>
              <a:t>  </a:t>
            </a:r>
            <a:r>
              <a:rPr dirty="0" sz="700" spc="170">
                <a:latin typeface="Calibri"/>
                <a:cs typeface="Calibri"/>
              </a:rPr>
              <a:t>(self,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sizes):</a:t>
            </a:r>
            <a:endParaRPr sz="700">
              <a:latin typeface="Calibri"/>
              <a:cs typeface="Calibri"/>
            </a:endParaRPr>
          </a:p>
          <a:p>
            <a:pPr marL="255270" marR="84963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‘‘sizes‘‘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contains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number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neurons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respective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network.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example,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was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[2,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3,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1]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then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it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would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three-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network,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 first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containing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2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neurons,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second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3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neurons,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third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1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neuron.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weights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5" i="1">
                <a:solidFill>
                  <a:srgbClr val="980000"/>
                </a:solidFill>
                <a:latin typeface="Calibri"/>
                <a:cs typeface="Calibri"/>
              </a:rPr>
              <a:t>initialized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randomly,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Gaussian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distribution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mean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0,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variance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1.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first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assumed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input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layer,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convention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we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 won’t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set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any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those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neurons,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since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only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ever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computing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outputs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from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later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layers."""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num_layers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30">
                <a:latin typeface="Calibri"/>
                <a:cs typeface="Calibri"/>
              </a:rPr>
              <a:t>(sizes)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65"/>
              </a:spcBef>
            </a:pPr>
            <a:r>
              <a:rPr dirty="0" sz="700" spc="155">
                <a:latin typeface="Calibri"/>
                <a:cs typeface="Calibri"/>
              </a:rPr>
              <a:t>self.sizes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sizes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65"/>
              </a:spcBef>
            </a:pPr>
            <a:r>
              <a:rPr dirty="0" sz="700" spc="140">
                <a:latin typeface="Calibri"/>
                <a:cs typeface="Calibri"/>
              </a:rPr>
              <a:t>self.biases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[np.random.randn(y,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1)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sizes[1:]]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70"/>
              </a:spcBef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weights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[np.random.randn(y,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x)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65">
                <a:latin typeface="Calibri"/>
                <a:cs typeface="Calibri"/>
              </a:rPr>
              <a:t>(sizes[:-</a:t>
            </a:r>
            <a:r>
              <a:rPr dirty="0" sz="700" spc="150">
                <a:latin typeface="Calibri"/>
                <a:cs typeface="Calibri"/>
              </a:rPr>
              <a:t>1],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sizes[1:])]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12" name="object 12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67589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28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9514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080482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818564" y="1057602"/>
            <a:ext cx="3150870" cy="60134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8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feedforward(self,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a):</a:t>
            </a: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  <a:spcBef>
                <a:spcPts val="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‘‘a‘‘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input."""</a:t>
            </a:r>
            <a:endParaRPr sz="700">
              <a:latin typeface="Calibri"/>
              <a:cs typeface="Calibri"/>
            </a:endParaRPr>
          </a:p>
          <a:p>
            <a:pPr marL="116839" marR="747395" indent="1270">
              <a:lnSpc>
                <a:spcPct val="107900"/>
              </a:lnSpc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1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b,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0">
                <a:latin typeface="Calibri"/>
                <a:cs typeface="Calibri"/>
              </a:rPr>
              <a:t>(self.biases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weights): </a:t>
            </a:r>
            <a:r>
              <a:rPr dirty="0" sz="700">
                <a:latin typeface="Calibri"/>
                <a:cs typeface="Calibri"/>
              </a:rPr>
              <a:t>a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sigmoid(np.dot(w,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a)+b)</a:t>
            </a:r>
            <a:endParaRPr sz="700">
              <a:latin typeface="Calibri"/>
              <a:cs typeface="Calibri"/>
            </a:endParaRPr>
          </a:p>
          <a:p>
            <a:pPr marL="119380">
              <a:lnSpc>
                <a:spcPct val="100000"/>
              </a:lnSpc>
              <a:spcBef>
                <a:spcPts val="70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-50">
                <a:latin typeface="Calibri"/>
                <a:cs typeface="Calibri"/>
              </a:rPr>
              <a:t>a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18564" y="1748431"/>
            <a:ext cx="4003040" cy="624332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SGD(self,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epochs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eta,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test_data=None):</a:t>
            </a:r>
            <a:endParaRPr sz="700">
              <a:latin typeface="Calibri"/>
              <a:cs typeface="Calibri"/>
            </a:endParaRPr>
          </a:p>
          <a:p>
            <a:pPr marL="119380" marR="697865" indent="-127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Train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mini-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batch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stochastic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descent.</a:t>
            </a:r>
            <a:r>
              <a:rPr dirty="0" sz="700" spc="32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‘‘training_data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tuples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‘‘(x,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y)‘‘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representing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inputs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desired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outputs.</a:t>
            </a:r>
            <a:r>
              <a:rPr dirty="0" sz="700" spc="32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other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non-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optional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parameters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endParaRPr sz="700">
              <a:latin typeface="Calibri"/>
              <a:cs typeface="Calibri"/>
            </a:endParaRPr>
          </a:p>
          <a:p>
            <a:pPr marL="118110" marR="697230">
              <a:lnSpc>
                <a:spcPct val="107900"/>
              </a:lnSpc>
            </a:pP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self-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explanatory.</a:t>
            </a:r>
            <a:r>
              <a:rPr dirty="0" sz="700" spc="30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‘‘test_data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provided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then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will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evaluated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against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test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after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5" i="1">
                <a:solidFill>
                  <a:srgbClr val="980000"/>
                </a:solidFill>
                <a:latin typeface="Calibri"/>
                <a:cs typeface="Calibri"/>
              </a:rPr>
              <a:t>each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 epoch</a:t>
            </a:r>
            <a:r>
              <a:rPr dirty="0" sz="700" spc="-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partial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progress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printed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out.</a:t>
            </a:r>
            <a:r>
              <a:rPr dirty="0" sz="700" spc="31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This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useful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for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tracking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progress,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but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slows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things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down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substantially."""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test_data:</a:t>
            </a:r>
            <a:endParaRPr sz="700">
              <a:latin typeface="Calibri"/>
              <a:cs typeface="Calibri"/>
            </a:endParaRPr>
          </a:p>
          <a:p>
            <a:pPr marL="116839" marR="2555240" indent="108585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n_test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test_data) </a:t>
            </a:r>
            <a:r>
              <a:rPr dirty="0" sz="700">
                <a:latin typeface="Calibri"/>
                <a:cs typeface="Calibri"/>
              </a:rPr>
              <a:t>n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training_data)</a:t>
            </a:r>
            <a:r>
              <a:rPr dirty="0" sz="700" spc="50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j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95">
                <a:latin typeface="Calibri"/>
                <a:cs typeface="Calibri"/>
              </a:rPr>
              <a:t>(epochs):</a:t>
            </a:r>
            <a:endParaRPr sz="700">
              <a:latin typeface="Calibri"/>
              <a:cs typeface="Calibri"/>
            </a:endParaRPr>
          </a:p>
          <a:p>
            <a:pPr marL="226060" marR="2236470" indent="-635">
              <a:lnSpc>
                <a:spcPct val="107900"/>
              </a:lnSpc>
            </a:pPr>
            <a:r>
              <a:rPr dirty="0" sz="700" spc="55">
                <a:latin typeface="Calibri"/>
                <a:cs typeface="Calibri"/>
              </a:rPr>
              <a:t>random.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shuffle(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training_data) </a:t>
            </a:r>
            <a:r>
              <a:rPr dirty="0" sz="700" spc="85">
                <a:latin typeface="Calibri"/>
                <a:cs typeface="Calibri"/>
              </a:rPr>
              <a:t>mini_batches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</a:t>
            </a:r>
            <a:endParaRPr sz="700">
              <a:latin typeface="Calibri"/>
              <a:cs typeface="Calibri"/>
            </a:endParaRPr>
          </a:p>
          <a:p>
            <a:pPr marL="332105">
              <a:lnSpc>
                <a:spcPct val="100000"/>
              </a:lnSpc>
              <a:spcBef>
                <a:spcPts val="70"/>
              </a:spcBef>
            </a:pPr>
            <a:r>
              <a:rPr dirty="0" sz="700" spc="105">
                <a:latin typeface="Calibri"/>
                <a:cs typeface="Calibri"/>
              </a:rPr>
              <a:t>training_data[k:k+mini_batch_size]</a:t>
            </a:r>
            <a:endParaRPr sz="700">
              <a:latin typeface="Calibri"/>
              <a:cs typeface="Calibri"/>
            </a:endParaRPr>
          </a:p>
          <a:p>
            <a:pPr marL="224790" marR="1598930" indent="106045">
              <a:lnSpc>
                <a:spcPct val="107900"/>
              </a:lnSpc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k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110">
                <a:latin typeface="Calibri"/>
                <a:cs typeface="Calibri"/>
              </a:rPr>
              <a:t>(0,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n,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mini_batch_size)]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mini_batches:</a:t>
            </a:r>
            <a:endParaRPr sz="700">
              <a:latin typeface="Calibri"/>
              <a:cs typeface="Calibri"/>
            </a:endParaRPr>
          </a:p>
          <a:p>
            <a:pPr marL="224154" marR="1598930" indent="106680">
              <a:lnSpc>
                <a:spcPct val="107900"/>
              </a:lnSpc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update_mini_batch(mini_batch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eta) </a:t>
            </a: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test_data:</a:t>
            </a:r>
            <a:endParaRPr sz="700">
              <a:latin typeface="Calibri"/>
              <a:cs typeface="Calibri"/>
            </a:endParaRPr>
          </a:p>
          <a:p>
            <a:pPr marL="434975" marR="1652270" indent="-103505">
              <a:lnSpc>
                <a:spcPct val="107900"/>
              </a:lnSpc>
            </a:pP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solidFill>
                  <a:srgbClr val="007F00"/>
                </a:solidFill>
                <a:latin typeface="Calibri"/>
                <a:cs typeface="Calibri"/>
              </a:rPr>
              <a:t>"Epoch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45">
                <a:solidFill>
                  <a:srgbClr val="007F00"/>
                </a:solidFill>
                <a:latin typeface="Calibri"/>
                <a:cs typeface="Calibri"/>
              </a:rPr>
              <a:t>{0}: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{1}</a:t>
            </a:r>
            <a:r>
              <a:rPr dirty="0" sz="700" spc="33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/</a:t>
            </a:r>
            <a:r>
              <a:rPr dirty="0" sz="700" spc="34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7F00"/>
                </a:solidFill>
                <a:latin typeface="Calibri"/>
                <a:cs typeface="Calibri"/>
              </a:rPr>
              <a:t>{2}"</a:t>
            </a:r>
            <a:r>
              <a:rPr dirty="0" sz="700" spc="110">
                <a:latin typeface="Calibri"/>
                <a:cs typeface="Calibri"/>
              </a:rPr>
              <a:t>.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10">
                <a:latin typeface="Calibri"/>
                <a:cs typeface="Calibri"/>
              </a:rPr>
              <a:t>(</a:t>
            </a:r>
            <a:r>
              <a:rPr dirty="0" sz="700" spc="500">
                <a:latin typeface="Calibri"/>
                <a:cs typeface="Calibri"/>
              </a:rPr>
              <a:t> </a:t>
            </a:r>
            <a:r>
              <a:rPr dirty="0" sz="700" spc="225">
                <a:latin typeface="Calibri"/>
                <a:cs typeface="Calibri"/>
              </a:rPr>
              <a:t>j,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evaluate(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test_data),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n_test)</a:t>
            </a:r>
            <a:endParaRPr sz="700">
              <a:latin typeface="Calibri"/>
              <a:cs typeface="Calibri"/>
            </a:endParaRPr>
          </a:p>
          <a:p>
            <a:pPr marL="225425">
              <a:lnSpc>
                <a:spcPct val="100000"/>
              </a:lnSpc>
              <a:spcBef>
                <a:spcPts val="65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else</a:t>
            </a:r>
            <a:r>
              <a:rPr dirty="0" sz="700" spc="125">
                <a:latin typeface="Calibri"/>
                <a:cs typeface="Calibri"/>
              </a:rPr>
              <a:t>:</a:t>
            </a:r>
            <a:endParaRPr sz="700">
              <a:latin typeface="Calibri"/>
              <a:cs typeface="Calibri"/>
            </a:endParaRPr>
          </a:p>
          <a:p>
            <a:pPr marL="331470">
              <a:lnSpc>
                <a:spcPct val="100000"/>
              </a:lnSpc>
              <a:spcBef>
                <a:spcPts val="65"/>
              </a:spcBef>
            </a:pP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solidFill>
                  <a:srgbClr val="007F00"/>
                </a:solidFill>
                <a:latin typeface="Calibri"/>
                <a:cs typeface="Calibri"/>
              </a:rPr>
              <a:t>"Epoch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{0}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solidFill>
                  <a:srgbClr val="007F00"/>
                </a:solidFill>
                <a:latin typeface="Calibri"/>
                <a:cs typeface="Calibri"/>
              </a:rPr>
              <a:t>complete"</a:t>
            </a:r>
            <a:r>
              <a:rPr dirty="0" sz="700" spc="100">
                <a:latin typeface="Calibri"/>
                <a:cs typeface="Calibri"/>
              </a:rPr>
              <a:t>.</a:t>
            </a:r>
            <a:r>
              <a:rPr dirty="0" sz="700" spc="10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00">
                <a:latin typeface="Calibri"/>
                <a:cs typeface="Calibri"/>
              </a:rPr>
              <a:t>(j)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8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update_mini_batch(self,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mini_batch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eta):</a:t>
            </a:r>
            <a:endParaRPr sz="700">
              <a:latin typeface="Calibri"/>
              <a:cs typeface="Calibri"/>
            </a:endParaRPr>
          </a:p>
          <a:p>
            <a:pPr marL="118110" marR="58928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Update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2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network’s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weights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r>
              <a:rPr dirty="0" sz="700" spc="42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applying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descent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backpropagation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single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mini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batch.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‘‘mini_batch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tuples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‘‘(x,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5" i="1">
                <a:solidFill>
                  <a:srgbClr val="980000"/>
                </a:solidFill>
                <a:latin typeface="Calibri"/>
                <a:cs typeface="Calibri"/>
              </a:rPr>
              <a:t>y)‘‘,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‘‘eta‘‘ is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learning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rate."""</a:t>
            </a:r>
            <a:endParaRPr sz="700">
              <a:latin typeface="Calibri"/>
              <a:cs typeface="Calibri"/>
            </a:endParaRPr>
          </a:p>
          <a:p>
            <a:pPr marL="118745" marR="1174115" indent="635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nabla_b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[np.zeros(b.shape)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b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self.biases] </a:t>
            </a:r>
            <a:r>
              <a:rPr dirty="0" sz="700" spc="55">
                <a:latin typeface="Calibri"/>
                <a:cs typeface="Calibri"/>
              </a:rPr>
              <a:t>nabla_w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1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[np.zeros(w.shape)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weights]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mini_batch:</a:t>
            </a:r>
            <a:endParaRPr sz="700">
              <a:latin typeface="Calibri"/>
              <a:cs typeface="Calibri"/>
            </a:endParaRPr>
          </a:p>
          <a:p>
            <a:pPr marL="225425">
              <a:lnSpc>
                <a:spcPct val="100000"/>
              </a:lnSpc>
              <a:spcBef>
                <a:spcPts val="70"/>
              </a:spcBef>
            </a:pPr>
            <a:r>
              <a:rPr dirty="0" sz="700" spc="90">
                <a:latin typeface="Calibri"/>
                <a:cs typeface="Calibri"/>
              </a:rPr>
              <a:t>delta_nabla_b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delta_nabla_w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backprop(x,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y)</a:t>
            </a:r>
            <a:endParaRPr sz="700">
              <a:latin typeface="Calibri"/>
              <a:cs typeface="Calibri"/>
            </a:endParaRPr>
          </a:p>
          <a:p>
            <a:pPr marL="226060" marR="535940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nabla_b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[nb+dnb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nb,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dnb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05">
                <a:latin typeface="Calibri"/>
                <a:cs typeface="Calibri"/>
              </a:rPr>
              <a:t>(nabla_b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delta_nabla_b)] </a:t>
            </a:r>
            <a:r>
              <a:rPr dirty="0" sz="700" spc="55">
                <a:latin typeface="Calibri"/>
                <a:cs typeface="Calibri"/>
              </a:rPr>
              <a:t>nabla_w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[nw+dnw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nw,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dnw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90">
                <a:latin typeface="Calibri"/>
                <a:cs typeface="Calibri"/>
              </a:rPr>
              <a:t>(nabla_w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delta_nabla_w)]</a:t>
            </a: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  <a:spcBef>
                <a:spcPts val="65"/>
              </a:spcBef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weights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[w-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eta/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mini_batch))*nw</a:t>
            </a:r>
            <a:endParaRPr sz="700">
              <a:latin typeface="Calibri"/>
              <a:cs typeface="Calibri"/>
            </a:endParaRPr>
          </a:p>
          <a:p>
            <a:pPr marL="118745" marR="1333500" indent="424180">
              <a:lnSpc>
                <a:spcPct val="107900"/>
              </a:lnSpc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w,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nw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30">
                <a:latin typeface="Calibri"/>
                <a:cs typeface="Calibri"/>
              </a:rPr>
              <a:t>(self.weights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nabla_w)] </a:t>
            </a:r>
            <a:r>
              <a:rPr dirty="0" sz="700" spc="140">
                <a:latin typeface="Calibri"/>
                <a:cs typeface="Calibri"/>
              </a:rPr>
              <a:t>self.biases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[b-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eta/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mini_batch))*nb</a:t>
            </a:r>
            <a:endParaRPr sz="700">
              <a:latin typeface="Calibri"/>
              <a:cs typeface="Calibri"/>
            </a:endParaRPr>
          </a:p>
          <a:p>
            <a:pPr marL="543560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b,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nb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0">
                <a:latin typeface="Calibri"/>
                <a:cs typeface="Calibri"/>
              </a:rPr>
              <a:t>(self.biases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nabla_b)]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backprop(self,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118110" marR="64516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tuple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‘‘(nabla_b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nabla_w)‘‘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representing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function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C_x.</a:t>
            </a:r>
            <a:r>
              <a:rPr dirty="0" sz="700" spc="30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‘‘nabla_b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‘‘nabla_w</a:t>
            </a:r>
            <a:r>
              <a:rPr dirty="0" sz="700" spc="-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layer-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by-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5" i="1">
                <a:solidFill>
                  <a:srgbClr val="980000"/>
                </a:solidFill>
                <a:latin typeface="Calibri"/>
                <a:cs typeface="Calibri"/>
              </a:rPr>
              <a:t>lists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numpy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arrays,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similar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‘‘self.biases‘‘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‘‘self.weights‘‘."""</a:t>
            </a:r>
            <a:endParaRPr sz="700">
              <a:latin typeface="Calibri"/>
              <a:cs typeface="Calibri"/>
            </a:endParaRPr>
          </a:p>
          <a:p>
            <a:pPr marL="116839" marR="1174115" indent="1905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nabla_b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[np.zeros(b.shape)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b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self.biases] </a:t>
            </a:r>
            <a:r>
              <a:rPr dirty="0" sz="700" spc="55">
                <a:latin typeface="Calibri"/>
                <a:cs typeface="Calibri"/>
              </a:rPr>
              <a:t>nabla_w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1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[np.zeros(w.shape)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weights]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feedforward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120">
                <a:latin typeface="Calibri"/>
                <a:cs typeface="Calibri"/>
              </a:rPr>
              <a:t>activation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5">
                <a:latin typeface="Calibri"/>
                <a:cs typeface="Calibri"/>
              </a:rPr>
              <a:t>x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70"/>
              </a:spcBef>
            </a:pPr>
            <a:r>
              <a:rPr dirty="0" sz="700" spc="120">
                <a:latin typeface="Calibri"/>
                <a:cs typeface="Calibri"/>
              </a:rPr>
              <a:t>activations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[x]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store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all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activations,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endParaRPr sz="700">
              <a:latin typeface="Calibri"/>
              <a:cs typeface="Calibri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latin typeface="Calibri"/>
                <a:cs typeface="Calibri"/>
              </a:rPr>
              <a:t>zs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[]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store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all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z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vectors,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endParaRPr sz="700">
              <a:latin typeface="Calibri"/>
              <a:cs typeface="Calibri"/>
            </a:endParaRPr>
          </a:p>
          <a:p>
            <a:pPr marL="223520" marR="1598930" indent="-104775">
              <a:lnSpc>
                <a:spcPct val="107900"/>
              </a:lnSpc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1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b,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0">
                <a:latin typeface="Calibri"/>
                <a:cs typeface="Calibri"/>
              </a:rPr>
              <a:t>(self.biases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weights): </a:t>
            </a:r>
            <a:r>
              <a:rPr dirty="0" sz="700" spc="90">
                <a:latin typeface="Calibri"/>
                <a:cs typeface="Calibri"/>
              </a:rPr>
              <a:t>z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np.dot(w,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activation)+b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8" name="object 8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83699" y="368721"/>
            <a:ext cx="263652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501265" algn="l"/>
              </a:tabLst>
            </a:pPr>
            <a:r>
              <a:rPr dirty="0" sz="850" spc="20">
                <a:latin typeface="Calibri"/>
                <a:cs typeface="Calibri"/>
              </a:rPr>
              <a:t>1.6.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29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9510" y="971994"/>
            <a:ext cx="4401185" cy="4951095"/>
          </a:xfrm>
          <a:custGeom>
            <a:avLst/>
            <a:gdLst/>
            <a:ahLst/>
            <a:cxnLst/>
            <a:rect l="l" t="t" r="r" b="b"/>
            <a:pathLst>
              <a:path w="4401185" h="4951095">
                <a:moveTo>
                  <a:pt x="0" y="115138"/>
                </a:moveTo>
                <a:lnTo>
                  <a:pt x="0" y="0"/>
                </a:lnTo>
              </a:path>
              <a:path w="4401185" h="4951095">
                <a:moveTo>
                  <a:pt x="4400979" y="115138"/>
                </a:moveTo>
                <a:lnTo>
                  <a:pt x="4400979" y="0"/>
                </a:lnTo>
              </a:path>
              <a:path w="4401185" h="4951095">
                <a:moveTo>
                  <a:pt x="0" y="230276"/>
                </a:moveTo>
                <a:lnTo>
                  <a:pt x="0" y="115138"/>
                </a:lnTo>
              </a:path>
              <a:path w="4401185" h="4951095">
                <a:moveTo>
                  <a:pt x="4400979" y="230276"/>
                </a:moveTo>
                <a:lnTo>
                  <a:pt x="4400979" y="115138"/>
                </a:lnTo>
              </a:path>
              <a:path w="4401185" h="4951095">
                <a:moveTo>
                  <a:pt x="0" y="345414"/>
                </a:moveTo>
                <a:lnTo>
                  <a:pt x="0" y="230276"/>
                </a:lnTo>
              </a:path>
              <a:path w="4401185" h="4951095">
                <a:moveTo>
                  <a:pt x="4400979" y="345414"/>
                </a:moveTo>
                <a:lnTo>
                  <a:pt x="4400979" y="230276"/>
                </a:lnTo>
              </a:path>
              <a:path w="4401185" h="4951095">
                <a:moveTo>
                  <a:pt x="0" y="460552"/>
                </a:moveTo>
                <a:lnTo>
                  <a:pt x="0" y="345414"/>
                </a:lnTo>
              </a:path>
              <a:path w="4401185" h="4951095">
                <a:moveTo>
                  <a:pt x="4400979" y="460552"/>
                </a:moveTo>
                <a:lnTo>
                  <a:pt x="4400979" y="345414"/>
                </a:lnTo>
              </a:path>
              <a:path w="4401185" h="4951095">
                <a:moveTo>
                  <a:pt x="0" y="575691"/>
                </a:moveTo>
                <a:lnTo>
                  <a:pt x="0" y="460552"/>
                </a:lnTo>
              </a:path>
              <a:path w="4401185" h="4951095">
                <a:moveTo>
                  <a:pt x="4400979" y="575691"/>
                </a:moveTo>
                <a:lnTo>
                  <a:pt x="4400979" y="460552"/>
                </a:lnTo>
              </a:path>
              <a:path w="4401185" h="4951095">
                <a:moveTo>
                  <a:pt x="0" y="690829"/>
                </a:moveTo>
                <a:lnTo>
                  <a:pt x="0" y="575691"/>
                </a:lnTo>
              </a:path>
              <a:path w="4401185" h="4951095">
                <a:moveTo>
                  <a:pt x="4400979" y="690829"/>
                </a:moveTo>
                <a:lnTo>
                  <a:pt x="4400979" y="575691"/>
                </a:lnTo>
              </a:path>
              <a:path w="4401185" h="4951095">
                <a:moveTo>
                  <a:pt x="0" y="805967"/>
                </a:moveTo>
                <a:lnTo>
                  <a:pt x="0" y="690829"/>
                </a:lnTo>
              </a:path>
              <a:path w="4401185" h="4951095">
                <a:moveTo>
                  <a:pt x="4400979" y="805967"/>
                </a:moveTo>
                <a:lnTo>
                  <a:pt x="4400979" y="690829"/>
                </a:lnTo>
              </a:path>
              <a:path w="4401185" h="4951095">
                <a:moveTo>
                  <a:pt x="0" y="921105"/>
                </a:moveTo>
                <a:lnTo>
                  <a:pt x="0" y="805967"/>
                </a:lnTo>
              </a:path>
              <a:path w="4401185" h="4951095">
                <a:moveTo>
                  <a:pt x="4400979" y="921105"/>
                </a:moveTo>
                <a:lnTo>
                  <a:pt x="4400979" y="805967"/>
                </a:lnTo>
              </a:path>
              <a:path w="4401185" h="4951095">
                <a:moveTo>
                  <a:pt x="0" y="1036243"/>
                </a:moveTo>
                <a:lnTo>
                  <a:pt x="0" y="921105"/>
                </a:lnTo>
              </a:path>
              <a:path w="4401185" h="4951095">
                <a:moveTo>
                  <a:pt x="4400979" y="1036243"/>
                </a:moveTo>
                <a:lnTo>
                  <a:pt x="4400979" y="921105"/>
                </a:lnTo>
              </a:path>
              <a:path w="4401185" h="4951095">
                <a:moveTo>
                  <a:pt x="0" y="1151382"/>
                </a:moveTo>
                <a:lnTo>
                  <a:pt x="0" y="1036243"/>
                </a:lnTo>
              </a:path>
              <a:path w="4401185" h="4951095">
                <a:moveTo>
                  <a:pt x="4400979" y="1151382"/>
                </a:moveTo>
                <a:lnTo>
                  <a:pt x="4400979" y="1036243"/>
                </a:lnTo>
              </a:path>
              <a:path w="4401185" h="4951095">
                <a:moveTo>
                  <a:pt x="0" y="1266520"/>
                </a:moveTo>
                <a:lnTo>
                  <a:pt x="0" y="1151382"/>
                </a:lnTo>
              </a:path>
              <a:path w="4401185" h="4951095">
                <a:moveTo>
                  <a:pt x="4400979" y="1266520"/>
                </a:moveTo>
                <a:lnTo>
                  <a:pt x="4400979" y="1151382"/>
                </a:lnTo>
              </a:path>
              <a:path w="4401185" h="4951095">
                <a:moveTo>
                  <a:pt x="0" y="1381658"/>
                </a:moveTo>
                <a:lnTo>
                  <a:pt x="0" y="1266520"/>
                </a:lnTo>
              </a:path>
              <a:path w="4401185" h="4951095">
                <a:moveTo>
                  <a:pt x="4400979" y="1381658"/>
                </a:moveTo>
                <a:lnTo>
                  <a:pt x="4400979" y="1266520"/>
                </a:lnTo>
              </a:path>
              <a:path w="4401185" h="4951095">
                <a:moveTo>
                  <a:pt x="0" y="1496796"/>
                </a:moveTo>
                <a:lnTo>
                  <a:pt x="0" y="1381658"/>
                </a:lnTo>
              </a:path>
              <a:path w="4401185" h="4951095">
                <a:moveTo>
                  <a:pt x="4400979" y="1496796"/>
                </a:moveTo>
                <a:lnTo>
                  <a:pt x="4400979" y="1381658"/>
                </a:lnTo>
              </a:path>
              <a:path w="4401185" h="4951095">
                <a:moveTo>
                  <a:pt x="0" y="1611934"/>
                </a:moveTo>
                <a:lnTo>
                  <a:pt x="0" y="1496796"/>
                </a:lnTo>
              </a:path>
              <a:path w="4401185" h="4951095">
                <a:moveTo>
                  <a:pt x="4400979" y="1611934"/>
                </a:moveTo>
                <a:lnTo>
                  <a:pt x="4400979" y="1496796"/>
                </a:lnTo>
              </a:path>
              <a:path w="4401185" h="4951095">
                <a:moveTo>
                  <a:pt x="0" y="1727073"/>
                </a:moveTo>
                <a:lnTo>
                  <a:pt x="0" y="1611934"/>
                </a:lnTo>
              </a:path>
              <a:path w="4401185" h="4951095">
                <a:moveTo>
                  <a:pt x="4400979" y="1727073"/>
                </a:moveTo>
                <a:lnTo>
                  <a:pt x="4400979" y="1611934"/>
                </a:lnTo>
              </a:path>
              <a:path w="4401185" h="4951095">
                <a:moveTo>
                  <a:pt x="0" y="1842211"/>
                </a:moveTo>
                <a:lnTo>
                  <a:pt x="0" y="1727073"/>
                </a:lnTo>
              </a:path>
              <a:path w="4401185" h="4951095">
                <a:moveTo>
                  <a:pt x="4400979" y="1842211"/>
                </a:moveTo>
                <a:lnTo>
                  <a:pt x="4400979" y="1727073"/>
                </a:lnTo>
              </a:path>
              <a:path w="4401185" h="4951095">
                <a:moveTo>
                  <a:pt x="0" y="1957349"/>
                </a:moveTo>
                <a:lnTo>
                  <a:pt x="0" y="1842211"/>
                </a:lnTo>
              </a:path>
              <a:path w="4401185" h="4951095">
                <a:moveTo>
                  <a:pt x="4400979" y="1957349"/>
                </a:moveTo>
                <a:lnTo>
                  <a:pt x="4400979" y="1842211"/>
                </a:lnTo>
              </a:path>
              <a:path w="4401185" h="4951095">
                <a:moveTo>
                  <a:pt x="0" y="2072487"/>
                </a:moveTo>
                <a:lnTo>
                  <a:pt x="0" y="1957349"/>
                </a:lnTo>
              </a:path>
              <a:path w="4401185" h="4951095">
                <a:moveTo>
                  <a:pt x="4400979" y="2072487"/>
                </a:moveTo>
                <a:lnTo>
                  <a:pt x="4400979" y="1957349"/>
                </a:lnTo>
              </a:path>
              <a:path w="4401185" h="4951095">
                <a:moveTo>
                  <a:pt x="0" y="2187625"/>
                </a:moveTo>
                <a:lnTo>
                  <a:pt x="0" y="2072487"/>
                </a:lnTo>
              </a:path>
              <a:path w="4401185" h="4951095">
                <a:moveTo>
                  <a:pt x="4400979" y="2187625"/>
                </a:moveTo>
                <a:lnTo>
                  <a:pt x="4400979" y="2072487"/>
                </a:lnTo>
              </a:path>
              <a:path w="4401185" h="4951095">
                <a:moveTo>
                  <a:pt x="0" y="2302764"/>
                </a:moveTo>
                <a:lnTo>
                  <a:pt x="0" y="2187625"/>
                </a:lnTo>
              </a:path>
              <a:path w="4401185" h="4951095">
                <a:moveTo>
                  <a:pt x="4400979" y="2302764"/>
                </a:moveTo>
                <a:lnTo>
                  <a:pt x="4400979" y="2187625"/>
                </a:lnTo>
              </a:path>
              <a:path w="4401185" h="4951095">
                <a:moveTo>
                  <a:pt x="0" y="2417902"/>
                </a:moveTo>
                <a:lnTo>
                  <a:pt x="0" y="2302764"/>
                </a:lnTo>
              </a:path>
              <a:path w="4401185" h="4951095">
                <a:moveTo>
                  <a:pt x="4400979" y="2417902"/>
                </a:moveTo>
                <a:lnTo>
                  <a:pt x="4400979" y="2302764"/>
                </a:lnTo>
              </a:path>
              <a:path w="4401185" h="4951095">
                <a:moveTo>
                  <a:pt x="0" y="2533040"/>
                </a:moveTo>
                <a:lnTo>
                  <a:pt x="0" y="2417902"/>
                </a:lnTo>
              </a:path>
              <a:path w="4401185" h="4951095">
                <a:moveTo>
                  <a:pt x="4400979" y="2533040"/>
                </a:moveTo>
                <a:lnTo>
                  <a:pt x="4400979" y="2417902"/>
                </a:lnTo>
              </a:path>
              <a:path w="4401185" h="4951095">
                <a:moveTo>
                  <a:pt x="0" y="2648178"/>
                </a:moveTo>
                <a:lnTo>
                  <a:pt x="0" y="2533040"/>
                </a:lnTo>
              </a:path>
              <a:path w="4401185" h="4951095">
                <a:moveTo>
                  <a:pt x="4400979" y="2648178"/>
                </a:moveTo>
                <a:lnTo>
                  <a:pt x="4400979" y="2533040"/>
                </a:lnTo>
              </a:path>
              <a:path w="4401185" h="4951095">
                <a:moveTo>
                  <a:pt x="0" y="2763316"/>
                </a:moveTo>
                <a:lnTo>
                  <a:pt x="0" y="2648178"/>
                </a:lnTo>
              </a:path>
              <a:path w="4401185" h="4951095">
                <a:moveTo>
                  <a:pt x="4400979" y="2763316"/>
                </a:moveTo>
                <a:lnTo>
                  <a:pt x="4400979" y="2648178"/>
                </a:lnTo>
              </a:path>
              <a:path w="4401185" h="4951095">
                <a:moveTo>
                  <a:pt x="0" y="2878455"/>
                </a:moveTo>
                <a:lnTo>
                  <a:pt x="0" y="2763316"/>
                </a:lnTo>
              </a:path>
              <a:path w="4401185" h="4951095">
                <a:moveTo>
                  <a:pt x="4400979" y="2878455"/>
                </a:moveTo>
                <a:lnTo>
                  <a:pt x="4400979" y="2763316"/>
                </a:lnTo>
              </a:path>
              <a:path w="4401185" h="4951095">
                <a:moveTo>
                  <a:pt x="0" y="2993593"/>
                </a:moveTo>
                <a:lnTo>
                  <a:pt x="0" y="2878455"/>
                </a:lnTo>
              </a:path>
              <a:path w="4401185" h="4951095">
                <a:moveTo>
                  <a:pt x="4400979" y="2993593"/>
                </a:moveTo>
                <a:lnTo>
                  <a:pt x="4400979" y="2878455"/>
                </a:lnTo>
              </a:path>
              <a:path w="4401185" h="4951095">
                <a:moveTo>
                  <a:pt x="0" y="3108731"/>
                </a:moveTo>
                <a:lnTo>
                  <a:pt x="0" y="2993593"/>
                </a:lnTo>
              </a:path>
              <a:path w="4401185" h="4951095">
                <a:moveTo>
                  <a:pt x="4400979" y="3108731"/>
                </a:moveTo>
                <a:lnTo>
                  <a:pt x="4400979" y="2993593"/>
                </a:lnTo>
              </a:path>
              <a:path w="4401185" h="4951095">
                <a:moveTo>
                  <a:pt x="0" y="3223869"/>
                </a:moveTo>
                <a:lnTo>
                  <a:pt x="0" y="3108731"/>
                </a:lnTo>
              </a:path>
              <a:path w="4401185" h="4951095">
                <a:moveTo>
                  <a:pt x="4400979" y="3223869"/>
                </a:moveTo>
                <a:lnTo>
                  <a:pt x="4400979" y="3108731"/>
                </a:lnTo>
              </a:path>
              <a:path w="4401185" h="4951095">
                <a:moveTo>
                  <a:pt x="0" y="3339007"/>
                </a:moveTo>
                <a:lnTo>
                  <a:pt x="0" y="3223869"/>
                </a:lnTo>
              </a:path>
              <a:path w="4401185" h="4951095">
                <a:moveTo>
                  <a:pt x="4400979" y="3339007"/>
                </a:moveTo>
                <a:lnTo>
                  <a:pt x="4400979" y="3223869"/>
                </a:lnTo>
              </a:path>
              <a:path w="4401185" h="4951095">
                <a:moveTo>
                  <a:pt x="0" y="3454146"/>
                </a:moveTo>
                <a:lnTo>
                  <a:pt x="0" y="3339007"/>
                </a:lnTo>
              </a:path>
              <a:path w="4401185" h="4951095">
                <a:moveTo>
                  <a:pt x="4400979" y="3454146"/>
                </a:moveTo>
                <a:lnTo>
                  <a:pt x="4400979" y="3339007"/>
                </a:lnTo>
              </a:path>
              <a:path w="4401185" h="4951095">
                <a:moveTo>
                  <a:pt x="0" y="3569284"/>
                </a:moveTo>
                <a:lnTo>
                  <a:pt x="0" y="3454146"/>
                </a:lnTo>
              </a:path>
              <a:path w="4401185" h="4951095">
                <a:moveTo>
                  <a:pt x="4400979" y="3569284"/>
                </a:moveTo>
                <a:lnTo>
                  <a:pt x="4400979" y="3454146"/>
                </a:lnTo>
              </a:path>
              <a:path w="4401185" h="4951095">
                <a:moveTo>
                  <a:pt x="0" y="3684422"/>
                </a:moveTo>
                <a:lnTo>
                  <a:pt x="0" y="3569284"/>
                </a:lnTo>
              </a:path>
              <a:path w="4401185" h="4951095">
                <a:moveTo>
                  <a:pt x="4400979" y="3684422"/>
                </a:moveTo>
                <a:lnTo>
                  <a:pt x="4400979" y="3569284"/>
                </a:lnTo>
              </a:path>
              <a:path w="4401185" h="4951095">
                <a:moveTo>
                  <a:pt x="0" y="3799560"/>
                </a:moveTo>
                <a:lnTo>
                  <a:pt x="0" y="3684422"/>
                </a:lnTo>
              </a:path>
              <a:path w="4401185" h="4951095">
                <a:moveTo>
                  <a:pt x="4400979" y="3799560"/>
                </a:moveTo>
                <a:lnTo>
                  <a:pt x="4400979" y="3684422"/>
                </a:lnTo>
              </a:path>
              <a:path w="4401185" h="4951095">
                <a:moveTo>
                  <a:pt x="0" y="3914698"/>
                </a:moveTo>
                <a:lnTo>
                  <a:pt x="0" y="3799560"/>
                </a:lnTo>
              </a:path>
              <a:path w="4401185" h="4951095">
                <a:moveTo>
                  <a:pt x="4400979" y="3914698"/>
                </a:moveTo>
                <a:lnTo>
                  <a:pt x="4400979" y="3799560"/>
                </a:lnTo>
              </a:path>
              <a:path w="4401185" h="4951095">
                <a:moveTo>
                  <a:pt x="0" y="4029837"/>
                </a:moveTo>
                <a:lnTo>
                  <a:pt x="0" y="3914698"/>
                </a:lnTo>
              </a:path>
              <a:path w="4401185" h="4951095">
                <a:moveTo>
                  <a:pt x="4400979" y="4029837"/>
                </a:moveTo>
                <a:lnTo>
                  <a:pt x="4400979" y="3914698"/>
                </a:lnTo>
              </a:path>
              <a:path w="4401185" h="4951095">
                <a:moveTo>
                  <a:pt x="0" y="4144975"/>
                </a:moveTo>
                <a:lnTo>
                  <a:pt x="0" y="4029837"/>
                </a:lnTo>
              </a:path>
              <a:path w="4401185" h="4951095">
                <a:moveTo>
                  <a:pt x="4400979" y="4144975"/>
                </a:moveTo>
                <a:lnTo>
                  <a:pt x="4400979" y="4029837"/>
                </a:lnTo>
              </a:path>
              <a:path w="4401185" h="4951095">
                <a:moveTo>
                  <a:pt x="0" y="4260113"/>
                </a:moveTo>
                <a:lnTo>
                  <a:pt x="0" y="4144975"/>
                </a:lnTo>
              </a:path>
              <a:path w="4401185" h="4951095">
                <a:moveTo>
                  <a:pt x="4400979" y="4260113"/>
                </a:moveTo>
                <a:lnTo>
                  <a:pt x="4400979" y="4144975"/>
                </a:lnTo>
              </a:path>
              <a:path w="4401185" h="4951095">
                <a:moveTo>
                  <a:pt x="0" y="4375251"/>
                </a:moveTo>
                <a:lnTo>
                  <a:pt x="0" y="4260113"/>
                </a:lnTo>
              </a:path>
              <a:path w="4401185" h="4951095">
                <a:moveTo>
                  <a:pt x="4400979" y="4375251"/>
                </a:moveTo>
                <a:lnTo>
                  <a:pt x="4400979" y="4260113"/>
                </a:lnTo>
              </a:path>
              <a:path w="4401185" h="4951095">
                <a:moveTo>
                  <a:pt x="0" y="4490389"/>
                </a:moveTo>
                <a:lnTo>
                  <a:pt x="0" y="4375251"/>
                </a:lnTo>
              </a:path>
              <a:path w="4401185" h="4951095">
                <a:moveTo>
                  <a:pt x="4400979" y="4490389"/>
                </a:moveTo>
                <a:lnTo>
                  <a:pt x="4400979" y="4375251"/>
                </a:lnTo>
              </a:path>
              <a:path w="4401185" h="4951095">
                <a:moveTo>
                  <a:pt x="0" y="4605528"/>
                </a:moveTo>
                <a:lnTo>
                  <a:pt x="0" y="4490389"/>
                </a:lnTo>
              </a:path>
              <a:path w="4401185" h="4951095">
                <a:moveTo>
                  <a:pt x="4400979" y="4605528"/>
                </a:moveTo>
                <a:lnTo>
                  <a:pt x="4400979" y="4490389"/>
                </a:lnTo>
              </a:path>
              <a:path w="4401185" h="4951095">
                <a:moveTo>
                  <a:pt x="0" y="4720666"/>
                </a:moveTo>
                <a:lnTo>
                  <a:pt x="0" y="4605528"/>
                </a:lnTo>
              </a:path>
              <a:path w="4401185" h="4951095">
                <a:moveTo>
                  <a:pt x="4400979" y="4720666"/>
                </a:moveTo>
                <a:lnTo>
                  <a:pt x="4400979" y="4605528"/>
                </a:lnTo>
              </a:path>
              <a:path w="4401185" h="4951095">
                <a:moveTo>
                  <a:pt x="0" y="4835804"/>
                </a:moveTo>
                <a:lnTo>
                  <a:pt x="0" y="4720666"/>
                </a:lnTo>
              </a:path>
              <a:path w="4401185" h="4951095">
                <a:moveTo>
                  <a:pt x="4400979" y="4835804"/>
                </a:moveTo>
                <a:lnTo>
                  <a:pt x="4400979" y="4720666"/>
                </a:lnTo>
              </a:path>
              <a:path w="4401185" h="4951095">
                <a:moveTo>
                  <a:pt x="0" y="4950942"/>
                </a:moveTo>
                <a:lnTo>
                  <a:pt x="0" y="4835804"/>
                </a:lnTo>
              </a:path>
              <a:path w="4401185" h="4951095">
                <a:moveTo>
                  <a:pt x="4400979" y="4950942"/>
                </a:moveTo>
                <a:lnTo>
                  <a:pt x="4400979" y="4835804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42037" y="942463"/>
            <a:ext cx="4396105" cy="497649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360680">
              <a:lnSpc>
                <a:spcPct val="100000"/>
              </a:lnSpc>
              <a:spcBef>
                <a:spcPts val="165"/>
              </a:spcBef>
            </a:pPr>
            <a:r>
              <a:rPr dirty="0" sz="700" spc="100">
                <a:latin typeface="Calibri"/>
                <a:cs typeface="Calibri"/>
              </a:rPr>
              <a:t>zs.append(z)</a:t>
            </a:r>
            <a:endParaRPr sz="700">
              <a:latin typeface="Calibri"/>
              <a:cs typeface="Calibri"/>
            </a:endParaRPr>
          </a:p>
          <a:p>
            <a:pPr marL="362585" marR="2440305" indent="-635">
              <a:lnSpc>
                <a:spcPct val="107900"/>
              </a:lnSpc>
            </a:pPr>
            <a:r>
              <a:rPr dirty="0" sz="700" spc="120">
                <a:latin typeface="Calibri"/>
                <a:cs typeface="Calibri"/>
              </a:rPr>
              <a:t>activation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sigmoid(z) </a:t>
            </a:r>
            <a:r>
              <a:rPr dirty="0" sz="700" spc="110">
                <a:latin typeface="Calibri"/>
                <a:cs typeface="Calibri"/>
              </a:rPr>
              <a:t>activations.append(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activation)</a:t>
            </a:r>
            <a:endParaRPr sz="700">
              <a:latin typeface="Calibri"/>
              <a:cs typeface="Calibri"/>
            </a:endParaRPr>
          </a:p>
          <a:p>
            <a:pPr marL="253365">
              <a:lnSpc>
                <a:spcPct val="100000"/>
              </a:lnSpc>
              <a:spcBef>
                <a:spcPts val="6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backward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pass</a:t>
            </a:r>
            <a:endParaRPr sz="700">
              <a:latin typeface="Calibri"/>
              <a:cs typeface="Calibri"/>
            </a:endParaRPr>
          </a:p>
          <a:p>
            <a:pPr marL="255904" marR="316230" indent="-635">
              <a:lnSpc>
                <a:spcPct val="107900"/>
              </a:lnSpc>
              <a:spcBef>
                <a:spcPts val="5"/>
              </a:spcBef>
            </a:pPr>
            <a:r>
              <a:rPr dirty="0" sz="700" spc="105">
                <a:latin typeface="Calibri"/>
                <a:cs typeface="Calibri"/>
              </a:rPr>
              <a:t>delta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cost_derivative(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activations[-</a:t>
            </a:r>
            <a:r>
              <a:rPr dirty="0" sz="700" spc="150">
                <a:latin typeface="Calibri"/>
                <a:cs typeface="Calibri"/>
              </a:rPr>
              <a:t>1],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y)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*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sigmoid_prime(zs[-</a:t>
            </a:r>
            <a:r>
              <a:rPr dirty="0" sz="700" spc="105">
                <a:latin typeface="Calibri"/>
                <a:cs typeface="Calibri"/>
              </a:rPr>
              <a:t>1]) </a:t>
            </a:r>
            <a:r>
              <a:rPr dirty="0" sz="700" spc="110">
                <a:latin typeface="Calibri"/>
                <a:cs typeface="Calibri"/>
              </a:rPr>
              <a:t>nabla_b[-</a:t>
            </a:r>
            <a:r>
              <a:rPr dirty="0" sz="700" spc="95">
                <a:latin typeface="Calibri"/>
                <a:cs typeface="Calibri"/>
              </a:rPr>
              <a:t>1]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delta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latin typeface="Calibri"/>
                <a:cs typeface="Calibri"/>
              </a:rPr>
              <a:t>nabla_w[-1]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np.dot(delta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activations[-2].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transpose())</a:t>
            </a:r>
            <a:endParaRPr sz="700">
              <a:latin typeface="Calibri"/>
              <a:cs typeface="Calibri"/>
            </a:endParaRPr>
          </a:p>
          <a:p>
            <a:pPr marL="253365" marR="845819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variable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l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loop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below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little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differently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notation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Chapter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2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book.</a:t>
            </a:r>
            <a:r>
              <a:rPr dirty="0" sz="700" spc="30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Here,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l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=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1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means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last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neurons,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l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=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2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endParaRPr sz="700">
              <a:latin typeface="Calibri"/>
              <a:cs typeface="Calibri"/>
            </a:endParaRPr>
          </a:p>
          <a:p>
            <a:pPr marL="253365">
              <a:lnSpc>
                <a:spcPct val="100000"/>
              </a:lnSpc>
              <a:spcBef>
                <a:spcPts val="6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second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-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last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layer,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so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on.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It’s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renumbering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endParaRPr sz="700">
              <a:latin typeface="Calibri"/>
              <a:cs typeface="Calibri"/>
            </a:endParaRPr>
          </a:p>
          <a:p>
            <a:pPr marL="253365" marR="901065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scheme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book,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here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take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advantage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fact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Python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can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negative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indices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5" i="1">
                <a:solidFill>
                  <a:srgbClr val="980000"/>
                </a:solidFill>
                <a:latin typeface="Calibri"/>
                <a:cs typeface="Calibri"/>
              </a:rPr>
              <a:t>lists.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70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l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110">
                <a:latin typeface="Calibri"/>
                <a:cs typeface="Calibri"/>
              </a:rPr>
              <a:t>(2,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num_layers):</a:t>
            </a:r>
            <a:endParaRPr sz="700">
              <a:latin typeface="Calibri"/>
              <a:cs typeface="Calibri"/>
            </a:endParaRPr>
          </a:p>
          <a:p>
            <a:pPr marL="360045">
              <a:lnSpc>
                <a:spcPct val="100000"/>
              </a:lnSpc>
              <a:spcBef>
                <a:spcPts val="65"/>
              </a:spcBef>
            </a:pPr>
            <a:r>
              <a:rPr dirty="0" sz="700" spc="90">
                <a:latin typeface="Calibri"/>
                <a:cs typeface="Calibri"/>
              </a:rPr>
              <a:t>z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zs[-</a:t>
            </a:r>
            <a:r>
              <a:rPr dirty="0" sz="700" spc="175">
                <a:latin typeface="Calibri"/>
                <a:cs typeface="Calibri"/>
              </a:rPr>
              <a:t>l]</a:t>
            </a:r>
            <a:endParaRPr sz="700">
              <a:latin typeface="Calibri"/>
              <a:cs typeface="Calibri"/>
            </a:endParaRPr>
          </a:p>
          <a:p>
            <a:pPr marL="360680">
              <a:lnSpc>
                <a:spcPct val="100000"/>
              </a:lnSpc>
              <a:spcBef>
                <a:spcPts val="65"/>
              </a:spcBef>
            </a:pPr>
            <a:r>
              <a:rPr dirty="0" sz="700" spc="60">
                <a:latin typeface="Calibri"/>
                <a:cs typeface="Calibri"/>
              </a:rPr>
              <a:t>sp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sigmoid_prime(z)</a:t>
            </a:r>
            <a:endParaRPr sz="700">
              <a:latin typeface="Calibri"/>
              <a:cs typeface="Calibri"/>
            </a:endParaRPr>
          </a:p>
          <a:p>
            <a:pPr marL="362585" marR="953135" indent="-635">
              <a:lnSpc>
                <a:spcPct val="107900"/>
              </a:lnSpc>
            </a:pPr>
            <a:r>
              <a:rPr dirty="0" sz="700" spc="105">
                <a:latin typeface="Calibri"/>
                <a:cs typeface="Calibri"/>
              </a:rPr>
              <a:t>delta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np.dot(self.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weights[-</a:t>
            </a:r>
            <a:r>
              <a:rPr dirty="0" sz="700" spc="150">
                <a:latin typeface="Calibri"/>
                <a:cs typeface="Calibri"/>
              </a:rPr>
              <a:t>l+1].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transpose(),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delta)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*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35">
                <a:latin typeface="Calibri"/>
                <a:cs typeface="Calibri"/>
              </a:rPr>
              <a:t>sp</a:t>
            </a:r>
            <a:r>
              <a:rPr dirty="0" sz="700" spc="110">
                <a:latin typeface="Calibri"/>
                <a:cs typeface="Calibri"/>
              </a:rPr>
              <a:t> nabla_b[-</a:t>
            </a:r>
            <a:r>
              <a:rPr dirty="0" sz="700" spc="200">
                <a:latin typeface="Calibri"/>
                <a:cs typeface="Calibri"/>
              </a:rPr>
              <a:t>l]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delta</a:t>
            </a:r>
            <a:endParaRPr sz="700">
              <a:latin typeface="Calibri"/>
              <a:cs typeface="Calibri"/>
            </a:endParaRPr>
          </a:p>
          <a:p>
            <a:pPr marL="255904" marR="952500" indent="106045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nabla_w[-</a:t>
            </a:r>
            <a:r>
              <a:rPr dirty="0" sz="700" spc="200">
                <a:latin typeface="Calibri"/>
                <a:cs typeface="Calibri"/>
              </a:rPr>
              <a:t>l]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np.dot(delta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activations[-</a:t>
            </a:r>
            <a:r>
              <a:rPr dirty="0" sz="700" spc="235">
                <a:latin typeface="Calibri"/>
                <a:cs typeface="Calibri"/>
              </a:rPr>
              <a:t>l-</a:t>
            </a:r>
            <a:r>
              <a:rPr dirty="0" sz="700" spc="145">
                <a:latin typeface="Calibri"/>
                <a:cs typeface="Calibri"/>
              </a:rPr>
              <a:t>1].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transpose())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(nabla_b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nabla_w)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algn="just" marL="148590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evaluate(self,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test_data):</a:t>
            </a:r>
            <a:endParaRPr sz="700">
              <a:latin typeface="Calibri"/>
              <a:cs typeface="Calibri"/>
            </a:endParaRPr>
          </a:p>
          <a:p>
            <a:pPr algn="just" marL="255904" marR="1166495" indent="-1270">
              <a:lnSpc>
                <a:spcPct val="107900"/>
              </a:lnSpc>
            </a:pP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number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test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inputs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which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neural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outputs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correct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result.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neural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network’s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assumed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index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whichever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neuron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final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has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highest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activation.""" </a:t>
            </a:r>
            <a:r>
              <a:rPr dirty="0" sz="700" spc="125">
                <a:latin typeface="Calibri"/>
                <a:cs typeface="Calibri"/>
              </a:rPr>
              <a:t>test_results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[(np.argmax(self.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feedforward(x)),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y)</a:t>
            </a:r>
            <a:endParaRPr sz="700">
              <a:latin typeface="Calibri"/>
              <a:cs typeface="Calibri"/>
            </a:endParaRPr>
          </a:p>
          <a:p>
            <a:pPr algn="just" marL="786765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(x,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y)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test_data]</a:t>
            </a:r>
            <a:endParaRPr sz="700">
              <a:latin typeface="Calibri"/>
              <a:cs typeface="Calibri"/>
            </a:endParaRPr>
          </a:p>
          <a:p>
            <a:pPr algn="just" marL="255904">
              <a:lnSpc>
                <a:spcPct val="100000"/>
              </a:lnSpc>
              <a:spcBef>
                <a:spcPts val="70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sum</a:t>
            </a:r>
            <a:r>
              <a:rPr dirty="0" sz="700" spc="105">
                <a:latin typeface="Calibri"/>
                <a:cs typeface="Calibri"/>
              </a:rPr>
              <a:t>(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int</a:t>
            </a:r>
            <a:r>
              <a:rPr dirty="0" sz="700" spc="105">
                <a:latin typeface="Calibri"/>
                <a:cs typeface="Calibri"/>
              </a:rPr>
              <a:t>(x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y)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(x,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y)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test_results)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48590">
              <a:lnSpc>
                <a:spcPct val="100000"/>
              </a:lnSpc>
              <a:spcBef>
                <a:spcPts val="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cost_derivative(self,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output_activations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vector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partial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derivatives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\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partial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C_x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0" i="1">
                <a:solidFill>
                  <a:srgbClr val="980000"/>
                </a:solidFill>
                <a:latin typeface="Calibri"/>
                <a:cs typeface="Calibri"/>
              </a:rPr>
              <a:t>/</a:t>
            </a:r>
            <a:endParaRPr sz="700">
              <a:latin typeface="Calibri"/>
              <a:cs typeface="Calibri"/>
            </a:endParaRPr>
          </a:p>
          <a:p>
            <a:pPr marL="253365">
              <a:lnSpc>
                <a:spcPct val="100000"/>
              </a:lnSpc>
              <a:spcBef>
                <a:spcPts val="65"/>
              </a:spcBef>
            </a:pP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\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partial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activations."""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40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output_activations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-</a:t>
            </a:r>
            <a:r>
              <a:rPr dirty="0" sz="700" spc="100">
                <a:latin typeface="Calibri"/>
                <a:cs typeface="Calibri"/>
              </a:rPr>
              <a:t>y)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47320">
              <a:lnSpc>
                <a:spcPct val="1000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4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Miscellaneous</a:t>
            </a:r>
            <a:r>
              <a:rPr dirty="0" sz="700" spc="45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functions</a:t>
            </a:r>
            <a:endParaRPr sz="700">
              <a:latin typeface="Calibri"/>
              <a:cs typeface="Calibri"/>
            </a:endParaRPr>
          </a:p>
          <a:p>
            <a:pPr marL="148590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sigmoid(z):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sigmoid</a:t>
            </a:r>
            <a:r>
              <a:rPr dirty="0" sz="700" spc="4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function."""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4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1.0/(1.0+np.exp(-</a:t>
            </a:r>
            <a:r>
              <a:rPr dirty="0" sz="700" spc="140">
                <a:latin typeface="Calibri"/>
                <a:cs typeface="Calibri"/>
              </a:rPr>
              <a:t>z))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48590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sigmoid_prime(z):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Derivative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sigmoid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function."""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70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9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sigmoid(z)*(1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-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sigmoid(z))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036980" y="5922937"/>
            <a:ext cx="4406265" cy="43180"/>
          </a:xfrm>
          <a:custGeom>
            <a:avLst/>
            <a:gdLst/>
            <a:ahLst/>
            <a:cxnLst/>
            <a:rect l="l" t="t" r="r" b="b"/>
            <a:pathLst>
              <a:path w="4406265" h="43179">
                <a:moveTo>
                  <a:pt x="2529" y="43014"/>
                </a:moveTo>
                <a:lnTo>
                  <a:pt x="2529" y="0"/>
                </a:lnTo>
              </a:path>
              <a:path w="4406265" h="43179">
                <a:moveTo>
                  <a:pt x="0" y="40487"/>
                </a:moveTo>
                <a:lnTo>
                  <a:pt x="43016" y="40487"/>
                </a:lnTo>
              </a:path>
              <a:path w="4406265" h="43179">
                <a:moveTo>
                  <a:pt x="43016" y="40487"/>
                </a:moveTo>
                <a:lnTo>
                  <a:pt x="4363008" y="40487"/>
                </a:lnTo>
              </a:path>
              <a:path w="4406265" h="43179">
                <a:moveTo>
                  <a:pt x="4363021" y="40487"/>
                </a:moveTo>
                <a:lnTo>
                  <a:pt x="4406036" y="40487"/>
                </a:lnTo>
              </a:path>
              <a:path w="4406265" h="43179">
                <a:moveTo>
                  <a:pt x="4403509" y="43014"/>
                </a:moveTo>
                <a:lnTo>
                  <a:pt x="4403509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067296" y="6006171"/>
            <a:ext cx="4345940" cy="4648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>
              <a:lnSpc>
                <a:spcPct val="111000"/>
              </a:lnSpc>
              <a:spcBef>
                <a:spcPts val="90"/>
              </a:spcBef>
            </a:pPr>
            <a:r>
              <a:rPr dirty="0" sz="850" spc="50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digits?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loading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MNIST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900" spc="65">
                <a:latin typeface="Calibri"/>
                <a:cs typeface="Calibri"/>
              </a:rPr>
              <a:t>mnist_loader.py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described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below.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execute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commands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Python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shell,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39510" y="6543026"/>
            <a:ext cx="4401185" cy="31178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mnist_loader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mnist_loader.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load_data_wrapper()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036980" y="7743314"/>
            <a:ext cx="4406265" cy="273685"/>
          </a:xfrm>
          <a:custGeom>
            <a:avLst/>
            <a:gdLst/>
            <a:ahLst/>
            <a:cxnLst/>
            <a:rect l="l" t="t" r="r" b="b"/>
            <a:pathLst>
              <a:path w="4406265" h="273684">
                <a:moveTo>
                  <a:pt x="2529" y="43017"/>
                </a:moveTo>
                <a:lnTo>
                  <a:pt x="2529" y="0"/>
                </a:lnTo>
              </a:path>
              <a:path w="4406265" h="273684">
                <a:moveTo>
                  <a:pt x="0" y="2531"/>
                </a:moveTo>
                <a:lnTo>
                  <a:pt x="43016" y="2531"/>
                </a:lnTo>
              </a:path>
              <a:path w="4406265" h="273684">
                <a:moveTo>
                  <a:pt x="43016" y="2531"/>
                </a:moveTo>
                <a:lnTo>
                  <a:pt x="4363008" y="2531"/>
                </a:lnTo>
              </a:path>
              <a:path w="4406265" h="273684">
                <a:moveTo>
                  <a:pt x="4363021" y="2531"/>
                </a:moveTo>
                <a:lnTo>
                  <a:pt x="4406036" y="2531"/>
                </a:lnTo>
              </a:path>
              <a:path w="4406265" h="273684">
                <a:moveTo>
                  <a:pt x="4403509" y="43017"/>
                </a:moveTo>
                <a:lnTo>
                  <a:pt x="4403509" y="0"/>
                </a:lnTo>
              </a:path>
              <a:path w="4406265" h="273684">
                <a:moveTo>
                  <a:pt x="2529" y="158155"/>
                </a:moveTo>
                <a:lnTo>
                  <a:pt x="2529" y="43017"/>
                </a:lnTo>
              </a:path>
              <a:path w="4406265" h="273684">
                <a:moveTo>
                  <a:pt x="4403509" y="158155"/>
                </a:moveTo>
                <a:lnTo>
                  <a:pt x="4403509" y="43017"/>
                </a:lnTo>
              </a:path>
              <a:path w="4406265" h="273684">
                <a:moveTo>
                  <a:pt x="2529" y="273293"/>
                </a:moveTo>
                <a:lnTo>
                  <a:pt x="2529" y="158155"/>
                </a:lnTo>
              </a:path>
              <a:path w="4406265" h="273684">
                <a:moveTo>
                  <a:pt x="4403509" y="273293"/>
                </a:moveTo>
                <a:lnTo>
                  <a:pt x="4403509" y="158155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1042037" y="6891980"/>
            <a:ext cx="4396105" cy="11207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7465" marR="29845" indent="-635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separate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Python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following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along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probably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easiest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Python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shell.</a:t>
            </a:r>
            <a:endParaRPr sz="850">
              <a:latin typeface="Calibri"/>
              <a:cs typeface="Calibri"/>
            </a:endParaRPr>
          </a:p>
          <a:p>
            <a:pPr marL="37465" marR="29845" indent="189230">
              <a:lnSpc>
                <a:spcPct val="114300"/>
              </a:lnSpc>
              <a:spcBef>
                <a:spcPts val="65"/>
              </a:spcBef>
            </a:pP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loading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MNIST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do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importing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Python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network,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5"/>
              </a:spcBef>
            </a:pPr>
            <a:endParaRPr sz="85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network</a:t>
            </a: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network.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11" name="object 11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67589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30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6984" y="1052588"/>
            <a:ext cx="4406265" cy="43180"/>
          </a:xfrm>
          <a:custGeom>
            <a:avLst/>
            <a:gdLst/>
            <a:ahLst/>
            <a:cxnLst/>
            <a:rect l="l" t="t" r="r" b="b"/>
            <a:pathLst>
              <a:path w="4406265" h="43180">
                <a:moveTo>
                  <a:pt x="2529" y="43014"/>
                </a:moveTo>
                <a:lnTo>
                  <a:pt x="2529" y="0"/>
                </a:lnTo>
              </a:path>
              <a:path w="4406265" h="43180">
                <a:moveTo>
                  <a:pt x="0" y="40487"/>
                </a:moveTo>
                <a:lnTo>
                  <a:pt x="43016" y="40487"/>
                </a:lnTo>
              </a:path>
              <a:path w="4406265" h="43180">
                <a:moveTo>
                  <a:pt x="43016" y="40487"/>
                </a:moveTo>
                <a:lnTo>
                  <a:pt x="4363010" y="40487"/>
                </a:lnTo>
              </a:path>
              <a:path w="4406265" h="43180">
                <a:moveTo>
                  <a:pt x="4363010" y="40487"/>
                </a:moveTo>
                <a:lnTo>
                  <a:pt x="4406025" y="40487"/>
                </a:lnTo>
              </a:path>
              <a:path w="4406265" h="43180">
                <a:moveTo>
                  <a:pt x="4403497" y="43014"/>
                </a:moveTo>
                <a:lnTo>
                  <a:pt x="4403497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702702" y="1110708"/>
            <a:ext cx="4353560" cy="326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 indent="4445">
              <a:lnSpc>
                <a:spcPct val="112599"/>
              </a:lnSpc>
              <a:spcBef>
                <a:spcPts val="90"/>
              </a:spcBef>
            </a:pPr>
            <a:r>
              <a:rPr dirty="0" sz="850">
                <a:latin typeface="Calibri"/>
                <a:cs typeface="Calibri"/>
              </a:rPr>
              <a:t>Finally,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MNIST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900" spc="90">
                <a:latin typeface="Calibri"/>
                <a:cs typeface="Calibri"/>
              </a:rPr>
              <a:t>training_data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over</a:t>
            </a:r>
            <a:r>
              <a:rPr dirty="0" sz="850" spc="50">
                <a:latin typeface="Calibri"/>
                <a:cs typeface="Calibri"/>
              </a:rPr>
              <a:t> 30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10,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3.0,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9514" y="1641284"/>
            <a:ext cx="4401185" cy="19621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3.0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test_data=test_data)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01" y="1859338"/>
            <a:ext cx="4370070" cy="2098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Note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you’re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running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along,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take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time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execute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–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typical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2015)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minutes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set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running,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continue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read,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periodically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check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you’re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rush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production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faster: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Python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scripts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intended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high-performance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code!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quickly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indeed,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almost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platform.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ported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Javascript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web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browser,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native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mobile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device.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case,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transcript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The </a:t>
            </a:r>
            <a:r>
              <a:rPr dirty="0" sz="850">
                <a:latin typeface="Calibri"/>
                <a:cs typeface="Calibri"/>
              </a:rPr>
              <a:t>transcript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recognized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after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reached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9,129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out</a:t>
            </a:r>
            <a:r>
              <a:rPr dirty="0" sz="850" spc="20">
                <a:latin typeface="Calibri"/>
                <a:cs typeface="Calibri"/>
              </a:rPr>
              <a:t> 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10,000,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number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continues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grow,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9514" y="4013911"/>
            <a:ext cx="4401185" cy="887094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0: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9129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1: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9295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2: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9348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185">
                <a:latin typeface="Calibri"/>
                <a:cs typeface="Calibri"/>
              </a:rPr>
              <a:t>...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27:</a:t>
            </a:r>
            <a:r>
              <a:rPr dirty="0" sz="700" spc="459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9528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28:</a:t>
            </a:r>
            <a:r>
              <a:rPr dirty="0" sz="700" spc="459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9542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29:</a:t>
            </a:r>
            <a:r>
              <a:rPr dirty="0" sz="700" spc="459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9534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0852" y="4922819"/>
            <a:ext cx="4375150" cy="1358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95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95.42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percent</a:t>
            </a:r>
            <a:r>
              <a:rPr dirty="0" sz="850" spc="20">
                <a:latin typeface="Calibri"/>
                <a:cs typeface="Calibri"/>
              </a:rPr>
              <a:t> 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peak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(“Epoch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28”)!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quite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encouraging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first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attempt.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should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warn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you,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necessarily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same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(different)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random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best-of-three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runs.</a:t>
            </a:r>
            <a:endParaRPr sz="850">
              <a:latin typeface="Calibri"/>
              <a:cs typeface="Calibri"/>
            </a:endParaRPr>
          </a:p>
          <a:p>
            <a:pPr algn="just" marL="12700" marR="24130" indent="196215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rerun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experiment,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number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100.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along,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warned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execute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epoch),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continue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parallel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executes.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9514" y="6337274"/>
            <a:ext cx="4401185" cy="31178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 spc="1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network.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100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3.0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test_data=test_data)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720001" y="765438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665505" y="6670492"/>
            <a:ext cx="4428490" cy="1344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3975" marR="4572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Sure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96.59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results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8</a:t>
            </a:r>
            <a:endParaRPr baseline="35353" sz="825">
              <a:latin typeface="Calibri"/>
              <a:cs typeface="Calibri"/>
            </a:endParaRPr>
          </a:p>
          <a:p>
            <a:pPr algn="just" marL="53975" marR="4318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obtain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accuracies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η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mentioned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these</a:t>
            </a:r>
            <a:r>
              <a:rPr dirty="0" sz="850" spc="20">
                <a:latin typeface="Calibri"/>
                <a:cs typeface="Calibri"/>
              </a:rPr>
              <a:t> 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hyper-parameters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order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distinguish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(weights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biases)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algorithm.</a:t>
            </a:r>
            <a:r>
              <a:rPr dirty="0" sz="850" spc="43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endParaRPr sz="850">
              <a:latin typeface="Calibri"/>
              <a:cs typeface="Calibri"/>
            </a:endParaRPr>
          </a:p>
          <a:p>
            <a:pPr algn="just" marL="50800" marR="45720" indent="131445">
              <a:lnSpc>
                <a:spcPts val="800"/>
              </a:lnSpc>
              <a:spcBef>
                <a:spcPts val="1005"/>
              </a:spcBef>
            </a:pPr>
            <a:r>
              <a:rPr dirty="0" baseline="30303" sz="825" spc="30">
                <a:latin typeface="Calibri"/>
                <a:cs typeface="Calibri"/>
              </a:rPr>
              <a:t>8</a:t>
            </a:r>
            <a:r>
              <a:rPr dirty="0" sz="750" spc="20">
                <a:latin typeface="Calibri"/>
                <a:cs typeface="Calibri"/>
              </a:rPr>
              <a:t>Reader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feedback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indicates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quite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some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variation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results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for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this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experiment,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some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training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runs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give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results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quite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bit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worse.</a:t>
            </a:r>
            <a:r>
              <a:rPr dirty="0" sz="750" spc="2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Using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techniques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introduced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chapter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3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will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greatly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reduce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the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variation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performance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across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different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training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runs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our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networks.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13" name="object 13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96" y="368721"/>
            <a:ext cx="4552950" cy="8667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928495">
              <a:lnSpc>
                <a:spcPts val="525"/>
              </a:lnSpc>
              <a:spcBef>
                <a:spcPts val="110"/>
              </a:spcBef>
              <a:tabLst>
                <a:tab pos="4417695" algn="l"/>
              </a:tabLst>
            </a:pPr>
            <a:r>
              <a:rPr dirty="0" sz="850" spc="20">
                <a:latin typeface="Calibri"/>
                <a:cs typeface="Calibri"/>
              </a:rPr>
              <a:t>1.6.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31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12700" marR="211454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poorly,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chosen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-10">
                <a:latin typeface="Calibri"/>
                <a:cs typeface="Calibri"/>
              </a:rPr>
              <a:t>0.001,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9510" y="1292390"/>
            <a:ext cx="4401185" cy="31178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 spc="1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network.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100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0.001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test_data=test_data)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2380" y="1642976"/>
            <a:ext cx="187896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encouraging,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39510" y="1856752"/>
            <a:ext cx="4401185" cy="887094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0: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1139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1: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1136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2: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1135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185">
                <a:latin typeface="Calibri"/>
                <a:cs typeface="Calibri"/>
              </a:rPr>
              <a:t>...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27:</a:t>
            </a:r>
            <a:r>
              <a:rPr dirty="0" sz="700" spc="459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2101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28:</a:t>
            </a:r>
            <a:r>
              <a:rPr dirty="0" sz="700" spc="459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2123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29:</a:t>
            </a:r>
            <a:r>
              <a:rPr dirty="0" sz="700" spc="459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2142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2380" y="2766169"/>
            <a:ext cx="4378325" cy="16541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444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time.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7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0.01.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</a:t>
            </a:r>
            <a:r>
              <a:rPr dirty="0" sz="850" spc="20">
                <a:latin typeface="Calibri"/>
                <a:cs typeface="Calibri"/>
              </a:rPr>
              <a:t> results,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suggests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increasing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again.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(If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making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improves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more!)</a:t>
            </a:r>
            <a:r>
              <a:rPr dirty="0" sz="850" spc="17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over,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1.0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3.0),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earlier</a:t>
            </a:r>
            <a:r>
              <a:rPr dirty="0" sz="850" spc="20">
                <a:latin typeface="Calibri"/>
                <a:cs typeface="Calibri"/>
              </a:rPr>
              <a:t> experiments.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though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made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choice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hyper-parameters,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general,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debugging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challenging.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especially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random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noise.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successful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-10">
                <a:latin typeface="Calibri"/>
                <a:cs typeface="Calibri"/>
              </a:rPr>
              <a:t>100.0: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39510" y="4477168"/>
            <a:ext cx="4401185" cy="31178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network.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100.0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test_data=test_data)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2052" y="4827755"/>
            <a:ext cx="35433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gone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far,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high: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39510" y="5189905"/>
            <a:ext cx="4401185" cy="100266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0: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1009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1: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1009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2: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1009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3: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1009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70"/>
              </a:spcBef>
            </a:pPr>
            <a:r>
              <a:rPr dirty="0" sz="700" spc="185">
                <a:latin typeface="Calibri"/>
                <a:cs typeface="Calibri"/>
              </a:rPr>
              <a:t>...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27: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982</a:t>
            </a:r>
            <a:r>
              <a:rPr dirty="0" sz="700" spc="42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25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28: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982</a:t>
            </a:r>
            <a:r>
              <a:rPr dirty="0" sz="700" spc="42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25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29: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982</a:t>
            </a:r>
            <a:r>
              <a:rPr dirty="0" sz="700" spc="42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425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0856" y="6214472"/>
            <a:ext cx="4379595" cy="180276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L="12700" marR="5080" indent="6350">
              <a:lnSpc>
                <a:spcPct val="114300"/>
              </a:lnSpc>
              <a:spcBef>
                <a:spcPts val="95"/>
              </a:spcBef>
            </a:pPr>
            <a:r>
              <a:rPr dirty="0" sz="850" spc="50">
                <a:latin typeface="Calibri"/>
                <a:cs typeface="Calibri"/>
              </a:rPr>
              <a:t>Now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imagine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know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wouldn’t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guide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do.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20">
                <a:latin typeface="Calibri"/>
                <a:cs typeface="Calibri"/>
              </a:rPr>
              <a:t> about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aspect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might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wonder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learn?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meaningful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learning?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enough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epochs?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maybe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impossible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digits?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low?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maybe,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high?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sure.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away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debugging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trivial,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and,</a:t>
            </a:r>
            <a:endParaRPr sz="850">
              <a:latin typeface="Calibri"/>
              <a:cs typeface="Calibri"/>
            </a:endParaRPr>
          </a:p>
          <a:p>
            <a:pPr algn="r" marR="32384">
              <a:lnSpc>
                <a:spcPct val="100000"/>
              </a:lnSpc>
              <a:spcBef>
                <a:spcPts val="145"/>
              </a:spcBef>
            </a:pP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ordinary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programming,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debugging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12" name="object 12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578985" cy="118999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32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45745" marR="50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order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4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generally,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develop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architecture.</a:t>
            </a:r>
            <a:r>
              <a:rPr dirty="0" sz="850" spc="3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all</a:t>
            </a:r>
            <a:r>
              <a:rPr dirty="0" sz="850" spc="20">
                <a:latin typeface="Calibri"/>
                <a:cs typeface="Calibri"/>
              </a:rPr>
              <a:t> these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length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through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including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chose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</a:t>
            </a:r>
            <a:r>
              <a:rPr dirty="0" sz="850" spc="20">
                <a:latin typeface="Calibri"/>
                <a:cs typeface="Calibri"/>
              </a:rPr>
              <a:t>parameters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above.</a:t>
            </a:r>
            <a:endParaRPr sz="850">
              <a:latin typeface="Calibri"/>
              <a:cs typeface="Calibri"/>
            </a:endParaRPr>
          </a:p>
          <a:p>
            <a:pPr marL="245745">
              <a:lnSpc>
                <a:spcPct val="100000"/>
              </a:lnSpc>
              <a:spcBef>
                <a:spcPts val="114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6984" y="2792361"/>
            <a:ext cx="4406265" cy="5109210"/>
          </a:xfrm>
          <a:custGeom>
            <a:avLst/>
            <a:gdLst/>
            <a:ahLst/>
            <a:cxnLst/>
            <a:rect l="l" t="t" r="r" b="b"/>
            <a:pathLst>
              <a:path w="4406265" h="5109209">
                <a:moveTo>
                  <a:pt x="2529" y="43014"/>
                </a:moveTo>
                <a:lnTo>
                  <a:pt x="2529" y="0"/>
                </a:lnTo>
              </a:path>
              <a:path w="4406265" h="5109209">
                <a:moveTo>
                  <a:pt x="0" y="2527"/>
                </a:moveTo>
                <a:lnTo>
                  <a:pt x="43016" y="2527"/>
                </a:lnTo>
              </a:path>
              <a:path w="4406265" h="5109209">
                <a:moveTo>
                  <a:pt x="43016" y="2527"/>
                </a:moveTo>
                <a:lnTo>
                  <a:pt x="4363010" y="2527"/>
                </a:lnTo>
              </a:path>
              <a:path w="4406265" h="5109209">
                <a:moveTo>
                  <a:pt x="4363010" y="2527"/>
                </a:moveTo>
                <a:lnTo>
                  <a:pt x="4406025" y="2527"/>
                </a:lnTo>
              </a:path>
              <a:path w="4406265" h="5109209">
                <a:moveTo>
                  <a:pt x="4403497" y="43014"/>
                </a:moveTo>
                <a:lnTo>
                  <a:pt x="4403497" y="0"/>
                </a:lnTo>
              </a:path>
              <a:path w="4406265" h="5109209">
                <a:moveTo>
                  <a:pt x="2529" y="158153"/>
                </a:moveTo>
                <a:lnTo>
                  <a:pt x="2529" y="43014"/>
                </a:lnTo>
              </a:path>
              <a:path w="4406265" h="5109209">
                <a:moveTo>
                  <a:pt x="4403497" y="158153"/>
                </a:moveTo>
                <a:lnTo>
                  <a:pt x="4403497" y="43014"/>
                </a:lnTo>
              </a:path>
              <a:path w="4406265" h="5109209">
                <a:moveTo>
                  <a:pt x="2529" y="273291"/>
                </a:moveTo>
                <a:lnTo>
                  <a:pt x="2529" y="158153"/>
                </a:lnTo>
              </a:path>
              <a:path w="4406265" h="5109209">
                <a:moveTo>
                  <a:pt x="4403497" y="273291"/>
                </a:moveTo>
                <a:lnTo>
                  <a:pt x="4403497" y="158153"/>
                </a:lnTo>
              </a:path>
              <a:path w="4406265" h="5109209">
                <a:moveTo>
                  <a:pt x="2529" y="388429"/>
                </a:moveTo>
                <a:lnTo>
                  <a:pt x="2529" y="273291"/>
                </a:lnTo>
              </a:path>
              <a:path w="4406265" h="5109209">
                <a:moveTo>
                  <a:pt x="4403497" y="388429"/>
                </a:moveTo>
                <a:lnTo>
                  <a:pt x="4403497" y="273291"/>
                </a:lnTo>
              </a:path>
              <a:path w="4406265" h="5109209">
                <a:moveTo>
                  <a:pt x="2529" y="503567"/>
                </a:moveTo>
                <a:lnTo>
                  <a:pt x="2529" y="388429"/>
                </a:lnTo>
              </a:path>
              <a:path w="4406265" h="5109209">
                <a:moveTo>
                  <a:pt x="4403497" y="503567"/>
                </a:moveTo>
                <a:lnTo>
                  <a:pt x="4403497" y="388429"/>
                </a:lnTo>
              </a:path>
              <a:path w="4406265" h="5109209">
                <a:moveTo>
                  <a:pt x="2529" y="618705"/>
                </a:moveTo>
                <a:lnTo>
                  <a:pt x="2529" y="503567"/>
                </a:lnTo>
              </a:path>
              <a:path w="4406265" h="5109209">
                <a:moveTo>
                  <a:pt x="4403497" y="618705"/>
                </a:moveTo>
                <a:lnTo>
                  <a:pt x="4403497" y="503567"/>
                </a:lnTo>
              </a:path>
              <a:path w="4406265" h="5109209">
                <a:moveTo>
                  <a:pt x="2529" y="733844"/>
                </a:moveTo>
                <a:lnTo>
                  <a:pt x="2529" y="618705"/>
                </a:lnTo>
              </a:path>
              <a:path w="4406265" h="5109209">
                <a:moveTo>
                  <a:pt x="4403497" y="733844"/>
                </a:moveTo>
                <a:lnTo>
                  <a:pt x="4403497" y="618705"/>
                </a:lnTo>
              </a:path>
              <a:path w="4406265" h="5109209">
                <a:moveTo>
                  <a:pt x="2529" y="848982"/>
                </a:moveTo>
                <a:lnTo>
                  <a:pt x="2529" y="733844"/>
                </a:lnTo>
              </a:path>
              <a:path w="4406265" h="5109209">
                <a:moveTo>
                  <a:pt x="4403497" y="848982"/>
                </a:moveTo>
                <a:lnTo>
                  <a:pt x="4403497" y="733844"/>
                </a:lnTo>
              </a:path>
              <a:path w="4406265" h="5109209">
                <a:moveTo>
                  <a:pt x="2529" y="964120"/>
                </a:moveTo>
                <a:lnTo>
                  <a:pt x="2529" y="848982"/>
                </a:lnTo>
              </a:path>
              <a:path w="4406265" h="5109209">
                <a:moveTo>
                  <a:pt x="4403497" y="964120"/>
                </a:moveTo>
                <a:lnTo>
                  <a:pt x="4403497" y="848982"/>
                </a:lnTo>
              </a:path>
              <a:path w="4406265" h="5109209">
                <a:moveTo>
                  <a:pt x="2529" y="1079258"/>
                </a:moveTo>
                <a:lnTo>
                  <a:pt x="2529" y="964120"/>
                </a:lnTo>
              </a:path>
              <a:path w="4406265" h="5109209">
                <a:moveTo>
                  <a:pt x="4403497" y="1079258"/>
                </a:moveTo>
                <a:lnTo>
                  <a:pt x="4403497" y="964120"/>
                </a:lnTo>
              </a:path>
              <a:path w="4406265" h="5109209">
                <a:moveTo>
                  <a:pt x="2529" y="1194396"/>
                </a:moveTo>
                <a:lnTo>
                  <a:pt x="2529" y="1079258"/>
                </a:lnTo>
              </a:path>
              <a:path w="4406265" h="5109209">
                <a:moveTo>
                  <a:pt x="4403497" y="1194396"/>
                </a:moveTo>
                <a:lnTo>
                  <a:pt x="4403497" y="1079258"/>
                </a:lnTo>
              </a:path>
              <a:path w="4406265" h="5109209">
                <a:moveTo>
                  <a:pt x="2529" y="1309535"/>
                </a:moveTo>
                <a:lnTo>
                  <a:pt x="2529" y="1194396"/>
                </a:lnTo>
              </a:path>
              <a:path w="4406265" h="5109209">
                <a:moveTo>
                  <a:pt x="4403497" y="1309535"/>
                </a:moveTo>
                <a:lnTo>
                  <a:pt x="4403497" y="1194396"/>
                </a:lnTo>
              </a:path>
              <a:path w="4406265" h="5109209">
                <a:moveTo>
                  <a:pt x="2529" y="1424673"/>
                </a:moveTo>
                <a:lnTo>
                  <a:pt x="2529" y="1309535"/>
                </a:lnTo>
              </a:path>
              <a:path w="4406265" h="5109209">
                <a:moveTo>
                  <a:pt x="4403497" y="1424673"/>
                </a:moveTo>
                <a:lnTo>
                  <a:pt x="4403497" y="1309535"/>
                </a:lnTo>
              </a:path>
              <a:path w="4406265" h="5109209">
                <a:moveTo>
                  <a:pt x="2529" y="1539811"/>
                </a:moveTo>
                <a:lnTo>
                  <a:pt x="2529" y="1424673"/>
                </a:lnTo>
              </a:path>
              <a:path w="4406265" h="5109209">
                <a:moveTo>
                  <a:pt x="4403497" y="1539811"/>
                </a:moveTo>
                <a:lnTo>
                  <a:pt x="4403497" y="1424673"/>
                </a:lnTo>
              </a:path>
              <a:path w="4406265" h="5109209">
                <a:moveTo>
                  <a:pt x="2529" y="1654949"/>
                </a:moveTo>
                <a:lnTo>
                  <a:pt x="2529" y="1539811"/>
                </a:lnTo>
              </a:path>
              <a:path w="4406265" h="5109209">
                <a:moveTo>
                  <a:pt x="4403497" y="1654949"/>
                </a:moveTo>
                <a:lnTo>
                  <a:pt x="4403497" y="1539811"/>
                </a:lnTo>
              </a:path>
              <a:path w="4406265" h="5109209">
                <a:moveTo>
                  <a:pt x="2529" y="1770087"/>
                </a:moveTo>
                <a:lnTo>
                  <a:pt x="2529" y="1654949"/>
                </a:lnTo>
              </a:path>
              <a:path w="4406265" h="5109209">
                <a:moveTo>
                  <a:pt x="4403497" y="1770087"/>
                </a:moveTo>
                <a:lnTo>
                  <a:pt x="4403497" y="1654949"/>
                </a:lnTo>
              </a:path>
              <a:path w="4406265" h="5109209">
                <a:moveTo>
                  <a:pt x="2529" y="1885226"/>
                </a:moveTo>
                <a:lnTo>
                  <a:pt x="2529" y="1770087"/>
                </a:lnTo>
              </a:path>
              <a:path w="4406265" h="5109209">
                <a:moveTo>
                  <a:pt x="4403497" y="1885226"/>
                </a:moveTo>
                <a:lnTo>
                  <a:pt x="4403497" y="1770087"/>
                </a:lnTo>
              </a:path>
              <a:path w="4406265" h="5109209">
                <a:moveTo>
                  <a:pt x="2529" y="2000364"/>
                </a:moveTo>
                <a:lnTo>
                  <a:pt x="2529" y="1885226"/>
                </a:lnTo>
              </a:path>
              <a:path w="4406265" h="5109209">
                <a:moveTo>
                  <a:pt x="4403497" y="2000364"/>
                </a:moveTo>
                <a:lnTo>
                  <a:pt x="4403497" y="1885226"/>
                </a:lnTo>
              </a:path>
              <a:path w="4406265" h="5109209">
                <a:moveTo>
                  <a:pt x="2529" y="2115502"/>
                </a:moveTo>
                <a:lnTo>
                  <a:pt x="2529" y="2000364"/>
                </a:lnTo>
              </a:path>
              <a:path w="4406265" h="5109209">
                <a:moveTo>
                  <a:pt x="4403497" y="2115502"/>
                </a:moveTo>
                <a:lnTo>
                  <a:pt x="4403497" y="2000364"/>
                </a:lnTo>
              </a:path>
              <a:path w="4406265" h="5109209">
                <a:moveTo>
                  <a:pt x="2529" y="2230640"/>
                </a:moveTo>
                <a:lnTo>
                  <a:pt x="2529" y="2115502"/>
                </a:lnTo>
              </a:path>
              <a:path w="4406265" h="5109209">
                <a:moveTo>
                  <a:pt x="4403497" y="2230640"/>
                </a:moveTo>
                <a:lnTo>
                  <a:pt x="4403497" y="2115502"/>
                </a:lnTo>
              </a:path>
              <a:path w="4406265" h="5109209">
                <a:moveTo>
                  <a:pt x="2529" y="2345778"/>
                </a:moveTo>
                <a:lnTo>
                  <a:pt x="2529" y="2230640"/>
                </a:lnTo>
              </a:path>
              <a:path w="4406265" h="5109209">
                <a:moveTo>
                  <a:pt x="4403497" y="2345778"/>
                </a:moveTo>
                <a:lnTo>
                  <a:pt x="4403497" y="2230640"/>
                </a:lnTo>
              </a:path>
              <a:path w="4406265" h="5109209">
                <a:moveTo>
                  <a:pt x="2529" y="2460917"/>
                </a:moveTo>
                <a:lnTo>
                  <a:pt x="2529" y="2345778"/>
                </a:lnTo>
              </a:path>
              <a:path w="4406265" h="5109209">
                <a:moveTo>
                  <a:pt x="4403497" y="2460917"/>
                </a:moveTo>
                <a:lnTo>
                  <a:pt x="4403497" y="2345778"/>
                </a:lnTo>
              </a:path>
              <a:path w="4406265" h="5109209">
                <a:moveTo>
                  <a:pt x="2529" y="2576055"/>
                </a:moveTo>
                <a:lnTo>
                  <a:pt x="2529" y="2460917"/>
                </a:lnTo>
              </a:path>
              <a:path w="4406265" h="5109209">
                <a:moveTo>
                  <a:pt x="4403497" y="2576055"/>
                </a:moveTo>
                <a:lnTo>
                  <a:pt x="4403497" y="2460917"/>
                </a:lnTo>
              </a:path>
              <a:path w="4406265" h="5109209">
                <a:moveTo>
                  <a:pt x="2529" y="2691193"/>
                </a:moveTo>
                <a:lnTo>
                  <a:pt x="2529" y="2576055"/>
                </a:lnTo>
              </a:path>
              <a:path w="4406265" h="5109209">
                <a:moveTo>
                  <a:pt x="4403497" y="2691193"/>
                </a:moveTo>
                <a:lnTo>
                  <a:pt x="4403497" y="2576055"/>
                </a:lnTo>
              </a:path>
              <a:path w="4406265" h="5109209">
                <a:moveTo>
                  <a:pt x="2529" y="2806331"/>
                </a:moveTo>
                <a:lnTo>
                  <a:pt x="2529" y="2691193"/>
                </a:lnTo>
              </a:path>
              <a:path w="4406265" h="5109209">
                <a:moveTo>
                  <a:pt x="4403497" y="2806331"/>
                </a:moveTo>
                <a:lnTo>
                  <a:pt x="4403497" y="2691193"/>
                </a:lnTo>
              </a:path>
              <a:path w="4406265" h="5109209">
                <a:moveTo>
                  <a:pt x="2529" y="2921469"/>
                </a:moveTo>
                <a:lnTo>
                  <a:pt x="2529" y="2806331"/>
                </a:lnTo>
              </a:path>
              <a:path w="4406265" h="5109209">
                <a:moveTo>
                  <a:pt x="4403497" y="2921469"/>
                </a:moveTo>
                <a:lnTo>
                  <a:pt x="4403497" y="2806331"/>
                </a:lnTo>
              </a:path>
              <a:path w="4406265" h="5109209">
                <a:moveTo>
                  <a:pt x="2529" y="3036608"/>
                </a:moveTo>
                <a:lnTo>
                  <a:pt x="2529" y="2921469"/>
                </a:lnTo>
              </a:path>
              <a:path w="4406265" h="5109209">
                <a:moveTo>
                  <a:pt x="4403497" y="3036608"/>
                </a:moveTo>
                <a:lnTo>
                  <a:pt x="4403497" y="2921469"/>
                </a:lnTo>
              </a:path>
              <a:path w="4406265" h="5109209">
                <a:moveTo>
                  <a:pt x="2529" y="3151746"/>
                </a:moveTo>
                <a:lnTo>
                  <a:pt x="2529" y="3036608"/>
                </a:lnTo>
              </a:path>
              <a:path w="4406265" h="5109209">
                <a:moveTo>
                  <a:pt x="4403497" y="3151746"/>
                </a:moveTo>
                <a:lnTo>
                  <a:pt x="4403497" y="3036608"/>
                </a:lnTo>
              </a:path>
              <a:path w="4406265" h="5109209">
                <a:moveTo>
                  <a:pt x="2529" y="3266884"/>
                </a:moveTo>
                <a:lnTo>
                  <a:pt x="2529" y="3151746"/>
                </a:lnTo>
              </a:path>
              <a:path w="4406265" h="5109209">
                <a:moveTo>
                  <a:pt x="4403497" y="3266884"/>
                </a:moveTo>
                <a:lnTo>
                  <a:pt x="4403497" y="3151746"/>
                </a:lnTo>
              </a:path>
              <a:path w="4406265" h="5109209">
                <a:moveTo>
                  <a:pt x="2529" y="3382022"/>
                </a:moveTo>
                <a:lnTo>
                  <a:pt x="2529" y="3266884"/>
                </a:lnTo>
              </a:path>
              <a:path w="4406265" h="5109209">
                <a:moveTo>
                  <a:pt x="4403497" y="3382022"/>
                </a:moveTo>
                <a:lnTo>
                  <a:pt x="4403497" y="3266884"/>
                </a:lnTo>
              </a:path>
              <a:path w="4406265" h="5109209">
                <a:moveTo>
                  <a:pt x="2529" y="3497160"/>
                </a:moveTo>
                <a:lnTo>
                  <a:pt x="2529" y="3382022"/>
                </a:lnTo>
              </a:path>
              <a:path w="4406265" h="5109209">
                <a:moveTo>
                  <a:pt x="4403497" y="3497160"/>
                </a:moveTo>
                <a:lnTo>
                  <a:pt x="4403497" y="3382022"/>
                </a:lnTo>
              </a:path>
              <a:path w="4406265" h="5109209">
                <a:moveTo>
                  <a:pt x="2529" y="3612299"/>
                </a:moveTo>
                <a:lnTo>
                  <a:pt x="2529" y="3497160"/>
                </a:lnTo>
              </a:path>
              <a:path w="4406265" h="5109209">
                <a:moveTo>
                  <a:pt x="4403497" y="3612299"/>
                </a:moveTo>
                <a:lnTo>
                  <a:pt x="4403497" y="3497160"/>
                </a:lnTo>
              </a:path>
              <a:path w="4406265" h="5109209">
                <a:moveTo>
                  <a:pt x="2529" y="3727437"/>
                </a:moveTo>
                <a:lnTo>
                  <a:pt x="2529" y="3612299"/>
                </a:lnTo>
              </a:path>
              <a:path w="4406265" h="5109209">
                <a:moveTo>
                  <a:pt x="4403497" y="3727437"/>
                </a:moveTo>
                <a:lnTo>
                  <a:pt x="4403497" y="3612299"/>
                </a:lnTo>
              </a:path>
              <a:path w="4406265" h="5109209">
                <a:moveTo>
                  <a:pt x="2529" y="3842575"/>
                </a:moveTo>
                <a:lnTo>
                  <a:pt x="2529" y="3727437"/>
                </a:lnTo>
              </a:path>
              <a:path w="4406265" h="5109209">
                <a:moveTo>
                  <a:pt x="4403497" y="3842575"/>
                </a:moveTo>
                <a:lnTo>
                  <a:pt x="4403497" y="3727437"/>
                </a:lnTo>
              </a:path>
              <a:path w="4406265" h="5109209">
                <a:moveTo>
                  <a:pt x="2529" y="3957713"/>
                </a:moveTo>
                <a:lnTo>
                  <a:pt x="2529" y="3842575"/>
                </a:lnTo>
              </a:path>
              <a:path w="4406265" h="5109209">
                <a:moveTo>
                  <a:pt x="4403497" y="3957713"/>
                </a:moveTo>
                <a:lnTo>
                  <a:pt x="4403497" y="3842575"/>
                </a:lnTo>
              </a:path>
              <a:path w="4406265" h="5109209">
                <a:moveTo>
                  <a:pt x="2529" y="4072851"/>
                </a:moveTo>
                <a:lnTo>
                  <a:pt x="2529" y="3957713"/>
                </a:lnTo>
              </a:path>
              <a:path w="4406265" h="5109209">
                <a:moveTo>
                  <a:pt x="4403497" y="4072851"/>
                </a:moveTo>
                <a:lnTo>
                  <a:pt x="4403497" y="3957713"/>
                </a:lnTo>
              </a:path>
              <a:path w="4406265" h="5109209">
                <a:moveTo>
                  <a:pt x="2529" y="4187990"/>
                </a:moveTo>
                <a:lnTo>
                  <a:pt x="2529" y="4072851"/>
                </a:lnTo>
              </a:path>
              <a:path w="4406265" h="5109209">
                <a:moveTo>
                  <a:pt x="4403497" y="4187990"/>
                </a:moveTo>
                <a:lnTo>
                  <a:pt x="4403497" y="4072851"/>
                </a:lnTo>
              </a:path>
              <a:path w="4406265" h="5109209">
                <a:moveTo>
                  <a:pt x="2529" y="4303128"/>
                </a:moveTo>
                <a:lnTo>
                  <a:pt x="2529" y="4187990"/>
                </a:lnTo>
              </a:path>
              <a:path w="4406265" h="5109209">
                <a:moveTo>
                  <a:pt x="4403497" y="4303128"/>
                </a:moveTo>
                <a:lnTo>
                  <a:pt x="4403497" y="4187990"/>
                </a:lnTo>
              </a:path>
              <a:path w="4406265" h="5109209">
                <a:moveTo>
                  <a:pt x="2529" y="4418279"/>
                </a:moveTo>
                <a:lnTo>
                  <a:pt x="2529" y="4303141"/>
                </a:lnTo>
              </a:path>
              <a:path w="4406265" h="5109209">
                <a:moveTo>
                  <a:pt x="4403497" y="4418279"/>
                </a:moveTo>
                <a:lnTo>
                  <a:pt x="4403497" y="4303141"/>
                </a:lnTo>
              </a:path>
              <a:path w="4406265" h="5109209">
                <a:moveTo>
                  <a:pt x="2529" y="4533417"/>
                </a:moveTo>
                <a:lnTo>
                  <a:pt x="2529" y="4418279"/>
                </a:lnTo>
              </a:path>
              <a:path w="4406265" h="5109209">
                <a:moveTo>
                  <a:pt x="4403497" y="4533417"/>
                </a:moveTo>
                <a:lnTo>
                  <a:pt x="4403497" y="4418279"/>
                </a:lnTo>
              </a:path>
              <a:path w="4406265" h="5109209">
                <a:moveTo>
                  <a:pt x="2529" y="4648554"/>
                </a:moveTo>
                <a:lnTo>
                  <a:pt x="2529" y="4533417"/>
                </a:lnTo>
              </a:path>
              <a:path w="4406265" h="5109209">
                <a:moveTo>
                  <a:pt x="4403497" y="4648554"/>
                </a:moveTo>
                <a:lnTo>
                  <a:pt x="4403497" y="4533417"/>
                </a:lnTo>
              </a:path>
              <a:path w="4406265" h="5109209">
                <a:moveTo>
                  <a:pt x="2529" y="4763692"/>
                </a:moveTo>
                <a:lnTo>
                  <a:pt x="2529" y="4648554"/>
                </a:lnTo>
              </a:path>
              <a:path w="4406265" h="5109209">
                <a:moveTo>
                  <a:pt x="4403497" y="4763692"/>
                </a:moveTo>
                <a:lnTo>
                  <a:pt x="4403497" y="4648554"/>
                </a:lnTo>
              </a:path>
              <a:path w="4406265" h="5109209">
                <a:moveTo>
                  <a:pt x="2529" y="4878830"/>
                </a:moveTo>
                <a:lnTo>
                  <a:pt x="2529" y="4763692"/>
                </a:lnTo>
              </a:path>
              <a:path w="4406265" h="5109209">
                <a:moveTo>
                  <a:pt x="4403497" y="4878830"/>
                </a:moveTo>
                <a:lnTo>
                  <a:pt x="4403497" y="4763692"/>
                </a:lnTo>
              </a:path>
              <a:path w="4406265" h="5109209">
                <a:moveTo>
                  <a:pt x="2529" y="4993970"/>
                </a:moveTo>
                <a:lnTo>
                  <a:pt x="2529" y="4878830"/>
                </a:lnTo>
              </a:path>
              <a:path w="4406265" h="5109209">
                <a:moveTo>
                  <a:pt x="4403497" y="4993970"/>
                </a:moveTo>
                <a:lnTo>
                  <a:pt x="4403497" y="4878830"/>
                </a:lnTo>
              </a:path>
              <a:path w="4406265" h="5109209">
                <a:moveTo>
                  <a:pt x="2529" y="5109108"/>
                </a:moveTo>
                <a:lnTo>
                  <a:pt x="2529" y="4993970"/>
                </a:lnTo>
              </a:path>
              <a:path w="4406265" h="5109209">
                <a:moveTo>
                  <a:pt x="4403497" y="5109108"/>
                </a:moveTo>
                <a:lnTo>
                  <a:pt x="4403497" y="499397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2042" y="1528037"/>
            <a:ext cx="4398645" cy="6369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53695" marR="32384" indent="-118745">
              <a:lnSpc>
                <a:spcPct val="114300"/>
              </a:lnSpc>
              <a:spcBef>
                <a:spcPts val="95"/>
              </a:spcBef>
              <a:buFont typeface="Cambria"/>
              <a:buChar char="•"/>
              <a:tabLst>
                <a:tab pos="353695" algn="l"/>
              </a:tabLst>
            </a:pP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creating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hidden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784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respectively.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stochastic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achieve?</a:t>
            </a:r>
            <a:endParaRPr sz="850">
              <a:latin typeface="Calibri"/>
              <a:cs typeface="Calibri"/>
            </a:endParaRPr>
          </a:p>
          <a:p>
            <a:pPr algn="just" marL="37465" marR="508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Earlier,</a:t>
            </a:r>
            <a:r>
              <a:rPr dirty="0" sz="850" spc="55">
                <a:latin typeface="Calibri"/>
                <a:cs typeface="Calibri"/>
              </a:rPr>
              <a:t> I </a:t>
            </a:r>
            <a:r>
              <a:rPr dirty="0" sz="850">
                <a:latin typeface="Calibri"/>
                <a:cs typeface="Calibri"/>
              </a:rPr>
              <a:t>skipped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loaded.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straightforward.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completeness,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documentation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strings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straightforward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stuff,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tuples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Numpy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ndarray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objects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(think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familiar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ndarrays):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35"/>
              </a:spcBef>
            </a:pPr>
            <a:endParaRPr sz="85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65"/>
              </a:spcBef>
            </a:pP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mnist_loader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70"/>
              </a:spcBef>
            </a:pPr>
            <a:r>
              <a:rPr dirty="0" sz="700" spc="45" i="1">
                <a:solidFill>
                  <a:srgbClr val="980000"/>
                </a:solidFill>
                <a:latin typeface="Calibri"/>
                <a:cs typeface="Calibri"/>
              </a:rPr>
              <a:t>~~~~~~~~~~~~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marL="42545" marR="690245" indent="-1905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library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load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MNIST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image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data.</a:t>
            </a:r>
            <a:r>
              <a:rPr dirty="0" sz="700" spc="32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details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0" i="1">
                <a:solidFill>
                  <a:srgbClr val="980000"/>
                </a:solidFill>
                <a:latin typeface="Calibri"/>
                <a:cs typeface="Calibri"/>
              </a:rPr>
              <a:t>data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structures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returned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see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doc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strings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‘‘load_data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‘‘load_data_wrapper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20" i="1">
                <a:solidFill>
                  <a:srgbClr val="980000"/>
                </a:solidFill>
                <a:latin typeface="Calibri"/>
                <a:cs typeface="Calibri"/>
              </a:rPr>
              <a:t>‘‘.</a:t>
            </a:r>
            <a:r>
              <a:rPr dirty="0" sz="700" spc="32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practice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‘‘load_data_wrapper‘‘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function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usually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called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our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code.</a:t>
            </a:r>
            <a:endParaRPr sz="70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  <a:spcBef>
                <a:spcPts val="6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40640">
              <a:lnSpc>
                <a:spcPct val="1000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Libraries</a:t>
            </a:r>
            <a:endParaRPr sz="700">
              <a:latin typeface="Calibri"/>
              <a:cs typeface="Calibri"/>
            </a:endParaRPr>
          </a:p>
          <a:p>
            <a:pPr marL="43180" marR="3401695" indent="-2540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Standard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library </a:t>
            </a:r>
            <a:r>
              <a:rPr dirty="0" sz="700" spc="75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cPickle </a:t>
            </a:r>
            <a:r>
              <a:rPr dirty="0" sz="700" spc="75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gzip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40640">
              <a:lnSpc>
                <a:spcPct val="1000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Third</a:t>
            </a:r>
            <a:r>
              <a:rPr dirty="0" sz="700" spc="-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-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party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libraries</a:t>
            </a: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65"/>
              </a:spcBef>
            </a:pPr>
            <a:r>
              <a:rPr dirty="0" sz="700" spc="75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numpy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as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np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load_data():</a:t>
            </a:r>
            <a:endParaRPr sz="700">
              <a:latin typeface="Calibri"/>
              <a:cs typeface="Calibri"/>
            </a:endParaRPr>
          </a:p>
          <a:p>
            <a:pPr marL="296545" marR="584200" indent="-14795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MNIST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as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tuple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data,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validation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data,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test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data.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marL="296545" marR="106680" indent="-147955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‘‘training_data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returned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as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tuple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two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entries.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first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entry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actual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images.</a:t>
            </a:r>
            <a:r>
              <a:rPr dirty="0" sz="700" spc="31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This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endParaRPr sz="700">
              <a:latin typeface="Calibri"/>
              <a:cs typeface="Calibri"/>
            </a:endParaRPr>
          </a:p>
          <a:p>
            <a:pPr marL="295910" marR="266065" indent="-146685">
              <a:lnSpc>
                <a:spcPct val="107900"/>
              </a:lnSpc>
              <a:spcBef>
                <a:spcPts val="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numpy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ndarray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50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,000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entries.</a:t>
            </a:r>
            <a:r>
              <a:rPr dirty="0" sz="700" spc="32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Each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entry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is,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turn,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numpy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ndarray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784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values,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representing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28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*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28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=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784</a:t>
            </a:r>
            <a:endParaRPr sz="700">
              <a:latin typeface="Calibri"/>
              <a:cs typeface="Calibri"/>
            </a:endParaRPr>
          </a:p>
          <a:p>
            <a:pPr marL="149860">
              <a:lnSpc>
                <a:spcPct val="100000"/>
              </a:lnSpc>
              <a:spcBef>
                <a:spcPts val="65"/>
              </a:spcBef>
            </a:pP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pixels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single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MNIST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image.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marL="295910" marR="106680" indent="-147320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second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entry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‘‘training_data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tuple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numpy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ndarray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containing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50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,000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entries.</a:t>
            </a:r>
            <a:r>
              <a:rPr dirty="0" sz="700" spc="31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Those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entries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just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digit</a:t>
            </a:r>
            <a:endParaRPr sz="700">
              <a:latin typeface="Calibri"/>
              <a:cs typeface="Calibri"/>
            </a:endParaRPr>
          </a:p>
          <a:p>
            <a:pPr marL="295910" marR="211454" indent="-146685">
              <a:lnSpc>
                <a:spcPct val="107900"/>
              </a:lnSpc>
            </a:pP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values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(0...9)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corresponding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images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contained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first</a:t>
            </a:r>
            <a:r>
              <a:rPr dirty="0" sz="700" spc="32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entry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of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tuple.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295910" marR="160020" indent="-147320">
              <a:lnSpc>
                <a:spcPct val="107900"/>
              </a:lnSpc>
              <a:tabLst>
                <a:tab pos="3550285" algn="l"/>
              </a:tabLst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‘‘validation_data</a:t>
            </a:r>
            <a:r>
              <a:rPr dirty="0" sz="700" spc="-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‘‘test_data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similar,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except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	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each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contains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only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10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,000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images.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marL="296545" marR="318135" indent="-14732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This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nice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format,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but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networks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it’s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helpful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5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 modify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format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‘‘training_data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little.</a:t>
            </a:r>
            <a:endParaRPr sz="700">
              <a:latin typeface="Calibri"/>
              <a:cs typeface="Calibri"/>
            </a:endParaRPr>
          </a:p>
          <a:p>
            <a:pPr marL="148590" marR="47625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That’s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done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wrapper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function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‘‘load_data_wrapper()‘‘,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see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below.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147320">
              <a:lnSpc>
                <a:spcPct val="100000"/>
              </a:lnSpc>
              <a:spcBef>
                <a:spcPts val="70"/>
              </a:spcBef>
            </a:pPr>
            <a:r>
              <a:rPr dirty="0" sz="700" spc="150">
                <a:latin typeface="Calibri"/>
                <a:cs typeface="Calibri"/>
              </a:rPr>
              <a:t>f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gzip.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open</a:t>
            </a:r>
            <a:r>
              <a:rPr dirty="0" sz="700" spc="140">
                <a:latin typeface="Calibri"/>
                <a:cs typeface="Calibri"/>
              </a:rPr>
              <a:t>(</a:t>
            </a:r>
            <a:r>
              <a:rPr dirty="0" sz="700" spc="140">
                <a:solidFill>
                  <a:srgbClr val="007F00"/>
                </a:solidFill>
                <a:latin typeface="Calibri"/>
                <a:cs typeface="Calibri"/>
              </a:rPr>
              <a:t>’../</a:t>
            </a:r>
            <a:r>
              <a:rPr dirty="0" sz="700" spc="-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7F00"/>
                </a:solidFill>
                <a:latin typeface="Calibri"/>
                <a:cs typeface="Calibri"/>
              </a:rPr>
              <a:t>data/mnist.pkl.gz’</a:t>
            </a:r>
            <a:r>
              <a:rPr dirty="0" sz="700" spc="13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45">
                <a:solidFill>
                  <a:srgbClr val="007F00"/>
                </a:solidFill>
                <a:latin typeface="Calibri"/>
                <a:cs typeface="Calibri"/>
              </a:rPr>
              <a:t>’rb’</a:t>
            </a:r>
            <a:r>
              <a:rPr dirty="0" sz="700" spc="145">
                <a:latin typeface="Calibri"/>
                <a:cs typeface="Calibri"/>
              </a:rPr>
              <a:t>)</a:t>
            </a:r>
            <a:endParaRPr sz="700">
              <a:latin typeface="Calibri"/>
              <a:cs typeface="Calibri"/>
            </a:endParaRPr>
          </a:p>
          <a:p>
            <a:pPr marL="147320" marR="1113790" indent="1905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cPickle.load(f) </a:t>
            </a:r>
            <a:r>
              <a:rPr dirty="0" sz="700" spc="140">
                <a:latin typeface="Calibri"/>
                <a:cs typeface="Calibri"/>
              </a:rPr>
              <a:t>f.close()</a:t>
            </a:r>
            <a:endParaRPr sz="700">
              <a:latin typeface="Calibri"/>
              <a:cs typeface="Calibri"/>
            </a:endParaRPr>
          </a:p>
          <a:p>
            <a:pPr marL="149860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(training_data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79514" y="7901470"/>
            <a:ext cx="4401185" cy="115570"/>
          </a:xfrm>
          <a:custGeom>
            <a:avLst/>
            <a:gdLst/>
            <a:ahLst/>
            <a:cxnLst/>
            <a:rect l="l" t="t" r="r" b="b"/>
            <a:pathLst>
              <a:path w="4401185" h="115570">
                <a:moveTo>
                  <a:pt x="0" y="115138"/>
                </a:moveTo>
                <a:lnTo>
                  <a:pt x="0" y="0"/>
                </a:lnTo>
              </a:path>
              <a:path w="4401185" h="115570">
                <a:moveTo>
                  <a:pt x="4400967" y="115138"/>
                </a:moveTo>
                <a:lnTo>
                  <a:pt x="4400967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7" name="object 7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83699" y="368721"/>
            <a:ext cx="263652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501265" algn="l"/>
              </a:tabLst>
            </a:pPr>
            <a:r>
              <a:rPr dirty="0" sz="850" spc="20">
                <a:latin typeface="Calibri"/>
                <a:cs typeface="Calibri"/>
              </a:rPr>
              <a:t>1.6.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33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9510" y="971994"/>
            <a:ext cx="4401185" cy="461009"/>
          </a:xfrm>
          <a:custGeom>
            <a:avLst/>
            <a:gdLst/>
            <a:ahLst/>
            <a:cxnLst/>
            <a:rect l="l" t="t" r="r" b="b"/>
            <a:pathLst>
              <a:path w="4401185" h="461009">
                <a:moveTo>
                  <a:pt x="0" y="115138"/>
                </a:moveTo>
                <a:lnTo>
                  <a:pt x="0" y="0"/>
                </a:lnTo>
              </a:path>
              <a:path w="4401185" h="461009">
                <a:moveTo>
                  <a:pt x="4400979" y="115138"/>
                </a:moveTo>
                <a:lnTo>
                  <a:pt x="4400979" y="0"/>
                </a:lnTo>
              </a:path>
              <a:path w="4401185" h="461009">
                <a:moveTo>
                  <a:pt x="0" y="230276"/>
                </a:moveTo>
                <a:lnTo>
                  <a:pt x="0" y="115138"/>
                </a:lnTo>
              </a:path>
              <a:path w="4401185" h="461009">
                <a:moveTo>
                  <a:pt x="4400979" y="230276"/>
                </a:moveTo>
                <a:lnTo>
                  <a:pt x="4400979" y="115138"/>
                </a:lnTo>
              </a:path>
              <a:path w="4401185" h="461009">
                <a:moveTo>
                  <a:pt x="0" y="345414"/>
                </a:moveTo>
                <a:lnTo>
                  <a:pt x="0" y="230276"/>
                </a:lnTo>
              </a:path>
              <a:path w="4401185" h="461009">
                <a:moveTo>
                  <a:pt x="4400979" y="345414"/>
                </a:moveTo>
                <a:lnTo>
                  <a:pt x="4400979" y="230276"/>
                </a:lnTo>
              </a:path>
              <a:path w="4401185" h="461009">
                <a:moveTo>
                  <a:pt x="0" y="460552"/>
                </a:moveTo>
                <a:lnTo>
                  <a:pt x="0" y="345414"/>
                </a:lnTo>
              </a:path>
              <a:path w="4401185" h="461009">
                <a:moveTo>
                  <a:pt x="4400979" y="460552"/>
                </a:moveTo>
                <a:lnTo>
                  <a:pt x="4400979" y="345414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72286" y="942463"/>
            <a:ext cx="3471545" cy="486409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load_data_wrapper():</a:t>
            </a:r>
            <a:endParaRPr sz="700">
              <a:latin typeface="Calibri"/>
              <a:cs typeface="Calibri"/>
            </a:endParaRPr>
          </a:p>
          <a:p>
            <a:pPr marL="119380" marR="5080" indent="-127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tuple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containing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‘‘(training_data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validation_data</a:t>
            </a:r>
            <a:r>
              <a:rPr dirty="0" sz="700" spc="-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, test_data)‘‘.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Based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‘‘load_data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20" i="1">
                <a:solidFill>
                  <a:srgbClr val="980000"/>
                </a:solidFill>
                <a:latin typeface="Calibri"/>
                <a:cs typeface="Calibri"/>
              </a:rPr>
              <a:t>‘‘,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but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format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0" i="1">
                <a:solidFill>
                  <a:srgbClr val="980000"/>
                </a:solidFill>
                <a:latin typeface="Calibri"/>
                <a:cs typeface="Calibri"/>
              </a:rPr>
              <a:t>more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 convenient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our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implementation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networks.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036980" y="1432547"/>
            <a:ext cx="4406265" cy="3957954"/>
          </a:xfrm>
          <a:custGeom>
            <a:avLst/>
            <a:gdLst/>
            <a:ahLst/>
            <a:cxnLst/>
            <a:rect l="l" t="t" r="r" b="b"/>
            <a:pathLst>
              <a:path w="4406265" h="3957954">
                <a:moveTo>
                  <a:pt x="2529" y="115138"/>
                </a:moveTo>
                <a:lnTo>
                  <a:pt x="2529" y="0"/>
                </a:lnTo>
              </a:path>
              <a:path w="4406265" h="3957954">
                <a:moveTo>
                  <a:pt x="4403509" y="115138"/>
                </a:moveTo>
                <a:lnTo>
                  <a:pt x="4403509" y="0"/>
                </a:lnTo>
              </a:path>
              <a:path w="4406265" h="3957954">
                <a:moveTo>
                  <a:pt x="2529" y="230276"/>
                </a:moveTo>
                <a:lnTo>
                  <a:pt x="2529" y="115138"/>
                </a:lnTo>
              </a:path>
              <a:path w="4406265" h="3957954">
                <a:moveTo>
                  <a:pt x="4403509" y="230276"/>
                </a:moveTo>
                <a:lnTo>
                  <a:pt x="4403509" y="115138"/>
                </a:lnTo>
              </a:path>
              <a:path w="4406265" h="3957954">
                <a:moveTo>
                  <a:pt x="2529" y="345414"/>
                </a:moveTo>
                <a:lnTo>
                  <a:pt x="2529" y="230276"/>
                </a:lnTo>
              </a:path>
              <a:path w="4406265" h="3957954">
                <a:moveTo>
                  <a:pt x="4403509" y="345414"/>
                </a:moveTo>
                <a:lnTo>
                  <a:pt x="4403509" y="230276"/>
                </a:lnTo>
              </a:path>
              <a:path w="4406265" h="3957954">
                <a:moveTo>
                  <a:pt x="2529" y="460552"/>
                </a:moveTo>
                <a:lnTo>
                  <a:pt x="2529" y="345414"/>
                </a:lnTo>
              </a:path>
              <a:path w="4406265" h="3957954">
                <a:moveTo>
                  <a:pt x="4403509" y="460552"/>
                </a:moveTo>
                <a:lnTo>
                  <a:pt x="4403509" y="345414"/>
                </a:lnTo>
              </a:path>
              <a:path w="4406265" h="3957954">
                <a:moveTo>
                  <a:pt x="2529" y="575691"/>
                </a:moveTo>
                <a:lnTo>
                  <a:pt x="2529" y="460552"/>
                </a:lnTo>
              </a:path>
              <a:path w="4406265" h="3957954">
                <a:moveTo>
                  <a:pt x="4403509" y="575691"/>
                </a:moveTo>
                <a:lnTo>
                  <a:pt x="4403509" y="460552"/>
                </a:lnTo>
              </a:path>
              <a:path w="4406265" h="3957954">
                <a:moveTo>
                  <a:pt x="2529" y="690829"/>
                </a:moveTo>
                <a:lnTo>
                  <a:pt x="2529" y="575691"/>
                </a:lnTo>
              </a:path>
              <a:path w="4406265" h="3957954">
                <a:moveTo>
                  <a:pt x="4403509" y="690829"/>
                </a:moveTo>
                <a:lnTo>
                  <a:pt x="4403509" y="575691"/>
                </a:lnTo>
              </a:path>
              <a:path w="4406265" h="3957954">
                <a:moveTo>
                  <a:pt x="2529" y="805967"/>
                </a:moveTo>
                <a:lnTo>
                  <a:pt x="2529" y="690829"/>
                </a:lnTo>
              </a:path>
              <a:path w="4406265" h="3957954">
                <a:moveTo>
                  <a:pt x="4403509" y="805967"/>
                </a:moveTo>
                <a:lnTo>
                  <a:pt x="4403509" y="690829"/>
                </a:lnTo>
              </a:path>
              <a:path w="4406265" h="3957954">
                <a:moveTo>
                  <a:pt x="2529" y="921105"/>
                </a:moveTo>
                <a:lnTo>
                  <a:pt x="2529" y="805967"/>
                </a:lnTo>
              </a:path>
              <a:path w="4406265" h="3957954">
                <a:moveTo>
                  <a:pt x="4403509" y="921105"/>
                </a:moveTo>
                <a:lnTo>
                  <a:pt x="4403509" y="805967"/>
                </a:lnTo>
              </a:path>
              <a:path w="4406265" h="3957954">
                <a:moveTo>
                  <a:pt x="2529" y="1036243"/>
                </a:moveTo>
                <a:lnTo>
                  <a:pt x="2529" y="921105"/>
                </a:lnTo>
              </a:path>
              <a:path w="4406265" h="3957954">
                <a:moveTo>
                  <a:pt x="4403509" y="1036243"/>
                </a:moveTo>
                <a:lnTo>
                  <a:pt x="4403509" y="921105"/>
                </a:lnTo>
              </a:path>
              <a:path w="4406265" h="3957954">
                <a:moveTo>
                  <a:pt x="2529" y="1151382"/>
                </a:moveTo>
                <a:lnTo>
                  <a:pt x="2529" y="1036243"/>
                </a:lnTo>
              </a:path>
              <a:path w="4406265" h="3957954">
                <a:moveTo>
                  <a:pt x="4403509" y="1151382"/>
                </a:moveTo>
                <a:lnTo>
                  <a:pt x="4403509" y="1036243"/>
                </a:lnTo>
              </a:path>
              <a:path w="4406265" h="3957954">
                <a:moveTo>
                  <a:pt x="2529" y="1266520"/>
                </a:moveTo>
                <a:lnTo>
                  <a:pt x="2529" y="1151382"/>
                </a:lnTo>
              </a:path>
              <a:path w="4406265" h="3957954">
                <a:moveTo>
                  <a:pt x="4403509" y="1266520"/>
                </a:moveTo>
                <a:lnTo>
                  <a:pt x="4403509" y="1151382"/>
                </a:lnTo>
              </a:path>
              <a:path w="4406265" h="3957954">
                <a:moveTo>
                  <a:pt x="2529" y="1381658"/>
                </a:moveTo>
                <a:lnTo>
                  <a:pt x="2529" y="1266520"/>
                </a:lnTo>
              </a:path>
              <a:path w="4406265" h="3957954">
                <a:moveTo>
                  <a:pt x="4403509" y="1381658"/>
                </a:moveTo>
                <a:lnTo>
                  <a:pt x="4403509" y="1266520"/>
                </a:lnTo>
              </a:path>
              <a:path w="4406265" h="3957954">
                <a:moveTo>
                  <a:pt x="2529" y="1496796"/>
                </a:moveTo>
                <a:lnTo>
                  <a:pt x="2529" y="1381658"/>
                </a:lnTo>
              </a:path>
              <a:path w="4406265" h="3957954">
                <a:moveTo>
                  <a:pt x="4403509" y="1496796"/>
                </a:moveTo>
                <a:lnTo>
                  <a:pt x="4403509" y="1381658"/>
                </a:lnTo>
              </a:path>
              <a:path w="4406265" h="3957954">
                <a:moveTo>
                  <a:pt x="2529" y="1611934"/>
                </a:moveTo>
                <a:lnTo>
                  <a:pt x="2529" y="1496796"/>
                </a:lnTo>
              </a:path>
              <a:path w="4406265" h="3957954">
                <a:moveTo>
                  <a:pt x="4403509" y="1611934"/>
                </a:moveTo>
                <a:lnTo>
                  <a:pt x="4403509" y="1496796"/>
                </a:lnTo>
              </a:path>
              <a:path w="4406265" h="3957954">
                <a:moveTo>
                  <a:pt x="2529" y="1727073"/>
                </a:moveTo>
                <a:lnTo>
                  <a:pt x="2529" y="1611934"/>
                </a:lnTo>
              </a:path>
              <a:path w="4406265" h="3957954">
                <a:moveTo>
                  <a:pt x="4403509" y="1727073"/>
                </a:moveTo>
                <a:lnTo>
                  <a:pt x="4403509" y="1611934"/>
                </a:lnTo>
              </a:path>
              <a:path w="4406265" h="3957954">
                <a:moveTo>
                  <a:pt x="2529" y="1842211"/>
                </a:moveTo>
                <a:lnTo>
                  <a:pt x="2529" y="1727073"/>
                </a:lnTo>
              </a:path>
              <a:path w="4406265" h="3957954">
                <a:moveTo>
                  <a:pt x="4403509" y="1842211"/>
                </a:moveTo>
                <a:lnTo>
                  <a:pt x="4403509" y="1727073"/>
                </a:lnTo>
              </a:path>
              <a:path w="4406265" h="3957954">
                <a:moveTo>
                  <a:pt x="2529" y="1957349"/>
                </a:moveTo>
                <a:lnTo>
                  <a:pt x="2529" y="1842211"/>
                </a:lnTo>
              </a:path>
              <a:path w="4406265" h="3957954">
                <a:moveTo>
                  <a:pt x="4403509" y="1957349"/>
                </a:moveTo>
                <a:lnTo>
                  <a:pt x="4403509" y="1842211"/>
                </a:lnTo>
              </a:path>
              <a:path w="4406265" h="3957954">
                <a:moveTo>
                  <a:pt x="2529" y="2072487"/>
                </a:moveTo>
                <a:lnTo>
                  <a:pt x="2529" y="1957349"/>
                </a:lnTo>
              </a:path>
              <a:path w="4406265" h="3957954">
                <a:moveTo>
                  <a:pt x="4403509" y="2072487"/>
                </a:moveTo>
                <a:lnTo>
                  <a:pt x="4403509" y="1957349"/>
                </a:lnTo>
              </a:path>
              <a:path w="4406265" h="3957954">
                <a:moveTo>
                  <a:pt x="2529" y="2187625"/>
                </a:moveTo>
                <a:lnTo>
                  <a:pt x="2529" y="2072487"/>
                </a:lnTo>
              </a:path>
              <a:path w="4406265" h="3957954">
                <a:moveTo>
                  <a:pt x="4403509" y="2187625"/>
                </a:moveTo>
                <a:lnTo>
                  <a:pt x="4403509" y="2072487"/>
                </a:lnTo>
              </a:path>
              <a:path w="4406265" h="3957954">
                <a:moveTo>
                  <a:pt x="2529" y="2302764"/>
                </a:moveTo>
                <a:lnTo>
                  <a:pt x="2529" y="2187625"/>
                </a:lnTo>
              </a:path>
              <a:path w="4406265" h="3957954">
                <a:moveTo>
                  <a:pt x="4403509" y="2302764"/>
                </a:moveTo>
                <a:lnTo>
                  <a:pt x="4403509" y="2187625"/>
                </a:lnTo>
              </a:path>
              <a:path w="4406265" h="3957954">
                <a:moveTo>
                  <a:pt x="2529" y="2417902"/>
                </a:moveTo>
                <a:lnTo>
                  <a:pt x="2529" y="2302764"/>
                </a:lnTo>
              </a:path>
              <a:path w="4406265" h="3957954">
                <a:moveTo>
                  <a:pt x="4403509" y="2417902"/>
                </a:moveTo>
                <a:lnTo>
                  <a:pt x="4403509" y="2302764"/>
                </a:lnTo>
              </a:path>
              <a:path w="4406265" h="3957954">
                <a:moveTo>
                  <a:pt x="2529" y="2533040"/>
                </a:moveTo>
                <a:lnTo>
                  <a:pt x="2529" y="2417902"/>
                </a:lnTo>
              </a:path>
              <a:path w="4406265" h="3957954">
                <a:moveTo>
                  <a:pt x="4403509" y="2533040"/>
                </a:moveTo>
                <a:lnTo>
                  <a:pt x="4403509" y="2417902"/>
                </a:lnTo>
              </a:path>
              <a:path w="4406265" h="3957954">
                <a:moveTo>
                  <a:pt x="2529" y="2648178"/>
                </a:moveTo>
                <a:lnTo>
                  <a:pt x="2529" y="2533040"/>
                </a:lnTo>
              </a:path>
              <a:path w="4406265" h="3957954">
                <a:moveTo>
                  <a:pt x="4403509" y="2648178"/>
                </a:moveTo>
                <a:lnTo>
                  <a:pt x="4403509" y="2533040"/>
                </a:lnTo>
              </a:path>
              <a:path w="4406265" h="3957954">
                <a:moveTo>
                  <a:pt x="2529" y="2763316"/>
                </a:moveTo>
                <a:lnTo>
                  <a:pt x="2529" y="2648178"/>
                </a:lnTo>
              </a:path>
              <a:path w="4406265" h="3957954">
                <a:moveTo>
                  <a:pt x="4403509" y="2763316"/>
                </a:moveTo>
                <a:lnTo>
                  <a:pt x="4403509" y="2648178"/>
                </a:lnTo>
              </a:path>
              <a:path w="4406265" h="3957954">
                <a:moveTo>
                  <a:pt x="2529" y="2878455"/>
                </a:moveTo>
                <a:lnTo>
                  <a:pt x="2529" y="2763316"/>
                </a:lnTo>
              </a:path>
              <a:path w="4406265" h="3957954">
                <a:moveTo>
                  <a:pt x="4403509" y="2878455"/>
                </a:moveTo>
                <a:lnTo>
                  <a:pt x="4403509" y="2763316"/>
                </a:lnTo>
              </a:path>
              <a:path w="4406265" h="3957954">
                <a:moveTo>
                  <a:pt x="2529" y="2993593"/>
                </a:moveTo>
                <a:lnTo>
                  <a:pt x="2529" y="2878455"/>
                </a:lnTo>
              </a:path>
              <a:path w="4406265" h="3957954">
                <a:moveTo>
                  <a:pt x="4403509" y="2993593"/>
                </a:moveTo>
                <a:lnTo>
                  <a:pt x="4403509" y="2878455"/>
                </a:lnTo>
              </a:path>
              <a:path w="4406265" h="3957954">
                <a:moveTo>
                  <a:pt x="2529" y="3108731"/>
                </a:moveTo>
                <a:lnTo>
                  <a:pt x="2529" y="2993593"/>
                </a:lnTo>
              </a:path>
              <a:path w="4406265" h="3957954">
                <a:moveTo>
                  <a:pt x="4403509" y="3108731"/>
                </a:moveTo>
                <a:lnTo>
                  <a:pt x="4403509" y="2993593"/>
                </a:lnTo>
              </a:path>
              <a:path w="4406265" h="3957954">
                <a:moveTo>
                  <a:pt x="2529" y="3223869"/>
                </a:moveTo>
                <a:lnTo>
                  <a:pt x="2529" y="3108731"/>
                </a:lnTo>
              </a:path>
              <a:path w="4406265" h="3957954">
                <a:moveTo>
                  <a:pt x="4403509" y="3223869"/>
                </a:moveTo>
                <a:lnTo>
                  <a:pt x="4403509" y="3108731"/>
                </a:lnTo>
              </a:path>
              <a:path w="4406265" h="3957954">
                <a:moveTo>
                  <a:pt x="2529" y="3339007"/>
                </a:moveTo>
                <a:lnTo>
                  <a:pt x="2529" y="3223869"/>
                </a:lnTo>
              </a:path>
              <a:path w="4406265" h="3957954">
                <a:moveTo>
                  <a:pt x="4403509" y="3339007"/>
                </a:moveTo>
                <a:lnTo>
                  <a:pt x="4403509" y="3223869"/>
                </a:lnTo>
              </a:path>
              <a:path w="4406265" h="3957954">
                <a:moveTo>
                  <a:pt x="2529" y="3454146"/>
                </a:moveTo>
                <a:lnTo>
                  <a:pt x="2529" y="3339007"/>
                </a:lnTo>
              </a:path>
              <a:path w="4406265" h="3957954">
                <a:moveTo>
                  <a:pt x="4403509" y="3454146"/>
                </a:moveTo>
                <a:lnTo>
                  <a:pt x="4403509" y="3339007"/>
                </a:lnTo>
              </a:path>
              <a:path w="4406265" h="3957954">
                <a:moveTo>
                  <a:pt x="2529" y="3569284"/>
                </a:moveTo>
                <a:lnTo>
                  <a:pt x="2529" y="3454146"/>
                </a:lnTo>
              </a:path>
              <a:path w="4406265" h="3957954">
                <a:moveTo>
                  <a:pt x="4403509" y="3569284"/>
                </a:moveTo>
                <a:lnTo>
                  <a:pt x="4403509" y="3454146"/>
                </a:lnTo>
              </a:path>
              <a:path w="4406265" h="3957954">
                <a:moveTo>
                  <a:pt x="2529" y="3684422"/>
                </a:moveTo>
                <a:lnTo>
                  <a:pt x="2529" y="3569284"/>
                </a:lnTo>
              </a:path>
              <a:path w="4406265" h="3957954">
                <a:moveTo>
                  <a:pt x="4403509" y="3684422"/>
                </a:moveTo>
                <a:lnTo>
                  <a:pt x="4403509" y="3569284"/>
                </a:lnTo>
              </a:path>
              <a:path w="4406265" h="3957954">
                <a:moveTo>
                  <a:pt x="2529" y="3799560"/>
                </a:moveTo>
                <a:lnTo>
                  <a:pt x="2529" y="3684422"/>
                </a:lnTo>
              </a:path>
              <a:path w="4406265" h="3957954">
                <a:moveTo>
                  <a:pt x="4403509" y="3799560"/>
                </a:moveTo>
                <a:lnTo>
                  <a:pt x="4403509" y="3684422"/>
                </a:lnTo>
              </a:path>
              <a:path w="4406265" h="3957954">
                <a:moveTo>
                  <a:pt x="2529" y="3914698"/>
                </a:moveTo>
                <a:lnTo>
                  <a:pt x="2529" y="3799560"/>
                </a:lnTo>
              </a:path>
              <a:path w="4406265" h="3957954">
                <a:moveTo>
                  <a:pt x="4403509" y="3914698"/>
                </a:moveTo>
                <a:lnTo>
                  <a:pt x="4403509" y="3799560"/>
                </a:lnTo>
              </a:path>
              <a:path w="4406265" h="3957954">
                <a:moveTo>
                  <a:pt x="2529" y="3957713"/>
                </a:moveTo>
                <a:lnTo>
                  <a:pt x="2529" y="3914698"/>
                </a:lnTo>
              </a:path>
              <a:path w="4406265" h="3957954">
                <a:moveTo>
                  <a:pt x="0" y="3955186"/>
                </a:moveTo>
                <a:lnTo>
                  <a:pt x="43016" y="3955186"/>
                </a:lnTo>
              </a:path>
              <a:path w="4406265" h="3957954">
                <a:moveTo>
                  <a:pt x="43016" y="3955186"/>
                </a:moveTo>
                <a:lnTo>
                  <a:pt x="4363008" y="3955186"/>
                </a:lnTo>
              </a:path>
              <a:path w="4406265" h="3957954">
                <a:moveTo>
                  <a:pt x="4363021" y="3955186"/>
                </a:moveTo>
                <a:lnTo>
                  <a:pt x="4406036" y="3955186"/>
                </a:lnTo>
              </a:path>
              <a:path w="4406265" h="3957954">
                <a:moveTo>
                  <a:pt x="4403509" y="3957713"/>
                </a:moveTo>
                <a:lnTo>
                  <a:pt x="4403509" y="3914698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067296" y="1518155"/>
            <a:ext cx="4368800" cy="510159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23189">
              <a:lnSpc>
                <a:spcPct val="100000"/>
              </a:lnSpc>
              <a:spcBef>
                <a:spcPts val="1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particular,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‘‘training_data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50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,000</a:t>
            </a:r>
            <a:endParaRPr sz="700">
              <a:latin typeface="Calibri"/>
              <a:cs typeface="Calibri"/>
            </a:endParaRPr>
          </a:p>
          <a:p>
            <a:pPr marL="124460" marR="898525" indent="-2540">
              <a:lnSpc>
                <a:spcPct val="107900"/>
              </a:lnSpc>
            </a:pP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2-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tuples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‘‘(x,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5" i="1">
                <a:solidFill>
                  <a:srgbClr val="980000"/>
                </a:solidFill>
                <a:latin typeface="Calibri"/>
                <a:cs typeface="Calibri"/>
              </a:rPr>
              <a:t>y)‘‘.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‘‘x‘‘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784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-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dimensional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0" i="1">
                <a:solidFill>
                  <a:srgbClr val="980000"/>
                </a:solidFill>
                <a:latin typeface="Calibri"/>
                <a:cs typeface="Calibri"/>
              </a:rPr>
              <a:t>numpy.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ndarray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containing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input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image.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‘‘y‘‘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10-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dimensional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  </a:t>
            </a:r>
            <a:r>
              <a:rPr dirty="0" sz="700" spc="40" i="1">
                <a:solidFill>
                  <a:srgbClr val="980000"/>
                </a:solidFill>
                <a:latin typeface="Calibri"/>
                <a:cs typeface="Calibri"/>
              </a:rPr>
              <a:t>numpy.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ndarray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representing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unit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vector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corresponding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correct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digit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5" i="1">
                <a:solidFill>
                  <a:srgbClr val="980000"/>
                </a:solidFill>
                <a:latin typeface="Calibri"/>
                <a:cs typeface="Calibri"/>
              </a:rPr>
              <a:t>‘‘x‘‘.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marL="121920" marR="791845" indent="1905">
              <a:lnSpc>
                <a:spcPct val="107900"/>
              </a:lnSpc>
              <a:spcBef>
                <a:spcPts val="5"/>
              </a:spcBef>
            </a:pP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‘‘validation_data</a:t>
            </a:r>
            <a:r>
              <a:rPr dirty="0" sz="700" spc="-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‘‘test_data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5" i="1">
                <a:solidFill>
                  <a:srgbClr val="980000"/>
                </a:solidFill>
                <a:latin typeface="Calibri"/>
                <a:cs typeface="Calibri"/>
              </a:rPr>
              <a:t>lists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containing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10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,000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2-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tuples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‘‘(x,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5" i="1">
                <a:solidFill>
                  <a:srgbClr val="980000"/>
                </a:solidFill>
                <a:latin typeface="Calibri"/>
                <a:cs typeface="Calibri"/>
              </a:rPr>
              <a:t>y)‘‘.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each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case,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‘‘x‘‘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" i="1">
                <a:solidFill>
                  <a:srgbClr val="980000"/>
                </a:solidFill>
                <a:latin typeface="Calibri"/>
                <a:cs typeface="Calibri"/>
              </a:rPr>
              <a:t>784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-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dimensional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numpy.ndarry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input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image,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‘‘y‘‘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corresponding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classification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i.e.,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digit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values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(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integers)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corresponding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5" i="1">
                <a:solidFill>
                  <a:srgbClr val="980000"/>
                </a:solidFill>
                <a:latin typeface="Calibri"/>
                <a:cs typeface="Calibri"/>
              </a:rPr>
              <a:t>‘‘x‘‘.</a:t>
            </a:r>
            <a:endParaRPr sz="700">
              <a:latin typeface="Calibri"/>
              <a:cs typeface="Calibri"/>
            </a:endParaRPr>
          </a:p>
          <a:p>
            <a:pPr algn="just" marL="123825" marR="84518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Obviously,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this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means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we’re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slightly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different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formats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for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validation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/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test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data.</a:t>
            </a:r>
            <a:r>
              <a:rPr dirty="0" sz="700" spc="31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These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formats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turn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out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most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convenient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our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network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code."""</a:t>
            </a:r>
            <a:endParaRPr sz="700">
              <a:latin typeface="Calibri"/>
              <a:cs typeface="Calibri"/>
            </a:endParaRPr>
          </a:p>
          <a:p>
            <a:pPr algn="just" marL="123189">
              <a:lnSpc>
                <a:spcPct val="100000"/>
              </a:lnSpc>
              <a:spcBef>
                <a:spcPts val="65"/>
              </a:spcBef>
            </a:pPr>
            <a:r>
              <a:rPr dirty="0" sz="700" spc="85">
                <a:latin typeface="Calibri"/>
                <a:cs typeface="Calibri"/>
              </a:rPr>
              <a:t>tr_d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30">
                <a:latin typeface="Calibri"/>
                <a:cs typeface="Calibri"/>
              </a:rPr>
              <a:t>va_d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te_d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3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load_data()</a:t>
            </a:r>
            <a:endParaRPr sz="700">
              <a:latin typeface="Calibri"/>
              <a:cs typeface="Calibri"/>
            </a:endParaRPr>
          </a:p>
          <a:p>
            <a:pPr marL="125095" marR="951865">
              <a:lnSpc>
                <a:spcPct val="107900"/>
              </a:lnSpc>
            </a:pPr>
            <a:r>
              <a:rPr dirty="0" sz="700" spc="120">
                <a:latin typeface="Calibri"/>
                <a:cs typeface="Calibri"/>
              </a:rPr>
              <a:t>training_inputs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[np.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reshape(x,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(784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1))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x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tr_d[0]] </a:t>
            </a:r>
            <a:r>
              <a:rPr dirty="0" sz="700" spc="125">
                <a:latin typeface="Calibri"/>
                <a:cs typeface="Calibri"/>
              </a:rPr>
              <a:t>training_results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[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vectorized_result(y)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tr_d[1]]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45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5">
                <a:latin typeface="Calibri"/>
                <a:cs typeface="Calibri"/>
              </a:rPr>
              <a:t>(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training_inputs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training_results) </a:t>
            </a:r>
            <a:r>
              <a:rPr dirty="0" sz="700" spc="114">
                <a:latin typeface="Calibri"/>
                <a:cs typeface="Calibri"/>
              </a:rPr>
              <a:t>validation_inputs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[np.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reshape(x,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(784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1))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x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va_d[0]]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45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5">
                <a:latin typeface="Calibri"/>
                <a:cs typeface="Calibri"/>
              </a:rPr>
              <a:t>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validation_inputs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va_d[1])</a:t>
            </a:r>
            <a:endParaRPr sz="700">
              <a:latin typeface="Calibri"/>
              <a:cs typeface="Calibri"/>
            </a:endParaRPr>
          </a:p>
          <a:p>
            <a:pPr marL="124460" marR="1270635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test_inputs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[np.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reshape(x,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(784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1))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x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te_d[0]]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20">
                <a:latin typeface="Calibri"/>
                <a:cs typeface="Calibri"/>
              </a:rPr>
              <a:t>(test_inputs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te_d[1])</a:t>
            </a:r>
            <a:endParaRPr sz="700">
              <a:latin typeface="Calibri"/>
              <a:cs typeface="Calibri"/>
            </a:endParaRPr>
          </a:p>
          <a:p>
            <a:pPr marL="124460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7145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vectorized_result(j):</a:t>
            </a:r>
            <a:endParaRPr sz="700">
              <a:latin typeface="Calibri"/>
              <a:cs typeface="Calibri"/>
            </a:endParaRPr>
          </a:p>
          <a:p>
            <a:pPr marL="124460" marR="899160" indent="-127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10-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dimensional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unit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vector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1.0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jth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position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zeroes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elsewhere.</a:t>
            </a:r>
            <a:r>
              <a:rPr dirty="0" sz="700" spc="31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This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convert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digit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(0...9)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into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corresponding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desired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from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neural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network."""</a:t>
            </a:r>
            <a:endParaRPr sz="700">
              <a:latin typeface="Calibri"/>
              <a:cs typeface="Calibri"/>
            </a:endParaRPr>
          </a:p>
          <a:p>
            <a:pPr marL="121920" marR="3128645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e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np.zeros((10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1)) </a:t>
            </a:r>
            <a:r>
              <a:rPr dirty="0" sz="700" spc="165">
                <a:latin typeface="Calibri"/>
                <a:cs typeface="Calibri"/>
              </a:rPr>
              <a:t>e[j]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1.0</a:t>
            </a:r>
            <a:endParaRPr sz="700">
              <a:latin typeface="Calibri"/>
              <a:cs typeface="Calibri"/>
            </a:endParaRPr>
          </a:p>
          <a:p>
            <a:pPr marL="124460">
              <a:lnSpc>
                <a:spcPct val="100000"/>
              </a:lnSpc>
              <a:spcBef>
                <a:spcPts val="70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-50">
                <a:latin typeface="Calibri"/>
                <a:cs typeface="Calibri"/>
              </a:rPr>
              <a:t>e</a:t>
            </a:r>
            <a:endParaRPr sz="700">
              <a:latin typeface="Calibri"/>
              <a:cs typeface="Calibri"/>
            </a:endParaRPr>
          </a:p>
          <a:p>
            <a:pPr algn="just" marL="12700" marR="5080">
              <a:lnSpc>
                <a:spcPct val="114300"/>
              </a:lnSpc>
              <a:spcBef>
                <a:spcPts val="720"/>
              </a:spcBef>
            </a:pP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said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mean?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compared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what?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informative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 have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(non-neural-network)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baseline </a:t>
            </a:r>
            <a:r>
              <a:rPr dirty="0" sz="850">
                <a:latin typeface="Calibri"/>
                <a:cs typeface="Calibri"/>
              </a:rPr>
              <a:t>tests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against,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baseline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course,</a:t>
            </a:r>
            <a:r>
              <a:rPr dirty="0" sz="850" spc="20">
                <a:latin typeface="Calibri"/>
                <a:cs typeface="Calibri"/>
              </a:rPr>
              <a:t> 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randomly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guess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That’ll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right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time.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that!</a:t>
            </a:r>
            <a:endParaRPr sz="850">
              <a:latin typeface="Calibri"/>
              <a:cs typeface="Calibri"/>
            </a:endParaRPr>
          </a:p>
          <a:p>
            <a:pPr algn="just" marL="12700" marR="635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trivial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baseline?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extremely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idea: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typically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darker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blackened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illustrate: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9453" y="6767765"/>
            <a:ext cx="1047264" cy="476846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1059750" y="7399085"/>
            <a:ext cx="4380865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2540">
              <a:lnSpc>
                <a:spcPct val="114300"/>
              </a:lnSpc>
              <a:spcBef>
                <a:spcPts val="95"/>
              </a:spcBef>
            </a:pPr>
            <a:r>
              <a:rPr dirty="0" sz="850" spc="35">
                <a:latin typeface="Calibri"/>
                <a:cs typeface="Calibri"/>
              </a:rPr>
              <a:t>This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suggests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using</a:t>
            </a:r>
            <a:r>
              <a:rPr dirty="0" sz="850">
                <a:latin typeface="Calibri"/>
                <a:cs typeface="Calibri"/>
              </a:rPr>
              <a:t> the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compute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average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darknesses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each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digit,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0,1,2,.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.,9.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presented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how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dark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image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guess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it’s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whichever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digit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has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closest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average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darkness.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This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simple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procedure,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code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up,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won’t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explicitly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write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code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you’re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interested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it’s</a:t>
            </a:r>
            <a:r>
              <a:rPr dirty="0" sz="850" spc="45">
                <a:latin typeface="Calibri"/>
                <a:cs typeface="Calibri"/>
              </a:rPr>
              <a:t> 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3"/>
              </a:rPr>
              <a:t>GitHub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10" name="object 10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601845" cy="49790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34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  <a:hlinkClick r:id="rId2"/>
              </a:rPr>
              <a:t>Using</a:t>
            </a:r>
            <a:r>
              <a:rPr dirty="0" sz="850" spc="125">
                <a:latin typeface="Calibri"/>
                <a:cs typeface="Calibri"/>
                <a:hlinkClick r:id="rId2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neural</a:t>
            </a:r>
            <a:r>
              <a:rPr dirty="0" sz="850" spc="125">
                <a:latin typeface="Calibri"/>
                <a:cs typeface="Calibri"/>
                <a:hlinkClick r:id="rId2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nets</a:t>
            </a:r>
            <a:r>
              <a:rPr dirty="0" sz="850" spc="130">
                <a:latin typeface="Calibri"/>
                <a:cs typeface="Calibri"/>
                <a:hlinkClick r:id="rId2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to</a:t>
            </a:r>
            <a:r>
              <a:rPr dirty="0" sz="850" spc="125">
                <a:latin typeface="Calibri"/>
                <a:cs typeface="Calibri"/>
                <a:hlinkClick r:id="rId2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recognize</a:t>
            </a:r>
            <a:r>
              <a:rPr dirty="0" sz="850" spc="130">
                <a:latin typeface="Calibri"/>
                <a:cs typeface="Calibri"/>
                <a:hlinkClick r:id="rId2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handwritten</a:t>
            </a:r>
            <a:r>
              <a:rPr dirty="0" sz="850" spc="125">
                <a:latin typeface="Calibri"/>
                <a:cs typeface="Calibri"/>
                <a:hlinkClick r:id="rId2"/>
              </a:rPr>
              <a:t> </a:t>
            </a:r>
            <a:r>
              <a:rPr dirty="0" sz="850" spc="-10">
                <a:latin typeface="Calibri"/>
                <a:cs typeface="Calibri"/>
                <a:hlinkClick r:id="rId2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45745" marR="2794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  <a:hlinkClick r:id="rId2"/>
              </a:rPr>
              <a:t>repository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guessing,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getting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2,225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10,000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22.25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accuracy.</a:t>
            </a:r>
            <a:endParaRPr sz="850">
              <a:latin typeface="Calibri"/>
              <a:cs typeface="Calibri"/>
            </a:endParaRPr>
          </a:p>
          <a:p>
            <a:pPr algn="just" marL="238760" marR="5080" indent="196215">
              <a:lnSpc>
                <a:spcPct val="114300"/>
              </a:lnSpc>
              <a:spcBef>
                <a:spcPts val="225"/>
              </a:spcBef>
            </a:pP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accuracies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50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range.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50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higher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accuracies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established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support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vector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machine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SVM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familiar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SVMs,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worry,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SVMs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Instead,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Python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3"/>
              </a:rPr>
              <a:t>scikit-learn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Python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interface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C-</a:t>
            </a:r>
            <a:r>
              <a:rPr dirty="0" sz="850">
                <a:latin typeface="Calibri"/>
                <a:cs typeface="Calibri"/>
              </a:rPr>
              <a:t>based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SVMs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  <a:hlinkClick r:id="rId4"/>
              </a:rPr>
              <a:t>LIBSVM</a:t>
            </a:r>
            <a:r>
              <a:rPr dirty="0" sz="850" spc="4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231775" marR="24765" indent="203200">
              <a:lnSpc>
                <a:spcPct val="114300"/>
              </a:lnSpc>
              <a:spcBef>
                <a:spcPts val="225"/>
              </a:spcBef>
            </a:pP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scikit-learn’s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SVM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classifier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default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settings,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9,435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10,000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correct.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(The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available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here</a:t>
            </a:r>
            <a:r>
              <a:rPr dirty="0" sz="850" spc="10">
                <a:latin typeface="Calibri"/>
                <a:cs typeface="Calibri"/>
              </a:rPr>
              <a:t>.)</a:t>
            </a:r>
            <a:r>
              <a:rPr dirty="0" sz="850" spc="3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over</a:t>
            </a:r>
            <a:r>
              <a:rPr dirty="0" sz="850" spc="20">
                <a:latin typeface="Calibri"/>
                <a:cs typeface="Calibri"/>
              </a:rPr>
              <a:t> 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naive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based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Indeed,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SVM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performing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roughly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little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worse.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introduce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enable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SVM.</a:t>
            </a:r>
            <a:endParaRPr sz="850">
              <a:latin typeface="Calibri"/>
              <a:cs typeface="Calibri"/>
            </a:endParaRPr>
          </a:p>
          <a:p>
            <a:pPr algn="just" marL="245745" marR="11430" indent="189230">
              <a:lnSpc>
                <a:spcPct val="114300"/>
              </a:lnSpc>
              <a:spcBef>
                <a:spcPts val="229"/>
              </a:spcBef>
            </a:pP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story,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9,435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10,000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scikit-</a:t>
            </a:r>
            <a:r>
              <a:rPr dirty="0" sz="850" spc="-10">
                <a:latin typeface="Calibri"/>
                <a:cs typeface="Calibri"/>
              </a:rPr>
              <a:t>learn’s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default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settings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SVMs.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SVMs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tunable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search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out-</a:t>
            </a:r>
            <a:r>
              <a:rPr dirty="0" sz="850">
                <a:latin typeface="Calibri"/>
                <a:cs typeface="Calibri"/>
              </a:rPr>
              <a:t>of-</a:t>
            </a:r>
            <a:r>
              <a:rPr dirty="0" sz="850" spc="10">
                <a:latin typeface="Calibri"/>
                <a:cs typeface="Calibri"/>
              </a:rPr>
              <a:t>the-box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do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search,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refer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6"/>
              </a:rPr>
              <a:t>blog</a:t>
            </a:r>
            <a:r>
              <a:rPr dirty="0" sz="850" spc="155">
                <a:latin typeface="Calibri"/>
                <a:cs typeface="Calibri"/>
                <a:hlinkClick r:id="rId6"/>
              </a:rPr>
              <a:t> </a:t>
            </a:r>
            <a:r>
              <a:rPr dirty="0" sz="850">
                <a:latin typeface="Calibri"/>
                <a:cs typeface="Calibri"/>
                <a:hlinkClick r:id="rId6"/>
              </a:rPr>
              <a:t>post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Andreas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Müller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know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Mueller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optimizing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SVM’s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98.5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words,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well-tuned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SVM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only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70.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good!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better?</a:t>
            </a:r>
            <a:endParaRPr sz="850">
              <a:latin typeface="Calibri"/>
              <a:cs typeface="Calibri"/>
            </a:endParaRPr>
          </a:p>
          <a:p>
            <a:pPr algn="just" marL="245745" marR="22860" indent="189230">
              <a:lnSpc>
                <a:spcPct val="114300"/>
              </a:lnSpc>
              <a:spcBef>
                <a:spcPts val="225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can.</a:t>
            </a:r>
            <a:r>
              <a:rPr dirty="0" sz="850" spc="4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present,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well-designed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outperform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MNIST,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including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SVMs.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current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(2013)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record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classifying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9,979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10,000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correctly.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Li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Matthew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Zeiler,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Sixin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Zhang,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Yann</a:t>
            </a:r>
            <a:r>
              <a:rPr dirty="0" sz="850" spc="50">
                <a:latin typeface="Calibri"/>
                <a:cs typeface="Calibri"/>
              </a:rPr>
              <a:t> LeCun,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Rob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Fergus.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level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human-equivalent,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arguably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confidence,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663826" y="5630926"/>
            <a:ext cx="2521915" cy="55046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707301" y="6442298"/>
            <a:ext cx="4368800" cy="1574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trust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agree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tough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classify!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MNIST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remarkable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accurately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21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10,000</a:t>
            </a:r>
            <a:r>
              <a:rPr dirty="0" sz="850" spc="20">
                <a:latin typeface="Calibri"/>
                <a:cs typeface="Calibri"/>
              </a:rPr>
              <a:t> test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images.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Usually,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programming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believe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solving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complicated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</a:t>
            </a:r>
            <a:r>
              <a:rPr dirty="0" sz="850" spc="20">
                <a:latin typeface="Calibri"/>
                <a:cs typeface="Calibri"/>
              </a:rPr>
              <a:t> like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recognizing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MNIST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requires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sophisticated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mentioned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involve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variations</a:t>
            </a:r>
            <a:r>
              <a:rPr dirty="0" sz="850" spc="20">
                <a:latin typeface="Calibri"/>
                <a:cs typeface="Calibri"/>
              </a:rPr>
              <a:t> 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chapter.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complexity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learned,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automatically,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sense,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sophisticated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problems: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850">
              <a:latin typeface="Calibri"/>
              <a:cs typeface="Calibri"/>
            </a:endParaRPr>
          </a:p>
          <a:p>
            <a:pPr marL="410845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sophisticated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95">
                <a:latin typeface="Cambria"/>
                <a:cs typeface="Cambria"/>
              </a:rPr>
              <a:t>≤</a:t>
            </a:r>
            <a:r>
              <a:rPr dirty="0" sz="850" spc="23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55">
                <a:latin typeface="Lucida Sans Unicode"/>
                <a:cs typeface="Lucida Sans Unicode"/>
              </a:rPr>
              <a:t>+</a:t>
            </a:r>
            <a:r>
              <a:rPr dirty="0" sz="850" spc="150">
                <a:latin typeface="Lucida Sans Unicode"/>
                <a:cs typeface="Lucida Sans Unicode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data.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6" name="object 6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016755" y="368721"/>
            <a:ext cx="160337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468120" algn="l"/>
              </a:tabLst>
            </a:pPr>
            <a:r>
              <a:rPr dirty="0" sz="850">
                <a:latin typeface="Calibri"/>
                <a:cs typeface="Calibri"/>
              </a:rPr>
              <a:t>1.7.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Toward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35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118361" y="925982"/>
            <a:ext cx="4243705" cy="1358900"/>
            <a:chOff x="1118361" y="925982"/>
            <a:chExt cx="4243705" cy="135890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18361" y="926071"/>
              <a:ext cx="1018745" cy="1358328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75459" y="926033"/>
              <a:ext cx="1591564" cy="135836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05377" y="925982"/>
              <a:ext cx="1556512" cy="1358417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067296" y="2381390"/>
            <a:ext cx="4349115" cy="225425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>
              <a:lnSpc>
                <a:spcPts val="770"/>
              </a:lnSpc>
              <a:spcBef>
                <a:spcPts val="150"/>
              </a:spcBef>
            </a:pPr>
            <a:r>
              <a:rPr dirty="0" sz="650" b="1">
                <a:latin typeface="Calibri"/>
                <a:cs typeface="Calibri"/>
              </a:rPr>
              <a:t>Figure</a:t>
            </a:r>
            <a:r>
              <a:rPr dirty="0" sz="650" spc="190" b="1">
                <a:latin typeface="Calibri"/>
                <a:cs typeface="Calibri"/>
              </a:rPr>
              <a:t> </a:t>
            </a:r>
            <a:r>
              <a:rPr dirty="0" sz="650" b="1">
                <a:latin typeface="Calibri"/>
                <a:cs typeface="Calibri"/>
              </a:rPr>
              <a:t>1.1:</a:t>
            </a:r>
            <a:r>
              <a:rPr dirty="0" sz="650" spc="320" b="1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Credits:</a:t>
            </a:r>
            <a:r>
              <a:rPr dirty="0" sz="650" spc="300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1.</a:t>
            </a:r>
            <a:r>
              <a:rPr dirty="0" sz="650" spc="320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Ester</a:t>
            </a:r>
            <a:r>
              <a:rPr dirty="0" sz="650" spc="175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Inbar.</a:t>
            </a:r>
            <a:r>
              <a:rPr dirty="0" sz="650" spc="320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2.</a:t>
            </a:r>
            <a:r>
              <a:rPr dirty="0" sz="650" spc="325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Unknown.</a:t>
            </a:r>
            <a:r>
              <a:rPr dirty="0" sz="650" spc="320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3.</a:t>
            </a:r>
            <a:r>
              <a:rPr dirty="0" sz="650" spc="325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NASA,</a:t>
            </a:r>
            <a:r>
              <a:rPr dirty="0" sz="650" spc="175">
                <a:latin typeface="Calibri"/>
                <a:cs typeface="Calibri"/>
              </a:rPr>
              <a:t> </a:t>
            </a:r>
            <a:r>
              <a:rPr dirty="0" sz="650" spc="50">
                <a:latin typeface="Calibri"/>
                <a:cs typeface="Calibri"/>
              </a:rPr>
              <a:t>ESA,</a:t>
            </a:r>
            <a:r>
              <a:rPr dirty="0" sz="650" spc="175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G.</a:t>
            </a:r>
            <a:r>
              <a:rPr dirty="0" sz="650" spc="175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Illingworth,</a:t>
            </a:r>
            <a:r>
              <a:rPr dirty="0" sz="650" spc="180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D.</a:t>
            </a:r>
            <a:r>
              <a:rPr dirty="0" sz="650" spc="180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Magee,</a:t>
            </a:r>
            <a:r>
              <a:rPr dirty="0" sz="650" spc="180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and</a:t>
            </a:r>
            <a:r>
              <a:rPr dirty="0" sz="650" spc="175">
                <a:latin typeface="Calibri"/>
                <a:cs typeface="Calibri"/>
              </a:rPr>
              <a:t> </a:t>
            </a:r>
            <a:r>
              <a:rPr dirty="0" sz="650" spc="-40">
                <a:latin typeface="Calibri"/>
                <a:cs typeface="Calibri"/>
              </a:rPr>
              <a:t>P.</a:t>
            </a:r>
            <a:r>
              <a:rPr dirty="0" sz="650" spc="175">
                <a:latin typeface="Calibri"/>
                <a:cs typeface="Calibri"/>
              </a:rPr>
              <a:t> </a:t>
            </a:r>
            <a:r>
              <a:rPr dirty="0" sz="650">
                <a:latin typeface="Calibri"/>
                <a:cs typeface="Calibri"/>
              </a:rPr>
              <a:t>Oesch</a:t>
            </a:r>
            <a:r>
              <a:rPr dirty="0" sz="650" spc="175">
                <a:latin typeface="Calibri"/>
                <a:cs typeface="Calibri"/>
              </a:rPr>
              <a:t> </a:t>
            </a:r>
            <a:r>
              <a:rPr dirty="0" sz="650" spc="-10">
                <a:latin typeface="Calibri"/>
                <a:cs typeface="Calibri"/>
              </a:rPr>
              <a:t>(University</a:t>
            </a:r>
            <a:r>
              <a:rPr dirty="0" sz="650" spc="500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of</a:t>
            </a:r>
            <a:r>
              <a:rPr dirty="0" sz="650" spc="105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California,</a:t>
            </a:r>
            <a:r>
              <a:rPr dirty="0" sz="650" spc="105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Santa</a:t>
            </a:r>
            <a:r>
              <a:rPr dirty="0" sz="650" spc="110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Cruz),</a:t>
            </a:r>
            <a:r>
              <a:rPr dirty="0" sz="650" spc="105">
                <a:latin typeface="Calibri"/>
                <a:cs typeface="Calibri"/>
              </a:rPr>
              <a:t> </a:t>
            </a:r>
            <a:r>
              <a:rPr dirty="0" sz="650" spc="50">
                <a:latin typeface="Calibri"/>
                <a:cs typeface="Calibri"/>
              </a:rPr>
              <a:t>R.</a:t>
            </a:r>
            <a:r>
              <a:rPr dirty="0" sz="650" spc="110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Bouwens</a:t>
            </a:r>
            <a:r>
              <a:rPr dirty="0" sz="650" spc="105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(Leiden</a:t>
            </a:r>
            <a:r>
              <a:rPr dirty="0" sz="650" spc="110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University),</a:t>
            </a:r>
            <a:r>
              <a:rPr dirty="0" sz="650" spc="105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and</a:t>
            </a:r>
            <a:r>
              <a:rPr dirty="0" sz="650" spc="110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the</a:t>
            </a:r>
            <a:r>
              <a:rPr dirty="0" sz="650" spc="105">
                <a:latin typeface="Calibri"/>
                <a:cs typeface="Calibri"/>
              </a:rPr>
              <a:t> </a:t>
            </a:r>
            <a:r>
              <a:rPr dirty="0" sz="650" spc="55">
                <a:latin typeface="Calibri"/>
                <a:cs typeface="Calibri"/>
              </a:rPr>
              <a:t>HUDF09</a:t>
            </a:r>
            <a:r>
              <a:rPr dirty="0" sz="650" spc="110">
                <a:latin typeface="Calibri"/>
                <a:cs typeface="Calibri"/>
              </a:rPr>
              <a:t> </a:t>
            </a:r>
            <a:r>
              <a:rPr dirty="0" sz="650" spc="-10">
                <a:latin typeface="Calibri"/>
                <a:cs typeface="Calibri"/>
              </a:rPr>
              <a:t>Team.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59750" y="2864374"/>
            <a:ext cx="4380865" cy="5152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685">
              <a:lnSpc>
                <a:spcPct val="100000"/>
              </a:lnSpc>
              <a:spcBef>
                <a:spcPts val="100"/>
              </a:spcBef>
              <a:tabLst>
                <a:tab pos="347345" algn="l"/>
              </a:tabLst>
            </a:pPr>
            <a:r>
              <a:rPr dirty="0" sz="1050" spc="30" b="1">
                <a:latin typeface="Calibri"/>
                <a:cs typeface="Calibri"/>
              </a:rPr>
              <a:t>1.7</a:t>
            </a:r>
            <a:r>
              <a:rPr dirty="0" sz="1050" b="1">
                <a:latin typeface="Calibri"/>
                <a:cs typeface="Calibri"/>
              </a:rPr>
              <a:t>	Toward</a:t>
            </a:r>
            <a:r>
              <a:rPr dirty="0" sz="1050" spc="28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deep</a:t>
            </a:r>
            <a:r>
              <a:rPr dirty="0" sz="1050" spc="285" b="1">
                <a:latin typeface="Calibri"/>
                <a:cs typeface="Calibri"/>
              </a:rPr>
              <a:t> </a:t>
            </a:r>
            <a:r>
              <a:rPr dirty="0" sz="1050" spc="45" b="1">
                <a:latin typeface="Calibri"/>
                <a:cs typeface="Calibri"/>
              </a:rPr>
              <a:t>learning</a:t>
            </a:r>
            <a:endParaRPr sz="1050">
              <a:latin typeface="Calibri"/>
              <a:cs typeface="Calibri"/>
            </a:endParaRPr>
          </a:p>
          <a:p>
            <a:pPr algn="just" marL="14604" marR="5080" indent="-2540">
              <a:lnSpc>
                <a:spcPct val="114300"/>
              </a:lnSpc>
              <a:spcBef>
                <a:spcPts val="1210"/>
              </a:spcBef>
            </a:pP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impressive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somewhat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mysterious.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automatically.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means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don’t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immediately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explanation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does.</a:t>
            </a:r>
            <a:r>
              <a:rPr dirty="0" sz="850" spc="60">
                <a:latin typeface="Calibri"/>
                <a:cs typeface="Calibri"/>
              </a:rPr>
              <a:t> Can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classifying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digits?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better?</a:t>
            </a:r>
            <a:endParaRPr sz="850">
              <a:latin typeface="Calibri"/>
              <a:cs typeface="Calibri"/>
            </a:endParaRPr>
          </a:p>
          <a:p>
            <a:pPr algn="just" marL="19685" marR="9525" indent="189230">
              <a:lnSpc>
                <a:spcPct val="114300"/>
              </a:lnSpc>
              <a:spcBef>
                <a:spcPts val="100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starkly,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decades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hence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(AI).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work?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opaque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automatically.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days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AI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research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hoped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effort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AI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principles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behind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intelligence</a:t>
            </a:r>
            <a:r>
              <a:rPr dirty="0" sz="850" spc="20">
                <a:latin typeface="Calibri"/>
                <a:cs typeface="Calibri"/>
              </a:rPr>
              <a:t> and,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maybe,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human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brain.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perhaps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outcome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neither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works!</a:t>
            </a:r>
            <a:endParaRPr sz="850">
              <a:latin typeface="Calibri"/>
              <a:cs typeface="Calibri"/>
            </a:endParaRPr>
          </a:p>
          <a:p>
            <a:pPr algn="just" marL="19685" marR="29209" indent="18923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address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interpretation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artificial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start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chapter,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evidence.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determine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not:</a:t>
            </a:r>
            <a:endParaRPr sz="850">
              <a:latin typeface="Calibri"/>
              <a:cs typeface="Calibri"/>
            </a:endParaRPr>
          </a:p>
          <a:p>
            <a:pPr algn="just" marL="19685" marR="27940" indent="189230">
              <a:lnSpc>
                <a:spcPct val="114300"/>
              </a:lnSpc>
              <a:spcBef>
                <a:spcPts val="100"/>
              </a:spcBef>
            </a:pP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could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attack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attacked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handwriting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indicating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either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“Yes,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face”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“No,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face”.</a:t>
            </a:r>
            <a:endParaRPr sz="850">
              <a:latin typeface="Calibri"/>
              <a:cs typeface="Calibri"/>
            </a:endParaRPr>
          </a:p>
          <a:p>
            <a:pPr algn="just" marL="19685" marR="26034" indent="189230">
              <a:lnSpc>
                <a:spcPct val="114300"/>
              </a:lnSpc>
              <a:spcBef>
                <a:spcPts val="100"/>
              </a:spcBef>
            </a:pP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design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appropriate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How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it?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Forgetting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entirely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moment,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decompose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sub-problems: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eye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left?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eye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right?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middle?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mouth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bottom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middle?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hair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top?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on.</a:t>
            </a:r>
            <a:endParaRPr sz="850">
              <a:latin typeface="Calibri"/>
              <a:cs typeface="Calibri"/>
            </a:endParaRPr>
          </a:p>
          <a:p>
            <a:pPr algn="just" marL="13335" marR="32384" indent="196215">
              <a:lnSpc>
                <a:spcPct val="114300"/>
              </a:lnSpc>
              <a:spcBef>
                <a:spcPts val="100"/>
              </a:spcBef>
            </a:pP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“yes”,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“probably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yes”,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conclude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Conversely,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“no”,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probably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face.</a:t>
            </a:r>
            <a:endParaRPr sz="850">
              <a:latin typeface="Calibri"/>
              <a:cs typeface="Calibri"/>
            </a:endParaRPr>
          </a:p>
          <a:p>
            <a:pPr algn="just" marL="19685" marR="32384" indent="189230">
              <a:lnSpc>
                <a:spcPct val="114300"/>
              </a:lnSpc>
              <a:spcBef>
                <a:spcPts val="100"/>
              </a:spcBef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rough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suffers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deficiencies.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Maybe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person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bald,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hair.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Maybe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face,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angle,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facial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obscured.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suggests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sub-problems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face-detection,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combining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sub-problems.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Here’s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10" name="object 10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581525" cy="10147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36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45745" marR="50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architecture,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rectangles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denoting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sub-networks.</a:t>
            </a:r>
            <a:r>
              <a:rPr dirty="0" sz="850" spc="23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isn’t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intended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realistic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face-detection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problem;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architecture: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62423" y="1499895"/>
            <a:ext cx="4228066" cy="289176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87402" y="4535799"/>
            <a:ext cx="4386580" cy="913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968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plausible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sub-networks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decomposed.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question: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eye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left?”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decomposed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as: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eyebrow?”;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“Are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eyelashes?”;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iris?”;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these</a:t>
            </a:r>
            <a:r>
              <a:rPr dirty="0" sz="850" spc="20">
                <a:latin typeface="Calibri"/>
                <a:cs typeface="Calibri"/>
              </a:rPr>
              <a:t> questions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should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include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positional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information,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well–“Is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eyebrow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left,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iris?”,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keep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answer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eye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left?”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decomposed: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84529" y="5589270"/>
            <a:ext cx="3702050" cy="1517650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702384" y="7251032"/>
            <a:ext cx="4378325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broken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down,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multiple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layers.</a:t>
            </a:r>
            <a:r>
              <a:rPr dirty="0" sz="850" spc="20">
                <a:latin typeface="Calibri"/>
                <a:cs typeface="Calibri"/>
              </a:rPr>
              <a:t> Ultimately,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sub-networks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answer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questions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answered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level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pixels.</a:t>
            </a:r>
            <a:r>
              <a:rPr dirty="0" sz="850" spc="16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presence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absence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shapes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Such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8" name="object 8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53628" y="368721"/>
            <a:ext cx="4566285" cy="44196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975610">
              <a:lnSpc>
                <a:spcPts val="525"/>
              </a:lnSpc>
              <a:spcBef>
                <a:spcPts val="110"/>
              </a:spcBef>
              <a:tabLst>
                <a:tab pos="4431665" algn="l"/>
              </a:tabLst>
            </a:pPr>
            <a:r>
              <a:rPr dirty="0" sz="850">
                <a:latin typeface="Calibri"/>
                <a:cs typeface="Calibri"/>
              </a:rPr>
              <a:t>1.7.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Toward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37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6034" marR="184150" indent="18923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breaks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complicated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answerable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level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pixels.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series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answering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specific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questions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later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building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hierarchy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ever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abstract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concepts.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many-layer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two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deep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neural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networks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12700" marR="184150" indent="20320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recursive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decomposition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sub-networks.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certainly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hand-design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we’d</a:t>
            </a:r>
            <a:r>
              <a:rPr dirty="0" sz="850" spc="20">
                <a:latin typeface="Calibri"/>
                <a:cs typeface="Calibri"/>
              </a:rPr>
              <a:t> like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automatically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thus,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hierarchy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concepts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Researchers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1980s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1990s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deep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Unfortunately,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except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didn’t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luck.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slowly,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useful.</a:t>
            </a:r>
            <a:endParaRPr sz="850">
              <a:latin typeface="Calibri"/>
              <a:cs typeface="Calibri"/>
            </a:endParaRPr>
          </a:p>
          <a:p>
            <a:pPr algn="just" marL="12700" marR="185420" indent="20320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2006,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enable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 deep learning techniques are based on stochastic gradient descent and </a:t>
            </a:r>
            <a:r>
              <a:rPr dirty="0" sz="850" spc="-10">
                <a:latin typeface="Calibri"/>
                <a:cs typeface="Calibri"/>
              </a:rPr>
              <a:t>back-</a:t>
            </a:r>
            <a:r>
              <a:rPr dirty="0" sz="850" spc="20">
                <a:latin typeface="Calibri"/>
                <a:cs typeface="Calibri"/>
              </a:rPr>
              <a:t>propagation,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introduce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techniques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enabled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deeper</a:t>
            </a:r>
            <a:r>
              <a:rPr dirty="0" sz="850" spc="55">
                <a:latin typeface="Calibri"/>
                <a:cs typeface="Calibri"/>
              </a:rPr>
              <a:t> (and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larger)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routinely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10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shallow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i.e.,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ability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hierarchy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concepts.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way</a:t>
            </a:r>
            <a:r>
              <a:rPr dirty="0" sz="850" spc="30">
                <a:latin typeface="Calibri"/>
                <a:cs typeface="Calibri"/>
              </a:rPr>
              <a:t> conventional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programming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languages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modular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design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ideas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about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abstraction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enable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creation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programs.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shallow</a:t>
            </a:r>
            <a:r>
              <a:rPr dirty="0" sz="850" spc="20">
                <a:latin typeface="Calibri"/>
                <a:cs typeface="Calibri"/>
              </a:rPr>
              <a:t> network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comparing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programming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language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ability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stripped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language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ability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calls.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Abstraction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conventional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programming,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important.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778788" y="863965"/>
            <a:ext cx="344170" cy="457200"/>
            <a:chOff x="5778788" y="863965"/>
            <a:chExt cx="344170" cy="457200"/>
          </a:xfrm>
        </p:grpSpPr>
        <p:sp>
          <p:nvSpPr>
            <p:cNvPr id="4" name="object 4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5781318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5876620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67589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38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-2530" y="863965"/>
            <a:ext cx="344170" cy="457200"/>
            <a:chOff x="-2530" y="863965"/>
            <a:chExt cx="344170" cy="457200"/>
          </a:xfrm>
        </p:grpSpPr>
        <p:sp>
          <p:nvSpPr>
            <p:cNvPr id="4" name="object 4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0" y="866496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25831" y="851994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1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59704" y="368724"/>
            <a:ext cx="26035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5095">
              <a:lnSpc>
                <a:spcPts val="525"/>
              </a:lnSpc>
              <a:spcBef>
                <a:spcPts val="110"/>
              </a:spcBef>
            </a:pPr>
            <a:r>
              <a:rPr dirty="0" sz="850" spc="25">
                <a:latin typeface="Calibri"/>
                <a:cs typeface="Calibri"/>
              </a:rPr>
              <a:t>39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xfrm>
            <a:off x="3980243" y="864908"/>
            <a:ext cx="1419225" cy="292862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750" spc="-5635">
                <a:solidFill>
                  <a:srgbClr val="B2B2B2"/>
                </a:solidFill>
              </a:rPr>
              <a:t>2</a:t>
            </a:r>
            <a:r>
              <a:rPr dirty="0" sz="19050" spc="-9255">
                <a:solidFill>
                  <a:srgbClr val="7F7F7F"/>
                </a:solidFill>
              </a:rPr>
              <a:t>2</a:t>
            </a:r>
            <a:r>
              <a:rPr dirty="0" sz="18650" spc="-9055">
                <a:solidFill>
                  <a:srgbClr val="A5A5A5"/>
                </a:solidFill>
              </a:rPr>
              <a:t>2</a:t>
            </a:r>
            <a:r>
              <a:rPr dirty="0" sz="18250" spc="315">
                <a:solidFill>
                  <a:srgbClr val="CCCCCC"/>
                </a:solidFill>
              </a:rPr>
              <a:t>2</a:t>
            </a:r>
            <a:endParaRPr sz="18250"/>
          </a:p>
        </p:txBody>
      </p:sp>
      <p:sp>
        <p:nvSpPr>
          <p:cNvPr id="4" name="object 4"/>
          <p:cNvSpPr txBox="1"/>
          <p:nvPr/>
        </p:nvSpPr>
        <p:spPr>
          <a:xfrm>
            <a:off x="1885314" y="2044355"/>
            <a:ext cx="3527425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160" b="1">
                <a:latin typeface="Calibri"/>
                <a:cs typeface="Calibri"/>
              </a:rPr>
              <a:t>How</a:t>
            </a:r>
            <a:r>
              <a:rPr dirty="0" sz="2300" spc="155" b="1">
                <a:latin typeface="Calibri"/>
                <a:cs typeface="Calibri"/>
              </a:rPr>
              <a:t> </a:t>
            </a:r>
            <a:r>
              <a:rPr dirty="0" sz="2300" spc="60" b="1">
                <a:latin typeface="Calibri"/>
                <a:cs typeface="Calibri"/>
              </a:rPr>
              <a:t>the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95" b="1">
                <a:latin typeface="Calibri"/>
                <a:cs typeface="Calibri"/>
              </a:rPr>
              <a:t>backpropagation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60699" y="2439107"/>
            <a:ext cx="2252345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120" b="1">
                <a:latin typeface="Calibri"/>
                <a:cs typeface="Calibri"/>
              </a:rPr>
              <a:t>algorithm</a:t>
            </a:r>
            <a:r>
              <a:rPr dirty="0" sz="2300" spc="185" b="1">
                <a:latin typeface="Calibri"/>
                <a:cs typeface="Calibri"/>
              </a:rPr>
              <a:t> </a:t>
            </a:r>
            <a:r>
              <a:rPr dirty="0" sz="2300" spc="114" b="1">
                <a:latin typeface="Calibri"/>
                <a:cs typeface="Calibri"/>
              </a:rPr>
              <a:t>works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0842" y="4142311"/>
            <a:ext cx="4375150" cy="3874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24765">
              <a:lnSpc>
                <a:spcPct val="114300"/>
              </a:lnSpc>
              <a:spcBef>
                <a:spcPts val="95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explanation: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didn’t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1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gap!</a:t>
            </a:r>
            <a:r>
              <a:rPr dirty="0" sz="850" spc="215">
                <a:latin typeface="Calibri"/>
                <a:cs typeface="Calibri"/>
              </a:rPr>
              <a:t> 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20">
                <a:latin typeface="Calibri"/>
                <a:cs typeface="Calibri"/>
              </a:rPr>
              <a:t> chapter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explain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backpropagation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backpropagation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originally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introduced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1970s,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importance</a:t>
            </a:r>
            <a:r>
              <a:rPr dirty="0" sz="850" spc="20">
                <a:latin typeface="Calibri"/>
                <a:cs typeface="Calibri"/>
              </a:rPr>
              <a:t> wasn’t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appreciated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until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famous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1986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2"/>
              </a:rPr>
              <a:t>paper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David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Rumelhart,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Geoffrey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Hinton,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Ronald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Williams.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previously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insoluble.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Today,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algorithm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workhorse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  <a:p>
            <a:pPr algn="r" marL="19050" marR="1143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This chapter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 more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mathematically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involved than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 </a:t>
            </a:r>
            <a:r>
              <a:rPr dirty="0" sz="850">
                <a:latin typeface="Calibri"/>
                <a:cs typeface="Calibri"/>
              </a:rPr>
              <a:t>rest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 book.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crazy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tempted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skip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treat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black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box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ignore.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study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details?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heart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expression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1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bias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b</a:t>
            </a:r>
            <a:r>
              <a:rPr dirty="0" sz="850" spc="50">
                <a:latin typeface="Calibri"/>
                <a:cs typeface="Calibri"/>
              </a:rPr>
              <a:t>)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quickly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somewhat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beauty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it,</a:t>
            </a:r>
            <a:r>
              <a:rPr dirty="0" sz="850" spc="20">
                <a:latin typeface="Calibri"/>
                <a:cs typeface="Calibri"/>
              </a:rPr>
              <a:t> with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element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natural,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intuitive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interpretation.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isn’t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studying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detail.</a:t>
            </a:r>
            <a:endParaRPr sz="850">
              <a:latin typeface="Calibri"/>
              <a:cs typeface="Calibri"/>
            </a:endParaRPr>
          </a:p>
          <a:p>
            <a:pPr algn="just" marL="19050" marR="508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said,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skim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jump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straight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that’s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fine.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written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accessible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treat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black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box.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refer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conclusions,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366010" cy="718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40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marL="245745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follow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reasoning.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00" y="1261229"/>
            <a:ext cx="3918585" cy="387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39725" marR="5080" indent="-327660">
              <a:lnSpc>
                <a:spcPct val="113100"/>
              </a:lnSpc>
              <a:spcBef>
                <a:spcPts val="100"/>
              </a:spcBef>
              <a:tabLst>
                <a:tab pos="339725" algn="l"/>
              </a:tabLst>
            </a:pPr>
            <a:r>
              <a:rPr dirty="0" sz="1050" spc="30" b="1">
                <a:latin typeface="Calibri"/>
                <a:cs typeface="Calibri"/>
              </a:rPr>
              <a:t>2.1</a:t>
            </a:r>
            <a:r>
              <a:rPr dirty="0" sz="1050" b="1">
                <a:latin typeface="Calibri"/>
                <a:cs typeface="Calibri"/>
              </a:rPr>
              <a:t>	Warm</a:t>
            </a:r>
            <a:r>
              <a:rPr dirty="0" sz="1050" spc="110" b="1">
                <a:latin typeface="Calibri"/>
                <a:cs typeface="Calibri"/>
              </a:rPr>
              <a:t> </a:t>
            </a:r>
            <a:r>
              <a:rPr dirty="0" sz="1050" spc="65" b="1">
                <a:latin typeface="Calibri"/>
                <a:cs typeface="Calibri"/>
              </a:rPr>
              <a:t>up:</a:t>
            </a:r>
            <a:r>
              <a:rPr dirty="0" sz="1050" spc="225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a</a:t>
            </a:r>
            <a:r>
              <a:rPr dirty="0" sz="1050" spc="11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fast</a:t>
            </a:r>
            <a:r>
              <a:rPr dirty="0" sz="1050" spc="110" b="1">
                <a:latin typeface="Calibri"/>
                <a:cs typeface="Calibri"/>
              </a:rPr>
              <a:t> </a:t>
            </a:r>
            <a:r>
              <a:rPr dirty="0" sz="1050" spc="45" b="1">
                <a:latin typeface="Calibri"/>
                <a:cs typeface="Calibri"/>
              </a:rPr>
              <a:t>matrix-</a:t>
            </a:r>
            <a:r>
              <a:rPr dirty="0" sz="1050" spc="50" b="1">
                <a:latin typeface="Calibri"/>
                <a:cs typeface="Calibri"/>
              </a:rPr>
              <a:t>based</a:t>
            </a:r>
            <a:r>
              <a:rPr dirty="0" sz="1050" spc="110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approach</a:t>
            </a:r>
            <a:r>
              <a:rPr dirty="0" sz="1050" spc="11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to</a:t>
            </a:r>
            <a:r>
              <a:rPr dirty="0" sz="1050" spc="114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computing</a:t>
            </a:r>
            <a:r>
              <a:rPr dirty="0" sz="1050" spc="110" b="1">
                <a:latin typeface="Calibri"/>
                <a:cs typeface="Calibri"/>
              </a:rPr>
              <a:t> </a:t>
            </a:r>
            <a:r>
              <a:rPr dirty="0" sz="1050" spc="-25" b="1">
                <a:latin typeface="Calibri"/>
                <a:cs typeface="Calibri"/>
              </a:rPr>
              <a:t>the </a:t>
            </a:r>
            <a:r>
              <a:rPr dirty="0" sz="1050" b="1">
                <a:latin typeface="Calibri"/>
                <a:cs typeface="Calibri"/>
              </a:rPr>
              <a:t>output</a:t>
            </a:r>
            <a:r>
              <a:rPr dirty="0" sz="1050" spc="135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from</a:t>
            </a:r>
            <a:r>
              <a:rPr dirty="0" sz="1050" spc="135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a</a:t>
            </a:r>
            <a:r>
              <a:rPr dirty="0" sz="1050" spc="140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neural</a:t>
            </a:r>
            <a:r>
              <a:rPr dirty="0" sz="1050" spc="135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network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01" y="1752632"/>
            <a:ext cx="4371975" cy="913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31115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Before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discussing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warm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matrix-based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already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briefly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algorithm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(section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2" action="ppaction://hlinksldjump"/>
              </a:rPr>
              <a:t>1.6),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worth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revisiting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comfortable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20">
                <a:latin typeface="Calibri"/>
                <a:cs typeface="Calibri"/>
              </a:rPr>
              <a:t> backpropagation,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familiar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context.</a:t>
            </a:r>
            <a:endParaRPr sz="850">
              <a:latin typeface="Calibri"/>
              <a:cs typeface="Calibri"/>
            </a:endParaRPr>
          </a:p>
          <a:p>
            <a:pPr algn="just" marL="201930">
              <a:lnSpc>
                <a:spcPct val="100000"/>
              </a:lnSpc>
              <a:spcBef>
                <a:spcPts val="145"/>
              </a:spcBef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begin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notation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refer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unam-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896413" y="2732065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81901" y="2657693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biguous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480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k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7301" y="2788876"/>
            <a:ext cx="435229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l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1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libri"/>
                <a:cs typeface="Calibri"/>
              </a:rPr>
              <a:t>-th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j</a:t>
            </a:r>
            <a:r>
              <a:rPr dirty="0" sz="850" spc="10">
                <a:latin typeface="Calibri"/>
                <a:cs typeface="Calibri"/>
              </a:rPr>
              <a:t>-th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l</a:t>
            </a:r>
            <a:r>
              <a:rPr dirty="0" sz="850" spc="50">
                <a:latin typeface="Calibri"/>
                <a:cs typeface="Calibri"/>
              </a:rPr>
              <a:t>-</a:t>
            </a:r>
            <a:r>
              <a:rPr dirty="0" sz="850" spc="10">
                <a:latin typeface="Calibri"/>
                <a:cs typeface="Calibri"/>
              </a:rPr>
              <a:t>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diagram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below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fourth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second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third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02313" y="3368665"/>
            <a:ext cx="2955331" cy="1156649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702384" y="4607656"/>
            <a:ext cx="435356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cumbersome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master.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little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effort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notation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becomes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natural.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quirk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notation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indices.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sense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refer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k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vice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versa,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below.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biases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388047" y="5439074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81901" y="5364698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Explicitly,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45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l</a:t>
            </a:r>
            <a:r>
              <a:rPr dirty="0" sz="850" spc="50">
                <a:latin typeface="Calibri"/>
                <a:cs typeface="Calibri"/>
              </a:rPr>
              <a:t>-</a:t>
            </a:r>
            <a:r>
              <a:rPr dirty="0" sz="850">
                <a:latin typeface="Calibri"/>
                <a:cs typeface="Calibri"/>
              </a:rPr>
              <a:t>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81901" y="5528248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a</a:t>
            </a:r>
            <a:r>
              <a:rPr dirty="0" baseline="35353" sz="825" spc="30" i="1">
                <a:latin typeface="Calibri"/>
                <a:cs typeface="Calibri"/>
              </a:rPr>
              <a:t>l</a:t>
            </a:r>
            <a:r>
              <a:rPr dirty="0" baseline="35353" sz="825" spc="419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activation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j</a:t>
            </a:r>
            <a:r>
              <a:rPr dirty="0" sz="850" spc="20">
                <a:latin typeface="Calibri"/>
                <a:cs typeface="Calibri"/>
              </a:rPr>
              <a:t>-th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l</a:t>
            </a:r>
            <a:r>
              <a:rPr dirty="0" sz="850" spc="55">
                <a:latin typeface="Calibri"/>
                <a:cs typeface="Calibri"/>
              </a:rPr>
              <a:t>-</a:t>
            </a:r>
            <a:r>
              <a:rPr dirty="0" sz="850" spc="20">
                <a:latin typeface="Calibri"/>
                <a:cs typeface="Calibri"/>
              </a:rPr>
              <a:t>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following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diagram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shows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7301" y="5602625"/>
            <a:ext cx="1697989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273685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examples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notations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use: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953674" y="5939861"/>
            <a:ext cx="1852672" cy="1539537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2521167" y="7638344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74354" y="7563972"/>
            <a:ext cx="4404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notations,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472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j</a:t>
            </a:r>
            <a:r>
              <a:rPr dirty="0" sz="850" spc="10">
                <a:latin typeface="Calibri"/>
                <a:cs typeface="Calibri"/>
              </a:rPr>
              <a:t>-th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l</a:t>
            </a:r>
            <a:r>
              <a:rPr dirty="0" sz="850" spc="55">
                <a:latin typeface="Calibri"/>
                <a:cs typeface="Calibri"/>
              </a:rPr>
              <a:t>-</a:t>
            </a:r>
            <a:r>
              <a:rPr dirty="0" sz="850" spc="10">
                <a:latin typeface="Calibri"/>
                <a:cs typeface="Calibri"/>
              </a:rPr>
              <a:t>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07301" y="7695138"/>
            <a:ext cx="434594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l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1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libri"/>
                <a:cs typeface="Calibri"/>
              </a:rPr>
              <a:t>-th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(compare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1.4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surrounding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chapter)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-2530" y="1331973"/>
            <a:ext cx="344170" cy="457200"/>
            <a:chOff x="-2530" y="1331973"/>
            <a:chExt cx="344170" cy="457200"/>
          </a:xfrm>
        </p:grpSpPr>
        <p:sp>
          <p:nvSpPr>
            <p:cNvPr id="19" name="object 19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25831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66418" y="368721"/>
            <a:ext cx="475361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4618355" algn="l"/>
              </a:tabLst>
            </a:pPr>
            <a:r>
              <a:rPr dirty="0" sz="850" spc="10">
                <a:latin typeface="Calibri"/>
                <a:cs typeface="Calibri"/>
              </a:rPr>
              <a:t>2.1.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Warm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up: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matrix-based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41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653566" y="1128931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658125" y="121332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998976" y="1018870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56930" y="1304152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60115" y="1213322"/>
            <a:ext cx="1955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jk</a:t>
            </a:r>
            <a:r>
              <a:rPr dirty="0" sz="550" spc="195" i="1">
                <a:latin typeface="Calibri"/>
                <a:cs typeface="Calibri"/>
              </a:rPr>
              <a:t>  </a:t>
            </a: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250094" y="1128932"/>
            <a:ext cx="505459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1805" algn="l"/>
              </a:tabLst>
            </a:pPr>
            <a:r>
              <a:rPr dirty="0" sz="550" i="1">
                <a:latin typeface="Calibri"/>
                <a:cs typeface="Calibri"/>
              </a:rPr>
              <a:t>l</a:t>
            </a:r>
            <a:r>
              <a:rPr dirty="0" sz="550" spc="385" i="1">
                <a:latin typeface="Calibri"/>
                <a:cs typeface="Calibri"/>
              </a:rPr>
              <a:t>  </a:t>
            </a:r>
            <a:r>
              <a:rPr dirty="0" sz="550" spc="50" i="1">
                <a:latin typeface="Calibri"/>
                <a:cs typeface="Calibri"/>
              </a:rPr>
              <a:t>l</a:t>
            </a:r>
            <a:r>
              <a:rPr dirty="0" sz="550" spc="50">
                <a:latin typeface="Cambria"/>
                <a:cs typeface="Cambria"/>
              </a:rPr>
              <a:t>−</a:t>
            </a:r>
            <a:r>
              <a:rPr dirty="0" sz="550" spc="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714418" y="121332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922890" y="949780"/>
            <a:ext cx="9226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833119" algn="l"/>
              </a:tabLst>
            </a:pPr>
            <a:r>
              <a:rPr dirty="0" sz="850" spc="-305">
                <a:latin typeface="Arial MT"/>
                <a:cs typeface="Arial MT"/>
              </a:rPr>
              <a:t>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305">
                <a:latin typeface="Arial MT"/>
                <a:cs typeface="Arial MT"/>
              </a:rPr>
              <a:t>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591614" y="1138950"/>
            <a:ext cx="12998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91185" algn="l"/>
                <a:tab pos="962025" algn="l"/>
                <a:tab pos="1256030" algn="l"/>
              </a:tabLst>
            </a:pP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31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150" i="1">
                <a:latin typeface="Times New Roman"/>
                <a:cs typeface="Times New Roman"/>
              </a:rPr>
              <a:t>σ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465" i="1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144203" y="1138951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60856" y="1471361"/>
            <a:ext cx="43522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k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l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1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libri"/>
                <a:cs typeface="Calibri"/>
              </a:rPr>
              <a:t>-th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rewrite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41896" y="1602544"/>
            <a:ext cx="440055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0640" marR="30480" indent="-317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matrix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weight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matrix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44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l</a:t>
            </a:r>
            <a:r>
              <a:rPr dirty="0" sz="850" spc="55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entries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matrix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397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l</a:t>
            </a:r>
            <a:r>
              <a:rPr dirty="0" sz="850" spc="50">
                <a:latin typeface="Calibri"/>
                <a:cs typeface="Calibri"/>
              </a:rPr>
              <a:t>-</a:t>
            </a:r>
            <a:r>
              <a:rPr dirty="0" sz="850" spc="10">
                <a:latin typeface="Calibri"/>
                <a:cs typeface="Calibri"/>
              </a:rPr>
              <a:t>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j</a:t>
            </a:r>
            <a:r>
              <a:rPr dirty="0" sz="850" spc="10">
                <a:latin typeface="Calibri"/>
                <a:cs typeface="Calibri"/>
              </a:rPr>
              <a:t>-</a:t>
            </a:r>
            <a:r>
              <a:rPr dirty="0" sz="850" spc="-25">
                <a:latin typeface="Calibri"/>
                <a:cs typeface="Calibri"/>
              </a:rPr>
              <a:t>th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313392" y="1989838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41896" y="1915467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row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k</a:t>
            </a:r>
            <a:r>
              <a:rPr dirty="0" sz="850" spc="20">
                <a:latin typeface="Calibri"/>
                <a:cs typeface="Calibri"/>
              </a:rPr>
              <a:t>-th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column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baseline="35353" sz="825" spc="30" i="1">
                <a:latin typeface="Calibri"/>
                <a:cs typeface="Calibri"/>
              </a:rPr>
              <a:t>l</a:t>
            </a:r>
            <a:r>
              <a:rPr dirty="0" baseline="35353" sz="825" spc="61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Similarly,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l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define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bias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vector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baseline="35353" sz="825" spc="30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41896" y="2079017"/>
            <a:ext cx="4419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probably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guess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components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22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67296" y="2153379"/>
            <a:ext cx="4349115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26034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component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l</a:t>
            </a:r>
            <a:r>
              <a:rPr dirty="0" sz="850" spc="50">
                <a:latin typeface="Calibri"/>
                <a:cs typeface="Calibri"/>
              </a:rPr>
              <a:t>-</a:t>
            </a:r>
            <a:r>
              <a:rPr dirty="0" sz="850">
                <a:latin typeface="Calibri"/>
                <a:cs typeface="Calibri"/>
              </a:rPr>
              <a:t>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finally,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vector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41896" y="2375080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components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ingredient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rewrite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2.1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41896" y="2449457"/>
            <a:ext cx="4400550" cy="8229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260985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algn="just" marL="38100">
              <a:lnSpc>
                <a:spcPts val="975"/>
              </a:lnSpc>
            </a:pPr>
            <a:r>
              <a:rPr dirty="0" sz="850" spc="10">
                <a:latin typeface="Calibri"/>
                <a:cs typeface="Calibri"/>
              </a:rPr>
              <a:t>matrix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vectorizing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sz="850" spc="125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vectorization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briefly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  <a:p>
            <a:pPr algn="just" marL="38100" marR="3048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recap,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every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element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v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v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elementwise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application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components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v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6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v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baseline="-20202" sz="825" spc="127" i="1">
                <a:latin typeface="Calibri"/>
                <a:cs typeface="Calibri"/>
              </a:rPr>
              <a:t>j</a:t>
            </a:r>
            <a:r>
              <a:rPr dirty="0" baseline="-20202" sz="825" spc="419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40">
                <a:latin typeface="Tahoma"/>
                <a:cs typeface="Tahoma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v</a:t>
            </a:r>
            <a:r>
              <a:rPr dirty="0" baseline="-20202" sz="825" spc="120" i="1">
                <a:latin typeface="Calibri"/>
                <a:cs typeface="Calibri"/>
              </a:rPr>
              <a:t>j</a:t>
            </a:r>
            <a:r>
              <a:rPr dirty="0" baseline="-20202" sz="825" spc="-44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60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65">
                <a:latin typeface="Tahoma"/>
                <a:cs typeface="Tahoma"/>
              </a:rPr>
              <a:t> 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baseline="35353" sz="825" spc="120">
                <a:latin typeface="Calibri"/>
                <a:cs typeface="Calibri"/>
              </a:rPr>
              <a:t>2</a:t>
            </a:r>
            <a:r>
              <a:rPr dirty="0" baseline="35353" sz="825" spc="35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vectorized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34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effect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415980" y="3526335"/>
            <a:ext cx="577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f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690389" y="3441448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690389" y="3619095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3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978029" y="3526335"/>
            <a:ext cx="111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583690" y="3526335"/>
            <a:ext cx="111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228497" y="3394985"/>
            <a:ext cx="678180" cy="381000"/>
          </a:xfrm>
          <a:prstGeom prst="rect">
            <a:avLst/>
          </a:prstGeom>
        </p:spPr>
        <p:txBody>
          <a:bodyPr wrap="square" lIns="0" tIns="603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75"/>
              </a:spcBef>
              <a:tabLst>
                <a:tab pos="604520" algn="l"/>
              </a:tabLst>
            </a:pP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-5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(</a:t>
            </a:r>
            <a:r>
              <a:rPr dirty="0" sz="850" spc="-25">
                <a:latin typeface="Calibri"/>
                <a:cs typeface="Calibri"/>
              </a:rPr>
              <a:t>2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80"/>
              </a:spcBef>
              <a:tabLst>
                <a:tab pos="604520" algn="l"/>
              </a:tabLst>
            </a:pP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-5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(</a:t>
            </a:r>
            <a:r>
              <a:rPr dirty="0" sz="850" spc="-25">
                <a:latin typeface="Calibri"/>
                <a:cs typeface="Calibri"/>
              </a:rPr>
              <a:t>3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>
                <a:latin typeface="Calibri"/>
                <a:cs typeface="Calibri"/>
              </a:rPr>
              <a:t>9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488940" y="3337155"/>
            <a:ext cx="15430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37820" algn="l"/>
                <a:tab pos="612775" algn="l"/>
                <a:tab pos="1019810" algn="l"/>
                <a:tab pos="1218565" algn="l"/>
                <a:tab pos="1468120" algn="l"/>
              </a:tabLst>
            </a:pPr>
            <a:r>
              <a:rPr dirty="0" sz="850" spc="-340">
                <a:latin typeface="Arial MT"/>
                <a:cs typeface="Arial MT"/>
              </a:rPr>
              <a:t>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350">
                <a:latin typeface="Arial MT"/>
                <a:cs typeface="Arial MT"/>
              </a:rPr>
              <a:t>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420">
                <a:latin typeface="Arial MT"/>
                <a:cs typeface="Arial MT"/>
              </a:rPr>
              <a:t>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420">
                <a:latin typeface="Arial MT"/>
                <a:cs typeface="Arial MT"/>
              </a:rPr>
              <a:t>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420">
                <a:latin typeface="Arial MT"/>
                <a:cs typeface="Arial MT"/>
              </a:rPr>
              <a:t>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420">
                <a:latin typeface="Arial MT"/>
                <a:cs typeface="Arial MT"/>
              </a:rPr>
              <a:t>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021880" y="3526335"/>
            <a:ext cx="558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144148" y="3526335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(2.2)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986180" y="3931619"/>
            <a:ext cx="4530725" cy="27666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93345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vectorized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35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squares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element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vector.</a:t>
            </a:r>
            <a:endParaRPr sz="850">
              <a:latin typeface="Calibri"/>
              <a:cs typeface="Calibri"/>
            </a:endParaRPr>
          </a:p>
          <a:p>
            <a:pPr marL="89535" marR="105410" indent="193675">
              <a:lnSpc>
                <a:spcPct val="114300"/>
              </a:lnSpc>
              <a:spcBef>
                <a:spcPts val="560"/>
              </a:spcBef>
            </a:pP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notations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mind,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2.1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rewritten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beautiful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compact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vectorized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form</a:t>
            </a:r>
            <a:endParaRPr sz="850">
              <a:latin typeface="Calibri"/>
              <a:cs typeface="Calibri"/>
            </a:endParaRPr>
          </a:p>
          <a:p>
            <a:pPr marL="1777364">
              <a:lnSpc>
                <a:spcPct val="100000"/>
              </a:lnSpc>
              <a:spcBef>
                <a:spcPts val="145"/>
              </a:spcBef>
              <a:tabLst>
                <a:tab pos="4170045" algn="l"/>
              </a:tabLst>
            </a:pP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3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70" i="1">
                <a:latin typeface="Times New Roman"/>
                <a:cs typeface="Times New Roman"/>
              </a:rPr>
              <a:t>σ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w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15" i="1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a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104">
                <a:latin typeface="Cambria"/>
                <a:cs typeface="Cambria"/>
              </a:rPr>
              <a:t>−</a:t>
            </a:r>
            <a:r>
              <a:rPr dirty="0" baseline="35353" sz="825" spc="104">
                <a:latin typeface="Calibri"/>
                <a:cs typeface="Calibri"/>
              </a:rPr>
              <a:t>1</a:t>
            </a:r>
            <a:r>
              <a:rPr dirty="0" baseline="35353" sz="825" spc="172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-30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(2.3)</a:t>
            </a:r>
            <a:endParaRPr sz="850">
              <a:latin typeface="Calibri"/>
              <a:cs typeface="Calibri"/>
            </a:endParaRPr>
          </a:p>
          <a:p>
            <a:pPr algn="just" marL="89535" marR="81280" indent="-1270">
              <a:lnSpc>
                <a:spcPct val="114300"/>
              </a:lnSpc>
              <a:spcBef>
                <a:spcPts val="775"/>
              </a:spcBef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global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previous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layer: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matrix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20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baseline="35353" sz="825" spc="15">
                <a:latin typeface="Calibri"/>
                <a:cs typeface="Calibri"/>
                <a:hlinkClick r:id="rId3" action="ppaction://hlinksldjump"/>
              </a:rPr>
              <a:t>1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global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easier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succinct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(and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involves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fewer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indices!)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neuron-by-</a:t>
            </a:r>
            <a:r>
              <a:rPr dirty="0" sz="850" spc="-10">
                <a:latin typeface="Calibri"/>
                <a:cs typeface="Calibri"/>
              </a:rPr>
              <a:t>neuron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escaping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index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hell,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remaining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precise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useful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matrix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libraries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multiplication,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addition,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vectorization.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Indeed,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(see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4" action="ppaction://hlinksldjump"/>
              </a:rPr>
              <a:t>1.6)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made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implicit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endParaRPr sz="850">
              <a:latin typeface="Calibri"/>
              <a:cs typeface="Calibri"/>
            </a:endParaRPr>
          </a:p>
          <a:p>
            <a:pPr algn="just" marL="86995" marR="87630" indent="196215">
              <a:lnSpc>
                <a:spcPct val="114300"/>
              </a:lnSpc>
              <a:spcBef>
                <a:spcPts val="560"/>
              </a:spcBef>
            </a:pP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2" action="ppaction://hlinksldjump"/>
              </a:rPr>
              <a:t>2.3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intermediate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quantity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509" i="1">
                <a:latin typeface="Calibri"/>
                <a:cs typeface="Calibri"/>
              </a:rPr>
              <a:t> </a:t>
            </a:r>
            <a:r>
              <a:rPr dirty="0" sz="850" spc="-50">
                <a:latin typeface="Cambria"/>
                <a:cs typeface="Cambria"/>
              </a:rPr>
              <a:t>≡</a:t>
            </a:r>
            <a:r>
              <a:rPr dirty="0" sz="850" spc="50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30" i="1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a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104">
                <a:latin typeface="Cambria"/>
                <a:cs typeface="Cambria"/>
              </a:rPr>
              <a:t>−</a:t>
            </a:r>
            <a:r>
              <a:rPr dirty="0" baseline="35353" sz="825" spc="104">
                <a:latin typeface="Calibri"/>
                <a:cs typeface="Calibri"/>
              </a:rPr>
              <a:t>1</a:t>
            </a:r>
            <a:r>
              <a:rPr dirty="0" baseline="35353" sz="825" spc="202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2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45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along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quantity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useful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naming: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55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l</a:t>
            </a:r>
            <a:r>
              <a:rPr dirty="0" sz="850" spc="60">
                <a:latin typeface="Calibri"/>
                <a:cs typeface="Calibri"/>
              </a:rPr>
              <a:t>.</a:t>
            </a:r>
            <a:r>
              <a:rPr dirty="0" sz="850" spc="43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considerable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6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chapter.</a:t>
            </a:r>
            <a:r>
              <a:rPr dirty="0" sz="850" spc="21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2.3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written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terms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236167" y="676367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041897" y="6689294"/>
            <a:ext cx="43961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525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85">
                <a:latin typeface="Tahoma"/>
                <a:cs typeface="Tahoma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baseline="35353" sz="825" spc="135" i="1">
                <a:latin typeface="Calibri"/>
                <a:cs typeface="Calibri"/>
              </a:rPr>
              <a:t>l</a:t>
            </a:r>
            <a:r>
              <a:rPr dirty="0" baseline="35353" sz="825" spc="-7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55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components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525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067296" y="6759323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179537" y="6927224"/>
            <a:ext cx="34925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baseline="5050" sz="825" i="1">
                <a:latin typeface="Calibri"/>
                <a:cs typeface="Calibri"/>
              </a:rPr>
              <a:t>k</a:t>
            </a:r>
            <a:r>
              <a:rPr dirty="0" baseline="5050" sz="825" spc="562" i="1">
                <a:latin typeface="Calibri"/>
                <a:cs typeface="Calibri"/>
              </a:rPr>
              <a:t>  </a:t>
            </a:r>
            <a:r>
              <a:rPr dirty="0" sz="550" i="1">
                <a:latin typeface="Calibri"/>
                <a:cs typeface="Calibri"/>
              </a:rPr>
              <a:t>jk</a:t>
            </a:r>
            <a:r>
              <a:rPr dirty="0" sz="550" spc="480" i="1">
                <a:latin typeface="Calibri"/>
                <a:cs typeface="Calibri"/>
              </a:rPr>
              <a:t> </a:t>
            </a: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786369" y="692722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322893" y="6845661"/>
            <a:ext cx="10083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1170" algn="l"/>
                <a:tab pos="974725" algn="l"/>
              </a:tabLst>
            </a:pPr>
            <a:r>
              <a:rPr dirty="0" sz="550" i="1">
                <a:latin typeface="Calibri"/>
                <a:cs typeface="Calibri"/>
              </a:rPr>
              <a:t>l</a:t>
            </a:r>
            <a:r>
              <a:rPr dirty="0" sz="550" spc="385" i="1">
                <a:latin typeface="Calibri"/>
                <a:cs typeface="Calibri"/>
              </a:rPr>
              <a:t>  </a:t>
            </a:r>
            <a:r>
              <a:rPr dirty="0" sz="550" spc="50" i="1">
                <a:latin typeface="Calibri"/>
                <a:cs typeface="Calibri"/>
              </a:rPr>
              <a:t>l</a:t>
            </a:r>
            <a:r>
              <a:rPr dirty="0" sz="550" spc="50">
                <a:latin typeface="Cambria"/>
                <a:cs typeface="Cambria"/>
              </a:rPr>
              <a:t>−</a:t>
            </a:r>
            <a:r>
              <a:rPr dirty="0" sz="550" spc="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287129" y="692722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243127" y="6852847"/>
            <a:ext cx="416432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83540" algn="l"/>
              </a:tabLst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465" i="1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1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48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j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067295" y="7000876"/>
            <a:ext cx="48640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35" i="1">
                <a:latin typeface="Calibri"/>
                <a:cs typeface="Calibri"/>
              </a:rPr>
              <a:t>l</a:t>
            </a:r>
            <a:r>
              <a:rPr dirty="0" sz="850" spc="3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1079996" y="7512165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 txBox="1"/>
          <p:nvPr/>
        </p:nvSpPr>
        <p:spPr>
          <a:xfrm>
            <a:off x="1169962" y="7531336"/>
            <a:ext cx="4268470" cy="1422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30303" sz="825" spc="75">
                <a:latin typeface="Calibri"/>
                <a:cs typeface="Calibri"/>
              </a:rPr>
              <a:t>1</a:t>
            </a:r>
            <a:r>
              <a:rPr dirty="0" sz="750" spc="50">
                <a:latin typeface="Calibri"/>
                <a:cs typeface="Calibri"/>
              </a:rPr>
              <a:t>By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way,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it’s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expression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motivates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quirk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i="1">
                <a:latin typeface="Calibri"/>
                <a:cs typeface="Calibri"/>
              </a:rPr>
              <a:t>w</a:t>
            </a:r>
            <a:r>
              <a:rPr dirty="0" baseline="30303" sz="825" i="1">
                <a:latin typeface="Calibri"/>
                <a:cs typeface="Calibri"/>
              </a:rPr>
              <a:t>l</a:t>
            </a:r>
            <a:r>
              <a:rPr dirty="0" baseline="30303" sz="825" spc="457" i="1">
                <a:latin typeface="Calibri"/>
                <a:cs typeface="Calibri"/>
              </a:rPr>
              <a:t>  </a:t>
            </a:r>
            <a:r>
              <a:rPr dirty="0" sz="750">
                <a:latin typeface="Calibri"/>
                <a:cs typeface="Calibri"/>
              </a:rPr>
              <a:t>notation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mentioned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earlier.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If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we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061566" y="7594211"/>
            <a:ext cx="4354195" cy="4203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2860040">
              <a:lnSpc>
                <a:spcPts val="625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  <a:p>
            <a:pPr algn="just" marL="12700" marR="5080" indent="5715">
              <a:lnSpc>
                <a:spcPts val="800"/>
              </a:lnSpc>
              <a:spcBef>
                <a:spcPts val="75"/>
              </a:spcBef>
            </a:pPr>
            <a:r>
              <a:rPr dirty="0" sz="750">
                <a:latin typeface="Calibri"/>
                <a:cs typeface="Calibri"/>
              </a:rPr>
              <a:t>used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i="1">
                <a:latin typeface="Calibri"/>
                <a:cs typeface="Calibri"/>
              </a:rPr>
              <a:t>j</a:t>
            </a:r>
            <a:r>
              <a:rPr dirty="0" sz="750" spc="105" i="1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index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input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neuron,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50" i="1">
                <a:latin typeface="Calibri"/>
                <a:cs typeface="Calibri"/>
              </a:rPr>
              <a:t>k</a:t>
            </a:r>
            <a:r>
              <a:rPr dirty="0" sz="750" spc="80" i="1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index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output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neuron,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then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we’d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need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replace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weight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matrix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Equation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2" action="ppaction://hlinksldjump"/>
              </a:rPr>
              <a:t>2.3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transpose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weight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matrix.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That’s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small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change,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annoying,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and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we’d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lose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easy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simplicity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saying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(and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thinking)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“apply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weight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matrix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activations”.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5778788" y="1331973"/>
            <a:ext cx="344170" cy="457200"/>
            <a:chOff x="5778788" y="1331973"/>
            <a:chExt cx="344170" cy="457200"/>
          </a:xfrm>
        </p:grpSpPr>
        <p:sp>
          <p:nvSpPr>
            <p:cNvPr id="44" name="object 44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/>
          <p:cNvSpPr txBox="1"/>
          <p:nvPr/>
        </p:nvSpPr>
        <p:spPr>
          <a:xfrm>
            <a:off x="5876620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3931920" cy="7239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42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850">
              <a:latin typeface="Arial MT"/>
              <a:cs typeface="Arial MT"/>
            </a:endParaRPr>
          </a:p>
          <a:p>
            <a:pPr marL="245745">
              <a:lnSpc>
                <a:spcPct val="100000"/>
              </a:lnSpc>
              <a:tabLst>
                <a:tab pos="572770" algn="l"/>
              </a:tabLst>
            </a:pPr>
            <a:r>
              <a:rPr dirty="0" sz="1050" spc="30" b="1">
                <a:latin typeface="Calibri"/>
                <a:cs typeface="Calibri"/>
              </a:rPr>
              <a:t>2.2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60" b="1">
                <a:latin typeface="Calibri"/>
                <a:cs typeface="Calibri"/>
              </a:rPr>
              <a:t>The</a:t>
            </a:r>
            <a:r>
              <a:rPr dirty="0" sz="1050" spc="17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two</a:t>
            </a:r>
            <a:r>
              <a:rPr dirty="0" sz="1050" spc="175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assumptions</a:t>
            </a:r>
            <a:r>
              <a:rPr dirty="0" sz="1050" spc="17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we</a:t>
            </a:r>
            <a:r>
              <a:rPr dirty="0" sz="1050" spc="17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need</a:t>
            </a:r>
            <a:r>
              <a:rPr dirty="0" sz="1050" spc="17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about</a:t>
            </a:r>
            <a:r>
              <a:rPr dirty="0" sz="1050" spc="17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the</a:t>
            </a:r>
            <a:r>
              <a:rPr dirty="0" sz="1050" spc="17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cost</a:t>
            </a:r>
            <a:r>
              <a:rPr dirty="0" sz="1050" spc="170" b="1">
                <a:latin typeface="Calibri"/>
                <a:cs typeface="Calibri"/>
              </a:rPr>
              <a:t> </a:t>
            </a:r>
            <a:r>
              <a:rPr dirty="0" sz="1050" spc="40" b="1">
                <a:latin typeface="Calibri"/>
                <a:cs typeface="Calibri"/>
              </a:rPr>
              <a:t>function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2384" y="1196257"/>
            <a:ext cx="4350385" cy="913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goal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-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-10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-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90">
                <a:latin typeface="Calibri"/>
                <a:cs typeface="Calibri"/>
              </a:rPr>
              <a:t>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assumptions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Before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assumptions,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useful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mind.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(c.f.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2" action="ppaction://hlinksldjump"/>
              </a:rPr>
              <a:t>1.6).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form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173897" y="2307136"/>
            <a:ext cx="2127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402141" y="2203516"/>
            <a:ext cx="149860" cy="3416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1800"/>
              </a:lnSpc>
              <a:spcBef>
                <a:spcPts val="95"/>
              </a:spcBef>
            </a:pPr>
            <a:r>
              <a:rPr dirty="0" u="sng" sz="85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50" spc="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2</a:t>
            </a:r>
            <a:r>
              <a:rPr dirty="0" sz="850" spc="3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56868" y="2187044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615556" y="2466283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206929" y="2297105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25485" y="2275538"/>
            <a:ext cx="770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96595" algn="l"/>
              </a:tabLst>
            </a:pPr>
            <a:r>
              <a:rPr dirty="0" sz="850" spc="140">
                <a:latin typeface="Arial MT"/>
                <a:cs typeface="Arial MT"/>
              </a:rPr>
              <a:t>¨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140">
                <a:latin typeface="Arial MT"/>
                <a:cs typeface="Arial MT"/>
              </a:rPr>
              <a:t>¨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70950" y="2271095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800593" y="2307134"/>
            <a:ext cx="7886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5" i="1">
                <a:latin typeface="Calibri"/>
                <a:cs typeface="Calibri"/>
              </a:rPr>
              <a:t>y</a:t>
            </a:r>
            <a:r>
              <a:rPr dirty="0" sz="850" spc="75">
                <a:latin typeface="Tahoma"/>
                <a:cs typeface="Tahoma"/>
              </a:rPr>
              <a:t>(</a:t>
            </a:r>
            <a:r>
              <a:rPr dirty="0" sz="850" spc="75" i="1">
                <a:latin typeface="Calibri"/>
                <a:cs typeface="Calibri"/>
              </a:rPr>
              <a:t>x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235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225">
                <a:latin typeface="Tahoma"/>
                <a:cs typeface="Tahoma"/>
              </a:rPr>
              <a:t>  </a:t>
            </a: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784208" y="2307134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(2.4)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75452" y="2680977"/>
            <a:ext cx="4406265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44450" marR="33020" indent="-6985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where: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n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total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number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examples;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sum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individual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sz="850" spc="80">
                <a:latin typeface="Calibri"/>
                <a:cs typeface="Calibri"/>
              </a:rPr>
              <a:t>;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70">
                <a:latin typeface="Tahoma"/>
                <a:cs typeface="Tahoma"/>
              </a:rPr>
              <a:t> </a:t>
            </a:r>
            <a:r>
              <a:rPr dirty="0" sz="850" spc="75" i="1">
                <a:latin typeface="Calibri"/>
                <a:cs typeface="Calibri"/>
              </a:rPr>
              <a:t>y</a:t>
            </a:r>
            <a:r>
              <a:rPr dirty="0" sz="850" spc="75">
                <a:latin typeface="Tahoma"/>
                <a:cs typeface="Tahoma"/>
              </a:rPr>
              <a:t>(</a:t>
            </a:r>
            <a:r>
              <a:rPr dirty="0" sz="850" spc="75" i="1">
                <a:latin typeface="Calibri"/>
                <a:cs typeface="Calibri"/>
              </a:rPr>
              <a:t>x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output;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L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denotes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network;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33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 spc="55" i="1">
                <a:latin typeface="Calibri"/>
                <a:cs typeface="Calibri"/>
              </a:rPr>
              <a:t>a</a:t>
            </a:r>
            <a:r>
              <a:rPr dirty="0" baseline="35353" sz="825" spc="82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2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input.</a:t>
            </a:r>
            <a:endParaRPr sz="850">
              <a:latin typeface="Calibri"/>
              <a:cs typeface="Calibri"/>
            </a:endParaRPr>
          </a:p>
          <a:p>
            <a:pPr algn="just" marL="234315">
              <a:lnSpc>
                <a:spcPct val="100000"/>
              </a:lnSpc>
              <a:spcBef>
                <a:spcPts val="145"/>
              </a:spcBef>
            </a:pPr>
            <a:r>
              <a:rPr dirty="0" sz="850" spc="10">
                <a:latin typeface="Calibri"/>
                <a:cs typeface="Calibri"/>
              </a:rPr>
              <a:t>Okay,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assumptions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sz="850" spc="85">
                <a:latin typeface="Calibri"/>
                <a:cs typeface="Calibri"/>
              </a:rPr>
              <a:t>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order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07301" y="3437994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applied?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assumption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413901" y="3571754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2425687" y="3676459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 h="0">
                <a:moveTo>
                  <a:pt x="0" y="0"/>
                </a:moveTo>
                <a:lnTo>
                  <a:pt x="42341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2485754" y="3492514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389403" y="3658762"/>
            <a:ext cx="15551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24790" algn="l"/>
                <a:tab pos="1482090" algn="l"/>
              </a:tabLst>
            </a:pPr>
            <a:r>
              <a:rPr dirty="0" sz="550" spc="-50" i="1">
                <a:latin typeface="Calibri"/>
                <a:cs typeface="Calibri"/>
              </a:rPr>
              <a:t>n</a:t>
            </a:r>
            <a:r>
              <a:rPr dirty="0" sz="550" i="1">
                <a:latin typeface="Calibri"/>
                <a:cs typeface="Calibri"/>
              </a:rPr>
              <a:t>	x</a:t>
            </a:r>
            <a:r>
              <a:rPr dirty="0" sz="550" spc="295" i="1">
                <a:latin typeface="Calibri"/>
                <a:cs typeface="Calibri"/>
              </a:rPr>
              <a:t>  </a:t>
            </a:r>
            <a:r>
              <a:rPr dirty="0" baseline="10101" sz="825" spc="-75" i="1">
                <a:latin typeface="Calibri"/>
                <a:cs typeface="Calibri"/>
              </a:rPr>
              <a:t>x</a:t>
            </a:r>
            <a:r>
              <a:rPr dirty="0" baseline="10101" sz="825" i="1">
                <a:latin typeface="Calibri"/>
                <a:cs typeface="Calibri"/>
              </a:rPr>
              <a:t>	</a:t>
            </a:r>
            <a:r>
              <a:rPr dirty="0" baseline="10101" sz="825" spc="-75" i="1">
                <a:latin typeface="Calibri"/>
                <a:cs typeface="Calibri"/>
              </a:rPr>
              <a:t>x</a:t>
            </a:r>
            <a:endParaRPr baseline="10101" sz="825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7301" y="3586038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972310" algn="l"/>
              </a:tabLst>
            </a:pP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written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average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70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95" i="1">
                <a:latin typeface="Calibri"/>
                <a:cs typeface="Calibri"/>
              </a:rPr>
              <a:t> 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95" i="1">
                <a:latin typeface="Calibri"/>
                <a:cs typeface="Calibri"/>
              </a:rPr>
              <a:t> 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individual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07305" y="3734068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examples,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75" i="1">
                <a:latin typeface="Calibri"/>
                <a:cs typeface="Calibri"/>
              </a:rPr>
              <a:t>x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single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1955241" y="397253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 h="0">
                <a:moveTo>
                  <a:pt x="0" y="0"/>
                </a:moveTo>
                <a:lnTo>
                  <a:pt x="4052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1715524" y="3954837"/>
            <a:ext cx="31877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39395" algn="l"/>
              </a:tabLst>
            </a:pPr>
            <a:r>
              <a:rPr dirty="0" baseline="10101" sz="825" spc="-75" i="1">
                <a:latin typeface="Calibri"/>
                <a:cs typeface="Calibri"/>
              </a:rPr>
              <a:t>x</a:t>
            </a:r>
            <a:r>
              <a:rPr dirty="0" baseline="10101" sz="825" i="1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942541" y="3874926"/>
            <a:ext cx="54229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7350" algn="l"/>
              </a:tabLst>
            </a:pPr>
            <a:r>
              <a:rPr dirty="0" baseline="5050" sz="825" spc="-75">
                <a:latin typeface="Calibri"/>
                <a:cs typeface="Calibri"/>
              </a:rPr>
              <a:t>1</a:t>
            </a:r>
            <a:r>
              <a:rPr dirty="0" baseline="5050" sz="825">
                <a:latin typeface="Calibri"/>
                <a:cs typeface="Calibri"/>
              </a:rPr>
              <a:t>	</a:t>
            </a:r>
            <a:r>
              <a:rPr dirty="0" sz="550" spc="60" i="1">
                <a:latin typeface="Calibri"/>
                <a:cs typeface="Calibri"/>
              </a:rPr>
              <a:t>L</a:t>
            </a:r>
            <a:r>
              <a:rPr dirty="0" sz="550" spc="390" i="1">
                <a:latin typeface="Calibri"/>
                <a:cs typeface="Calibri"/>
              </a:rPr>
              <a:t> 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01" y="3882100"/>
            <a:ext cx="43491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80" i="1">
                <a:latin typeface="Calibri"/>
                <a:cs typeface="Calibri"/>
              </a:rPr>
              <a:t> 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195">
                <a:latin typeface="Tahoma"/>
                <a:cs typeface="Tahoma"/>
              </a:rPr>
              <a:t>  </a:t>
            </a:r>
            <a:r>
              <a:rPr dirty="0" sz="850" spc="80">
                <a:latin typeface="Cambria"/>
                <a:cs typeface="Cambria"/>
              </a:rPr>
              <a:t>ǁ</a:t>
            </a:r>
            <a:r>
              <a:rPr dirty="0" sz="850" spc="-55">
                <a:latin typeface="Cambria"/>
                <a:cs typeface="Cambria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sz="850" spc="315" i="1">
                <a:latin typeface="Calibri"/>
                <a:cs typeface="Calibri"/>
              </a:rPr>
              <a:t> </a:t>
            </a:r>
            <a:r>
              <a:rPr dirty="0" sz="850" spc="80">
                <a:latin typeface="Cambria"/>
                <a:cs typeface="Cambria"/>
              </a:rPr>
              <a:t>ǁ</a:t>
            </a:r>
            <a:r>
              <a:rPr dirty="0" sz="850" spc="260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assumption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hold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74354" y="4013296"/>
            <a:ext cx="4431665" cy="135826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240"/>
              </a:spcBef>
            </a:pP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book.</a:t>
            </a:r>
            <a:endParaRPr sz="850">
              <a:latin typeface="Calibri"/>
              <a:cs typeface="Calibri"/>
            </a:endParaRPr>
          </a:p>
          <a:p>
            <a:pPr marL="38100" marR="30480" indent="19685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reason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assumption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because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actually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70" i="1">
                <a:latin typeface="Calibri"/>
                <a:cs typeface="Calibri"/>
              </a:rPr>
              <a:t>C</a:t>
            </a:r>
            <a:r>
              <a:rPr dirty="0" baseline="-20202" sz="825" spc="104" i="1">
                <a:latin typeface="Calibri"/>
                <a:cs typeface="Calibri"/>
              </a:rPr>
              <a:t>x</a:t>
            </a:r>
            <a:r>
              <a:rPr dirty="0" baseline="-20202" sz="825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/∂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70" i="1">
                <a:latin typeface="Calibri"/>
                <a:cs typeface="Calibri"/>
              </a:rPr>
              <a:t>C</a:t>
            </a:r>
            <a:r>
              <a:rPr dirty="0" baseline="-20202" sz="825" spc="104" i="1">
                <a:latin typeface="Calibri"/>
                <a:cs typeface="Calibri"/>
              </a:rPr>
              <a:t>x</a:t>
            </a:r>
            <a:r>
              <a:rPr dirty="0" baseline="-20202" sz="825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/∂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recover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averaging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assumption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23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fixed,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subscript,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C</a:t>
            </a:r>
            <a:r>
              <a:rPr dirty="0" baseline="-20202" sz="825" spc="104" i="1">
                <a:latin typeface="Calibri"/>
                <a:cs typeface="Calibri"/>
              </a:rPr>
              <a:t>x</a:t>
            </a:r>
            <a:r>
              <a:rPr dirty="0" baseline="-20202" sz="825" spc="502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sz="850" spc="85">
                <a:latin typeface="Calibri"/>
                <a:cs typeface="Calibri"/>
              </a:rPr>
              <a:t>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eventually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22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notational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nuisance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left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implicit.</a:t>
            </a:r>
            <a:endParaRPr sz="850">
              <a:latin typeface="Calibri"/>
              <a:cs typeface="Calibri"/>
            </a:endParaRPr>
          </a:p>
          <a:p>
            <a:pPr marL="45085" marR="57785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assumption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written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26" name="object 2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68005" y="5499671"/>
            <a:ext cx="2974738" cy="1296835"/>
          </a:xfrm>
          <a:prstGeom prst="rect">
            <a:avLst/>
          </a:prstGeom>
        </p:spPr>
      </p:pic>
      <p:sp>
        <p:nvSpPr>
          <p:cNvPr id="27" name="object 27"/>
          <p:cNvSpPr txBox="1"/>
          <p:nvPr/>
        </p:nvSpPr>
        <p:spPr>
          <a:xfrm>
            <a:off x="707301" y="6931566"/>
            <a:ext cx="434848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satisfies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requirement,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204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written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261476" y="7373328"/>
            <a:ext cx="7816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708025" algn="l"/>
              </a:tabLst>
            </a:pP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261476" y="7531189"/>
            <a:ext cx="7816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708025" algn="l"/>
              </a:tabLst>
            </a:pPr>
            <a:r>
              <a:rPr dirty="0" sz="850">
                <a:latin typeface="Calibri"/>
                <a:cs typeface="Calibri"/>
              </a:rPr>
              <a:t>2	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048129" y="7330213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117736" y="7613196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319160" y="751143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538553" y="7524668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656431" y="7440278"/>
            <a:ext cx="10369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93444" algn="l"/>
              </a:tabLst>
            </a:pPr>
            <a:r>
              <a:rPr dirty="0" sz="550" spc="60" i="1">
                <a:latin typeface="Calibri"/>
                <a:cs typeface="Calibri"/>
              </a:rPr>
              <a:t>L</a:t>
            </a:r>
            <a:r>
              <a:rPr dirty="0" sz="550" spc="390" i="1">
                <a:latin typeface="Calibri"/>
                <a:cs typeface="Calibri"/>
              </a:rPr>
              <a:t> </a:t>
            </a:r>
            <a:r>
              <a:rPr dirty="0" sz="550" spc="-50">
                <a:latin typeface="Calibri"/>
                <a:cs typeface="Calibri"/>
              </a:rPr>
              <a:t>2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60" i="1">
                <a:latin typeface="Calibri"/>
                <a:cs typeface="Calibri"/>
              </a:rPr>
              <a:t>L</a:t>
            </a:r>
            <a:r>
              <a:rPr dirty="0" sz="550" spc="290" i="1">
                <a:latin typeface="Calibri"/>
                <a:cs typeface="Calibri"/>
              </a:rPr>
              <a:t> 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033228" y="7450292"/>
            <a:ext cx="16967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180465" algn="l"/>
              </a:tabLst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200">
                <a:latin typeface="Tahoma"/>
                <a:cs typeface="Tahoma"/>
              </a:rPr>
              <a:t>  </a:t>
            </a:r>
            <a:r>
              <a:rPr dirty="0" sz="850" spc="80">
                <a:latin typeface="Cambria"/>
                <a:cs typeface="Cambria"/>
              </a:rPr>
              <a:t>ǁ</a:t>
            </a:r>
            <a:r>
              <a:rPr dirty="0" sz="850" spc="-8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235" i="1">
                <a:latin typeface="Calibri"/>
                <a:cs typeface="Calibri"/>
              </a:rPr>
              <a:t> </a:t>
            </a:r>
            <a:r>
              <a:rPr dirty="0" sz="850" spc="80">
                <a:latin typeface="Cambria"/>
                <a:cs typeface="Cambria"/>
              </a:rPr>
              <a:t>ǁ</a:t>
            </a:r>
            <a:r>
              <a:rPr dirty="0" sz="850" spc="390">
                <a:latin typeface="Cambria"/>
                <a:cs typeface="Cambria"/>
              </a:rPr>
              <a:t> </a:t>
            </a:r>
            <a:r>
              <a:rPr dirty="0" sz="850">
                <a:latin typeface="Tahoma"/>
                <a:cs typeface="Tahoma"/>
              </a:rPr>
              <a:t>=	(</a:t>
            </a:r>
            <a:r>
              <a:rPr dirty="0" sz="850" spc="-16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29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24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114">
                <a:latin typeface="Tahoma"/>
                <a:cs typeface="Tahoma"/>
              </a:rPr>
              <a:t> </a:t>
            </a: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784164" y="7450292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(2.5)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07301" y="7860046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depends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-2530" y="1331973"/>
            <a:ext cx="344170" cy="457200"/>
            <a:chOff x="-2530" y="1331973"/>
            <a:chExt cx="344170" cy="457200"/>
          </a:xfrm>
        </p:grpSpPr>
        <p:sp>
          <p:nvSpPr>
            <p:cNvPr id="39" name="object 39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51203"/>
                  </a:lnTo>
                  <a:lnTo>
                    <a:pt x="2525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3"/>
                  </a:moveTo>
                  <a:lnTo>
                    <a:pt x="2525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/>
          <p:cNvSpPr txBox="1"/>
          <p:nvPr/>
        </p:nvSpPr>
        <p:spPr>
          <a:xfrm>
            <a:off x="25831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456" y="372759"/>
            <a:ext cx="4610100" cy="14547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642235">
              <a:lnSpc>
                <a:spcPct val="100000"/>
              </a:lnSpc>
              <a:spcBef>
                <a:spcPts val="110"/>
              </a:spcBef>
            </a:pPr>
            <a:r>
              <a:rPr dirty="0" baseline="3267" sz="1275">
                <a:latin typeface="Calibri"/>
                <a:cs typeface="Calibri"/>
              </a:rPr>
              <a:t>2.3.</a:t>
            </a:r>
            <a:r>
              <a:rPr dirty="0" baseline="3267" sz="1275" spc="562">
                <a:latin typeface="Calibri"/>
                <a:cs typeface="Calibri"/>
              </a:rPr>
              <a:t> </a:t>
            </a:r>
            <a:r>
              <a:rPr dirty="0" baseline="3267" sz="1275">
                <a:latin typeface="Calibri"/>
                <a:cs typeface="Calibri"/>
              </a:rPr>
              <a:t>The</a:t>
            </a:r>
            <a:r>
              <a:rPr dirty="0" baseline="3267" sz="1275" spc="165">
                <a:latin typeface="Calibri"/>
                <a:cs typeface="Calibri"/>
              </a:rPr>
              <a:t> </a:t>
            </a:r>
            <a:r>
              <a:rPr dirty="0" baseline="3267" sz="1275">
                <a:latin typeface="Calibri"/>
                <a:cs typeface="Calibri"/>
              </a:rPr>
              <a:t>Hadamard</a:t>
            </a:r>
            <a:r>
              <a:rPr dirty="0" baseline="3267" sz="1275" spc="157">
                <a:latin typeface="Calibri"/>
                <a:cs typeface="Calibri"/>
              </a:rPr>
              <a:t> </a:t>
            </a:r>
            <a:r>
              <a:rPr dirty="0" baseline="3267" sz="1275">
                <a:latin typeface="Calibri"/>
                <a:cs typeface="Calibri"/>
              </a:rPr>
              <a:t>product,</a:t>
            </a:r>
            <a:r>
              <a:rPr dirty="0" baseline="3267" sz="1275" spc="157">
                <a:latin typeface="Calibri"/>
                <a:cs typeface="Calibri"/>
              </a:rPr>
              <a:t> </a:t>
            </a:r>
            <a:r>
              <a:rPr dirty="0" baseline="3267" sz="1275" i="1">
                <a:latin typeface="Calibri"/>
                <a:cs typeface="Calibri"/>
              </a:rPr>
              <a:t>s</a:t>
            </a:r>
            <a:r>
              <a:rPr dirty="0" baseline="3267" sz="1275" spc="52" i="1">
                <a:latin typeface="Calibri"/>
                <a:cs typeface="Calibri"/>
              </a:rPr>
              <a:t> </a:t>
            </a:r>
            <a:r>
              <a:rPr dirty="0" baseline="3267" sz="1275" spc="-150">
                <a:latin typeface="Cambria"/>
                <a:cs typeface="Cambria"/>
              </a:rPr>
              <a:t>◉</a:t>
            </a:r>
            <a:r>
              <a:rPr dirty="0" baseline="3267" sz="1275" spc="120">
                <a:latin typeface="Cambria"/>
                <a:cs typeface="Cambria"/>
              </a:rPr>
              <a:t> </a:t>
            </a:r>
            <a:r>
              <a:rPr dirty="0" baseline="3267" sz="1275" i="1">
                <a:latin typeface="Calibri"/>
                <a:cs typeface="Calibri"/>
              </a:rPr>
              <a:t>t</a:t>
            </a:r>
            <a:r>
              <a:rPr dirty="0" sz="850" spc="355">
                <a:latin typeface="Arial MT"/>
                <a:cs typeface="Arial MT"/>
              </a:rPr>
              <a:t>   </a:t>
            </a:r>
            <a:r>
              <a:rPr dirty="0" baseline="3267" sz="1275" spc="37">
                <a:latin typeface="Calibri"/>
                <a:cs typeface="Calibri"/>
              </a:rPr>
              <a:t>43</a:t>
            </a:r>
            <a:endParaRPr baseline="3267" sz="1275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850">
              <a:latin typeface="Calibri"/>
              <a:cs typeface="Calibri"/>
            </a:endParaRPr>
          </a:p>
          <a:p>
            <a:pPr algn="just" marL="38100" marR="213995" indent="635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y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wonder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regarding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38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y</a:t>
            </a:r>
            <a:r>
              <a:rPr dirty="0" sz="850" spc="65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Remember,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though,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35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fixed,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21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fixed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i.e.,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sense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regard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397" i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alone,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21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merely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6980" y="2050449"/>
            <a:ext cx="4401185" cy="1062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2545">
              <a:lnSpc>
                <a:spcPct val="100000"/>
              </a:lnSpc>
              <a:spcBef>
                <a:spcPts val="100"/>
              </a:spcBef>
              <a:tabLst>
                <a:tab pos="370205" algn="l"/>
              </a:tabLst>
            </a:pPr>
            <a:r>
              <a:rPr dirty="0" sz="1050" spc="30" b="1">
                <a:latin typeface="Calibri"/>
                <a:cs typeface="Calibri"/>
              </a:rPr>
              <a:t>2.3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60" b="1">
                <a:latin typeface="Calibri"/>
                <a:cs typeface="Calibri"/>
              </a:rPr>
              <a:t>The</a:t>
            </a:r>
            <a:r>
              <a:rPr dirty="0" sz="1050" spc="70" b="1">
                <a:latin typeface="Calibri"/>
                <a:cs typeface="Calibri"/>
              </a:rPr>
              <a:t> Hadamard </a:t>
            </a:r>
            <a:r>
              <a:rPr dirty="0" sz="1050" spc="50" b="1">
                <a:latin typeface="Calibri"/>
                <a:cs typeface="Calibri"/>
              </a:rPr>
              <a:t>product,</a:t>
            </a:r>
            <a:r>
              <a:rPr dirty="0" sz="1050" spc="75" b="1">
                <a:latin typeface="Calibri"/>
                <a:cs typeface="Calibri"/>
              </a:rPr>
              <a:t> </a:t>
            </a:r>
            <a:r>
              <a:rPr dirty="0" sz="1050" i="1">
                <a:latin typeface="Calibri"/>
                <a:cs typeface="Calibri"/>
              </a:rPr>
              <a:t>s</a:t>
            </a:r>
            <a:r>
              <a:rPr dirty="0" sz="1050" spc="-15" i="1">
                <a:latin typeface="Calibri"/>
                <a:cs typeface="Calibri"/>
              </a:rPr>
              <a:t> </a:t>
            </a:r>
            <a:r>
              <a:rPr dirty="0" sz="1050" spc="-120">
                <a:latin typeface="Cambria"/>
                <a:cs typeface="Cambria"/>
              </a:rPr>
              <a:t>◉</a:t>
            </a:r>
            <a:r>
              <a:rPr dirty="0" sz="1050" spc="35">
                <a:latin typeface="Cambria"/>
                <a:cs typeface="Cambria"/>
              </a:rPr>
              <a:t> </a:t>
            </a:r>
            <a:r>
              <a:rPr dirty="0" sz="1050" spc="-50" i="1">
                <a:latin typeface="Calibri"/>
                <a:cs typeface="Calibri"/>
              </a:rPr>
              <a:t>t</a:t>
            </a:r>
            <a:endParaRPr sz="1050">
              <a:latin typeface="Calibri"/>
              <a:cs typeface="Calibri"/>
            </a:endParaRPr>
          </a:p>
          <a:p>
            <a:pPr algn="just" marL="42545" marR="30480" indent="-5080">
              <a:lnSpc>
                <a:spcPct val="114300"/>
              </a:lnSpc>
              <a:spcBef>
                <a:spcPts val="1070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backpropagation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algorithm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based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common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linear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algebraic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operations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things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like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addition,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multiplying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matrix,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on.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operations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little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less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commonly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used.</a:t>
            </a:r>
            <a:r>
              <a:rPr dirty="0" sz="850">
                <a:latin typeface="Calibri"/>
                <a:cs typeface="Calibri"/>
              </a:rPr>
              <a:t> 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s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5" i="1">
                <a:latin typeface="Calibri"/>
                <a:cs typeface="Calibri"/>
              </a:rPr>
              <a:t>t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two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vectors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same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dimension.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Then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use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s</a:t>
            </a:r>
            <a:r>
              <a:rPr dirty="0" sz="850" spc="-15" i="1">
                <a:latin typeface="Calibri"/>
                <a:cs typeface="Calibri"/>
              </a:rPr>
              <a:t> </a:t>
            </a:r>
            <a:r>
              <a:rPr dirty="0" sz="850" spc="-95">
                <a:latin typeface="Cambria"/>
                <a:cs typeface="Cambria"/>
              </a:rPr>
              <a:t>◉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-5" i="1">
                <a:latin typeface="Calibri"/>
                <a:cs typeface="Calibri"/>
              </a:rPr>
              <a:t>t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denote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elementwise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product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two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vectors.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Thus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components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s</a:t>
            </a:r>
            <a:r>
              <a:rPr dirty="0" sz="850" spc="-15" i="1">
                <a:latin typeface="Calibri"/>
                <a:cs typeface="Calibri"/>
              </a:rPr>
              <a:t> </a:t>
            </a:r>
            <a:r>
              <a:rPr dirty="0" sz="850" spc="-95">
                <a:latin typeface="Cambria"/>
                <a:cs typeface="Cambria"/>
              </a:rPr>
              <a:t>◉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-5" i="1">
                <a:latin typeface="Calibri"/>
                <a:cs typeface="Calibri"/>
              </a:rPr>
              <a:t>t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sz="850" spc="-15" i="1">
                <a:latin typeface="Calibri"/>
                <a:cs typeface="Calibri"/>
              </a:rPr>
              <a:t> </a:t>
            </a:r>
            <a:r>
              <a:rPr dirty="0" sz="850" spc="-95">
                <a:latin typeface="Cambria"/>
                <a:cs typeface="Cambria"/>
              </a:rPr>
              <a:t>◉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50" i="1">
                <a:latin typeface="Calibri"/>
                <a:cs typeface="Calibri"/>
              </a:rPr>
              <a:t>t</a:t>
            </a:r>
            <a:r>
              <a:rPr dirty="0" sz="850" spc="50">
                <a:latin typeface="Tahoma"/>
                <a:cs typeface="Tahoma"/>
              </a:rPr>
              <a:t>)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232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35" i="1">
                <a:latin typeface="Calibri"/>
                <a:cs typeface="Calibri"/>
              </a:rPr>
              <a:t>s</a:t>
            </a:r>
            <a:r>
              <a:rPr dirty="0" baseline="-20202" sz="825" spc="52" i="1">
                <a:latin typeface="Calibri"/>
                <a:cs typeface="Calibri"/>
              </a:rPr>
              <a:t>j</a:t>
            </a:r>
            <a:r>
              <a:rPr dirty="0" baseline="-20202" sz="825" spc="7" i="1">
                <a:latin typeface="Calibri"/>
                <a:cs typeface="Calibri"/>
              </a:rPr>
              <a:t> </a:t>
            </a:r>
            <a:r>
              <a:rPr dirty="0" sz="850" spc="-5" i="1">
                <a:latin typeface="Calibri"/>
                <a:cs typeface="Calibri"/>
              </a:rPr>
              <a:t>t</a:t>
            </a:r>
            <a:r>
              <a:rPr dirty="0" sz="850" spc="-80" i="1">
                <a:latin typeface="Calibri"/>
                <a:cs typeface="Calibri"/>
              </a:rPr>
              <a:t> </a:t>
            </a:r>
            <a:r>
              <a:rPr dirty="0" baseline="-20202" sz="825" spc="22" i="1">
                <a:latin typeface="Calibri"/>
                <a:cs typeface="Calibri"/>
              </a:rPr>
              <a:t>j</a:t>
            </a:r>
            <a:r>
              <a:rPr dirty="0" baseline="-20202" sz="825" spc="-75" i="1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example,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438946" y="3297697"/>
            <a:ext cx="5187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44500" algn="l"/>
              </a:tabLst>
            </a:pPr>
            <a:r>
              <a:rPr dirty="0" sz="850">
                <a:latin typeface="Calibri"/>
                <a:cs typeface="Calibri"/>
              </a:rPr>
              <a:t>1	3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438946" y="3475349"/>
            <a:ext cx="5187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44500" algn="l"/>
              </a:tabLst>
            </a:pPr>
            <a:r>
              <a:rPr dirty="0" sz="850">
                <a:latin typeface="Calibri"/>
                <a:cs typeface="Calibri"/>
              </a:rPr>
              <a:t>2	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45410" y="3382584"/>
            <a:ext cx="5486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49580" algn="l"/>
              </a:tabLst>
            </a:pPr>
            <a:r>
              <a:rPr dirty="0" sz="850" spc="-50">
                <a:latin typeface="Cambria"/>
                <a:cs typeface="Cambria"/>
              </a:rPr>
              <a:t>◉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687688" y="3382585"/>
            <a:ext cx="111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19373" y="3251229"/>
            <a:ext cx="691515" cy="381000"/>
          </a:xfrm>
          <a:prstGeom prst="rect">
            <a:avLst/>
          </a:prstGeom>
        </p:spPr>
        <p:txBody>
          <a:bodyPr wrap="square" lIns="0" tIns="603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75"/>
              </a:spcBef>
              <a:tabLst>
                <a:tab pos="617220" algn="l"/>
              </a:tabLst>
            </a:pP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∗</a:t>
            </a:r>
            <a:r>
              <a:rPr dirty="0" sz="850" spc="-2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3	3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80"/>
              </a:spcBef>
              <a:tabLst>
                <a:tab pos="617220" algn="l"/>
              </a:tabLst>
            </a:pPr>
            <a:r>
              <a:rPr dirty="0" sz="850" spc="50">
                <a:latin typeface="Calibri"/>
                <a:cs typeface="Calibri"/>
              </a:rPr>
              <a:t>2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∗</a:t>
            </a:r>
            <a:r>
              <a:rPr dirty="0" sz="850" spc="-2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4	8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313583" y="3193408"/>
            <a:ext cx="18224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61620" algn="l"/>
                <a:tab pos="694055" algn="l"/>
                <a:tab pos="892810" algn="l"/>
                <a:tab pos="1299210" algn="l"/>
                <a:tab pos="1497965" algn="l"/>
                <a:tab pos="1747520" algn="l"/>
              </a:tabLst>
            </a:pPr>
            <a:r>
              <a:rPr dirty="0" sz="850" spc="-420">
                <a:latin typeface="Arial MT"/>
                <a:cs typeface="Arial MT"/>
              </a:rPr>
              <a:t>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370">
                <a:latin typeface="Arial MT"/>
                <a:cs typeface="Arial MT"/>
              </a:rPr>
              <a:t></a:t>
            </a:r>
            <a:r>
              <a:rPr dirty="0" sz="850" spc="240">
                <a:latin typeface="Arial MT"/>
                <a:cs typeface="Arial MT"/>
              </a:rPr>
              <a:t>  </a:t>
            </a:r>
            <a:r>
              <a:rPr dirty="0" sz="850" spc="-420">
                <a:latin typeface="Arial MT"/>
                <a:cs typeface="Arial MT"/>
              </a:rPr>
              <a:t>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420">
                <a:latin typeface="Arial MT"/>
                <a:cs typeface="Arial MT"/>
              </a:rPr>
              <a:t>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420">
                <a:latin typeface="Arial MT"/>
                <a:cs typeface="Arial MT"/>
              </a:rPr>
              <a:t>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420">
                <a:latin typeface="Arial MT"/>
                <a:cs typeface="Arial MT"/>
              </a:rPr>
              <a:t>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420">
                <a:latin typeface="Arial MT"/>
                <a:cs typeface="Arial MT"/>
              </a:rPr>
              <a:t>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430">
                <a:latin typeface="Arial MT"/>
                <a:cs typeface="Arial MT"/>
              </a:rPr>
              <a:t>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125872" y="3382585"/>
            <a:ext cx="558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44180" y="3382585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(2.6)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2380" y="3771005"/>
            <a:ext cx="4354830" cy="13106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145" marR="635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kind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elementwise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multiplication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Hadamard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product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Schur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product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refer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Hadamard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product.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libraries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fast</a:t>
            </a:r>
            <a:r>
              <a:rPr dirty="0" sz="850" spc="20">
                <a:latin typeface="Calibri"/>
                <a:cs typeface="Calibri"/>
              </a:rPr>
              <a:t> implementations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Hadamard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product,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implementing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25"/>
              </a:spcBef>
            </a:pPr>
            <a:endParaRPr sz="850">
              <a:latin typeface="Calibri"/>
              <a:cs typeface="Calibri"/>
            </a:endParaRPr>
          </a:p>
          <a:p>
            <a:pPr marL="17145">
              <a:lnSpc>
                <a:spcPct val="100000"/>
              </a:lnSpc>
              <a:tabLst>
                <a:tab pos="344805" algn="l"/>
              </a:tabLst>
            </a:pPr>
            <a:r>
              <a:rPr dirty="0" sz="1050" spc="30" b="1">
                <a:latin typeface="Calibri"/>
                <a:cs typeface="Calibri"/>
              </a:rPr>
              <a:t>2.4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60" b="1">
                <a:latin typeface="Calibri"/>
                <a:cs typeface="Calibri"/>
              </a:rPr>
              <a:t>The</a:t>
            </a:r>
            <a:r>
              <a:rPr dirty="0" sz="1050" spc="13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four</a:t>
            </a:r>
            <a:r>
              <a:rPr dirty="0" sz="1050" spc="13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fundamental</a:t>
            </a:r>
            <a:r>
              <a:rPr dirty="0" sz="1050" spc="130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equations</a:t>
            </a:r>
            <a:r>
              <a:rPr dirty="0" sz="1050" spc="13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behind</a:t>
            </a:r>
            <a:r>
              <a:rPr dirty="0" sz="1050" spc="135" b="1">
                <a:latin typeface="Calibri"/>
                <a:cs typeface="Calibri"/>
              </a:rPr>
              <a:t> </a:t>
            </a:r>
            <a:r>
              <a:rPr dirty="0" sz="1050" spc="40" b="1">
                <a:latin typeface="Calibri"/>
                <a:cs typeface="Calibri"/>
              </a:rPr>
              <a:t>backpropagation</a:t>
            </a:r>
            <a:endParaRPr sz="1050">
              <a:latin typeface="Calibri"/>
              <a:cs typeface="Calibri"/>
            </a:endParaRPr>
          </a:p>
          <a:p>
            <a:pPr algn="just" marL="17145">
              <a:lnSpc>
                <a:spcPct val="100000"/>
              </a:lnSpc>
              <a:spcBef>
                <a:spcPts val="1215"/>
              </a:spcBef>
            </a:pP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41896" y="5072789"/>
            <a:ext cx="43357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Ultimately,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35353" sz="825" spc="-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316624" y="5147150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8529" y="5310703"/>
            <a:ext cx="3415029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8264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41896" y="5236326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1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60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7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introduce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intermediate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quantity,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1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60856" y="5384370"/>
            <a:ext cx="43522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error</a:t>
            </a:r>
            <a:r>
              <a:rPr dirty="0" sz="850" spc="3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j</a:t>
            </a:r>
            <a:r>
              <a:rPr dirty="0" sz="850" spc="10">
                <a:latin typeface="Calibri"/>
                <a:cs typeface="Calibri"/>
              </a:rPr>
              <a:t>-th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l</a:t>
            </a:r>
            <a:r>
              <a:rPr dirty="0" sz="850" spc="50">
                <a:latin typeface="Calibri"/>
                <a:cs typeface="Calibri"/>
              </a:rPr>
              <a:t>-</a:t>
            </a:r>
            <a:r>
              <a:rPr dirty="0" sz="850" spc="10">
                <a:latin typeface="Calibri"/>
                <a:cs typeface="Calibri"/>
              </a:rPr>
              <a:t>th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procedure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165336" y="5606773"/>
            <a:ext cx="241617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144905" algn="l"/>
                <a:tab pos="1711325" algn="l"/>
                <a:tab pos="238315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25" i="1">
                <a:latin typeface="Calibri"/>
                <a:cs typeface="Calibri"/>
              </a:rPr>
              <a:t>jk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41896" y="5532402"/>
            <a:ext cx="36048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1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45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1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457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1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7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57081" y="5683748"/>
            <a:ext cx="417702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defined,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imagine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demon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21" name="object 2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79557" y="6017315"/>
            <a:ext cx="2520895" cy="1035921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1062380" y="7219012"/>
            <a:ext cx="43503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demon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l</a:t>
            </a:r>
            <a:r>
              <a:rPr dirty="0" sz="850" spc="55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demon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110278" y="7441419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41896" y="7367042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messes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operation.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z</a:t>
            </a:r>
            <a:r>
              <a:rPr dirty="0" baseline="35353" sz="825" spc="157" i="1">
                <a:latin typeface="Calibri"/>
                <a:cs typeface="Calibri"/>
              </a:rPr>
              <a:t>l</a:t>
            </a:r>
            <a:r>
              <a:rPr dirty="0" baseline="35353" sz="825" spc="56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neuron’s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weighted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016911" y="7604970"/>
            <a:ext cx="2047239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704975" algn="l"/>
                <a:tab pos="2014220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41889" y="7530594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input,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outputting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baseline="35353" sz="825" spc="135" i="1">
                <a:latin typeface="Calibri"/>
                <a:cs typeface="Calibri"/>
              </a:rPr>
              <a:t>l</a:t>
            </a:r>
            <a:r>
              <a:rPr dirty="0" baseline="35353" sz="825" spc="-22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baseline="35353" sz="825" spc="135" i="1">
                <a:latin typeface="Calibri"/>
                <a:cs typeface="Calibri"/>
              </a:rPr>
              <a:t>l</a:t>
            </a:r>
            <a:r>
              <a:rPr dirty="0" baseline="35353" sz="825" spc="33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z</a:t>
            </a:r>
            <a:r>
              <a:rPr dirty="0" baseline="35353" sz="825" spc="157" i="1">
                <a:latin typeface="Calibri"/>
                <a:cs typeface="Calibri"/>
              </a:rPr>
              <a:t>l</a:t>
            </a:r>
            <a:r>
              <a:rPr dirty="0" baseline="35353" sz="825" spc="-22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067294" y="7678624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propagates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overall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115718" y="7914543"/>
            <a:ext cx="18161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Times New Roman"/>
                <a:cs typeface="Times New Roman"/>
              </a:rPr>
              <a:t>∂</a:t>
            </a:r>
            <a:r>
              <a:rPr dirty="0" sz="550" spc="-15" i="1">
                <a:latin typeface="Times New Roman"/>
                <a:cs typeface="Times New Roman"/>
              </a:rPr>
              <a:t> </a:t>
            </a:r>
            <a:r>
              <a:rPr dirty="0" sz="550" spc="25" i="1">
                <a:latin typeface="Calibri"/>
                <a:cs typeface="Calibri"/>
              </a:rPr>
              <a:t>z</a:t>
            </a:r>
            <a:r>
              <a:rPr dirty="0" baseline="30864" sz="675" spc="37" i="1">
                <a:latin typeface="Calibri"/>
                <a:cs typeface="Calibri"/>
              </a:rPr>
              <a:t>l</a:t>
            </a:r>
            <a:endParaRPr baseline="30864" sz="675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232007" y="7958683"/>
            <a:ext cx="41910" cy="984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50" i="1">
                <a:latin typeface="Calibri"/>
                <a:cs typeface="Calibri"/>
              </a:rPr>
              <a:t>j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422269" y="7901030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041896" y="7826659"/>
            <a:ext cx="14916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amount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u="sng" baseline="40404" sz="825" spc="-11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0404" sz="8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baseline="40404" sz="825" spc="44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0404" sz="825" spc="8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baseline="40404" sz="825" spc="232" i="1">
                <a:latin typeface="Calibri"/>
                <a:cs typeface="Calibri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z</a:t>
            </a:r>
            <a:r>
              <a:rPr dirty="0" baseline="35353" sz="825" spc="157" i="1">
                <a:latin typeface="Calibri"/>
                <a:cs typeface="Calibri"/>
              </a:rPr>
              <a:t>l</a:t>
            </a:r>
            <a:r>
              <a:rPr dirty="0" baseline="35353" sz="825" spc="-7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5778788" y="1331973"/>
            <a:ext cx="344170" cy="457200"/>
            <a:chOff x="5778788" y="1331973"/>
            <a:chExt cx="344170" cy="457200"/>
          </a:xfrm>
        </p:grpSpPr>
        <p:sp>
          <p:nvSpPr>
            <p:cNvPr id="33" name="object 33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/>
          <p:cNvSpPr txBox="1"/>
          <p:nvPr/>
        </p:nvSpPr>
        <p:spPr>
          <a:xfrm>
            <a:off x="5876620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61481" y="368721"/>
            <a:ext cx="4645660" cy="8972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400">
              <a:lnSpc>
                <a:spcPts val="525"/>
              </a:lnSpc>
              <a:spcBef>
                <a:spcPts val="110"/>
              </a:spcBef>
              <a:tabLst>
                <a:tab pos="320675" algn="l"/>
              </a:tabLst>
            </a:pPr>
            <a:r>
              <a:rPr dirty="0" sz="850" spc="25">
                <a:latin typeface="Calibri"/>
                <a:cs typeface="Calibri"/>
              </a:rPr>
              <a:t>44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</a:t>
            </a:r>
            <a:endParaRPr sz="850">
              <a:latin typeface="Calibri"/>
              <a:cs typeface="Calibri"/>
            </a:endParaRPr>
          </a:p>
          <a:p>
            <a:pPr marL="2076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850">
              <a:latin typeface="Arial MT"/>
              <a:cs typeface="Arial MT"/>
            </a:endParaRPr>
          </a:p>
          <a:p>
            <a:pPr marL="258445" marR="55880" indent="189230">
              <a:lnSpc>
                <a:spcPts val="117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demon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demon,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they’re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δ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baseline="35353" sz="825" spc="142" i="1">
                <a:latin typeface="Calibri"/>
                <a:cs typeface="Calibri"/>
              </a:rPr>
              <a:t>l</a:t>
            </a:r>
            <a:r>
              <a:rPr dirty="0" baseline="35353" sz="825" spc="41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smaller.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-10" i="1">
                <a:latin typeface="Times New Roman"/>
                <a:cs typeface="Times New Roman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41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(either</a:t>
            </a:r>
            <a:endParaRPr sz="850">
              <a:latin typeface="Calibri"/>
              <a:cs typeface="Calibri"/>
            </a:endParaRPr>
          </a:p>
          <a:p>
            <a:pPr marL="1117600">
              <a:lnSpc>
                <a:spcPts val="170"/>
              </a:lnSpc>
              <a:tabLst>
                <a:tab pos="3382010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627129" y="1316527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81901" y="1242151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positive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negative).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demon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lower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z</a:t>
            </a:r>
            <a:r>
              <a:rPr dirty="0" baseline="35353" sz="825" spc="157" i="1">
                <a:latin typeface="Calibri"/>
                <a:cs typeface="Calibri"/>
              </a:rPr>
              <a:t>l</a:t>
            </a:r>
            <a:r>
              <a:rPr dirty="0" baseline="35353" sz="825" spc="39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9201" y="1405702"/>
            <a:ext cx="4424680" cy="1873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ts val="81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opposite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1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contrast,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45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zero,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demon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can’t</a:t>
            </a:r>
            <a:endParaRPr sz="850">
              <a:latin typeface="Calibri"/>
              <a:cs typeface="Calibri"/>
            </a:endParaRPr>
          </a:p>
          <a:p>
            <a:pPr marL="1372235">
              <a:lnSpc>
                <a:spcPts val="450"/>
              </a:lnSpc>
              <a:tabLst>
                <a:tab pos="2518410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81901" y="1569252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perturbing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22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demon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81901" y="1643624"/>
            <a:ext cx="4396740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1264920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38100">
              <a:lnSpc>
                <a:spcPts val="975"/>
              </a:lnSpc>
            </a:pPr>
            <a:r>
              <a:rPr dirty="0" sz="850" spc="10">
                <a:latin typeface="Calibri"/>
                <a:cs typeface="Calibri"/>
              </a:rPr>
              <a:t>tell,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already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optimal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2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sense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52448" y="1939691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81901" y="1865315"/>
            <a:ext cx="23577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-15" i="1">
                <a:latin typeface="Times New Roman"/>
                <a:cs typeface="Times New Roman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39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measure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059558" y="2111701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71691" y="2037325"/>
            <a:ext cx="34480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Motivated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story,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47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l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05558" y="2415980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10881" y="2500371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896644" y="2349035"/>
            <a:ext cx="1714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867101" y="2513637"/>
            <a:ext cx="228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45" i="1">
                <a:latin typeface="Times New Roman"/>
                <a:cs typeface="Times New Roman"/>
              </a:rPr>
              <a:t> </a:t>
            </a:r>
            <a:r>
              <a:rPr dirty="0" sz="850" spc="35" i="1">
                <a:latin typeface="Calibri"/>
                <a:cs typeface="Calibri"/>
              </a:rPr>
              <a:t>z</a:t>
            </a:r>
            <a:r>
              <a:rPr dirty="0" baseline="35353" sz="825" spc="52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26565" y="2585265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632458" y="2425994"/>
            <a:ext cx="4953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51484" algn="l"/>
              </a:tabLst>
            </a:pPr>
            <a:r>
              <a:rPr dirty="0" sz="850" spc="140" i="1">
                <a:latin typeface="Times New Roman"/>
                <a:cs typeface="Times New Roman"/>
              </a:rPr>
              <a:t>δ</a:t>
            </a:r>
            <a:r>
              <a:rPr dirty="0" sz="850" spc="290" i="1">
                <a:latin typeface="Times New Roman"/>
                <a:cs typeface="Times New Roman"/>
              </a:rPr>
              <a:t> </a:t>
            </a:r>
            <a:r>
              <a:rPr dirty="0" sz="850" spc="-50">
                <a:latin typeface="Cambria"/>
                <a:cs typeface="Cambria"/>
              </a:rPr>
              <a:t>≡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784123" y="2425992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(2.7)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56501" y="2822086"/>
            <a:ext cx="4462145" cy="50038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63500" marR="43180" indent="-5715">
              <a:lnSpc>
                <a:spcPts val="1170"/>
              </a:lnSpc>
              <a:spcBef>
                <a:spcPts val="155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conventions,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38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associated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l</a:t>
            </a:r>
            <a:r>
              <a:rPr dirty="0" sz="850" spc="30">
                <a:latin typeface="Calibri"/>
                <a:cs typeface="Calibri"/>
              </a:rPr>
              <a:t>.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412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those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quantities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interest,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465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7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2320290">
              <a:lnSpc>
                <a:spcPts val="165"/>
              </a:lnSpc>
              <a:tabLst>
                <a:tab pos="2991485" algn="l"/>
              </a:tabLst>
            </a:pPr>
            <a:r>
              <a:rPr dirty="0" sz="550" spc="-25" i="1">
                <a:latin typeface="Calibri"/>
                <a:cs typeface="Calibri"/>
              </a:rPr>
              <a:t>jk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048176" y="338138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71691" y="3307006"/>
            <a:ext cx="42068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wonder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demon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3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Surely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658566" y="3544928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81898" y="3470558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natural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imagine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demon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87717" y="3729450"/>
            <a:ext cx="1879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Times New Roman"/>
                <a:cs typeface="Times New Roman"/>
              </a:rPr>
              <a:t>∂ </a:t>
            </a:r>
            <a:r>
              <a:rPr dirty="0" sz="550" spc="-25" i="1">
                <a:latin typeface="Calibri"/>
                <a:cs typeface="Calibri"/>
              </a:rPr>
              <a:t>a</a:t>
            </a:r>
            <a:r>
              <a:rPr dirty="0" baseline="30864" sz="675" spc="-37" i="1">
                <a:latin typeface="Calibri"/>
                <a:cs typeface="Calibri"/>
              </a:rPr>
              <a:t>l</a:t>
            </a:r>
            <a:endParaRPr baseline="30864" sz="675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81901" y="3641575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u="sng" baseline="40404" sz="825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0404" sz="825" spc="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baseline="40404" sz="825" spc="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0404" sz="825" spc="8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baseline="40404" sz="825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40404" sz="825" spc="412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measure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error.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things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quite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similarly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07301" y="3773604"/>
            <a:ext cx="4345940" cy="21653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417195">
              <a:lnSpc>
                <a:spcPts val="495"/>
              </a:lnSpc>
              <a:spcBef>
                <a:spcPts val="125"/>
              </a:spcBef>
            </a:pPr>
            <a:r>
              <a:rPr dirty="0" sz="450" spc="-50" i="1">
                <a:latin typeface="Calibri"/>
                <a:cs typeface="Calibri"/>
              </a:rPr>
              <a:t>j</a:t>
            </a:r>
            <a:endParaRPr sz="4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discussion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below.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turns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presentation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little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238068" y="4055379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394278" y="4068883"/>
            <a:ext cx="18161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Times New Roman"/>
                <a:cs typeface="Times New Roman"/>
              </a:rPr>
              <a:t>∂</a:t>
            </a:r>
            <a:r>
              <a:rPr dirty="0" sz="550" spc="-15" i="1">
                <a:latin typeface="Times New Roman"/>
                <a:cs typeface="Times New Roman"/>
              </a:rPr>
              <a:t> </a:t>
            </a:r>
            <a:r>
              <a:rPr dirty="0" sz="550" spc="25" i="1">
                <a:latin typeface="Calibri"/>
                <a:cs typeface="Calibri"/>
              </a:rPr>
              <a:t>z</a:t>
            </a:r>
            <a:r>
              <a:rPr dirty="0" baseline="30864" sz="675" spc="37" i="1">
                <a:latin typeface="Calibri"/>
                <a:cs typeface="Calibri"/>
              </a:rPr>
              <a:t>l</a:t>
            </a:r>
            <a:endParaRPr baseline="30864" sz="675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510572" y="4113017"/>
            <a:ext cx="41910" cy="984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50" i="1">
                <a:latin typeface="Calibri"/>
                <a:cs typeface="Calibri"/>
              </a:rPr>
              <a:t>j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81901" y="3981008"/>
            <a:ext cx="41471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algebraically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complicated.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stick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367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114">
                <a:latin typeface="Tahoma"/>
                <a:cs typeface="Tahoma"/>
              </a:rPr>
              <a:t> </a:t>
            </a:r>
            <a:r>
              <a:rPr dirty="0" u="sng" baseline="40404" sz="825" spc="-12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0404" sz="825" spc="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baseline="40404" sz="825" spc="2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0404" sz="825" spc="8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baseline="40404" sz="825" spc="637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measure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error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3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75451" y="4164233"/>
            <a:ext cx="4430395" cy="2559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r" marL="38100" marR="30480" indent="196215">
              <a:lnSpc>
                <a:spcPct val="114700"/>
              </a:lnSpc>
              <a:spcBef>
                <a:spcPts val="90"/>
              </a:spcBef>
            </a:pPr>
            <a:r>
              <a:rPr dirty="0" sz="850" spc="50" b="1">
                <a:latin typeface="Calibri"/>
                <a:cs typeface="Calibri"/>
              </a:rPr>
              <a:t>Plan</a:t>
            </a:r>
            <a:r>
              <a:rPr dirty="0" sz="850" spc="1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of</a:t>
            </a:r>
            <a:r>
              <a:rPr dirty="0" sz="850" spc="10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attack</a:t>
            </a:r>
            <a:r>
              <a:rPr dirty="0" sz="850" spc="10">
                <a:latin typeface="Calibri"/>
                <a:cs typeface="Calibri"/>
              </a:rPr>
              <a:t>: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around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Together,</a:t>
            </a:r>
            <a:r>
              <a:rPr dirty="0" sz="850" spc="20">
                <a:latin typeface="Calibri"/>
                <a:cs typeface="Calibri"/>
              </a:rPr>
              <a:t> those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equations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error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367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below.</a:t>
            </a:r>
            <a:r>
              <a:rPr dirty="0" sz="850" spc="4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warned,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though: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shouldn’t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expect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instantaneously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assimilate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expectation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disappointment.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equations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rich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requires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considerable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patience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gradually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delve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good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patience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repaid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merely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beginning,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thorough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equations.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preview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delve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deeply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chapter:</a:t>
            </a:r>
            <a:r>
              <a:rPr dirty="0" sz="850" spc="43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I’ll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short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equations,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true;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restate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algorithmic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 action="ppaction://hlinksldjump"/>
              </a:rPr>
              <a:t>pseudocode,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pseudocode</a:t>
            </a:r>
            <a:r>
              <a:rPr dirty="0" sz="850" spc="20">
                <a:latin typeface="Calibri"/>
                <a:cs typeface="Calibri"/>
              </a:rPr>
              <a:t> 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4" action="ppaction://hlinksldjump"/>
              </a:rPr>
              <a:t>running</a:t>
            </a:r>
            <a:r>
              <a:rPr dirty="0" sz="850" spc="95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4" action="ppaction://hlinksldjump"/>
              </a:rPr>
              <a:t>Python</a:t>
            </a:r>
            <a:r>
              <a:rPr dirty="0" sz="850" spc="95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4" action="ppaction://hlinksldjump"/>
              </a:rPr>
              <a:t>code;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chapter,</a:t>
            </a:r>
            <a:r>
              <a:rPr dirty="0" sz="850" spc="20">
                <a:latin typeface="Calibri"/>
                <a:cs typeface="Calibri"/>
              </a:rPr>
              <a:t> 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develop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intuitive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picture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someone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might</a:t>
            </a:r>
            <a:r>
              <a:rPr dirty="0" sz="850" spc="150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discover</a:t>
            </a:r>
            <a:r>
              <a:rPr dirty="0" sz="850" spc="150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them</a:t>
            </a:r>
            <a:r>
              <a:rPr dirty="0" sz="850" spc="15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from</a:t>
            </a:r>
            <a:r>
              <a:rPr dirty="0" sz="850" spc="150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scratch.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return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repeatedly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four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fundamental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equations,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endParaRPr sz="850">
              <a:latin typeface="Calibri"/>
              <a:cs typeface="Calibri"/>
            </a:endParaRPr>
          </a:p>
          <a:p>
            <a:pPr marL="44450">
              <a:lnSpc>
                <a:spcPct val="100000"/>
              </a:lnSpc>
              <a:spcBef>
                <a:spcPts val="150"/>
              </a:spcBef>
            </a:pPr>
            <a:r>
              <a:rPr dirty="0" sz="850">
                <a:latin typeface="Calibri"/>
                <a:cs typeface="Calibri"/>
              </a:rPr>
              <a:t>come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comfortable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beautiful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natural.</a:t>
            </a:r>
            <a:endParaRPr sz="850">
              <a:latin typeface="Calibri"/>
              <a:cs typeface="Calibri"/>
            </a:endParaRPr>
          </a:p>
          <a:p>
            <a:pPr marL="234315">
              <a:lnSpc>
                <a:spcPct val="100000"/>
              </a:lnSpc>
              <a:spcBef>
                <a:spcPts val="210"/>
              </a:spcBef>
            </a:pPr>
            <a:r>
              <a:rPr dirty="0" sz="850" spc="55" b="1">
                <a:latin typeface="Calibri"/>
                <a:cs typeface="Calibri"/>
              </a:rPr>
              <a:t>An</a:t>
            </a:r>
            <a:r>
              <a:rPr dirty="0" sz="850" spc="7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equation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for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error</a:t>
            </a:r>
            <a:r>
              <a:rPr dirty="0" sz="850" spc="75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in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output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layer,</a:t>
            </a:r>
            <a:r>
              <a:rPr dirty="0" sz="850" spc="65" b="1">
                <a:latin typeface="Calibri"/>
                <a:cs typeface="Calibri"/>
              </a:rPr>
              <a:t> </a:t>
            </a: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-52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: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components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337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given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2746603" y="701657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 h="0">
                <a:moveTo>
                  <a:pt x="0" y="0"/>
                </a:moveTo>
                <a:lnTo>
                  <a:pt x="191439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 txBox="1"/>
          <p:nvPr/>
        </p:nvSpPr>
        <p:spPr>
          <a:xfrm>
            <a:off x="2708503" y="7008878"/>
            <a:ext cx="2578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30" i="1">
                <a:latin typeface="Calibri"/>
                <a:cs typeface="Calibri"/>
              </a:rPr>
              <a:t>a</a:t>
            </a:r>
            <a:r>
              <a:rPr dirty="0" baseline="35353" sz="825" spc="44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879993" y="7080511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537272" y="7000526"/>
            <a:ext cx="6623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2928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433459" y="6926150"/>
            <a:ext cx="89344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22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200">
                <a:latin typeface="Tahoma"/>
                <a:cs typeface="Tahoma"/>
              </a:rPr>
              <a:t> </a:t>
            </a:r>
            <a:r>
              <a:rPr dirty="0" baseline="39215" sz="1275" i="1">
                <a:latin typeface="Times New Roman"/>
                <a:cs typeface="Times New Roman"/>
              </a:rPr>
              <a:t>∂</a:t>
            </a:r>
            <a:r>
              <a:rPr dirty="0" baseline="39215" sz="1275" spc="-22" i="1">
                <a:latin typeface="Times New Roman"/>
                <a:cs typeface="Times New Roman"/>
              </a:rPr>
              <a:t> </a:t>
            </a:r>
            <a:r>
              <a:rPr dirty="0" baseline="39215" sz="1275" spc="97" i="1">
                <a:latin typeface="Calibri"/>
                <a:cs typeface="Calibri"/>
              </a:rPr>
              <a:t>C</a:t>
            </a:r>
            <a:r>
              <a:rPr dirty="0" baseline="39215" sz="1275" spc="217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-110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67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748274" y="6926150"/>
            <a:ext cx="304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5">
                <a:latin typeface="Calibri"/>
                <a:cs typeface="Calibri"/>
              </a:rPr>
              <a:t>(BP1)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720001" y="7295565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 txBox="1"/>
          <p:nvPr/>
        </p:nvSpPr>
        <p:spPr>
          <a:xfrm>
            <a:off x="2660623" y="7375314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09967" y="7314726"/>
            <a:ext cx="4268470" cy="1422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30303" sz="825" spc="75">
                <a:latin typeface="Calibri"/>
                <a:cs typeface="Calibri"/>
              </a:rPr>
              <a:t>2</a:t>
            </a:r>
            <a:r>
              <a:rPr dirty="0" sz="750" spc="50">
                <a:latin typeface="Calibri"/>
                <a:cs typeface="Calibri"/>
              </a:rPr>
              <a:t>This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only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case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small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changes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95" i="1">
                <a:latin typeface="Arial"/>
                <a:cs typeface="Arial"/>
              </a:rPr>
              <a:t>∆</a:t>
            </a:r>
            <a:r>
              <a:rPr dirty="0" sz="750" spc="95" i="1">
                <a:latin typeface="Calibri"/>
                <a:cs typeface="Calibri"/>
              </a:rPr>
              <a:t>z</a:t>
            </a:r>
            <a:r>
              <a:rPr dirty="0" baseline="30303" sz="825" spc="142" i="1">
                <a:latin typeface="Calibri"/>
                <a:cs typeface="Calibri"/>
              </a:rPr>
              <a:t>l</a:t>
            </a:r>
            <a:r>
              <a:rPr dirty="0" baseline="30303" sz="825" spc="-7" i="1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course.</a:t>
            </a:r>
            <a:r>
              <a:rPr dirty="0" sz="750" spc="21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We’ll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assume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demon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constrained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69198" y="7449689"/>
            <a:ext cx="4447540" cy="5645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114"/>
              </a:spcBef>
            </a:pP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make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such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small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changes.</a:t>
            </a:r>
            <a:endParaRPr sz="750">
              <a:latin typeface="Calibri"/>
              <a:cs typeface="Calibri"/>
            </a:endParaRPr>
          </a:p>
          <a:p>
            <a:pPr algn="just" marL="50800" marR="66040" indent="127635">
              <a:lnSpc>
                <a:spcPts val="800"/>
              </a:lnSpc>
              <a:spcBef>
                <a:spcPts val="145"/>
              </a:spcBef>
            </a:pPr>
            <a:r>
              <a:rPr dirty="0" baseline="30303" sz="825" spc="82">
                <a:latin typeface="Calibri"/>
                <a:cs typeface="Calibri"/>
              </a:rPr>
              <a:t>3</a:t>
            </a:r>
            <a:r>
              <a:rPr dirty="0" sz="750" spc="55">
                <a:latin typeface="Calibri"/>
                <a:cs typeface="Calibri"/>
              </a:rPr>
              <a:t>In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classification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problems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like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MNIST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term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“error”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sometimes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used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mean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classification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failure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rate.</a:t>
            </a:r>
            <a:r>
              <a:rPr dirty="0" sz="750" spc="2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E.g.,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if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neural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correctly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classifies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96.0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percent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digits,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then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error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4.0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percent.</a:t>
            </a:r>
            <a:r>
              <a:rPr dirty="0" sz="750" spc="2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Obviously,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quite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different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meaning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from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our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30" i="1">
                <a:latin typeface="Times New Roman"/>
                <a:cs typeface="Times New Roman"/>
              </a:rPr>
              <a:t>δ </a:t>
            </a:r>
            <a:r>
              <a:rPr dirty="0" sz="750" spc="10">
                <a:latin typeface="Calibri"/>
                <a:cs typeface="Calibri"/>
              </a:rPr>
              <a:t>vectors.</a:t>
            </a:r>
            <a:r>
              <a:rPr dirty="0" sz="750" spc="254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In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practice,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you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shouldn’t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have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trouble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telling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which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meaning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intended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any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given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usage.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-2530" y="1331973"/>
            <a:ext cx="344170" cy="457200"/>
            <a:chOff x="-2530" y="1331973"/>
            <a:chExt cx="344170" cy="457200"/>
          </a:xfrm>
        </p:grpSpPr>
        <p:sp>
          <p:nvSpPr>
            <p:cNvPr id="43" name="object 43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/>
          <p:cNvSpPr txBox="1"/>
          <p:nvPr/>
        </p:nvSpPr>
        <p:spPr>
          <a:xfrm>
            <a:off x="25831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332380" y="368721"/>
            <a:ext cx="328739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152775" algn="l"/>
              </a:tabLst>
            </a:pPr>
            <a:r>
              <a:rPr dirty="0" sz="850" spc="10">
                <a:latin typeface="Calibri"/>
                <a:cs typeface="Calibri"/>
              </a:rPr>
              <a:t>2.4.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behind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45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6980" y="930569"/>
            <a:ext cx="44081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natural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-52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measures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how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7296" y="1004945"/>
            <a:ext cx="4348480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989965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fast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doesn’t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05618" y="1301003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41896" y="1226631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depend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neuron,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j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487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we’d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70441" y="144905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41896" y="1374676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expect.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-9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measures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95" i="1">
                <a:latin typeface="Times New Roman"/>
                <a:cs typeface="Times New Roman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12432" y="1597083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41896" y="1522706"/>
            <a:ext cx="8001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-80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231681" y="1701409"/>
            <a:ext cx="42068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Notice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everything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BP1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computed.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427" i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while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7294" y="1775770"/>
            <a:ext cx="4345940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318770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behaviour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additional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overhead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281161" y="2071847"/>
            <a:ext cx="14395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40652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41896" y="1997470"/>
            <a:ext cx="44240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-90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419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depend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67296" y="2145515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provided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trouble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computing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424484" y="236792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4698301" y="238396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 h="0">
                <a:moveTo>
                  <a:pt x="0" y="0"/>
                </a:moveTo>
                <a:lnTo>
                  <a:pt x="4052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4756542" y="2200024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685601" y="2366283"/>
            <a:ext cx="2355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02565" algn="l"/>
              </a:tabLst>
            </a:pPr>
            <a:r>
              <a:rPr dirty="0" sz="550" spc="-50">
                <a:latin typeface="Calibri"/>
                <a:cs typeface="Calibri"/>
              </a:rPr>
              <a:t>2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024080" y="2354687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243269" y="236792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423571" y="2286360"/>
            <a:ext cx="397510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274060" algn="l"/>
                <a:tab pos="3830954" algn="l"/>
              </a:tabLst>
            </a:pPr>
            <a:r>
              <a:rPr dirty="0" sz="550" spc="1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baseline="5050" sz="825" spc="-75">
                <a:latin typeface="Calibri"/>
                <a:cs typeface="Calibri"/>
              </a:rPr>
              <a:t>1</a:t>
            </a:r>
            <a:r>
              <a:rPr dirty="0" baseline="5050" sz="825">
                <a:latin typeface="Calibri"/>
                <a:cs typeface="Calibri"/>
              </a:rPr>
              <a:t>	</a:t>
            </a:r>
            <a:r>
              <a:rPr dirty="0" sz="550" spc="60" i="1">
                <a:latin typeface="Calibri"/>
                <a:cs typeface="Calibri"/>
              </a:rPr>
              <a:t>L</a:t>
            </a:r>
            <a:r>
              <a:rPr dirty="0" sz="550" spc="295" i="1">
                <a:latin typeface="Calibri"/>
                <a:cs typeface="Calibri"/>
              </a:rPr>
              <a:t> 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67296" y="2293546"/>
            <a:ext cx="4368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850640" algn="l"/>
              </a:tabLst>
            </a:pP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1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sz="850" spc="32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(</a:t>
            </a:r>
            <a:r>
              <a:rPr dirty="0" sz="850" spc="-15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28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25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120">
                <a:latin typeface="Tahoma"/>
                <a:cs typeface="Tahoma"/>
              </a:rPr>
              <a:t> </a:t>
            </a: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766506" y="2434406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060917" y="2434406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767408" y="2515954"/>
            <a:ext cx="3397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670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302460" y="2502718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67296" y="2441577"/>
            <a:ext cx="31864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180" i="1">
                <a:latin typeface="Calibri"/>
                <a:cs typeface="Calibri"/>
              </a:rPr>
              <a:t> 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155" i="1">
                <a:latin typeface="Calibri"/>
                <a:cs typeface="Calibri"/>
              </a:rPr>
              <a:t> 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4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computable.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29196" y="2603431"/>
            <a:ext cx="4434840" cy="782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52705" indent="18923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BP1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componentwise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20" i="1">
                <a:latin typeface="Times New Roman"/>
                <a:cs typeface="Times New Roman"/>
              </a:rPr>
              <a:t>δ</a:t>
            </a:r>
            <a:r>
              <a:rPr dirty="0" baseline="35353" sz="825" spc="179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perfectly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20">
                <a:latin typeface="Calibri"/>
                <a:cs typeface="Calibri"/>
              </a:rPr>
              <a:t> not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matrix-based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However,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rewrite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matrix-based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850">
              <a:latin typeface="Calibri"/>
              <a:cs typeface="Calibri"/>
            </a:endParaRPr>
          </a:p>
          <a:p>
            <a:pPr marL="1743075">
              <a:lnSpc>
                <a:spcPct val="100000"/>
              </a:lnSpc>
              <a:tabLst>
                <a:tab pos="4036060" algn="l"/>
              </a:tabLst>
            </a:pP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232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5">
                <a:latin typeface="Tahoma"/>
                <a:cs typeface="Tahoma"/>
              </a:rPr>
              <a:t> </a:t>
            </a:r>
            <a:r>
              <a:rPr dirty="0" sz="850" spc="95">
                <a:latin typeface="Cambria"/>
                <a:cs typeface="Cambria"/>
              </a:rPr>
              <a:t>𝝯</a:t>
            </a:r>
            <a:r>
              <a:rPr dirty="0" baseline="-20202" sz="825" spc="142" i="1">
                <a:latin typeface="Calibri"/>
                <a:cs typeface="Calibri"/>
              </a:rPr>
              <a:t>a</a:t>
            </a:r>
            <a:r>
              <a:rPr dirty="0" baseline="-20202" sz="825" spc="-60" i="1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 spc="-100">
                <a:latin typeface="Cambria"/>
                <a:cs typeface="Cambria"/>
              </a:rPr>
              <a:t>◉</a:t>
            </a:r>
            <a:r>
              <a:rPr dirty="0" sz="850" spc="-20">
                <a:latin typeface="Cambria"/>
                <a:cs typeface="Cambri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-110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67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(BP1a)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452943" y="3602525"/>
            <a:ext cx="641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a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337964" y="3534198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338877" y="3615756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067296" y="3541385"/>
            <a:ext cx="43732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Here,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70">
                <a:latin typeface="Cambria"/>
                <a:cs typeface="Cambria"/>
              </a:rPr>
              <a:t>𝝯</a:t>
            </a:r>
            <a:r>
              <a:rPr dirty="0" sz="850" spc="325">
                <a:latin typeface="Cambria"/>
                <a:cs typeface="Cambria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1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components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34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60452" y="3672567"/>
            <a:ext cx="4557395" cy="38023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19380" marR="1066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85">
                <a:latin typeface="Cambria"/>
                <a:cs typeface="Cambria"/>
              </a:rPr>
              <a:t>𝝯</a:t>
            </a:r>
            <a:r>
              <a:rPr dirty="0" baseline="-20202" sz="825" spc="127" i="1">
                <a:latin typeface="Calibri"/>
                <a:cs typeface="Calibri"/>
              </a:rPr>
              <a:t>a</a:t>
            </a:r>
            <a:r>
              <a:rPr dirty="0" baseline="-20202" sz="825" spc="-37" i="1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7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7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respect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3" action="ppaction://hlinksldjump"/>
              </a:rPr>
              <a:t>BP1a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BP1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equivalent,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reason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2" action="ppaction://hlinksldjump"/>
              </a:rPr>
              <a:t>BP1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interchangeably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refer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85">
                <a:latin typeface="Cambria"/>
                <a:cs typeface="Cambria"/>
              </a:rPr>
              <a:t>𝝯</a:t>
            </a:r>
            <a:r>
              <a:rPr dirty="0" baseline="-20202" sz="825" spc="127" i="1">
                <a:latin typeface="Calibri"/>
                <a:cs typeface="Calibri"/>
              </a:rPr>
              <a:t>a</a:t>
            </a:r>
            <a:r>
              <a:rPr dirty="0" baseline="-20202" sz="825" spc="-22" i="1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 i="1">
                <a:latin typeface="Calibri"/>
                <a:cs typeface="Calibri"/>
              </a:rPr>
              <a:t>a</a:t>
            </a:r>
            <a:r>
              <a:rPr dirty="0" baseline="35353" sz="825" spc="82" i="1">
                <a:latin typeface="Calibri"/>
                <a:cs typeface="Calibri"/>
              </a:rPr>
              <a:t>L</a:t>
            </a:r>
            <a:r>
              <a:rPr dirty="0" baseline="35353" sz="825" spc="262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60">
                <a:latin typeface="Cambria"/>
                <a:cs typeface="Cambria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matrix-based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BP1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becomes</a:t>
            </a:r>
            <a:endParaRPr sz="850">
              <a:latin typeface="Calibri"/>
              <a:cs typeface="Calibri"/>
            </a:endParaRPr>
          </a:p>
          <a:p>
            <a:pPr algn="r" marR="109220">
              <a:lnSpc>
                <a:spcPct val="100000"/>
              </a:lnSpc>
              <a:spcBef>
                <a:spcPts val="145"/>
              </a:spcBef>
              <a:tabLst>
                <a:tab pos="2472055" algn="l"/>
              </a:tabLst>
            </a:pP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2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0">
                <a:latin typeface="Tahoma"/>
                <a:cs typeface="Tahoma"/>
              </a:rPr>
              <a:t> </a:t>
            </a:r>
            <a:r>
              <a:rPr dirty="0" sz="850" spc="50">
                <a:latin typeface="Tahoma"/>
                <a:cs typeface="Tahoma"/>
              </a:rPr>
              <a:t>(</a:t>
            </a:r>
            <a:r>
              <a:rPr dirty="0" sz="850" spc="50" i="1">
                <a:latin typeface="Calibri"/>
                <a:cs typeface="Calibri"/>
              </a:rPr>
              <a:t>a</a:t>
            </a:r>
            <a:r>
              <a:rPr dirty="0" baseline="35353" sz="825" spc="75" i="1">
                <a:latin typeface="Calibri"/>
                <a:cs typeface="Calibri"/>
              </a:rPr>
              <a:t>L</a:t>
            </a:r>
            <a:r>
              <a:rPr dirty="0" baseline="35353" sz="825" spc="187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90">
                <a:latin typeface="Cambria"/>
                <a:cs typeface="Cambria"/>
              </a:rPr>
              <a:t> </a:t>
            </a:r>
            <a:r>
              <a:rPr dirty="0" sz="850" spc="55" i="1">
                <a:latin typeface="Calibri"/>
                <a:cs typeface="Calibri"/>
              </a:rPr>
              <a:t>y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-100">
                <a:latin typeface="Tahoma"/>
                <a:cs typeface="Tahoma"/>
              </a:rPr>
              <a:t> </a:t>
            </a:r>
            <a:r>
              <a:rPr dirty="0" sz="850" spc="-100">
                <a:latin typeface="Cambria"/>
                <a:cs typeface="Cambria"/>
              </a:rPr>
              <a:t>◉</a:t>
            </a:r>
            <a:r>
              <a:rPr dirty="0" sz="850" spc="-20">
                <a:latin typeface="Cambria"/>
                <a:cs typeface="Cambri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-110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67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(2.8)</a:t>
            </a:r>
            <a:endParaRPr sz="850">
              <a:latin typeface="Calibri"/>
              <a:cs typeface="Calibri"/>
            </a:endParaRPr>
          </a:p>
          <a:p>
            <a:pPr algn="just" marL="119380" marR="109855" indent="-5715">
              <a:lnSpc>
                <a:spcPct val="114300"/>
              </a:lnSpc>
              <a:spcBef>
                <a:spcPts val="780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everything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nice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Numpy.</a:t>
            </a:r>
            <a:endParaRPr sz="850">
              <a:latin typeface="Calibri"/>
              <a:cs typeface="Calibri"/>
            </a:endParaRPr>
          </a:p>
          <a:p>
            <a:pPr marL="309245">
              <a:lnSpc>
                <a:spcPct val="100000"/>
              </a:lnSpc>
              <a:spcBef>
                <a:spcPts val="385"/>
              </a:spcBef>
            </a:pPr>
            <a:r>
              <a:rPr dirty="0" sz="850" spc="55" b="1">
                <a:latin typeface="Calibri"/>
                <a:cs typeface="Calibri"/>
              </a:rPr>
              <a:t>An</a:t>
            </a:r>
            <a:r>
              <a:rPr dirty="0" sz="850" spc="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equation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for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error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359" i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in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terms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of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error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in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next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layer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δ</a:t>
            </a:r>
            <a:r>
              <a:rPr dirty="0" baseline="35353" sz="825" spc="112" i="1">
                <a:latin typeface="Calibri"/>
                <a:cs typeface="Calibri"/>
              </a:rPr>
              <a:t>l</a:t>
            </a:r>
            <a:r>
              <a:rPr dirty="0" baseline="35353" sz="825" spc="112">
                <a:latin typeface="Tahoma"/>
                <a:cs typeface="Tahoma"/>
              </a:rPr>
              <a:t>+</a:t>
            </a:r>
            <a:r>
              <a:rPr dirty="0" baseline="35353" sz="825" spc="112">
                <a:latin typeface="Calibri"/>
                <a:cs typeface="Calibri"/>
              </a:rPr>
              <a:t>1</a:t>
            </a:r>
            <a:r>
              <a:rPr dirty="0" sz="850" spc="75">
                <a:latin typeface="Calibri"/>
                <a:cs typeface="Calibri"/>
              </a:rPr>
              <a:t>: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particular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850">
              <a:latin typeface="Calibri"/>
              <a:cs typeface="Calibri"/>
            </a:endParaRPr>
          </a:p>
          <a:p>
            <a:pPr algn="r" marR="110489">
              <a:lnSpc>
                <a:spcPct val="100000"/>
              </a:lnSpc>
              <a:tabLst>
                <a:tab pos="2540000" algn="l"/>
              </a:tabLst>
            </a:pP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397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((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>
                <a:latin typeface="Tahoma"/>
                <a:cs typeface="Tahoma"/>
              </a:rPr>
              <a:t>+</a:t>
            </a:r>
            <a:r>
              <a:rPr dirty="0" baseline="35353" sz="825">
                <a:latin typeface="Calibri"/>
                <a:cs typeface="Calibri"/>
              </a:rPr>
              <a:t>1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baseline="35353" sz="825" i="1">
                <a:latin typeface="Calibri"/>
                <a:cs typeface="Calibri"/>
              </a:rPr>
              <a:t>T</a:t>
            </a:r>
            <a:r>
              <a:rPr dirty="0" baseline="35353" sz="825" spc="44" i="1">
                <a:latin typeface="Calibri"/>
                <a:cs typeface="Calibri"/>
              </a:rPr>
              <a:t> </a:t>
            </a:r>
            <a:r>
              <a:rPr dirty="0" sz="850" spc="70" i="1">
                <a:latin typeface="Times New Roman"/>
                <a:cs typeface="Times New Roman"/>
              </a:rPr>
              <a:t>δ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104">
                <a:latin typeface="Tahoma"/>
                <a:cs typeface="Tahoma"/>
              </a:rPr>
              <a:t>+</a:t>
            </a:r>
            <a:r>
              <a:rPr dirty="0" baseline="35353" sz="825" spc="104">
                <a:latin typeface="Calibri"/>
                <a:cs typeface="Calibri"/>
              </a:rPr>
              <a:t>1</a:t>
            </a:r>
            <a:r>
              <a:rPr dirty="0" sz="850" spc="70">
                <a:latin typeface="Tahoma"/>
                <a:cs typeface="Tahoma"/>
              </a:rPr>
              <a:t>)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-100">
                <a:latin typeface="Cambria"/>
                <a:cs typeface="Cambria"/>
              </a:rPr>
              <a:t>◉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baseline="35353" sz="825" spc="142" i="1">
                <a:latin typeface="Calibri"/>
                <a:cs typeface="Calibri"/>
              </a:rPr>
              <a:t>l</a:t>
            </a:r>
            <a:r>
              <a:rPr dirty="0" baseline="35353" sz="825" spc="-7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(BP2)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50">
              <a:latin typeface="Calibri"/>
              <a:cs typeface="Calibri"/>
            </a:endParaRPr>
          </a:p>
          <a:p>
            <a:pPr algn="just" marL="119380" marR="86995" indent="-698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>
                <a:latin typeface="Tahoma"/>
                <a:cs typeface="Tahoma"/>
              </a:rPr>
              <a:t>+</a:t>
            </a:r>
            <a:r>
              <a:rPr dirty="0" baseline="35353" sz="825">
                <a:latin typeface="Calibri"/>
                <a:cs typeface="Calibri"/>
              </a:rPr>
              <a:t>1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baseline="35353" sz="825" i="1">
                <a:latin typeface="Calibri"/>
                <a:cs typeface="Calibri"/>
              </a:rPr>
              <a:t>T</a:t>
            </a:r>
            <a:r>
              <a:rPr dirty="0" baseline="35353" sz="825" spc="49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transpose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matrix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>
                <a:latin typeface="Tahoma"/>
                <a:cs typeface="Tahoma"/>
              </a:rPr>
              <a:t>+</a:t>
            </a:r>
            <a:r>
              <a:rPr dirty="0" baseline="35353" sz="825">
                <a:latin typeface="Calibri"/>
                <a:cs typeface="Calibri"/>
              </a:rPr>
              <a:t>1</a:t>
            </a:r>
            <a:r>
              <a:rPr dirty="0" baseline="35353" sz="825" spc="3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</a:t>
            </a:r>
            <a:r>
              <a:rPr dirty="0" sz="850" i="1">
                <a:latin typeface="Calibri"/>
                <a:cs typeface="Calibri"/>
              </a:rPr>
              <a:t>l</a:t>
            </a:r>
            <a:r>
              <a:rPr dirty="0" sz="850">
                <a:latin typeface="Lucida Sans Unicode"/>
                <a:cs typeface="Lucida Sans Unicode"/>
              </a:rPr>
              <a:t>+</a:t>
            </a:r>
            <a:r>
              <a:rPr dirty="0" sz="850">
                <a:latin typeface="Calibri"/>
                <a:cs typeface="Calibri"/>
              </a:rPr>
              <a:t>1)-th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appears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complicated,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element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nice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interpretation.</a:t>
            </a:r>
            <a:r>
              <a:rPr dirty="0" sz="850" spc="4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δ</a:t>
            </a:r>
            <a:r>
              <a:rPr dirty="0" baseline="35353" sz="825" spc="112" i="1">
                <a:latin typeface="Calibri"/>
                <a:cs typeface="Calibri"/>
              </a:rPr>
              <a:t>l</a:t>
            </a:r>
            <a:r>
              <a:rPr dirty="0" baseline="35353" sz="825" spc="112">
                <a:latin typeface="Tahoma"/>
                <a:cs typeface="Tahoma"/>
              </a:rPr>
              <a:t>+</a:t>
            </a:r>
            <a:r>
              <a:rPr dirty="0" baseline="35353" sz="825" spc="112">
                <a:latin typeface="Calibri"/>
                <a:cs typeface="Calibri"/>
              </a:rPr>
              <a:t>1</a:t>
            </a:r>
            <a:r>
              <a:rPr dirty="0" baseline="35353" sz="825" spc="382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</a:t>
            </a:r>
            <a:r>
              <a:rPr dirty="0" sz="850" spc="50" i="1">
                <a:latin typeface="Calibri"/>
                <a:cs typeface="Calibri"/>
              </a:rPr>
              <a:t>l</a:t>
            </a:r>
            <a:r>
              <a:rPr dirty="0" sz="850" spc="50">
                <a:latin typeface="Lucida Sans Unicode"/>
                <a:cs typeface="Lucida Sans Unicode"/>
              </a:rPr>
              <a:t>+</a:t>
            </a:r>
            <a:r>
              <a:rPr dirty="0" sz="850" spc="50">
                <a:latin typeface="Calibri"/>
                <a:cs typeface="Calibri"/>
              </a:rPr>
              <a:t>1)-</a:t>
            </a:r>
            <a:r>
              <a:rPr dirty="0" sz="850" spc="10">
                <a:latin typeface="Calibri"/>
                <a:cs typeface="Calibri"/>
              </a:rPr>
              <a:t>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transpose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45">
                <a:latin typeface="Tahoma"/>
                <a:cs typeface="Tahoma"/>
              </a:rPr>
              <a:t>(</a:t>
            </a:r>
            <a:r>
              <a:rPr dirty="0" sz="850" spc="45" i="1">
                <a:latin typeface="Calibri"/>
                <a:cs typeface="Calibri"/>
              </a:rPr>
              <a:t>w</a:t>
            </a:r>
            <a:r>
              <a:rPr dirty="0" baseline="35353" sz="825" spc="67" i="1">
                <a:latin typeface="Calibri"/>
                <a:cs typeface="Calibri"/>
              </a:rPr>
              <a:t>l</a:t>
            </a:r>
            <a:r>
              <a:rPr dirty="0" baseline="35353" sz="825" spc="67">
                <a:latin typeface="Tahoma"/>
                <a:cs typeface="Tahoma"/>
              </a:rPr>
              <a:t>+</a:t>
            </a:r>
            <a:r>
              <a:rPr dirty="0" baseline="35353" sz="825" spc="67">
                <a:latin typeface="Calibri"/>
                <a:cs typeface="Calibri"/>
              </a:rPr>
              <a:t>1</a:t>
            </a:r>
            <a:r>
              <a:rPr dirty="0" sz="850" spc="45">
                <a:latin typeface="Tahoma"/>
                <a:cs typeface="Tahoma"/>
              </a:rPr>
              <a:t>)</a:t>
            </a:r>
            <a:r>
              <a:rPr dirty="0" baseline="35353" sz="825" spc="67" i="1">
                <a:latin typeface="Calibri"/>
                <a:cs typeface="Calibri"/>
              </a:rPr>
              <a:t>T</a:t>
            </a:r>
            <a:r>
              <a:rPr dirty="0" baseline="35353" sz="825" spc="37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20">
                <a:latin typeface="Calibri"/>
                <a:cs typeface="Calibri"/>
              </a:rPr>
              <a:t> 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intuitively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moving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error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backward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through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giving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sort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measure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l</a:t>
            </a:r>
            <a:r>
              <a:rPr dirty="0" sz="850" spc="50">
                <a:latin typeface="Calibri"/>
                <a:cs typeface="Calibri"/>
              </a:rPr>
              <a:t>-</a:t>
            </a:r>
            <a:r>
              <a:rPr dirty="0" sz="850">
                <a:latin typeface="Calibri"/>
                <a:cs typeface="Calibri"/>
              </a:rPr>
              <a:t>th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Hadamard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0">
                <a:latin typeface="Cambria"/>
                <a:cs typeface="Cambria"/>
              </a:rPr>
              <a:t>◉</a:t>
            </a:r>
            <a:r>
              <a:rPr dirty="0" sz="850" spc="60" i="1">
                <a:latin typeface="Times New Roman"/>
                <a:cs typeface="Times New Roman"/>
              </a:rPr>
              <a:t>σ</a:t>
            </a:r>
            <a:r>
              <a:rPr dirty="0" baseline="35353" sz="825" spc="89">
                <a:latin typeface="Cambria"/>
                <a:cs typeface="Cambria"/>
              </a:rPr>
              <a:t>’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7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backward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35" i="1">
                <a:latin typeface="Calibri"/>
                <a:cs typeface="Calibri"/>
              </a:rPr>
              <a:t>l</a:t>
            </a:r>
            <a:r>
              <a:rPr dirty="0" sz="850" spc="35">
                <a:latin typeface="Calibri"/>
                <a:cs typeface="Calibri"/>
              </a:rPr>
              <a:t>, </a:t>
            </a:r>
            <a:r>
              <a:rPr dirty="0" sz="850" spc="10">
                <a:latin typeface="Calibri"/>
                <a:cs typeface="Calibri"/>
              </a:rPr>
              <a:t>giving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419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5" i="1">
                <a:latin typeface="Calibri"/>
                <a:cs typeface="Calibri"/>
              </a:rPr>
              <a:t>l</a:t>
            </a:r>
            <a:r>
              <a:rPr dirty="0" sz="850" spc="3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111760" marR="81915" indent="196850">
              <a:lnSpc>
                <a:spcPct val="114300"/>
              </a:lnSpc>
              <a:spcBef>
                <a:spcPts val="240"/>
              </a:spcBef>
            </a:pP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combining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3" action="ppaction://hlinksldjump"/>
              </a:rPr>
              <a:t>(BP2)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2" action="ppaction://hlinksldjump"/>
              </a:rPr>
              <a:t>(BP1)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3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  <a:hlinkClick r:id="rId2" action="ppaction://hlinksldjump"/>
              </a:rPr>
              <a:t>(BP1)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20" i="1">
                <a:latin typeface="Times New Roman"/>
                <a:cs typeface="Times New Roman"/>
              </a:rPr>
              <a:t>δ</a:t>
            </a:r>
            <a:r>
              <a:rPr dirty="0" baseline="35353" sz="825" spc="179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  <a:hlinkClick r:id="rId3" action="ppaction://hlinksldjump"/>
              </a:rPr>
              <a:t>(BP2)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5" i="1">
                <a:latin typeface="Times New Roman"/>
                <a:cs typeface="Times New Roman"/>
              </a:rPr>
              <a:t>δ</a:t>
            </a:r>
            <a:r>
              <a:rPr dirty="0" baseline="35353" sz="825" spc="157" i="1">
                <a:latin typeface="Calibri"/>
                <a:cs typeface="Calibri"/>
              </a:rPr>
              <a:t>L</a:t>
            </a:r>
            <a:r>
              <a:rPr dirty="0" baseline="35353" sz="825" spc="157">
                <a:latin typeface="Cambria"/>
                <a:cs typeface="Cambria"/>
              </a:rPr>
              <a:t>−</a:t>
            </a:r>
            <a:r>
              <a:rPr dirty="0" baseline="35353" sz="825" spc="157">
                <a:latin typeface="Calibri"/>
                <a:cs typeface="Calibri"/>
              </a:rPr>
              <a:t>1</a:t>
            </a:r>
            <a:r>
              <a:rPr dirty="0" sz="850" spc="105">
                <a:latin typeface="Calibri"/>
                <a:cs typeface="Calibri"/>
              </a:rPr>
              <a:t>, </a:t>
            </a:r>
            <a:r>
              <a:rPr dirty="0" sz="850" spc="-20">
                <a:latin typeface="Calibri"/>
                <a:cs typeface="Calibri"/>
              </a:rPr>
              <a:t>then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3" action="ppaction://hlinksldjump"/>
              </a:rPr>
              <a:t>(BP2)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again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150">
                <a:latin typeface="Cambria"/>
                <a:cs typeface="Cambria"/>
              </a:rPr>
              <a:t>−</a:t>
            </a:r>
            <a:r>
              <a:rPr dirty="0" baseline="35353" sz="825" spc="150">
                <a:latin typeface="Calibri"/>
                <a:cs typeface="Calibri"/>
              </a:rPr>
              <a:t>2</a:t>
            </a:r>
            <a:r>
              <a:rPr dirty="0" sz="850" spc="100">
                <a:latin typeface="Calibri"/>
                <a:cs typeface="Calibri"/>
              </a:rPr>
              <a:t>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endParaRPr sz="850">
              <a:latin typeface="Calibri"/>
              <a:cs typeface="Calibri"/>
            </a:endParaRPr>
          </a:p>
          <a:p>
            <a:pPr algn="just" marL="112395" marR="82550" indent="196215">
              <a:lnSpc>
                <a:spcPct val="114300"/>
              </a:lnSpc>
              <a:spcBef>
                <a:spcPts val="245"/>
              </a:spcBef>
            </a:pPr>
            <a:r>
              <a:rPr dirty="0" sz="850" spc="55" b="1">
                <a:latin typeface="Calibri"/>
                <a:cs typeface="Calibri"/>
              </a:rPr>
              <a:t>An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equation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for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the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rate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of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change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of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the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cost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with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respect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to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any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bias</a:t>
            </a:r>
            <a:r>
              <a:rPr dirty="0" sz="850" spc="155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in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the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-20" b="1">
                <a:latin typeface="Calibri"/>
                <a:cs typeface="Calibri"/>
              </a:rPr>
              <a:t>net-</a:t>
            </a:r>
            <a:r>
              <a:rPr dirty="0" sz="850" b="1">
                <a:latin typeface="Calibri"/>
                <a:cs typeface="Calibri"/>
              </a:rPr>
              <a:t>work:</a:t>
            </a:r>
            <a:r>
              <a:rPr dirty="0" sz="850" spc="31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particular: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3012795" y="7603327"/>
            <a:ext cx="179705" cy="0"/>
          </a:xfrm>
          <a:custGeom>
            <a:avLst/>
            <a:gdLst/>
            <a:ahLst/>
            <a:cxnLst/>
            <a:rect l="l" t="t" r="r" b="b"/>
            <a:pathLst>
              <a:path w="179705" h="0">
                <a:moveTo>
                  <a:pt x="0" y="0"/>
                </a:moveTo>
                <a:lnTo>
                  <a:pt x="17915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 txBox="1"/>
          <p:nvPr/>
        </p:nvSpPr>
        <p:spPr>
          <a:xfrm>
            <a:off x="2974695" y="7600544"/>
            <a:ext cx="2413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25" i="1">
                <a:latin typeface="Calibri"/>
                <a:cs typeface="Calibri"/>
              </a:rPr>
              <a:t>b</a:t>
            </a:r>
            <a:r>
              <a:rPr dirty="0" baseline="35353" sz="825" spc="-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149672" y="7672178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409720" y="7587276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973697" y="7435943"/>
            <a:ext cx="2464435" cy="23367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ts val="815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  <a:p>
            <a:pPr marL="258445">
              <a:lnSpc>
                <a:spcPts val="815"/>
              </a:lnSpc>
              <a:tabLst>
                <a:tab pos="2146935" algn="l"/>
              </a:tabLst>
            </a:pP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-7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45">
                <a:latin typeface="Calibri"/>
                <a:cs typeface="Calibri"/>
              </a:rPr>
              <a:t>(BP3)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024280" y="7860046"/>
            <a:ext cx="4426585" cy="1873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ts val="81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46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exactly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equal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1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since</a:t>
            </a:r>
            <a:endParaRPr sz="850">
              <a:latin typeface="Calibri"/>
              <a:cs typeface="Calibri"/>
            </a:endParaRPr>
          </a:p>
          <a:p>
            <a:pPr marL="960119">
              <a:lnSpc>
                <a:spcPts val="450"/>
              </a:lnSpc>
              <a:tabLst>
                <a:tab pos="3125470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5778788" y="1331973"/>
            <a:ext cx="344170" cy="457200"/>
            <a:chOff x="5778788" y="1331973"/>
            <a:chExt cx="344170" cy="457200"/>
          </a:xfrm>
        </p:grpSpPr>
        <p:sp>
          <p:nvSpPr>
            <p:cNvPr id="42" name="object 42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/>
          <p:cNvSpPr txBox="1"/>
          <p:nvPr/>
        </p:nvSpPr>
        <p:spPr>
          <a:xfrm>
            <a:off x="5876620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36601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46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315246" y="1004945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8238" y="930569"/>
            <a:ext cx="44100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55">
                <a:latin typeface="Calibri"/>
                <a:cs typeface="Calibri"/>
                <a:hlinkClick r:id="rId2" action="ppaction://hlinksldjump"/>
              </a:rPr>
              <a:t>(BP1)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3" action="ppaction://hlinksldjump"/>
              </a:rPr>
              <a:t>(BP2)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already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told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2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rewrite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3" action="ppaction://hlinksldjump"/>
              </a:rPr>
              <a:t>(BP3)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shorthand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301" y="1078600"/>
            <a:ext cx="1250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5">
                <a:latin typeface="Calibri"/>
                <a:cs typeface="Calibri"/>
              </a:rPr>
              <a:t>as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682849" y="1340954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 h="0">
                <a:moveTo>
                  <a:pt x="0" y="0"/>
                </a:moveTo>
                <a:lnTo>
                  <a:pt x="15577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2670149" y="1146896"/>
            <a:ext cx="172720" cy="34163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  <a:p>
            <a:pPr marL="18415">
              <a:lnSpc>
                <a:spcPct val="100000"/>
              </a:lnSpc>
              <a:spcBef>
                <a:spcPts val="22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866519" y="1250534"/>
            <a:ext cx="21863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929764" algn="l"/>
              </a:tabLst>
            </a:pP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δ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(2.9)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0850" y="1507507"/>
            <a:ext cx="4352290" cy="58801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understood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40" i="1">
                <a:latin typeface="Times New Roman"/>
                <a:cs typeface="Times New Roman"/>
              </a:rPr>
              <a:t>δ</a:t>
            </a:r>
            <a:r>
              <a:rPr dirty="0" sz="850" spc="12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evaluated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b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19050" marR="5080" indent="189230">
              <a:lnSpc>
                <a:spcPct val="114300"/>
              </a:lnSpc>
            </a:pPr>
            <a:r>
              <a:rPr dirty="0" sz="850" spc="55" b="1">
                <a:latin typeface="Calibri"/>
                <a:cs typeface="Calibri"/>
              </a:rPr>
              <a:t>An</a:t>
            </a:r>
            <a:r>
              <a:rPr dirty="0" sz="850" spc="19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equation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for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the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rate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of</a:t>
            </a:r>
            <a:r>
              <a:rPr dirty="0" sz="850" spc="19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change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of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the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cost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with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respect</a:t>
            </a:r>
            <a:r>
              <a:rPr dirty="0" sz="850" spc="19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to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any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weight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in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-25" b="1">
                <a:latin typeface="Calibri"/>
                <a:cs typeface="Calibri"/>
              </a:rPr>
              <a:t>the</a:t>
            </a:r>
            <a:r>
              <a:rPr dirty="0" sz="850" spc="50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network:</a:t>
            </a:r>
            <a:r>
              <a:rPr dirty="0" sz="850" spc="320" b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particular:</a:t>
            </a:r>
            <a:endParaRPr sz="850">
              <a:latin typeface="Calibri"/>
              <a:cs typeface="Calibri"/>
            </a:endParaRPr>
          </a:p>
          <a:p>
            <a:pPr algn="ctr" marR="461009">
              <a:lnSpc>
                <a:spcPts val="930"/>
              </a:lnSpc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527198" y="2105977"/>
            <a:ext cx="240665" cy="0"/>
          </a:xfrm>
          <a:custGeom>
            <a:avLst/>
            <a:gdLst/>
            <a:ahLst/>
            <a:cxnLst/>
            <a:rect l="l" t="t" r="r" b="b"/>
            <a:pathLst>
              <a:path w="240664" h="0">
                <a:moveTo>
                  <a:pt x="0" y="0"/>
                </a:moveTo>
                <a:lnTo>
                  <a:pt x="24005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2489098" y="2103198"/>
            <a:ext cx="25590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35353" sz="825" spc="-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683864" y="2177128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968533" y="2089930"/>
            <a:ext cx="25209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9075" algn="l"/>
              </a:tabLst>
            </a:pP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769738" y="1969085"/>
            <a:ext cx="516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2875" sz="1275" spc="89">
                <a:latin typeface="Tahoma"/>
                <a:cs typeface="Tahoma"/>
              </a:rPr>
              <a:t>=</a:t>
            </a:r>
            <a:r>
              <a:rPr dirty="0" baseline="-22875" sz="1275" spc="-44">
                <a:latin typeface="Tahoma"/>
                <a:cs typeface="Tahoma"/>
              </a:rPr>
              <a:t> </a:t>
            </a:r>
            <a:r>
              <a:rPr dirty="0" baseline="-22875" sz="1275" spc="127" i="1">
                <a:latin typeface="Calibri"/>
                <a:cs typeface="Calibri"/>
              </a:rPr>
              <a:t>a</a:t>
            </a:r>
            <a:r>
              <a:rPr dirty="0" sz="550" spc="85" i="1">
                <a:latin typeface="Calibri"/>
                <a:cs typeface="Calibri"/>
              </a:rPr>
              <a:t>l</a:t>
            </a:r>
            <a:r>
              <a:rPr dirty="0" sz="550" spc="85">
                <a:latin typeface="Cambria"/>
                <a:cs typeface="Cambria"/>
              </a:rPr>
              <a:t>−</a:t>
            </a:r>
            <a:r>
              <a:rPr dirty="0" sz="550" spc="85">
                <a:latin typeface="Calibri"/>
                <a:cs typeface="Calibri"/>
              </a:rPr>
              <a:t>1</a:t>
            </a:r>
            <a:r>
              <a:rPr dirty="0" baseline="-22875" sz="1275" spc="127" i="1">
                <a:latin typeface="Times New Roman"/>
                <a:cs typeface="Times New Roman"/>
              </a:rPr>
              <a:t>δ</a:t>
            </a:r>
            <a:r>
              <a:rPr dirty="0" sz="550" spc="85" i="1">
                <a:latin typeface="Calibri"/>
                <a:cs typeface="Calibri"/>
              </a:rPr>
              <a:t>l</a:t>
            </a:r>
            <a:r>
              <a:rPr dirty="0" sz="550" spc="-5" i="1">
                <a:latin typeface="Calibri"/>
                <a:cs typeface="Calibri"/>
              </a:rPr>
              <a:t> </a:t>
            </a:r>
            <a:r>
              <a:rPr dirty="0" baseline="-22875" sz="1275" spc="-75">
                <a:latin typeface="Calibri"/>
                <a:cs typeface="Calibri"/>
              </a:rPr>
              <a:t>.</a:t>
            </a:r>
            <a:endParaRPr baseline="-22875" sz="1275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748367" y="2015553"/>
            <a:ext cx="304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5">
                <a:latin typeface="Calibri"/>
                <a:cs typeface="Calibri"/>
              </a:rPr>
              <a:t>(BP4)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76984" y="2364996"/>
            <a:ext cx="43897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tells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480" i="1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quantities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δ</a:t>
            </a:r>
            <a:r>
              <a:rPr dirty="0" baseline="35353" sz="825" spc="112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81904" y="2439363"/>
            <a:ext cx="4396740" cy="3943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290957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30"/>
              </a:spcBef>
            </a:pP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a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104">
                <a:latin typeface="Cambria"/>
                <a:cs typeface="Cambria"/>
              </a:rPr>
              <a:t>−</a:t>
            </a:r>
            <a:r>
              <a:rPr dirty="0" baseline="35353" sz="825" spc="104">
                <a:latin typeface="Calibri"/>
                <a:cs typeface="Calibri"/>
              </a:rPr>
              <a:t>1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already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rewritten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less</a:t>
            </a:r>
            <a:endParaRPr sz="85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45"/>
              </a:spcBef>
            </a:pPr>
            <a:r>
              <a:rPr dirty="0" sz="850">
                <a:latin typeface="Calibri"/>
                <a:cs typeface="Calibri"/>
              </a:rPr>
              <a:t>index-heavy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notation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551293" y="2794717"/>
            <a:ext cx="1714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2563114" y="2962109"/>
            <a:ext cx="158115" cy="0"/>
          </a:xfrm>
          <a:custGeom>
            <a:avLst/>
            <a:gdLst/>
            <a:ahLst/>
            <a:cxnLst/>
            <a:rect l="l" t="t" r="r" b="b"/>
            <a:pathLst>
              <a:path w="158114" h="0">
                <a:moveTo>
                  <a:pt x="0" y="0"/>
                </a:moveTo>
                <a:lnTo>
                  <a:pt x="157530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2525014" y="2896392"/>
            <a:ext cx="725170" cy="2133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36220">
              <a:lnSpc>
                <a:spcPts val="730"/>
              </a:lnSpc>
              <a:spcBef>
                <a:spcPts val="110"/>
              </a:spcBef>
            </a:pPr>
            <a:r>
              <a:rPr dirty="0" baseline="13071" sz="1275" spc="89">
                <a:latin typeface="Tahoma"/>
                <a:cs typeface="Tahoma"/>
              </a:rPr>
              <a:t>=</a:t>
            </a:r>
            <a:r>
              <a:rPr dirty="0" baseline="13071" sz="1275" spc="-67">
                <a:latin typeface="Tahoma"/>
                <a:cs typeface="Tahoma"/>
              </a:rPr>
              <a:t> </a:t>
            </a:r>
            <a:r>
              <a:rPr dirty="0" baseline="13071" sz="1275" spc="60" i="1">
                <a:latin typeface="Calibri"/>
                <a:cs typeface="Calibri"/>
              </a:rPr>
              <a:t>a</a:t>
            </a:r>
            <a:r>
              <a:rPr dirty="0" sz="550" spc="40">
                <a:latin typeface="Calibri"/>
                <a:cs typeface="Calibri"/>
              </a:rPr>
              <a:t>in</a:t>
            </a:r>
            <a:r>
              <a:rPr dirty="0" baseline="13071" sz="1275" spc="60" i="1">
                <a:latin typeface="Times New Roman"/>
                <a:cs typeface="Times New Roman"/>
              </a:rPr>
              <a:t>δ</a:t>
            </a:r>
            <a:r>
              <a:rPr dirty="0" sz="550" spc="40">
                <a:latin typeface="Calibri"/>
                <a:cs typeface="Calibri"/>
              </a:rPr>
              <a:t>out</a:t>
            </a:r>
            <a:r>
              <a:rPr dirty="0" baseline="13071" sz="1275" spc="60">
                <a:latin typeface="Calibri"/>
                <a:cs typeface="Calibri"/>
              </a:rPr>
              <a:t>,</a:t>
            </a:r>
            <a:endParaRPr baseline="13071" sz="1275">
              <a:latin typeface="Calibri"/>
              <a:cs typeface="Calibri"/>
            </a:endParaRPr>
          </a:p>
          <a:p>
            <a:pPr marL="38100">
              <a:lnSpc>
                <a:spcPts val="730"/>
              </a:lnSpc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723376" y="2871676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(2.10)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75452" y="3129173"/>
            <a:ext cx="442595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44450" marR="30480" indent="-698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understood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in</a:t>
            </a:r>
            <a:r>
              <a:rPr dirty="0" baseline="-20202" sz="825" spc="35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30" i="1">
                <a:latin typeface="Times New Roman"/>
                <a:cs typeface="Times New Roman"/>
              </a:rPr>
              <a:t>δ</a:t>
            </a:r>
            <a:r>
              <a:rPr dirty="0" baseline="-20202" sz="825" spc="44">
                <a:latin typeface="Calibri"/>
                <a:cs typeface="Calibri"/>
              </a:rPr>
              <a:t>out</a:t>
            </a:r>
            <a:r>
              <a:rPr dirty="0" baseline="-20202" sz="825" spc="7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Zooming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sz="850" spc="-25">
                <a:latin typeface="Calibri"/>
                <a:cs typeface="Calibri"/>
              </a:rPr>
              <a:t>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depict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23" name="object 2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123986" y="3764860"/>
            <a:ext cx="1512023" cy="639703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663957" y="4527278"/>
            <a:ext cx="442722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5880" marR="43180" indent="-5715">
              <a:lnSpc>
                <a:spcPct val="114300"/>
              </a:lnSpc>
              <a:spcBef>
                <a:spcPts val="95"/>
              </a:spcBef>
            </a:pPr>
            <a:r>
              <a:rPr dirty="0" sz="850" spc="7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nice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consequence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5" action="ppaction://hlinksldjump"/>
              </a:rPr>
              <a:t>2.10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baseline="-20202" sz="825" spc="15">
                <a:latin typeface="Calibri"/>
                <a:cs typeface="Calibri"/>
              </a:rPr>
              <a:t>in</a:t>
            </a:r>
            <a:r>
              <a:rPr dirty="0" baseline="-20202" sz="825" spc="41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baseline="-20202" sz="825" spc="15">
                <a:latin typeface="Calibri"/>
                <a:cs typeface="Calibri"/>
              </a:rPr>
              <a:t>in</a:t>
            </a:r>
            <a:r>
              <a:rPr dirty="0" baseline="-20202" sz="825" spc="359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120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0,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learns</a:t>
            </a:r>
            <a:r>
              <a:rPr dirty="0" sz="850" spc="20" i="1">
                <a:latin typeface="Calibri"/>
                <a:cs typeface="Calibri"/>
              </a:rPr>
              <a:t> slowly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during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words,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consequence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5" action="ppaction://hlinksldjump"/>
              </a:rPr>
              <a:t>(BP4)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low-activation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slowly.</a:t>
            </a:r>
            <a:endParaRPr sz="850">
              <a:latin typeface="Calibri"/>
              <a:cs typeface="Calibri"/>
            </a:endParaRPr>
          </a:p>
          <a:p>
            <a:pPr algn="just" marL="245745">
              <a:lnSpc>
                <a:spcPct val="100000"/>
              </a:lnSpc>
              <a:spcBef>
                <a:spcPts val="145"/>
              </a:spcBef>
            </a:pP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insights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along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5" action="ppaction://hlinksldjump"/>
              </a:rPr>
              <a:t>(BP1)–</a:t>
            </a:r>
            <a:r>
              <a:rPr dirty="0" sz="850">
                <a:latin typeface="Calibri"/>
                <a:cs typeface="Calibri"/>
                <a:hlinkClick r:id="rId5" action="ppaction://hlinksldjump"/>
              </a:rPr>
              <a:t>(BP4).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Let’s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447339" y="5358671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81900" y="5284293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-9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2" action="ppaction://hlinksldjump"/>
              </a:rPr>
              <a:t>(BP1).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Recall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graph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950026" y="5506704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81901" y="5432338"/>
            <a:ext cx="44094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0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becomes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sz="850" spc="-9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376914" y="5536743"/>
            <a:ext cx="2444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550" spc="60">
                <a:latin typeface="Cambria"/>
                <a:cs typeface="Cambria"/>
              </a:rPr>
              <a:t>’</a:t>
            </a:r>
            <a:r>
              <a:rPr dirty="0" baseline="-22875" sz="1275" spc="89">
                <a:latin typeface="Tahoma"/>
                <a:cs typeface="Tahoma"/>
              </a:rPr>
              <a:t>(</a:t>
            </a:r>
            <a:r>
              <a:rPr dirty="0" baseline="-22875" sz="1275" spc="284">
                <a:latin typeface="Tahoma"/>
                <a:cs typeface="Tahoma"/>
              </a:rPr>
              <a:t> </a:t>
            </a: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532285" y="5654741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07301" y="5580369"/>
            <a:ext cx="43484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approximately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434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29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0.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69201" y="5711552"/>
            <a:ext cx="442214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29209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15">
                <a:latin typeface="Calibri"/>
                <a:cs typeface="Calibri"/>
              </a:rPr>
              <a:t>(</a:t>
            </a:r>
            <a:r>
              <a:rPr dirty="0" sz="850" spc="215">
                <a:latin typeface="Cambria"/>
                <a:cs typeface="Cambria"/>
              </a:rPr>
              <a:t>”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spc="40">
                <a:latin typeface="Calibri"/>
                <a:cs typeface="Calibri"/>
              </a:rPr>
              <a:t>0)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25">
                <a:latin typeface="Calibri"/>
                <a:cs typeface="Calibri"/>
              </a:rPr>
              <a:t>(</a:t>
            </a:r>
            <a:r>
              <a:rPr dirty="0" sz="850" spc="225">
                <a:latin typeface="Cambria"/>
                <a:cs typeface="Cambria"/>
              </a:rPr>
              <a:t>”</a:t>
            </a:r>
            <a:r>
              <a:rPr dirty="0" sz="850" spc="95">
                <a:latin typeface="Cambria"/>
                <a:cs typeface="Cambria"/>
              </a:rPr>
              <a:t> </a:t>
            </a:r>
            <a:r>
              <a:rPr dirty="0" sz="850" spc="65">
                <a:latin typeface="Calibri"/>
                <a:cs typeface="Calibri"/>
              </a:rPr>
              <a:t>1).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saturated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stopped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slowly).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Similar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remarks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neuron.</a:t>
            </a:r>
            <a:endParaRPr sz="850">
              <a:latin typeface="Calibri"/>
              <a:cs typeface="Calibri"/>
            </a:endParaRPr>
          </a:p>
          <a:p>
            <a:pPr algn="just" marL="240029">
              <a:lnSpc>
                <a:spcPct val="100000"/>
              </a:lnSpc>
              <a:spcBef>
                <a:spcPts val="145"/>
              </a:spcBef>
            </a:pP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obtain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baseline="35353" sz="825" spc="142" i="1">
                <a:latin typeface="Calibri"/>
                <a:cs typeface="Calibri"/>
              </a:rPr>
              <a:t>l</a:t>
            </a:r>
            <a:r>
              <a:rPr dirty="0" baseline="35353" sz="825" spc="-7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5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68238" y="6468582"/>
            <a:ext cx="44100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55">
                <a:latin typeface="Calibri"/>
                <a:cs typeface="Calibri"/>
                <a:hlinkClick r:id="rId3" action="ppaction://hlinksldjump"/>
              </a:rPr>
              <a:t>(BP2).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52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saturation.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81901" y="6542958"/>
            <a:ext cx="4419600" cy="11188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35075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38100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turn,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slowly</a:t>
            </a:r>
            <a:r>
              <a:rPr dirty="0" baseline="35353" sz="825" spc="-15">
                <a:latin typeface="Calibri"/>
                <a:cs typeface="Calibri"/>
                <a:hlinkClick r:id="rId6" action="ppaction://hlinksldjump"/>
              </a:rPr>
              <a:t>4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r" marL="38100" marR="30480" indent="189230">
              <a:lnSpc>
                <a:spcPct val="114300"/>
              </a:lnSpc>
            </a:pPr>
            <a:r>
              <a:rPr dirty="0" sz="850" spc="60">
                <a:latin typeface="Calibri"/>
                <a:cs typeface="Calibri"/>
              </a:rPr>
              <a:t>Summing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either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low-activation,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saturated,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i.e.,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either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high-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low-</a:t>
            </a:r>
            <a:r>
              <a:rPr dirty="0" sz="850" spc="-10">
                <a:latin typeface="Calibri"/>
                <a:cs typeface="Calibri"/>
              </a:rPr>
              <a:t>activation.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None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observations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surprising.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mental</a:t>
            </a:r>
            <a:r>
              <a:rPr dirty="0" sz="850" spc="20">
                <a:latin typeface="Calibri"/>
                <a:cs typeface="Calibri"/>
              </a:rPr>
              <a:t> model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Furthermore,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turn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type</a:t>
            </a:r>
            <a:r>
              <a:rPr dirty="0" sz="850" spc="20">
                <a:latin typeface="Calibri"/>
                <a:cs typeface="Calibri"/>
              </a:rPr>
              <a:t> 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reasoning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around.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fundamental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turn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hold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(that’s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moment,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720001" y="7726145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 txBox="1"/>
          <p:nvPr/>
        </p:nvSpPr>
        <p:spPr>
          <a:xfrm>
            <a:off x="809967" y="7745306"/>
            <a:ext cx="4268470" cy="1422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30303" sz="825">
                <a:latin typeface="Calibri"/>
                <a:cs typeface="Calibri"/>
              </a:rPr>
              <a:t>4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reasoning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won’t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hold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if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Tahoma"/>
                <a:cs typeface="Tahoma"/>
              </a:rPr>
              <a:t>(</a:t>
            </a:r>
            <a:r>
              <a:rPr dirty="0" sz="750" i="1">
                <a:latin typeface="Calibri"/>
                <a:cs typeface="Calibri"/>
              </a:rPr>
              <a:t>w</a:t>
            </a:r>
            <a:r>
              <a:rPr dirty="0" baseline="30303" sz="825" i="1">
                <a:latin typeface="Calibri"/>
                <a:cs typeface="Calibri"/>
              </a:rPr>
              <a:t>l</a:t>
            </a:r>
            <a:r>
              <a:rPr dirty="0" baseline="30303" sz="825">
                <a:latin typeface="Tahoma"/>
                <a:cs typeface="Tahoma"/>
              </a:rPr>
              <a:t>+</a:t>
            </a:r>
            <a:r>
              <a:rPr dirty="0" baseline="30303" sz="825">
                <a:latin typeface="Calibri"/>
                <a:cs typeface="Calibri"/>
              </a:rPr>
              <a:t>1</a:t>
            </a:r>
            <a:r>
              <a:rPr dirty="0" sz="750">
                <a:latin typeface="Tahoma"/>
                <a:cs typeface="Tahoma"/>
              </a:rPr>
              <a:t>)</a:t>
            </a:r>
            <a:r>
              <a:rPr dirty="0" baseline="30303" sz="825" i="1">
                <a:latin typeface="Calibri"/>
                <a:cs typeface="Calibri"/>
              </a:rPr>
              <a:t>T</a:t>
            </a:r>
            <a:r>
              <a:rPr dirty="0" baseline="30303" sz="825" spc="67" i="1">
                <a:latin typeface="Calibri"/>
                <a:cs typeface="Calibri"/>
              </a:rPr>
              <a:t> </a:t>
            </a:r>
            <a:r>
              <a:rPr dirty="0" sz="750" spc="70" i="1">
                <a:latin typeface="Times New Roman"/>
                <a:cs typeface="Times New Roman"/>
              </a:rPr>
              <a:t>δ</a:t>
            </a:r>
            <a:r>
              <a:rPr dirty="0" baseline="30303" sz="825" spc="104" i="1">
                <a:latin typeface="Calibri"/>
                <a:cs typeface="Calibri"/>
              </a:rPr>
              <a:t>l</a:t>
            </a:r>
            <a:r>
              <a:rPr dirty="0" baseline="30303" sz="825" spc="104">
                <a:latin typeface="Tahoma"/>
                <a:cs typeface="Tahoma"/>
              </a:rPr>
              <a:t>+</a:t>
            </a:r>
            <a:r>
              <a:rPr dirty="0" baseline="30303" sz="825" spc="104">
                <a:latin typeface="Calibri"/>
                <a:cs typeface="Calibri"/>
              </a:rPr>
              <a:t>1</a:t>
            </a:r>
            <a:r>
              <a:rPr dirty="0" baseline="30303" sz="825" spc="3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has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large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enough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entries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compensate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for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smallness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012408" y="7932780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81901" y="7872193"/>
            <a:ext cx="2259965" cy="1422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85" i="1">
                <a:latin typeface="Times New Roman"/>
                <a:cs typeface="Times New Roman"/>
              </a:rPr>
              <a:t>σ</a:t>
            </a:r>
            <a:r>
              <a:rPr dirty="0" baseline="30303" sz="825" spc="127">
                <a:latin typeface="Cambria"/>
                <a:cs typeface="Cambria"/>
              </a:rPr>
              <a:t>’</a:t>
            </a:r>
            <a:r>
              <a:rPr dirty="0" sz="750" spc="85">
                <a:latin typeface="Tahoma"/>
                <a:cs typeface="Tahoma"/>
              </a:rPr>
              <a:t>(</a:t>
            </a:r>
            <a:r>
              <a:rPr dirty="0" sz="750" spc="85" i="1">
                <a:latin typeface="Calibri"/>
                <a:cs typeface="Calibri"/>
              </a:rPr>
              <a:t>z</a:t>
            </a:r>
            <a:r>
              <a:rPr dirty="0" baseline="30303" sz="825" spc="127" i="1">
                <a:latin typeface="Calibri"/>
                <a:cs typeface="Calibri"/>
              </a:rPr>
              <a:t>l</a:t>
            </a:r>
            <a:r>
              <a:rPr dirty="0" baseline="30303" sz="825" spc="-22" i="1">
                <a:latin typeface="Calibri"/>
                <a:cs typeface="Calibri"/>
              </a:rPr>
              <a:t> </a:t>
            </a:r>
            <a:r>
              <a:rPr dirty="0" sz="750" spc="10">
                <a:latin typeface="Tahoma"/>
                <a:cs typeface="Tahoma"/>
              </a:rPr>
              <a:t>)</a:t>
            </a:r>
            <a:r>
              <a:rPr dirty="0" sz="750" spc="10">
                <a:latin typeface="Calibri"/>
                <a:cs typeface="Calibri"/>
              </a:rPr>
              <a:t>.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But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I’m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speaking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general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tendency.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-2530" y="1331973"/>
            <a:ext cx="344170" cy="457200"/>
            <a:chOff x="-2530" y="1331973"/>
            <a:chExt cx="344170" cy="457200"/>
          </a:xfrm>
        </p:grpSpPr>
        <p:sp>
          <p:nvSpPr>
            <p:cNvPr id="40" name="object 40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/>
          <p:cNvSpPr txBox="1"/>
          <p:nvPr/>
        </p:nvSpPr>
        <p:spPr>
          <a:xfrm>
            <a:off x="25831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456" y="368721"/>
            <a:ext cx="4610100" cy="175513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309370">
              <a:lnSpc>
                <a:spcPts val="525"/>
              </a:lnSpc>
              <a:spcBef>
                <a:spcPts val="110"/>
              </a:spcBef>
              <a:tabLst>
                <a:tab pos="4449445" algn="l"/>
              </a:tabLst>
            </a:pPr>
            <a:r>
              <a:rPr dirty="0" sz="850" spc="10">
                <a:latin typeface="Calibri"/>
                <a:cs typeface="Calibri"/>
              </a:rPr>
              <a:t>2.4.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behind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47</a:t>
            </a:r>
            <a:endParaRPr sz="850">
              <a:latin typeface="Calibri"/>
              <a:cs typeface="Calibri"/>
            </a:endParaRPr>
          </a:p>
          <a:p>
            <a:pPr algn="r" marR="2279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100" marR="236854" indent="635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special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properties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20" i="1">
                <a:latin typeface="Times New Roman"/>
                <a:cs typeface="Times New Roman"/>
              </a:rPr>
              <a:t>σ</a:t>
            </a:r>
            <a:r>
              <a:rPr dirty="0" sz="850" spc="120">
                <a:latin typeface="Calibri"/>
                <a:cs typeface="Calibri"/>
              </a:rPr>
              <a:t>).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properties.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choose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(non-sigmoid)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activation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80" i="1">
                <a:latin typeface="Times New Roman"/>
                <a:cs typeface="Times New Roman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45" i="1">
                <a:latin typeface="Times New Roman"/>
                <a:cs typeface="Times New Roman"/>
              </a:rPr>
              <a:t>σ</a:t>
            </a:r>
            <a:r>
              <a:rPr dirty="0" baseline="35353" sz="825" spc="217">
                <a:latin typeface="Cambria"/>
                <a:cs typeface="Cambria"/>
              </a:rPr>
              <a:t>’</a:t>
            </a:r>
            <a:r>
              <a:rPr dirty="0" baseline="35353" sz="825" spc="434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positive,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never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zero.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prevent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slow-</a:t>
            </a:r>
            <a:r>
              <a:rPr dirty="0" sz="850" spc="-20">
                <a:latin typeface="Calibri"/>
                <a:cs typeface="Calibri"/>
              </a:rPr>
              <a:t>down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occurs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ordinary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see</a:t>
            </a:r>
            <a:r>
              <a:rPr dirty="0" sz="850" spc="20">
                <a:latin typeface="Calibri"/>
                <a:cs typeface="Calibri"/>
              </a:rPr>
              <a:t> examples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kind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modification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made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activation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Keeping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2" action="ppaction://hlinksldjump"/>
              </a:rPr>
              <a:t>BP1–BP4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modifications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tried,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impact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have.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36013" y="2424772"/>
            <a:ext cx="2807957" cy="156058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54596" y="4183230"/>
            <a:ext cx="4409440" cy="1506220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690"/>
              </a:spcBef>
            </a:pP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  <a:p>
            <a:pPr algn="just" marL="341630" marR="29209" indent="-118745">
              <a:lnSpc>
                <a:spcPct val="114300"/>
              </a:lnSpc>
              <a:spcBef>
                <a:spcPts val="350"/>
              </a:spcBef>
              <a:buFont typeface="Cambria"/>
              <a:buChar char="•"/>
              <a:tabLst>
                <a:tab pos="341630" algn="l"/>
              </a:tabLst>
            </a:pPr>
            <a:r>
              <a:rPr dirty="0" sz="850" b="1">
                <a:latin typeface="Calibri"/>
                <a:cs typeface="Calibri"/>
              </a:rPr>
              <a:t>Alternate</a:t>
            </a:r>
            <a:r>
              <a:rPr dirty="0" sz="850" spc="27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presentation</a:t>
            </a:r>
            <a:r>
              <a:rPr dirty="0" sz="850" spc="27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of</a:t>
            </a:r>
            <a:r>
              <a:rPr dirty="0" sz="850" spc="27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the</a:t>
            </a:r>
            <a:r>
              <a:rPr dirty="0" sz="850" spc="27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equations</a:t>
            </a:r>
            <a:r>
              <a:rPr dirty="0" sz="850" spc="27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of</a:t>
            </a:r>
            <a:r>
              <a:rPr dirty="0" sz="850" spc="27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backpropagation:</a:t>
            </a:r>
            <a:r>
              <a:rPr dirty="0" sz="850" spc="38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stated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equa-</a:t>
            </a:r>
            <a:r>
              <a:rPr dirty="0" sz="850" spc="20">
                <a:latin typeface="Calibri"/>
                <a:cs typeface="Calibri"/>
              </a:rPr>
              <a:t>tions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(notably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4" action="ppaction://hlinksldjump"/>
              </a:rPr>
              <a:t>BP1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  <a:hlinkClick r:id="rId5" action="ppaction://hlinksldjump"/>
              </a:rPr>
              <a:t>BP2)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Hadamard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product.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presentation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disconcerting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unused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Hadamard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product.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There’s</a:t>
            </a:r>
            <a:r>
              <a:rPr dirty="0" sz="850" spc="30">
                <a:latin typeface="Calibri"/>
                <a:cs typeface="Calibri"/>
              </a:rPr>
              <a:t> 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alternative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approach,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based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conventional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matrix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multiplication,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which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readers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enlightening.</a:t>
            </a:r>
            <a:endParaRPr sz="850">
              <a:latin typeface="Calibri"/>
              <a:cs typeface="Calibri"/>
            </a:endParaRPr>
          </a:p>
          <a:p>
            <a:pPr algn="just" lvl="1" marL="617220" indent="-212725">
              <a:lnSpc>
                <a:spcPct val="100000"/>
              </a:lnSpc>
              <a:spcBef>
                <a:spcPts val="145"/>
              </a:spcBef>
              <a:buAutoNum type="arabicParenBoth"/>
              <a:tabLst>
                <a:tab pos="617220" algn="l"/>
              </a:tabLst>
            </a:pP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4" action="ppaction://hlinksldjump"/>
              </a:rPr>
              <a:t>(BP1)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rewritten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50">
              <a:latin typeface="Calibri"/>
              <a:cs typeface="Calibri"/>
            </a:endParaRPr>
          </a:p>
          <a:p>
            <a:pPr marL="2077085">
              <a:lnSpc>
                <a:spcPct val="100000"/>
              </a:lnSpc>
              <a:spcBef>
                <a:spcPts val="5"/>
              </a:spcBef>
              <a:tabLst>
                <a:tab pos="4041140" algn="l"/>
              </a:tabLst>
            </a:pP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2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5">
                <a:latin typeface="Tahoma"/>
                <a:cs typeface="Tahoma"/>
              </a:rPr>
              <a:t> </a:t>
            </a:r>
            <a:r>
              <a:rPr dirty="0" sz="850" spc="65" i="1">
                <a:latin typeface="Arial"/>
                <a:cs typeface="Arial"/>
              </a:rPr>
              <a:t>Σ</a:t>
            </a:r>
            <a:r>
              <a:rPr dirty="0" baseline="35353" sz="825" spc="97">
                <a:latin typeface="Cambria"/>
                <a:cs typeface="Cambria"/>
              </a:rPr>
              <a:t>’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-10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67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65">
                <a:latin typeface="Cambria"/>
                <a:cs typeface="Cambria"/>
              </a:rPr>
              <a:t>𝝯</a:t>
            </a:r>
            <a:r>
              <a:rPr dirty="0" baseline="-20202" sz="825" spc="97" i="1">
                <a:latin typeface="Calibri"/>
                <a:cs typeface="Calibri"/>
              </a:rPr>
              <a:t>a</a:t>
            </a:r>
            <a:r>
              <a:rPr dirty="0" baseline="-20202" sz="825" spc="-52" i="1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C</a:t>
            </a:r>
            <a:r>
              <a:rPr dirty="0" sz="850" spc="50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(2.11)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287237" y="5919465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0121" y="5845088"/>
            <a:ext cx="383095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70" i="1">
                <a:latin typeface="Arial"/>
                <a:cs typeface="Arial"/>
              </a:rPr>
              <a:t>Σ</a:t>
            </a:r>
            <a:r>
              <a:rPr dirty="0" baseline="35353" sz="825" spc="104">
                <a:latin typeface="Cambria"/>
                <a:cs typeface="Cambria"/>
              </a:rPr>
              <a:t>’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sz="850" spc="-9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60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)</a:t>
            </a:r>
            <a:r>
              <a:rPr dirty="0" sz="850" spc="15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square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matrix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whose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diagonal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entries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values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-9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60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34057" y="5976271"/>
            <a:ext cx="4021454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0029" marR="431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off-diagonal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entries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zero.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𝝯</a:t>
            </a:r>
            <a:r>
              <a:rPr dirty="0" baseline="-20202" sz="825" spc="142" i="1">
                <a:latin typeface="Calibri"/>
                <a:cs typeface="Calibri"/>
              </a:rPr>
              <a:t>a</a:t>
            </a:r>
            <a:r>
              <a:rPr dirty="0" baseline="-20202" sz="825" spc="-30" i="1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conventional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multiplication.</a:t>
            </a:r>
            <a:endParaRPr sz="85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  <a:spcBef>
                <a:spcPts val="145"/>
              </a:spcBef>
            </a:pPr>
            <a:r>
              <a:rPr dirty="0" sz="850" spc="75">
                <a:latin typeface="Calibri"/>
                <a:cs typeface="Calibri"/>
              </a:rPr>
              <a:t>(2)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5" action="ppaction://hlinksldjump"/>
              </a:rPr>
              <a:t>(BP2)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rewritten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945014" y="6601704"/>
            <a:ext cx="11849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307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70" i="1">
                <a:latin typeface="Arial"/>
                <a:cs typeface="Arial"/>
              </a:rPr>
              <a:t>Σ</a:t>
            </a:r>
            <a:r>
              <a:rPr dirty="0" baseline="35353" sz="825" spc="104">
                <a:latin typeface="Cambria"/>
                <a:cs typeface="Cambria"/>
              </a:rPr>
              <a:t>’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-30" i="1">
                <a:latin typeface="Calibri"/>
                <a:cs typeface="Calibri"/>
              </a:rPr>
              <a:t> </a:t>
            </a:r>
            <a:r>
              <a:rPr dirty="0" sz="850" spc="30">
                <a:latin typeface="Tahoma"/>
                <a:cs typeface="Tahoma"/>
              </a:rPr>
              <a:t>)(</a:t>
            </a:r>
            <a:r>
              <a:rPr dirty="0" sz="850" spc="30" i="1">
                <a:latin typeface="Calibri"/>
                <a:cs typeface="Calibri"/>
              </a:rPr>
              <a:t>w</a:t>
            </a:r>
            <a:r>
              <a:rPr dirty="0" baseline="35353" sz="825" spc="44" i="1">
                <a:latin typeface="Calibri"/>
                <a:cs typeface="Calibri"/>
              </a:rPr>
              <a:t>l</a:t>
            </a:r>
            <a:r>
              <a:rPr dirty="0" baseline="35353" sz="825" spc="44">
                <a:latin typeface="Tahoma"/>
                <a:cs typeface="Tahoma"/>
              </a:rPr>
              <a:t>+</a:t>
            </a:r>
            <a:r>
              <a:rPr dirty="0" baseline="35353" sz="825" spc="44">
                <a:latin typeface="Calibri"/>
                <a:cs typeface="Calibri"/>
              </a:rPr>
              <a:t>1</a:t>
            </a:r>
            <a:r>
              <a:rPr dirty="0" sz="850" spc="30">
                <a:latin typeface="Tahoma"/>
                <a:cs typeface="Tahoma"/>
              </a:rPr>
              <a:t>)</a:t>
            </a:r>
            <a:r>
              <a:rPr dirty="0" baseline="35353" sz="825" spc="44" i="1">
                <a:latin typeface="Calibri"/>
                <a:cs typeface="Calibri"/>
              </a:rPr>
              <a:t>T</a:t>
            </a:r>
            <a:r>
              <a:rPr dirty="0" baseline="35353" sz="825" spc="7" i="1">
                <a:latin typeface="Calibri"/>
                <a:cs typeface="Calibri"/>
              </a:rPr>
              <a:t> </a:t>
            </a:r>
            <a:r>
              <a:rPr dirty="0" sz="850" spc="55" i="1">
                <a:latin typeface="Times New Roman"/>
                <a:cs typeface="Times New Roman"/>
              </a:rPr>
              <a:t>δ</a:t>
            </a:r>
            <a:r>
              <a:rPr dirty="0" baseline="35353" sz="825" spc="82" i="1">
                <a:latin typeface="Calibri"/>
                <a:cs typeface="Calibri"/>
              </a:rPr>
              <a:t>l</a:t>
            </a:r>
            <a:r>
              <a:rPr dirty="0" baseline="35353" sz="825" spc="82">
                <a:latin typeface="Tahoma"/>
                <a:cs typeface="Tahoma"/>
              </a:rPr>
              <a:t>+</a:t>
            </a:r>
            <a:r>
              <a:rPr dirty="0" baseline="35353" sz="825" spc="82">
                <a:latin typeface="Calibri"/>
                <a:cs typeface="Calibri"/>
              </a:rPr>
              <a:t>1</a:t>
            </a:r>
            <a:r>
              <a:rPr dirty="0" sz="850" spc="5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083387" y="6601704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(2.12)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34056" y="6914222"/>
            <a:ext cx="4044315" cy="10782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10"/>
              </a:spcBef>
            </a:pPr>
            <a:r>
              <a:rPr dirty="0" sz="850" spc="75">
                <a:latin typeface="Calibri"/>
                <a:cs typeface="Calibri"/>
              </a:rPr>
              <a:t>(3)</a:t>
            </a:r>
            <a:r>
              <a:rPr dirty="0" sz="850" spc="4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combining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observations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(1)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(2)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50">
              <a:latin typeface="Calibri"/>
              <a:cs typeface="Calibri"/>
            </a:endParaRPr>
          </a:p>
          <a:p>
            <a:pPr marL="989965">
              <a:lnSpc>
                <a:spcPct val="100000"/>
              </a:lnSpc>
              <a:spcBef>
                <a:spcPts val="5"/>
              </a:spcBef>
              <a:tabLst>
                <a:tab pos="3661410" algn="l"/>
              </a:tabLst>
            </a:pP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322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70" i="1">
                <a:latin typeface="Arial"/>
                <a:cs typeface="Arial"/>
              </a:rPr>
              <a:t>Σ</a:t>
            </a:r>
            <a:r>
              <a:rPr dirty="0" baseline="35353" sz="825" spc="104">
                <a:latin typeface="Cambria"/>
                <a:cs typeface="Cambria"/>
              </a:rPr>
              <a:t>’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-30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)(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baseline="35353" sz="825" spc="30" i="1">
                <a:latin typeface="Calibri"/>
                <a:cs typeface="Calibri"/>
              </a:rPr>
              <a:t>l</a:t>
            </a:r>
            <a:r>
              <a:rPr dirty="0" baseline="35353" sz="825" spc="30">
                <a:latin typeface="Tahoma"/>
                <a:cs typeface="Tahoma"/>
              </a:rPr>
              <a:t>+</a:t>
            </a:r>
            <a:r>
              <a:rPr dirty="0" baseline="35353" sz="825" spc="30">
                <a:latin typeface="Calibri"/>
                <a:cs typeface="Calibri"/>
              </a:rPr>
              <a:t>1</a:t>
            </a:r>
            <a:r>
              <a:rPr dirty="0" sz="850" spc="20">
                <a:latin typeface="Tahoma"/>
                <a:cs typeface="Tahoma"/>
              </a:rPr>
              <a:t>)</a:t>
            </a:r>
            <a:r>
              <a:rPr dirty="0" baseline="35353" sz="825" spc="30" i="1">
                <a:latin typeface="Calibri"/>
                <a:cs typeface="Calibri"/>
              </a:rPr>
              <a:t>T</a:t>
            </a:r>
            <a:r>
              <a:rPr dirty="0" baseline="35353" sz="825" spc="24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65" i="1">
                <a:latin typeface="Arial"/>
                <a:cs typeface="Arial"/>
              </a:rPr>
              <a:t>Σ</a:t>
            </a:r>
            <a:r>
              <a:rPr dirty="0" baseline="35353" sz="825" spc="97">
                <a:latin typeface="Cambria"/>
                <a:cs typeface="Cambria"/>
              </a:rPr>
              <a:t>’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-9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89">
                <a:latin typeface="Cambria"/>
                <a:cs typeface="Cambria"/>
              </a:rPr>
              <a:t>−</a:t>
            </a:r>
            <a:r>
              <a:rPr dirty="0" baseline="35353" sz="825" spc="89">
                <a:latin typeface="Calibri"/>
                <a:cs typeface="Calibri"/>
              </a:rPr>
              <a:t>1</a:t>
            </a:r>
            <a:r>
              <a:rPr dirty="0" sz="850" spc="60">
                <a:latin typeface="Tahoma"/>
                <a:cs typeface="Tahoma"/>
              </a:rPr>
              <a:t>)(</a:t>
            </a:r>
            <a:r>
              <a:rPr dirty="0" sz="850" spc="60" i="1">
                <a:latin typeface="Calibri"/>
                <a:cs typeface="Calibri"/>
              </a:rPr>
              <a:t>w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52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)</a:t>
            </a:r>
            <a:r>
              <a:rPr dirty="0" baseline="35353" sz="825" spc="30" i="1">
                <a:latin typeface="Calibri"/>
                <a:cs typeface="Calibri"/>
              </a:rPr>
              <a:t>T</a:t>
            </a:r>
            <a:r>
              <a:rPr dirty="0" baseline="35353" sz="825" spc="15" i="1">
                <a:latin typeface="Calibri"/>
                <a:cs typeface="Calibri"/>
              </a:rPr>
              <a:t> </a:t>
            </a:r>
            <a:r>
              <a:rPr dirty="0" sz="850" spc="65" i="1">
                <a:latin typeface="Arial"/>
                <a:cs typeface="Arial"/>
              </a:rPr>
              <a:t>Σ</a:t>
            </a:r>
            <a:r>
              <a:rPr dirty="0" baseline="35353" sz="825" spc="97">
                <a:latin typeface="Cambria"/>
                <a:cs typeface="Cambria"/>
              </a:rPr>
              <a:t>’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-9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52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65">
                <a:latin typeface="Cambria"/>
                <a:cs typeface="Cambria"/>
              </a:rPr>
              <a:t>𝝯</a:t>
            </a:r>
            <a:r>
              <a:rPr dirty="0" baseline="-20202" sz="825" spc="97" i="1">
                <a:latin typeface="Calibri"/>
                <a:cs typeface="Calibri"/>
              </a:rPr>
              <a:t>a</a:t>
            </a:r>
            <a:r>
              <a:rPr dirty="0" baseline="-20202" sz="825" spc="-37" i="1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(2.13)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50">
              <a:latin typeface="Calibri"/>
              <a:cs typeface="Calibri"/>
            </a:endParaRPr>
          </a:p>
          <a:p>
            <a:pPr algn="just" marL="226695" marR="43180" indent="13335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readers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comfortable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multiplication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easier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  <a:hlinkClick r:id="rId4" action="ppaction://hlinksldjump"/>
              </a:rPr>
              <a:t>(BP1)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5" action="ppaction://hlinksldjump"/>
              </a:rPr>
              <a:t>(BP2).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focused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  <a:hlinkClick r:id="rId4" action="ppaction://hlinksldjump"/>
              </a:rPr>
              <a:t>(BP1)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  <a:hlinkClick r:id="rId5" action="ppaction://hlinksldjump"/>
              </a:rPr>
              <a:t>(BP2)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implement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numerically.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778788" y="1331973"/>
            <a:ext cx="344170" cy="457200"/>
            <a:chOff x="5778788" y="1331973"/>
            <a:chExt cx="344170" cy="457200"/>
          </a:xfrm>
        </p:grpSpPr>
        <p:sp>
          <p:nvSpPr>
            <p:cNvPr id="12" name="object 12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5876620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3760470" cy="7239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48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850">
              <a:latin typeface="Arial MT"/>
              <a:cs typeface="Arial MT"/>
            </a:endParaRPr>
          </a:p>
          <a:p>
            <a:pPr marL="245745">
              <a:lnSpc>
                <a:spcPct val="100000"/>
              </a:lnSpc>
              <a:tabLst>
                <a:tab pos="572770" algn="l"/>
              </a:tabLst>
            </a:pPr>
            <a:r>
              <a:rPr dirty="0" sz="1050" spc="30" b="1">
                <a:latin typeface="Calibri"/>
                <a:cs typeface="Calibri"/>
              </a:rPr>
              <a:t>2.5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10" b="1">
                <a:latin typeface="Calibri"/>
                <a:cs typeface="Calibri"/>
              </a:rPr>
              <a:t>Proof</a:t>
            </a:r>
            <a:r>
              <a:rPr dirty="0" sz="1050" spc="160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of</a:t>
            </a:r>
            <a:r>
              <a:rPr dirty="0" sz="1050" spc="165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the</a:t>
            </a:r>
            <a:r>
              <a:rPr dirty="0" sz="1050" spc="165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four</a:t>
            </a:r>
            <a:r>
              <a:rPr dirty="0" sz="1050" spc="165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fundamental</a:t>
            </a:r>
            <a:r>
              <a:rPr dirty="0" sz="1050" spc="165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equations</a:t>
            </a:r>
            <a:r>
              <a:rPr dirty="0" sz="1050" spc="16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(optional)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99754" y="1360926"/>
            <a:ext cx="435356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685" marR="5080" indent="-762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fundamental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2" action="ppaction://hlinksldjump"/>
              </a:rPr>
              <a:t>(BP1)–</a:t>
            </a:r>
            <a:r>
              <a:rPr dirty="0" sz="850" spc="50">
                <a:latin typeface="Calibri"/>
                <a:cs typeface="Calibri"/>
                <a:hlinkClick r:id="rId2" action="ppaction://hlinksldjump"/>
              </a:rPr>
              <a:t>(BP4).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consequences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multivariable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calculus.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comfortable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strongly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encourage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attempt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yourself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before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81901" y="1890643"/>
            <a:ext cx="439674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18923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  <a:hlinkClick r:id="rId3" action="ppaction://hlinksldjump"/>
              </a:rPr>
              <a:t>(BP1),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-22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definition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694330" y="2489488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903664" y="2505544"/>
            <a:ext cx="182245" cy="0"/>
          </a:xfrm>
          <a:custGeom>
            <a:avLst/>
            <a:gdLst/>
            <a:ahLst/>
            <a:cxnLst/>
            <a:rect l="l" t="t" r="r" b="b"/>
            <a:pathLst>
              <a:path w="182244" h="0">
                <a:moveTo>
                  <a:pt x="0" y="0"/>
                </a:moveTo>
                <a:lnTo>
                  <a:pt x="182143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2865564" y="2497838"/>
            <a:ext cx="2489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1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100" i="1">
                <a:latin typeface="Calibri"/>
                <a:cs typeface="Calibri"/>
              </a:rPr>
              <a:t> 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25023" y="2569471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590507" y="2415112"/>
            <a:ext cx="5791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232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155">
                <a:latin typeface="Tahoma"/>
                <a:cs typeface="Tahoma"/>
              </a:rPr>
              <a:t> </a:t>
            </a:r>
            <a:r>
              <a:rPr dirty="0" baseline="39215" sz="1275" i="1">
                <a:latin typeface="Times New Roman"/>
                <a:cs typeface="Times New Roman"/>
              </a:rPr>
              <a:t>∂</a:t>
            </a:r>
            <a:r>
              <a:rPr dirty="0" baseline="39215" sz="1275" spc="-30" i="1">
                <a:latin typeface="Times New Roman"/>
                <a:cs typeface="Times New Roman"/>
              </a:rPr>
              <a:t> </a:t>
            </a:r>
            <a:r>
              <a:rPr dirty="0" baseline="39215" sz="1275" spc="97" i="1">
                <a:latin typeface="Calibri"/>
                <a:cs typeface="Calibri"/>
              </a:rPr>
              <a:t>C</a:t>
            </a:r>
            <a:r>
              <a:rPr dirty="0" baseline="39215" sz="1275" spc="157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723380" y="2415110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(2.14)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2057" y="2791250"/>
            <a:ext cx="435102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780" marR="5080" indent="-5715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Applying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rule,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re-</a:t>
            </a:r>
            <a:r>
              <a:rPr dirty="0" sz="850" spc="20">
                <a:latin typeface="Calibri"/>
                <a:cs typeface="Calibri"/>
              </a:rPr>
              <a:t>express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derivative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terms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activations,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494470" y="3417843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90648" y="3343472"/>
            <a:ext cx="3105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232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675931" y="3223392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733880" y="3508677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877569" y="3266507"/>
            <a:ext cx="1714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2872435" y="343390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 h="0">
                <a:moveTo>
                  <a:pt x="0" y="0"/>
                </a:moveTo>
                <a:lnTo>
                  <a:pt x="191439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3081538" y="3250732"/>
            <a:ext cx="1625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226710" y="3243560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94240" y="343390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 h="0">
                <a:moveTo>
                  <a:pt x="0" y="0"/>
                </a:moveTo>
                <a:lnTo>
                  <a:pt x="191439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2821635" y="3426195"/>
            <a:ext cx="500380" cy="18732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80"/>
              </a:spcBef>
            </a:pPr>
            <a:endParaRPr sz="550">
              <a:latin typeface="Times New Roman"/>
              <a:cs typeface="Times New Roman"/>
            </a:endParaRPr>
          </a:p>
          <a:p>
            <a:pPr marL="189230" marR="43180" indent="-139065">
              <a:lnSpc>
                <a:spcPct val="41000"/>
              </a:lnSpc>
              <a:tabLst>
                <a:tab pos="410845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10" i="1">
                <a:latin typeface="Times New Roman"/>
                <a:cs typeface="Times New Roman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382" i="1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3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105" i="1">
                <a:latin typeface="Calibri"/>
                <a:cs typeface="Calibri"/>
              </a:rPr>
              <a:t> 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750" i="1">
                <a:latin typeface="Calibri"/>
                <a:cs typeface="Calibri"/>
              </a:rPr>
              <a:t> </a:t>
            </a: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194935" y="3288668"/>
            <a:ext cx="1746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550" i="1">
                <a:latin typeface="Calibri"/>
                <a:cs typeface="Calibri"/>
              </a:rPr>
              <a:t>k</a:t>
            </a:r>
            <a:r>
              <a:rPr dirty="0" sz="550" spc="155" i="1">
                <a:latin typeface="Calibri"/>
                <a:cs typeface="Calibri"/>
              </a:rPr>
              <a:t> </a:t>
            </a:r>
            <a:r>
              <a:rPr dirty="0" baseline="-29411" sz="1275" spc="-75">
                <a:latin typeface="Calibri"/>
                <a:cs typeface="Calibri"/>
              </a:rPr>
              <a:t>,</a:t>
            </a:r>
            <a:endParaRPr baseline="-29411" sz="1275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723410" y="3343472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(2.15)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75452" y="3750566"/>
            <a:ext cx="43929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k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a</a:t>
            </a:r>
            <a:r>
              <a:rPr dirty="0" baseline="35353" sz="825" spc="60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974654" y="3824933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455653" y="3972974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81901" y="3898598"/>
            <a:ext cx="44240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k</a:t>
            </a:r>
            <a:r>
              <a:rPr dirty="0" sz="850" spc="10">
                <a:latin typeface="Calibri"/>
                <a:cs typeface="Calibri"/>
              </a:rPr>
              <a:t>-th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depends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427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j</a:t>
            </a:r>
            <a:r>
              <a:rPr dirty="0" sz="850" spc="10">
                <a:latin typeface="Calibri"/>
                <a:cs typeface="Calibri"/>
              </a:rPr>
              <a:t>-th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k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125">
                <a:latin typeface="Tahoma"/>
                <a:cs typeface="Tahom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j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204466" y="4039457"/>
            <a:ext cx="299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49554" algn="l"/>
              </a:tabLst>
            </a:pPr>
            <a:r>
              <a:rPr dirty="0" sz="550" spc="1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198091" y="4121005"/>
            <a:ext cx="2870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4635" algn="l"/>
              </a:tabLst>
            </a:pP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333207" y="4046629"/>
            <a:ext cx="254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dirty="0" sz="850" spc="-415">
                <a:latin typeface="Cambria"/>
                <a:cs typeface="Cambria"/>
              </a:rPr>
              <a:t>/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02057" y="4046629"/>
            <a:ext cx="43510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sz="850" spc="295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/∂</a:t>
            </a:r>
            <a:r>
              <a:rPr dirty="0" sz="850" spc="-1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200" i="1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vanishes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k</a:t>
            </a:r>
            <a:r>
              <a:rPr dirty="0" sz="850" spc="6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90">
                <a:latin typeface="Tahoma"/>
                <a:cs typeface="Tahoma"/>
              </a:rPr>
              <a:t> </a:t>
            </a:r>
            <a:r>
              <a:rPr dirty="0" sz="850" spc="10" i="1">
                <a:latin typeface="Calibri"/>
                <a:cs typeface="Calibri"/>
              </a:rPr>
              <a:t>j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simplify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previous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578783" y="4552993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474961" y="4478622"/>
            <a:ext cx="3105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232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2788119" y="4569053"/>
            <a:ext cx="413384" cy="0"/>
          </a:xfrm>
          <a:custGeom>
            <a:avLst/>
            <a:gdLst/>
            <a:ahLst/>
            <a:cxnLst/>
            <a:rect l="l" t="t" r="r" b="b"/>
            <a:pathLst>
              <a:path w="413385" h="0">
                <a:moveTo>
                  <a:pt x="0" y="0"/>
                </a:moveTo>
                <a:lnTo>
                  <a:pt x="191439" y="0"/>
                </a:lnTo>
              </a:path>
              <a:path w="413385" h="0">
                <a:moveTo>
                  <a:pt x="221805" y="0"/>
                </a:moveTo>
                <a:lnTo>
                  <a:pt x="41324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 txBox="1"/>
          <p:nvPr/>
        </p:nvSpPr>
        <p:spPr>
          <a:xfrm>
            <a:off x="2767850" y="4370292"/>
            <a:ext cx="4616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16339" sz="1275" i="1">
                <a:latin typeface="Times New Roman"/>
                <a:cs typeface="Times New Roman"/>
              </a:rPr>
              <a:t>∂</a:t>
            </a:r>
            <a:r>
              <a:rPr dirty="0" baseline="-16339" sz="1275" spc="-30" i="1">
                <a:latin typeface="Times New Roman"/>
                <a:cs typeface="Times New Roman"/>
              </a:rPr>
              <a:t> </a:t>
            </a:r>
            <a:r>
              <a:rPr dirty="0" baseline="-16339" sz="1275" spc="97" i="1">
                <a:latin typeface="Calibri"/>
                <a:cs typeface="Calibri"/>
              </a:rPr>
              <a:t>C</a:t>
            </a:r>
            <a:r>
              <a:rPr dirty="0" baseline="-16339" sz="1275" spc="397" i="1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15" i="1">
                <a:latin typeface="Times New Roman"/>
                <a:cs typeface="Times New Roman"/>
              </a:rPr>
              <a:t> </a:t>
            </a:r>
            <a:r>
              <a:rPr dirty="0" sz="850" spc="40" i="1">
                <a:latin typeface="Calibri"/>
                <a:cs typeface="Calibri"/>
              </a:rPr>
              <a:t>a</a:t>
            </a:r>
            <a:r>
              <a:rPr dirty="0" baseline="35353" sz="825" spc="60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750019" y="4561347"/>
            <a:ext cx="4749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10" i="1">
                <a:latin typeface="Times New Roman"/>
                <a:cs typeface="Times New Roman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382" i="1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3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105" i="1">
                <a:latin typeface="Calibri"/>
                <a:cs typeface="Calibri"/>
              </a:rPr>
              <a:t> 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921504" y="4632980"/>
            <a:ext cx="2597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2669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143313" y="4444668"/>
            <a:ext cx="116839" cy="1911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45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73025">
              <a:lnSpc>
                <a:spcPts val="815"/>
              </a:lnSpc>
            </a:pP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723378" y="4478623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(2.16)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69201" y="4882263"/>
            <a:ext cx="4422140" cy="3048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ts val="81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Recalling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337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sz="850" spc="-100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60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)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second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term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written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-100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60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)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  <a:p>
            <a:pPr marL="824865">
              <a:lnSpc>
                <a:spcPts val="405"/>
              </a:lnSpc>
              <a:tabLst>
                <a:tab pos="1202055" algn="l"/>
                <a:tab pos="384238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50800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becomes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2746603" y="5315839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 h="0">
                <a:moveTo>
                  <a:pt x="0" y="0"/>
                </a:moveTo>
                <a:lnTo>
                  <a:pt x="191439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 txBox="1"/>
          <p:nvPr/>
        </p:nvSpPr>
        <p:spPr>
          <a:xfrm>
            <a:off x="2708503" y="5308132"/>
            <a:ext cx="2578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30" i="1">
                <a:latin typeface="Calibri"/>
                <a:cs typeface="Calibri"/>
              </a:rPr>
              <a:t>a</a:t>
            </a:r>
            <a:r>
              <a:rPr dirty="0" baseline="35353" sz="825" spc="44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879993" y="5379760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537272" y="5299777"/>
            <a:ext cx="6623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2928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420759" y="5225406"/>
            <a:ext cx="26574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2315210" algn="l"/>
              </a:tabLst>
            </a:pP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22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200">
                <a:latin typeface="Tahoma"/>
                <a:cs typeface="Tahoma"/>
              </a:rPr>
              <a:t> </a:t>
            </a:r>
            <a:r>
              <a:rPr dirty="0" baseline="39215" sz="1275" i="1">
                <a:latin typeface="Times New Roman"/>
                <a:cs typeface="Times New Roman"/>
              </a:rPr>
              <a:t>∂</a:t>
            </a:r>
            <a:r>
              <a:rPr dirty="0" baseline="39215" sz="1275" spc="-22" i="1">
                <a:latin typeface="Times New Roman"/>
                <a:cs typeface="Times New Roman"/>
              </a:rPr>
              <a:t> </a:t>
            </a:r>
            <a:r>
              <a:rPr dirty="0" baseline="39215" sz="1275" spc="97" i="1">
                <a:latin typeface="Calibri"/>
                <a:cs typeface="Calibri"/>
              </a:rPr>
              <a:t>C</a:t>
            </a:r>
            <a:r>
              <a:rPr dirty="0" baseline="39215" sz="1275" spc="217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-110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67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(2.17)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56501" y="5535772"/>
            <a:ext cx="4434840" cy="50038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63500" marR="43180" indent="-6985">
              <a:lnSpc>
                <a:spcPts val="1170"/>
              </a:lnSpc>
              <a:spcBef>
                <a:spcPts val="155"/>
              </a:spcBef>
            </a:pP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3" action="ppaction://hlinksldjump"/>
              </a:rPr>
              <a:t>(BP1),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component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Next,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4" action="ppaction://hlinksldjump"/>
              </a:rPr>
              <a:t>(BP2),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44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δ</a:t>
            </a:r>
            <a:r>
              <a:rPr dirty="0" baseline="35353" sz="825" spc="112" i="1">
                <a:latin typeface="Calibri"/>
                <a:cs typeface="Calibri"/>
              </a:rPr>
              <a:t>l</a:t>
            </a:r>
            <a:r>
              <a:rPr dirty="0" baseline="35353" sz="825" spc="112">
                <a:latin typeface="Tahoma"/>
                <a:cs typeface="Tahoma"/>
              </a:rPr>
              <a:t>+</a:t>
            </a:r>
            <a:r>
              <a:rPr dirty="0" baseline="35353" sz="825" spc="112">
                <a:latin typeface="Calibri"/>
                <a:cs typeface="Calibri"/>
              </a:rPr>
              <a:t>1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rewrite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359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3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δ</a:t>
            </a:r>
            <a:r>
              <a:rPr dirty="0" baseline="35353" sz="825" spc="112" i="1">
                <a:latin typeface="Calibri"/>
                <a:cs typeface="Calibri"/>
              </a:rPr>
              <a:t>l</a:t>
            </a:r>
            <a:r>
              <a:rPr dirty="0" baseline="35353" sz="825" spc="112">
                <a:latin typeface="Tahoma"/>
                <a:cs typeface="Tahoma"/>
              </a:rPr>
              <a:t>+</a:t>
            </a:r>
            <a:r>
              <a:rPr dirty="0" baseline="35353" sz="825" spc="112">
                <a:latin typeface="Calibri"/>
                <a:cs typeface="Calibri"/>
              </a:rPr>
              <a:t>1</a:t>
            </a:r>
            <a:r>
              <a:rPr dirty="0" baseline="35353" sz="825" spc="247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-15" i="1">
                <a:latin typeface="Times New Roman"/>
                <a:cs typeface="Times New Roman"/>
              </a:rPr>
              <a:t> </a:t>
            </a:r>
            <a:r>
              <a:rPr dirty="0" sz="850" spc="55" i="1">
                <a:latin typeface="Calibri"/>
                <a:cs typeface="Calibri"/>
              </a:rPr>
              <a:t>z</a:t>
            </a:r>
            <a:r>
              <a:rPr dirty="0" baseline="35353" sz="825" spc="82" i="1">
                <a:latin typeface="Calibri"/>
                <a:cs typeface="Calibri"/>
              </a:rPr>
              <a:t>l</a:t>
            </a:r>
            <a:r>
              <a:rPr dirty="0" baseline="35353" sz="825" spc="82">
                <a:latin typeface="Tahoma"/>
                <a:cs typeface="Tahoma"/>
              </a:rPr>
              <a:t>+</a:t>
            </a:r>
            <a:r>
              <a:rPr dirty="0" baseline="35353" sz="825" spc="82">
                <a:latin typeface="Calibri"/>
                <a:cs typeface="Calibri"/>
              </a:rPr>
              <a:t>1</a:t>
            </a:r>
            <a:r>
              <a:rPr dirty="0" sz="850" spc="55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rule,</a:t>
            </a:r>
            <a:endParaRPr sz="850">
              <a:latin typeface="Calibri"/>
              <a:cs typeface="Calibri"/>
            </a:endParaRPr>
          </a:p>
          <a:p>
            <a:pPr marL="141605">
              <a:lnSpc>
                <a:spcPts val="165"/>
              </a:lnSpc>
              <a:tabLst>
                <a:tab pos="653415" algn="l"/>
                <a:tab pos="1330960" algn="l"/>
                <a:tab pos="1932939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873671" y="6343834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029891" y="6357101"/>
            <a:ext cx="228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45" i="1">
                <a:latin typeface="Times New Roman"/>
                <a:cs typeface="Times New Roman"/>
              </a:rPr>
              <a:t> </a:t>
            </a:r>
            <a:r>
              <a:rPr dirty="0" sz="850" spc="35" i="1">
                <a:latin typeface="Calibri"/>
                <a:cs typeface="Calibri"/>
              </a:rPr>
              <a:t>z</a:t>
            </a:r>
            <a:r>
              <a:rPr dirty="0" baseline="35353" sz="825" spc="52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769848" y="6269462"/>
            <a:ext cx="6267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502284" algn="l"/>
              </a:tabLst>
            </a:pP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292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371422" y="6149367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059443" y="6192498"/>
            <a:ext cx="7181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59435" algn="l"/>
              </a:tabLst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2567927" y="6359880"/>
            <a:ext cx="258445" cy="0"/>
          </a:xfrm>
          <a:custGeom>
            <a:avLst/>
            <a:gdLst/>
            <a:ahLst/>
            <a:cxnLst/>
            <a:rect l="l" t="t" r="r" b="b"/>
            <a:pathLst>
              <a:path w="258444" h="0">
                <a:moveTo>
                  <a:pt x="0" y="0"/>
                </a:moveTo>
                <a:lnTo>
                  <a:pt x="257873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 txBox="1"/>
          <p:nvPr/>
        </p:nvSpPr>
        <p:spPr>
          <a:xfrm>
            <a:off x="2818058" y="6133099"/>
            <a:ext cx="3282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-67" i="1">
                <a:latin typeface="Times New Roman"/>
                <a:cs typeface="Times New Roman"/>
              </a:rPr>
              <a:t> </a:t>
            </a:r>
            <a:r>
              <a:rPr dirty="0" baseline="-22875" sz="1275" spc="52" i="1">
                <a:latin typeface="Calibri"/>
                <a:cs typeface="Calibri"/>
              </a:rPr>
              <a:t>z</a:t>
            </a:r>
            <a:r>
              <a:rPr dirty="0" sz="550" spc="35" i="1">
                <a:latin typeface="Calibri"/>
                <a:cs typeface="Calibri"/>
              </a:rPr>
              <a:t>l</a:t>
            </a:r>
            <a:r>
              <a:rPr dirty="0" sz="550" spc="35">
                <a:latin typeface="Tahoma"/>
                <a:cs typeface="Tahoma"/>
              </a:rPr>
              <a:t>+</a:t>
            </a:r>
            <a:r>
              <a:rPr dirty="0" sz="550" spc="3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2970229" y="6251097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2856153" y="6359880"/>
            <a:ext cx="258445" cy="0"/>
          </a:xfrm>
          <a:custGeom>
            <a:avLst/>
            <a:gdLst/>
            <a:ahLst/>
            <a:cxnLst/>
            <a:rect l="l" t="t" r="r" b="b"/>
            <a:pathLst>
              <a:path w="258444" h="0">
                <a:moveTo>
                  <a:pt x="0" y="0"/>
                </a:moveTo>
                <a:lnTo>
                  <a:pt x="257873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 txBox="1"/>
          <p:nvPr/>
        </p:nvSpPr>
        <p:spPr>
          <a:xfrm>
            <a:off x="2529827" y="6314316"/>
            <a:ext cx="5638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-67" i="1">
                <a:latin typeface="Times New Roman"/>
                <a:cs typeface="Times New Roman"/>
              </a:rPr>
              <a:t> </a:t>
            </a:r>
            <a:r>
              <a:rPr dirty="0" baseline="-22875" sz="1275" spc="82" i="1">
                <a:latin typeface="Calibri"/>
                <a:cs typeface="Calibri"/>
              </a:rPr>
              <a:t>z</a:t>
            </a:r>
            <a:r>
              <a:rPr dirty="0" sz="550" spc="55" i="1">
                <a:latin typeface="Calibri"/>
                <a:cs typeface="Calibri"/>
              </a:rPr>
              <a:t>l</a:t>
            </a:r>
            <a:r>
              <a:rPr dirty="0" sz="550" spc="55">
                <a:latin typeface="Tahoma"/>
                <a:cs typeface="Tahoma"/>
              </a:rPr>
              <a:t>+</a:t>
            </a:r>
            <a:r>
              <a:rPr dirty="0" sz="550" spc="55">
                <a:latin typeface="Calibri"/>
                <a:cs typeface="Calibri"/>
              </a:rPr>
              <a:t>1</a:t>
            </a:r>
            <a:r>
              <a:rPr dirty="0" sz="550" spc="210">
                <a:latin typeface="Calibri"/>
                <a:cs typeface="Calibri"/>
              </a:rPr>
              <a:t>  </a:t>
            </a: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-60" i="1">
                <a:latin typeface="Times New Roman"/>
                <a:cs typeface="Times New Roman"/>
              </a:rPr>
              <a:t> </a:t>
            </a:r>
            <a:r>
              <a:rPr dirty="0" baseline="-22875" sz="1275" spc="52" i="1">
                <a:latin typeface="Calibri"/>
                <a:cs typeface="Calibri"/>
              </a:rPr>
              <a:t>z</a:t>
            </a:r>
            <a:r>
              <a:rPr dirty="0" sz="550" spc="35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141914" y="6269461"/>
            <a:ext cx="111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253371" y="6149367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437178" y="6176727"/>
            <a:ext cx="1504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45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z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569408" y="6169540"/>
            <a:ext cx="1447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l</a:t>
            </a:r>
            <a:r>
              <a:rPr dirty="0" sz="550" spc="-25">
                <a:latin typeface="Tahoma"/>
                <a:cs typeface="Tahoma"/>
              </a:rPr>
              <a:t>+</a:t>
            </a:r>
            <a:r>
              <a:rPr dirty="0" sz="550" spc="-2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458679" y="6357101"/>
            <a:ext cx="228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45" i="1">
                <a:latin typeface="Times New Roman"/>
                <a:cs typeface="Times New Roman"/>
              </a:rPr>
              <a:t> </a:t>
            </a:r>
            <a:r>
              <a:rPr dirty="0" sz="850" spc="35" i="1">
                <a:latin typeface="Calibri"/>
                <a:cs typeface="Calibri"/>
              </a:rPr>
              <a:t>z</a:t>
            </a:r>
            <a:r>
              <a:rPr dirty="0" baseline="35353" sz="825" spc="52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2189351" y="6434668"/>
            <a:ext cx="14738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2095" algn="l"/>
                <a:tab pos="504825" algn="l"/>
                <a:tab pos="847090" algn="l"/>
                <a:tab pos="1134110" algn="l"/>
                <a:tab pos="1440815" algn="l"/>
              </a:tabLst>
            </a:pPr>
            <a:r>
              <a:rPr dirty="0" baseline="5050" sz="825" spc="-75" i="1">
                <a:latin typeface="Calibri"/>
                <a:cs typeface="Calibri"/>
              </a:rPr>
              <a:t>j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781359" y="6343833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411778" y="6223002"/>
            <a:ext cx="5784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u="sng" baseline="5050" sz="825" spc="57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baseline="5050" sz="8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5050" sz="825" spc="3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baseline="5050" sz="825" spc="7" i="1">
                <a:latin typeface="Calibri"/>
                <a:cs typeface="Calibri"/>
              </a:rPr>
              <a:t> </a:t>
            </a:r>
            <a:r>
              <a:rPr dirty="0" baseline="-22875" sz="1275" spc="97" i="1">
                <a:latin typeface="Times New Roman"/>
                <a:cs typeface="Times New Roman"/>
              </a:rPr>
              <a:t>δ</a:t>
            </a:r>
            <a:r>
              <a:rPr dirty="0" sz="550" spc="65" i="1">
                <a:latin typeface="Calibri"/>
                <a:cs typeface="Calibri"/>
              </a:rPr>
              <a:t>l</a:t>
            </a:r>
            <a:r>
              <a:rPr dirty="0" sz="550" spc="65">
                <a:latin typeface="Tahoma"/>
                <a:cs typeface="Tahoma"/>
              </a:rPr>
              <a:t>+</a:t>
            </a:r>
            <a:r>
              <a:rPr dirty="0" sz="550" spc="65">
                <a:latin typeface="Calibri"/>
                <a:cs typeface="Calibri"/>
              </a:rPr>
              <a:t>1</a:t>
            </a:r>
            <a:r>
              <a:rPr dirty="0" baseline="-22875" sz="1275" spc="97">
                <a:latin typeface="Calibri"/>
                <a:cs typeface="Calibri"/>
              </a:rPr>
              <a:t>,</a:t>
            </a:r>
            <a:endParaRPr baseline="-22875" sz="1275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723386" y="6269461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(2.18)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700852" y="6664213"/>
            <a:ext cx="43522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interchanged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right-hand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side,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2131679" y="6886616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81901" y="6812244"/>
            <a:ext cx="41287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substituted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definition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δ</a:t>
            </a:r>
            <a:r>
              <a:rPr dirty="0" baseline="35353" sz="825" spc="112" i="1">
                <a:latin typeface="Calibri"/>
                <a:cs typeface="Calibri"/>
              </a:rPr>
              <a:t>l</a:t>
            </a:r>
            <a:r>
              <a:rPr dirty="0" baseline="35353" sz="825" spc="112">
                <a:latin typeface="Tahoma"/>
                <a:cs typeface="Tahoma"/>
              </a:rPr>
              <a:t>+</a:t>
            </a:r>
            <a:r>
              <a:rPr dirty="0" baseline="35353" sz="825" spc="112">
                <a:latin typeface="Calibri"/>
                <a:cs typeface="Calibri"/>
              </a:rPr>
              <a:t>1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evaluate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811465" y="7137634"/>
            <a:ext cx="1447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l</a:t>
            </a:r>
            <a:r>
              <a:rPr dirty="0" sz="550" spc="-25">
                <a:latin typeface="Tahoma"/>
                <a:cs typeface="Tahoma"/>
              </a:rPr>
              <a:t>+</a:t>
            </a:r>
            <a:r>
              <a:rPr dirty="0" sz="550" spc="-2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805988" y="7222034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327809" y="7222034"/>
            <a:ext cx="23749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k</a:t>
            </a:r>
            <a:r>
              <a:rPr dirty="0" sz="550" spc="-40" i="1">
                <a:latin typeface="Calibri"/>
                <a:cs typeface="Calibri"/>
              </a:rPr>
              <a:t> </a:t>
            </a: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90" i="1">
                <a:latin typeface="Calibri"/>
                <a:cs typeface="Calibri"/>
              </a:rPr>
              <a:t>  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325076" y="7137634"/>
            <a:ext cx="5581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5450" algn="l"/>
              </a:tabLst>
            </a:pPr>
            <a:r>
              <a:rPr dirty="0" sz="550" i="1">
                <a:latin typeface="Calibri"/>
                <a:cs typeface="Calibri"/>
              </a:rPr>
              <a:t>l</a:t>
            </a:r>
            <a:r>
              <a:rPr dirty="0" sz="550">
                <a:latin typeface="Tahoma"/>
                <a:cs typeface="Tahoma"/>
              </a:rPr>
              <a:t>+</a:t>
            </a:r>
            <a:r>
              <a:rPr dirty="0" sz="550">
                <a:latin typeface="Calibri"/>
                <a:cs typeface="Calibri"/>
              </a:rPr>
              <a:t>1</a:t>
            </a:r>
            <a:r>
              <a:rPr dirty="0" sz="550" spc="220">
                <a:latin typeface="Calibri"/>
                <a:cs typeface="Calibri"/>
              </a:rPr>
              <a:t>  </a:t>
            </a:r>
            <a:r>
              <a:rPr dirty="0" sz="550" spc="-6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25" i="1">
                <a:latin typeface="Calibri"/>
                <a:cs typeface="Calibri"/>
              </a:rPr>
              <a:t>l</a:t>
            </a:r>
            <a:r>
              <a:rPr dirty="0" sz="550" spc="-25">
                <a:latin typeface="Tahoma"/>
                <a:cs typeface="Tahoma"/>
              </a:rPr>
              <a:t>+</a:t>
            </a:r>
            <a:r>
              <a:rPr dirty="0" sz="550" spc="-2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735539" y="7222034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073958" y="7027568"/>
            <a:ext cx="11055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939165" algn="l"/>
              </a:tabLst>
            </a:pPr>
            <a:r>
              <a:rPr dirty="0" sz="850" spc="585">
                <a:latin typeface="Arial MT"/>
                <a:cs typeface="Arial MT"/>
              </a:rPr>
              <a:t>X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143570" y="7310557"/>
            <a:ext cx="9721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93916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3251883" y="7137634"/>
            <a:ext cx="1447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l</a:t>
            </a:r>
            <a:r>
              <a:rPr dirty="0" sz="550" spc="-25">
                <a:latin typeface="Tahoma"/>
                <a:cs typeface="Tahoma"/>
              </a:rPr>
              <a:t>+</a:t>
            </a:r>
            <a:r>
              <a:rPr dirty="0" sz="550" spc="-2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3254626" y="7222035"/>
            <a:ext cx="939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k 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558960" y="7137634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560776" y="7222035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822510" y="7137634"/>
            <a:ext cx="1447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l</a:t>
            </a:r>
            <a:r>
              <a:rPr dirty="0" sz="550" spc="-25">
                <a:latin typeface="Tahoma"/>
                <a:cs typeface="Tahoma"/>
              </a:rPr>
              <a:t>+</a:t>
            </a:r>
            <a:r>
              <a:rPr dirty="0" sz="550" spc="-2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3819766" y="7222035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756076" y="7147662"/>
            <a:ext cx="22479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18440" algn="l"/>
                <a:tab pos="501650" algn="l"/>
                <a:tab pos="709930" algn="l"/>
                <a:tab pos="1145540" algn="l"/>
                <a:tab pos="1428115" algn="l"/>
                <a:tab pos="1633855" algn="l"/>
                <a:tab pos="2204085" algn="l"/>
              </a:tabLst>
            </a:pPr>
            <a:r>
              <a:rPr dirty="0" sz="850" spc="-50" i="1">
                <a:latin typeface="Calibri"/>
                <a:cs typeface="Calibri"/>
              </a:rPr>
              <a:t>z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 i="1">
                <a:latin typeface="Calibri"/>
                <a:cs typeface="Calibri"/>
              </a:rPr>
              <a:t>w</a:t>
            </a:r>
            <a:r>
              <a:rPr dirty="0" sz="850" i="1">
                <a:latin typeface="Calibri"/>
                <a:cs typeface="Calibri"/>
              </a:rPr>
              <a:t>	a</a:t>
            </a:r>
            <a:r>
              <a:rPr dirty="0" sz="850" spc="28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 i="1">
                <a:latin typeface="Calibri"/>
                <a:cs typeface="Calibri"/>
              </a:rPr>
              <a:t>w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100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723426" y="7147663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(2.19)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707298" y="7557402"/>
            <a:ext cx="1254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Differentiating,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obtain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2381895" y="7648257"/>
            <a:ext cx="3282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-67" i="1">
                <a:latin typeface="Times New Roman"/>
                <a:cs typeface="Times New Roman"/>
              </a:rPr>
              <a:t> </a:t>
            </a:r>
            <a:r>
              <a:rPr dirty="0" baseline="-22875" sz="1275" spc="52" i="1">
                <a:latin typeface="Calibri"/>
                <a:cs typeface="Calibri"/>
              </a:rPr>
              <a:t>z</a:t>
            </a:r>
            <a:r>
              <a:rPr dirty="0" sz="550" spc="35" i="1">
                <a:latin typeface="Calibri"/>
                <a:cs typeface="Calibri"/>
              </a:rPr>
              <a:t>l</a:t>
            </a:r>
            <a:r>
              <a:rPr dirty="0" sz="550" spc="35">
                <a:latin typeface="Tahoma"/>
                <a:cs typeface="Tahoma"/>
              </a:rPr>
              <a:t>+</a:t>
            </a:r>
            <a:r>
              <a:rPr dirty="0" sz="550" spc="3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2428798" y="7872265"/>
            <a:ext cx="228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45" i="1">
                <a:latin typeface="Times New Roman"/>
                <a:cs typeface="Times New Roman"/>
              </a:rPr>
              <a:t> </a:t>
            </a:r>
            <a:r>
              <a:rPr dirty="0" sz="850" spc="35" i="1">
                <a:latin typeface="Calibri"/>
                <a:cs typeface="Calibri"/>
              </a:rPr>
              <a:t>z</a:t>
            </a:r>
            <a:r>
              <a:rPr dirty="0" baseline="35353" sz="825" spc="52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2588258" y="7943893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2902444" y="7858997"/>
            <a:ext cx="38227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49250" algn="l"/>
              </a:tabLst>
            </a:pPr>
            <a:r>
              <a:rPr dirty="0" sz="550" i="1">
                <a:latin typeface="Calibri"/>
                <a:cs typeface="Calibri"/>
              </a:rPr>
              <a:t>k </a:t>
            </a: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2381897" y="7784620"/>
            <a:ext cx="10115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u="sng" baseline="45454" sz="825" spc="58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baseline="45454" sz="8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45454" sz="825" spc="38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baseline="45454" sz="825" spc="3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70" i="1">
                <a:latin typeface="Calibri"/>
                <a:cs typeface="Calibri"/>
              </a:rPr>
              <a:t>w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104">
                <a:latin typeface="Tahoma"/>
                <a:cs typeface="Tahoma"/>
              </a:rPr>
              <a:t>+</a:t>
            </a:r>
            <a:r>
              <a:rPr dirty="0" baseline="35353" sz="825" spc="104">
                <a:latin typeface="Calibri"/>
                <a:cs typeface="Calibri"/>
              </a:rPr>
              <a:t>1</a:t>
            </a:r>
            <a:r>
              <a:rPr dirty="0" sz="850" spc="70" i="1">
                <a:latin typeface="Times New Roman"/>
                <a:cs typeface="Times New Roman"/>
              </a:rPr>
              <a:t>σ</a:t>
            </a:r>
            <a:r>
              <a:rPr dirty="0" baseline="35353" sz="825" spc="104">
                <a:latin typeface="Cambria"/>
                <a:cs typeface="Cambria"/>
              </a:rPr>
              <a:t>’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723402" y="7784620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(2.20)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91" name="object 91"/>
          <p:cNvGrpSpPr/>
          <p:nvPr/>
        </p:nvGrpSpPr>
        <p:grpSpPr>
          <a:xfrm>
            <a:off x="-2530" y="1331973"/>
            <a:ext cx="344170" cy="457200"/>
            <a:chOff x="-2530" y="1331973"/>
            <a:chExt cx="344170" cy="457200"/>
          </a:xfrm>
        </p:grpSpPr>
        <p:sp>
          <p:nvSpPr>
            <p:cNvPr id="92" name="object 92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4" name="object 94"/>
          <p:cNvSpPr txBox="1"/>
          <p:nvPr/>
        </p:nvSpPr>
        <p:spPr>
          <a:xfrm>
            <a:off x="25831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554005" y="368721"/>
            <a:ext cx="2066289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931035" algn="l"/>
              </a:tabLst>
            </a:pPr>
            <a:r>
              <a:rPr dirty="0" sz="850" spc="10">
                <a:latin typeface="Calibri"/>
                <a:cs typeface="Calibri"/>
              </a:rPr>
              <a:t>2.6.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algorithm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49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31659" y="1233056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736982" y="131745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7298" y="869319"/>
            <a:ext cx="2014855" cy="410845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90"/>
              </a:spcBef>
            </a:pPr>
            <a:r>
              <a:rPr dirty="0" sz="850" spc="10">
                <a:latin typeface="Calibri"/>
                <a:cs typeface="Calibri"/>
              </a:rPr>
              <a:t>Substituting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  <a:hlinkClick r:id="rId2" action="ppaction://hlinksldjump"/>
              </a:rPr>
              <a:t>(2.18)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obtain</a:t>
            </a:r>
            <a:endParaRPr sz="8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495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61375" y="1408280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154544" y="1233056"/>
            <a:ext cx="58229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l</a:t>
            </a:r>
            <a:r>
              <a:rPr dirty="0" sz="550">
                <a:latin typeface="Tahoma"/>
                <a:cs typeface="Tahoma"/>
              </a:rPr>
              <a:t>+</a:t>
            </a:r>
            <a:r>
              <a:rPr dirty="0" sz="550">
                <a:latin typeface="Calibri"/>
                <a:cs typeface="Calibri"/>
              </a:rPr>
              <a:t>1</a:t>
            </a:r>
            <a:r>
              <a:rPr dirty="0" sz="550" spc="225">
                <a:latin typeface="Calibri"/>
                <a:cs typeface="Calibri"/>
              </a:rPr>
              <a:t>  </a:t>
            </a:r>
            <a:r>
              <a:rPr dirty="0" sz="550" i="1">
                <a:latin typeface="Calibri"/>
                <a:cs typeface="Calibri"/>
              </a:rPr>
              <a:t>l</a:t>
            </a:r>
            <a:r>
              <a:rPr dirty="0" sz="550">
                <a:latin typeface="Tahoma"/>
                <a:cs typeface="Tahoma"/>
              </a:rPr>
              <a:t>+</a:t>
            </a:r>
            <a:r>
              <a:rPr dirty="0" sz="550">
                <a:latin typeface="Calibri"/>
                <a:cs typeface="Calibri"/>
              </a:rPr>
              <a:t>1</a:t>
            </a:r>
            <a:r>
              <a:rPr dirty="0" sz="550" spc="270">
                <a:latin typeface="Calibri"/>
                <a:cs typeface="Calibri"/>
              </a:rPr>
              <a:t>  </a:t>
            </a:r>
            <a:r>
              <a:rPr dirty="0" sz="550" spc="60">
                <a:latin typeface="Cambria"/>
                <a:cs typeface="Cambria"/>
              </a:rPr>
              <a:t>’</a:t>
            </a:r>
            <a:r>
              <a:rPr dirty="0" sz="550" spc="350">
                <a:latin typeface="Cambria"/>
                <a:cs typeface="Cambria"/>
              </a:rPr>
              <a:t>  </a:t>
            </a: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157273" y="1317451"/>
            <a:ext cx="5810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48005" algn="l"/>
              </a:tabLst>
            </a:pPr>
            <a:r>
              <a:rPr dirty="0" sz="550" i="1">
                <a:latin typeface="Calibri"/>
                <a:cs typeface="Calibri"/>
              </a:rPr>
              <a:t>k</a:t>
            </a:r>
            <a:r>
              <a:rPr dirty="0" sz="550" spc="-40" i="1">
                <a:latin typeface="Calibri"/>
                <a:cs typeface="Calibri"/>
              </a:rPr>
              <a:t> </a:t>
            </a: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400" i="1">
                <a:latin typeface="Calibri"/>
                <a:cs typeface="Calibri"/>
              </a:rPr>
              <a:t>  </a:t>
            </a: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658570" y="1243085"/>
            <a:ext cx="11633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28625" algn="l"/>
                <a:tab pos="633730" algn="l"/>
                <a:tab pos="832485" algn="l"/>
              </a:tabLst>
            </a:pPr>
            <a:r>
              <a:rPr dirty="0" sz="850" spc="140" i="1">
                <a:latin typeface="Times New Roman"/>
                <a:cs typeface="Times New Roman"/>
              </a:rPr>
              <a:t>δ</a:t>
            </a:r>
            <a:r>
              <a:rPr dirty="0" sz="850" spc="290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 i="1">
                <a:latin typeface="Calibri"/>
                <a:cs typeface="Calibri"/>
              </a:rPr>
              <a:t>w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90" i="1">
                <a:latin typeface="Times New Roman"/>
                <a:cs typeface="Times New Roman"/>
              </a:rPr>
              <a:t>δ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60" i="1">
                <a:latin typeface="Times New Roman"/>
                <a:cs typeface="Times New Roman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083385" y="1243085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(2.21)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62052" y="1614520"/>
            <a:ext cx="4378325" cy="1717039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05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3" action="ppaction://hlinksldjump"/>
              </a:rPr>
              <a:t>(BP2)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written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component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form.</a:t>
            </a:r>
            <a:endParaRPr sz="850">
              <a:latin typeface="Calibri"/>
              <a:cs typeface="Calibri"/>
            </a:endParaRPr>
          </a:p>
          <a:p>
            <a:pPr algn="just" marL="17780" marR="32384" indent="189230">
              <a:lnSpc>
                <a:spcPct val="114300"/>
              </a:lnSpc>
              <a:spcBef>
                <a:spcPts val="6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3" action="ppaction://hlinksldjump"/>
              </a:rPr>
              <a:t>(BP3)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4" action="ppaction://hlinksldjump"/>
              </a:rPr>
              <a:t>(BP4).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follow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manner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exercise.</a:t>
            </a:r>
            <a:endParaRPr sz="850">
              <a:latin typeface="Calibri"/>
              <a:cs typeface="Calibri"/>
            </a:endParaRPr>
          </a:p>
          <a:p>
            <a:pPr marL="17780">
              <a:lnSpc>
                <a:spcPct val="100000"/>
              </a:lnSpc>
              <a:spcBef>
                <a:spcPts val="180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  <a:p>
            <a:pPr marL="333375" indent="-118110">
              <a:lnSpc>
                <a:spcPct val="100000"/>
              </a:lnSpc>
              <a:spcBef>
                <a:spcPts val="170"/>
              </a:spcBef>
              <a:buFont typeface="Cambria"/>
              <a:buChar char="•"/>
              <a:tabLst>
                <a:tab pos="333375" algn="l"/>
              </a:tabLst>
            </a:pPr>
            <a:r>
              <a:rPr dirty="0" sz="850" spc="10">
                <a:latin typeface="Calibri"/>
                <a:cs typeface="Calibri"/>
              </a:rPr>
              <a:t>Prove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3" action="ppaction://hlinksldjump"/>
              </a:rPr>
              <a:t>(BP3)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4" action="ppaction://hlinksldjump"/>
              </a:rPr>
              <a:t>(BP4).</a:t>
            </a:r>
            <a:endParaRPr sz="850">
              <a:latin typeface="Calibri"/>
              <a:cs typeface="Calibri"/>
            </a:endParaRPr>
          </a:p>
          <a:p>
            <a:pPr algn="just" marL="12700" marR="5080">
              <a:lnSpc>
                <a:spcPct val="114300"/>
              </a:lnSpc>
              <a:spcBef>
                <a:spcPts val="65"/>
              </a:spcBef>
            </a:pP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complicated.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outcome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carefully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rule.</a:t>
            </a:r>
            <a:r>
              <a:rPr dirty="0" sz="850" spc="55">
                <a:latin typeface="Calibri"/>
                <a:cs typeface="Calibri"/>
              </a:rPr>
              <a:t> 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succinctly,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</a:t>
            </a:r>
            <a:r>
              <a:rPr dirty="0" sz="850" spc="20">
                <a:latin typeface="Calibri"/>
                <a:cs typeface="Calibri"/>
              </a:rPr>
              <a:t> 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systematically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applying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multi-variable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calculus.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details.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1580" y="3581318"/>
            <a:ext cx="4455160" cy="1227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1" marL="395605" indent="-327660">
              <a:lnSpc>
                <a:spcPct val="100000"/>
              </a:lnSpc>
              <a:spcBef>
                <a:spcPts val="100"/>
              </a:spcBef>
              <a:buFont typeface="Calibri"/>
              <a:buAutoNum type="arabicPeriod" startAt="6"/>
              <a:tabLst>
                <a:tab pos="395605" algn="l"/>
              </a:tabLst>
            </a:pPr>
            <a:r>
              <a:rPr dirty="0" sz="1050" spc="60" b="1">
                <a:latin typeface="Calibri"/>
                <a:cs typeface="Calibri"/>
              </a:rPr>
              <a:t>The</a:t>
            </a:r>
            <a:r>
              <a:rPr dirty="0" sz="1050" spc="10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backpropagation</a:t>
            </a:r>
            <a:r>
              <a:rPr dirty="0" sz="1050" spc="100" b="1">
                <a:latin typeface="Calibri"/>
                <a:cs typeface="Calibri"/>
              </a:rPr>
              <a:t> </a:t>
            </a:r>
            <a:r>
              <a:rPr dirty="0" sz="1050" spc="45" b="1">
                <a:latin typeface="Calibri"/>
                <a:cs typeface="Calibri"/>
              </a:rPr>
              <a:t>algorithm</a:t>
            </a:r>
            <a:endParaRPr sz="1050">
              <a:latin typeface="Calibri"/>
              <a:cs typeface="Calibri"/>
            </a:endParaRPr>
          </a:p>
          <a:p>
            <a:pPr marL="67945" marR="55880" indent="-5080">
              <a:lnSpc>
                <a:spcPct val="114300"/>
              </a:lnSpc>
              <a:spcBef>
                <a:spcPts val="1140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algorithm:</a:t>
            </a:r>
            <a:endParaRPr sz="850">
              <a:latin typeface="Calibri"/>
              <a:cs typeface="Calibri"/>
            </a:endParaRPr>
          </a:p>
          <a:p>
            <a:pPr lvl="2" marL="382270" indent="-152400">
              <a:lnSpc>
                <a:spcPct val="100000"/>
              </a:lnSpc>
              <a:spcBef>
                <a:spcPts val="210"/>
              </a:spcBef>
              <a:buFont typeface="Calibri"/>
              <a:buAutoNum type="arabicPeriod"/>
              <a:tabLst>
                <a:tab pos="382270" algn="l"/>
              </a:tabLst>
            </a:pPr>
            <a:r>
              <a:rPr dirty="0" sz="850" spc="55" b="1">
                <a:latin typeface="Calibri"/>
                <a:cs typeface="Calibri"/>
              </a:rPr>
              <a:t>Input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spc="85" i="1">
                <a:latin typeface="Calibri"/>
                <a:cs typeface="Calibri"/>
              </a:rPr>
              <a:t>x</a:t>
            </a:r>
            <a:r>
              <a:rPr dirty="0" sz="850" spc="85">
                <a:latin typeface="Calibri"/>
                <a:cs typeface="Calibri"/>
              </a:rPr>
              <a:t>: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baseline="35353" sz="825" spc="15">
                <a:latin typeface="Calibri"/>
                <a:cs typeface="Calibri"/>
              </a:rPr>
              <a:t>1</a:t>
            </a:r>
            <a:r>
              <a:rPr dirty="0" baseline="35353" sz="825" spc="337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layer.</a:t>
            </a:r>
            <a:endParaRPr sz="850">
              <a:latin typeface="Calibri"/>
              <a:cs typeface="Calibri"/>
            </a:endParaRPr>
          </a:p>
          <a:p>
            <a:pPr lvl="2" marL="382270" indent="-152400">
              <a:lnSpc>
                <a:spcPct val="100000"/>
              </a:lnSpc>
              <a:spcBef>
                <a:spcPts val="145"/>
              </a:spcBef>
              <a:buFont typeface="Calibri"/>
              <a:buAutoNum type="arabicPeriod"/>
              <a:tabLst>
                <a:tab pos="382270" algn="l"/>
              </a:tabLst>
            </a:pPr>
            <a:r>
              <a:rPr dirty="0" sz="850" spc="20" b="1">
                <a:latin typeface="Calibri"/>
                <a:cs typeface="Calibri"/>
              </a:rPr>
              <a:t>Feedforward: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l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2,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3,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L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284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baseline="35353" sz="825" spc="30" i="1">
                <a:latin typeface="Calibri"/>
                <a:cs typeface="Calibri"/>
              </a:rPr>
              <a:t>l</a:t>
            </a:r>
            <a:r>
              <a:rPr dirty="0" baseline="35353" sz="825" i="1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a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104">
                <a:latin typeface="Cambria"/>
                <a:cs typeface="Cambria"/>
              </a:rPr>
              <a:t>−</a:t>
            </a:r>
            <a:r>
              <a:rPr dirty="0" baseline="35353" sz="825" spc="104">
                <a:latin typeface="Calibri"/>
                <a:cs typeface="Calibri"/>
              </a:rPr>
              <a:t>1</a:t>
            </a:r>
            <a:r>
              <a:rPr dirty="0" baseline="35353" sz="825" spc="157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+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baseline="35353" sz="825" spc="30" i="1">
                <a:latin typeface="Calibri"/>
                <a:cs typeface="Calibri"/>
              </a:rPr>
              <a:t>l</a:t>
            </a:r>
            <a:r>
              <a:rPr dirty="0" baseline="35353" sz="825" spc="367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a</a:t>
            </a:r>
            <a:r>
              <a:rPr dirty="0" baseline="35353" sz="825" spc="30" i="1">
                <a:latin typeface="Calibri"/>
                <a:cs typeface="Calibri"/>
              </a:rPr>
              <a:t>l</a:t>
            </a:r>
            <a:r>
              <a:rPr dirty="0" baseline="35353" sz="825" spc="292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z</a:t>
            </a:r>
            <a:r>
              <a:rPr dirty="0" baseline="-20202" sz="825" spc="120" i="1">
                <a:latin typeface="Calibri"/>
                <a:cs typeface="Calibri"/>
              </a:rPr>
              <a:t>l</a:t>
            </a:r>
            <a:r>
              <a:rPr dirty="0" baseline="-20202" sz="825" spc="-44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lvl="2" marL="382270" indent="-152400">
              <a:lnSpc>
                <a:spcPct val="100000"/>
              </a:lnSpc>
              <a:spcBef>
                <a:spcPts val="150"/>
              </a:spcBef>
              <a:buFont typeface="Calibri"/>
              <a:buAutoNum type="arabicPeriod"/>
              <a:tabLst>
                <a:tab pos="382270" algn="l"/>
              </a:tabLst>
            </a:pPr>
            <a:r>
              <a:rPr dirty="0" sz="850" b="1">
                <a:latin typeface="Calibri"/>
                <a:cs typeface="Calibri"/>
              </a:rPr>
              <a:t>Output</a:t>
            </a:r>
            <a:r>
              <a:rPr dirty="0" sz="850" spc="13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error</a:t>
            </a:r>
            <a:r>
              <a:rPr dirty="0" sz="850" spc="125" b="1">
                <a:latin typeface="Calibri"/>
                <a:cs typeface="Calibri"/>
              </a:rPr>
              <a:t> </a:t>
            </a: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: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37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 spc="95">
                <a:latin typeface="Cambria"/>
                <a:cs typeface="Cambria"/>
              </a:rPr>
              <a:t>𝝯</a:t>
            </a:r>
            <a:r>
              <a:rPr dirty="0" baseline="-20202" sz="825" spc="142" i="1">
                <a:latin typeface="Calibri"/>
                <a:cs typeface="Calibri"/>
              </a:rPr>
              <a:t>a</a:t>
            </a:r>
            <a:r>
              <a:rPr dirty="0" baseline="-20202" sz="825" spc="-15" i="1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-100">
                <a:latin typeface="Cambria"/>
                <a:cs typeface="Cambria"/>
              </a:rPr>
              <a:t>◉</a:t>
            </a:r>
            <a:r>
              <a:rPr dirty="0" sz="850" spc="30">
                <a:latin typeface="Cambria"/>
                <a:cs typeface="Cambri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lvl="2" marL="382270" indent="-152400">
              <a:lnSpc>
                <a:spcPct val="100000"/>
              </a:lnSpc>
              <a:spcBef>
                <a:spcPts val="145"/>
              </a:spcBef>
              <a:buFont typeface="Calibri"/>
              <a:buAutoNum type="arabicPeriod"/>
              <a:tabLst>
                <a:tab pos="382270" algn="l"/>
              </a:tabLst>
            </a:pPr>
            <a:r>
              <a:rPr dirty="0" sz="850" spc="45" b="1">
                <a:latin typeface="Calibri"/>
                <a:cs typeface="Calibri"/>
              </a:rPr>
              <a:t>Backpropagate</a:t>
            </a:r>
            <a:r>
              <a:rPr dirty="0" sz="850" spc="3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the</a:t>
            </a:r>
            <a:r>
              <a:rPr dirty="0" sz="850" spc="3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error</a:t>
            </a:r>
            <a:r>
              <a:rPr dirty="0" sz="850">
                <a:latin typeface="Calibri"/>
                <a:cs typeface="Calibri"/>
              </a:rPr>
              <a:t>: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l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95">
                <a:latin typeface="Tahoma"/>
                <a:cs typeface="Tahoma"/>
              </a:rPr>
              <a:t> </a:t>
            </a:r>
            <a:r>
              <a:rPr dirty="0" sz="850" spc="80" i="1">
                <a:latin typeface="Calibri"/>
                <a:cs typeface="Calibri"/>
              </a:rPr>
              <a:t>L</a:t>
            </a:r>
            <a:r>
              <a:rPr dirty="0" sz="850" spc="80">
                <a:latin typeface="Cambria"/>
                <a:cs typeface="Cambria"/>
              </a:rPr>
              <a:t>−</a:t>
            </a:r>
            <a:r>
              <a:rPr dirty="0" sz="850" spc="80">
                <a:latin typeface="Calibri"/>
                <a:cs typeface="Calibri"/>
              </a:rPr>
              <a:t>1,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L</a:t>
            </a:r>
            <a:r>
              <a:rPr dirty="0" sz="850" spc="80">
                <a:latin typeface="Cambria"/>
                <a:cs typeface="Cambria"/>
              </a:rPr>
              <a:t>−</a:t>
            </a:r>
            <a:r>
              <a:rPr dirty="0" sz="850" spc="80">
                <a:latin typeface="Calibri"/>
                <a:cs typeface="Calibri"/>
              </a:rPr>
              <a:t>2,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40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((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>
                <a:latin typeface="Tahoma"/>
                <a:cs typeface="Tahoma"/>
              </a:rPr>
              <a:t>+</a:t>
            </a:r>
            <a:r>
              <a:rPr dirty="0" baseline="35353" sz="825">
                <a:latin typeface="Calibri"/>
                <a:cs typeface="Calibri"/>
              </a:rPr>
              <a:t>1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baseline="35353" sz="825" i="1">
                <a:latin typeface="Calibri"/>
                <a:cs typeface="Calibri"/>
              </a:rPr>
              <a:t>T</a:t>
            </a:r>
            <a:r>
              <a:rPr dirty="0" baseline="35353" sz="825" spc="52" i="1">
                <a:latin typeface="Calibri"/>
                <a:cs typeface="Calibri"/>
              </a:rPr>
              <a:t> </a:t>
            </a:r>
            <a:r>
              <a:rPr dirty="0" sz="850" spc="-10" i="1">
                <a:latin typeface="Times New Roman"/>
                <a:cs typeface="Times New Roman"/>
              </a:rPr>
              <a:t>δ</a:t>
            </a:r>
            <a:r>
              <a:rPr dirty="0" baseline="35353" sz="825" spc="-15" i="1">
                <a:latin typeface="Calibri"/>
                <a:cs typeface="Calibri"/>
              </a:rPr>
              <a:t>l</a:t>
            </a:r>
            <a:r>
              <a:rPr dirty="0" baseline="35353" sz="825" spc="-15">
                <a:latin typeface="Tahoma"/>
                <a:cs typeface="Tahoma"/>
              </a:rPr>
              <a:t>+</a:t>
            </a:r>
            <a:r>
              <a:rPr dirty="0" baseline="35353" sz="825" spc="-15">
                <a:latin typeface="Calibri"/>
                <a:cs typeface="Calibri"/>
              </a:rPr>
              <a:t>1</a:t>
            </a:r>
            <a:r>
              <a:rPr dirty="0" sz="850" spc="-10">
                <a:latin typeface="Tahoma"/>
                <a:cs typeface="Tahoma"/>
              </a:rPr>
              <a:t>)</a:t>
            </a:r>
            <a:r>
              <a:rPr dirty="0" sz="850" spc="-10">
                <a:latin typeface="Cambria"/>
                <a:cs typeface="Cambria"/>
              </a:rPr>
              <a:t>◉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934180" y="5035988"/>
            <a:ext cx="2000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Times New Roman"/>
                <a:cs typeface="Times New Roman"/>
              </a:rPr>
              <a:t>∂ </a:t>
            </a:r>
            <a:r>
              <a:rPr dirty="0" sz="550" spc="-25" i="1">
                <a:latin typeface="Calibri"/>
                <a:cs typeface="Calibri"/>
              </a:rPr>
              <a:t>w</a:t>
            </a:r>
            <a:r>
              <a:rPr dirty="0" baseline="30864" sz="675" spc="-37" i="1">
                <a:latin typeface="Calibri"/>
                <a:cs typeface="Calibri"/>
              </a:rPr>
              <a:t>l</a:t>
            </a:r>
            <a:endParaRPr baseline="30864" sz="675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814379" y="5035988"/>
            <a:ext cx="19050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Times New Roman"/>
                <a:cs typeface="Times New Roman"/>
              </a:rPr>
              <a:t>∂</a:t>
            </a:r>
            <a:r>
              <a:rPr dirty="0" sz="550" spc="30" i="1">
                <a:latin typeface="Times New Roman"/>
                <a:cs typeface="Times New Roman"/>
              </a:rPr>
              <a:t> </a:t>
            </a:r>
            <a:r>
              <a:rPr dirty="0" sz="550" spc="-35" i="1">
                <a:latin typeface="Calibri"/>
                <a:cs typeface="Calibri"/>
              </a:rPr>
              <a:t>b</a:t>
            </a:r>
            <a:r>
              <a:rPr dirty="0" baseline="30864" sz="675" spc="-52" i="1">
                <a:latin typeface="Calibri"/>
                <a:cs typeface="Calibri"/>
              </a:rPr>
              <a:t>l</a:t>
            </a:r>
            <a:endParaRPr baseline="30864" sz="675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074019" y="5082042"/>
            <a:ext cx="909319" cy="984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879475" algn="l"/>
              </a:tabLst>
            </a:pPr>
            <a:r>
              <a:rPr dirty="0" sz="450" spc="-25" i="1">
                <a:latin typeface="Calibri"/>
                <a:cs typeface="Calibri"/>
              </a:rPr>
              <a:t>jk</a:t>
            </a:r>
            <a:r>
              <a:rPr dirty="0" sz="450" i="1">
                <a:latin typeface="Calibri"/>
                <a:cs typeface="Calibri"/>
              </a:rPr>
              <a:t>	</a:t>
            </a:r>
            <a:r>
              <a:rPr dirty="0" sz="450" spc="-50" i="1">
                <a:latin typeface="Calibri"/>
                <a:cs typeface="Calibri"/>
              </a:rPr>
              <a:t>j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347957" y="5022474"/>
            <a:ext cx="8947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9075" algn="l"/>
                <a:tab pos="861694" algn="l"/>
              </a:tabLst>
            </a:pP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03779" y="4783212"/>
            <a:ext cx="4104640" cy="32194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192405">
              <a:lnSpc>
                <a:spcPct val="100000"/>
              </a:lnSpc>
              <a:spcBef>
                <a:spcPts val="240"/>
              </a:spcBef>
            </a:pP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baseline="35353" sz="825" spc="142" i="1">
                <a:latin typeface="Calibri"/>
                <a:cs typeface="Calibri"/>
              </a:rPr>
              <a:t>l</a:t>
            </a:r>
            <a:r>
              <a:rPr dirty="0" baseline="35353" sz="825" spc="-52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50"/>
              </a:spcBef>
            </a:pPr>
            <a:r>
              <a:rPr dirty="0" sz="850">
                <a:latin typeface="Calibri"/>
                <a:cs typeface="Calibri"/>
              </a:rPr>
              <a:t>5.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45" b="1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: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u="sng" baseline="40404" sz="825" spc="27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0404" sz="8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baseline="40404" sz="825" spc="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0404" sz="825" spc="8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baseline="40404" sz="825" spc="3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40404" sz="825" spc="382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85" i="1">
                <a:latin typeface="Calibri"/>
                <a:cs typeface="Calibri"/>
              </a:rPr>
              <a:t>a</a:t>
            </a:r>
            <a:r>
              <a:rPr dirty="0" baseline="35353" sz="825" spc="127" i="1">
                <a:latin typeface="Calibri"/>
                <a:cs typeface="Calibri"/>
              </a:rPr>
              <a:t>l</a:t>
            </a:r>
            <a:r>
              <a:rPr dirty="0" baseline="35353" sz="825" spc="127">
                <a:latin typeface="Cambria"/>
                <a:cs typeface="Cambria"/>
              </a:rPr>
              <a:t>−</a:t>
            </a:r>
            <a:r>
              <a:rPr dirty="0" baseline="35353" sz="825" spc="127">
                <a:latin typeface="Calibri"/>
                <a:cs typeface="Calibri"/>
              </a:rPr>
              <a:t>1</a:t>
            </a:r>
            <a:r>
              <a:rPr dirty="0" sz="850" spc="85" i="1">
                <a:latin typeface="Times New Roman"/>
                <a:cs typeface="Times New Roman"/>
              </a:rPr>
              <a:t>δ</a:t>
            </a:r>
            <a:r>
              <a:rPr dirty="0" baseline="35353" sz="825" spc="127" i="1">
                <a:latin typeface="Calibri"/>
                <a:cs typeface="Calibri"/>
              </a:rPr>
              <a:t>l</a:t>
            </a:r>
            <a:r>
              <a:rPr dirty="0" baseline="35353" sz="825" spc="44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u="sng" baseline="40404" sz="825" spc="-5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0404" sz="8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baseline="40404" sz="825" spc="2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0404" sz="825" spc="8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baseline="40404" sz="825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40404" sz="825" spc="382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1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37743" y="5132229"/>
            <a:ext cx="4403725" cy="1244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381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Examining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 algorithm you can see why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20">
                <a:latin typeface="Calibri"/>
                <a:cs typeface="Calibri"/>
              </a:rPr>
              <a:t> called </a:t>
            </a:r>
            <a:r>
              <a:rPr dirty="0" sz="850" spc="20" i="1">
                <a:latin typeface="Calibri"/>
                <a:cs typeface="Calibri"/>
              </a:rPr>
              <a:t>back</a:t>
            </a:r>
            <a:r>
              <a:rPr dirty="0" sz="850" spc="20">
                <a:latin typeface="Calibri"/>
                <a:cs typeface="Calibri"/>
              </a:rPr>
              <a:t>propagation.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0">
                <a:latin typeface="Calibri"/>
                <a:cs typeface="Calibri"/>
              </a:rPr>
              <a:t> compute the </a:t>
            </a:r>
            <a:r>
              <a:rPr dirty="0" sz="850" spc="-10">
                <a:latin typeface="Calibri"/>
                <a:cs typeface="Calibri"/>
              </a:rPr>
              <a:t>error</a:t>
            </a:r>
            <a:r>
              <a:rPr dirty="0" sz="850" spc="20">
                <a:latin typeface="Calibri"/>
                <a:cs typeface="Calibri"/>
              </a:rPr>
              <a:t> vectors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427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backward,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starting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peculiar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going</a:t>
            </a:r>
            <a:r>
              <a:rPr dirty="0" sz="850" spc="20">
                <a:latin typeface="Calibri"/>
                <a:cs typeface="Calibri"/>
              </a:rPr>
              <a:t> through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backward.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backward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movement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consequence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need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repeatedly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rule,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backward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through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obtain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usable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expressions.</a:t>
            </a:r>
            <a:endParaRPr sz="850">
              <a:latin typeface="Calibri"/>
              <a:cs typeface="Calibri"/>
            </a:endParaRPr>
          </a:p>
          <a:p>
            <a:pPr marL="41910">
              <a:lnSpc>
                <a:spcPct val="100000"/>
              </a:lnSpc>
              <a:spcBef>
                <a:spcPts val="185"/>
              </a:spcBef>
            </a:pPr>
            <a:r>
              <a:rPr dirty="0" sz="1050" spc="40" b="1">
                <a:latin typeface="Calibri"/>
                <a:cs typeface="Calibri"/>
              </a:rPr>
              <a:t>Exercises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65034" y="6371529"/>
            <a:ext cx="41478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30810" indent="-118110">
              <a:lnSpc>
                <a:spcPct val="100000"/>
              </a:lnSpc>
              <a:spcBef>
                <a:spcPts val="110"/>
              </a:spcBef>
              <a:buFont typeface="Cambria"/>
              <a:buChar char="•"/>
              <a:tabLst>
                <a:tab pos="130810" algn="l"/>
              </a:tabLst>
            </a:pPr>
            <a:r>
              <a:rPr dirty="0" sz="850" b="1">
                <a:latin typeface="Calibri"/>
                <a:cs typeface="Calibri"/>
              </a:rPr>
              <a:t>Backpropagation</a:t>
            </a:r>
            <a:r>
              <a:rPr dirty="0" sz="850" spc="12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with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a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single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modified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neuron</a:t>
            </a:r>
            <a:r>
              <a:rPr dirty="0" sz="850" spc="12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modify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927447" y="6426050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021571" y="6589981"/>
            <a:ext cx="3378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3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383614" y="6519573"/>
            <a:ext cx="40589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723004" algn="l"/>
              </a:tabLst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feedforward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(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1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330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+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23952" y="6650756"/>
            <a:ext cx="4427220" cy="13658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72110" marR="43180" indent="7620">
              <a:lnSpc>
                <a:spcPct val="114300"/>
              </a:lnSpc>
              <a:spcBef>
                <a:spcPts val="95"/>
              </a:spcBef>
            </a:pP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47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sigmoid.</a:t>
            </a:r>
            <a:r>
              <a:rPr dirty="0" sz="850" spc="41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How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modify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case?</a:t>
            </a:r>
            <a:endParaRPr sz="850">
              <a:latin typeface="Calibri"/>
              <a:cs typeface="Calibri"/>
            </a:endParaRPr>
          </a:p>
          <a:p>
            <a:pPr algn="just" marL="372110" marR="40005" indent="-118745">
              <a:lnSpc>
                <a:spcPct val="114300"/>
              </a:lnSpc>
              <a:buFont typeface="Cambria"/>
              <a:buChar char="•"/>
              <a:tabLst>
                <a:tab pos="372110" algn="l"/>
              </a:tabLst>
            </a:pPr>
            <a:r>
              <a:rPr dirty="0" sz="850" spc="30" b="1">
                <a:latin typeface="Calibri"/>
                <a:cs typeface="Calibri"/>
              </a:rPr>
              <a:t>Backpropagation</a:t>
            </a:r>
            <a:r>
              <a:rPr dirty="0" sz="850" spc="204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with</a:t>
            </a:r>
            <a:r>
              <a:rPr dirty="0" sz="850" spc="204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linear</a:t>
            </a:r>
            <a:r>
              <a:rPr dirty="0" sz="850" spc="204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neurons</a:t>
            </a:r>
            <a:r>
              <a:rPr dirty="0" sz="850" spc="185" b="1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Suppose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replace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usual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non-</a:t>
            </a:r>
            <a:r>
              <a:rPr dirty="0" sz="850" spc="-10">
                <a:latin typeface="Calibri"/>
                <a:cs typeface="Calibri"/>
              </a:rPr>
              <a:t>linear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8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120">
                <a:latin typeface="Tahoma"/>
                <a:cs typeface="Tahoma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125">
                <a:latin typeface="Tahoma"/>
                <a:cs typeface="Tahoma"/>
              </a:rPr>
              <a:t> 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23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throughout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4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Rewrite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case.</a:t>
            </a:r>
            <a:endParaRPr sz="850">
              <a:latin typeface="Calibri"/>
              <a:cs typeface="Calibri"/>
            </a:endParaRPr>
          </a:p>
          <a:p>
            <a:pPr algn="just" marL="55880" marR="43180" indent="-5715">
              <a:lnSpc>
                <a:spcPct val="114300"/>
              </a:lnSpc>
              <a:spcBef>
                <a:spcPts val="65"/>
              </a:spcBef>
            </a:pP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described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15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75">
                <a:latin typeface="Tahoma"/>
                <a:cs typeface="Tahoma"/>
              </a:rPr>
              <a:t> </a:t>
            </a:r>
            <a:r>
              <a:rPr dirty="0" sz="850" spc="70" i="1">
                <a:latin typeface="Calibri"/>
                <a:cs typeface="Calibri"/>
              </a:rPr>
              <a:t>C</a:t>
            </a:r>
            <a:r>
              <a:rPr dirty="0" baseline="-20202" sz="825" spc="104" i="1">
                <a:latin typeface="Calibri"/>
                <a:cs typeface="Calibri"/>
              </a:rPr>
              <a:t>x</a:t>
            </a:r>
            <a:r>
              <a:rPr dirty="0" baseline="-20202" sz="82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combine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m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5778788" y="1331973"/>
            <a:ext cx="344170" cy="457200"/>
            <a:chOff x="5778788" y="1331973"/>
            <a:chExt cx="344170" cy="457200"/>
          </a:xfrm>
        </p:grpSpPr>
        <p:sp>
          <p:nvSpPr>
            <p:cNvPr id="25" name="object 25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 txBox="1"/>
          <p:nvPr/>
        </p:nvSpPr>
        <p:spPr>
          <a:xfrm>
            <a:off x="5876620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48781" y="368721"/>
            <a:ext cx="4629785" cy="13188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33375" algn="l"/>
              </a:tabLst>
            </a:pPr>
            <a:r>
              <a:rPr dirty="0" sz="850" spc="25">
                <a:latin typeface="Calibri"/>
                <a:cs typeface="Calibri"/>
              </a:rPr>
              <a:t>50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</a:t>
            </a:r>
            <a:endParaRPr sz="850">
              <a:latin typeface="Calibri"/>
              <a:cs typeface="Calibri"/>
            </a:endParaRPr>
          </a:p>
          <a:p>
            <a:pPr marL="2203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271145" marR="3048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</a:t>
            </a:r>
            <a:r>
              <a:rPr dirty="0" sz="850" spc="-10">
                <a:latin typeface="Calibri"/>
                <a:cs typeface="Calibri"/>
              </a:rPr>
              <a:t>batch:</a:t>
            </a:r>
            <a:endParaRPr sz="850">
              <a:latin typeface="Calibri"/>
              <a:cs typeface="Calibri"/>
            </a:endParaRPr>
          </a:p>
          <a:p>
            <a:pPr marL="585470" indent="-152400">
              <a:lnSpc>
                <a:spcPct val="100000"/>
              </a:lnSpc>
              <a:spcBef>
                <a:spcPts val="204"/>
              </a:spcBef>
              <a:buAutoNum type="arabicPeriod"/>
              <a:tabLst>
                <a:tab pos="585470" algn="l"/>
              </a:tabLst>
            </a:pP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examples</a:t>
            </a:r>
            <a:endParaRPr sz="850">
              <a:latin typeface="Calibri"/>
              <a:cs typeface="Calibri"/>
            </a:endParaRPr>
          </a:p>
          <a:p>
            <a:pPr marL="584835" marR="30480" indent="-152400">
              <a:lnSpc>
                <a:spcPct val="114300"/>
              </a:lnSpc>
              <a:buAutoNum type="arabicPeriod"/>
              <a:tabLst>
                <a:tab pos="587375" algn="l"/>
              </a:tabLst>
            </a:pP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sz="850" spc="80">
                <a:latin typeface="Calibri"/>
                <a:cs typeface="Calibri"/>
              </a:rPr>
              <a:t>: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corresponding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a</a:t>
            </a:r>
            <a:r>
              <a:rPr dirty="0" baseline="35353" sz="825" spc="82" i="1">
                <a:latin typeface="Calibri"/>
                <a:cs typeface="Calibri"/>
              </a:rPr>
              <a:t>x</a:t>
            </a:r>
            <a:r>
              <a:rPr dirty="0" baseline="35353" sz="825" spc="82">
                <a:latin typeface="Calibri"/>
                <a:cs typeface="Calibri"/>
              </a:rPr>
              <a:t>,1</a:t>
            </a:r>
            <a:r>
              <a:rPr dirty="0" sz="850" spc="55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perform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50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steps: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183397" y="1671478"/>
            <a:ext cx="3869054" cy="1638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2456815">
              <a:lnSpc>
                <a:spcPts val="350"/>
              </a:lnSpc>
              <a:spcBef>
                <a:spcPts val="120"/>
              </a:spcBef>
              <a:tabLst>
                <a:tab pos="2793365" algn="l"/>
                <a:tab pos="3281679" algn="l"/>
                <a:tab pos="3637279" algn="l"/>
              </a:tabLst>
            </a:pPr>
            <a:r>
              <a:rPr dirty="0" sz="550" spc="25" i="1">
                <a:latin typeface="Calibri"/>
                <a:cs typeface="Calibri"/>
              </a:rPr>
              <a:t>x</a:t>
            </a:r>
            <a:r>
              <a:rPr dirty="0" sz="550" spc="25">
                <a:latin typeface="Calibri"/>
                <a:cs typeface="Calibri"/>
              </a:rPr>
              <a:t>,</a:t>
            </a:r>
            <a:r>
              <a:rPr dirty="0" sz="550" spc="25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l</a:t>
            </a:r>
            <a:r>
              <a:rPr dirty="0" sz="550" spc="204" i="1">
                <a:latin typeface="Calibri"/>
                <a:cs typeface="Calibri"/>
              </a:rPr>
              <a:t>  </a:t>
            </a:r>
            <a:r>
              <a:rPr dirty="0" sz="550" spc="60" i="1">
                <a:latin typeface="Calibri"/>
                <a:cs typeface="Calibri"/>
              </a:rPr>
              <a:t>x</a:t>
            </a:r>
            <a:r>
              <a:rPr dirty="0" sz="550" spc="60">
                <a:latin typeface="Calibri"/>
                <a:cs typeface="Calibri"/>
              </a:rPr>
              <a:t>,</a:t>
            </a:r>
            <a:r>
              <a:rPr dirty="0" sz="550" spc="60" i="1">
                <a:latin typeface="Calibri"/>
                <a:cs typeface="Calibri"/>
              </a:rPr>
              <a:t>l</a:t>
            </a:r>
            <a:r>
              <a:rPr dirty="0" sz="550" spc="60">
                <a:latin typeface="Cambria"/>
                <a:cs typeface="Cambria"/>
              </a:rPr>
              <a:t>−</a:t>
            </a:r>
            <a:r>
              <a:rPr dirty="0" sz="550" spc="6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25" i="1">
                <a:latin typeface="Calibri"/>
                <a:cs typeface="Calibri"/>
              </a:rPr>
              <a:t>x</a:t>
            </a:r>
            <a:r>
              <a:rPr dirty="0" sz="550" spc="25">
                <a:latin typeface="Calibri"/>
                <a:cs typeface="Calibri"/>
              </a:rPr>
              <a:t>,</a:t>
            </a:r>
            <a:r>
              <a:rPr dirty="0" sz="550" spc="25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  <a:p>
            <a:pPr marL="130810" indent="-118110">
              <a:lnSpc>
                <a:spcPts val="710"/>
              </a:lnSpc>
              <a:buFont typeface="Cambria"/>
              <a:buChar char="•"/>
              <a:tabLst>
                <a:tab pos="130810" algn="l"/>
                <a:tab pos="2587625" algn="l"/>
                <a:tab pos="3107690" algn="l"/>
                <a:tab pos="3768725" algn="l"/>
              </a:tabLst>
            </a:pPr>
            <a:r>
              <a:rPr dirty="0" sz="850">
                <a:latin typeface="Calibri"/>
                <a:cs typeface="Calibri"/>
              </a:rPr>
              <a:t>Feedforward:</a:t>
            </a:r>
            <a:r>
              <a:rPr dirty="0" sz="850" spc="3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l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12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2,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3,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L</a:t>
            </a:r>
            <a:r>
              <a:rPr dirty="0" sz="850" spc="25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z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3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2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4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2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45284" y="1809825"/>
            <a:ext cx="3204845" cy="32194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168910">
              <a:lnSpc>
                <a:spcPct val="100000"/>
              </a:lnSpc>
              <a:spcBef>
                <a:spcPts val="240"/>
              </a:spcBef>
            </a:pP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baseline="35353" sz="825" spc="127" i="1">
                <a:latin typeface="Calibri"/>
                <a:cs typeface="Calibri"/>
              </a:rPr>
              <a:t>x</a:t>
            </a:r>
            <a:r>
              <a:rPr dirty="0" baseline="35353" sz="825" spc="127">
                <a:latin typeface="Calibri"/>
                <a:cs typeface="Calibri"/>
              </a:rPr>
              <a:t>,</a:t>
            </a:r>
            <a:r>
              <a:rPr dirty="0" baseline="35353" sz="825" spc="127" i="1">
                <a:latin typeface="Calibri"/>
                <a:cs typeface="Calibri"/>
              </a:rPr>
              <a:t>l</a:t>
            </a:r>
            <a:r>
              <a:rPr dirty="0" baseline="35353" sz="825" spc="-52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168910" indent="-118110">
              <a:lnSpc>
                <a:spcPct val="100000"/>
              </a:lnSpc>
              <a:spcBef>
                <a:spcPts val="150"/>
              </a:spcBef>
              <a:buFont typeface="Cambria"/>
              <a:buChar char="•"/>
              <a:tabLst>
                <a:tab pos="168910" algn="l"/>
              </a:tabLst>
            </a:pP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x</a:t>
            </a:r>
            <a:r>
              <a:rPr dirty="0" baseline="35353" sz="825" spc="150">
                <a:latin typeface="Calibri"/>
                <a:cs typeface="Calibri"/>
              </a:rPr>
              <a:t>,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: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x</a:t>
            </a:r>
            <a:r>
              <a:rPr dirty="0" baseline="35353" sz="825" spc="150">
                <a:latin typeface="Calibri"/>
                <a:cs typeface="Calibri"/>
              </a:rPr>
              <a:t>,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337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95">
                <a:latin typeface="Cambria"/>
                <a:cs typeface="Cambria"/>
              </a:rPr>
              <a:t>𝝯</a:t>
            </a:r>
            <a:r>
              <a:rPr dirty="0" baseline="-20202" sz="825" spc="142" i="1">
                <a:latin typeface="Calibri"/>
                <a:cs typeface="Calibri"/>
              </a:rPr>
              <a:t>a</a:t>
            </a:r>
            <a:r>
              <a:rPr dirty="0" baseline="-20202" sz="825" spc="-30" i="1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C</a:t>
            </a:r>
            <a:r>
              <a:rPr dirty="0" baseline="-20202" sz="825" spc="104" i="1">
                <a:latin typeface="Calibri"/>
                <a:cs typeface="Calibri"/>
              </a:rPr>
              <a:t>x</a:t>
            </a:r>
            <a:r>
              <a:rPr dirty="0" baseline="-20202" sz="825" spc="300" i="1">
                <a:latin typeface="Calibri"/>
                <a:cs typeface="Calibri"/>
              </a:rPr>
              <a:t> </a:t>
            </a:r>
            <a:r>
              <a:rPr dirty="0" sz="850" spc="-100">
                <a:latin typeface="Cambria"/>
                <a:cs typeface="Cambria"/>
              </a:rPr>
              <a:t>◉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baseline="35353" sz="825" spc="142" i="1">
                <a:latin typeface="Calibri"/>
                <a:cs typeface="Calibri"/>
              </a:rPr>
              <a:t>x</a:t>
            </a:r>
            <a:r>
              <a:rPr dirty="0" baseline="35353" sz="825" spc="142">
                <a:latin typeface="Calibri"/>
                <a:cs typeface="Calibri"/>
              </a:rPr>
              <a:t>,</a:t>
            </a:r>
            <a:r>
              <a:rPr dirty="0" baseline="35353" sz="825" spc="142" i="1">
                <a:latin typeface="Calibri"/>
                <a:cs typeface="Calibri"/>
              </a:rPr>
              <a:t>L</a:t>
            </a:r>
            <a:r>
              <a:rPr dirty="0" baseline="35353" sz="825" spc="-52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792588" y="2115585"/>
            <a:ext cx="1092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25" i="1">
                <a:latin typeface="Calibri"/>
                <a:cs typeface="Calibri"/>
              </a:rPr>
              <a:t>x</a:t>
            </a:r>
            <a:r>
              <a:rPr dirty="0" sz="550" spc="25">
                <a:latin typeface="Calibri"/>
                <a:cs typeface="Calibri"/>
              </a:rPr>
              <a:t>,</a:t>
            </a:r>
            <a:r>
              <a:rPr dirty="0" sz="550" spc="25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83382" y="2122755"/>
            <a:ext cx="386905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30810" indent="-118110">
              <a:lnSpc>
                <a:spcPct val="100000"/>
              </a:lnSpc>
              <a:spcBef>
                <a:spcPts val="110"/>
              </a:spcBef>
              <a:buFont typeface="Cambria"/>
              <a:buChar char="•"/>
              <a:tabLst>
                <a:tab pos="130810" algn="l"/>
                <a:tab pos="3768725" algn="l"/>
              </a:tabLst>
            </a:pPr>
            <a:r>
              <a:rPr dirty="0" sz="850" spc="10">
                <a:latin typeface="Calibri"/>
                <a:cs typeface="Calibri"/>
              </a:rPr>
              <a:t>Backpropagate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error: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l</a:t>
            </a:r>
            <a:r>
              <a:rPr dirty="0" sz="850" spc="340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275">
                <a:latin typeface="Tahoma"/>
                <a:cs typeface="Tahoma"/>
              </a:rPr>
              <a:t> </a:t>
            </a:r>
            <a:r>
              <a:rPr dirty="0" sz="850" spc="65" i="1">
                <a:latin typeface="Calibri"/>
                <a:cs typeface="Calibri"/>
              </a:rPr>
              <a:t>L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9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1,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L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90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2,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δ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sz="850" spc="2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63561" y="2227176"/>
            <a:ext cx="12871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2875" sz="1275">
                <a:latin typeface="Tahoma"/>
                <a:cs typeface="Tahoma"/>
              </a:rPr>
              <a:t>((</a:t>
            </a:r>
            <a:r>
              <a:rPr dirty="0" baseline="-22875" sz="1275" i="1">
                <a:latin typeface="Calibri"/>
                <a:cs typeface="Calibri"/>
              </a:rPr>
              <a:t>w</a:t>
            </a:r>
            <a:r>
              <a:rPr dirty="0" sz="550" i="1">
                <a:latin typeface="Calibri"/>
                <a:cs typeface="Calibri"/>
              </a:rPr>
              <a:t>l</a:t>
            </a:r>
            <a:r>
              <a:rPr dirty="0" sz="550">
                <a:latin typeface="Tahoma"/>
                <a:cs typeface="Tahoma"/>
              </a:rPr>
              <a:t>+</a:t>
            </a:r>
            <a:r>
              <a:rPr dirty="0" sz="550">
                <a:latin typeface="Calibri"/>
                <a:cs typeface="Calibri"/>
              </a:rPr>
              <a:t>1</a:t>
            </a:r>
            <a:r>
              <a:rPr dirty="0" baseline="-22875" sz="1275">
                <a:latin typeface="Tahoma"/>
                <a:cs typeface="Tahoma"/>
              </a:rPr>
              <a:t>)</a:t>
            </a:r>
            <a:r>
              <a:rPr dirty="0" sz="550" i="1">
                <a:latin typeface="Calibri"/>
                <a:cs typeface="Calibri"/>
              </a:rPr>
              <a:t>T</a:t>
            </a:r>
            <a:r>
              <a:rPr dirty="0" sz="550" spc="70" i="1">
                <a:latin typeface="Calibri"/>
                <a:cs typeface="Calibri"/>
              </a:rPr>
              <a:t> </a:t>
            </a:r>
            <a:r>
              <a:rPr dirty="0" baseline="-22875" sz="1275" spc="104" i="1">
                <a:latin typeface="Times New Roman"/>
                <a:cs typeface="Times New Roman"/>
              </a:rPr>
              <a:t>δ</a:t>
            </a:r>
            <a:r>
              <a:rPr dirty="0" sz="550" spc="70" i="1">
                <a:latin typeface="Calibri"/>
                <a:cs typeface="Calibri"/>
              </a:rPr>
              <a:t>x</a:t>
            </a:r>
            <a:r>
              <a:rPr dirty="0" sz="550" spc="70">
                <a:latin typeface="Calibri"/>
                <a:cs typeface="Calibri"/>
              </a:rPr>
              <a:t>,</a:t>
            </a:r>
            <a:r>
              <a:rPr dirty="0" sz="550" spc="70" i="1">
                <a:latin typeface="Calibri"/>
                <a:cs typeface="Calibri"/>
              </a:rPr>
              <a:t>l</a:t>
            </a:r>
            <a:r>
              <a:rPr dirty="0" sz="550" spc="70">
                <a:latin typeface="Tahoma"/>
                <a:cs typeface="Tahoma"/>
              </a:rPr>
              <a:t>+</a:t>
            </a:r>
            <a:r>
              <a:rPr dirty="0" sz="550" spc="70">
                <a:latin typeface="Calibri"/>
                <a:cs typeface="Calibri"/>
              </a:rPr>
              <a:t>1</a:t>
            </a:r>
            <a:r>
              <a:rPr dirty="0" baseline="-22875" sz="1275" spc="104">
                <a:latin typeface="Tahoma"/>
                <a:cs typeface="Tahoma"/>
              </a:rPr>
              <a:t>)</a:t>
            </a:r>
            <a:r>
              <a:rPr dirty="0" baseline="-22875" sz="1275" spc="15">
                <a:latin typeface="Tahoma"/>
                <a:cs typeface="Tahoma"/>
              </a:rPr>
              <a:t> </a:t>
            </a:r>
            <a:r>
              <a:rPr dirty="0" baseline="-22875" sz="1275" spc="-150">
                <a:latin typeface="Cambria"/>
                <a:cs typeface="Cambria"/>
              </a:rPr>
              <a:t>◉</a:t>
            </a:r>
            <a:r>
              <a:rPr dirty="0" baseline="-22875" sz="1275" spc="135">
                <a:latin typeface="Cambria"/>
                <a:cs typeface="Cambria"/>
              </a:rPr>
              <a:t> </a:t>
            </a:r>
            <a:r>
              <a:rPr dirty="0" baseline="-22875" sz="1275" spc="127" i="1">
                <a:latin typeface="Times New Roman"/>
                <a:cs typeface="Times New Roman"/>
              </a:rPr>
              <a:t>σ</a:t>
            </a:r>
            <a:r>
              <a:rPr dirty="0" sz="550" spc="85">
                <a:latin typeface="Cambria"/>
                <a:cs typeface="Cambria"/>
              </a:rPr>
              <a:t>’</a:t>
            </a:r>
            <a:r>
              <a:rPr dirty="0" baseline="-22875" sz="1275" spc="127">
                <a:latin typeface="Tahoma"/>
                <a:cs typeface="Tahoma"/>
              </a:rPr>
              <a:t>(</a:t>
            </a:r>
            <a:r>
              <a:rPr dirty="0" baseline="-22875" sz="1275" spc="127" i="1">
                <a:latin typeface="Calibri"/>
                <a:cs typeface="Calibri"/>
              </a:rPr>
              <a:t>z</a:t>
            </a:r>
            <a:r>
              <a:rPr dirty="0" sz="550" spc="85" i="1">
                <a:latin typeface="Calibri"/>
                <a:cs typeface="Calibri"/>
              </a:rPr>
              <a:t>x</a:t>
            </a:r>
            <a:r>
              <a:rPr dirty="0" sz="550" spc="85">
                <a:latin typeface="Calibri"/>
                <a:cs typeface="Calibri"/>
              </a:rPr>
              <a:t>,</a:t>
            </a:r>
            <a:r>
              <a:rPr dirty="0" sz="550" spc="85" i="1">
                <a:latin typeface="Calibri"/>
                <a:cs typeface="Calibri"/>
              </a:rPr>
              <a:t>l</a:t>
            </a:r>
            <a:r>
              <a:rPr dirty="0" sz="550" spc="35" i="1">
                <a:latin typeface="Calibri"/>
                <a:cs typeface="Calibri"/>
              </a:rPr>
              <a:t> </a:t>
            </a:r>
            <a:r>
              <a:rPr dirty="0" baseline="-22875" sz="1275" spc="-37">
                <a:latin typeface="Tahoma"/>
                <a:cs typeface="Tahoma"/>
              </a:rPr>
              <a:t>)</a:t>
            </a:r>
            <a:r>
              <a:rPr dirty="0" baseline="-22875" sz="1275" spc="-37">
                <a:latin typeface="Calibri"/>
                <a:cs typeface="Calibri"/>
              </a:rPr>
              <a:t>.</a:t>
            </a:r>
            <a:endParaRPr baseline="-22875" sz="1275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69173" y="2418832"/>
            <a:ext cx="41840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3.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descent: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l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60">
                <a:latin typeface="Tahoma"/>
                <a:cs typeface="Tahoma"/>
              </a:rPr>
              <a:t> </a:t>
            </a:r>
            <a:r>
              <a:rPr dirty="0" sz="850" spc="65" i="1">
                <a:latin typeface="Calibri"/>
                <a:cs typeface="Calibri"/>
              </a:rPr>
              <a:t>L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L</a:t>
            </a:r>
            <a:r>
              <a:rPr dirty="0" sz="850" spc="-1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5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according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rule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06119" y="2559691"/>
            <a:ext cx="33724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8290" algn="l"/>
                <a:tab pos="784860" algn="l"/>
                <a:tab pos="3077210" algn="l"/>
                <a:tab pos="3338829" algn="l"/>
              </a:tabLst>
            </a:pPr>
            <a:r>
              <a:rPr dirty="0" sz="550" spc="-5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50" i="1">
                <a:latin typeface="Calibri"/>
                <a:cs typeface="Calibri"/>
              </a:rPr>
              <a:t>x</a:t>
            </a:r>
            <a:r>
              <a:rPr dirty="0" sz="550" spc="50">
                <a:latin typeface="Calibri"/>
                <a:cs typeface="Calibri"/>
              </a:rPr>
              <a:t>,</a:t>
            </a:r>
            <a:r>
              <a:rPr dirty="0" sz="550" spc="50" i="1">
                <a:latin typeface="Calibri"/>
                <a:cs typeface="Calibri"/>
              </a:rPr>
              <a:t>l</a:t>
            </a:r>
            <a:r>
              <a:rPr dirty="0" sz="550" spc="355" i="1">
                <a:latin typeface="Calibri"/>
                <a:cs typeface="Calibri"/>
              </a:rPr>
              <a:t>  </a:t>
            </a:r>
            <a:r>
              <a:rPr dirty="0" sz="550" spc="70" i="1">
                <a:latin typeface="Calibri"/>
                <a:cs typeface="Calibri"/>
              </a:rPr>
              <a:t>x</a:t>
            </a:r>
            <a:r>
              <a:rPr dirty="0" sz="550" spc="70">
                <a:latin typeface="Calibri"/>
                <a:cs typeface="Calibri"/>
              </a:rPr>
              <a:t>,</a:t>
            </a:r>
            <a:r>
              <a:rPr dirty="0" sz="550" spc="70" i="1">
                <a:latin typeface="Calibri"/>
                <a:cs typeface="Calibri"/>
              </a:rPr>
              <a:t>l</a:t>
            </a:r>
            <a:r>
              <a:rPr dirty="0" sz="550" spc="70">
                <a:latin typeface="Cambria"/>
                <a:cs typeface="Cambria"/>
              </a:rPr>
              <a:t>−</a:t>
            </a:r>
            <a:r>
              <a:rPr dirty="0" sz="550" spc="70">
                <a:latin typeface="Calibri"/>
                <a:cs typeface="Calibri"/>
              </a:rPr>
              <a:t>1</a:t>
            </a:r>
            <a:r>
              <a:rPr dirty="0" sz="550" spc="290">
                <a:latin typeface="Calibri"/>
                <a:cs typeface="Calibri"/>
              </a:rPr>
              <a:t> </a:t>
            </a:r>
            <a:r>
              <a:rPr dirty="0" sz="550" spc="10" i="1">
                <a:latin typeface="Calibri"/>
                <a:cs typeface="Calibri"/>
              </a:rPr>
              <a:t>T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531581" y="2546024"/>
            <a:ext cx="313055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63240" algn="l"/>
              </a:tabLst>
            </a:pPr>
            <a:r>
              <a:rPr dirty="0" u="sng" sz="55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550" spc="4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η</a:t>
            </a:r>
            <a:r>
              <a:rPr dirty="0" sz="550" i="1">
                <a:latin typeface="Times New Roman"/>
                <a:cs typeface="Times New Roman"/>
              </a:rPr>
              <a:t>	</a:t>
            </a:r>
            <a:r>
              <a:rPr dirty="0" u="sng" sz="550" spc="-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550" spc="9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η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23225" y="2473341"/>
            <a:ext cx="31864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063240" algn="l"/>
              </a:tabLst>
            </a:pPr>
            <a:r>
              <a:rPr dirty="0" sz="850" spc="250">
                <a:latin typeface="Arial MT"/>
                <a:cs typeface="Arial MT"/>
              </a:rPr>
              <a:t>P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533397" y="2639599"/>
            <a:ext cx="3316604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7804" algn="l"/>
                <a:tab pos="3063240" algn="l"/>
                <a:tab pos="3268979" algn="l"/>
              </a:tabLst>
            </a:pPr>
            <a:r>
              <a:rPr dirty="0" sz="550" spc="-50" i="1">
                <a:latin typeface="Calibri"/>
                <a:cs typeface="Calibri"/>
              </a:rPr>
              <a:t>m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x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m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929567" y="2559693"/>
            <a:ext cx="1092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25" i="1">
                <a:latin typeface="Calibri"/>
                <a:cs typeface="Calibri"/>
              </a:rPr>
              <a:t>x</a:t>
            </a:r>
            <a:r>
              <a:rPr dirty="0" sz="550" spc="25">
                <a:latin typeface="Calibri"/>
                <a:cs typeface="Calibri"/>
              </a:rPr>
              <a:t>,</a:t>
            </a:r>
            <a:r>
              <a:rPr dirty="0" sz="550" spc="25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26347" y="2566863"/>
            <a:ext cx="40538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788035" algn="l"/>
                <a:tab pos="1259840" algn="l"/>
                <a:tab pos="3838575" algn="l"/>
              </a:tabLst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6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140" i="1">
                <a:latin typeface="Times New Roman"/>
                <a:cs typeface="Times New Roman"/>
              </a:rPr>
              <a:t>δ</a:t>
            </a:r>
            <a:r>
              <a:rPr dirty="0" sz="850" spc="190" i="1">
                <a:latin typeface="Times New Roman"/>
                <a:cs typeface="Times New Roman"/>
              </a:rPr>
              <a:t>  </a:t>
            </a:r>
            <a:r>
              <a:rPr dirty="0" sz="850" spc="-25">
                <a:latin typeface="Tahoma"/>
                <a:cs typeface="Tahoma"/>
              </a:rPr>
              <a:t>(</a:t>
            </a:r>
            <a:r>
              <a:rPr dirty="0" sz="850" spc="-25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2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according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33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11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220" i="1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140" i="1">
                <a:latin typeface="Times New Roman"/>
                <a:cs typeface="Times New Roman"/>
              </a:rPr>
              <a:t>δ</a:t>
            </a:r>
            <a:r>
              <a:rPr dirty="0" sz="850" spc="190" i="1">
                <a:latin typeface="Times New Roman"/>
                <a:cs typeface="Times New Roman"/>
              </a:rPr>
              <a:t> 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1178" y="2705958"/>
            <a:ext cx="4374515" cy="19386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8415" marR="27305" indent="-635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implement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loop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stepping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multiple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omitted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simplicity.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850">
              <a:latin typeface="Calibri"/>
              <a:cs typeface="Calibri"/>
            </a:endParaRPr>
          </a:p>
          <a:p>
            <a:pPr marL="18415">
              <a:lnSpc>
                <a:spcPct val="100000"/>
              </a:lnSpc>
              <a:tabLst>
                <a:tab pos="346075" algn="l"/>
              </a:tabLst>
            </a:pPr>
            <a:r>
              <a:rPr dirty="0" sz="1050" spc="30" b="1">
                <a:latin typeface="Calibri"/>
                <a:cs typeface="Calibri"/>
              </a:rPr>
              <a:t>2.7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60" b="1">
                <a:latin typeface="Calibri"/>
                <a:cs typeface="Calibri"/>
              </a:rPr>
              <a:t>The</a:t>
            </a:r>
            <a:r>
              <a:rPr dirty="0" sz="1050" spc="17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code</a:t>
            </a:r>
            <a:r>
              <a:rPr dirty="0" sz="1050" spc="17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for</a:t>
            </a:r>
            <a:r>
              <a:rPr dirty="0" sz="1050" spc="175" b="1">
                <a:latin typeface="Calibri"/>
                <a:cs typeface="Calibri"/>
              </a:rPr>
              <a:t> </a:t>
            </a:r>
            <a:r>
              <a:rPr dirty="0" sz="1050" spc="40" b="1">
                <a:latin typeface="Calibri"/>
                <a:cs typeface="Calibri"/>
              </a:rPr>
              <a:t>backpropagation</a:t>
            </a:r>
            <a:endParaRPr sz="1050">
              <a:latin typeface="Calibri"/>
              <a:cs typeface="Calibri"/>
            </a:endParaRPr>
          </a:p>
          <a:p>
            <a:pPr algn="just" marL="18415" marR="5080">
              <a:lnSpc>
                <a:spcPct val="110700"/>
              </a:lnSpc>
              <a:spcBef>
                <a:spcPts val="1175"/>
              </a:spcBef>
            </a:pPr>
            <a:r>
              <a:rPr dirty="0" sz="850" spc="10">
                <a:latin typeface="Calibri"/>
                <a:cs typeface="Calibri"/>
              </a:rPr>
              <a:t>Having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understood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abstract,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used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implement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backpropagation.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Recall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was</a:t>
            </a:r>
            <a:r>
              <a:rPr dirty="0" sz="850" spc="40">
                <a:latin typeface="Calibri"/>
                <a:cs typeface="Calibri"/>
              </a:rPr>
              <a:t> contained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in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900" spc="40">
                <a:latin typeface="Calibri"/>
                <a:cs typeface="Calibri"/>
              </a:rPr>
              <a:t>update_mini_batch</a:t>
            </a:r>
            <a:r>
              <a:rPr dirty="0" sz="900" spc="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and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900" spc="40">
                <a:latin typeface="Calibri"/>
                <a:cs typeface="Calibri"/>
              </a:rPr>
              <a:t>backprop</a:t>
            </a:r>
            <a:r>
              <a:rPr dirty="0" sz="900" spc="2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methods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of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</a:t>
            </a:r>
            <a:r>
              <a:rPr dirty="0" sz="900" spc="2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class.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The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translation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particular,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update_mini_batch</a:t>
            </a:r>
            <a:r>
              <a:rPr dirty="0" sz="90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updates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</a:t>
            </a:r>
            <a:r>
              <a:rPr dirty="0" sz="850">
                <a:latin typeface="Calibri"/>
                <a:cs typeface="Calibri"/>
              </a:rPr>
              <a:t>’s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current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900" spc="55">
                <a:latin typeface="Calibri"/>
                <a:cs typeface="Calibri"/>
              </a:rPr>
              <a:t>mini_batch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79514" y="4715471"/>
            <a:ext cx="4401185" cy="203835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Network(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95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70"/>
              </a:spcBef>
            </a:pPr>
            <a:r>
              <a:rPr dirty="0" sz="700" spc="185">
                <a:latin typeface="Calibri"/>
                <a:cs typeface="Calibri"/>
              </a:rPr>
              <a:t>...</a:t>
            </a:r>
            <a:endParaRPr sz="7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8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update_mini_batch(self,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mini_batch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eta):</a:t>
            </a:r>
            <a:endParaRPr sz="700">
              <a:latin typeface="Calibri"/>
              <a:cs typeface="Calibri"/>
            </a:endParaRPr>
          </a:p>
          <a:p>
            <a:pPr marL="257810" marR="84836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Update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2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network’s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weights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r>
              <a:rPr dirty="0" sz="700" spc="42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applying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descent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backpropagation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single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mini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batch.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mini_batch"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tuples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"(x,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5" i="1">
                <a:solidFill>
                  <a:srgbClr val="980000"/>
                </a:solidFill>
                <a:latin typeface="Calibri"/>
                <a:cs typeface="Calibri"/>
              </a:rPr>
              <a:t>y)",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"eta"</a:t>
            </a:r>
            <a:endParaRPr sz="700">
              <a:latin typeface="Calibri"/>
              <a:cs typeface="Calibri"/>
            </a:endParaRPr>
          </a:p>
          <a:p>
            <a:pPr marL="257175">
              <a:lnSpc>
                <a:spcPct val="100000"/>
              </a:lnSpc>
              <a:spcBef>
                <a:spcPts val="65"/>
              </a:spcBef>
            </a:pP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learning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rate."""</a:t>
            </a:r>
            <a:endParaRPr sz="700">
              <a:latin typeface="Calibri"/>
              <a:cs typeface="Calibri"/>
            </a:endParaRPr>
          </a:p>
          <a:p>
            <a:pPr marL="257810" marR="1433195" indent="635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nabla_b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[np.zeros(b.shape)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b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self.biases] </a:t>
            </a:r>
            <a:r>
              <a:rPr dirty="0" sz="700" spc="55">
                <a:latin typeface="Calibri"/>
                <a:cs typeface="Calibri"/>
              </a:rPr>
              <a:t>nabla_w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1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[np.zeros(w.shape)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weights]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mini_batch:</a:t>
            </a:r>
            <a:endParaRPr sz="700">
              <a:latin typeface="Calibri"/>
              <a:cs typeface="Calibri"/>
            </a:endParaRPr>
          </a:p>
          <a:p>
            <a:pPr marL="364490">
              <a:lnSpc>
                <a:spcPct val="100000"/>
              </a:lnSpc>
              <a:spcBef>
                <a:spcPts val="70"/>
              </a:spcBef>
            </a:pPr>
            <a:r>
              <a:rPr dirty="0" sz="700" spc="90">
                <a:latin typeface="Calibri"/>
                <a:cs typeface="Calibri"/>
              </a:rPr>
              <a:t>delta_nabla_b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delta_nabla_w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backprop(x,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y)</a:t>
            </a:r>
            <a:endParaRPr sz="700">
              <a:latin typeface="Calibri"/>
              <a:cs typeface="Calibri"/>
            </a:endParaRPr>
          </a:p>
          <a:p>
            <a:pPr marL="365125" marR="795655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nabla_b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[nb+dnb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nb,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dnb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05">
                <a:latin typeface="Calibri"/>
                <a:cs typeface="Calibri"/>
              </a:rPr>
              <a:t>(nabla_b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delta_nabla_b)] </a:t>
            </a:r>
            <a:r>
              <a:rPr dirty="0" sz="700" spc="55">
                <a:latin typeface="Calibri"/>
                <a:cs typeface="Calibri"/>
              </a:rPr>
              <a:t>nabla_w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[nw+dnw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nw,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dnw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90">
                <a:latin typeface="Calibri"/>
                <a:cs typeface="Calibri"/>
              </a:rPr>
              <a:t>(nabla_w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delta_nabla_w)]</a:t>
            </a:r>
            <a:endParaRPr sz="700">
              <a:latin typeface="Calibri"/>
              <a:cs typeface="Calibri"/>
            </a:endParaRPr>
          </a:p>
          <a:p>
            <a:pPr marL="257810">
              <a:lnSpc>
                <a:spcPct val="100000"/>
              </a:lnSpc>
              <a:spcBef>
                <a:spcPts val="65"/>
              </a:spcBef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weights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[w-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eta/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mini_batch))*nw</a:t>
            </a:r>
            <a:endParaRPr sz="700">
              <a:latin typeface="Calibri"/>
              <a:cs typeface="Calibri"/>
            </a:endParaRPr>
          </a:p>
          <a:p>
            <a:pPr marL="257810" marR="1592580" indent="424180">
              <a:lnSpc>
                <a:spcPct val="107900"/>
              </a:lnSpc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w,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nw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30">
                <a:latin typeface="Calibri"/>
                <a:cs typeface="Calibri"/>
              </a:rPr>
              <a:t>(self.weights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nabla_w)] </a:t>
            </a:r>
            <a:r>
              <a:rPr dirty="0" sz="700" spc="140">
                <a:latin typeface="Calibri"/>
                <a:cs typeface="Calibri"/>
              </a:rPr>
              <a:t>self.biases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[b-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eta/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mini_batch))*nb</a:t>
            </a:r>
            <a:endParaRPr sz="700">
              <a:latin typeface="Calibri"/>
              <a:cs typeface="Calibri"/>
            </a:endParaRPr>
          </a:p>
          <a:p>
            <a:pPr marL="682625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b,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nb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0">
                <a:latin typeface="Calibri"/>
                <a:cs typeface="Calibri"/>
              </a:rPr>
              <a:t>(self.biases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nabla_b)]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07301" y="6803728"/>
            <a:ext cx="434594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900" spc="60">
                <a:latin typeface="Calibri"/>
                <a:cs typeface="Calibri"/>
              </a:rPr>
              <a:t>delta_nabla_b</a:t>
            </a:r>
            <a:r>
              <a:rPr dirty="0" sz="850" spc="6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delta_nabla_w</a:t>
            </a:r>
            <a:r>
              <a:rPr dirty="0" sz="900" spc="34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=</a:t>
            </a:r>
            <a:r>
              <a:rPr dirty="0" sz="900" spc="35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self.backprop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790718" y="7030689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81899" y="6951757"/>
            <a:ext cx="439674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900" spc="170">
                <a:latin typeface="Calibri"/>
                <a:cs typeface="Calibri"/>
              </a:rPr>
              <a:t>(x,</a:t>
            </a:r>
            <a:r>
              <a:rPr dirty="0" sz="900" spc="310">
                <a:latin typeface="Calibri"/>
                <a:cs typeface="Calibri"/>
              </a:rPr>
              <a:t> </a:t>
            </a:r>
            <a:r>
              <a:rPr dirty="0" sz="900" spc="120">
                <a:latin typeface="Calibri"/>
                <a:cs typeface="Calibri"/>
              </a:rPr>
              <a:t>y)</a:t>
            </a:r>
            <a:r>
              <a:rPr dirty="0" sz="90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backprop</a:t>
            </a:r>
            <a:r>
              <a:rPr dirty="0" sz="90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 spc="70" i="1">
                <a:latin typeface="Calibri"/>
                <a:cs typeface="Calibri"/>
              </a:rPr>
              <a:t>C</a:t>
            </a:r>
            <a:r>
              <a:rPr dirty="0" baseline="-20202" sz="825" spc="104" i="1">
                <a:latin typeface="Calibri"/>
                <a:cs typeface="Calibri"/>
              </a:rPr>
              <a:t>x</a:t>
            </a:r>
            <a:r>
              <a:rPr dirty="0" baseline="-20202" sz="825" spc="-15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/∂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397" i="1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81901" y="7115309"/>
            <a:ext cx="439674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50" spc="10" i="1">
                <a:latin typeface="Times New Roman"/>
                <a:cs typeface="Times New Roman"/>
              </a:rPr>
              <a:t>∂ </a:t>
            </a:r>
            <a:r>
              <a:rPr dirty="0" sz="850" spc="70" i="1">
                <a:latin typeface="Calibri"/>
                <a:cs typeface="Calibri"/>
              </a:rPr>
              <a:t>C</a:t>
            </a:r>
            <a:r>
              <a:rPr dirty="0" baseline="-20202" sz="825" spc="104" i="1">
                <a:latin typeface="Calibri"/>
                <a:cs typeface="Calibri"/>
              </a:rPr>
              <a:t>x</a:t>
            </a:r>
            <a:r>
              <a:rPr dirty="0" baseline="-20202" sz="825" spc="-15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/∂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644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backprop</a:t>
            </a:r>
            <a:r>
              <a:rPr dirty="0" sz="90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closely.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76988" y="7194240"/>
            <a:ext cx="4429125" cy="8229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466090">
              <a:lnSpc>
                <a:spcPts val="615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  <a:p>
            <a:pPr algn="just" marL="42545">
              <a:lnSpc>
                <a:spcPts val="975"/>
              </a:lnSpc>
            </a:pP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slightly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indexing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</a:t>
            </a:r>
            <a:endParaRPr sz="850">
              <a:latin typeface="Calibri"/>
              <a:cs typeface="Calibri"/>
            </a:endParaRPr>
          </a:p>
          <a:p>
            <a:pPr algn="just" marL="38100" marR="30480" indent="4445">
              <a:lnSpc>
                <a:spcPct val="110000"/>
              </a:lnSpc>
              <a:spcBef>
                <a:spcPts val="45"/>
              </a:spcBef>
            </a:pP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made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advantage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Python,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namely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negative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indices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backward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e.g.,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900" spc="145">
                <a:latin typeface="Calibri"/>
                <a:cs typeface="Calibri"/>
              </a:rPr>
              <a:t>l[-</a:t>
            </a:r>
            <a:r>
              <a:rPr dirty="0" sz="900" spc="210">
                <a:latin typeface="Calibri"/>
                <a:cs typeface="Calibri"/>
              </a:rPr>
              <a:t>3]</a:t>
            </a:r>
            <a:r>
              <a:rPr dirty="0" sz="90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third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entry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900" spc="114">
                <a:latin typeface="Calibri"/>
                <a:cs typeface="Calibri"/>
              </a:rPr>
              <a:t>l</a:t>
            </a:r>
            <a:r>
              <a:rPr dirty="0" sz="850" spc="114">
                <a:latin typeface="Calibri"/>
                <a:cs typeface="Calibri"/>
              </a:rPr>
              <a:t>.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backprop</a:t>
            </a:r>
            <a:r>
              <a:rPr dirty="0" sz="90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below,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together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6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20" i="1">
                <a:latin typeface="Times New Roman"/>
                <a:cs typeface="Times New Roman"/>
              </a:rPr>
              <a:t>σ</a:t>
            </a:r>
            <a:r>
              <a:rPr dirty="0" baseline="35353" sz="825" spc="179">
                <a:latin typeface="Cambria"/>
                <a:cs typeface="Cambria"/>
              </a:rPr>
              <a:t>’</a:t>
            </a:r>
            <a:r>
              <a:rPr dirty="0" sz="850" spc="120">
                <a:latin typeface="Calibri"/>
                <a:cs typeface="Calibri"/>
              </a:rPr>
              <a:t>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these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-2530" y="1331973"/>
            <a:ext cx="344170" cy="457200"/>
            <a:chOff x="-2530" y="1331973"/>
            <a:chExt cx="344170" cy="457200"/>
          </a:xfrm>
        </p:grpSpPr>
        <p:sp>
          <p:nvSpPr>
            <p:cNvPr id="23" name="object 23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25831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96" y="368721"/>
            <a:ext cx="4552950" cy="10147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74925">
              <a:lnSpc>
                <a:spcPts val="525"/>
              </a:lnSpc>
              <a:spcBef>
                <a:spcPts val="110"/>
              </a:spcBef>
              <a:tabLst>
                <a:tab pos="4417695" algn="l"/>
              </a:tabLst>
            </a:pPr>
            <a:r>
              <a:rPr dirty="0" sz="850">
                <a:latin typeface="Calibri"/>
                <a:cs typeface="Calibri"/>
              </a:rPr>
              <a:t>2.7.</a:t>
            </a:r>
            <a:r>
              <a:rPr dirty="0" sz="850" spc="4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51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2700" marR="211454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inclusions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self-contained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something’s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tripping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helpful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consult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description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complete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listing)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code.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9510" y="1634896"/>
            <a:ext cx="4401185" cy="537781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Network(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95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70"/>
              </a:spcBef>
            </a:pPr>
            <a:r>
              <a:rPr dirty="0" sz="700" spc="185">
                <a:latin typeface="Calibri"/>
                <a:cs typeface="Calibri"/>
              </a:rPr>
              <a:t>...</a:t>
            </a:r>
            <a:endParaRPr sz="7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backprop(self,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255904" marR="1010285" indent="127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tuple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"(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nabla_b</a:t>
            </a:r>
            <a:r>
              <a:rPr dirty="0" sz="700" spc="-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nabla_w)"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representing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function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C_x.</a:t>
            </a:r>
            <a:r>
              <a:rPr dirty="0" sz="700" spc="30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"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nabla_b"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    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"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nabla_w"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layer-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by-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5" i="1">
                <a:solidFill>
                  <a:srgbClr val="980000"/>
                </a:solidFill>
                <a:latin typeface="Calibri"/>
                <a:cs typeface="Calibri"/>
              </a:rPr>
              <a:t>lists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numpy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arrays,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similar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"self.biases"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"self.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weights"."""</a:t>
            </a:r>
            <a:endParaRPr sz="700">
              <a:latin typeface="Calibri"/>
              <a:cs typeface="Calibri"/>
            </a:endParaRPr>
          </a:p>
          <a:p>
            <a:pPr marL="255904" marR="1433195" indent="1905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nabla_b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[np.zeros(b.shape)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b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self.biases] </a:t>
            </a:r>
            <a:r>
              <a:rPr dirty="0" sz="700" spc="55">
                <a:latin typeface="Calibri"/>
                <a:cs typeface="Calibri"/>
              </a:rPr>
              <a:t>nabla_w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1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[np.zeros(w.shape)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weights]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feedforward</a:t>
            </a:r>
            <a:endParaRPr sz="700">
              <a:latin typeface="Calibri"/>
              <a:cs typeface="Calibri"/>
            </a:endParaRPr>
          </a:p>
          <a:p>
            <a:pPr marL="259079">
              <a:lnSpc>
                <a:spcPct val="100000"/>
              </a:lnSpc>
              <a:spcBef>
                <a:spcPts val="65"/>
              </a:spcBef>
            </a:pPr>
            <a:r>
              <a:rPr dirty="0" sz="700" spc="120">
                <a:latin typeface="Calibri"/>
                <a:cs typeface="Calibri"/>
              </a:rPr>
              <a:t>activation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5">
                <a:latin typeface="Calibri"/>
                <a:cs typeface="Calibri"/>
              </a:rPr>
              <a:t>x</a:t>
            </a:r>
            <a:endParaRPr sz="700">
              <a:latin typeface="Calibri"/>
              <a:cs typeface="Calibri"/>
            </a:endParaRPr>
          </a:p>
          <a:p>
            <a:pPr marL="259079">
              <a:lnSpc>
                <a:spcPct val="100000"/>
              </a:lnSpc>
              <a:spcBef>
                <a:spcPts val="70"/>
              </a:spcBef>
            </a:pPr>
            <a:r>
              <a:rPr dirty="0" sz="700" spc="120">
                <a:latin typeface="Calibri"/>
                <a:cs typeface="Calibri"/>
              </a:rPr>
              <a:t>activations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[x]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store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all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activations,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endParaRPr sz="700">
              <a:latin typeface="Calibri"/>
              <a:cs typeface="Calibri"/>
            </a:endParaRPr>
          </a:p>
          <a:p>
            <a:pPr marL="257175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latin typeface="Calibri"/>
                <a:cs typeface="Calibri"/>
              </a:rPr>
              <a:t>zs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[]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store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all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z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vectors,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endParaRPr sz="700">
              <a:latin typeface="Calibri"/>
              <a:cs typeface="Calibri"/>
            </a:endParaRPr>
          </a:p>
          <a:p>
            <a:pPr marL="257810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1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b,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0">
                <a:latin typeface="Calibri"/>
                <a:cs typeface="Calibri"/>
              </a:rPr>
              <a:t>(self.biases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weights):</a:t>
            </a:r>
            <a:endParaRPr sz="700">
              <a:latin typeface="Calibri"/>
              <a:cs typeface="Calibri"/>
            </a:endParaRPr>
          </a:p>
          <a:p>
            <a:pPr marL="363220" marR="2602230" indent="-1270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z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np.dot(w,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activation)+b </a:t>
            </a:r>
            <a:r>
              <a:rPr dirty="0" sz="700" spc="100">
                <a:latin typeface="Calibri"/>
                <a:cs typeface="Calibri"/>
              </a:rPr>
              <a:t>zs.append(z)</a:t>
            </a:r>
            <a:endParaRPr sz="700">
              <a:latin typeface="Calibri"/>
              <a:cs typeface="Calibri"/>
            </a:endParaRPr>
          </a:p>
          <a:p>
            <a:pPr marL="365125" marR="2442845" indent="-635">
              <a:lnSpc>
                <a:spcPct val="107900"/>
              </a:lnSpc>
            </a:pPr>
            <a:r>
              <a:rPr dirty="0" sz="700" spc="120">
                <a:latin typeface="Calibri"/>
                <a:cs typeface="Calibri"/>
              </a:rPr>
              <a:t>activation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sigmoid(z) </a:t>
            </a:r>
            <a:r>
              <a:rPr dirty="0" sz="700" spc="110">
                <a:latin typeface="Calibri"/>
                <a:cs typeface="Calibri"/>
              </a:rPr>
              <a:t>activations.append(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activation)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70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backward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pass</a:t>
            </a:r>
            <a:endParaRPr sz="700">
              <a:latin typeface="Calibri"/>
              <a:cs typeface="Calibri"/>
            </a:endParaRPr>
          </a:p>
          <a:p>
            <a:pPr marL="258445" marR="318770" indent="-635">
              <a:lnSpc>
                <a:spcPct val="107900"/>
              </a:lnSpc>
            </a:pPr>
            <a:r>
              <a:rPr dirty="0" sz="700" spc="105">
                <a:latin typeface="Calibri"/>
                <a:cs typeface="Calibri"/>
              </a:rPr>
              <a:t>delta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cost_derivative(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activations[-</a:t>
            </a:r>
            <a:r>
              <a:rPr dirty="0" sz="700" spc="150">
                <a:latin typeface="Calibri"/>
                <a:cs typeface="Calibri"/>
              </a:rPr>
              <a:t>1],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y)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*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sigmoid_prime(zs[-</a:t>
            </a:r>
            <a:r>
              <a:rPr dirty="0" sz="700" spc="105">
                <a:latin typeface="Calibri"/>
                <a:cs typeface="Calibri"/>
              </a:rPr>
              <a:t>1]) </a:t>
            </a:r>
            <a:r>
              <a:rPr dirty="0" sz="700" spc="110">
                <a:latin typeface="Calibri"/>
                <a:cs typeface="Calibri"/>
              </a:rPr>
              <a:t>nabla_b[-</a:t>
            </a:r>
            <a:r>
              <a:rPr dirty="0" sz="700" spc="95">
                <a:latin typeface="Calibri"/>
                <a:cs typeface="Calibri"/>
              </a:rPr>
              <a:t>1]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delta</a:t>
            </a:r>
            <a:endParaRPr sz="700">
              <a:latin typeface="Calibri"/>
              <a:cs typeface="Calibri"/>
            </a:endParaRPr>
          </a:p>
          <a:p>
            <a:pPr marL="258445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latin typeface="Calibri"/>
                <a:cs typeface="Calibri"/>
              </a:rPr>
              <a:t>nabla_w[-1]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np.dot(delta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activations[-2].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transpose())</a:t>
            </a:r>
            <a:endParaRPr sz="700">
              <a:latin typeface="Calibri"/>
              <a:cs typeface="Calibri"/>
            </a:endParaRPr>
          </a:p>
          <a:p>
            <a:pPr marL="255904" marR="848360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variable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l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loop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below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little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differently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notation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Chapter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2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book.</a:t>
            </a:r>
            <a:r>
              <a:rPr dirty="0" sz="700" spc="30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Here,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l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=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1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means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last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neurons,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l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=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2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70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second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-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last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layer,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so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on.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It’s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renumbering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endParaRPr sz="700">
              <a:latin typeface="Calibri"/>
              <a:cs typeface="Calibri"/>
            </a:endParaRPr>
          </a:p>
          <a:p>
            <a:pPr marL="255904" marR="903605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scheme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book,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here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take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advantage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fact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Python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can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negative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indices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5" i="1">
                <a:solidFill>
                  <a:srgbClr val="980000"/>
                </a:solidFill>
                <a:latin typeface="Calibri"/>
                <a:cs typeface="Calibri"/>
              </a:rPr>
              <a:t>lists.</a:t>
            </a:r>
            <a:endParaRPr sz="700">
              <a:latin typeface="Calibri"/>
              <a:cs typeface="Calibri"/>
            </a:endParaRPr>
          </a:p>
          <a:p>
            <a:pPr marL="257810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l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110">
                <a:latin typeface="Calibri"/>
                <a:cs typeface="Calibri"/>
              </a:rPr>
              <a:t>(2,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num_layers):</a:t>
            </a:r>
            <a:endParaRPr sz="700">
              <a:latin typeface="Calibri"/>
              <a:cs typeface="Calibri"/>
            </a:endParaRPr>
          </a:p>
          <a:p>
            <a:pPr marL="362585">
              <a:lnSpc>
                <a:spcPct val="100000"/>
              </a:lnSpc>
              <a:spcBef>
                <a:spcPts val="65"/>
              </a:spcBef>
            </a:pPr>
            <a:r>
              <a:rPr dirty="0" sz="700" spc="90">
                <a:latin typeface="Calibri"/>
                <a:cs typeface="Calibri"/>
              </a:rPr>
              <a:t>z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zs[-</a:t>
            </a:r>
            <a:r>
              <a:rPr dirty="0" sz="700" spc="175">
                <a:latin typeface="Calibri"/>
                <a:cs typeface="Calibri"/>
              </a:rPr>
              <a:t>l]</a:t>
            </a:r>
            <a:endParaRPr sz="700">
              <a:latin typeface="Calibri"/>
              <a:cs typeface="Calibri"/>
            </a:endParaRPr>
          </a:p>
          <a:p>
            <a:pPr marL="363220">
              <a:lnSpc>
                <a:spcPct val="100000"/>
              </a:lnSpc>
              <a:spcBef>
                <a:spcPts val="70"/>
              </a:spcBef>
            </a:pPr>
            <a:r>
              <a:rPr dirty="0" sz="700" spc="60">
                <a:latin typeface="Calibri"/>
                <a:cs typeface="Calibri"/>
              </a:rPr>
              <a:t>sp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sigmoid_prime(z)</a:t>
            </a:r>
            <a:endParaRPr sz="700">
              <a:latin typeface="Calibri"/>
              <a:cs typeface="Calibri"/>
            </a:endParaRPr>
          </a:p>
          <a:p>
            <a:pPr marL="365125" marR="955675" indent="-635">
              <a:lnSpc>
                <a:spcPct val="107900"/>
              </a:lnSpc>
            </a:pPr>
            <a:r>
              <a:rPr dirty="0" sz="700" spc="105">
                <a:latin typeface="Calibri"/>
                <a:cs typeface="Calibri"/>
              </a:rPr>
              <a:t>delta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np.dot(self.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weights[-</a:t>
            </a:r>
            <a:r>
              <a:rPr dirty="0" sz="700" spc="150">
                <a:latin typeface="Calibri"/>
                <a:cs typeface="Calibri"/>
              </a:rPr>
              <a:t>l+1].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transpose(),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delta)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*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35">
                <a:latin typeface="Calibri"/>
                <a:cs typeface="Calibri"/>
              </a:rPr>
              <a:t>sp</a:t>
            </a:r>
            <a:r>
              <a:rPr dirty="0" sz="700" spc="110">
                <a:latin typeface="Calibri"/>
                <a:cs typeface="Calibri"/>
              </a:rPr>
              <a:t> nabla_b[-</a:t>
            </a:r>
            <a:r>
              <a:rPr dirty="0" sz="700" spc="200">
                <a:latin typeface="Calibri"/>
                <a:cs typeface="Calibri"/>
              </a:rPr>
              <a:t>l]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delta</a:t>
            </a:r>
            <a:endParaRPr sz="700">
              <a:latin typeface="Calibri"/>
              <a:cs typeface="Calibri"/>
            </a:endParaRPr>
          </a:p>
          <a:p>
            <a:pPr marL="258445" marR="955040" indent="106045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nabla_w[-</a:t>
            </a:r>
            <a:r>
              <a:rPr dirty="0" sz="700" spc="200">
                <a:latin typeface="Calibri"/>
                <a:cs typeface="Calibri"/>
              </a:rPr>
              <a:t>l]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np.dot(delta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activations[-</a:t>
            </a:r>
            <a:r>
              <a:rPr dirty="0" sz="700" spc="235">
                <a:latin typeface="Calibri"/>
                <a:cs typeface="Calibri"/>
              </a:rPr>
              <a:t>l-</a:t>
            </a:r>
            <a:r>
              <a:rPr dirty="0" sz="700" spc="145">
                <a:latin typeface="Calibri"/>
                <a:cs typeface="Calibri"/>
              </a:rPr>
              <a:t>1].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transpose())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(nabla_b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nabla_w)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185">
                <a:latin typeface="Calibri"/>
                <a:cs typeface="Calibri"/>
              </a:rPr>
              <a:t>...</a:t>
            </a:r>
            <a:endParaRPr sz="7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cost_derivative(self,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output_activations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257810">
              <a:lnSpc>
                <a:spcPct val="100000"/>
              </a:lnSpc>
              <a:spcBef>
                <a:spcPts val="70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vector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partial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derivatives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\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partial{}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C_x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0" i="1">
                <a:solidFill>
                  <a:srgbClr val="980000"/>
                </a:solidFill>
                <a:latin typeface="Calibri"/>
                <a:cs typeface="Calibri"/>
              </a:rPr>
              <a:t>/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65"/>
              </a:spcBef>
            </a:pP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\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partial{}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activations."""</a:t>
            </a:r>
            <a:endParaRPr sz="700">
              <a:latin typeface="Calibri"/>
              <a:cs typeface="Calibri"/>
            </a:endParaRPr>
          </a:p>
          <a:p>
            <a:pPr marL="258445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40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output_activations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-</a:t>
            </a:r>
            <a:r>
              <a:rPr dirty="0" sz="700" spc="100">
                <a:latin typeface="Calibri"/>
                <a:cs typeface="Calibri"/>
              </a:rPr>
              <a:t>y)</a:t>
            </a:r>
            <a:endParaRPr sz="7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sigmoid(z):</a:t>
            </a:r>
            <a:endParaRPr sz="700">
              <a:latin typeface="Calibri"/>
              <a:cs typeface="Calibri"/>
            </a:endParaRPr>
          </a:p>
          <a:p>
            <a:pPr marL="257810">
              <a:lnSpc>
                <a:spcPct val="100000"/>
              </a:lnSpc>
              <a:spcBef>
                <a:spcPts val="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sigmoid</a:t>
            </a:r>
            <a:r>
              <a:rPr dirty="0" sz="700" spc="4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function."""</a:t>
            </a:r>
            <a:endParaRPr sz="700">
              <a:latin typeface="Calibri"/>
              <a:cs typeface="Calibri"/>
            </a:endParaRPr>
          </a:p>
          <a:p>
            <a:pPr marL="258445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4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1.0/(1.0+np.exp(-</a:t>
            </a:r>
            <a:r>
              <a:rPr dirty="0" sz="700" spc="140">
                <a:latin typeface="Calibri"/>
                <a:cs typeface="Calibri"/>
              </a:rPr>
              <a:t>z))</a:t>
            </a:r>
            <a:endParaRPr sz="7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sigmoid_prime(z):</a:t>
            </a:r>
            <a:endParaRPr sz="700">
              <a:latin typeface="Calibri"/>
              <a:cs typeface="Calibri"/>
            </a:endParaRPr>
          </a:p>
          <a:p>
            <a:pPr marL="257810">
              <a:lnSpc>
                <a:spcPct val="100000"/>
              </a:lnSpc>
              <a:spcBef>
                <a:spcPts val="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Derivative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sigmoid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function."""</a:t>
            </a:r>
            <a:endParaRPr sz="700">
              <a:latin typeface="Calibri"/>
              <a:cs typeface="Calibri"/>
            </a:endParaRPr>
          </a:p>
          <a:p>
            <a:pPr marL="258445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9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sigmoid(z)*(1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-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sigmoid(z))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4596" y="7046037"/>
            <a:ext cx="4424045" cy="970915"/>
          </a:xfrm>
          <a:prstGeom prst="rect">
            <a:avLst/>
          </a:prstGeom>
        </p:spPr>
        <p:txBody>
          <a:bodyPr wrap="square" lIns="0" tIns="4635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365"/>
              </a:spcBef>
            </a:pP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  <a:p>
            <a:pPr algn="just" marL="341630" marR="43180" indent="-118745">
              <a:lnSpc>
                <a:spcPct val="114300"/>
              </a:lnSpc>
              <a:spcBef>
                <a:spcPts val="85"/>
              </a:spcBef>
              <a:buFont typeface="Cambria"/>
              <a:buChar char="•"/>
              <a:tabLst>
                <a:tab pos="341630" algn="l"/>
              </a:tabLst>
            </a:pPr>
            <a:r>
              <a:rPr dirty="0" sz="850" spc="50" b="1">
                <a:latin typeface="Calibri"/>
                <a:cs typeface="Calibri"/>
              </a:rPr>
              <a:t>Fully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matrix-based</a:t>
            </a:r>
            <a:r>
              <a:rPr dirty="0" sz="850" spc="30" b="1">
                <a:latin typeface="Calibri"/>
                <a:cs typeface="Calibri"/>
              </a:rPr>
              <a:t> approach</a:t>
            </a:r>
            <a:r>
              <a:rPr dirty="0" sz="850" spc="30" b="1">
                <a:latin typeface="Calibri"/>
                <a:cs typeface="Calibri"/>
              </a:rPr>
              <a:t> to</a:t>
            </a:r>
            <a:r>
              <a:rPr dirty="0" sz="850" spc="30" b="1">
                <a:latin typeface="Calibri"/>
                <a:cs typeface="Calibri"/>
              </a:rPr>
              <a:t> backpropagation</a:t>
            </a:r>
            <a:r>
              <a:rPr dirty="0" sz="850" spc="30" b="1">
                <a:latin typeface="Calibri"/>
                <a:cs typeface="Calibri"/>
              </a:rPr>
              <a:t> over</a:t>
            </a:r>
            <a:r>
              <a:rPr dirty="0" sz="850" spc="30" b="1">
                <a:latin typeface="Calibri"/>
                <a:cs typeface="Calibri"/>
              </a:rPr>
              <a:t> a</a:t>
            </a:r>
            <a:r>
              <a:rPr dirty="0" sz="850" spc="30" b="1">
                <a:latin typeface="Calibri"/>
                <a:cs typeface="Calibri"/>
              </a:rPr>
              <a:t> mini-batch</a:t>
            </a:r>
            <a:r>
              <a:rPr dirty="0" sz="850" spc="30" b="1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Our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imple-</a:t>
            </a:r>
            <a:r>
              <a:rPr dirty="0" sz="850">
                <a:latin typeface="Calibri"/>
                <a:cs typeface="Calibri"/>
              </a:rPr>
              <a:t>mentation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loops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</a:t>
            </a:r>
            <a:r>
              <a:rPr dirty="0" sz="850" spc="-10">
                <a:latin typeface="Calibri"/>
                <a:cs typeface="Calibri"/>
              </a:rPr>
              <a:t>batch.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simultaneously.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70">
                <a:latin typeface="Tahoma"/>
                <a:cs typeface="Tahoma"/>
              </a:rPr>
              <a:t>[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baseline="-20202" sz="825" spc="104">
                <a:latin typeface="Calibri"/>
                <a:cs typeface="Calibri"/>
              </a:rPr>
              <a:t>1</a:t>
            </a:r>
            <a:r>
              <a:rPr dirty="0" baseline="-20202" sz="825" spc="1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baseline="-20202" sz="825" spc="1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35" i="1">
                <a:latin typeface="Calibri"/>
                <a:cs typeface="Calibri"/>
              </a:rPr>
              <a:t>x</a:t>
            </a:r>
            <a:r>
              <a:rPr dirty="0" baseline="-20202" sz="825" spc="52" i="1">
                <a:latin typeface="Calibri"/>
                <a:cs typeface="Calibri"/>
              </a:rPr>
              <a:t>m</a:t>
            </a:r>
            <a:r>
              <a:rPr dirty="0" sz="850" spc="35">
                <a:latin typeface="Tahoma"/>
                <a:cs typeface="Tahoma"/>
              </a:rPr>
              <a:t>]</a:t>
            </a:r>
            <a:endParaRPr sz="850">
              <a:latin typeface="Tahoma"/>
              <a:cs typeface="Tahoma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5778788" y="1331973"/>
            <a:ext cx="344170" cy="457200"/>
            <a:chOff x="5778788" y="1331973"/>
            <a:chExt cx="344170" cy="457200"/>
          </a:xfrm>
        </p:grpSpPr>
        <p:sp>
          <p:nvSpPr>
            <p:cNvPr id="6" name="object 6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5876620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605020" cy="20510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52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50">
              <a:latin typeface="Arial MT"/>
              <a:cs typeface="Arial MT"/>
            </a:endParaRPr>
          </a:p>
          <a:p>
            <a:pPr algn="just" marL="555625" marR="5080">
              <a:lnSpc>
                <a:spcPct val="113500"/>
              </a:lnSpc>
            </a:pPr>
            <a:r>
              <a:rPr dirty="0" sz="850">
                <a:latin typeface="Calibri"/>
                <a:cs typeface="Calibri"/>
              </a:rPr>
              <a:t>whose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columns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forward-propagate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multiply-</a:t>
            </a:r>
            <a:r>
              <a:rPr dirty="0" sz="850">
                <a:latin typeface="Calibri"/>
                <a:cs typeface="Calibri"/>
              </a:rPr>
              <a:t>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matrices,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suitable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matrix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applying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everywhere.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lines.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Explicitly</a:t>
            </a:r>
            <a:r>
              <a:rPr dirty="0" sz="850" spc="20">
                <a:latin typeface="Calibri"/>
                <a:cs typeface="Calibri"/>
              </a:rPr>
              <a:t> write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pseudocode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Modify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network.py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matrix-based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advantage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advantage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modern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libraries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algebra.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looping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(On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laptop,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speedup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MNIST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classification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chapter.)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serious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libraries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matrix-based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variant.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64389" y="2866105"/>
            <a:ext cx="4453890" cy="187896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5244">
              <a:lnSpc>
                <a:spcPct val="100000"/>
              </a:lnSpc>
              <a:spcBef>
                <a:spcPts val="100"/>
              </a:spcBef>
              <a:tabLst>
                <a:tab pos="382905" algn="l"/>
              </a:tabLst>
            </a:pPr>
            <a:r>
              <a:rPr dirty="0" sz="1050" spc="30" b="1">
                <a:latin typeface="Calibri"/>
                <a:cs typeface="Calibri"/>
              </a:rPr>
              <a:t>2.8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80" b="1">
                <a:latin typeface="Calibri"/>
                <a:cs typeface="Calibri"/>
              </a:rPr>
              <a:t>In</a:t>
            </a:r>
            <a:r>
              <a:rPr dirty="0" sz="1050" spc="14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what</a:t>
            </a:r>
            <a:r>
              <a:rPr dirty="0" sz="1050" spc="14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sense</a:t>
            </a:r>
            <a:r>
              <a:rPr dirty="0" sz="1050" spc="15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is</a:t>
            </a:r>
            <a:r>
              <a:rPr dirty="0" sz="1050" spc="145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backpropagation</a:t>
            </a:r>
            <a:r>
              <a:rPr dirty="0" sz="1050" spc="150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a</a:t>
            </a:r>
            <a:r>
              <a:rPr dirty="0" sz="1050" spc="14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fast</a:t>
            </a:r>
            <a:r>
              <a:rPr dirty="0" sz="1050" spc="150" b="1">
                <a:latin typeface="Calibri"/>
                <a:cs typeface="Calibri"/>
              </a:rPr>
              <a:t> </a:t>
            </a:r>
            <a:r>
              <a:rPr dirty="0" sz="1050" spc="40" b="1">
                <a:latin typeface="Calibri"/>
                <a:cs typeface="Calibri"/>
              </a:rPr>
              <a:t>algorithm?</a:t>
            </a:r>
            <a:endParaRPr sz="10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1050">
              <a:latin typeface="Calibri"/>
              <a:cs typeface="Calibri"/>
            </a:endParaRPr>
          </a:p>
          <a:p>
            <a:pPr marL="50800" marR="43180" indent="4445">
              <a:lnSpc>
                <a:spcPct val="114300"/>
              </a:lnSpc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sense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algorithm?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answer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question,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consider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Imagine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days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research.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1950s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1960s,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person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learn!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knowledge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calculus,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decide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playing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around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bit,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algebra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complicated,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discouraged.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approach.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decide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regard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1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C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4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alone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(we’ll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moment).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2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 spc="25" i="1">
                <a:latin typeface="Calibri"/>
                <a:cs typeface="Calibri"/>
              </a:rPr>
              <a:t>w</a:t>
            </a:r>
            <a:r>
              <a:rPr dirty="0" baseline="-20202" sz="825" spc="37" i="1">
                <a:latin typeface="Calibri"/>
                <a:cs typeface="Calibri"/>
              </a:rPr>
              <a:t>j</a:t>
            </a:r>
            <a:r>
              <a:rPr dirty="0" baseline="-20202" sz="825" spc="75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-52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approximation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469109" y="4984674"/>
            <a:ext cx="111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95">
                <a:latin typeface="Cambria"/>
                <a:cs typeface="Cambria"/>
              </a:rPr>
              <a:t>”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73070" y="4889563"/>
            <a:ext cx="9525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u="sng" sz="850" spc="5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5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(</a:t>
            </a:r>
            <a:r>
              <a:rPr dirty="0" u="sng" sz="850" spc="5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w</a:t>
            </a:r>
            <a:r>
              <a:rPr dirty="0" u="sng" sz="85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+</a:t>
            </a:r>
            <a:r>
              <a:rPr dirty="0" sz="850" spc="-95">
                <a:latin typeface="Tahoma"/>
                <a:cs typeface="Tahoma"/>
              </a:rPr>
              <a:t> </a:t>
            </a:r>
            <a:r>
              <a:rPr dirty="0" u="sng" sz="850" spc="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ε</a:t>
            </a:r>
            <a:r>
              <a:rPr dirty="0" u="sng" sz="85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u="sng" baseline="-20202" sz="825" spc="8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j</a:t>
            </a:r>
            <a:r>
              <a:rPr dirty="0" u="sng" baseline="-20202" sz="825" spc="-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)</a:t>
            </a:r>
            <a:r>
              <a:rPr dirty="0" sz="850" spc="-95">
                <a:latin typeface="Tahoma"/>
                <a:cs typeface="Tahoma"/>
              </a:rPr>
              <a:t> </a:t>
            </a:r>
            <a:r>
              <a:rPr dirty="0" u="sng" sz="850" spc="14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50" spc="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-2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(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w</a:t>
            </a:r>
            <a:r>
              <a:rPr dirty="0" u="sng" sz="850" spc="-2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178761" y="4881047"/>
            <a:ext cx="936625" cy="34163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320"/>
              </a:spcBef>
            </a:pPr>
            <a:r>
              <a:rPr dirty="0" u="sng" sz="85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220"/>
              </a:spcBef>
              <a:tabLst>
                <a:tab pos="839469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25" i="1">
                <a:latin typeface="Calibri"/>
                <a:cs typeface="Calibri"/>
              </a:rPr>
              <a:t>w</a:t>
            </a:r>
            <a:r>
              <a:rPr dirty="0" baseline="-20202" sz="825" spc="37" i="1">
                <a:latin typeface="Calibri"/>
                <a:cs typeface="Calibri"/>
              </a:rPr>
              <a:t>j</a:t>
            </a:r>
            <a:r>
              <a:rPr dirty="0" baseline="-20202" sz="825" i="1">
                <a:latin typeface="Calibri"/>
                <a:cs typeface="Calibri"/>
              </a:rPr>
              <a:t>	</a:t>
            </a:r>
            <a:r>
              <a:rPr dirty="0" sz="850" spc="70" i="1">
                <a:latin typeface="Times New Roman"/>
                <a:cs typeface="Times New Roman"/>
              </a:rPr>
              <a:t>ε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89833" y="4984674"/>
            <a:ext cx="558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723389" y="4984674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(2.22)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8238" y="5345322"/>
            <a:ext cx="4414520" cy="267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46990" marR="31750" indent="-254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20" i="1">
                <a:latin typeface="Times New Roman"/>
                <a:cs typeface="Times New Roman"/>
              </a:rPr>
              <a:t>ε</a:t>
            </a:r>
            <a:r>
              <a:rPr dirty="0" sz="850" spc="125" i="1">
                <a:latin typeface="Times New Roman"/>
                <a:cs typeface="Times New Roman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&gt;</a:t>
            </a:r>
            <a:r>
              <a:rPr dirty="0" sz="850" spc="125" i="1">
                <a:latin typeface="Times New Roman"/>
                <a:cs typeface="Times New Roman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</a:t>
            </a:r>
            <a:r>
              <a:rPr dirty="0" baseline="-20202" sz="825" i="1">
                <a:latin typeface="Calibri"/>
                <a:cs typeface="Calibri"/>
              </a:rPr>
              <a:t>j</a:t>
            </a:r>
            <a:r>
              <a:rPr dirty="0" baseline="-20202" sz="825" spc="52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estimate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45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2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slightly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 i="1">
                <a:latin typeface="Calibri"/>
                <a:cs typeface="Calibri"/>
              </a:rPr>
              <a:t>j</a:t>
            </a:r>
            <a:r>
              <a:rPr dirty="0" baseline="-20202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2.22.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biases.</a:t>
            </a:r>
            <a:endParaRPr sz="850">
              <a:latin typeface="Calibri"/>
              <a:cs typeface="Calibri"/>
            </a:endParaRPr>
          </a:p>
          <a:p>
            <a:pPr algn="just" marL="51435" marR="34290" indent="189230">
              <a:lnSpc>
                <a:spcPct val="114300"/>
              </a:lnSpc>
              <a:spcBef>
                <a:spcPts val="340"/>
              </a:spcBef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promising.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conceptually,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Certainly,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promising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gradient!</a:t>
            </a:r>
            <a:endParaRPr sz="850">
              <a:latin typeface="Calibri"/>
              <a:cs typeface="Calibri"/>
            </a:endParaRPr>
          </a:p>
          <a:p>
            <a:pPr algn="just" marL="38100" marR="30480" indent="203200">
              <a:lnSpc>
                <a:spcPct val="114300"/>
              </a:lnSpc>
              <a:spcBef>
                <a:spcPts val="340"/>
              </a:spcBef>
            </a:pPr>
            <a:r>
              <a:rPr dirty="0" sz="850" spc="10">
                <a:latin typeface="Calibri"/>
                <a:cs typeface="Calibri"/>
              </a:rPr>
              <a:t>Unfortunately,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while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appears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promising,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you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turns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extremely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understand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imagine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have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million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weights</a:t>
            </a:r>
            <a:r>
              <a:rPr dirty="0" sz="850" spc="45">
                <a:latin typeface="Calibri"/>
                <a:cs typeface="Calibri"/>
              </a:rPr>
              <a:t> in</a:t>
            </a:r>
            <a:r>
              <a:rPr dirty="0" sz="850" spc="25">
                <a:latin typeface="Calibri"/>
                <a:cs typeface="Calibri"/>
              </a:rPr>
              <a:t> 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network.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Then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distinct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weight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292" i="1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C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w</a:t>
            </a:r>
            <a:r>
              <a:rPr dirty="0" sz="850" spc="-35" i="1">
                <a:latin typeface="Calibri"/>
                <a:cs typeface="Calibri"/>
              </a:rPr>
              <a:t> </a:t>
            </a:r>
            <a:r>
              <a:rPr dirty="0" sz="850" spc="15">
                <a:latin typeface="Tahoma"/>
                <a:cs typeface="Tahoma"/>
              </a:rPr>
              <a:t>+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60" i="1">
                <a:latin typeface="Times New Roman"/>
                <a:cs typeface="Times New Roman"/>
              </a:rPr>
              <a:t>ε</a:t>
            </a:r>
            <a:r>
              <a:rPr dirty="0" sz="850" spc="60" i="1">
                <a:latin typeface="Calibri"/>
                <a:cs typeface="Calibri"/>
              </a:rPr>
              <a:t>e</a:t>
            </a:r>
            <a:r>
              <a:rPr dirty="0" baseline="-20202" sz="825" spc="89" i="1">
                <a:latin typeface="Calibri"/>
                <a:cs typeface="Calibri"/>
              </a:rPr>
              <a:t>j</a:t>
            </a:r>
            <a:r>
              <a:rPr dirty="0" baseline="-20202" sz="825" spc="-7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4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order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to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compute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-75" i="1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means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compute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gradient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compute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function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million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times,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requiring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million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forward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passes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through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network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(per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training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example).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compute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5" i="1">
                <a:latin typeface="Calibri"/>
                <a:cs typeface="Calibri"/>
              </a:rPr>
              <a:t>C</a:t>
            </a:r>
            <a:r>
              <a:rPr dirty="0" sz="850" spc="45">
                <a:latin typeface="Tahoma"/>
                <a:cs typeface="Tahoma"/>
              </a:rPr>
              <a:t>(</a:t>
            </a:r>
            <a:r>
              <a:rPr dirty="0" sz="850" spc="45" i="1">
                <a:latin typeface="Calibri"/>
                <a:cs typeface="Calibri"/>
              </a:rPr>
              <a:t>w</a:t>
            </a:r>
            <a:r>
              <a:rPr dirty="0" sz="850" spc="45">
                <a:latin typeface="Tahoma"/>
                <a:cs typeface="Tahoma"/>
              </a:rPr>
              <a:t>)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well,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total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million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10">
                <a:latin typeface="Calibri"/>
                <a:cs typeface="Calibri"/>
              </a:rPr>
              <a:t> one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passes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through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network.</a:t>
            </a:r>
            <a:endParaRPr sz="850">
              <a:latin typeface="Calibri"/>
              <a:cs typeface="Calibri"/>
            </a:endParaRPr>
          </a:p>
          <a:p>
            <a:pPr algn="just" marL="51435" marR="31750" indent="189230">
              <a:lnSpc>
                <a:spcPct val="114300"/>
              </a:lnSpc>
              <a:spcBef>
                <a:spcPts val="340"/>
              </a:spcBef>
            </a:pP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clever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enables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simultaneously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6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65" i="1">
                <a:latin typeface="Times New Roman"/>
                <a:cs typeface="Times New Roman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509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forward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pass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followed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backward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pass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170">
                <a:latin typeface="Calibri"/>
                <a:cs typeface="Calibri"/>
              </a:rPr>
              <a:t>  </a:t>
            </a:r>
            <a:r>
              <a:rPr dirty="0" sz="850" spc="45">
                <a:latin typeface="Calibri"/>
                <a:cs typeface="Calibri"/>
              </a:rPr>
              <a:t>Roughly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speaking,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computational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-2530" y="1331973"/>
            <a:ext cx="344170" cy="457200"/>
            <a:chOff x="-2530" y="1331973"/>
            <a:chExt cx="344170" cy="457200"/>
          </a:xfrm>
        </p:grpSpPr>
        <p:sp>
          <p:nvSpPr>
            <p:cNvPr id="11" name="object 11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25831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28228" y="368721"/>
            <a:ext cx="4617085" cy="23660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468880">
              <a:lnSpc>
                <a:spcPts val="525"/>
              </a:lnSpc>
              <a:spcBef>
                <a:spcPts val="110"/>
              </a:spcBef>
              <a:tabLst>
                <a:tab pos="4457065" algn="l"/>
              </a:tabLst>
            </a:pPr>
            <a:r>
              <a:rPr dirty="0" sz="850" spc="20">
                <a:latin typeface="Calibri"/>
                <a:cs typeface="Calibri"/>
              </a:rPr>
              <a:t>2.9.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Backpropagation: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picture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53</a:t>
            </a:r>
            <a:endParaRPr sz="850">
              <a:latin typeface="Calibri"/>
              <a:cs typeface="Calibri"/>
            </a:endParaRPr>
          </a:p>
          <a:p>
            <a:pPr algn="r" marR="2279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100" marR="209550" indent="1333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backward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pass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forward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pass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5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total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roughly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forward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passes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forward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passes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3" action="ppaction://hlinksldjump"/>
              </a:rPr>
              <a:t>(2.22)!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though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appears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superficially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complex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3" action="ppaction://hlinksldjump"/>
              </a:rPr>
              <a:t>(2.22),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faster.</a:t>
            </a:r>
            <a:endParaRPr sz="850">
              <a:latin typeface="Calibri"/>
              <a:cs typeface="Calibri"/>
            </a:endParaRPr>
          </a:p>
          <a:p>
            <a:pPr algn="just" marL="51435" marR="236854" indent="189230">
              <a:lnSpc>
                <a:spcPct val="114300"/>
              </a:lnSpc>
              <a:spcBef>
                <a:spcPts val="145"/>
              </a:spcBef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speedup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appreciated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1986,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greatly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solve.</a:t>
            </a:r>
            <a:r>
              <a:rPr dirty="0" sz="850" spc="43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rush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panacea.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1980s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people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against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limits,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especially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attempting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modern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computers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clever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16496" y="3045290"/>
            <a:ext cx="4436745" cy="2030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390525" algn="l"/>
              </a:tabLst>
            </a:pPr>
            <a:r>
              <a:rPr dirty="0" sz="1050" spc="30" b="1">
                <a:latin typeface="Calibri"/>
                <a:cs typeface="Calibri"/>
              </a:rPr>
              <a:t>2.9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55" b="1">
                <a:latin typeface="Calibri"/>
                <a:cs typeface="Calibri"/>
              </a:rPr>
              <a:t>Backpropagation:</a:t>
            </a:r>
            <a:r>
              <a:rPr dirty="0" sz="1050" spc="22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the</a:t>
            </a:r>
            <a:r>
              <a:rPr dirty="0" sz="1050" spc="110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big</a:t>
            </a:r>
            <a:r>
              <a:rPr dirty="0" sz="1050" spc="110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picture</a:t>
            </a:r>
            <a:endParaRPr sz="10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Calibri"/>
              <a:cs typeface="Calibri"/>
            </a:endParaRPr>
          </a:p>
          <a:p>
            <a:pPr algn="just" marL="63500" marR="17780" indent="-5715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explained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presents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two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mysteries.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First,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algorithm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doing?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picture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deeper,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multiplications?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mystery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someone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could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discovered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place?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mean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discovered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place.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plausible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discover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algorithm?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address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mysteries.</a:t>
            </a:r>
            <a:endParaRPr sz="850">
              <a:latin typeface="Calibri"/>
              <a:cs typeface="Calibri"/>
            </a:endParaRPr>
          </a:p>
          <a:p>
            <a:pPr algn="just" marL="63500" marR="45085" indent="189230">
              <a:lnSpc>
                <a:spcPts val="1170"/>
              </a:lnSpc>
              <a:spcBef>
                <a:spcPts val="204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imagine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85" i="1">
                <a:latin typeface="Arial"/>
                <a:cs typeface="Arial"/>
              </a:rPr>
              <a:t>∆</a:t>
            </a:r>
            <a:r>
              <a:rPr dirty="0" sz="850" spc="85" i="1">
                <a:latin typeface="Calibri"/>
                <a:cs typeface="Calibri"/>
              </a:rPr>
              <a:t>w</a:t>
            </a:r>
            <a:r>
              <a:rPr dirty="0" baseline="35353" sz="825" spc="127" i="1">
                <a:latin typeface="Calibri"/>
                <a:cs typeface="Calibri"/>
              </a:rPr>
              <a:t>l</a:t>
            </a:r>
            <a:r>
              <a:rPr dirty="0" baseline="35353" sz="825" spc="502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73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  <a:p>
            <a:pPr algn="ctr" marR="92075">
              <a:lnSpc>
                <a:spcPts val="170"/>
              </a:lnSpc>
              <a:tabLst>
                <a:tab pos="1712595" algn="l"/>
              </a:tabLst>
            </a:pPr>
            <a:r>
              <a:rPr dirty="0" sz="550" spc="-25" i="1">
                <a:latin typeface="Calibri"/>
                <a:cs typeface="Calibri"/>
              </a:rPr>
              <a:t>jk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39773" y="5291112"/>
            <a:ext cx="3600450" cy="1651000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1079996" y="7553162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023466" y="7109252"/>
            <a:ext cx="4448175" cy="905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6515" marR="62865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corresponding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850">
              <a:latin typeface="Calibri"/>
              <a:cs typeface="Calibri"/>
            </a:endParaRPr>
          </a:p>
          <a:p>
            <a:pPr algn="just" marL="50800" marR="43180" indent="133350">
              <a:lnSpc>
                <a:spcPts val="800"/>
              </a:lnSpc>
            </a:pPr>
            <a:r>
              <a:rPr dirty="0" baseline="30303" sz="825" spc="82">
                <a:latin typeface="Calibri"/>
                <a:cs typeface="Calibri"/>
              </a:rPr>
              <a:t>5</a:t>
            </a:r>
            <a:r>
              <a:rPr dirty="0" sz="750" spc="55">
                <a:latin typeface="Calibri"/>
                <a:cs typeface="Calibri"/>
              </a:rPr>
              <a:t>This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should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plausible,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requires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some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analysis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make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careful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statement.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It’s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plausible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because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dominant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computational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cost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forward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pass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multiplying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weight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matrices,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while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backward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pass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it’s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multiplying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transposes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weight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matrices.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These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operations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obviously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have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similar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computational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cost.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1331973"/>
            <a:ext cx="344170" cy="457200"/>
            <a:chOff x="5778788" y="1331973"/>
            <a:chExt cx="344170" cy="457200"/>
          </a:xfrm>
        </p:grpSpPr>
        <p:sp>
          <p:nvSpPr>
            <p:cNvPr id="8" name="object 8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36601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54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79779" y="964158"/>
            <a:ext cx="3600450" cy="154305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702384" y="2666964"/>
            <a:ext cx="34588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That,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79779" y="2970923"/>
            <a:ext cx="3600450" cy="1339850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702384" y="4453668"/>
            <a:ext cx="435038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54379" y="4922520"/>
            <a:ext cx="3657600" cy="1339850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3339512" y="6496515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6984" y="6422138"/>
            <a:ext cx="42183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1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85" i="1">
                <a:latin typeface="Arial"/>
                <a:cs typeface="Arial"/>
              </a:rPr>
              <a:t>∆</a:t>
            </a:r>
            <a:r>
              <a:rPr dirty="0" sz="850" spc="85" i="1">
                <a:latin typeface="Calibri"/>
                <a:cs typeface="Calibri"/>
              </a:rPr>
              <a:t>w</a:t>
            </a:r>
            <a:r>
              <a:rPr dirty="0" baseline="35353" sz="825" spc="127" i="1">
                <a:latin typeface="Calibri"/>
                <a:cs typeface="Calibri"/>
              </a:rPr>
              <a:t>l</a:t>
            </a:r>
            <a:r>
              <a:rPr dirty="0" baseline="35353" sz="825" spc="480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equation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758376" y="6733848"/>
            <a:ext cx="2660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1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732976" y="6898451"/>
            <a:ext cx="25590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35353" sz="825" spc="-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27742" y="6972367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188261" y="6800778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98282" y="6885168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435247" y="6810798"/>
            <a:ext cx="8896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90550" algn="l"/>
              </a:tabLst>
            </a:pP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295">
                <a:latin typeface="Cambria"/>
                <a:cs typeface="Cambria"/>
              </a:rPr>
              <a:t>”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sz="850" spc="44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723352" y="6810797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(2.23)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659076" y="7300412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76984" y="7226035"/>
            <a:ext cx="44011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517" i="1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carefully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track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81901" y="7389585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457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propagates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C</a:t>
            </a:r>
            <a:r>
              <a:rPr dirty="0" sz="850" spc="80">
                <a:latin typeface="Calibri"/>
                <a:cs typeface="Calibri"/>
              </a:rPr>
              <a:t>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careful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07308" y="7463961"/>
            <a:ext cx="4345940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857885">
              <a:lnSpc>
                <a:spcPts val="615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everything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along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computable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quantities,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should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029103" y="7760025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81901" y="7685648"/>
            <a:ext cx="14992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637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58991" y="7860046"/>
            <a:ext cx="4232275" cy="1873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ts val="81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carry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85" i="1">
                <a:latin typeface="Arial"/>
                <a:cs typeface="Arial"/>
              </a:rPr>
              <a:t>∆</a:t>
            </a:r>
            <a:r>
              <a:rPr dirty="0" sz="850" spc="85" i="1">
                <a:latin typeface="Calibri"/>
                <a:cs typeface="Calibri"/>
              </a:rPr>
              <a:t>w</a:t>
            </a:r>
            <a:r>
              <a:rPr dirty="0" baseline="35353" sz="825" spc="127" i="1">
                <a:latin typeface="Calibri"/>
                <a:cs typeface="Calibri"/>
              </a:rPr>
              <a:t>l</a:t>
            </a:r>
            <a:r>
              <a:rPr dirty="0" baseline="35353" sz="825" spc="465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causes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95" i="1">
                <a:latin typeface="Arial"/>
                <a:cs typeface="Arial"/>
              </a:rPr>
              <a:t>∆</a:t>
            </a:r>
            <a:r>
              <a:rPr dirty="0" sz="850" spc="95" i="1">
                <a:latin typeface="Calibri"/>
                <a:cs typeface="Calibri"/>
              </a:rPr>
              <a:t>a</a:t>
            </a:r>
            <a:r>
              <a:rPr dirty="0" baseline="35353" sz="825" spc="142" i="1">
                <a:latin typeface="Calibri"/>
                <a:cs typeface="Calibri"/>
              </a:rPr>
              <a:t>l</a:t>
            </a:r>
            <a:r>
              <a:rPr dirty="0" baseline="35353" sz="825" spc="45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</a:t>
            </a:r>
            <a:endParaRPr sz="850">
              <a:latin typeface="Calibri"/>
              <a:cs typeface="Calibri"/>
            </a:endParaRPr>
          </a:p>
          <a:p>
            <a:pPr marL="2030095">
              <a:lnSpc>
                <a:spcPts val="450"/>
              </a:lnSpc>
              <a:tabLst>
                <a:tab pos="3355975" algn="l"/>
              </a:tabLst>
            </a:pPr>
            <a:r>
              <a:rPr dirty="0" sz="550" spc="-25" i="1">
                <a:latin typeface="Calibri"/>
                <a:cs typeface="Calibri"/>
              </a:rPr>
              <a:t>jk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-2530" y="1331973"/>
            <a:ext cx="344170" cy="457200"/>
            <a:chOff x="-2530" y="1331973"/>
            <a:chExt cx="344170" cy="457200"/>
          </a:xfrm>
        </p:grpSpPr>
        <p:sp>
          <p:nvSpPr>
            <p:cNvPr id="25" name="object 25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 txBox="1"/>
          <p:nvPr/>
        </p:nvSpPr>
        <p:spPr>
          <a:xfrm>
            <a:off x="25831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98" y="368721"/>
            <a:ext cx="4552950" cy="718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430145">
              <a:lnSpc>
                <a:spcPts val="525"/>
              </a:lnSpc>
              <a:spcBef>
                <a:spcPts val="110"/>
              </a:spcBef>
              <a:tabLst>
                <a:tab pos="4417695" algn="l"/>
              </a:tabLst>
            </a:pPr>
            <a:r>
              <a:rPr dirty="0" sz="850" spc="20">
                <a:latin typeface="Calibri"/>
                <a:cs typeface="Calibri"/>
              </a:rPr>
              <a:t>2.9.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Backpropagation: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picture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55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l</a:t>
            </a:r>
            <a:r>
              <a:rPr dirty="0" sz="850" spc="50">
                <a:latin typeface="Calibri"/>
                <a:cs typeface="Calibri"/>
              </a:rPr>
              <a:t>-</a:t>
            </a:r>
            <a:r>
              <a:rPr dirty="0" sz="850">
                <a:latin typeface="Calibri"/>
                <a:cs typeface="Calibri"/>
              </a:rPr>
              <a:t>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942145" y="1327825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135111" y="1229512"/>
            <a:ext cx="238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25" i="1">
                <a:latin typeface="Calibri"/>
                <a:cs typeface="Calibri"/>
              </a:rPr>
              <a:t>a</a:t>
            </a:r>
            <a:r>
              <a:rPr dirty="0" baseline="35353" sz="825" spc="-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141014" y="1428280"/>
            <a:ext cx="240665" cy="0"/>
          </a:xfrm>
          <a:custGeom>
            <a:avLst/>
            <a:gdLst/>
            <a:ahLst/>
            <a:cxnLst/>
            <a:rect l="l" t="t" r="r" b="b"/>
            <a:pathLst>
              <a:path w="240664" h="0">
                <a:moveTo>
                  <a:pt x="0" y="0"/>
                </a:moveTo>
                <a:lnTo>
                  <a:pt x="24005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3102914" y="1425501"/>
            <a:ext cx="25590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35353" sz="825" spc="-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97695" y="1499431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946694" y="1412230"/>
            <a:ext cx="7099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33730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59900" y="1303888"/>
            <a:ext cx="960755" cy="1911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177800">
              <a:lnSpc>
                <a:spcPts val="45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38100">
              <a:lnSpc>
                <a:spcPts val="815"/>
              </a:lnSpc>
              <a:tabLst>
                <a:tab pos="636270" algn="l"/>
              </a:tabLst>
            </a:pPr>
            <a:r>
              <a:rPr dirty="0" sz="850" spc="110" i="1">
                <a:latin typeface="Arial"/>
                <a:cs typeface="Arial"/>
              </a:rPr>
              <a:t>∆</a:t>
            </a:r>
            <a:r>
              <a:rPr dirty="0" sz="850" spc="110" i="1">
                <a:latin typeface="Calibri"/>
                <a:cs typeface="Calibri"/>
              </a:rPr>
              <a:t>a</a:t>
            </a:r>
            <a:r>
              <a:rPr dirty="0" sz="850" spc="305" i="1">
                <a:latin typeface="Calibri"/>
                <a:cs typeface="Calibri"/>
              </a:rPr>
              <a:t> </a:t>
            </a:r>
            <a:r>
              <a:rPr dirty="0" sz="850" spc="295">
                <a:latin typeface="Cambria"/>
                <a:cs typeface="Cambria"/>
              </a:rPr>
              <a:t>”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85" i="1">
                <a:latin typeface="Arial"/>
                <a:cs typeface="Arial"/>
              </a:rPr>
              <a:t>∆</a:t>
            </a:r>
            <a:r>
              <a:rPr dirty="0" sz="850" spc="85" i="1">
                <a:latin typeface="Calibri"/>
                <a:cs typeface="Calibri"/>
              </a:rPr>
              <a:t>w</a:t>
            </a:r>
            <a:r>
              <a:rPr dirty="0" baseline="35353" sz="825" spc="127" i="1">
                <a:latin typeface="Calibri"/>
                <a:cs typeface="Calibri"/>
              </a:rPr>
              <a:t>l</a:t>
            </a:r>
            <a:r>
              <a:rPr dirty="0" baseline="35353" sz="825" spc="532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083451" y="1337856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(2.24)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36980" y="1753085"/>
            <a:ext cx="44240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95" i="1">
                <a:latin typeface="Arial"/>
                <a:cs typeface="Arial"/>
              </a:rPr>
              <a:t>∆</a:t>
            </a:r>
            <a:r>
              <a:rPr dirty="0" sz="850" spc="95" i="1">
                <a:latin typeface="Calibri"/>
                <a:cs typeface="Calibri"/>
              </a:rPr>
              <a:t>a</a:t>
            </a:r>
            <a:r>
              <a:rPr dirty="0" baseline="35353" sz="825" spc="142" i="1">
                <a:latin typeface="Calibri"/>
                <a:cs typeface="Calibri"/>
              </a:rPr>
              <a:t>l</a:t>
            </a:r>
            <a:r>
              <a:rPr dirty="0" baseline="35353" sz="825" spc="48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next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i.e.,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7296" y="1827461"/>
            <a:ext cx="4345940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374775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</a:t>
            </a:r>
            <a:r>
              <a:rPr dirty="0" sz="850" spc="50" i="1">
                <a:latin typeface="Calibri"/>
                <a:cs typeface="Calibri"/>
              </a:rPr>
              <a:t>l</a:t>
            </a:r>
            <a:r>
              <a:rPr dirty="0" sz="850" spc="50">
                <a:latin typeface="Lucida Sans Unicode"/>
                <a:cs typeface="Lucida Sans Unicode"/>
              </a:rPr>
              <a:t>+</a:t>
            </a:r>
            <a:r>
              <a:rPr dirty="0" sz="850" spc="50">
                <a:latin typeface="Calibri"/>
                <a:cs typeface="Calibri"/>
              </a:rPr>
              <a:t>1)-</a:t>
            </a:r>
            <a:r>
              <a:rPr dirty="0" sz="850" spc="10">
                <a:latin typeface="Calibri"/>
                <a:cs typeface="Calibri"/>
              </a:rPr>
              <a:t>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concentrate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752069" y="2123532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q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41896" y="2049160"/>
            <a:ext cx="92201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affected,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a</a:t>
            </a:r>
            <a:r>
              <a:rPr dirty="0" baseline="35353" sz="825" spc="60" i="1">
                <a:latin typeface="Calibri"/>
                <a:cs typeface="Calibri"/>
              </a:rPr>
              <a:t>l</a:t>
            </a:r>
            <a:r>
              <a:rPr dirty="0" baseline="35353" sz="825" spc="60">
                <a:latin typeface="Tahoma"/>
                <a:cs typeface="Tahoma"/>
              </a:rPr>
              <a:t>+</a:t>
            </a:r>
            <a:r>
              <a:rPr dirty="0" baseline="35353" sz="825" spc="60">
                <a:latin typeface="Calibri"/>
                <a:cs typeface="Calibri"/>
              </a:rPr>
              <a:t>1</a:t>
            </a:r>
            <a:r>
              <a:rPr dirty="0" sz="850" spc="4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39773" y="2343861"/>
            <a:ext cx="3600450" cy="1339850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2915034" y="4211987"/>
            <a:ext cx="1447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l</a:t>
            </a:r>
            <a:r>
              <a:rPr dirty="0" sz="550" spc="-25">
                <a:latin typeface="Tahoma"/>
                <a:cs typeface="Tahoma"/>
              </a:rPr>
              <a:t>+</a:t>
            </a:r>
            <a:r>
              <a:rPr dirty="0" sz="550" spc="-2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10475" y="4296378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q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758200" y="4222002"/>
            <a:ext cx="4191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20040" algn="l"/>
              </a:tabLst>
            </a:pPr>
            <a:r>
              <a:rPr dirty="0" sz="850" spc="85" i="1">
                <a:latin typeface="Arial"/>
                <a:cs typeface="Arial"/>
              </a:rPr>
              <a:t>∆</a:t>
            </a:r>
            <a:r>
              <a:rPr dirty="0" sz="850" spc="85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295">
                <a:latin typeface="Cambria"/>
                <a:cs typeface="Cambria"/>
              </a:rPr>
              <a:t>”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54596" y="3814714"/>
            <a:ext cx="2462530" cy="41211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change:</a:t>
            </a:r>
            <a:endParaRPr sz="850">
              <a:latin typeface="Calibri"/>
              <a:cs typeface="Calibri"/>
            </a:endParaRPr>
          </a:p>
          <a:p>
            <a:pPr algn="r" marR="43180">
              <a:lnSpc>
                <a:spcPct val="100000"/>
              </a:lnSpc>
              <a:spcBef>
                <a:spcPts val="990"/>
              </a:spcBef>
            </a:pP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-30" i="1">
                <a:latin typeface="Times New Roman"/>
                <a:cs typeface="Times New Roman"/>
              </a:rPr>
              <a:t> </a:t>
            </a:r>
            <a:r>
              <a:rPr dirty="0" baseline="-22875" sz="1275" spc="-30" i="1">
                <a:latin typeface="Calibri"/>
                <a:cs typeface="Calibri"/>
              </a:rPr>
              <a:t>a</a:t>
            </a:r>
            <a:r>
              <a:rPr dirty="0" sz="550" spc="-20" i="1">
                <a:latin typeface="Calibri"/>
                <a:cs typeface="Calibri"/>
              </a:rPr>
              <a:t>l</a:t>
            </a:r>
            <a:r>
              <a:rPr dirty="0" sz="550" spc="-20">
                <a:latin typeface="Tahoma"/>
                <a:cs typeface="Tahoma"/>
              </a:rPr>
              <a:t>+</a:t>
            </a:r>
            <a:r>
              <a:rPr dirty="0" sz="550" spc="-2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329690" y="4188046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q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3205403" y="4312424"/>
            <a:ext cx="267335" cy="0"/>
          </a:xfrm>
          <a:custGeom>
            <a:avLst/>
            <a:gdLst/>
            <a:ahLst/>
            <a:cxnLst/>
            <a:rect l="l" t="t" r="r" b="b"/>
            <a:pathLst>
              <a:path w="267335" h="0">
                <a:moveTo>
                  <a:pt x="0" y="0"/>
                </a:moveTo>
                <a:lnTo>
                  <a:pt x="267157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3213061" y="4309646"/>
            <a:ext cx="238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25" i="1">
                <a:latin typeface="Calibri"/>
                <a:cs typeface="Calibri"/>
              </a:rPr>
              <a:t>a</a:t>
            </a:r>
            <a:r>
              <a:rPr dirty="0" baseline="35353" sz="825" spc="-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384536" y="4381279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636443" y="4296377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449653" y="4222001"/>
            <a:ext cx="2978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95" i="1">
                <a:latin typeface="Arial"/>
                <a:cs typeface="Arial"/>
              </a:rPr>
              <a:t>∆</a:t>
            </a:r>
            <a:r>
              <a:rPr dirty="0" sz="850" spc="95" i="1">
                <a:latin typeface="Calibri"/>
                <a:cs typeface="Calibri"/>
              </a:rPr>
              <a:t>a</a:t>
            </a:r>
            <a:r>
              <a:rPr dirty="0" baseline="35353" sz="825" spc="142" i="1">
                <a:latin typeface="Calibri"/>
                <a:cs typeface="Calibri"/>
              </a:rPr>
              <a:t>l</a:t>
            </a:r>
            <a:r>
              <a:rPr dirty="0" baseline="35353" sz="825" spc="-1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083341" y="4222001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(2.25)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747632" y="5017191"/>
            <a:ext cx="1447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l</a:t>
            </a:r>
            <a:r>
              <a:rPr dirty="0" sz="550" spc="-25">
                <a:latin typeface="Tahoma"/>
                <a:cs typeface="Tahoma"/>
              </a:rPr>
              <a:t>+</a:t>
            </a:r>
            <a:r>
              <a:rPr dirty="0" sz="550" spc="-2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743073" y="5101582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q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590787" y="5027220"/>
            <a:ext cx="4191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20040" algn="l"/>
              </a:tabLst>
            </a:pPr>
            <a:r>
              <a:rPr dirty="0" sz="850" spc="85" i="1">
                <a:latin typeface="Arial"/>
                <a:cs typeface="Arial"/>
              </a:rPr>
              <a:t>∆</a:t>
            </a:r>
            <a:r>
              <a:rPr dirty="0" sz="850" spc="85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295">
                <a:latin typeface="Cambria"/>
                <a:cs typeface="Cambria"/>
              </a:rPr>
              <a:t>”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162287" y="4993249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q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3038005" y="5117642"/>
            <a:ext cx="537845" cy="0"/>
          </a:xfrm>
          <a:custGeom>
            <a:avLst/>
            <a:gdLst/>
            <a:ahLst/>
            <a:cxnLst/>
            <a:rect l="l" t="t" r="r" b="b"/>
            <a:pathLst>
              <a:path w="537845" h="0">
                <a:moveTo>
                  <a:pt x="0" y="0"/>
                </a:moveTo>
                <a:lnTo>
                  <a:pt x="267157" y="0"/>
                </a:lnTo>
              </a:path>
              <a:path w="537845" h="0">
                <a:moveTo>
                  <a:pt x="297522" y="0"/>
                </a:moveTo>
                <a:lnTo>
                  <a:pt x="53757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1054595" y="4619932"/>
            <a:ext cx="2839085" cy="41211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Substituting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 action="ppaction://hlinksldjump"/>
              </a:rPr>
              <a:t>2.24,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get:</a:t>
            </a:r>
            <a:endParaRPr sz="850">
              <a:latin typeface="Calibri"/>
              <a:cs typeface="Calibri"/>
            </a:endParaRPr>
          </a:p>
          <a:p>
            <a:pPr algn="r" marR="356235">
              <a:lnSpc>
                <a:spcPct val="100000"/>
              </a:lnSpc>
              <a:spcBef>
                <a:spcPts val="990"/>
              </a:spcBef>
            </a:pP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22" i="1">
                <a:latin typeface="Times New Roman"/>
                <a:cs typeface="Times New Roman"/>
              </a:rPr>
              <a:t> </a:t>
            </a:r>
            <a:r>
              <a:rPr dirty="0" baseline="-22875" sz="1275" i="1">
                <a:latin typeface="Calibri"/>
                <a:cs typeface="Calibri"/>
              </a:rPr>
              <a:t>a</a:t>
            </a:r>
            <a:r>
              <a:rPr dirty="0" sz="550" i="1">
                <a:latin typeface="Calibri"/>
                <a:cs typeface="Calibri"/>
              </a:rPr>
              <a:t>l</a:t>
            </a:r>
            <a:r>
              <a:rPr dirty="0" sz="550">
                <a:latin typeface="Tahoma"/>
                <a:cs typeface="Tahoma"/>
              </a:rPr>
              <a:t>+</a:t>
            </a:r>
            <a:r>
              <a:rPr dirty="0" sz="550">
                <a:latin typeface="Calibri"/>
                <a:cs typeface="Calibri"/>
              </a:rPr>
              <a:t>1</a:t>
            </a:r>
            <a:r>
              <a:rPr dirty="0" sz="550" spc="204">
                <a:latin typeface="Calibri"/>
                <a:cs typeface="Calibri"/>
              </a:rPr>
              <a:t>  </a:t>
            </a: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22" i="1">
                <a:latin typeface="Times New Roman"/>
                <a:cs typeface="Times New Roman"/>
              </a:rPr>
              <a:t> </a:t>
            </a:r>
            <a:r>
              <a:rPr dirty="0" baseline="-22875" sz="1275" spc="-37" i="1">
                <a:latin typeface="Calibri"/>
                <a:cs typeface="Calibri"/>
              </a:rPr>
              <a:t>a</a:t>
            </a:r>
            <a:r>
              <a:rPr dirty="0" sz="550" spc="-25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045650" y="5114864"/>
            <a:ext cx="5080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382" i="1">
                <a:latin typeface="Calibri"/>
                <a:cs typeface="Calibri"/>
              </a:rPr>
              <a:t>  </a:t>
            </a:r>
            <a:r>
              <a:rPr dirty="0" sz="850" i="1">
                <a:latin typeface="Times New Roman"/>
                <a:cs typeface="Times New Roman"/>
              </a:rPr>
              <a:t>∂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35353" sz="825" spc="-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217140" y="5188799"/>
            <a:ext cx="3632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765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762743" y="5101585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475713" y="5027224"/>
            <a:ext cx="4394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55555" sz="825" i="1">
                <a:latin typeface="Calibri"/>
                <a:cs typeface="Calibri"/>
              </a:rPr>
              <a:t>j</a:t>
            </a:r>
            <a:r>
              <a:rPr dirty="0" baseline="55555" sz="825" spc="494" i="1">
                <a:latin typeface="Calibri"/>
                <a:cs typeface="Calibri"/>
              </a:rPr>
              <a:t> </a:t>
            </a:r>
            <a:r>
              <a:rPr dirty="0" sz="850" spc="85" i="1">
                <a:latin typeface="Arial"/>
                <a:cs typeface="Arial"/>
              </a:rPr>
              <a:t>∆</a:t>
            </a:r>
            <a:r>
              <a:rPr dirty="0" sz="850" spc="85" i="1">
                <a:latin typeface="Calibri"/>
                <a:cs typeface="Calibri"/>
              </a:rPr>
              <a:t>w</a:t>
            </a:r>
            <a:r>
              <a:rPr dirty="0" baseline="35353" sz="825" spc="127" i="1">
                <a:latin typeface="Calibri"/>
                <a:cs typeface="Calibri"/>
              </a:rPr>
              <a:t>l</a:t>
            </a:r>
            <a:r>
              <a:rPr dirty="0" baseline="35353" sz="825" spc="547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083376" y="5027224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(2.26)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279510" y="5516824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q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035773" y="5442448"/>
            <a:ext cx="44297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5" i="1">
                <a:latin typeface="Arial"/>
                <a:cs typeface="Arial"/>
              </a:rPr>
              <a:t>∆</a:t>
            </a:r>
            <a:r>
              <a:rPr dirty="0" sz="850" spc="75" i="1">
                <a:latin typeface="Calibri"/>
                <a:cs typeface="Calibri"/>
              </a:rPr>
              <a:t>a</a:t>
            </a:r>
            <a:r>
              <a:rPr dirty="0" baseline="35353" sz="825" spc="112" i="1">
                <a:latin typeface="Calibri"/>
                <a:cs typeface="Calibri"/>
              </a:rPr>
              <a:t>l</a:t>
            </a:r>
            <a:r>
              <a:rPr dirty="0" baseline="35353" sz="825" spc="112">
                <a:latin typeface="Tahoma"/>
                <a:cs typeface="Tahoma"/>
              </a:rPr>
              <a:t>+</a:t>
            </a:r>
            <a:r>
              <a:rPr dirty="0" baseline="35353" sz="825" spc="112">
                <a:latin typeface="Calibri"/>
                <a:cs typeface="Calibri"/>
              </a:rPr>
              <a:t>1</a:t>
            </a:r>
            <a:r>
              <a:rPr dirty="0" baseline="35353" sz="825" spc="427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041896" y="5605998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imagine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502" i="1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sz="850" spc="85">
                <a:latin typeface="Calibri"/>
                <a:cs typeface="Calibri"/>
              </a:rPr>
              <a:t>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each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067296" y="5680369"/>
            <a:ext cx="4348480" cy="3276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792480">
              <a:lnSpc>
                <a:spcPts val="615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finally,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endParaRPr sz="850">
              <a:latin typeface="Calibri"/>
              <a:cs typeface="Calibri"/>
            </a:endParaRPr>
          </a:p>
          <a:p>
            <a:pPr algn="ctr" marL="1002030">
              <a:lnSpc>
                <a:spcPct val="100000"/>
              </a:lnSpc>
              <a:spcBef>
                <a:spcPts val="105"/>
              </a:spcBef>
            </a:pPr>
            <a:r>
              <a:rPr dirty="0" sz="550" i="1">
                <a:latin typeface="Calibri"/>
                <a:cs typeface="Calibri"/>
              </a:rPr>
              <a:t>l</a:t>
            </a:r>
            <a:r>
              <a:rPr dirty="0" sz="550" spc="380" i="1">
                <a:latin typeface="Calibri"/>
                <a:cs typeface="Calibri"/>
              </a:rPr>
              <a:t>  </a:t>
            </a:r>
            <a:r>
              <a:rPr dirty="0" sz="550" spc="-25" i="1">
                <a:latin typeface="Calibri"/>
                <a:cs typeface="Calibri"/>
              </a:rPr>
              <a:t>l</a:t>
            </a:r>
            <a:r>
              <a:rPr dirty="0" sz="550" spc="-25">
                <a:latin typeface="Tahoma"/>
                <a:cs typeface="Tahoma"/>
              </a:rPr>
              <a:t>+</a:t>
            </a:r>
            <a:r>
              <a:rPr dirty="0" sz="550" spc="-2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602506" y="5976437"/>
            <a:ext cx="1981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0" i="1">
                <a:latin typeface="Calibri"/>
                <a:cs typeface="Calibri"/>
              </a:rPr>
              <a:t>  </a:t>
            </a:r>
            <a:r>
              <a:rPr dirty="0" sz="550" spc="-50" i="1">
                <a:latin typeface="Calibri"/>
                <a:cs typeface="Calibri"/>
              </a:rPr>
              <a:t>q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180788" y="5894889"/>
            <a:ext cx="316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80" i="1">
                <a:latin typeface="Calibri"/>
                <a:cs typeface="Calibri"/>
              </a:rPr>
              <a:t>L</a:t>
            </a:r>
            <a:r>
              <a:rPr dirty="0" sz="550" spc="80">
                <a:latin typeface="Cambria"/>
                <a:cs typeface="Cambria"/>
              </a:rPr>
              <a:t>−</a:t>
            </a:r>
            <a:r>
              <a:rPr dirty="0" sz="550" spc="80">
                <a:latin typeface="Calibri"/>
                <a:cs typeface="Calibri"/>
              </a:rPr>
              <a:t>1</a:t>
            </a:r>
            <a:r>
              <a:rPr dirty="0" sz="550" spc="350">
                <a:latin typeface="Calibri"/>
                <a:cs typeface="Calibri"/>
              </a:rPr>
              <a:t>  </a:t>
            </a: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74413" y="5976437"/>
            <a:ext cx="33909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6065" algn="l"/>
              </a:tabLst>
            </a:pPr>
            <a:r>
              <a:rPr dirty="0" sz="550" spc="-50" i="1">
                <a:latin typeface="Calibri"/>
                <a:cs typeface="Calibri"/>
              </a:rPr>
              <a:t>n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m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067296" y="5902061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813050" algn="l"/>
                <a:tab pos="3265804" algn="l"/>
              </a:tabLst>
            </a:pP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-70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-60">
                <a:latin typeface="Cambria"/>
                <a:cs typeface="Cambria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-60">
                <a:latin typeface="Cambria"/>
                <a:cs typeface="Cambria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7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240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resulting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067296" y="6050104"/>
            <a:ext cx="6337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137360" y="6292903"/>
            <a:ext cx="3079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295">
                <a:latin typeface="Cambria"/>
                <a:cs typeface="Cambria"/>
              </a:rPr>
              <a:t>”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484858" y="6215944"/>
            <a:ext cx="1714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710332" y="6199877"/>
            <a:ext cx="2578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30" i="1">
                <a:latin typeface="Calibri"/>
                <a:cs typeface="Calibri"/>
              </a:rPr>
              <a:t>a</a:t>
            </a:r>
            <a:r>
              <a:rPr dirty="0" baseline="35353" sz="825" spc="44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985582" y="6156260"/>
            <a:ext cx="355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-30" i="1">
                <a:latin typeface="Times New Roman"/>
                <a:cs typeface="Times New Roman"/>
              </a:rPr>
              <a:t> </a:t>
            </a:r>
            <a:r>
              <a:rPr dirty="0" baseline="-22875" sz="1275" spc="89" i="1">
                <a:latin typeface="Calibri"/>
                <a:cs typeface="Calibri"/>
              </a:rPr>
              <a:t>a</a:t>
            </a:r>
            <a:r>
              <a:rPr dirty="0" sz="550" spc="60" i="1">
                <a:latin typeface="Calibri"/>
                <a:cs typeface="Calibri"/>
              </a:rPr>
              <a:t>L</a:t>
            </a:r>
            <a:r>
              <a:rPr dirty="0" sz="550" spc="60">
                <a:latin typeface="Cambria"/>
                <a:cs typeface="Cambria"/>
              </a:rPr>
              <a:t>−</a:t>
            </a:r>
            <a:r>
              <a:rPr dirty="0" sz="550" spc="6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460485" y="6274248"/>
            <a:ext cx="861694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6084" algn="l"/>
                <a:tab pos="701675" algn="l"/>
              </a:tabLst>
            </a:pPr>
            <a:r>
              <a:rPr dirty="0" u="sng" sz="5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5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</a:t>
            </a:r>
            <a:r>
              <a:rPr dirty="0" u="sng" sz="5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5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u="sng" sz="5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435085" y="6344071"/>
            <a:ext cx="90614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16339" sz="1275" i="1">
                <a:latin typeface="Times New Roman"/>
                <a:cs typeface="Times New Roman"/>
              </a:rPr>
              <a:t>∂</a:t>
            </a:r>
            <a:r>
              <a:rPr dirty="0" baseline="-16339" sz="1275" spc="-30" i="1">
                <a:latin typeface="Times New Roman"/>
                <a:cs typeface="Times New Roman"/>
              </a:rPr>
              <a:t> </a:t>
            </a:r>
            <a:r>
              <a:rPr dirty="0" baseline="-16339" sz="1275" spc="97" i="1">
                <a:latin typeface="Calibri"/>
                <a:cs typeface="Calibri"/>
              </a:rPr>
              <a:t>a</a:t>
            </a:r>
            <a:r>
              <a:rPr dirty="0" sz="550" spc="65" i="1">
                <a:latin typeface="Calibri"/>
                <a:cs typeface="Calibri"/>
              </a:rPr>
              <a:t>L</a:t>
            </a:r>
            <a:r>
              <a:rPr dirty="0" sz="550" spc="300" i="1">
                <a:latin typeface="Calibri"/>
                <a:cs typeface="Calibri"/>
              </a:rPr>
              <a:t> </a:t>
            </a:r>
            <a:r>
              <a:rPr dirty="0" baseline="-16339" sz="1275" i="1">
                <a:latin typeface="Times New Roman"/>
                <a:cs typeface="Times New Roman"/>
              </a:rPr>
              <a:t>∂</a:t>
            </a:r>
            <a:r>
              <a:rPr dirty="0" baseline="-16339" sz="1275" spc="-22" i="1">
                <a:latin typeface="Times New Roman"/>
                <a:cs typeface="Times New Roman"/>
              </a:rPr>
              <a:t> </a:t>
            </a:r>
            <a:r>
              <a:rPr dirty="0" baseline="-16339" sz="1275" spc="120" i="1">
                <a:latin typeface="Calibri"/>
                <a:cs typeface="Calibri"/>
              </a:rPr>
              <a:t>a</a:t>
            </a:r>
            <a:r>
              <a:rPr dirty="0" sz="550" spc="80" i="1">
                <a:latin typeface="Calibri"/>
                <a:cs typeface="Calibri"/>
              </a:rPr>
              <a:t>L</a:t>
            </a:r>
            <a:r>
              <a:rPr dirty="0" sz="550" spc="80">
                <a:latin typeface="Cambria"/>
                <a:cs typeface="Cambria"/>
              </a:rPr>
              <a:t>−</a:t>
            </a:r>
            <a:r>
              <a:rPr dirty="0" sz="550" spc="80">
                <a:latin typeface="Calibri"/>
                <a:cs typeface="Calibri"/>
              </a:rPr>
              <a:t>1</a:t>
            </a:r>
            <a:r>
              <a:rPr dirty="0" sz="550" spc="165">
                <a:latin typeface="Calibri"/>
                <a:cs typeface="Calibri"/>
              </a:rPr>
              <a:t> </a:t>
            </a:r>
            <a:r>
              <a:rPr dirty="0" baseline="-16339" sz="1275" i="1">
                <a:latin typeface="Times New Roman"/>
                <a:cs typeface="Times New Roman"/>
              </a:rPr>
              <a:t>∂</a:t>
            </a:r>
            <a:r>
              <a:rPr dirty="0" baseline="-16339" sz="1275" spc="-22" i="1">
                <a:latin typeface="Times New Roman"/>
                <a:cs typeface="Times New Roman"/>
              </a:rPr>
              <a:t> </a:t>
            </a:r>
            <a:r>
              <a:rPr dirty="0" baseline="-16339" sz="1275" spc="89" i="1">
                <a:latin typeface="Calibri"/>
                <a:cs typeface="Calibri"/>
              </a:rPr>
              <a:t>a</a:t>
            </a:r>
            <a:r>
              <a:rPr dirty="0" sz="550" spc="60" i="1">
                <a:latin typeface="Calibri"/>
                <a:cs typeface="Calibri"/>
              </a:rPr>
              <a:t>L</a:t>
            </a:r>
            <a:r>
              <a:rPr dirty="0" sz="550" spc="60">
                <a:latin typeface="Cambria"/>
                <a:cs typeface="Cambria"/>
              </a:rPr>
              <a:t>−</a:t>
            </a:r>
            <a:r>
              <a:rPr dirty="0" sz="550" spc="6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3491445" y="6383337"/>
            <a:ext cx="537845" cy="0"/>
          </a:xfrm>
          <a:custGeom>
            <a:avLst/>
            <a:gdLst/>
            <a:ahLst/>
            <a:cxnLst/>
            <a:rect l="l" t="t" r="r" b="b"/>
            <a:pathLst>
              <a:path w="537845" h="0">
                <a:moveTo>
                  <a:pt x="0" y="0"/>
                </a:moveTo>
                <a:lnTo>
                  <a:pt x="267157" y="0"/>
                </a:lnTo>
              </a:path>
              <a:path w="537845" h="0">
                <a:moveTo>
                  <a:pt x="297522" y="0"/>
                </a:moveTo>
                <a:lnTo>
                  <a:pt x="53757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 txBox="1"/>
          <p:nvPr/>
        </p:nvSpPr>
        <p:spPr>
          <a:xfrm>
            <a:off x="3453345" y="6140945"/>
            <a:ext cx="5676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22" i="1">
                <a:latin typeface="Times New Roman"/>
                <a:cs typeface="Times New Roman"/>
              </a:rPr>
              <a:t> </a:t>
            </a:r>
            <a:r>
              <a:rPr dirty="0" baseline="-22875" sz="1275" i="1">
                <a:latin typeface="Calibri"/>
                <a:cs typeface="Calibri"/>
              </a:rPr>
              <a:t>a</a:t>
            </a:r>
            <a:r>
              <a:rPr dirty="0" sz="550" i="1">
                <a:latin typeface="Calibri"/>
                <a:cs typeface="Calibri"/>
              </a:rPr>
              <a:t>l</a:t>
            </a:r>
            <a:r>
              <a:rPr dirty="0" sz="550">
                <a:latin typeface="Tahoma"/>
                <a:cs typeface="Tahoma"/>
              </a:rPr>
              <a:t>+</a:t>
            </a:r>
            <a:r>
              <a:rPr dirty="0" sz="550">
                <a:latin typeface="Calibri"/>
                <a:cs typeface="Calibri"/>
              </a:rPr>
              <a:t>1</a:t>
            </a:r>
            <a:r>
              <a:rPr dirty="0" sz="550" spc="204">
                <a:latin typeface="Calibri"/>
                <a:cs typeface="Calibri"/>
              </a:rPr>
              <a:t>  </a:t>
            </a: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22" i="1">
                <a:latin typeface="Times New Roman"/>
                <a:cs typeface="Times New Roman"/>
              </a:rPr>
              <a:t> </a:t>
            </a:r>
            <a:r>
              <a:rPr dirty="0" baseline="-22875" sz="1275" spc="-37" i="1">
                <a:latin typeface="Calibri"/>
                <a:cs typeface="Calibri"/>
              </a:rPr>
              <a:t>a</a:t>
            </a:r>
            <a:r>
              <a:rPr dirty="0" sz="550" spc="-25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499091" y="6380546"/>
            <a:ext cx="5073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382" i="1">
                <a:latin typeface="Calibri"/>
                <a:cs typeface="Calibri"/>
              </a:rPr>
              <a:t>  </a:t>
            </a:r>
            <a:r>
              <a:rPr dirty="0" sz="850" i="1">
                <a:latin typeface="Times New Roman"/>
                <a:cs typeface="Times New Roman"/>
              </a:rPr>
              <a:t>∂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35353" sz="825" spc="-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2599282" y="6454475"/>
            <a:ext cx="14344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47015" algn="l"/>
                <a:tab pos="564515" algn="l"/>
                <a:tab pos="1083310" algn="l"/>
                <a:tab pos="1358900" algn="l"/>
              </a:tabLst>
            </a:pPr>
            <a:r>
              <a:rPr dirty="0" baseline="5050" sz="825" spc="-75" i="1">
                <a:latin typeface="Calibri"/>
                <a:cs typeface="Calibri"/>
              </a:rPr>
              <a:t>m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n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p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216170" y="6367277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288533" y="6258943"/>
            <a:ext cx="2175510" cy="1911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39725">
              <a:lnSpc>
                <a:spcPts val="455"/>
              </a:lnSpc>
              <a:spcBef>
                <a:spcPts val="120"/>
              </a:spcBef>
              <a:tabLst>
                <a:tab pos="678180" algn="l"/>
              </a:tabLst>
            </a:pPr>
            <a:r>
              <a:rPr dirty="0" sz="550" spc="-50" i="1">
                <a:latin typeface="Calibri"/>
                <a:cs typeface="Calibri"/>
              </a:rPr>
              <a:t>q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50800">
              <a:lnSpc>
                <a:spcPts val="815"/>
              </a:lnSpc>
              <a:tabLst>
                <a:tab pos="755015" algn="l"/>
                <a:tab pos="1807210" algn="l"/>
              </a:tabLst>
            </a:pP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85" i="1">
                <a:latin typeface="Arial"/>
                <a:cs typeface="Arial"/>
              </a:rPr>
              <a:t>∆</a:t>
            </a:r>
            <a:r>
              <a:rPr dirty="0" sz="850" spc="85" i="1">
                <a:latin typeface="Calibri"/>
                <a:cs typeface="Calibri"/>
              </a:rPr>
              <a:t>w</a:t>
            </a:r>
            <a:r>
              <a:rPr dirty="0" baseline="35353" sz="825" spc="127" i="1">
                <a:latin typeface="Calibri"/>
                <a:cs typeface="Calibri"/>
              </a:rPr>
              <a:t>l</a:t>
            </a:r>
            <a:r>
              <a:rPr dirty="0" baseline="35353" sz="825" spc="532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(2.27)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067296" y="6629085"/>
            <a:ext cx="4368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picked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15" i="1">
                <a:latin typeface="Times New Roman"/>
                <a:cs typeface="Times New Roman"/>
              </a:rPr>
              <a:t> </a:t>
            </a:r>
            <a:r>
              <a:rPr dirty="0" sz="850" spc="75" i="1">
                <a:latin typeface="Calibri"/>
                <a:cs typeface="Calibri"/>
              </a:rPr>
              <a:t>a</a:t>
            </a:r>
            <a:r>
              <a:rPr dirty="0" sz="850" spc="75" i="1">
                <a:latin typeface="Times New Roman"/>
                <a:cs typeface="Times New Roman"/>
              </a:rPr>
              <a:t>/∂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type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additional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passed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through,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041896" y="6777116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61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end.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represents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0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due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067296" y="6851487"/>
            <a:ext cx="4345940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036955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m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along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paths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041896" y="7073191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457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propagate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affect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067296" y="7147552"/>
            <a:ext cx="4345940" cy="3784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125855">
              <a:lnSpc>
                <a:spcPts val="615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path.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total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plausible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paths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i.e.,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006461" y="7776543"/>
            <a:ext cx="3079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295">
                <a:latin typeface="Cambria"/>
                <a:cs typeface="Cambria"/>
              </a:rPr>
              <a:t>”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2360994" y="7656448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2591384" y="7699578"/>
            <a:ext cx="3009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2866631" y="7683517"/>
            <a:ext cx="4381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87655" algn="l"/>
              </a:tabLst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011803" y="7676330"/>
            <a:ext cx="43497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7655" algn="l"/>
              </a:tabLst>
            </a:pPr>
            <a:r>
              <a:rPr dirty="0" sz="550" spc="1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55" i="1">
                <a:latin typeface="Calibri"/>
                <a:cs typeface="Calibri"/>
              </a:rPr>
              <a:t>L</a:t>
            </a:r>
            <a:r>
              <a:rPr dirty="0" sz="550" spc="55">
                <a:latin typeface="Cambria"/>
                <a:cs typeface="Cambria"/>
              </a:rPr>
              <a:t>−</a:t>
            </a:r>
            <a:r>
              <a:rPr dirty="0" sz="550" spc="5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005428" y="7757893"/>
            <a:ext cx="44767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7655" algn="l"/>
              </a:tabLst>
            </a:pPr>
            <a:r>
              <a:rPr dirty="0" u="sng" sz="5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</a:t>
            </a:r>
            <a:r>
              <a:rPr dirty="0" u="sng" sz="550" spc="48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u="sng" sz="5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u="sng" sz="5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565984" y="7827710"/>
            <a:ext cx="90614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16339" sz="1275" i="1">
                <a:latin typeface="Times New Roman"/>
                <a:cs typeface="Times New Roman"/>
              </a:rPr>
              <a:t>∂</a:t>
            </a:r>
            <a:r>
              <a:rPr dirty="0" baseline="-16339" sz="1275" spc="-30" i="1">
                <a:latin typeface="Times New Roman"/>
                <a:cs typeface="Times New Roman"/>
              </a:rPr>
              <a:t> </a:t>
            </a:r>
            <a:r>
              <a:rPr dirty="0" baseline="-16339" sz="1275" spc="97" i="1">
                <a:latin typeface="Calibri"/>
                <a:cs typeface="Calibri"/>
              </a:rPr>
              <a:t>a</a:t>
            </a:r>
            <a:r>
              <a:rPr dirty="0" sz="550" spc="65" i="1">
                <a:latin typeface="Calibri"/>
                <a:cs typeface="Calibri"/>
              </a:rPr>
              <a:t>L</a:t>
            </a:r>
            <a:r>
              <a:rPr dirty="0" sz="550" spc="300" i="1">
                <a:latin typeface="Calibri"/>
                <a:cs typeface="Calibri"/>
              </a:rPr>
              <a:t> </a:t>
            </a:r>
            <a:r>
              <a:rPr dirty="0" baseline="-16339" sz="1275" i="1">
                <a:latin typeface="Times New Roman"/>
                <a:cs typeface="Times New Roman"/>
              </a:rPr>
              <a:t>∂</a:t>
            </a:r>
            <a:r>
              <a:rPr dirty="0" baseline="-16339" sz="1275" spc="-22" i="1">
                <a:latin typeface="Times New Roman"/>
                <a:cs typeface="Times New Roman"/>
              </a:rPr>
              <a:t> </a:t>
            </a:r>
            <a:r>
              <a:rPr dirty="0" baseline="-16339" sz="1275" spc="120" i="1">
                <a:latin typeface="Calibri"/>
                <a:cs typeface="Calibri"/>
              </a:rPr>
              <a:t>a</a:t>
            </a:r>
            <a:r>
              <a:rPr dirty="0" sz="550" spc="80" i="1">
                <a:latin typeface="Calibri"/>
                <a:cs typeface="Calibri"/>
              </a:rPr>
              <a:t>L</a:t>
            </a:r>
            <a:r>
              <a:rPr dirty="0" sz="550" spc="80">
                <a:latin typeface="Cambria"/>
                <a:cs typeface="Cambria"/>
              </a:rPr>
              <a:t>−</a:t>
            </a:r>
            <a:r>
              <a:rPr dirty="0" sz="550" spc="80">
                <a:latin typeface="Calibri"/>
                <a:cs typeface="Calibri"/>
              </a:rPr>
              <a:t>1</a:t>
            </a:r>
            <a:r>
              <a:rPr dirty="0" sz="550" spc="165">
                <a:latin typeface="Calibri"/>
                <a:cs typeface="Calibri"/>
              </a:rPr>
              <a:t> </a:t>
            </a:r>
            <a:r>
              <a:rPr dirty="0" baseline="-16339" sz="1275" i="1">
                <a:latin typeface="Times New Roman"/>
                <a:cs typeface="Times New Roman"/>
              </a:rPr>
              <a:t>∂</a:t>
            </a:r>
            <a:r>
              <a:rPr dirty="0" baseline="-16339" sz="1275" spc="-22" i="1">
                <a:latin typeface="Times New Roman"/>
                <a:cs typeface="Times New Roman"/>
              </a:rPr>
              <a:t> </a:t>
            </a:r>
            <a:r>
              <a:rPr dirty="0" baseline="-16339" sz="1275" spc="89" i="1">
                <a:latin typeface="Calibri"/>
                <a:cs typeface="Calibri"/>
              </a:rPr>
              <a:t>a</a:t>
            </a:r>
            <a:r>
              <a:rPr dirty="0" sz="550" spc="60" i="1">
                <a:latin typeface="Calibri"/>
                <a:cs typeface="Calibri"/>
              </a:rPr>
              <a:t>L</a:t>
            </a:r>
            <a:r>
              <a:rPr dirty="0" sz="550" spc="60">
                <a:latin typeface="Cambria"/>
                <a:cs typeface="Cambria"/>
              </a:rPr>
              <a:t>−</a:t>
            </a:r>
            <a:r>
              <a:rPr dirty="0" sz="550" spc="6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316226" y="7935692"/>
            <a:ext cx="10293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6084" algn="l"/>
                <a:tab pos="661035" algn="l"/>
                <a:tab pos="978535" algn="l"/>
              </a:tabLst>
            </a:pPr>
            <a:r>
              <a:rPr dirty="0" sz="550" spc="-10" i="1">
                <a:latin typeface="Calibri"/>
                <a:cs typeface="Calibri"/>
              </a:rPr>
              <a:t>mnp</a:t>
            </a:r>
            <a:r>
              <a:rPr dirty="0" sz="550" spc="-10">
                <a:latin typeface="Calibri"/>
                <a:cs typeface="Calibri"/>
              </a:rPr>
              <a:t>...</a:t>
            </a:r>
            <a:r>
              <a:rPr dirty="0" sz="550" spc="-10" i="1">
                <a:latin typeface="Calibri"/>
                <a:cs typeface="Calibri"/>
              </a:rPr>
              <a:t>q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m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n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p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457532" y="7776543"/>
            <a:ext cx="1473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584240" y="7624584"/>
            <a:ext cx="5676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22" i="1">
                <a:latin typeface="Times New Roman"/>
                <a:cs typeface="Times New Roman"/>
              </a:rPr>
              <a:t> </a:t>
            </a:r>
            <a:r>
              <a:rPr dirty="0" baseline="-22875" sz="1275" i="1">
                <a:latin typeface="Calibri"/>
                <a:cs typeface="Calibri"/>
              </a:rPr>
              <a:t>a</a:t>
            </a:r>
            <a:r>
              <a:rPr dirty="0" sz="550" i="1">
                <a:latin typeface="Calibri"/>
                <a:cs typeface="Calibri"/>
              </a:rPr>
              <a:t>l</a:t>
            </a:r>
            <a:r>
              <a:rPr dirty="0" sz="550">
                <a:latin typeface="Tahoma"/>
                <a:cs typeface="Tahoma"/>
              </a:rPr>
              <a:t>+</a:t>
            </a:r>
            <a:r>
              <a:rPr dirty="0" sz="550">
                <a:latin typeface="Calibri"/>
                <a:cs typeface="Calibri"/>
              </a:rPr>
              <a:t>1</a:t>
            </a:r>
            <a:r>
              <a:rPr dirty="0" sz="550" spc="204">
                <a:latin typeface="Calibri"/>
                <a:cs typeface="Calibri"/>
              </a:rPr>
              <a:t>  </a:t>
            </a: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22" i="1">
                <a:latin typeface="Times New Roman"/>
                <a:cs typeface="Times New Roman"/>
              </a:rPr>
              <a:t> </a:t>
            </a:r>
            <a:r>
              <a:rPr dirty="0" baseline="-22875" sz="1275" spc="-37" i="1">
                <a:latin typeface="Calibri"/>
                <a:cs typeface="Calibri"/>
              </a:rPr>
              <a:t>a</a:t>
            </a:r>
            <a:r>
              <a:rPr dirty="0" sz="550" spc="-25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609644" y="7742587"/>
            <a:ext cx="5632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88315" algn="l"/>
              </a:tabLst>
            </a:pPr>
            <a:r>
              <a:rPr dirty="0" u="sng" sz="550" spc="40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sz="5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u="sng" sz="5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5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j</a:t>
            </a:r>
            <a:r>
              <a:rPr dirty="0" u="sng" sz="5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629990" y="7864182"/>
            <a:ext cx="5073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382" i="1">
                <a:latin typeface="Calibri"/>
                <a:cs typeface="Calibri"/>
              </a:rPr>
              <a:t>  </a:t>
            </a:r>
            <a:r>
              <a:rPr dirty="0" sz="850" i="1">
                <a:latin typeface="Times New Roman"/>
                <a:cs typeface="Times New Roman"/>
              </a:rPr>
              <a:t>∂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35353" sz="825" spc="-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3801474" y="7938113"/>
            <a:ext cx="3632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765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337048" y="7766524"/>
            <a:ext cx="457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4347069" y="7850919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162398" y="7776543"/>
            <a:ext cx="3111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sz="850" spc="44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083401" y="7776543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(2.28)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81" name="object 81"/>
          <p:cNvGrpSpPr/>
          <p:nvPr/>
        </p:nvGrpSpPr>
        <p:grpSpPr>
          <a:xfrm>
            <a:off x="5778788" y="1331973"/>
            <a:ext cx="344170" cy="457200"/>
            <a:chOff x="5778788" y="1331973"/>
            <a:chExt cx="344170" cy="457200"/>
          </a:xfrm>
        </p:grpSpPr>
        <p:sp>
          <p:nvSpPr>
            <p:cNvPr id="82" name="object 82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" name="object 84"/>
          <p:cNvSpPr txBox="1"/>
          <p:nvPr/>
        </p:nvSpPr>
        <p:spPr>
          <a:xfrm>
            <a:off x="5876620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606290" cy="8667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56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240029" marR="5080" indent="-127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summed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intermediate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along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path.</a:t>
            </a:r>
            <a:r>
              <a:rPr dirty="0" sz="850" spc="20">
                <a:latin typeface="Calibri"/>
                <a:cs typeface="Calibri"/>
              </a:rPr>
              <a:t> Comparing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  <a:hlinkClick r:id="rId2" action="ppaction://hlinksldjump"/>
              </a:rPr>
              <a:t>(2.23)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739645" y="1408930"/>
            <a:ext cx="2660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1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14245" y="1573532"/>
            <a:ext cx="25590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35353" sz="825" spc="-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020291" y="1485887"/>
            <a:ext cx="111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178326" y="1365797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408732" y="1408928"/>
            <a:ext cx="3009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683966" y="1392863"/>
            <a:ext cx="4381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87655" algn="l"/>
              </a:tabLst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829142" y="1385677"/>
            <a:ext cx="43497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7655" algn="l"/>
              </a:tabLst>
            </a:pPr>
            <a:r>
              <a:rPr dirty="0" sz="550" spc="1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55" i="1">
                <a:latin typeface="Calibri"/>
                <a:cs typeface="Calibri"/>
              </a:rPr>
              <a:t>L</a:t>
            </a:r>
            <a:r>
              <a:rPr dirty="0" sz="550" spc="55">
                <a:latin typeface="Cambria"/>
                <a:cs typeface="Cambria"/>
              </a:rPr>
              <a:t>−</a:t>
            </a:r>
            <a:r>
              <a:rPr dirty="0" sz="550" spc="55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822763" y="1467235"/>
            <a:ext cx="44767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7655" algn="l"/>
              </a:tabLst>
            </a:pPr>
            <a:r>
              <a:rPr dirty="0" u="sng" sz="5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</a:t>
            </a:r>
            <a:r>
              <a:rPr dirty="0" u="sng" sz="550" spc="48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u="sng" sz="5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u="sng" sz="5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383332" y="1537043"/>
            <a:ext cx="90614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16339" sz="1275" i="1">
                <a:latin typeface="Times New Roman"/>
                <a:cs typeface="Times New Roman"/>
              </a:rPr>
              <a:t>∂</a:t>
            </a:r>
            <a:r>
              <a:rPr dirty="0" baseline="-16339" sz="1275" spc="-30" i="1">
                <a:latin typeface="Times New Roman"/>
                <a:cs typeface="Times New Roman"/>
              </a:rPr>
              <a:t> </a:t>
            </a:r>
            <a:r>
              <a:rPr dirty="0" baseline="-16339" sz="1275" spc="97" i="1">
                <a:latin typeface="Calibri"/>
                <a:cs typeface="Calibri"/>
              </a:rPr>
              <a:t>a</a:t>
            </a:r>
            <a:r>
              <a:rPr dirty="0" sz="550" spc="65" i="1">
                <a:latin typeface="Calibri"/>
                <a:cs typeface="Calibri"/>
              </a:rPr>
              <a:t>L</a:t>
            </a:r>
            <a:r>
              <a:rPr dirty="0" sz="550" spc="300" i="1">
                <a:latin typeface="Calibri"/>
                <a:cs typeface="Calibri"/>
              </a:rPr>
              <a:t> </a:t>
            </a:r>
            <a:r>
              <a:rPr dirty="0" baseline="-16339" sz="1275" i="1">
                <a:latin typeface="Times New Roman"/>
                <a:cs typeface="Times New Roman"/>
              </a:rPr>
              <a:t>∂</a:t>
            </a:r>
            <a:r>
              <a:rPr dirty="0" baseline="-16339" sz="1275" spc="-22" i="1">
                <a:latin typeface="Times New Roman"/>
                <a:cs typeface="Times New Roman"/>
              </a:rPr>
              <a:t> </a:t>
            </a:r>
            <a:r>
              <a:rPr dirty="0" baseline="-16339" sz="1275" spc="120" i="1">
                <a:latin typeface="Calibri"/>
                <a:cs typeface="Calibri"/>
              </a:rPr>
              <a:t>a</a:t>
            </a:r>
            <a:r>
              <a:rPr dirty="0" sz="550" spc="80" i="1">
                <a:latin typeface="Calibri"/>
                <a:cs typeface="Calibri"/>
              </a:rPr>
              <a:t>L</a:t>
            </a:r>
            <a:r>
              <a:rPr dirty="0" sz="550" spc="80">
                <a:latin typeface="Cambria"/>
                <a:cs typeface="Cambria"/>
              </a:rPr>
              <a:t>−</a:t>
            </a:r>
            <a:r>
              <a:rPr dirty="0" sz="550" spc="80">
                <a:latin typeface="Calibri"/>
                <a:cs typeface="Calibri"/>
              </a:rPr>
              <a:t>1</a:t>
            </a:r>
            <a:r>
              <a:rPr dirty="0" sz="550" spc="165">
                <a:latin typeface="Calibri"/>
                <a:cs typeface="Calibri"/>
              </a:rPr>
              <a:t> </a:t>
            </a:r>
            <a:r>
              <a:rPr dirty="0" baseline="-16339" sz="1275" i="1">
                <a:latin typeface="Times New Roman"/>
                <a:cs typeface="Times New Roman"/>
              </a:rPr>
              <a:t>∂</a:t>
            </a:r>
            <a:r>
              <a:rPr dirty="0" baseline="-16339" sz="1275" spc="-22" i="1">
                <a:latin typeface="Times New Roman"/>
                <a:cs typeface="Times New Roman"/>
              </a:rPr>
              <a:t> </a:t>
            </a:r>
            <a:r>
              <a:rPr dirty="0" baseline="-16339" sz="1275" spc="89" i="1">
                <a:latin typeface="Calibri"/>
                <a:cs typeface="Calibri"/>
              </a:rPr>
              <a:t>a</a:t>
            </a:r>
            <a:r>
              <a:rPr dirty="0" sz="550" spc="60" i="1">
                <a:latin typeface="Calibri"/>
                <a:cs typeface="Calibri"/>
              </a:rPr>
              <a:t>L</a:t>
            </a:r>
            <a:r>
              <a:rPr dirty="0" sz="550" spc="60">
                <a:latin typeface="Cambria"/>
                <a:cs typeface="Cambria"/>
              </a:rPr>
              <a:t>−</a:t>
            </a:r>
            <a:r>
              <a:rPr dirty="0" sz="550" spc="6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274883" y="1485891"/>
            <a:ext cx="1473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401581" y="1333932"/>
            <a:ext cx="5676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22" i="1">
                <a:latin typeface="Times New Roman"/>
                <a:cs typeface="Times New Roman"/>
              </a:rPr>
              <a:t> </a:t>
            </a:r>
            <a:r>
              <a:rPr dirty="0" baseline="-22875" sz="1275" i="1">
                <a:latin typeface="Calibri"/>
                <a:cs typeface="Calibri"/>
              </a:rPr>
              <a:t>a</a:t>
            </a:r>
            <a:r>
              <a:rPr dirty="0" sz="550" i="1">
                <a:latin typeface="Calibri"/>
                <a:cs typeface="Calibri"/>
              </a:rPr>
              <a:t>l</a:t>
            </a:r>
            <a:r>
              <a:rPr dirty="0" sz="550">
                <a:latin typeface="Tahoma"/>
                <a:cs typeface="Tahoma"/>
              </a:rPr>
              <a:t>+</a:t>
            </a:r>
            <a:r>
              <a:rPr dirty="0" sz="550">
                <a:latin typeface="Calibri"/>
                <a:cs typeface="Calibri"/>
              </a:rPr>
              <a:t>1</a:t>
            </a:r>
            <a:r>
              <a:rPr dirty="0" sz="550" spc="204">
                <a:latin typeface="Calibri"/>
                <a:cs typeface="Calibri"/>
              </a:rPr>
              <a:t>  </a:t>
            </a:r>
            <a:r>
              <a:rPr dirty="0" baseline="-22875" sz="1275" i="1">
                <a:latin typeface="Times New Roman"/>
                <a:cs typeface="Times New Roman"/>
              </a:rPr>
              <a:t>∂</a:t>
            </a:r>
            <a:r>
              <a:rPr dirty="0" baseline="-22875" sz="1275" spc="22" i="1">
                <a:latin typeface="Times New Roman"/>
                <a:cs typeface="Times New Roman"/>
              </a:rPr>
              <a:t> </a:t>
            </a:r>
            <a:r>
              <a:rPr dirty="0" baseline="-22875" sz="1275" spc="-37" i="1">
                <a:latin typeface="Calibri"/>
                <a:cs typeface="Calibri"/>
              </a:rPr>
              <a:t>a</a:t>
            </a:r>
            <a:r>
              <a:rPr dirty="0" sz="550" spc="-25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426980" y="1451930"/>
            <a:ext cx="5632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88315" algn="l"/>
              </a:tabLst>
            </a:pPr>
            <a:r>
              <a:rPr dirty="0" u="sng" sz="550" spc="40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sz="5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u="sng" sz="5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5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j</a:t>
            </a:r>
            <a:r>
              <a:rPr dirty="0" u="sng" sz="5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447338" y="1573532"/>
            <a:ext cx="5073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382" i="1">
                <a:latin typeface="Calibri"/>
                <a:cs typeface="Calibri"/>
              </a:rPr>
              <a:t>  </a:t>
            </a:r>
            <a:r>
              <a:rPr dirty="0" sz="850" i="1">
                <a:latin typeface="Times New Roman"/>
                <a:cs typeface="Times New Roman"/>
              </a:rPr>
              <a:t>∂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35353" sz="825" spc="-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909027" y="1647462"/>
            <a:ext cx="207327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6854" algn="l"/>
                <a:tab pos="650875" algn="l"/>
                <a:tab pos="885825" algn="l"/>
                <a:tab pos="1203325" algn="l"/>
                <a:tab pos="1722120" algn="l"/>
                <a:tab pos="1997075" algn="l"/>
              </a:tabLst>
            </a:pPr>
            <a:r>
              <a:rPr dirty="0" sz="550" spc="-25" i="1">
                <a:latin typeface="Calibri"/>
                <a:cs typeface="Calibri"/>
              </a:rPr>
              <a:t>jk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10" i="1">
                <a:latin typeface="Calibri"/>
                <a:cs typeface="Calibri"/>
              </a:rPr>
              <a:t>mnp</a:t>
            </a:r>
            <a:r>
              <a:rPr dirty="0" sz="550" spc="-10">
                <a:latin typeface="Calibri"/>
                <a:cs typeface="Calibri"/>
              </a:rPr>
              <a:t>...</a:t>
            </a:r>
            <a:r>
              <a:rPr dirty="0" sz="550" spc="-10" i="1">
                <a:latin typeface="Calibri"/>
                <a:cs typeface="Calibri"/>
              </a:rPr>
              <a:t>q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m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n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p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979746" y="1485887"/>
            <a:ext cx="558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723445" y="1485887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(2.29)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7301" y="1871847"/>
            <a:ext cx="4349115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3" action="ppaction://hlinksldjump"/>
              </a:rPr>
              <a:t>2.29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complicated.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nice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intuitive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interpretation.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 </a:t>
            </a:r>
            <a:r>
              <a:rPr dirty="0" sz="850">
                <a:latin typeface="Calibri"/>
                <a:cs typeface="Calibri"/>
              </a:rPr>
              <a:t>respect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 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edge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associated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rate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neuron’s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edge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factor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53390" y="2703261"/>
            <a:ext cx="342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6700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81901" y="2628889"/>
            <a:ext cx="44240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30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/∂</a:t>
            </a:r>
            <a:r>
              <a:rPr dirty="0" sz="850" spc="4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277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along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path.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76657" y="2792440"/>
            <a:ext cx="44018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total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412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paths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07301" y="2866816"/>
            <a:ext cx="3941445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420370">
              <a:lnSpc>
                <a:spcPts val="615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 spc="10">
                <a:latin typeface="Calibri"/>
                <a:cs typeface="Calibri"/>
              </a:rPr>
              <a:t>initial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procedure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illustrated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path: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24" name="object 2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79779" y="3215055"/>
            <a:ext cx="3600450" cy="1587500"/>
          </a:xfrm>
          <a:prstGeom prst="rect">
            <a:avLst/>
          </a:prstGeom>
        </p:spPr>
      </p:pic>
      <p:sp>
        <p:nvSpPr>
          <p:cNvPr id="25" name="object 25"/>
          <p:cNvSpPr txBox="1"/>
          <p:nvPr/>
        </p:nvSpPr>
        <p:spPr>
          <a:xfrm>
            <a:off x="699754" y="4882471"/>
            <a:ext cx="4380865" cy="3134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685" marR="5080" indent="-762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what’s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perturb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sketch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individual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 action="ppaction://hlinksldjump"/>
              </a:rPr>
              <a:t>2.29.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calculus.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indices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multiplications.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tedious,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requires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persistence,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r>
              <a:rPr dirty="0" sz="850" spc="20">
                <a:latin typeface="Calibri"/>
                <a:cs typeface="Calibri"/>
              </a:rPr>
              <a:t> extraordinary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insight.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After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simplifying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possible,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discover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algorithm!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20">
                <a:latin typeface="Calibri"/>
                <a:cs typeface="Calibri"/>
              </a:rPr>
              <a:t> think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providing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paths.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slightly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differently,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algorithm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clever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track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perturbations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biases)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propagate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affect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cost.</a:t>
            </a:r>
            <a:endParaRPr sz="850">
              <a:latin typeface="Calibri"/>
              <a:cs typeface="Calibri"/>
            </a:endParaRPr>
          </a:p>
          <a:p>
            <a:pPr algn="just" marL="14604" marR="5080" indent="19494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messy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requires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considerable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challenge,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enjoy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attempting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hope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insight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accomplishing.</a:t>
            </a:r>
            <a:endParaRPr sz="850">
              <a:latin typeface="Calibri"/>
              <a:cs typeface="Calibri"/>
            </a:endParaRPr>
          </a:p>
          <a:p>
            <a:pPr algn="just" marL="19685" marR="18415" indent="18923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mystery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could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discovered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place?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follow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sketched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Unfortunately,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complicated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short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(but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mysterious)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discovered?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-2530" y="1331973"/>
            <a:ext cx="344170" cy="457200"/>
            <a:chOff x="-2530" y="1331973"/>
            <a:chExt cx="344170" cy="457200"/>
          </a:xfrm>
        </p:grpSpPr>
        <p:sp>
          <p:nvSpPr>
            <p:cNvPr id="27" name="object 27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25831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41895" y="368721"/>
            <a:ext cx="4603750" cy="1607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455545">
              <a:lnSpc>
                <a:spcPts val="525"/>
              </a:lnSpc>
              <a:spcBef>
                <a:spcPts val="110"/>
              </a:spcBef>
              <a:tabLst>
                <a:tab pos="4443095" algn="l"/>
              </a:tabLst>
            </a:pPr>
            <a:r>
              <a:rPr dirty="0" sz="850" spc="20">
                <a:latin typeface="Calibri"/>
                <a:cs typeface="Calibri"/>
              </a:rPr>
              <a:t>2.9.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Backpropagation: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picture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57</a:t>
            </a:r>
            <a:endParaRPr sz="850">
              <a:latin typeface="Calibri"/>
              <a:cs typeface="Calibri"/>
            </a:endParaRPr>
          </a:p>
          <a:p>
            <a:pPr algn="r" marR="2279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100" marR="233045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that,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after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several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obvious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simplifications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staring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face.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r>
              <a:rPr dirty="0" sz="850" spc="20">
                <a:latin typeface="Calibri"/>
                <a:cs typeface="Calibri"/>
              </a:rPr>
              <a:t> make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simplifications,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shorter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proof,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write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several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simplifications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jump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repeat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iterations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saw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6</a:t>
            </a:r>
            <a:r>
              <a:rPr dirty="0" baseline="35353" sz="825" spc="5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short,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somewhat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obscure,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signposts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construction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removed!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asking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mystery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origin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work</a:t>
            </a:r>
            <a:r>
              <a:rPr dirty="0" sz="850" spc="20">
                <a:latin typeface="Calibri"/>
                <a:cs typeface="Calibri"/>
              </a:rPr>
              <a:t> simplifying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sketched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section.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79996" y="7437334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18932" y="7445339"/>
            <a:ext cx="4445000" cy="30861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63500" marR="55880" indent="125095">
              <a:lnSpc>
                <a:spcPts val="1000"/>
              </a:lnSpc>
              <a:spcBef>
                <a:spcPts val="145"/>
              </a:spcBef>
            </a:pPr>
            <a:r>
              <a:rPr dirty="0" baseline="30303" sz="825" spc="15">
                <a:latin typeface="Calibri"/>
                <a:cs typeface="Calibri"/>
              </a:rPr>
              <a:t>6</a:t>
            </a:r>
            <a:r>
              <a:rPr dirty="0" sz="750" spc="10">
                <a:latin typeface="Calibri"/>
                <a:cs typeface="Calibri"/>
              </a:rPr>
              <a:t>There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clever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step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required.</a:t>
            </a:r>
            <a:r>
              <a:rPr dirty="0" sz="750" spc="2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Equation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3" action="ppaction://hlinksldjump"/>
              </a:rPr>
              <a:t>2.29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intermediate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variables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activations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like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 i="1">
                <a:latin typeface="Calibri"/>
                <a:cs typeface="Calibri"/>
              </a:rPr>
              <a:t>a</a:t>
            </a:r>
            <a:r>
              <a:rPr dirty="0" baseline="30303" sz="825" spc="15" i="1">
                <a:latin typeface="Calibri"/>
                <a:cs typeface="Calibri"/>
              </a:rPr>
              <a:t>l</a:t>
            </a:r>
            <a:r>
              <a:rPr dirty="0" baseline="30303" sz="825" spc="15">
                <a:latin typeface="Tahoma"/>
                <a:cs typeface="Tahoma"/>
              </a:rPr>
              <a:t>+</a:t>
            </a:r>
            <a:r>
              <a:rPr dirty="0" baseline="30303" sz="825" spc="15">
                <a:latin typeface="Calibri"/>
                <a:cs typeface="Calibri"/>
              </a:rPr>
              <a:t>1</a:t>
            </a:r>
            <a:r>
              <a:rPr dirty="0" sz="750" spc="10">
                <a:latin typeface="Calibri"/>
                <a:cs typeface="Calibri"/>
              </a:rPr>
              <a:t>.</a:t>
            </a:r>
            <a:r>
              <a:rPr dirty="0" sz="750" spc="229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clever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idea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switch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using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weighted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inputs,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like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55" i="1">
                <a:latin typeface="Calibri"/>
                <a:cs typeface="Calibri"/>
              </a:rPr>
              <a:t>z</a:t>
            </a:r>
            <a:r>
              <a:rPr dirty="0" baseline="30303" sz="825" spc="82" i="1">
                <a:latin typeface="Calibri"/>
                <a:cs typeface="Calibri"/>
              </a:rPr>
              <a:t>l</a:t>
            </a:r>
            <a:r>
              <a:rPr dirty="0" baseline="30303" sz="825" spc="82">
                <a:latin typeface="Tahoma"/>
                <a:cs typeface="Tahoma"/>
              </a:rPr>
              <a:t>+</a:t>
            </a:r>
            <a:r>
              <a:rPr dirty="0" baseline="30303" sz="825" spc="82">
                <a:latin typeface="Calibri"/>
                <a:cs typeface="Calibri"/>
              </a:rPr>
              <a:t>1</a:t>
            </a:r>
            <a:r>
              <a:rPr dirty="0" sz="750" spc="55">
                <a:latin typeface="Calibri"/>
                <a:cs typeface="Calibri"/>
              </a:rPr>
              <a:t>,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intermediate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variables.</a:t>
            </a:r>
            <a:r>
              <a:rPr dirty="0" sz="750" spc="24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If</a:t>
            </a:r>
            <a:endParaRPr sz="750">
              <a:latin typeface="Calibri"/>
              <a:cs typeface="Calibri"/>
            </a:endParaRPr>
          </a:p>
          <a:p>
            <a:pPr marL="114300">
              <a:lnSpc>
                <a:spcPts val="175"/>
              </a:lnSpc>
              <a:tabLst>
                <a:tab pos="2831465" algn="l"/>
              </a:tabLst>
            </a:pPr>
            <a:r>
              <a:rPr dirty="0" sz="550" spc="-50" i="1">
                <a:latin typeface="Calibri"/>
                <a:cs typeface="Calibri"/>
              </a:rPr>
              <a:t>q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q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41896" y="7736987"/>
            <a:ext cx="4399280" cy="1422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latin typeface="Calibri"/>
                <a:cs typeface="Calibri"/>
              </a:rPr>
              <a:t>you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don’t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have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idea,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instead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continue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using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activations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 i="1">
                <a:latin typeface="Calibri"/>
                <a:cs typeface="Calibri"/>
              </a:rPr>
              <a:t>a</a:t>
            </a:r>
            <a:r>
              <a:rPr dirty="0" baseline="30303" sz="825" spc="15" i="1">
                <a:latin typeface="Calibri"/>
                <a:cs typeface="Calibri"/>
              </a:rPr>
              <a:t>l</a:t>
            </a:r>
            <a:r>
              <a:rPr dirty="0" baseline="30303" sz="825" spc="15">
                <a:latin typeface="Tahoma"/>
                <a:cs typeface="Tahoma"/>
              </a:rPr>
              <a:t>+</a:t>
            </a:r>
            <a:r>
              <a:rPr dirty="0" baseline="30303" sz="825" spc="15">
                <a:latin typeface="Calibri"/>
                <a:cs typeface="Calibri"/>
              </a:rPr>
              <a:t>1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proof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you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obtain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turns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out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7296" y="7795000"/>
            <a:ext cx="3025140" cy="2197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85725">
              <a:lnSpc>
                <a:spcPts val="63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q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869"/>
              </a:lnSpc>
            </a:pP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slightly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more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complex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proof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given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earlier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chapter.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1331973"/>
            <a:ext cx="344170" cy="457200"/>
            <a:chOff x="5778788" y="1331973"/>
            <a:chExt cx="344170" cy="457200"/>
          </a:xfrm>
        </p:grpSpPr>
        <p:sp>
          <p:nvSpPr>
            <p:cNvPr id="8" name="object 8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6156" y="0"/>
                  </a:move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89" h="452119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9"/>
                  </a:lnTo>
                  <a:lnTo>
                    <a:pt x="21086" y="21093"/>
                  </a:lnTo>
                  <a:lnTo>
                    <a:pt x="5657" y="43982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36156" y="451713"/>
                  </a:lnTo>
                  <a:lnTo>
                    <a:pt x="338683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36601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58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-2530" y="1331973"/>
            <a:ext cx="344170" cy="457200"/>
            <a:chOff x="-2530" y="1331973"/>
            <a:chExt cx="344170" cy="457200"/>
          </a:xfrm>
        </p:grpSpPr>
        <p:sp>
          <p:nvSpPr>
            <p:cNvPr id="4" name="object 4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0" y="1334503"/>
              <a:ext cx="339090" cy="452120"/>
            </a:xfrm>
            <a:custGeom>
              <a:avLst/>
              <a:gdLst/>
              <a:ahLst/>
              <a:cxnLst/>
              <a:rect l="l" t="t" r="r" b="b"/>
              <a:pathLst>
                <a:path w="339090" h="452119">
                  <a:moveTo>
                    <a:pt x="0" y="451204"/>
                  </a:moveTo>
                  <a:lnTo>
                    <a:pt x="2520" y="451713"/>
                  </a:lnTo>
                  <a:lnTo>
                    <a:pt x="266679" y="451713"/>
                  </a:lnTo>
                  <a:lnTo>
                    <a:pt x="294707" y="446053"/>
                  </a:lnTo>
                  <a:lnTo>
                    <a:pt x="317594" y="430620"/>
                  </a:lnTo>
                  <a:lnTo>
                    <a:pt x="333025" y="407731"/>
                  </a:lnTo>
                  <a:lnTo>
                    <a:pt x="338683" y="379704"/>
                  </a:lnTo>
                  <a:lnTo>
                    <a:pt x="338683" y="72008"/>
                  </a:lnTo>
                  <a:lnTo>
                    <a:pt x="333025" y="43982"/>
                  </a:lnTo>
                  <a:lnTo>
                    <a:pt x="317594" y="21093"/>
                  </a:lnTo>
                  <a:lnTo>
                    <a:pt x="294707" y="5659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25831" y="132000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2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59704" y="368724"/>
            <a:ext cx="26035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5095">
              <a:lnSpc>
                <a:spcPts val="525"/>
              </a:lnSpc>
              <a:spcBef>
                <a:spcPts val="110"/>
              </a:spcBef>
            </a:pPr>
            <a:r>
              <a:rPr dirty="0" sz="850" spc="25">
                <a:latin typeface="Calibri"/>
                <a:cs typeface="Calibri"/>
              </a:rPr>
              <a:t>59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xfrm>
            <a:off x="3970820" y="1188605"/>
            <a:ext cx="1428750" cy="292862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-1891" sz="17625" spc="-8385">
                <a:solidFill>
                  <a:srgbClr val="B2B2B2"/>
                </a:solidFill>
              </a:rPr>
              <a:t>3</a:t>
            </a:r>
            <a:r>
              <a:rPr dirty="0" sz="19050" spc="-9250">
                <a:solidFill>
                  <a:srgbClr val="7F7F7F"/>
                </a:solidFill>
              </a:rPr>
              <a:t>3</a:t>
            </a:r>
            <a:r>
              <a:rPr dirty="0" sz="18650" spc="-9050">
                <a:solidFill>
                  <a:srgbClr val="A5A5A5"/>
                </a:solidFill>
              </a:rPr>
              <a:t>3</a:t>
            </a:r>
            <a:r>
              <a:rPr dirty="0" sz="18250" spc="320">
                <a:solidFill>
                  <a:srgbClr val="CCCCCC"/>
                </a:solidFill>
              </a:rPr>
              <a:t>3</a:t>
            </a:r>
            <a:endParaRPr sz="18250"/>
          </a:p>
        </p:txBody>
      </p:sp>
      <p:sp>
        <p:nvSpPr>
          <p:cNvPr id="4" name="object 4"/>
          <p:cNvSpPr txBox="1"/>
          <p:nvPr/>
        </p:nvSpPr>
        <p:spPr>
          <a:xfrm>
            <a:off x="1883270" y="2440430"/>
            <a:ext cx="3529965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140" b="1">
                <a:latin typeface="Calibri"/>
                <a:cs typeface="Calibri"/>
              </a:rPr>
              <a:t>Improving</a:t>
            </a:r>
            <a:r>
              <a:rPr dirty="0" sz="2300" spc="155" b="1">
                <a:latin typeface="Calibri"/>
                <a:cs typeface="Calibri"/>
              </a:rPr>
              <a:t> </a:t>
            </a:r>
            <a:r>
              <a:rPr dirty="0" sz="2300" spc="60" b="1">
                <a:latin typeface="Calibri"/>
                <a:cs typeface="Calibri"/>
              </a:rPr>
              <a:t>the</a:t>
            </a:r>
            <a:r>
              <a:rPr dirty="0" sz="2300" spc="155" b="1">
                <a:latin typeface="Calibri"/>
                <a:cs typeface="Calibri"/>
              </a:rPr>
              <a:t> </a:t>
            </a:r>
            <a:r>
              <a:rPr dirty="0" sz="2300" spc="105" b="1">
                <a:latin typeface="Calibri"/>
                <a:cs typeface="Calibri"/>
              </a:rPr>
              <a:t>way</a:t>
            </a:r>
            <a:r>
              <a:rPr dirty="0" sz="2300" spc="155" b="1">
                <a:latin typeface="Calibri"/>
                <a:cs typeface="Calibri"/>
              </a:rPr>
              <a:t> </a:t>
            </a:r>
            <a:r>
              <a:rPr dirty="0" sz="2300" spc="100" b="1">
                <a:latin typeface="Calibri"/>
                <a:cs typeface="Calibri"/>
              </a:rPr>
              <a:t>neural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54260" y="2835182"/>
            <a:ext cx="2058670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100" b="1">
                <a:latin typeface="Calibri"/>
                <a:cs typeface="Calibri"/>
              </a:rPr>
              <a:t>networks</a:t>
            </a:r>
            <a:r>
              <a:rPr dirty="0" sz="2300" spc="155" b="1">
                <a:latin typeface="Calibri"/>
                <a:cs typeface="Calibri"/>
              </a:rPr>
              <a:t> </a:t>
            </a:r>
            <a:r>
              <a:rPr dirty="0" sz="2300" spc="105" b="1">
                <a:latin typeface="Calibri"/>
                <a:cs typeface="Calibri"/>
              </a:rPr>
              <a:t>learn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59750" y="4591375"/>
            <a:ext cx="4379595" cy="3425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3335" marR="8255" indent="-127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golf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player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play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golf,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spend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time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swing.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gradually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shots,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chip,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draw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ball,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swing.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now</a:t>
            </a:r>
            <a:r>
              <a:rPr dirty="0" sz="850" spc="20">
                <a:latin typeface="Calibri"/>
                <a:cs typeface="Calibri"/>
              </a:rPr>
              <a:t> we’ve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focused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“basic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swing”,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foundation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suite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vanilla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implementation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learn.</a:t>
            </a:r>
            <a:endParaRPr sz="850">
              <a:latin typeface="Calibri"/>
              <a:cs typeface="Calibri"/>
            </a:endParaRPr>
          </a:p>
          <a:p>
            <a:pPr algn="just" marL="19685" marR="8255" indent="189230">
              <a:lnSpc>
                <a:spcPct val="114300"/>
              </a:lnSpc>
              <a:spcBef>
                <a:spcPts val="56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include: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function,</a:t>
            </a:r>
            <a:r>
              <a:rPr dirty="0" sz="850" spc="20">
                <a:latin typeface="Calibri"/>
                <a:cs typeface="Calibri"/>
              </a:rPr>
              <a:t> known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2" action="ppaction://hlinksldjump"/>
              </a:rPr>
              <a:t>cross-</a:t>
            </a:r>
            <a:r>
              <a:rPr dirty="0" sz="850" spc="20">
                <a:latin typeface="Calibri"/>
                <a:cs typeface="Calibri"/>
                <a:hlinkClick r:id="rId2" action="ppaction://hlinksldjump"/>
              </a:rPr>
              <a:t>entropy</a:t>
            </a:r>
            <a:r>
              <a:rPr dirty="0" sz="850" spc="80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2" action="ppaction://hlinksldjump"/>
              </a:rPr>
              <a:t>cost</a:t>
            </a:r>
            <a:r>
              <a:rPr dirty="0" sz="850" spc="75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2" action="ppaction://hlinksldjump"/>
              </a:rPr>
              <a:t>function;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so-called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3" action="ppaction://hlinksldjump"/>
              </a:rPr>
              <a:t>“regularization”</a:t>
            </a:r>
            <a:r>
              <a:rPr dirty="0" sz="850" spc="75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3" action="ppaction://hlinksldjump"/>
              </a:rPr>
              <a:t>methods</a:t>
            </a:r>
            <a:r>
              <a:rPr dirty="0" sz="850" spc="80">
                <a:latin typeface="Calibri"/>
                <a:cs typeface="Calibri"/>
              </a:rPr>
              <a:t> (L1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L2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dropout,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artificial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expansion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data),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30">
                <a:latin typeface="Calibri"/>
                <a:cs typeface="Calibri"/>
              </a:rPr>
              <a:t> networks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better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generalizing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beyond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training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data;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better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method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  <a:hlinkClick r:id="rId4" action="ppaction://hlinksldjump"/>
              </a:rPr>
              <a:t>initializing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4" action="ppaction://hlinksldjump"/>
              </a:rPr>
              <a:t>the</a:t>
            </a:r>
            <a:r>
              <a:rPr dirty="0" sz="850" spc="125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4" action="ppaction://hlinksldjump"/>
              </a:rPr>
              <a:t>weights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network;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hyper-</a:t>
            </a:r>
            <a:r>
              <a:rPr dirty="0" sz="850" spc="-10">
                <a:latin typeface="Calibri"/>
                <a:cs typeface="Calibri"/>
                <a:hlinkClick r:id="rId5" action="ppaction://hlinksldjump"/>
              </a:rPr>
              <a:t>parameters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for</a:t>
            </a:r>
            <a:r>
              <a:rPr dirty="0" sz="850" spc="12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the</a:t>
            </a:r>
            <a:r>
              <a:rPr dirty="0" sz="850" spc="12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5" action="ppaction://hlinksldjump"/>
              </a:rPr>
              <a:t>network.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overview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several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6" action="ppaction://hlinksldjump"/>
              </a:rPr>
              <a:t>other</a:t>
            </a:r>
            <a:r>
              <a:rPr dirty="0" sz="850" spc="125"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6" action="ppaction://hlinksldjump"/>
              </a:rPr>
              <a:t>techniques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depth.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discussions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independent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jump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ahead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wish.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also</a:t>
            </a:r>
            <a:r>
              <a:rPr dirty="0" sz="850" spc="20">
                <a:latin typeface="Calibri"/>
                <a:cs typeface="Calibri"/>
              </a:rPr>
              <a:t> implement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techniques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7" action="ppaction://hlinksldjump"/>
              </a:rPr>
              <a:t>running</a:t>
            </a:r>
            <a:r>
              <a:rPr dirty="0" sz="850" spc="110"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7" action="ppaction://hlinksldjump"/>
              </a:rPr>
              <a:t>code,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results</a:t>
            </a:r>
            <a:r>
              <a:rPr dirty="0" sz="850" spc="20">
                <a:latin typeface="Calibri"/>
                <a:cs typeface="Calibri"/>
              </a:rPr>
              <a:t> obtained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handwriting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classification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studied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Chapter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1.</a:t>
            </a:r>
            <a:endParaRPr sz="850">
              <a:latin typeface="Calibri"/>
              <a:cs typeface="Calibri"/>
            </a:endParaRPr>
          </a:p>
          <a:p>
            <a:pPr algn="just" marL="13335" marR="5080" indent="196215">
              <a:lnSpc>
                <a:spcPct val="114300"/>
              </a:lnSpc>
              <a:spcBef>
                <a:spcPts val="560"/>
              </a:spcBef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covering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been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philosophy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entree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plethora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available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in-depth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study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important.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Mastering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impor-</a:t>
            </a:r>
            <a:r>
              <a:rPr dirty="0" sz="850" spc="10">
                <a:latin typeface="Calibri"/>
                <a:cs typeface="Calibri"/>
              </a:rPr>
              <a:t>tant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useful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own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arise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prepared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them.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538095" cy="7239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60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850">
              <a:latin typeface="Arial MT"/>
              <a:cs typeface="Arial MT"/>
            </a:endParaRPr>
          </a:p>
          <a:p>
            <a:pPr marL="245745">
              <a:lnSpc>
                <a:spcPct val="100000"/>
              </a:lnSpc>
              <a:tabLst>
                <a:tab pos="572770" algn="l"/>
              </a:tabLst>
            </a:pPr>
            <a:r>
              <a:rPr dirty="0" sz="1050" spc="30" b="1">
                <a:latin typeface="Calibri"/>
                <a:cs typeface="Calibri"/>
              </a:rPr>
              <a:t>3.1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60" b="1">
                <a:latin typeface="Calibri"/>
                <a:cs typeface="Calibri"/>
              </a:rPr>
              <a:t>The</a:t>
            </a:r>
            <a:r>
              <a:rPr dirty="0" sz="1050" spc="265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cross-entropy</a:t>
            </a:r>
            <a:r>
              <a:rPr dirty="0" sz="1050" spc="265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cost</a:t>
            </a:r>
            <a:r>
              <a:rPr dirty="0" sz="1050" spc="265" b="1">
                <a:latin typeface="Calibri"/>
                <a:cs typeface="Calibri"/>
              </a:rPr>
              <a:t> </a:t>
            </a:r>
            <a:r>
              <a:rPr dirty="0" sz="1050" spc="40" b="1">
                <a:latin typeface="Calibri"/>
                <a:cs typeface="Calibri"/>
              </a:rPr>
              <a:t>function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2489" y="1199103"/>
            <a:ext cx="4378325" cy="13595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444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unpleasant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beginning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piano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my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audience.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nervous,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began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playing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piece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octave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low.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confused,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continue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until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embarrassed.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unpleasant,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quickly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decisively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wrong.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played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audience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played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octave!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contrast,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well-</a:t>
            </a:r>
            <a:r>
              <a:rPr dirty="0" sz="850" spc="-10">
                <a:latin typeface="Calibri"/>
                <a:cs typeface="Calibri"/>
              </a:rPr>
              <a:t>defined.</a:t>
            </a:r>
            <a:endParaRPr sz="850">
              <a:latin typeface="Calibri"/>
              <a:cs typeface="Calibri"/>
            </a:endParaRPr>
          </a:p>
          <a:p>
            <a:pPr algn="just" marL="17145" marR="5080" indent="189230">
              <a:lnSpc>
                <a:spcPct val="114300"/>
              </a:lnSpc>
              <a:spcBef>
                <a:spcPts val="15"/>
              </a:spcBef>
            </a:pPr>
            <a:r>
              <a:rPr dirty="0" sz="850" spc="10">
                <a:latin typeface="Calibri"/>
                <a:cs typeface="Calibri"/>
              </a:rPr>
              <a:t>Ideally,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hope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expect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errors.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practice?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involves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94542" y="2738727"/>
            <a:ext cx="1970923" cy="57454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99754" y="3454902"/>
            <a:ext cx="4380865" cy="19513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3970" marR="5080" indent="-1905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something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ridiculously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easy: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take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0.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trivial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task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appropriate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without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illuminating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attempt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learns.</a:t>
            </a:r>
            <a:endParaRPr sz="850">
              <a:latin typeface="Calibri"/>
              <a:cs typeface="Calibri"/>
            </a:endParaRPr>
          </a:p>
          <a:p>
            <a:pPr algn="just" marL="209550">
              <a:lnSpc>
                <a:spcPct val="100000"/>
              </a:lnSpc>
              <a:spcBef>
                <a:spcPts val="160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definite,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I’ll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pick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initial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0.6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initial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endParaRPr sz="850">
              <a:latin typeface="Calibri"/>
              <a:cs typeface="Calibri"/>
            </a:endParaRPr>
          </a:p>
          <a:p>
            <a:pPr algn="just" marL="13335" marR="29209" indent="635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0.9.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generic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choices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place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begin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picking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0.82,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before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0.0.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0" i="1">
                <a:latin typeface="Times New Roman"/>
                <a:cs typeface="Times New Roman"/>
              </a:rPr>
              <a:t>η</a:t>
            </a:r>
            <a:r>
              <a:rPr dirty="0" sz="850" spc="50">
                <a:latin typeface="Lucida Sans Unicode"/>
                <a:cs typeface="Lucida Sans Unicode"/>
              </a:rPr>
              <a:t>=</a:t>
            </a:r>
            <a:r>
              <a:rPr dirty="0" sz="850" spc="50">
                <a:latin typeface="Calibri"/>
                <a:cs typeface="Calibri"/>
              </a:rPr>
              <a:t>0.15,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happening,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fast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substantial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quadratic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sz="850" spc="85">
                <a:latin typeface="Calibri"/>
                <a:cs typeface="Calibri"/>
              </a:rPr>
              <a:t>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introduced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remind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shortly,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definition.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14918" y="5565149"/>
            <a:ext cx="3136171" cy="152825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702057" y="7251032"/>
            <a:ext cx="435356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780" marR="5080" indent="-571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rapidly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drives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0.09.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0.0,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2.0.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initial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0.98,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0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case.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9" name="object 9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56042"/>
                  </a:ln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2"/>
                  </a:move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562210" y="368721"/>
            <a:ext cx="205803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922780" algn="l"/>
              </a:tabLst>
            </a:pPr>
            <a:r>
              <a:rPr dirty="0" sz="850">
                <a:latin typeface="Calibri"/>
                <a:cs typeface="Calibri"/>
              </a:rPr>
              <a:t>3.1.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61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74912" y="974988"/>
            <a:ext cx="3136171" cy="152825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60856" y="2971714"/>
            <a:ext cx="4375150" cy="2604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24765" indent="-571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Although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14">
                <a:latin typeface="Calibri"/>
                <a:cs typeface="Calibri"/>
              </a:rPr>
              <a:t>(</a:t>
            </a:r>
            <a:r>
              <a:rPr dirty="0" sz="850" spc="114" i="1">
                <a:latin typeface="Times New Roman"/>
                <a:cs typeface="Times New Roman"/>
              </a:rPr>
              <a:t>η</a:t>
            </a:r>
            <a:r>
              <a:rPr dirty="0" sz="850" spc="120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 </a:t>
            </a:r>
            <a:r>
              <a:rPr dirty="0" sz="850" spc="55">
                <a:latin typeface="Calibri"/>
                <a:cs typeface="Calibri"/>
              </a:rPr>
              <a:t>0.15),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slowly.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150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kicks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first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rapidly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0.0.</a:t>
            </a:r>
            <a:endParaRPr sz="850">
              <a:latin typeface="Calibri"/>
              <a:cs typeface="Calibri"/>
            </a:endParaRPr>
          </a:p>
          <a:p>
            <a:pPr algn="just" marL="13335" marR="11430" indent="194945">
              <a:lnSpc>
                <a:spcPct val="114300"/>
              </a:lnSpc>
              <a:spcBef>
                <a:spcPts val="830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strange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contrasted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said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beginning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fastest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something.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artificial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far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behavior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slow?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slowdown?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  <a:spcBef>
                <a:spcPts val="825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determined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4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4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41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“learning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slow”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challenge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3" action="ppaction://hlinksldjump"/>
              </a:rPr>
              <a:t>1.6,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896273" y="5793122"/>
            <a:ext cx="2127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124516" y="5707618"/>
            <a:ext cx="410209" cy="1638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5080">
              <a:lnSpc>
                <a:spcPts val="35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710"/>
              </a:lnSpc>
            </a:pPr>
            <a:r>
              <a:rPr dirty="0" sz="850">
                <a:latin typeface="Tahoma"/>
                <a:cs typeface="Tahoma"/>
              </a:rPr>
              <a:t>(</a:t>
            </a:r>
            <a:r>
              <a:rPr dirty="0" sz="850" spc="-15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6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5">
                <a:latin typeface="Cambria"/>
                <a:cs typeface="Cambri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a</a:t>
            </a:r>
            <a:r>
              <a:rPr dirty="0" sz="850" spc="-25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137204" y="5883541"/>
            <a:ext cx="391160" cy="0"/>
          </a:xfrm>
          <a:custGeom>
            <a:avLst/>
            <a:gdLst/>
            <a:ahLst/>
            <a:cxnLst/>
            <a:rect l="l" t="t" r="r" b="b"/>
            <a:pathLst>
              <a:path w="391160" h="0">
                <a:moveTo>
                  <a:pt x="0" y="0"/>
                </a:moveTo>
                <a:lnTo>
                  <a:pt x="390982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3289604" y="5874006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530676" y="5793123"/>
            <a:ext cx="188213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625600" algn="l"/>
              </a:tabLst>
            </a:pPr>
            <a:r>
              <a:rPr dirty="0" sz="850" spc="-50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0856" y="6113228"/>
            <a:ext cx="4375150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5080" indent="-698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235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75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220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75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bias,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σ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10">
                <a:latin typeface="Tahoma"/>
                <a:cs typeface="Tahoma"/>
              </a:rPr>
              <a:t> </a:t>
            </a:r>
            <a:r>
              <a:rPr dirty="0" sz="850" spc="50" i="1">
                <a:latin typeface="Calibri"/>
                <a:cs typeface="Calibri"/>
              </a:rPr>
              <a:t>wx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1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differentiate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get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418765" y="6830138"/>
            <a:ext cx="183515" cy="63055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320"/>
              </a:spcBef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15"/>
              </a:spcBef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  <a:p>
            <a:pPr marL="20320">
              <a:lnSpc>
                <a:spcPct val="100000"/>
              </a:lnSpc>
              <a:spcBef>
                <a:spcPts val="225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667201" y="6933772"/>
            <a:ext cx="2783840" cy="446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10"/>
              </a:spcBef>
              <a:tabLst>
                <a:tab pos="2489200" algn="l"/>
              </a:tabLst>
            </a:pP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245">
                <a:latin typeface="Tahoma"/>
                <a:cs typeface="Tahoma"/>
              </a:rPr>
              <a:t> 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-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90">
                <a:latin typeface="Cambria"/>
                <a:cs typeface="Cambria"/>
              </a:rPr>
              <a:t> </a:t>
            </a:r>
            <a:r>
              <a:rPr dirty="0" sz="850" spc="80" i="1">
                <a:latin typeface="Calibri"/>
                <a:cs typeface="Calibri"/>
              </a:rPr>
              <a:t>y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baseline="35353" sz="825" spc="120">
                <a:latin typeface="Cambria"/>
                <a:cs typeface="Cambria"/>
              </a:rPr>
              <a:t>’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z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sz="850" spc="65" i="1">
                <a:latin typeface="Times New Roman"/>
                <a:cs typeface="Times New Roman"/>
              </a:rPr>
              <a:t>σ</a:t>
            </a:r>
            <a:r>
              <a:rPr dirty="0" baseline="35353" sz="825" spc="97">
                <a:latin typeface="Cambria"/>
                <a:cs typeface="Cambria"/>
              </a:rPr>
              <a:t>’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50">
                <a:latin typeface="Calibri"/>
                <a:cs typeface="Calibri"/>
              </a:rPr>
              <a:t>(3.2)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85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tabLst>
                <a:tab pos="2489200" algn="l"/>
              </a:tabLst>
            </a:pP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245">
                <a:latin typeface="Tahoma"/>
                <a:cs typeface="Tahoma"/>
              </a:rPr>
              <a:t> 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a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90">
                <a:latin typeface="Cambria"/>
                <a:cs typeface="Cambria"/>
              </a:rPr>
              <a:t> </a:t>
            </a:r>
            <a:r>
              <a:rPr dirty="0" sz="850" spc="75" i="1">
                <a:latin typeface="Calibri"/>
                <a:cs typeface="Calibri"/>
              </a:rPr>
              <a:t>y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75" i="1">
                <a:latin typeface="Times New Roman"/>
                <a:cs typeface="Times New Roman"/>
              </a:rPr>
              <a:t>σ</a:t>
            </a:r>
            <a:r>
              <a:rPr dirty="0" baseline="35353" sz="825" spc="112">
                <a:latin typeface="Cambria"/>
                <a:cs typeface="Cambria"/>
              </a:rPr>
              <a:t>’</a:t>
            </a:r>
            <a:r>
              <a:rPr dirty="0" sz="850" spc="75">
                <a:latin typeface="Tahoma"/>
                <a:cs typeface="Tahoma"/>
              </a:rPr>
              <a:t>(</a:t>
            </a:r>
            <a:r>
              <a:rPr dirty="0" sz="850" spc="75" i="1">
                <a:latin typeface="Calibri"/>
                <a:cs typeface="Calibri"/>
              </a:rPr>
              <a:t>z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-55">
                <a:latin typeface="Tahoma"/>
                <a:cs typeface="Tahom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spc="60" i="1">
                <a:latin typeface="Calibri"/>
                <a:cs typeface="Calibri"/>
              </a:rPr>
              <a:t>a</a:t>
            </a:r>
            <a:r>
              <a:rPr dirty="0" sz="850" spc="60" i="1">
                <a:latin typeface="Times New Roman"/>
                <a:cs typeface="Times New Roman"/>
              </a:rPr>
              <a:t>σ</a:t>
            </a:r>
            <a:r>
              <a:rPr dirty="0" baseline="35353" sz="825" spc="89">
                <a:latin typeface="Cambria"/>
                <a:cs typeface="Cambria"/>
              </a:rPr>
              <a:t>’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sz="850" spc="60">
                <a:latin typeface="Tahoma"/>
                <a:cs typeface="Tahoma"/>
              </a:rPr>
              <a:t>)</a:t>
            </a:r>
            <a:r>
              <a:rPr dirty="0" sz="850" spc="60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(3.3)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35456" y="7547126"/>
            <a:ext cx="442595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44450" marR="30480" indent="-698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substituted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40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expressions,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baseline="35353" sz="825" spc="135">
                <a:latin typeface="Cambria"/>
                <a:cs typeface="Cambria"/>
              </a:rPr>
              <a:t>’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sz="850" spc="90">
                <a:latin typeface="Tahoma"/>
                <a:cs typeface="Tahoma"/>
              </a:rPr>
              <a:t>)</a:t>
            </a:r>
            <a:r>
              <a:rPr dirty="0" sz="850" spc="8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right-hand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side.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Recall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shape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60" i="1">
                <a:latin typeface="Times New Roman"/>
                <a:cs typeface="Times New Roman"/>
              </a:rPr>
              <a:t>σ </a:t>
            </a:r>
            <a:r>
              <a:rPr dirty="0" sz="850" spc="-10">
                <a:latin typeface="Calibri"/>
                <a:cs typeface="Calibri"/>
              </a:rPr>
              <a:t>function: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15" name="object 15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013122" y="1117734"/>
            <a:ext cx="1854200" cy="1541145"/>
            <a:chOff x="2013122" y="1117734"/>
            <a:chExt cx="1854200" cy="1541145"/>
          </a:xfrm>
        </p:grpSpPr>
        <p:sp>
          <p:nvSpPr>
            <p:cNvPr id="3" name="object 3"/>
            <p:cNvSpPr/>
            <p:nvPr/>
          </p:nvSpPr>
          <p:spPr>
            <a:xfrm>
              <a:off x="2015032" y="1119631"/>
              <a:ext cx="1850389" cy="1537335"/>
            </a:xfrm>
            <a:custGeom>
              <a:avLst/>
              <a:gdLst/>
              <a:ahLst/>
              <a:cxnLst/>
              <a:rect l="l" t="t" r="r" b="b"/>
              <a:pathLst>
                <a:path w="1850389" h="1537335">
                  <a:moveTo>
                    <a:pt x="0" y="1537233"/>
                  </a:moveTo>
                  <a:lnTo>
                    <a:pt x="0" y="1496733"/>
                  </a:lnTo>
                </a:path>
                <a:path w="1850389" h="1537335">
                  <a:moveTo>
                    <a:pt x="308394" y="1537233"/>
                  </a:moveTo>
                  <a:lnTo>
                    <a:pt x="308394" y="1496733"/>
                  </a:lnTo>
                </a:path>
                <a:path w="1850389" h="1537335">
                  <a:moveTo>
                    <a:pt x="616788" y="1537233"/>
                  </a:moveTo>
                  <a:lnTo>
                    <a:pt x="616788" y="1496733"/>
                  </a:lnTo>
                </a:path>
                <a:path w="1850389" h="1537335">
                  <a:moveTo>
                    <a:pt x="925182" y="1537233"/>
                  </a:moveTo>
                  <a:lnTo>
                    <a:pt x="925182" y="1496733"/>
                  </a:lnTo>
                </a:path>
                <a:path w="1850389" h="1537335">
                  <a:moveTo>
                    <a:pt x="1233563" y="1537233"/>
                  </a:moveTo>
                  <a:lnTo>
                    <a:pt x="1233563" y="1496733"/>
                  </a:lnTo>
                </a:path>
                <a:path w="1850389" h="1537335">
                  <a:moveTo>
                    <a:pt x="1541957" y="1537233"/>
                  </a:moveTo>
                  <a:lnTo>
                    <a:pt x="1541957" y="1496733"/>
                  </a:lnTo>
                </a:path>
                <a:path w="1850389" h="1537335">
                  <a:moveTo>
                    <a:pt x="1850351" y="1537233"/>
                  </a:moveTo>
                  <a:lnTo>
                    <a:pt x="1850351" y="1496733"/>
                  </a:lnTo>
                </a:path>
                <a:path w="1850389" h="1537335">
                  <a:moveTo>
                    <a:pt x="0" y="0"/>
                  </a:moveTo>
                  <a:lnTo>
                    <a:pt x="0" y="40500"/>
                  </a:lnTo>
                </a:path>
                <a:path w="1850389" h="1537335">
                  <a:moveTo>
                    <a:pt x="308394" y="0"/>
                  </a:moveTo>
                  <a:lnTo>
                    <a:pt x="308394" y="40500"/>
                  </a:lnTo>
                </a:path>
                <a:path w="1850389" h="1537335">
                  <a:moveTo>
                    <a:pt x="616788" y="0"/>
                  </a:moveTo>
                  <a:lnTo>
                    <a:pt x="616788" y="40500"/>
                  </a:lnTo>
                </a:path>
                <a:path w="1850389" h="1537335">
                  <a:moveTo>
                    <a:pt x="925182" y="0"/>
                  </a:moveTo>
                  <a:lnTo>
                    <a:pt x="925182" y="40500"/>
                  </a:lnTo>
                </a:path>
                <a:path w="1850389" h="1537335">
                  <a:moveTo>
                    <a:pt x="1233563" y="0"/>
                  </a:moveTo>
                  <a:lnTo>
                    <a:pt x="1233563" y="40500"/>
                  </a:lnTo>
                </a:path>
                <a:path w="1850389" h="1537335">
                  <a:moveTo>
                    <a:pt x="1541957" y="0"/>
                  </a:moveTo>
                  <a:lnTo>
                    <a:pt x="1541957" y="40500"/>
                  </a:lnTo>
                </a:path>
                <a:path w="1850389" h="1537335">
                  <a:moveTo>
                    <a:pt x="1850351" y="0"/>
                  </a:moveTo>
                  <a:lnTo>
                    <a:pt x="1850351" y="4050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2015020" y="1239024"/>
              <a:ext cx="1850389" cy="1298575"/>
            </a:xfrm>
            <a:custGeom>
              <a:avLst/>
              <a:gdLst/>
              <a:ahLst/>
              <a:cxnLst/>
              <a:rect l="l" t="t" r="r" b="b"/>
              <a:pathLst>
                <a:path w="1850389" h="1298575">
                  <a:moveTo>
                    <a:pt x="0" y="1298422"/>
                  </a:moveTo>
                  <a:lnTo>
                    <a:pt x="40500" y="1298422"/>
                  </a:lnTo>
                </a:path>
                <a:path w="1850389" h="1298575">
                  <a:moveTo>
                    <a:pt x="0" y="1038733"/>
                  </a:moveTo>
                  <a:lnTo>
                    <a:pt x="40500" y="1038733"/>
                  </a:lnTo>
                </a:path>
                <a:path w="1850389" h="1298575">
                  <a:moveTo>
                    <a:pt x="0" y="779056"/>
                  </a:moveTo>
                  <a:lnTo>
                    <a:pt x="40500" y="779056"/>
                  </a:lnTo>
                </a:path>
                <a:path w="1850389" h="1298575">
                  <a:moveTo>
                    <a:pt x="0" y="519366"/>
                  </a:moveTo>
                  <a:lnTo>
                    <a:pt x="40500" y="519366"/>
                  </a:lnTo>
                </a:path>
                <a:path w="1850389" h="1298575">
                  <a:moveTo>
                    <a:pt x="0" y="259689"/>
                  </a:moveTo>
                  <a:lnTo>
                    <a:pt x="40500" y="259689"/>
                  </a:lnTo>
                </a:path>
                <a:path w="1850389" h="1298575">
                  <a:moveTo>
                    <a:pt x="0" y="0"/>
                  </a:moveTo>
                  <a:lnTo>
                    <a:pt x="40500" y="0"/>
                  </a:lnTo>
                </a:path>
                <a:path w="1850389" h="1298575">
                  <a:moveTo>
                    <a:pt x="1850377" y="1298422"/>
                  </a:moveTo>
                  <a:lnTo>
                    <a:pt x="1809877" y="1298422"/>
                  </a:lnTo>
                </a:path>
                <a:path w="1850389" h="1298575">
                  <a:moveTo>
                    <a:pt x="1850377" y="1038733"/>
                  </a:moveTo>
                  <a:lnTo>
                    <a:pt x="1809877" y="1038733"/>
                  </a:lnTo>
                </a:path>
                <a:path w="1850389" h="1298575">
                  <a:moveTo>
                    <a:pt x="1850377" y="779056"/>
                  </a:moveTo>
                  <a:lnTo>
                    <a:pt x="1809877" y="779056"/>
                  </a:lnTo>
                </a:path>
                <a:path w="1850389" h="1298575">
                  <a:moveTo>
                    <a:pt x="1850377" y="519366"/>
                  </a:moveTo>
                  <a:lnTo>
                    <a:pt x="1809877" y="519366"/>
                  </a:lnTo>
                </a:path>
                <a:path w="1850389" h="1298575">
                  <a:moveTo>
                    <a:pt x="1850377" y="259689"/>
                  </a:moveTo>
                  <a:lnTo>
                    <a:pt x="1809877" y="259689"/>
                  </a:lnTo>
                </a:path>
                <a:path w="1850389" h="1298575">
                  <a:moveTo>
                    <a:pt x="1850377" y="0"/>
                  </a:moveTo>
                  <a:lnTo>
                    <a:pt x="1809877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015020" y="1119631"/>
              <a:ext cx="1850389" cy="1537335"/>
            </a:xfrm>
            <a:custGeom>
              <a:avLst/>
              <a:gdLst/>
              <a:ahLst/>
              <a:cxnLst/>
              <a:rect l="l" t="t" r="r" b="b"/>
              <a:pathLst>
                <a:path w="1850389" h="1537335">
                  <a:moveTo>
                    <a:pt x="0" y="1537233"/>
                  </a:moveTo>
                  <a:lnTo>
                    <a:pt x="0" y="0"/>
                  </a:lnTo>
                  <a:lnTo>
                    <a:pt x="1850377" y="0"/>
                  </a:lnTo>
                  <a:lnTo>
                    <a:pt x="1850377" y="1537233"/>
                  </a:lnTo>
                  <a:lnTo>
                    <a:pt x="0" y="1537233"/>
                  </a:lnTo>
                  <a:close/>
                </a:path>
              </a:pathLst>
            </a:custGeom>
            <a:ln w="3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169223" y="1247736"/>
              <a:ext cx="1542415" cy="1281430"/>
            </a:xfrm>
            <a:custGeom>
              <a:avLst/>
              <a:gdLst/>
              <a:ahLst/>
              <a:cxnLst/>
              <a:rect l="l" t="t" r="r" b="b"/>
              <a:pathLst>
                <a:path w="1542414" h="1281430">
                  <a:moveTo>
                    <a:pt x="0" y="1281010"/>
                  </a:moveTo>
                  <a:lnTo>
                    <a:pt x="38557" y="1278572"/>
                  </a:lnTo>
                  <a:lnTo>
                    <a:pt x="77101" y="1275435"/>
                  </a:lnTo>
                  <a:lnTo>
                    <a:pt x="115646" y="1271447"/>
                  </a:lnTo>
                  <a:lnTo>
                    <a:pt x="154203" y="1266342"/>
                  </a:lnTo>
                  <a:lnTo>
                    <a:pt x="192747" y="1259865"/>
                  </a:lnTo>
                  <a:lnTo>
                    <a:pt x="231305" y="1251648"/>
                  </a:lnTo>
                  <a:lnTo>
                    <a:pt x="269849" y="1241234"/>
                  </a:lnTo>
                  <a:lnTo>
                    <a:pt x="308394" y="1228128"/>
                  </a:lnTo>
                  <a:lnTo>
                    <a:pt x="346938" y="1211681"/>
                  </a:lnTo>
                  <a:lnTo>
                    <a:pt x="385495" y="1191209"/>
                  </a:lnTo>
                  <a:lnTo>
                    <a:pt x="424040" y="1165898"/>
                  </a:lnTo>
                  <a:lnTo>
                    <a:pt x="462597" y="1134935"/>
                  </a:lnTo>
                  <a:lnTo>
                    <a:pt x="501142" y="1097457"/>
                  </a:lnTo>
                  <a:lnTo>
                    <a:pt x="539686" y="1052830"/>
                  </a:lnTo>
                  <a:lnTo>
                    <a:pt x="578243" y="1000544"/>
                  </a:lnTo>
                  <a:lnTo>
                    <a:pt x="616788" y="940511"/>
                  </a:lnTo>
                  <a:lnTo>
                    <a:pt x="655332" y="873137"/>
                  </a:lnTo>
                  <a:lnTo>
                    <a:pt x="674611" y="837018"/>
                  </a:lnTo>
                  <a:lnTo>
                    <a:pt x="693889" y="799490"/>
                  </a:lnTo>
                  <a:lnTo>
                    <a:pt x="713155" y="760818"/>
                  </a:lnTo>
                  <a:lnTo>
                    <a:pt x="732434" y="721233"/>
                  </a:lnTo>
                  <a:lnTo>
                    <a:pt x="751713" y="681012"/>
                  </a:lnTo>
                  <a:lnTo>
                    <a:pt x="770991" y="640499"/>
                  </a:lnTo>
                  <a:lnTo>
                    <a:pt x="790257" y="600062"/>
                  </a:lnTo>
                  <a:lnTo>
                    <a:pt x="809536" y="559866"/>
                  </a:lnTo>
                  <a:lnTo>
                    <a:pt x="828814" y="520217"/>
                  </a:lnTo>
                  <a:lnTo>
                    <a:pt x="848080" y="481571"/>
                  </a:lnTo>
                  <a:lnTo>
                    <a:pt x="867359" y="444017"/>
                  </a:lnTo>
                  <a:lnTo>
                    <a:pt x="886625" y="407885"/>
                  </a:lnTo>
                  <a:lnTo>
                    <a:pt x="905903" y="373329"/>
                  </a:lnTo>
                  <a:lnTo>
                    <a:pt x="944448" y="309537"/>
                  </a:lnTo>
                  <a:lnTo>
                    <a:pt x="983005" y="253352"/>
                  </a:lnTo>
                  <a:lnTo>
                    <a:pt x="1021549" y="204927"/>
                  </a:lnTo>
                  <a:lnTo>
                    <a:pt x="1060107" y="163944"/>
                  </a:lnTo>
                  <a:lnTo>
                    <a:pt x="1098651" y="129794"/>
                  </a:lnTo>
                  <a:lnTo>
                    <a:pt x="1137196" y="101803"/>
                  </a:lnTo>
                  <a:lnTo>
                    <a:pt x="1175753" y="78981"/>
                  </a:lnTo>
                  <a:lnTo>
                    <a:pt x="1214297" y="60629"/>
                  </a:lnTo>
                  <a:lnTo>
                    <a:pt x="1252842" y="45923"/>
                  </a:lnTo>
                  <a:lnTo>
                    <a:pt x="1291399" y="34264"/>
                  </a:lnTo>
                  <a:lnTo>
                    <a:pt x="1329944" y="24993"/>
                  </a:lnTo>
                  <a:lnTo>
                    <a:pt x="1368501" y="17703"/>
                  </a:lnTo>
                  <a:lnTo>
                    <a:pt x="1407045" y="11950"/>
                  </a:lnTo>
                  <a:lnTo>
                    <a:pt x="1445590" y="7442"/>
                  </a:lnTo>
                  <a:lnTo>
                    <a:pt x="1484147" y="3937"/>
                  </a:lnTo>
                  <a:lnTo>
                    <a:pt x="1522691" y="1130"/>
                  </a:lnTo>
                  <a:lnTo>
                    <a:pt x="1541970" y="0"/>
                  </a:lnTo>
                </a:path>
              </a:pathLst>
            </a:custGeom>
            <a:ln w="379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474181" y="368721"/>
            <a:ext cx="2786380" cy="14478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62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340"/>
              </a:spcBef>
            </a:pPr>
            <a:endParaRPr sz="850">
              <a:latin typeface="Arial MT"/>
              <a:cs typeface="Arial MT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650" spc="10">
                <a:latin typeface="Calibri"/>
                <a:cs typeface="Calibri"/>
              </a:rPr>
              <a:t>Sigmoid</a:t>
            </a:r>
            <a:r>
              <a:rPr dirty="0" sz="650" spc="170">
                <a:latin typeface="Calibri"/>
                <a:cs typeface="Calibri"/>
              </a:rPr>
              <a:t> </a:t>
            </a:r>
            <a:r>
              <a:rPr dirty="0" sz="650" spc="-10">
                <a:latin typeface="Calibri"/>
                <a:cs typeface="Calibri"/>
              </a:rPr>
              <a:t>function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Calibri"/>
              <a:cs typeface="Calibri"/>
            </a:endParaRPr>
          </a:p>
          <a:p>
            <a:pPr algn="r" marR="1266190">
              <a:lnSpc>
                <a:spcPct val="100000"/>
              </a:lnSpc>
              <a:spcBef>
                <a:spcPts val="5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650">
              <a:latin typeface="Calibri"/>
              <a:cs typeface="Calibri"/>
            </a:endParaRPr>
          </a:p>
          <a:p>
            <a:pPr algn="r" marR="1266190">
              <a:lnSpc>
                <a:spcPct val="100000"/>
              </a:lnSpc>
            </a:pPr>
            <a:r>
              <a:rPr dirty="0" sz="650" spc="-25">
                <a:latin typeface="Calibri"/>
                <a:cs typeface="Calibri"/>
              </a:rPr>
              <a:t>0.8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650">
              <a:latin typeface="Calibri"/>
              <a:cs typeface="Calibri"/>
            </a:endParaRPr>
          </a:p>
          <a:p>
            <a:pPr algn="r" marR="1266190">
              <a:lnSpc>
                <a:spcPct val="100000"/>
              </a:lnSpc>
            </a:pPr>
            <a:r>
              <a:rPr dirty="0" sz="650" spc="-25">
                <a:latin typeface="Calibri"/>
                <a:cs typeface="Calibri"/>
              </a:rPr>
              <a:t>0.6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23554" y="2210904"/>
            <a:ext cx="4509770" cy="2617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139440">
              <a:lnSpc>
                <a:spcPct val="100000"/>
              </a:lnSpc>
              <a:spcBef>
                <a:spcPts val="95"/>
              </a:spcBef>
            </a:pPr>
            <a:r>
              <a:rPr dirty="0" sz="650" spc="-25">
                <a:latin typeface="Calibri"/>
                <a:cs typeface="Calibri"/>
              </a:rPr>
              <a:t>0.2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650">
              <a:latin typeface="Calibri"/>
              <a:cs typeface="Calibri"/>
            </a:endParaRPr>
          </a:p>
          <a:p>
            <a:pPr algn="r" marR="3139440">
              <a:lnSpc>
                <a:spcPct val="100000"/>
              </a:lnSpc>
            </a:pPr>
            <a:r>
              <a:rPr dirty="0" sz="650" spc="-5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  <a:p>
            <a:pPr algn="ctr" marL="93345">
              <a:lnSpc>
                <a:spcPct val="100000"/>
              </a:lnSpc>
              <a:spcBef>
                <a:spcPts val="630"/>
              </a:spcBef>
              <a:tabLst>
                <a:tab pos="401955" algn="l"/>
                <a:tab pos="709930" algn="l"/>
                <a:tab pos="1048385" algn="l"/>
                <a:tab pos="1356995" algn="l"/>
                <a:tab pos="1665605" algn="l"/>
                <a:tab pos="1973580" algn="l"/>
              </a:tabLst>
            </a:pP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Calibri"/>
                <a:cs typeface="Calibri"/>
              </a:rPr>
              <a:t>6</a:t>
            </a:r>
            <a:r>
              <a:rPr dirty="0" sz="650">
                <a:latin typeface="Calibri"/>
                <a:cs typeface="Calibri"/>
              </a:rPr>
              <a:t>	</a:t>
            </a:r>
            <a:r>
              <a:rPr dirty="0" baseline="4273" sz="975" spc="60">
                <a:latin typeface="Cambria"/>
                <a:cs typeface="Cambria"/>
              </a:rPr>
              <a:t>−</a:t>
            </a:r>
            <a:r>
              <a:rPr dirty="0" baseline="4273" sz="975" spc="60">
                <a:latin typeface="Calibri"/>
                <a:cs typeface="Calibri"/>
              </a:rPr>
              <a:t>4</a:t>
            </a:r>
            <a:r>
              <a:rPr dirty="0" baseline="4273" sz="975">
                <a:latin typeface="Calibri"/>
                <a:cs typeface="Calibri"/>
              </a:rPr>
              <a:t>	</a:t>
            </a: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Calibri"/>
                <a:cs typeface="Calibri"/>
              </a:rPr>
              <a:t>2</a:t>
            </a:r>
            <a:r>
              <a:rPr dirty="0" sz="650">
                <a:latin typeface="Calibri"/>
                <a:cs typeface="Calibri"/>
              </a:rPr>
              <a:t>	</a:t>
            </a:r>
            <a:r>
              <a:rPr dirty="0" sz="650" spc="-50">
                <a:latin typeface="Calibri"/>
                <a:cs typeface="Calibri"/>
              </a:rPr>
              <a:t>0</a:t>
            </a:r>
            <a:r>
              <a:rPr dirty="0" sz="650">
                <a:latin typeface="Calibri"/>
                <a:cs typeface="Calibri"/>
              </a:rPr>
              <a:t>	</a:t>
            </a:r>
            <a:r>
              <a:rPr dirty="0" sz="650" spc="-50">
                <a:latin typeface="Calibri"/>
                <a:cs typeface="Calibri"/>
              </a:rPr>
              <a:t>2</a:t>
            </a:r>
            <a:r>
              <a:rPr dirty="0" sz="650">
                <a:latin typeface="Calibri"/>
                <a:cs typeface="Calibri"/>
              </a:rPr>
              <a:t>	</a:t>
            </a:r>
            <a:r>
              <a:rPr dirty="0" baseline="4273" sz="975" spc="-75">
                <a:latin typeface="Calibri"/>
                <a:cs typeface="Calibri"/>
              </a:rPr>
              <a:t>4</a:t>
            </a:r>
            <a:r>
              <a:rPr dirty="0" baseline="4273" sz="975">
                <a:latin typeface="Calibri"/>
                <a:cs typeface="Calibri"/>
              </a:rPr>
              <a:t>	</a:t>
            </a:r>
            <a:r>
              <a:rPr dirty="0" sz="650" spc="-50">
                <a:latin typeface="Calibri"/>
                <a:cs typeface="Calibri"/>
              </a:rPr>
              <a:t>6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650">
              <a:latin typeface="Calibri"/>
              <a:cs typeface="Calibri"/>
            </a:endParaRPr>
          </a:p>
          <a:p>
            <a:pPr algn="just" marL="95885" marR="81280" indent="-762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very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flat,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3.2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 action="ppaction://hlinksldjump"/>
              </a:rPr>
              <a:t>3.3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6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slowdown.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slowdown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essentially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general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with.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25"/>
              </a:spcBef>
            </a:pPr>
            <a:endParaRPr sz="850">
              <a:latin typeface="Calibri"/>
              <a:cs typeface="Calibri"/>
            </a:endParaRPr>
          </a:p>
          <a:p>
            <a:pPr marL="95885">
              <a:lnSpc>
                <a:spcPct val="100000"/>
              </a:lnSpc>
              <a:spcBef>
                <a:spcPts val="5"/>
              </a:spcBef>
            </a:pPr>
            <a:r>
              <a:rPr dirty="0" sz="950" spc="50" b="1">
                <a:latin typeface="Calibri"/>
                <a:cs typeface="Calibri"/>
              </a:rPr>
              <a:t>3.1.1</a:t>
            </a:r>
            <a:r>
              <a:rPr dirty="0" sz="950" spc="370" b="1">
                <a:latin typeface="Calibri"/>
                <a:cs typeface="Calibri"/>
              </a:rPr>
              <a:t>  </a:t>
            </a:r>
            <a:r>
              <a:rPr dirty="0" sz="950" spc="55" b="1">
                <a:latin typeface="Calibri"/>
                <a:cs typeface="Calibri"/>
              </a:rPr>
              <a:t>Introducing</a:t>
            </a:r>
            <a:r>
              <a:rPr dirty="0" sz="950" spc="125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the</a:t>
            </a:r>
            <a:r>
              <a:rPr dirty="0" sz="950" spc="125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cross-entropy</a:t>
            </a:r>
            <a:r>
              <a:rPr dirty="0" sz="950" spc="125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cost</a:t>
            </a:r>
            <a:r>
              <a:rPr dirty="0" sz="950" spc="125" b="1">
                <a:latin typeface="Calibri"/>
                <a:cs typeface="Calibri"/>
              </a:rPr>
              <a:t> </a:t>
            </a:r>
            <a:r>
              <a:rPr dirty="0" sz="950" spc="-10" b="1">
                <a:latin typeface="Calibri"/>
                <a:cs typeface="Calibri"/>
              </a:rPr>
              <a:t>function</a:t>
            </a:r>
            <a:endParaRPr sz="950">
              <a:latin typeface="Calibri"/>
              <a:cs typeface="Calibri"/>
            </a:endParaRPr>
          </a:p>
          <a:p>
            <a:pPr algn="just" marL="95885" marR="62230">
              <a:lnSpc>
                <a:spcPct val="114300"/>
              </a:lnSpc>
              <a:spcBef>
                <a:spcPts val="670"/>
              </a:spcBef>
            </a:pPr>
            <a:r>
              <a:rPr dirty="0" sz="850" spc="50">
                <a:latin typeface="Calibri"/>
                <a:cs typeface="Calibri"/>
              </a:rPr>
              <a:t>How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address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learning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slowdown?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turns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replacing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quadratic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with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function,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known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cross-</a:t>
            </a:r>
            <a:r>
              <a:rPr dirty="0" sz="850" spc="5">
                <a:latin typeface="Calibri"/>
                <a:cs typeface="Calibri"/>
              </a:rPr>
              <a:t>entropy.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understand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cross-</a:t>
            </a:r>
            <a:r>
              <a:rPr dirty="0" sz="850" spc="-5">
                <a:latin typeface="Calibri"/>
                <a:cs typeface="Calibri"/>
              </a:rPr>
              <a:t>entropy,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let’s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away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from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our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super-simple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toy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model.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We’ll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instead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trying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train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neuron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with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several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variables,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., </a:t>
            </a:r>
            <a:r>
              <a:rPr dirty="0" sz="850" spc="20">
                <a:latin typeface="Calibri"/>
                <a:cs typeface="Calibri"/>
              </a:rPr>
              <a:t>corresponding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>
                <a:latin typeface="Calibri"/>
                <a:cs typeface="Calibri"/>
              </a:rPr>
              <a:t>1</a:t>
            </a:r>
            <a:r>
              <a:rPr dirty="0" sz="850" spc="40">
                <a:latin typeface="Calibri"/>
                <a:cs typeface="Calibri"/>
              </a:rPr>
              <a:t>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>
                <a:latin typeface="Calibri"/>
                <a:cs typeface="Calibri"/>
              </a:rPr>
              <a:t>2</a:t>
            </a:r>
            <a:r>
              <a:rPr dirty="0" sz="850" spc="40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bias,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b</a:t>
            </a:r>
            <a:r>
              <a:rPr dirty="0" sz="850" spc="3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859136" y="1950018"/>
            <a:ext cx="13970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25">
                <a:latin typeface="Calibri"/>
                <a:cs typeface="Calibri"/>
              </a:rPr>
              <a:t>0.4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010054" y="4968265"/>
            <a:ext cx="1727200" cy="800100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696360" y="5837697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2384" y="5931220"/>
            <a:ext cx="32645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173095" algn="l"/>
              </a:tabLst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 spc="70" i="1">
                <a:latin typeface="Times New Roman"/>
                <a:cs typeface="Times New Roman"/>
              </a:rPr>
              <a:t>σ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sz="850" spc="70">
                <a:latin typeface="Tahoma"/>
                <a:cs typeface="Tahoma"/>
              </a:rPr>
              <a:t>)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5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790479" y="6001648"/>
            <a:ext cx="3359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15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991000" y="5931220"/>
            <a:ext cx="10617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28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weighted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7301" y="6079251"/>
            <a:ext cx="37788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244506" y="6356146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245880" y="6513997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337092" y="6313020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934998" y="6433110"/>
            <a:ext cx="18929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82930" algn="l"/>
              </a:tabLst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>
                <a:latin typeface="Tahoma"/>
                <a:cs typeface="Tahoma"/>
              </a:rPr>
              <a:t>[</a:t>
            </a:r>
            <a:r>
              <a:rPr dirty="0" sz="850" spc="-13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3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70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 </a:t>
            </a:r>
            <a:r>
              <a:rPr dirty="0" sz="850" spc="55" i="1">
                <a:latin typeface="Calibri"/>
                <a:cs typeface="Calibri"/>
              </a:rPr>
              <a:t>y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-114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4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>
                <a:latin typeface="Tahoma"/>
                <a:cs typeface="Tahoma"/>
              </a:rPr>
              <a:t>)]</a:t>
            </a:r>
            <a:r>
              <a:rPr dirty="0" sz="850" spc="-114">
                <a:latin typeface="Tahoma"/>
                <a:cs typeface="Tahoma"/>
              </a:rPr>
              <a:t> </a:t>
            </a: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395780" y="6592258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784134" y="6433110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(3.4)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0852" y="6806953"/>
            <a:ext cx="4375150" cy="1209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5080" indent="-698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total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items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45" i="1">
                <a:latin typeface="Calibri"/>
                <a:cs typeface="Calibri"/>
              </a:rPr>
              <a:t>x</a:t>
            </a:r>
            <a:r>
              <a:rPr dirty="0" sz="850" spc="45">
                <a:latin typeface="Calibri"/>
                <a:cs typeface="Calibri"/>
              </a:rPr>
              <a:t>,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output.</a:t>
            </a:r>
            <a:endParaRPr sz="850">
              <a:latin typeface="Calibri"/>
              <a:cs typeface="Calibri"/>
            </a:endParaRPr>
          </a:p>
          <a:p>
            <a:pPr algn="just" marL="19050" marR="508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4" action="ppaction://hlinksldjump"/>
              </a:rPr>
              <a:t>(3.4)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fixes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slowdown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fact,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frankly,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function!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addressing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slowdown,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interpreted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endParaRPr sz="850">
              <a:latin typeface="Calibri"/>
              <a:cs typeface="Calibri"/>
            </a:endParaRPr>
          </a:p>
          <a:p>
            <a:pPr algn="just" marL="19050" marR="24765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properties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reasonable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interpret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cross-entropy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non-negative,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&gt;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notice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that: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(a)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individual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24" name="object 24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25043" y="368721"/>
            <a:ext cx="4632960" cy="13487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49525">
              <a:lnSpc>
                <a:spcPts val="525"/>
              </a:lnSpc>
              <a:spcBef>
                <a:spcPts val="110"/>
              </a:spcBef>
              <a:tabLst>
                <a:tab pos="4460240" algn="l"/>
              </a:tabLst>
            </a:pPr>
            <a:r>
              <a:rPr dirty="0" sz="850">
                <a:latin typeface="Calibri"/>
                <a:cs typeface="Calibri"/>
              </a:rPr>
              <a:t>3.1.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63</a:t>
            </a:r>
            <a:endParaRPr sz="850">
              <a:latin typeface="Calibri"/>
              <a:cs typeface="Calibri"/>
            </a:endParaRPr>
          </a:p>
          <a:p>
            <a:pPr algn="r" marR="2406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54610" marR="249554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  <a:hlinkClick r:id="rId2" action="ppaction://hlinksldjump"/>
              </a:rPr>
              <a:t>(3.4)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negative,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logarithms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range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1;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(b)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minus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sum.</a:t>
            </a:r>
            <a:endParaRPr sz="850">
              <a:latin typeface="Calibri"/>
              <a:cs typeface="Calibri"/>
            </a:endParaRPr>
          </a:p>
          <a:p>
            <a:pPr algn="just" marL="50800" marR="222250" indent="193675">
              <a:lnSpc>
                <a:spcPct val="114300"/>
              </a:lnSpc>
              <a:spcBef>
                <a:spcPts val="300"/>
              </a:spcBef>
            </a:pPr>
            <a:r>
              <a:rPr dirty="0" sz="850">
                <a:latin typeface="Calibri"/>
                <a:cs typeface="Calibri"/>
              </a:rPr>
              <a:t>Second,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x,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zero</a:t>
            </a:r>
            <a:r>
              <a:rPr dirty="0" baseline="35353" sz="825">
                <a:latin typeface="Calibri"/>
                <a:cs typeface="Calibri"/>
                <a:hlinkClick r:id="rId3" action="ppaction://hlinksldjump"/>
              </a:rPr>
              <a:t>1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60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5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job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59750" y="1708901"/>
            <a:ext cx="43535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(57)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vanishes,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7296" y="1856932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80">
                <a:latin typeface="Cambria"/>
                <a:cs typeface="Cambria"/>
              </a:rPr>
              <a:t>−</a:t>
            </a:r>
            <a:r>
              <a:rPr dirty="0" sz="850" spc="80">
                <a:latin typeface="Calibri"/>
                <a:cs typeface="Calibri"/>
              </a:rPr>
              <a:t>ln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>
                <a:latin typeface="Calibri"/>
                <a:cs typeface="Calibri"/>
              </a:rPr>
              <a:t>1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4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7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analysis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holds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7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0856" y="1988103"/>
            <a:ext cx="4371340" cy="13963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2413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contribution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desired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output.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  <a:spcBef>
                <a:spcPts val="300"/>
              </a:spcBef>
            </a:pPr>
            <a:r>
              <a:rPr dirty="0" sz="850" spc="60">
                <a:latin typeface="Calibri"/>
                <a:cs typeface="Calibri"/>
              </a:rPr>
              <a:t>Summing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positive,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tends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toward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zero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gets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0">
                <a:latin typeface="Calibri"/>
                <a:cs typeface="Calibri"/>
              </a:rPr>
              <a:t> at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 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 output,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y</a:t>
            </a:r>
            <a:r>
              <a:rPr dirty="0" sz="850" spc="60">
                <a:latin typeface="Calibri"/>
                <a:cs typeface="Calibri"/>
              </a:rPr>
              <a:t>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 all training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 both </a:t>
            </a:r>
            <a:r>
              <a:rPr dirty="0" sz="850" spc="-10">
                <a:latin typeface="Calibri"/>
                <a:cs typeface="Calibri"/>
              </a:rPr>
              <a:t>properties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intuitively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expect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properties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satisfied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benefit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unlike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slowing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respect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substitute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z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2" action="ppaction://hlinksldjump"/>
              </a:rPr>
              <a:t>(3.4),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twice,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obtaining: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43379" y="3667889"/>
            <a:ext cx="1835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12745" y="3729045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82928" y="3587001"/>
            <a:ext cx="2165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85">
                <a:latin typeface="Cambria"/>
                <a:cs typeface="Cambria"/>
              </a:rPr>
              <a:t>−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83410" y="3466912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842093" y="3746150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243379" y="3510041"/>
            <a:ext cx="916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59740" algn="l"/>
                <a:tab pos="804545" algn="l"/>
              </a:tabLst>
            </a:pPr>
            <a:r>
              <a:rPr dirty="0" u="sng" sz="850" spc="-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 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u="sng" sz="85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293636" y="3587001"/>
            <a:ext cx="1054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95">
                <a:latin typeface="Cambria"/>
                <a:cs typeface="Cambria"/>
              </a:rPr>
              <a:t>−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952037" y="3435861"/>
            <a:ext cx="96964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888365" algn="l"/>
              </a:tabLst>
            </a:pPr>
            <a:r>
              <a:rPr dirty="0" sz="850" spc="-365">
                <a:latin typeface="Arial MT"/>
                <a:cs typeface="Arial MT"/>
              </a:rPr>
              <a:t>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365">
                <a:latin typeface="Arial MT"/>
                <a:cs typeface="Arial MT"/>
              </a:rPr>
              <a:t>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123105" y="3510043"/>
            <a:ext cx="10071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98450" algn="l"/>
              </a:tabLst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850" spc="4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 spc="3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50" spc="-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spc="14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50" spc="8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850" spc="4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50" spc="254" i="1">
                <a:latin typeface="Calibri"/>
                <a:cs typeface="Calibri"/>
              </a:rPr>
              <a:t>  </a:t>
            </a:r>
            <a:r>
              <a:rPr dirty="0" u="sng" sz="8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4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2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σ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92198" y="3667889"/>
            <a:ext cx="14179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55600" algn="l"/>
                <a:tab pos="728980" algn="l"/>
              </a:tabLst>
            </a:pPr>
            <a:r>
              <a:rPr dirty="0" sz="850" spc="-50" i="1">
                <a:latin typeface="Calibri"/>
                <a:cs typeface="Calibri"/>
              </a:rPr>
              <a:t>n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60" i="1">
                <a:latin typeface="Times New Roman"/>
                <a:cs typeface="Times New Roman"/>
              </a:rPr>
              <a:t>σ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sz="850" spc="60">
                <a:latin typeface="Tahoma"/>
                <a:cs typeface="Tahoma"/>
              </a:rPr>
              <a:t>)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z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185">
                <a:latin typeface="Tahoma"/>
                <a:cs typeface="Tahoma"/>
              </a:rPr>
              <a:t> 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15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96297" y="3729045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166474" y="3587001"/>
            <a:ext cx="2165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85">
                <a:latin typeface="Cambria"/>
                <a:cs typeface="Cambria"/>
              </a:rPr>
              <a:t>−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466960" y="3466912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525648" y="3746150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977181" y="3587001"/>
            <a:ext cx="1054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95">
                <a:latin typeface="Cambria"/>
                <a:cs typeface="Cambria"/>
              </a:rPr>
              <a:t>−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374387" y="3510042"/>
            <a:ext cx="11480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56870" algn="l"/>
                <a:tab pos="730250" algn="l"/>
              </a:tabLst>
            </a:pP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u="sng" sz="85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850" spc="4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50" spc="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spc="14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375748" y="3667889"/>
            <a:ext cx="11461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55600" algn="l"/>
                <a:tab pos="728980" algn="l"/>
              </a:tabLst>
            </a:pPr>
            <a:r>
              <a:rPr dirty="0" sz="850" spc="-50" i="1">
                <a:latin typeface="Calibri"/>
                <a:cs typeface="Calibri"/>
              </a:rPr>
              <a:t>n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60" i="1">
                <a:latin typeface="Times New Roman"/>
                <a:cs typeface="Times New Roman"/>
              </a:rPr>
              <a:t>σ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sz="850" spc="60">
                <a:latin typeface="Tahoma"/>
                <a:cs typeface="Tahoma"/>
              </a:rPr>
              <a:t>)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60" i="1">
                <a:latin typeface="Times New Roman"/>
                <a:cs typeface="Times New Roman"/>
              </a:rPr>
              <a:t>σ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sz="850" spc="60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635592" y="3435861"/>
            <a:ext cx="96964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888365" algn="l"/>
              </a:tabLst>
            </a:pPr>
            <a:r>
              <a:rPr dirty="0" sz="850" spc="-365">
                <a:latin typeface="Arial MT"/>
                <a:cs typeface="Arial MT"/>
              </a:rPr>
              <a:t>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365">
                <a:latin typeface="Arial MT"/>
                <a:cs typeface="Arial MT"/>
              </a:rPr>
              <a:t>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678385" y="3576973"/>
            <a:ext cx="495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>
                <a:latin typeface="Cambria"/>
                <a:cs typeface="Cambria"/>
              </a:rPr>
              <a:t>’</a:t>
            </a:r>
            <a:endParaRPr sz="550">
              <a:latin typeface="Cambria"/>
              <a:cs typeface="Cambri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923317" y="364814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595304" y="3587002"/>
            <a:ext cx="41338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spc="50">
                <a:latin typeface="Tahoma"/>
                <a:cs typeface="Tahoma"/>
              </a:rPr>
              <a:t>(</a:t>
            </a:r>
            <a:r>
              <a:rPr dirty="0" sz="850" spc="50" i="1">
                <a:latin typeface="Calibri"/>
                <a:cs typeface="Calibri"/>
              </a:rPr>
              <a:t>z</a:t>
            </a:r>
            <a:r>
              <a:rPr dirty="0" sz="850" spc="50">
                <a:latin typeface="Tahoma"/>
                <a:cs typeface="Tahoma"/>
              </a:rPr>
              <a:t>)</a:t>
            </a:r>
            <a:r>
              <a:rPr dirty="0" sz="850" spc="50" i="1">
                <a:latin typeface="Calibri"/>
                <a:cs typeface="Calibri"/>
              </a:rPr>
              <a:t>x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144192" y="3587002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(3.5)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67294" y="3977690"/>
            <a:ext cx="37661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Putting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everything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common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denominator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simplifying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becomes: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521543" y="4361610"/>
            <a:ext cx="111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742115" y="4241531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800803" y="4520774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077947" y="4266514"/>
            <a:ext cx="4241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85" i="1">
                <a:latin typeface="Calibri"/>
                <a:cs typeface="Calibri"/>
              </a:rPr>
              <a:t>x</a:t>
            </a:r>
            <a:r>
              <a:rPr dirty="0" baseline="-20202" sz="825" spc="127" i="1">
                <a:latin typeface="Calibri"/>
                <a:cs typeface="Calibri"/>
              </a:rPr>
              <a:t>j</a:t>
            </a:r>
            <a:endParaRPr baseline="-20202" sz="825">
              <a:latin typeface="Calibri"/>
              <a:cs typeface="Calibri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2938627" y="4452048"/>
            <a:ext cx="712470" cy="0"/>
          </a:xfrm>
          <a:custGeom>
            <a:avLst/>
            <a:gdLst/>
            <a:ahLst/>
            <a:cxnLst/>
            <a:rect l="l" t="t" r="r" b="b"/>
            <a:pathLst>
              <a:path w="712470" h="0">
                <a:moveTo>
                  <a:pt x="0" y="0"/>
                </a:moveTo>
                <a:lnTo>
                  <a:pt x="712431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 txBox="1"/>
          <p:nvPr/>
        </p:nvSpPr>
        <p:spPr>
          <a:xfrm>
            <a:off x="2218499" y="4257976"/>
            <a:ext cx="1470660" cy="34163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320"/>
              </a:spcBef>
              <a:tabLst>
                <a:tab pos="443230" algn="l"/>
              </a:tabLst>
            </a:pPr>
            <a:r>
              <a:rPr dirty="0" u="sng" sz="850" spc="-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 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220"/>
              </a:spcBef>
              <a:tabLst>
                <a:tab pos="444500" algn="l"/>
                <a:tab pos="719455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25" i="1">
                <a:latin typeface="Calibri"/>
                <a:cs typeface="Calibri"/>
              </a:rPr>
              <a:t>w</a:t>
            </a:r>
            <a:r>
              <a:rPr dirty="0" baseline="-20202" sz="825" spc="37" i="1">
                <a:latin typeface="Calibri"/>
                <a:cs typeface="Calibri"/>
              </a:rPr>
              <a:t>j</a:t>
            </a:r>
            <a:r>
              <a:rPr dirty="0" baseline="-20202" sz="825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n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60" i="1">
                <a:latin typeface="Times New Roman"/>
                <a:cs typeface="Times New Roman"/>
              </a:rPr>
              <a:t>σ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sz="850" spc="60">
                <a:latin typeface="Tahoma"/>
                <a:cs typeface="Tahoma"/>
              </a:rPr>
              <a:t>)(</a:t>
            </a:r>
            <a:r>
              <a:rPr dirty="0" sz="850" spc="60">
                <a:latin typeface="Calibri"/>
                <a:cs typeface="Calibri"/>
              </a:rPr>
              <a:t>1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5">
                <a:latin typeface="Cambria"/>
                <a:cs typeface="Cambria"/>
              </a:rPr>
              <a:t> </a:t>
            </a:r>
            <a:r>
              <a:rPr dirty="0" sz="850" spc="55" i="1">
                <a:latin typeface="Times New Roman"/>
                <a:cs typeface="Times New Roman"/>
              </a:rPr>
              <a:t>σ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 i="1">
                <a:latin typeface="Calibri"/>
                <a:cs typeface="Calibri"/>
              </a:rPr>
              <a:t>z</a:t>
            </a:r>
            <a:r>
              <a:rPr dirty="0" sz="850" spc="55">
                <a:latin typeface="Tahoma"/>
                <a:cs typeface="Tahoma"/>
              </a:rPr>
              <a:t>))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653548" y="4361610"/>
            <a:ext cx="5600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Times New Roman"/>
                <a:cs typeface="Times New Roman"/>
              </a:rPr>
              <a:t>σ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-100">
                <a:latin typeface="Tahoma"/>
                <a:cs typeface="Tahoma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85">
                <a:latin typeface="Cambria"/>
                <a:cs typeface="Cambri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y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144220" y="4361610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(3.6)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016489" y="4740345"/>
            <a:ext cx="4450715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55880">
              <a:lnSpc>
                <a:spcPct val="114300"/>
              </a:lnSpc>
              <a:spcBef>
                <a:spcPts val="95"/>
              </a:spcBef>
            </a:pPr>
            <a:r>
              <a:rPr dirty="0" sz="850" spc="30">
                <a:latin typeface="Calibri"/>
                <a:cs typeface="Calibri"/>
              </a:rPr>
              <a:t>Using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definition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sigmoid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z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70">
                <a:latin typeface="Calibri"/>
                <a:cs typeface="Calibri"/>
              </a:rPr>
              <a:t>1</a:t>
            </a:r>
            <a:r>
              <a:rPr dirty="0" sz="850" spc="70" i="1">
                <a:latin typeface="Times New Roman"/>
                <a:cs typeface="Times New Roman"/>
              </a:rPr>
              <a:t>/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>
                <a:latin typeface="Calibri"/>
                <a:cs typeface="Calibri"/>
              </a:rPr>
              <a:t>1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5">
                <a:latin typeface="Tahoma"/>
                <a:cs typeface="Tahoma"/>
              </a:rPr>
              <a:t>+</a:t>
            </a:r>
            <a:r>
              <a:rPr dirty="0" sz="850" spc="-85">
                <a:latin typeface="Tahoma"/>
                <a:cs typeface="Tahoma"/>
              </a:rPr>
              <a:t> </a:t>
            </a:r>
            <a:r>
              <a:rPr dirty="0" sz="850" spc="45" i="1">
                <a:latin typeface="Calibri"/>
                <a:cs typeface="Calibri"/>
              </a:rPr>
              <a:t>e</a:t>
            </a:r>
            <a:r>
              <a:rPr dirty="0" baseline="35353" sz="825" spc="67">
                <a:latin typeface="Cambria"/>
                <a:cs typeface="Cambria"/>
              </a:rPr>
              <a:t>−</a:t>
            </a:r>
            <a:r>
              <a:rPr dirty="0" baseline="35353" sz="825" spc="67" i="1">
                <a:latin typeface="Calibri"/>
                <a:cs typeface="Calibri"/>
              </a:rPr>
              <a:t>z</a:t>
            </a:r>
            <a:r>
              <a:rPr dirty="0" baseline="35353" sz="825" spc="-7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little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algebra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show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baseline="35353" sz="825" spc="135">
                <a:latin typeface="Cambria"/>
                <a:cs typeface="Cambria"/>
              </a:rPr>
              <a:t>’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sz="850" spc="90">
                <a:latin typeface="Tahoma"/>
                <a:cs typeface="Tahoma"/>
              </a:rPr>
              <a:t>)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σ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65">
                <a:latin typeface="Tahoma"/>
                <a:cs typeface="Tahoma"/>
              </a:rPr>
              <a:t>)(</a:t>
            </a:r>
            <a:r>
              <a:rPr dirty="0" sz="850" spc="65">
                <a:latin typeface="Calibri"/>
                <a:cs typeface="Calibri"/>
              </a:rPr>
              <a:t>1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10">
                <a:latin typeface="Cambria"/>
                <a:cs typeface="Cambria"/>
              </a:rPr>
              <a:t> </a:t>
            </a:r>
            <a:r>
              <a:rPr dirty="0" sz="850" spc="60" i="1">
                <a:latin typeface="Times New Roman"/>
                <a:cs typeface="Times New Roman"/>
              </a:rPr>
              <a:t>σ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sz="850" spc="60">
                <a:latin typeface="Tahoma"/>
                <a:cs typeface="Tahoma"/>
              </a:rPr>
              <a:t>))</a:t>
            </a:r>
            <a:r>
              <a:rPr dirty="0" sz="850" spc="6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I’ll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ask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verify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exercise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below,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now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let’s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accept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given.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see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baseline="35353" sz="825" spc="135">
                <a:latin typeface="Cambria"/>
                <a:cs typeface="Cambria"/>
              </a:rPr>
              <a:t>’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sz="850" spc="90">
                <a:latin typeface="Tahoma"/>
                <a:cs typeface="Tahoma"/>
              </a:rPr>
              <a:t>)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35">
                <a:latin typeface="Calibri"/>
                <a:cs typeface="Calibri"/>
              </a:rPr>
              <a:t>and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σ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65">
                <a:latin typeface="Tahoma"/>
                <a:cs typeface="Tahoma"/>
              </a:rPr>
              <a:t>)(</a:t>
            </a:r>
            <a:r>
              <a:rPr dirty="0" sz="850" spc="65">
                <a:latin typeface="Calibri"/>
                <a:cs typeface="Calibri"/>
              </a:rPr>
              <a:t>1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70" i="1">
                <a:latin typeface="Times New Roman"/>
                <a:cs typeface="Times New Roman"/>
              </a:rPr>
              <a:t>σ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sz="850" spc="70">
                <a:latin typeface="Tahoma"/>
                <a:cs typeface="Tahoma"/>
              </a:rPr>
              <a:t>))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terms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cancel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equation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above,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simplifies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become: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601150" y="5483924"/>
            <a:ext cx="4540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79730" algn="l"/>
              </a:tabLst>
            </a:pPr>
            <a:r>
              <a:rPr dirty="0" u="sng" sz="850" spc="-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 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601150" y="5641787"/>
            <a:ext cx="1835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770521" y="5702927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970060" y="5641787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061271" y="5440794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119959" y="5720033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304819" y="5622029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840699" y="5560889"/>
            <a:ext cx="10534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09575" algn="l"/>
              </a:tabLst>
            </a:pP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Times New Roman"/>
                <a:cs typeface="Times New Roman"/>
              </a:rPr>
              <a:t>σ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-95">
                <a:latin typeface="Tahoma"/>
                <a:cs typeface="Tahoma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05">
                <a:latin typeface="Cambria"/>
                <a:cs typeface="Cambri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y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144169" y="5560889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(3.7)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1079996" y="7553162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 txBox="1"/>
          <p:nvPr/>
        </p:nvSpPr>
        <p:spPr>
          <a:xfrm>
            <a:off x="1008952" y="5934729"/>
            <a:ext cx="4482465" cy="2079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55880" indent="254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beautiful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controlled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70" i="1">
                <a:latin typeface="Times New Roman"/>
                <a:cs typeface="Times New Roman"/>
              </a:rPr>
              <a:t>σ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sz="850" spc="70">
                <a:latin typeface="Tahoma"/>
                <a:cs typeface="Tahoma"/>
              </a:rPr>
              <a:t>)</a:t>
            </a:r>
            <a:r>
              <a:rPr dirty="0" sz="850" spc="-60">
                <a:latin typeface="Tahoma"/>
                <a:cs typeface="Tahoma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50">
                <a:latin typeface="Cambria"/>
                <a:cs typeface="Cambria"/>
              </a:rPr>
              <a:t> </a:t>
            </a:r>
            <a:r>
              <a:rPr dirty="0" sz="850" spc="60" i="1">
                <a:latin typeface="Calibri"/>
                <a:cs typeface="Calibri"/>
              </a:rPr>
              <a:t>y</a:t>
            </a:r>
            <a:r>
              <a:rPr dirty="0" sz="850" spc="60">
                <a:latin typeface="Calibri"/>
                <a:cs typeface="Calibri"/>
              </a:rPr>
              <a:t>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intuitively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expect.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avoids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slowdown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baseline="35353" sz="825" spc="135">
                <a:latin typeface="Cambria"/>
                <a:cs typeface="Cambria"/>
              </a:rPr>
              <a:t>’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sz="850" spc="90">
                <a:latin typeface="Tahoma"/>
                <a:cs typeface="Tahoma"/>
              </a:rPr>
              <a:t>)</a:t>
            </a:r>
            <a:r>
              <a:rPr dirty="0" sz="850" spc="5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analogous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  <a:hlinkClick r:id="rId4" action="ppaction://hlinksldjump"/>
              </a:rPr>
              <a:t>Equation(3.2).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baseline="35353" sz="825" spc="135">
                <a:latin typeface="Cambria"/>
                <a:cs typeface="Cambria"/>
              </a:rPr>
              <a:t>’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sz="850" spc="90">
                <a:latin typeface="Tahoma"/>
                <a:cs typeface="Tahoma"/>
              </a:rPr>
              <a:t>)</a:t>
            </a:r>
            <a:r>
              <a:rPr dirty="0" sz="850" spc="8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canceled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worry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small.</a:t>
            </a:r>
            <a:r>
              <a:rPr dirty="0" sz="850" spc="3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 </a:t>
            </a:r>
            <a:r>
              <a:rPr dirty="0" sz="850" spc="10">
                <a:latin typeface="Calibri"/>
                <a:cs typeface="Calibri"/>
              </a:rPr>
              <a:t>cancellation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miracle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ensured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cross-</a:t>
            </a:r>
            <a:r>
              <a:rPr dirty="0" sz="850">
                <a:latin typeface="Calibri"/>
                <a:cs typeface="Calibri"/>
              </a:rPr>
              <a:t>entropy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miracle.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</a:t>
            </a:r>
            <a:r>
              <a:rPr dirty="0" sz="850" spc="-10">
                <a:latin typeface="Calibri"/>
                <a:cs typeface="Calibri"/>
              </a:rPr>
              <a:t>entropy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chosen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property.</a:t>
            </a:r>
            <a:endParaRPr sz="850">
              <a:latin typeface="Calibri"/>
              <a:cs typeface="Calibri"/>
            </a:endParaRPr>
          </a:p>
          <a:p>
            <a:pPr algn="just" marL="260350">
              <a:lnSpc>
                <a:spcPct val="100000"/>
              </a:lnSpc>
              <a:spcBef>
                <a:spcPts val="445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through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5"/>
              </a:spcBef>
            </a:pPr>
            <a:endParaRPr sz="850">
              <a:latin typeface="Calibri"/>
              <a:cs typeface="Calibri"/>
            </a:endParaRPr>
          </a:p>
          <a:p>
            <a:pPr algn="just" marL="70485" marR="79375" indent="127635">
              <a:lnSpc>
                <a:spcPts val="800"/>
              </a:lnSpc>
              <a:spcBef>
                <a:spcPts val="5"/>
              </a:spcBef>
            </a:pPr>
            <a:r>
              <a:rPr dirty="0" baseline="30303" sz="825">
                <a:latin typeface="Calibri"/>
                <a:cs typeface="Calibri"/>
              </a:rPr>
              <a:t>1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prove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will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need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assume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desired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outputs</a:t>
            </a:r>
            <a:r>
              <a:rPr dirty="0" sz="750" spc="270">
                <a:latin typeface="Calibri"/>
                <a:cs typeface="Calibri"/>
              </a:rPr>
              <a:t> </a:t>
            </a:r>
            <a:r>
              <a:rPr dirty="0" sz="750" i="1">
                <a:latin typeface="Calibri"/>
                <a:cs typeface="Calibri"/>
              </a:rPr>
              <a:t>y</a:t>
            </a:r>
            <a:r>
              <a:rPr dirty="0" sz="750" spc="220" i="1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are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all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either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0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or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1.</a:t>
            </a:r>
            <a:r>
              <a:rPr dirty="0" sz="750" spc="2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usually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case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when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solving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classification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problems,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example,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or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when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computing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Boolean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functions.</a:t>
            </a:r>
            <a:r>
              <a:rPr dirty="0" sz="750" spc="254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To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understand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what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happens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when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don’t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make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assumption,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see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exercises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end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this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section.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50" name="object 50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" name="object 52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632710" cy="718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64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marL="245745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again,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verify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22600" y="1186508"/>
            <a:ext cx="412115" cy="34163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  <a:tabLst>
                <a:tab pos="336550" algn="l"/>
              </a:tabLst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 marL="18415">
              <a:lnSpc>
                <a:spcPct val="100000"/>
              </a:lnSpc>
              <a:spcBef>
                <a:spcPts val="220"/>
              </a:spcBef>
              <a:tabLst>
                <a:tab pos="337820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739570" y="1170068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18981" y="1290158"/>
            <a:ext cx="9340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86080" algn="l"/>
              </a:tabLst>
            </a:pP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Times New Roman"/>
                <a:cs typeface="Times New Roman"/>
              </a:rPr>
              <a:t>σ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-100">
                <a:latin typeface="Tahoma"/>
                <a:cs typeface="Tahoma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85">
                <a:latin typeface="Cambria"/>
                <a:cs typeface="Cambri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y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798258" y="1449307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784148" y="1290158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(3.8)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6657" y="1668862"/>
            <a:ext cx="4422775" cy="11093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3180" marR="51435" indent="-571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Again,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avoids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slowdown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2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analogous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  <a:hlinkClick r:id="rId2" action="ppaction://hlinksldjump"/>
              </a:rPr>
              <a:t>(3.3).</a:t>
            </a:r>
            <a:endParaRPr sz="85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185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  <a:p>
            <a:pPr marL="358775" indent="-118110">
              <a:lnSpc>
                <a:spcPct val="100000"/>
              </a:lnSpc>
              <a:spcBef>
                <a:spcPts val="175"/>
              </a:spcBef>
              <a:buFont typeface="Cambria"/>
              <a:buChar char="•"/>
              <a:tabLst>
                <a:tab pos="358775" algn="l"/>
              </a:tabLst>
            </a:pPr>
            <a:r>
              <a:rPr dirty="0" sz="850">
                <a:latin typeface="Calibri"/>
                <a:cs typeface="Calibri"/>
              </a:rPr>
              <a:t>Verify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60" i="1">
                <a:latin typeface="Times New Roman"/>
                <a:cs typeface="Times New Roman"/>
              </a:rPr>
              <a:t>σ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sz="850" spc="60">
                <a:latin typeface="Tahoma"/>
                <a:cs typeface="Tahoma"/>
              </a:rPr>
              <a:t>)(</a:t>
            </a:r>
            <a:r>
              <a:rPr dirty="0" sz="850" spc="60">
                <a:latin typeface="Calibri"/>
                <a:cs typeface="Calibri"/>
              </a:rPr>
              <a:t>1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5">
                <a:latin typeface="Cambria"/>
                <a:cs typeface="Cambria"/>
              </a:rPr>
              <a:t> </a:t>
            </a:r>
            <a:r>
              <a:rPr dirty="0" sz="850" spc="55" i="1">
                <a:latin typeface="Times New Roman"/>
                <a:cs typeface="Times New Roman"/>
              </a:rPr>
              <a:t>σ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 i="1">
                <a:latin typeface="Calibri"/>
                <a:cs typeface="Calibri"/>
              </a:rPr>
              <a:t>z</a:t>
            </a:r>
            <a:r>
              <a:rPr dirty="0" sz="850" spc="55">
                <a:latin typeface="Tahoma"/>
                <a:cs typeface="Tahoma"/>
              </a:rPr>
              <a:t>))</a:t>
            </a:r>
            <a:endParaRPr sz="850">
              <a:latin typeface="Tahoma"/>
              <a:cs typeface="Tahoma"/>
            </a:endParaRPr>
          </a:p>
          <a:p>
            <a:pPr algn="just" marL="43180" marR="30480">
              <a:lnSpc>
                <a:spcPct val="114300"/>
              </a:lnSpc>
              <a:spcBef>
                <a:spcPts val="65"/>
              </a:spcBef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return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played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explore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re-orient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ourselves,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begin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0.6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0.9: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06946" y="2970761"/>
            <a:ext cx="3352259" cy="1630339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707301" y="4779702"/>
            <a:ext cx="434594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Unsurprisingly,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perfectly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instance,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stuck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both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2.0: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1" name="object 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06946" y="5442117"/>
            <a:ext cx="3352259" cy="1630339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707301" y="7251032"/>
            <a:ext cx="436880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Success!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quickly,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hoped.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observe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slope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steeper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corresponding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steepness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</a:t>
            </a:r>
            <a:r>
              <a:rPr dirty="0" sz="850" spc="-10">
                <a:latin typeface="Calibri"/>
                <a:cs typeface="Calibri"/>
              </a:rPr>
              <a:t>entropy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buys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preventing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stuck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fastest,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wrong.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14" name="object 14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56042"/>
                  </a:ln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2"/>
                  </a:move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4350" y="368721"/>
            <a:ext cx="4610735" cy="32391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40000">
              <a:lnSpc>
                <a:spcPts val="525"/>
              </a:lnSpc>
              <a:spcBef>
                <a:spcPts val="110"/>
              </a:spcBef>
              <a:tabLst>
                <a:tab pos="4450715" algn="l"/>
              </a:tabLst>
            </a:pPr>
            <a:r>
              <a:rPr dirty="0" sz="850">
                <a:latin typeface="Calibri"/>
                <a:cs typeface="Calibri"/>
              </a:rPr>
              <a:t>3.1.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65</a:t>
            </a:r>
            <a:endParaRPr sz="850">
              <a:latin typeface="Calibri"/>
              <a:cs typeface="Calibri"/>
            </a:endParaRPr>
          </a:p>
          <a:p>
            <a:pPr algn="r" marR="2279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45085" marR="230504" indent="189230">
              <a:lnSpc>
                <a:spcPct val="114300"/>
              </a:lnSpc>
              <a:spcBef>
                <a:spcPts val="5"/>
              </a:spcBef>
            </a:pP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illustrated.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0.15.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new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examples?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precisely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“same”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rate;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oranges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comparison.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made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curious,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despite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disavowal,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lowdown: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-10">
                <a:latin typeface="Calibri"/>
                <a:cs typeface="Calibri"/>
              </a:rPr>
              <a:t>0.005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given.</a:t>
            </a:r>
            <a:endParaRPr sz="850">
              <a:latin typeface="Calibri"/>
              <a:cs typeface="Calibri"/>
            </a:endParaRPr>
          </a:p>
          <a:p>
            <a:pPr algn="just" marL="38100" marR="209550" indent="196850">
              <a:lnSpc>
                <a:spcPct val="114300"/>
              </a:lnSpc>
              <a:spcBef>
                <a:spcPts val="15"/>
              </a:spcBef>
            </a:pP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object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graphs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meaningless.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cares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learns,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arbitrary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begin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with?!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objection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misses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absolute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30">
                <a:latin typeface="Calibri"/>
                <a:cs typeface="Calibri"/>
              </a:rPr>
              <a:t> use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quadratic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learning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slower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neuron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unambiguously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wrong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output;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</a:t>
            </a:r>
            <a:r>
              <a:rPr dirty="0" sz="850" spc="-10">
                <a:latin typeface="Calibri"/>
                <a:cs typeface="Calibri"/>
              </a:rPr>
              <a:t>entropy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unambiguously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wrong.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statements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depend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set.</a:t>
            </a:r>
            <a:endParaRPr sz="850">
              <a:latin typeface="Calibri"/>
              <a:cs typeface="Calibri"/>
            </a:endParaRPr>
          </a:p>
          <a:p>
            <a:pPr algn="just" marL="45085" marR="236854" indent="189230">
              <a:lnSpc>
                <a:spcPct val="114300"/>
              </a:lnSpc>
              <a:spcBef>
                <a:spcPts val="15"/>
              </a:spcBef>
            </a:pPr>
            <a:r>
              <a:rPr dirty="0" sz="850" spc="-20">
                <a:latin typeface="Calibri"/>
                <a:cs typeface="Calibri"/>
              </a:rPr>
              <a:t>We’ve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studying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cross-entropy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single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neuron.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However,</a:t>
            </a:r>
            <a:r>
              <a:rPr dirty="0" sz="850" spc="-10">
                <a:latin typeface="Calibri"/>
                <a:cs typeface="Calibri"/>
              </a:rPr>
              <a:t> it’s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easy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generalize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cross-entropy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many-neuron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multi-layer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networks.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In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particular,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y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40">
                <a:latin typeface="Tahoma"/>
                <a:cs typeface="Tahoma"/>
              </a:rPr>
              <a:t>= </a:t>
            </a:r>
            <a:r>
              <a:rPr dirty="0" sz="850" spc="45" i="1">
                <a:latin typeface="Calibri"/>
                <a:cs typeface="Calibri"/>
              </a:rPr>
              <a:t>y</a:t>
            </a:r>
            <a:r>
              <a:rPr dirty="0" baseline="-20202" sz="825" spc="67">
                <a:latin typeface="Calibri"/>
                <a:cs typeface="Calibri"/>
              </a:rPr>
              <a:t>1</a:t>
            </a:r>
            <a:r>
              <a:rPr dirty="0" sz="850" spc="45">
                <a:latin typeface="Calibri"/>
                <a:cs typeface="Calibri"/>
              </a:rPr>
              <a:t>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45" i="1">
                <a:latin typeface="Calibri"/>
                <a:cs typeface="Calibri"/>
              </a:rPr>
              <a:t>y</a:t>
            </a:r>
            <a:r>
              <a:rPr dirty="0" baseline="-20202" sz="825" spc="67">
                <a:latin typeface="Calibri"/>
                <a:cs typeface="Calibri"/>
              </a:rPr>
              <a:t>2</a:t>
            </a:r>
            <a:r>
              <a:rPr dirty="0" sz="850" spc="45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20">
                <a:latin typeface="Calibri"/>
                <a:cs typeface="Calibri"/>
              </a:rPr>
              <a:t> 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desired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values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neurons,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i.e.,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final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while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127427" y="3673622"/>
            <a:ext cx="22669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alibri"/>
                <a:cs typeface="Calibri"/>
              </a:rPr>
              <a:t>1</a:t>
            </a:r>
            <a:r>
              <a:rPr dirty="0" sz="550" spc="365">
                <a:latin typeface="Calibri"/>
                <a:cs typeface="Calibri"/>
              </a:rPr>
              <a:t>  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44639" y="3599246"/>
            <a:ext cx="367855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482264" y="4101101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708885" y="3999337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931120" y="4012573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647850" y="3938197"/>
            <a:ext cx="7645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27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45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85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-2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14">
                <a:latin typeface="Cambria"/>
                <a:cs typeface="Cambria"/>
              </a:rPr>
              <a:t> </a:t>
            </a: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96069" y="3999337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930207" y="3928168"/>
            <a:ext cx="1001394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951230" algn="l"/>
              </a:tabLst>
            </a:pPr>
            <a:r>
              <a:rPr dirty="0" sz="550" spc="1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870339" y="4012573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412657" y="3821381"/>
            <a:ext cx="16243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558290" algn="l"/>
              </a:tabLst>
            </a:pPr>
            <a:r>
              <a:rPr dirty="0" baseline="3267" sz="1275" spc="195">
                <a:latin typeface="Arial MT"/>
                <a:cs typeface="Arial MT"/>
              </a:rPr>
              <a:t>X</a:t>
            </a:r>
            <a:r>
              <a:rPr dirty="0" sz="850" spc="130">
                <a:latin typeface="Arial MT"/>
                <a:cs typeface="Arial MT"/>
              </a:rPr>
              <a:t>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495">
                <a:latin typeface="Arial MT"/>
                <a:cs typeface="Arial MT"/>
              </a:rPr>
              <a:t>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425646" y="3938197"/>
            <a:ext cx="6572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13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27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330">
                <a:latin typeface="Tahoma"/>
                <a:cs typeface="Tahoma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144154" y="3938197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(3.9)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62380" y="4359366"/>
            <a:ext cx="4165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2" action="ppaction://hlinksldjump"/>
              </a:rPr>
              <a:t>(3.4),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except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238203" y="4265843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357722" y="4429780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67296" y="4490536"/>
            <a:ext cx="4371975" cy="7677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summing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explicitly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derivation,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plausible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  <a:hlinkClick r:id="rId3" action="ppaction://hlinksldjump"/>
              </a:rPr>
              <a:t>(3.9)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slowdown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many-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interested,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below.</a:t>
            </a:r>
            <a:endParaRPr sz="850">
              <a:latin typeface="Calibri"/>
              <a:cs typeface="Calibri"/>
            </a:endParaRPr>
          </a:p>
          <a:p>
            <a:pPr algn="just" marL="201930">
              <a:lnSpc>
                <a:spcPct val="100000"/>
              </a:lnSpc>
              <a:spcBef>
                <a:spcPts val="165"/>
              </a:spcBef>
            </a:pPr>
            <a:r>
              <a:rPr dirty="0" sz="850" spc="10">
                <a:latin typeface="Calibri"/>
                <a:cs typeface="Calibri"/>
              </a:rPr>
              <a:t>Incidentally,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“cross-entropy”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confused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67296" y="5249598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readers,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superficially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appears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conflict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sources.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common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628184" y="5304106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029887" y="5468052"/>
            <a:ext cx="11226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388620" algn="l"/>
                <a:tab pos="730250" algn="l"/>
                <a:tab pos="1064260" algn="l"/>
              </a:tabLst>
            </a:pPr>
            <a:r>
              <a:rPr dirty="0" baseline="5050" sz="825" spc="-75" i="1">
                <a:latin typeface="Calibri"/>
                <a:cs typeface="Calibri"/>
              </a:rPr>
              <a:t>j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26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67296" y="5397629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743325" algn="l"/>
              </a:tabLst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cross-entropy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probability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distributions,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p</a:t>
            </a:r>
            <a:r>
              <a:rPr dirty="0" sz="850" spc="49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q</a:t>
            </a:r>
            <a:r>
              <a:rPr dirty="0" sz="850" spc="19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i="1">
                <a:latin typeface="Calibri"/>
                <a:cs typeface="Calibri"/>
              </a:rPr>
              <a:t>p</a:t>
            </a:r>
            <a:r>
              <a:rPr dirty="0" sz="850" spc="26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q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67296" y="5528825"/>
            <a:ext cx="434594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definition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2" action="ppaction://hlinksldjump"/>
              </a:rPr>
              <a:t>(3.4),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treat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outputting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probability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distribution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consisting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sz="850" spc="14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complement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a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904320" y="5918144"/>
            <a:ext cx="32384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231681" y="5843768"/>
            <a:ext cx="42329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39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activa-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905717" y="5898276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029196" y="5974950"/>
            <a:ext cx="444500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>
              <a:lnSpc>
                <a:spcPct val="114300"/>
              </a:lnSpc>
              <a:spcBef>
                <a:spcPts val="95"/>
              </a:spcBef>
              <a:tabLst>
                <a:tab pos="4006850" algn="l"/>
              </a:tabLst>
            </a:pPr>
            <a:r>
              <a:rPr dirty="0" sz="850" spc="10">
                <a:latin typeface="Calibri"/>
                <a:cs typeface="Calibri"/>
              </a:rPr>
              <a:t>tions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probability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distribution.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definition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like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baseline="-25252" sz="825" i="1">
                <a:latin typeface="Calibri"/>
                <a:cs typeface="Calibri"/>
              </a:rPr>
              <a:t>j</a:t>
            </a:r>
            <a:r>
              <a:rPr dirty="0" baseline="-25252" sz="825" spc="292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</a:t>
            </a:r>
            <a:r>
              <a:rPr dirty="0" baseline="-20202" sz="825" i="1">
                <a:latin typeface="Calibri"/>
                <a:cs typeface="Calibri"/>
              </a:rPr>
              <a:t>j</a:t>
            </a:r>
            <a:r>
              <a:rPr dirty="0" baseline="-20202" sz="825" spc="20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q</a:t>
            </a:r>
            <a:r>
              <a:rPr dirty="0" baseline="-20202" sz="825" spc="-37" i="1">
                <a:latin typeface="Calibri"/>
                <a:cs typeface="Calibri"/>
              </a:rPr>
              <a:t>j</a:t>
            </a:r>
            <a:r>
              <a:rPr dirty="0" baseline="-20202" sz="825" spc="75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doesn’t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sense,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probability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distributions.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Instead,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3" action="ppaction://hlinksldjump"/>
              </a:rPr>
              <a:t>(3.9)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summed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per-neuron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cross-entropies,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interpreted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two-element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probability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distribution</a:t>
            </a:r>
            <a:r>
              <a:rPr dirty="0" baseline="35353" sz="825" spc="15">
                <a:latin typeface="Calibri"/>
                <a:cs typeface="Calibri"/>
                <a:hlinkClick r:id="rId4" action="ppaction://hlinksldjump"/>
              </a:rPr>
              <a:t>2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20">
                <a:latin typeface="Calibri"/>
                <a:cs typeface="Calibri"/>
              </a:rPr>
              <a:t> sense,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  <a:hlinkClick r:id="rId3" action="ppaction://hlinksldjump"/>
              </a:rPr>
              <a:t>(3.9)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generalization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</a:t>
            </a:r>
            <a:r>
              <a:rPr dirty="0" sz="850" spc="20">
                <a:latin typeface="Calibri"/>
                <a:cs typeface="Calibri"/>
              </a:rPr>
              <a:t>entropy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probability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distributions.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1079996" y="785681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1048156" y="6717152"/>
            <a:ext cx="4404995" cy="12973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5400" marR="17780" indent="19621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When should we use the cross-entropy instead of the quadratic cost?</a:t>
            </a:r>
            <a:r>
              <a:rPr dirty="0" sz="850" spc="50">
                <a:latin typeface="Calibri"/>
                <a:cs typeface="Calibri"/>
              </a:rPr>
              <a:t> In </a:t>
            </a:r>
            <a:r>
              <a:rPr dirty="0" sz="850">
                <a:latin typeface="Calibri"/>
                <a:cs typeface="Calibri"/>
              </a:rPr>
              <a:t>fact, the </a:t>
            </a:r>
            <a:r>
              <a:rPr dirty="0" sz="850" spc="-10">
                <a:latin typeface="Calibri"/>
                <a:cs typeface="Calibri"/>
              </a:rPr>
              <a:t>cross-</a:t>
            </a:r>
            <a:r>
              <a:rPr dirty="0" sz="850">
                <a:latin typeface="Calibri"/>
                <a:cs typeface="Calibri"/>
              </a:rPr>
              <a:t>entropy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setting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sort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randomization.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decisively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vice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versa.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quadratic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completely,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endParaRPr sz="850">
              <a:latin typeface="Calibri"/>
              <a:cs typeface="Calibri"/>
            </a:endParaRPr>
          </a:p>
          <a:p>
            <a:pPr marL="159385">
              <a:lnSpc>
                <a:spcPct val="100000"/>
              </a:lnSpc>
              <a:spcBef>
                <a:spcPts val="955"/>
              </a:spcBef>
            </a:pPr>
            <a:r>
              <a:rPr dirty="0" baseline="30303" sz="825" spc="82">
                <a:latin typeface="Calibri"/>
                <a:cs typeface="Calibri"/>
              </a:rPr>
              <a:t>2</a:t>
            </a:r>
            <a:r>
              <a:rPr dirty="0" sz="750" spc="55">
                <a:latin typeface="Calibri"/>
                <a:cs typeface="Calibri"/>
              </a:rPr>
              <a:t>Of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course,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our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there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probabilistic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elements,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they’re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really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probabilities.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31" name="object 31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581525" cy="13919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66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marL="245745">
              <a:lnSpc>
                <a:spcPct val="100000"/>
              </a:lnSpc>
            </a:pPr>
            <a:r>
              <a:rPr dirty="0" sz="850" spc="10">
                <a:latin typeface="Calibri"/>
                <a:cs typeface="Calibri"/>
              </a:rPr>
              <a:t>continue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undesirable.</a:t>
            </a:r>
            <a:endParaRPr sz="850">
              <a:latin typeface="Calibri"/>
              <a:cs typeface="Calibri"/>
            </a:endParaRPr>
          </a:p>
          <a:p>
            <a:pPr marL="245745">
              <a:lnSpc>
                <a:spcPct val="100000"/>
              </a:lnSpc>
              <a:spcBef>
                <a:spcPts val="350"/>
              </a:spcBef>
            </a:pPr>
            <a:r>
              <a:rPr dirty="0" sz="1050" spc="40" b="1">
                <a:latin typeface="Calibri"/>
                <a:cs typeface="Calibri"/>
              </a:rPr>
              <a:t>Exercises</a:t>
            </a:r>
            <a:endParaRPr sz="1050">
              <a:latin typeface="Calibri"/>
              <a:cs typeface="Calibri"/>
            </a:endParaRPr>
          </a:p>
          <a:p>
            <a:pPr algn="just" marL="561975" marR="5080" indent="-118745">
              <a:lnSpc>
                <a:spcPct val="114300"/>
              </a:lnSpc>
              <a:spcBef>
                <a:spcPts val="190"/>
              </a:spcBef>
              <a:buFont typeface="Cambria"/>
              <a:buChar char="•"/>
              <a:tabLst>
                <a:tab pos="561975" algn="l"/>
              </a:tabLst>
            </a:pP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gotcha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cross-entropy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remember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roles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confused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right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5038" y="1751606"/>
            <a:ext cx="4174490" cy="6997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92075">
              <a:lnSpc>
                <a:spcPct val="100000"/>
              </a:lnSpc>
              <a:spcBef>
                <a:spcPts val="110"/>
              </a:spcBef>
            </a:pPr>
            <a:r>
              <a:rPr dirty="0" sz="850" spc="85">
                <a:latin typeface="Cambria"/>
                <a:cs typeface="Cambria"/>
              </a:rPr>
              <a:t>−</a:t>
            </a:r>
            <a:r>
              <a:rPr dirty="0" sz="850" spc="85">
                <a:latin typeface="Tahoma"/>
                <a:cs typeface="Tahoma"/>
              </a:rPr>
              <a:t>[</a:t>
            </a:r>
            <a:r>
              <a:rPr dirty="0" sz="850" spc="-14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2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70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40">
                <a:latin typeface="Cambria"/>
                <a:cs typeface="Cambria"/>
              </a:rPr>
              <a:t> </a:t>
            </a:r>
            <a:r>
              <a:rPr dirty="0" sz="850" spc="55" i="1">
                <a:latin typeface="Calibri"/>
                <a:cs typeface="Calibri"/>
              </a:rPr>
              <a:t>y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-12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30">
                <a:latin typeface="Cambria"/>
                <a:cs typeface="Cambria"/>
              </a:rPr>
              <a:t> </a:t>
            </a:r>
            <a:r>
              <a:rPr dirty="0" sz="850" spc="-20" i="1">
                <a:latin typeface="Calibri"/>
                <a:cs typeface="Calibri"/>
              </a:rPr>
              <a:t>a</a:t>
            </a:r>
            <a:r>
              <a:rPr dirty="0" sz="850" spc="-20">
                <a:latin typeface="Tahoma"/>
                <a:cs typeface="Tahoma"/>
              </a:rPr>
              <a:t>)]</a:t>
            </a:r>
            <a:r>
              <a:rPr dirty="0" sz="850" spc="-2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130810" marR="31115" indent="-7620">
              <a:lnSpc>
                <a:spcPct val="114300"/>
              </a:lnSpc>
              <a:spcBef>
                <a:spcPts val="775"/>
              </a:spcBef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1?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afflict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expression?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not?</a:t>
            </a:r>
            <a:endParaRPr sz="850">
              <a:latin typeface="Calibri"/>
              <a:cs typeface="Calibri"/>
            </a:endParaRPr>
          </a:p>
          <a:p>
            <a:pPr marL="130810" indent="-118110">
              <a:lnSpc>
                <a:spcPct val="100000"/>
              </a:lnSpc>
              <a:spcBef>
                <a:spcPts val="145"/>
              </a:spcBef>
              <a:buFont typeface="Cambria"/>
              <a:buChar char="•"/>
              <a:tabLst>
                <a:tab pos="130810" algn="l"/>
              </a:tabLst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single-neuron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section,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cross-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23619" y="2425592"/>
            <a:ext cx="403225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entropy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250">
                <a:latin typeface="Tahoma"/>
                <a:cs typeface="Tahoma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47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36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inputs.</a:t>
            </a:r>
            <a:r>
              <a:rPr dirty="0" sz="850" spc="240">
                <a:latin typeface="Calibri"/>
                <a:cs typeface="Calibri"/>
              </a:rPr>
              <a:t> 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relied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405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y</a:t>
            </a:r>
            <a:r>
              <a:rPr dirty="0" sz="850" spc="2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either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usually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true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classification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(e.g.,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regression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problems)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21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intermediate</a:t>
            </a:r>
            <a:r>
              <a:rPr dirty="0" sz="850" spc="20">
                <a:latin typeface="Calibri"/>
                <a:cs typeface="Calibri"/>
              </a:rPr>
              <a:t> between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Show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</a:t>
            </a:r>
            <a:r>
              <a:rPr dirty="0" sz="850" spc="20">
                <a:latin typeface="Calibri"/>
                <a:cs typeface="Calibri"/>
              </a:rPr>
              <a:t>entropy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still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minimized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z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80">
                <a:latin typeface="Tahoma"/>
                <a:cs typeface="Tahoma"/>
              </a:rPr>
              <a:t> </a:t>
            </a:r>
            <a:r>
              <a:rPr dirty="0" sz="850" spc="20" i="1">
                <a:latin typeface="Calibri"/>
                <a:cs typeface="Calibri"/>
              </a:rPr>
              <a:t>y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cross-entropy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value: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406000" y="3311463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407373" y="3469325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498585" y="3268347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096477" y="3388427"/>
            <a:ext cx="18865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67690" algn="l"/>
              </a:tabLst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>
                <a:latin typeface="Tahoma"/>
                <a:cs typeface="Tahoma"/>
              </a:rPr>
              <a:t>[</a:t>
            </a:r>
            <a:r>
              <a:rPr dirty="0" sz="850" spc="-14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70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40">
                <a:latin typeface="Cambria"/>
                <a:cs typeface="Cambria"/>
              </a:rPr>
              <a:t> </a:t>
            </a:r>
            <a:r>
              <a:rPr dirty="0" sz="850" spc="55" i="1">
                <a:latin typeface="Calibri"/>
                <a:cs typeface="Calibri"/>
              </a:rPr>
              <a:t>y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-12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35">
                <a:latin typeface="Cambria"/>
                <a:cs typeface="Cambria"/>
              </a:rPr>
              <a:t> </a:t>
            </a:r>
            <a:r>
              <a:rPr dirty="0" sz="850" spc="-20" i="1">
                <a:latin typeface="Calibri"/>
                <a:cs typeface="Calibri"/>
              </a:rPr>
              <a:t>y</a:t>
            </a:r>
            <a:r>
              <a:rPr dirty="0" sz="850" spc="-20">
                <a:latin typeface="Tahoma"/>
                <a:cs typeface="Tahoma"/>
              </a:rPr>
              <a:t>)]</a:t>
            </a:r>
            <a:r>
              <a:rPr dirty="0" sz="850" spc="-2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557273" y="3547576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723383" y="3388427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(3.10)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301" y="3744928"/>
            <a:ext cx="4373245" cy="56959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 marL="323850">
              <a:lnSpc>
                <a:spcPct val="100000"/>
              </a:lnSpc>
              <a:spcBef>
                <a:spcPts val="39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quantity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45">
                <a:latin typeface="Tahoma"/>
                <a:cs typeface="Tahoma"/>
              </a:rPr>
              <a:t>[</a:t>
            </a:r>
            <a:r>
              <a:rPr dirty="0" sz="850" spc="-13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55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65">
                <a:latin typeface="Cambria"/>
                <a:cs typeface="Cambria"/>
              </a:rPr>
              <a:t> </a:t>
            </a:r>
            <a:r>
              <a:rPr dirty="0" sz="850" spc="55" i="1">
                <a:latin typeface="Calibri"/>
                <a:cs typeface="Calibri"/>
              </a:rPr>
              <a:t>y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6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>
                <a:latin typeface="Tahoma"/>
                <a:cs typeface="Tahoma"/>
              </a:rPr>
              <a:t>)]</a:t>
            </a:r>
            <a:r>
              <a:rPr dirty="0" sz="850" spc="5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binary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entropy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1050" spc="40" b="1">
                <a:latin typeface="Calibri"/>
                <a:cs typeface="Calibri"/>
              </a:rPr>
              <a:t>Problems</a:t>
            </a:r>
            <a:endParaRPr sz="1050">
              <a:latin typeface="Calibri"/>
              <a:cs typeface="Calibri"/>
            </a:endParaRPr>
          </a:p>
          <a:p>
            <a:pPr marL="328295" indent="-118110">
              <a:lnSpc>
                <a:spcPct val="100000"/>
              </a:lnSpc>
              <a:spcBef>
                <a:spcPts val="340"/>
              </a:spcBef>
              <a:buFont typeface="Cambria"/>
              <a:buChar char="•"/>
              <a:tabLst>
                <a:tab pos="328295" algn="l"/>
              </a:tabLst>
            </a:pPr>
            <a:r>
              <a:rPr dirty="0" sz="850" spc="20" b="1">
                <a:latin typeface="Calibri"/>
                <a:cs typeface="Calibri"/>
              </a:rPr>
              <a:t>Many-layer</a:t>
            </a:r>
            <a:r>
              <a:rPr dirty="0" sz="850" spc="1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multi-</a:t>
            </a:r>
            <a:r>
              <a:rPr dirty="0" sz="850" spc="50" b="1">
                <a:latin typeface="Calibri"/>
                <a:cs typeface="Calibri"/>
              </a:rPr>
              <a:t>neuron</a:t>
            </a:r>
            <a:r>
              <a:rPr dirty="0" sz="850" spc="1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networks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introduced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chapter,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23619" y="4288987"/>
            <a:ext cx="402971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show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respect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213635" y="4572017"/>
            <a:ext cx="4953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21005" algn="l"/>
              </a:tabLst>
            </a:pPr>
            <a:r>
              <a:rPr dirty="0" u="sng" sz="850" spc="18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 </a:t>
            </a:r>
            <a:r>
              <a:rPr dirty="0" u="sng" sz="85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2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175535" y="4731705"/>
            <a:ext cx="5600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460375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25" i="1">
                <a:latin typeface="Calibri"/>
                <a:cs typeface="Calibri"/>
              </a:rPr>
              <a:t>w</a:t>
            </a:r>
            <a:r>
              <a:rPr dirty="0" baseline="35353" sz="825" spc="37" i="1">
                <a:latin typeface="Calibri"/>
                <a:cs typeface="Calibri"/>
              </a:rPr>
              <a:t>L</a:t>
            </a:r>
            <a:r>
              <a:rPr dirty="0" baseline="35353" sz="825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714866" y="4528883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383016" y="4808122"/>
            <a:ext cx="45085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2590" algn="l"/>
              </a:tabLst>
            </a:pPr>
            <a:r>
              <a:rPr dirty="0" sz="550" spc="-25" i="1">
                <a:latin typeface="Calibri"/>
                <a:cs typeface="Calibri"/>
              </a:rPr>
              <a:t>jk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45436" y="4723349"/>
            <a:ext cx="3041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1145" algn="l"/>
              </a:tabLst>
            </a:pP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444695" y="4710119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51810" y="4638959"/>
            <a:ext cx="8432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61035" algn="l"/>
              </a:tabLst>
            </a:pPr>
            <a:r>
              <a:rPr dirty="0" sz="550" spc="80" i="1">
                <a:latin typeface="Calibri"/>
                <a:cs typeface="Calibri"/>
              </a:rPr>
              <a:t>L</a:t>
            </a:r>
            <a:r>
              <a:rPr dirty="0" sz="550" spc="80">
                <a:latin typeface="Cambria"/>
                <a:cs typeface="Cambria"/>
              </a:rPr>
              <a:t>−</a:t>
            </a:r>
            <a:r>
              <a:rPr dirty="0" sz="550" spc="80">
                <a:latin typeface="Calibri"/>
                <a:cs typeface="Calibri"/>
              </a:rPr>
              <a:t>1</a:t>
            </a:r>
            <a:r>
              <a:rPr dirty="0" sz="550" spc="340">
                <a:latin typeface="Calibri"/>
                <a:cs typeface="Calibri"/>
              </a:rPr>
              <a:t>  </a:t>
            </a:r>
            <a:r>
              <a:rPr dirty="0" sz="550" spc="1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60">
                <a:latin typeface="Cambria"/>
                <a:cs typeface="Cambria"/>
              </a:rPr>
              <a:t>’</a:t>
            </a:r>
            <a:r>
              <a:rPr dirty="0" sz="550" spc="315">
                <a:latin typeface="Cambria"/>
                <a:cs typeface="Cambria"/>
              </a:rPr>
              <a:t>  </a:t>
            </a:r>
            <a:r>
              <a:rPr dirty="0" sz="55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731021" y="4723349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494295" y="4648976"/>
            <a:ext cx="13836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04495" algn="l"/>
                <a:tab pos="609600" algn="l"/>
              </a:tabLst>
            </a:pP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42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0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110">
                <a:latin typeface="Tahoma"/>
                <a:cs typeface="Tahoma"/>
              </a:rPr>
              <a:t>)</a:t>
            </a:r>
            <a:r>
              <a:rPr dirty="0" sz="850" spc="110" i="1">
                <a:latin typeface="Times New Roman"/>
                <a:cs typeface="Times New Roman"/>
              </a:rPr>
              <a:t>σ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285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723401" y="4648973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(3.11)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93293" y="4989121"/>
            <a:ext cx="408495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3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5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causes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slowdown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whenever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saturates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98219" y="5063497"/>
            <a:ext cx="4079875" cy="3784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719455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38100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Show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49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50"/>
              </a:spcBef>
            </a:pP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229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98218" y="5597720"/>
            <a:ext cx="4093210" cy="6172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743075">
              <a:lnSpc>
                <a:spcPct val="100000"/>
              </a:lnSpc>
              <a:spcBef>
                <a:spcPts val="110"/>
              </a:spcBef>
              <a:tabLst>
                <a:tab pos="3737610" algn="l"/>
              </a:tabLst>
            </a:pP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22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172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85">
                <a:latin typeface="Cambria"/>
                <a:cs typeface="Cambri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y</a:t>
            </a:r>
            <a:r>
              <a:rPr dirty="0" sz="850" spc="-25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(3.12)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50">
              <a:latin typeface="Calibri"/>
              <a:cs typeface="Calibri"/>
            </a:endParaRPr>
          </a:p>
          <a:p>
            <a:pPr marL="38100" marR="4318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366048" y="6340898"/>
            <a:ext cx="4953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21005" algn="l"/>
              </a:tabLst>
            </a:pPr>
            <a:r>
              <a:rPr dirty="0" u="sng" sz="850" spc="18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 </a:t>
            </a:r>
            <a:r>
              <a:rPr dirty="0" u="sng" sz="85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2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340648" y="6500586"/>
            <a:ext cx="2755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25" i="1">
                <a:latin typeface="Calibri"/>
                <a:cs typeface="Calibri"/>
              </a:rPr>
              <a:t>w</a:t>
            </a:r>
            <a:r>
              <a:rPr dirty="0" baseline="35353" sz="825" spc="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535424" y="6574506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776067" y="6498745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867279" y="6297767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925967" y="6577006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104223" y="6407828"/>
            <a:ext cx="3130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80" i="1">
                <a:latin typeface="Calibri"/>
                <a:cs typeface="Calibri"/>
              </a:rPr>
              <a:t>L</a:t>
            </a:r>
            <a:r>
              <a:rPr dirty="0" sz="550" spc="80">
                <a:latin typeface="Cambria"/>
                <a:cs typeface="Cambria"/>
              </a:rPr>
              <a:t>−</a:t>
            </a:r>
            <a:r>
              <a:rPr dirty="0" sz="550" spc="80">
                <a:latin typeface="Calibri"/>
                <a:cs typeface="Calibri"/>
              </a:rPr>
              <a:t>1</a:t>
            </a:r>
            <a:r>
              <a:rPr dirty="0" sz="550" spc="340">
                <a:latin typeface="Calibri"/>
                <a:cs typeface="Calibri"/>
              </a:rPr>
              <a:t>  </a:t>
            </a: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097848" y="6492233"/>
            <a:ext cx="3041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1145" algn="l"/>
              </a:tabLst>
            </a:pP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597112" y="6479002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646703" y="6417857"/>
            <a:ext cx="10788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04495" algn="l"/>
                <a:tab pos="609600" algn="l"/>
              </a:tabLst>
            </a:pP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42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0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723379" y="6417857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(3.13)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993293" y="6823801"/>
            <a:ext cx="408495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-9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vanished,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avoids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023619" y="6898162"/>
            <a:ext cx="4032250" cy="6743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423545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algn="just" marL="12700">
              <a:lnSpc>
                <a:spcPts val="975"/>
              </a:lnSpc>
            </a:pPr>
            <a:r>
              <a:rPr dirty="0" sz="850" spc="10">
                <a:latin typeface="Calibri"/>
                <a:cs typeface="Calibri"/>
              </a:rPr>
              <a:t>slowdown,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  <a:p>
            <a:pPr algn="just" marL="12700" marR="508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many-layer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multi-neuron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variation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analysis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holds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analysis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well.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5038" y="7547125"/>
            <a:ext cx="417449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30810" marR="5080" indent="-118745">
              <a:lnSpc>
                <a:spcPct val="114300"/>
              </a:lnSpc>
              <a:spcBef>
                <a:spcPts val="95"/>
              </a:spcBef>
              <a:buFont typeface="Cambria"/>
              <a:buChar char="•"/>
              <a:tabLst>
                <a:tab pos="130810" algn="l"/>
              </a:tabLst>
            </a:pPr>
            <a:r>
              <a:rPr dirty="0" sz="850" spc="55" b="1">
                <a:latin typeface="Calibri"/>
                <a:cs typeface="Calibri"/>
              </a:rPr>
              <a:t>Using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quadratic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cost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when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we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have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linear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neurons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in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output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layer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Sup-</a:t>
            </a:r>
            <a:r>
              <a:rPr dirty="0" sz="850" spc="10">
                <a:latin typeface="Calibri"/>
                <a:cs typeface="Calibri"/>
              </a:rPr>
              <a:t>pose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many-layer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multi-neuron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41" name="object 41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562210" y="368721"/>
            <a:ext cx="205803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922780" algn="l"/>
              </a:tabLst>
            </a:pPr>
            <a:r>
              <a:rPr dirty="0" sz="850">
                <a:latin typeface="Calibri"/>
                <a:cs typeface="Calibri"/>
              </a:rPr>
              <a:t>3.1.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67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58214" y="930569"/>
            <a:ext cx="40830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applied,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375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80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58214" y="1004945"/>
            <a:ext cx="3705225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243840">
              <a:lnSpc>
                <a:spcPts val="615"/>
              </a:lnSpc>
              <a:spcBef>
                <a:spcPts val="120"/>
              </a:spcBef>
              <a:tabLst>
                <a:tab pos="483870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38100">
              <a:lnSpc>
                <a:spcPts val="975"/>
              </a:lnSpc>
            </a:pP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40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19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58214" y="1391124"/>
            <a:ext cx="4106545" cy="6172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743075">
              <a:lnSpc>
                <a:spcPct val="100000"/>
              </a:lnSpc>
              <a:spcBef>
                <a:spcPts val="110"/>
              </a:spcBef>
              <a:tabLst>
                <a:tab pos="3737610" algn="l"/>
              </a:tabLst>
            </a:pP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22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16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85">
                <a:latin typeface="Cambria"/>
                <a:cs typeface="Cambri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y</a:t>
            </a:r>
            <a:r>
              <a:rPr dirty="0" sz="850" spc="-25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(3.14)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50">
              <a:latin typeface="Calibri"/>
              <a:cs typeface="Calibri"/>
            </a:endParaRPr>
          </a:p>
          <a:p>
            <a:pPr marL="38100" marR="3048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Similarly to the previous problem, use this expression to show that the partial </a:t>
            </a:r>
            <a:r>
              <a:rPr dirty="0" sz="850" spc="-10">
                <a:latin typeface="Calibri"/>
                <a:cs typeface="Calibri"/>
              </a:rPr>
              <a:t>deriva-</a:t>
            </a:r>
            <a:r>
              <a:rPr dirty="0" sz="850">
                <a:latin typeface="Calibri"/>
                <a:cs typeface="Calibri"/>
              </a:rPr>
              <a:t>tives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10620" y="2367926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741244" y="2134299"/>
            <a:ext cx="4953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21005" algn="l"/>
              </a:tabLst>
            </a:pPr>
            <a:r>
              <a:rPr dirty="0" u="sng" sz="850" spc="18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 </a:t>
            </a:r>
            <a:r>
              <a:rPr dirty="0" u="sng" sz="85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2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703144" y="2293990"/>
            <a:ext cx="5600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460375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25" i="1">
                <a:latin typeface="Calibri"/>
                <a:cs typeface="Calibri"/>
              </a:rPr>
              <a:t>w</a:t>
            </a:r>
            <a:r>
              <a:rPr dirty="0" baseline="35353" sz="825" spc="37" i="1">
                <a:latin typeface="Calibri"/>
                <a:cs typeface="Calibri"/>
              </a:rPr>
              <a:t>L</a:t>
            </a:r>
            <a:r>
              <a:rPr dirty="0" baseline="35353" sz="825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42475" y="2091169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301163" y="2370408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479419" y="2201245"/>
            <a:ext cx="3130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80" i="1">
                <a:latin typeface="Calibri"/>
                <a:cs typeface="Calibri"/>
              </a:rPr>
              <a:t>L</a:t>
            </a:r>
            <a:r>
              <a:rPr dirty="0" sz="550" spc="80">
                <a:latin typeface="Cambria"/>
                <a:cs typeface="Cambria"/>
              </a:rPr>
              <a:t>−</a:t>
            </a:r>
            <a:r>
              <a:rPr dirty="0" sz="550" spc="80">
                <a:latin typeface="Calibri"/>
                <a:cs typeface="Calibri"/>
              </a:rPr>
              <a:t>1</a:t>
            </a:r>
            <a:r>
              <a:rPr dirty="0" sz="550" spc="340">
                <a:latin typeface="Calibri"/>
                <a:cs typeface="Calibri"/>
              </a:rPr>
              <a:t>  </a:t>
            </a: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473044" y="2285635"/>
            <a:ext cx="3041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1145" algn="l"/>
              </a:tabLst>
            </a:pP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972309" y="2272404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21899" y="2211267"/>
            <a:ext cx="10483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04495" algn="l"/>
                <a:tab pos="609600" algn="l"/>
              </a:tabLst>
            </a:pP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42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0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083390" y="2211264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(3.15)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786367" y="2478723"/>
            <a:ext cx="4502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75920" algn="l"/>
              </a:tabLst>
            </a:pPr>
            <a:r>
              <a:rPr dirty="0" u="sng" sz="850" spc="-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760967" y="2638414"/>
            <a:ext cx="50228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402590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30" i="1">
                <a:latin typeface="Calibri"/>
                <a:cs typeface="Calibri"/>
              </a:rPr>
              <a:t>b</a:t>
            </a:r>
            <a:r>
              <a:rPr dirty="0" baseline="35353" sz="825" spc="44" i="1">
                <a:latin typeface="Calibri"/>
                <a:cs typeface="Calibri"/>
              </a:rPr>
              <a:t>L</a:t>
            </a:r>
            <a:r>
              <a:rPr dirty="0" baseline="35353" sz="825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242475" y="2435593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35949" y="2714837"/>
            <a:ext cx="42545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7825" algn="l"/>
              </a:tabLst>
            </a:pPr>
            <a:r>
              <a:rPr dirty="0" baseline="5050" sz="825" spc="-75" i="1">
                <a:latin typeface="Calibri"/>
                <a:cs typeface="Calibri"/>
              </a:rPr>
              <a:t>j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507131" y="2545669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08044" y="2630064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748684" y="2616829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021902" y="2555686"/>
            <a:ext cx="85534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86080" algn="l"/>
              </a:tabLst>
            </a:pP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(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42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0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083411" y="2555688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(3.16)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24280" y="2931840"/>
            <a:ext cx="4489450" cy="2538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71475" marR="105410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slowdown.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quadratic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appropriate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use.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15"/>
              </a:spcBef>
            </a:pPr>
            <a:endParaRPr sz="85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</a:pPr>
            <a:r>
              <a:rPr dirty="0" sz="950" spc="50" b="1">
                <a:latin typeface="Calibri"/>
                <a:cs typeface="Calibri"/>
              </a:rPr>
              <a:t>3.1.2</a:t>
            </a:r>
            <a:r>
              <a:rPr dirty="0" sz="950" spc="370" b="1">
                <a:latin typeface="Calibri"/>
                <a:cs typeface="Calibri"/>
              </a:rPr>
              <a:t>  </a:t>
            </a:r>
            <a:r>
              <a:rPr dirty="0" sz="950" spc="55" b="1">
                <a:latin typeface="Calibri"/>
                <a:cs typeface="Calibri"/>
              </a:rPr>
              <a:t>Using</a:t>
            </a:r>
            <a:r>
              <a:rPr dirty="0" sz="950" spc="130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the</a:t>
            </a:r>
            <a:r>
              <a:rPr dirty="0" sz="950" spc="125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cross-entropy</a:t>
            </a:r>
            <a:r>
              <a:rPr dirty="0" sz="950" spc="125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to</a:t>
            </a:r>
            <a:r>
              <a:rPr dirty="0" sz="950" spc="125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classify</a:t>
            </a:r>
            <a:r>
              <a:rPr dirty="0" sz="950" spc="125" b="1">
                <a:latin typeface="Calibri"/>
                <a:cs typeface="Calibri"/>
              </a:rPr>
              <a:t> </a:t>
            </a:r>
            <a:r>
              <a:rPr dirty="0" sz="950" spc="70" b="1">
                <a:latin typeface="Calibri"/>
                <a:cs typeface="Calibri"/>
              </a:rPr>
              <a:t>MNIST</a:t>
            </a:r>
            <a:r>
              <a:rPr dirty="0" sz="950" spc="125" b="1">
                <a:latin typeface="Calibri"/>
                <a:cs typeface="Calibri"/>
              </a:rPr>
              <a:t> </a:t>
            </a:r>
            <a:r>
              <a:rPr dirty="0" sz="950" spc="-10" b="1">
                <a:latin typeface="Calibri"/>
                <a:cs typeface="Calibri"/>
              </a:rPr>
              <a:t>digits</a:t>
            </a:r>
            <a:endParaRPr sz="950">
              <a:latin typeface="Calibri"/>
              <a:cs typeface="Calibri"/>
            </a:endParaRPr>
          </a:p>
          <a:p>
            <a:pPr marL="50800" marR="43180">
              <a:lnSpc>
                <a:spcPct val="111000"/>
              </a:lnSpc>
              <a:spcBef>
                <a:spcPts val="70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cross-entropy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</a:t>
            </a:r>
            <a:r>
              <a:rPr dirty="0" sz="850" spc="20">
                <a:latin typeface="Calibri"/>
                <a:cs typeface="Calibri"/>
              </a:rPr>
              <a:t> descent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chapter,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developing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improved</a:t>
            </a:r>
            <a:r>
              <a:rPr dirty="0" sz="850" spc="20">
                <a:latin typeface="Calibri"/>
                <a:cs typeface="Calibri"/>
              </a:rPr>
              <a:t> version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handwritten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900" spc="-10">
                <a:latin typeface="Calibri"/>
                <a:cs typeface="Calibri"/>
              </a:rPr>
              <a:t>network.py</a:t>
            </a:r>
            <a:r>
              <a:rPr dirty="0" sz="850" spc="-10">
                <a:latin typeface="Calibri"/>
                <a:cs typeface="Calibri"/>
              </a:rPr>
              <a:t>.</a:t>
            </a:r>
            <a:r>
              <a:rPr dirty="0" sz="850" spc="50">
                <a:latin typeface="Calibri"/>
                <a:cs typeface="Calibri"/>
              </a:rPr>
              <a:t> 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program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called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network2.py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incorporates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not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just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cross-entropy,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3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0.5</a:t>
            </a:r>
            <a:r>
              <a:rPr dirty="0" baseline="35353" sz="825" spc="-30">
                <a:latin typeface="Calibri"/>
                <a:cs typeface="Calibri"/>
                <a:hlinkClick r:id="rId2" action="ppaction://hlinksldjump"/>
              </a:rPr>
              <a:t>4</a:t>
            </a:r>
            <a:r>
              <a:rPr dirty="0" baseline="35353" sz="825" spc="7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interface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network2.py</a:t>
            </a:r>
            <a:r>
              <a:rPr dirty="0" sz="90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slightly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900" spc="45">
                <a:latin typeface="Calibri"/>
                <a:cs typeface="Calibri"/>
              </a:rPr>
              <a:t>network. </a:t>
            </a:r>
            <a:r>
              <a:rPr dirty="0" sz="900">
                <a:latin typeface="Calibri"/>
                <a:cs typeface="Calibri"/>
              </a:rPr>
              <a:t>py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clear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documentation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network2.py</a:t>
            </a:r>
            <a:r>
              <a:rPr dirty="0" sz="850" spc="20">
                <a:latin typeface="Calibri"/>
                <a:cs typeface="Calibri"/>
              </a:rPr>
              <a:t>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interface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commands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help(network2.Network.SGD)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Python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shell.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39510" y="5520918"/>
            <a:ext cx="4401185" cy="887094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mnist_loader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mnist_loader.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load_data_wrapper()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network2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10],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cost=network2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CrossEntropyCost)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net.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large_weight_initializer()</a:t>
            </a:r>
            <a:endParaRPr sz="700">
              <a:latin typeface="Calibri"/>
              <a:cs typeface="Calibri"/>
            </a:endParaRPr>
          </a:p>
          <a:p>
            <a:pPr marL="299720" marR="848360" indent="-254000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0.5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evaluation_data=test_data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85">
                <a:latin typeface="Calibri"/>
                <a:cs typeface="Calibri"/>
              </a:rPr>
              <a:t>monitor_evaluation_accuracy=True)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079996" y="665483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1037525" y="6670209"/>
            <a:ext cx="4425315" cy="6661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just" marL="170180">
              <a:lnSpc>
                <a:spcPct val="100000"/>
              </a:lnSpc>
              <a:spcBef>
                <a:spcPts val="114"/>
              </a:spcBef>
            </a:pPr>
            <a:r>
              <a:rPr dirty="0" baseline="30303" sz="825" spc="75">
                <a:latin typeface="Calibri"/>
                <a:cs typeface="Calibri"/>
              </a:rPr>
              <a:t>3</a:t>
            </a:r>
            <a:r>
              <a:rPr dirty="0" sz="750" spc="50">
                <a:latin typeface="Calibri"/>
                <a:cs typeface="Calibri"/>
              </a:rPr>
              <a:t>The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code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available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  <a:hlinkClick r:id="rId3"/>
              </a:rPr>
              <a:t>GitHub</a:t>
            </a:r>
            <a:r>
              <a:rPr dirty="0" sz="750" spc="-10">
                <a:latin typeface="Calibri"/>
                <a:cs typeface="Calibri"/>
              </a:rPr>
              <a:t>.</a:t>
            </a:r>
            <a:endParaRPr sz="750">
              <a:latin typeface="Calibri"/>
              <a:cs typeface="Calibri"/>
            </a:endParaRPr>
          </a:p>
          <a:p>
            <a:pPr algn="just" marL="41910" marR="30480" indent="127635">
              <a:lnSpc>
                <a:spcPts val="800"/>
              </a:lnSpc>
              <a:spcBef>
                <a:spcPts val="145"/>
              </a:spcBef>
            </a:pPr>
            <a:r>
              <a:rPr dirty="0" baseline="30303" sz="825" spc="82">
                <a:latin typeface="Calibri"/>
                <a:cs typeface="Calibri"/>
              </a:rPr>
              <a:t>4</a:t>
            </a:r>
            <a:r>
              <a:rPr dirty="0" sz="750" spc="55">
                <a:latin typeface="Calibri"/>
                <a:cs typeface="Calibri"/>
              </a:rPr>
              <a:t>In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Chapter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1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quadratic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cost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learning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rate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20" i="1">
                <a:latin typeface="Times New Roman"/>
                <a:cs typeface="Times New Roman"/>
              </a:rPr>
              <a:t>η</a:t>
            </a:r>
            <a:r>
              <a:rPr dirty="0" sz="750" spc="45" i="1">
                <a:latin typeface="Times New Roman"/>
                <a:cs typeface="Times New Roman"/>
              </a:rPr>
              <a:t> </a:t>
            </a:r>
            <a:r>
              <a:rPr dirty="0" sz="750">
                <a:latin typeface="Tahoma"/>
                <a:cs typeface="Tahoma"/>
              </a:rPr>
              <a:t>=</a:t>
            </a:r>
            <a:r>
              <a:rPr dirty="0" sz="750" spc="5">
                <a:latin typeface="Tahoma"/>
                <a:cs typeface="Tahoma"/>
              </a:rPr>
              <a:t> </a:t>
            </a:r>
            <a:r>
              <a:rPr dirty="0" sz="750">
                <a:latin typeface="Calibri"/>
                <a:cs typeface="Calibri"/>
              </a:rPr>
              <a:t>3.0.</a:t>
            </a:r>
            <a:r>
              <a:rPr dirty="0" sz="750" spc="2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discussed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above,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it’s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not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possible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say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precisely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what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means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use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“same”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learning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rate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when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cost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function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changed.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both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cost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functions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experimented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find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learning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rate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provides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near-optimal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performance,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given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8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other</a:t>
            </a:r>
            <a:r>
              <a:rPr dirty="0" sz="750" spc="18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hyper-parameter</a:t>
            </a:r>
            <a:r>
              <a:rPr dirty="0" sz="750" spc="18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choices.</a:t>
            </a:r>
            <a:endParaRPr sz="750">
              <a:latin typeface="Calibri"/>
              <a:cs typeface="Calibri"/>
            </a:endParaRPr>
          </a:p>
          <a:p>
            <a:pPr algn="just" marL="38100">
              <a:lnSpc>
                <a:spcPts val="780"/>
              </a:lnSpc>
            </a:pPr>
            <a:r>
              <a:rPr dirty="0" sz="750" spc="10">
                <a:latin typeface="Calibri"/>
                <a:cs typeface="Calibri"/>
              </a:rPr>
              <a:t>There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incidentally,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very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rough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general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heuristic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relating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learning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rate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cross-</a:t>
            </a:r>
            <a:r>
              <a:rPr dirty="0" sz="750" spc="-10">
                <a:latin typeface="Calibri"/>
                <a:cs typeface="Calibri"/>
              </a:rPr>
              <a:t>entropy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67296" y="7295155"/>
            <a:ext cx="4345940" cy="1422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quadratic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cost.</a:t>
            </a:r>
            <a:r>
              <a:rPr dirty="0" sz="750" spc="4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saw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earlier,</a:t>
            </a:r>
            <a:r>
              <a:rPr dirty="0" sz="750" spc="2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gradient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terms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for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quadratic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cost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have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extra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141145" y="7427677"/>
            <a:ext cx="495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>
                <a:latin typeface="Cambria"/>
                <a:cs typeface="Cambria"/>
              </a:rPr>
              <a:t>’</a:t>
            </a:r>
            <a:endParaRPr sz="550">
              <a:latin typeface="Cambria"/>
              <a:cs typeface="Cambri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247756" y="7355237"/>
            <a:ext cx="80645" cy="1422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50" spc="165">
                <a:latin typeface="Arial MT"/>
                <a:cs typeface="Arial MT"/>
              </a:rPr>
              <a:t>,</a:t>
            </a:r>
            <a:endParaRPr sz="750">
              <a:latin typeface="Arial MT"/>
              <a:cs typeface="Arial MT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319764" y="7404093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302862" y="7506685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67296" y="7442158"/>
            <a:ext cx="4345940" cy="1422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325495" algn="l"/>
              </a:tabLst>
            </a:pPr>
            <a:r>
              <a:rPr dirty="0" sz="750" spc="190" i="1">
                <a:latin typeface="Times New Roman"/>
                <a:cs typeface="Times New Roman"/>
              </a:rPr>
              <a:t>σ</a:t>
            </a:r>
            <a:r>
              <a:rPr dirty="0" sz="750" spc="375" i="1">
                <a:latin typeface="Times New Roman"/>
                <a:cs typeface="Times New Roman"/>
              </a:rPr>
              <a:t> </a:t>
            </a:r>
            <a:r>
              <a:rPr dirty="0" sz="750" spc="60">
                <a:latin typeface="Tahoma"/>
                <a:cs typeface="Tahoma"/>
              </a:rPr>
              <a:t>=</a:t>
            </a:r>
            <a:r>
              <a:rPr dirty="0" sz="750" spc="15">
                <a:latin typeface="Tahoma"/>
                <a:cs typeface="Tahoma"/>
              </a:rPr>
              <a:t> </a:t>
            </a:r>
            <a:r>
              <a:rPr dirty="0" sz="750" spc="90" i="1">
                <a:latin typeface="Times New Roman"/>
                <a:cs typeface="Times New Roman"/>
              </a:rPr>
              <a:t>σ</a:t>
            </a:r>
            <a:r>
              <a:rPr dirty="0" sz="750" spc="90">
                <a:latin typeface="Tahoma"/>
                <a:cs typeface="Tahoma"/>
              </a:rPr>
              <a:t>(</a:t>
            </a:r>
            <a:r>
              <a:rPr dirty="0" sz="750" spc="90">
                <a:latin typeface="Calibri"/>
                <a:cs typeface="Calibri"/>
              </a:rPr>
              <a:t>1</a:t>
            </a:r>
            <a:r>
              <a:rPr dirty="0" sz="750" spc="20">
                <a:latin typeface="Calibri"/>
                <a:cs typeface="Calibri"/>
              </a:rPr>
              <a:t> </a:t>
            </a:r>
            <a:r>
              <a:rPr dirty="0" sz="750" spc="140">
                <a:latin typeface="Cambria"/>
                <a:cs typeface="Cambria"/>
              </a:rPr>
              <a:t>−</a:t>
            </a:r>
            <a:r>
              <a:rPr dirty="0" sz="750" spc="25">
                <a:latin typeface="Cambria"/>
                <a:cs typeface="Cambria"/>
              </a:rPr>
              <a:t> </a:t>
            </a:r>
            <a:r>
              <a:rPr dirty="0" sz="750" spc="105" i="1">
                <a:latin typeface="Times New Roman"/>
                <a:cs typeface="Times New Roman"/>
              </a:rPr>
              <a:t>σ</a:t>
            </a:r>
            <a:r>
              <a:rPr dirty="0" sz="750" spc="105">
                <a:latin typeface="Tahoma"/>
                <a:cs typeface="Tahoma"/>
              </a:rPr>
              <a:t>)</a:t>
            </a:r>
            <a:r>
              <a:rPr dirty="0" sz="750" spc="50">
                <a:latin typeface="Tahoma"/>
                <a:cs typeface="Tahoma"/>
              </a:rPr>
              <a:t> </a:t>
            </a:r>
            <a:r>
              <a:rPr dirty="0" sz="750" spc="10">
                <a:latin typeface="Calibri"/>
                <a:cs typeface="Calibri"/>
              </a:rPr>
              <a:t>term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them.</a:t>
            </a:r>
            <a:r>
              <a:rPr dirty="0" sz="750" spc="2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Suppose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average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over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values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85" i="1">
                <a:latin typeface="Times New Roman"/>
                <a:cs typeface="Times New Roman"/>
              </a:rPr>
              <a:t>σ</a:t>
            </a:r>
            <a:r>
              <a:rPr dirty="0" sz="750" spc="85">
                <a:latin typeface="Calibri"/>
                <a:cs typeface="Calibri"/>
              </a:rPr>
              <a:t>,</a:t>
            </a:r>
            <a:r>
              <a:rPr dirty="0" sz="750">
                <a:latin typeface="Calibri"/>
                <a:cs typeface="Calibri"/>
              </a:rPr>
              <a:t>	</a:t>
            </a:r>
            <a:r>
              <a:rPr dirty="0" sz="750" spc="100">
                <a:latin typeface="Calibri"/>
                <a:cs typeface="Calibri"/>
              </a:rPr>
              <a:t>d</a:t>
            </a:r>
            <a:r>
              <a:rPr dirty="0" sz="750" spc="100" i="1">
                <a:latin typeface="Times New Roman"/>
                <a:cs typeface="Times New Roman"/>
              </a:rPr>
              <a:t>σσ</a:t>
            </a:r>
            <a:r>
              <a:rPr dirty="0" sz="750" spc="100">
                <a:latin typeface="Tahoma"/>
                <a:cs typeface="Tahoma"/>
              </a:rPr>
              <a:t>(</a:t>
            </a:r>
            <a:r>
              <a:rPr dirty="0" sz="750" spc="100">
                <a:latin typeface="Calibri"/>
                <a:cs typeface="Calibri"/>
              </a:rPr>
              <a:t>1</a:t>
            </a:r>
            <a:r>
              <a:rPr dirty="0" sz="750" spc="-15">
                <a:latin typeface="Calibri"/>
                <a:cs typeface="Calibri"/>
              </a:rPr>
              <a:t> </a:t>
            </a:r>
            <a:r>
              <a:rPr dirty="0" sz="750" spc="140">
                <a:latin typeface="Cambria"/>
                <a:cs typeface="Cambria"/>
              </a:rPr>
              <a:t>−</a:t>
            </a:r>
            <a:r>
              <a:rPr dirty="0" sz="750" spc="-10">
                <a:latin typeface="Cambria"/>
                <a:cs typeface="Cambria"/>
              </a:rPr>
              <a:t> </a:t>
            </a:r>
            <a:r>
              <a:rPr dirty="0" sz="750" spc="105" i="1">
                <a:latin typeface="Times New Roman"/>
                <a:cs typeface="Times New Roman"/>
              </a:rPr>
              <a:t>σ</a:t>
            </a:r>
            <a:r>
              <a:rPr dirty="0" sz="750" spc="105">
                <a:latin typeface="Tahoma"/>
                <a:cs typeface="Tahoma"/>
              </a:rPr>
              <a:t>)</a:t>
            </a:r>
            <a:r>
              <a:rPr dirty="0" sz="750" spc="-35">
                <a:latin typeface="Tahoma"/>
                <a:cs typeface="Tahoma"/>
              </a:rPr>
              <a:t> </a:t>
            </a:r>
            <a:r>
              <a:rPr dirty="0" sz="750" spc="60">
                <a:latin typeface="Tahoma"/>
                <a:cs typeface="Tahoma"/>
              </a:rPr>
              <a:t>=</a:t>
            </a:r>
            <a:r>
              <a:rPr dirty="0" sz="750" spc="-30">
                <a:latin typeface="Tahoma"/>
                <a:cs typeface="Tahoma"/>
              </a:rPr>
              <a:t> </a:t>
            </a:r>
            <a:r>
              <a:rPr dirty="0" sz="750" spc="75">
                <a:latin typeface="Calibri"/>
                <a:cs typeface="Calibri"/>
              </a:rPr>
              <a:t>1</a:t>
            </a:r>
            <a:r>
              <a:rPr dirty="0" sz="750" spc="75" i="1">
                <a:latin typeface="Times New Roman"/>
                <a:cs typeface="Times New Roman"/>
              </a:rPr>
              <a:t>/</a:t>
            </a:r>
            <a:r>
              <a:rPr dirty="0" sz="750" spc="75">
                <a:latin typeface="Calibri"/>
                <a:cs typeface="Calibri"/>
              </a:rPr>
              <a:t>6.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We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067296" y="7568523"/>
            <a:ext cx="4348480" cy="44577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just" marL="12700" marR="5080">
              <a:lnSpc>
                <a:spcPts val="800"/>
              </a:lnSpc>
              <a:spcBef>
                <a:spcPts val="225"/>
              </a:spcBef>
            </a:pPr>
            <a:r>
              <a:rPr dirty="0" sz="750" spc="20">
                <a:latin typeface="Calibri"/>
                <a:cs typeface="Calibri"/>
              </a:rPr>
              <a:t>see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that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(very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roughly)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quadratic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cost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learns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average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6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times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slower,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for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same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learning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rate.</a:t>
            </a:r>
            <a:r>
              <a:rPr dirty="0" sz="750" spc="20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suggests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reasonable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starting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point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divide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learning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rate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quadratic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cost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6.</a:t>
            </a:r>
            <a:r>
              <a:rPr dirty="0" sz="750" spc="2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course,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argument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far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from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rigorous,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shouldn’t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taken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too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seriously.</a:t>
            </a:r>
            <a:r>
              <a:rPr dirty="0" sz="750" spc="2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Still,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can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sometimes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useful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starting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point.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37" name="object 37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606290" cy="62350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68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850">
              <a:latin typeface="Arial MT"/>
              <a:cs typeface="Arial MT"/>
            </a:endParaRPr>
          </a:p>
          <a:p>
            <a:pPr algn="just" marL="245745" marR="6350">
              <a:lnSpc>
                <a:spcPct val="113900"/>
              </a:lnSpc>
            </a:pPr>
            <a:r>
              <a:rPr dirty="0" sz="850">
                <a:latin typeface="Calibri"/>
                <a:cs typeface="Calibri"/>
              </a:rPr>
              <a:t>Note,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900" spc="114">
                <a:latin typeface="Calibri"/>
                <a:cs typeface="Calibri"/>
              </a:rPr>
              <a:t>net.large_weight_initializer()</a:t>
            </a:r>
            <a:r>
              <a:rPr dirty="0" sz="90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command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initial-</a:t>
            </a:r>
            <a:r>
              <a:rPr dirty="0" sz="850">
                <a:latin typeface="Calibri"/>
                <a:cs typeface="Calibri"/>
              </a:rPr>
              <a:t>ize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20">
                <a:latin typeface="Calibri"/>
                <a:cs typeface="Calibri"/>
              </a:rPr>
              <a:t> command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because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later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chapter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default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running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sequence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commands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95.49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95.42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percent,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cost.</a:t>
            </a:r>
            <a:endParaRPr sz="850">
              <a:latin typeface="Calibri"/>
              <a:cs typeface="Calibri"/>
            </a:endParaRPr>
          </a:p>
          <a:p>
            <a:pPr algn="just" marL="240665" marR="5080" indent="194310">
              <a:lnSpc>
                <a:spcPct val="114300"/>
              </a:lnSpc>
              <a:spcBef>
                <a:spcPts val="75"/>
              </a:spcBef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otherwise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keep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96.82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percent.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substantial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obtained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96.59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small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dropped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3.41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3.18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percent.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eliminated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fourteen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handy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improvement.</a:t>
            </a:r>
            <a:endParaRPr sz="850">
              <a:latin typeface="Calibri"/>
              <a:cs typeface="Calibri"/>
            </a:endParaRPr>
          </a:p>
          <a:p>
            <a:pPr algn="just" marL="238760" marR="29209" indent="196215">
              <a:lnSpc>
                <a:spcPct val="114300"/>
              </a:lnSpc>
              <a:spcBef>
                <a:spcPts val="75"/>
              </a:spcBef>
            </a:pP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encouraging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cross-entropy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gives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similar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quadratic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However,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don’t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conclusively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cross-entropy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effort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convincing</a:t>
            </a:r>
            <a:r>
              <a:rPr dirty="0" sz="850" spc="20">
                <a:latin typeface="Calibri"/>
                <a:cs typeface="Calibri"/>
              </a:rPr>
              <a:t> we’d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thorough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job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optimizing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hyper-parameters.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Still,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encouraging,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reinforce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theoretical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</a:t>
            </a:r>
            <a:r>
              <a:rPr dirty="0" sz="850" spc="10">
                <a:latin typeface="Calibri"/>
                <a:cs typeface="Calibri"/>
              </a:rPr>
              <a:t>entropy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cost.</a:t>
            </a:r>
            <a:endParaRPr sz="850">
              <a:latin typeface="Calibri"/>
              <a:cs typeface="Calibri"/>
            </a:endParaRPr>
          </a:p>
          <a:p>
            <a:pPr algn="just" marL="245745" marR="9525" indent="189230">
              <a:lnSpc>
                <a:spcPct val="114300"/>
              </a:lnSpc>
              <a:spcBef>
                <a:spcPts val="80"/>
              </a:spcBef>
            </a:pP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pattern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and,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indeed,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out,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“improved”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nice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interpretation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improvements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problematic.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convincing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improvement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after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putting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tremendous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effort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optimizing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requiring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exhaustive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investigation.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basis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short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definitive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proof,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alert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breaking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down.</a:t>
            </a:r>
            <a:endParaRPr sz="850">
              <a:latin typeface="Calibri"/>
              <a:cs typeface="Calibri"/>
            </a:endParaRPr>
          </a:p>
          <a:p>
            <a:pPr algn="just" marL="238760" marR="5080" indent="196215">
              <a:lnSpc>
                <a:spcPct val="114300"/>
              </a:lnSpc>
              <a:spcBef>
                <a:spcPts val="75"/>
              </a:spcBef>
            </a:pPr>
            <a:r>
              <a:rPr dirty="0" sz="850" spc="55">
                <a:latin typeface="Calibri"/>
                <a:cs typeface="Calibri"/>
              </a:rPr>
              <a:t>By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effort</a:t>
            </a:r>
            <a:r>
              <a:rPr dirty="0" sz="850" spc="20">
                <a:latin typeface="Calibri"/>
                <a:cs typeface="Calibri"/>
              </a:rPr>
              <a:t> 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gives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improvement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results?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chapter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20">
                <a:latin typeface="Calibri"/>
                <a:cs typeface="Calibri"/>
              </a:rPr>
              <a:t> see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techniques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notably,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give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bigger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improvements.</a:t>
            </a:r>
            <a:r>
              <a:rPr dirty="0" sz="850" spc="55">
                <a:latin typeface="Calibri"/>
                <a:cs typeface="Calibri"/>
              </a:rPr>
              <a:t> So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focus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cross-entropy?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widely-used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well.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important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saturation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important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return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repeatedly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length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laboratory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saturation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addressed.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1178" y="6843622"/>
            <a:ext cx="4378325" cy="117348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5"/>
              </a:spcBef>
            </a:pPr>
            <a:r>
              <a:rPr dirty="0" sz="950" spc="50" b="1">
                <a:latin typeface="Calibri"/>
                <a:cs typeface="Calibri"/>
              </a:rPr>
              <a:t>3.1.3</a:t>
            </a:r>
            <a:r>
              <a:rPr dirty="0" sz="950" spc="395" b="1">
                <a:latin typeface="Calibri"/>
                <a:cs typeface="Calibri"/>
              </a:rPr>
              <a:t>  </a:t>
            </a:r>
            <a:r>
              <a:rPr dirty="0" sz="950" spc="20" b="1">
                <a:latin typeface="Calibri"/>
                <a:cs typeface="Calibri"/>
              </a:rPr>
              <a:t>What</a:t>
            </a:r>
            <a:r>
              <a:rPr dirty="0" sz="950" spc="140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does</a:t>
            </a:r>
            <a:r>
              <a:rPr dirty="0" sz="950" spc="140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the</a:t>
            </a:r>
            <a:r>
              <a:rPr dirty="0" sz="950" spc="140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cross-entropy</a:t>
            </a:r>
            <a:r>
              <a:rPr dirty="0" sz="950" spc="140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mean?</a:t>
            </a:r>
            <a:r>
              <a:rPr dirty="0" sz="950" spc="254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Where</a:t>
            </a:r>
            <a:r>
              <a:rPr dirty="0" sz="950" spc="140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does</a:t>
            </a:r>
            <a:r>
              <a:rPr dirty="0" sz="950" spc="140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it</a:t>
            </a:r>
            <a:r>
              <a:rPr dirty="0" sz="950" spc="140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come</a:t>
            </a:r>
            <a:r>
              <a:rPr dirty="0" sz="950" spc="140" b="1">
                <a:latin typeface="Calibri"/>
                <a:cs typeface="Calibri"/>
              </a:rPr>
              <a:t> </a:t>
            </a:r>
            <a:r>
              <a:rPr dirty="0" sz="950" spc="-10" b="1">
                <a:latin typeface="Calibri"/>
                <a:cs typeface="Calibri"/>
              </a:rPr>
              <a:t>from?</a:t>
            </a:r>
            <a:endParaRPr sz="950">
              <a:latin typeface="Calibri"/>
              <a:cs typeface="Calibri"/>
            </a:endParaRPr>
          </a:p>
          <a:p>
            <a:pPr algn="just" marL="13335" marR="5080" indent="-1270">
              <a:lnSpc>
                <a:spcPct val="114300"/>
              </a:lnSpc>
              <a:spcBef>
                <a:spcPts val="815"/>
              </a:spcBef>
            </a:pPr>
            <a:r>
              <a:rPr dirty="0" sz="850">
                <a:latin typeface="Calibri"/>
                <a:cs typeface="Calibri"/>
              </a:rPr>
              <a:t>Our discussion of the cross-entropy has focused on algebraic analysis and practical </a:t>
            </a:r>
            <a:r>
              <a:rPr dirty="0" sz="850" spc="-10">
                <a:latin typeface="Calibri"/>
                <a:cs typeface="Calibri"/>
              </a:rPr>
              <a:t>implemen-</a:t>
            </a:r>
            <a:r>
              <a:rPr dirty="0" sz="850">
                <a:latin typeface="Calibri"/>
                <a:cs typeface="Calibri"/>
              </a:rPr>
              <a:t>tation.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useful,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leaves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unanswered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broader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conceptual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like: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does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cross-entropy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mean?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intuitive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cross-</a:t>
            </a:r>
            <a:r>
              <a:rPr dirty="0" sz="850" spc="-10">
                <a:latin typeface="Calibri"/>
                <a:cs typeface="Calibri"/>
              </a:rPr>
              <a:t>entropy?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dreamed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place?</a:t>
            </a:r>
            <a:endParaRPr sz="850">
              <a:latin typeface="Calibri"/>
              <a:cs typeface="Calibri"/>
            </a:endParaRPr>
          </a:p>
          <a:p>
            <a:pPr algn="just" marL="18415" marR="31115" indent="189230">
              <a:lnSpc>
                <a:spcPct val="114300"/>
              </a:lnSpc>
              <a:spcBef>
                <a:spcPts val="80"/>
              </a:spcBef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begin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questions: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motivated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place?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slowdown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described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5" name="object 5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6652" y="368721"/>
            <a:ext cx="4608830" cy="11626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38095">
              <a:lnSpc>
                <a:spcPts val="525"/>
              </a:lnSpc>
              <a:spcBef>
                <a:spcPts val="110"/>
              </a:spcBef>
              <a:tabLst>
                <a:tab pos="4448175" algn="l"/>
              </a:tabLst>
            </a:pPr>
            <a:r>
              <a:rPr dirty="0" sz="850">
                <a:latin typeface="Calibri"/>
                <a:cs typeface="Calibri"/>
              </a:rPr>
              <a:t>3.1.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69</a:t>
            </a:r>
            <a:endParaRPr sz="850">
              <a:latin typeface="Calibri"/>
              <a:cs typeface="Calibri"/>
            </a:endParaRPr>
          </a:p>
          <a:p>
            <a:pPr algn="r" marR="2279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100" marR="209550" indent="508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earlier,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understood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baseline="35353" sz="825" spc="135">
                <a:latin typeface="Cambria"/>
                <a:cs typeface="Cambria"/>
              </a:rPr>
              <a:t>’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sz="850" spc="90">
                <a:latin typeface="Tahoma"/>
                <a:cs typeface="Tahoma"/>
              </a:rPr>
              <a:t>)</a:t>
            </a:r>
            <a:r>
              <a:rPr dirty="0" sz="850" spc="9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  <a:hlinkClick r:id="rId2" action="ppaction://hlinksldjump"/>
              </a:rPr>
              <a:t>(3.2)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2" action="ppaction://hlinksldjump"/>
              </a:rPr>
              <a:t>(3.3).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wonder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disappeared.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70" i="1">
                <a:latin typeface="Calibri"/>
                <a:cs typeface="Calibri"/>
              </a:rPr>
              <a:t>C</a:t>
            </a:r>
            <a:r>
              <a:rPr dirty="0" baseline="-20202" sz="825" spc="104" i="1">
                <a:latin typeface="Calibri"/>
                <a:cs typeface="Calibri"/>
              </a:rPr>
              <a:t>x</a:t>
            </a:r>
            <a:r>
              <a:rPr dirty="0" baseline="-20202" sz="825" spc="3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8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satisfy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55558" y="1657300"/>
            <a:ext cx="1714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2746667" y="1824685"/>
            <a:ext cx="199390" cy="0"/>
          </a:xfrm>
          <a:custGeom>
            <a:avLst/>
            <a:gdLst/>
            <a:ahLst/>
            <a:cxnLst/>
            <a:rect l="l" t="t" r="r" b="b"/>
            <a:pathLst>
              <a:path w="199389" h="0">
                <a:moveTo>
                  <a:pt x="0" y="0"/>
                </a:moveTo>
                <a:lnTo>
                  <a:pt x="19894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2733967" y="1815162"/>
            <a:ext cx="1835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03348" y="1876303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23817" y="1734264"/>
            <a:ext cx="2427605" cy="48640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10"/>
              </a:spcBef>
              <a:tabLst>
                <a:tab pos="283845" algn="l"/>
                <a:tab pos="2072005" algn="l"/>
              </a:tabLst>
            </a:pP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-65" i="1">
                <a:latin typeface="Calibri"/>
                <a:cs typeface="Calibri"/>
              </a:rPr>
              <a:t> </a:t>
            </a:r>
            <a:r>
              <a:rPr dirty="0" baseline="-20202" sz="825" i="1">
                <a:latin typeface="Calibri"/>
                <a:cs typeface="Calibri"/>
              </a:rPr>
              <a:t>j</a:t>
            </a:r>
            <a:r>
              <a:rPr dirty="0" baseline="-20202" sz="825" spc="-52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25">
                <a:latin typeface="Cambria"/>
                <a:cs typeface="Cambria"/>
              </a:rPr>
              <a:t> </a:t>
            </a:r>
            <a:r>
              <a:rPr dirty="0" sz="850" spc="30" i="1">
                <a:latin typeface="Calibri"/>
                <a:cs typeface="Calibri"/>
              </a:rPr>
              <a:t>y</a:t>
            </a:r>
            <a:r>
              <a:rPr dirty="0" sz="850" spc="30">
                <a:latin typeface="Tahoma"/>
                <a:cs typeface="Tahoma"/>
              </a:rPr>
              <a:t>)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50">
                <a:latin typeface="Calibri"/>
                <a:cs typeface="Calibri"/>
              </a:rPr>
              <a:t>(3.17)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endParaRPr sz="85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tabLst>
                <a:tab pos="2072005" algn="l"/>
              </a:tabLst>
            </a:pP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240">
                <a:latin typeface="Tahoma"/>
                <a:cs typeface="Tahoma"/>
              </a:rPr>
              <a:t> 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a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85">
                <a:latin typeface="Cambria"/>
                <a:cs typeface="Cambri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y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(3.18)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789834" y="2154504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 h="0">
                <a:moveTo>
                  <a:pt x="0" y="0"/>
                </a:moveTo>
                <a:lnTo>
                  <a:pt x="15577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2777135" y="1960431"/>
            <a:ext cx="172720" cy="34163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  <a:p>
            <a:pPr marL="18415">
              <a:lnSpc>
                <a:spcPct val="100000"/>
              </a:lnSpc>
              <a:spcBef>
                <a:spcPts val="22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2380" y="2388178"/>
            <a:ext cx="4378325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444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capture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greater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They’d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eliminate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slowdown.</a:t>
            </a:r>
            <a:r>
              <a:rPr dirty="0" sz="850" spc="160">
                <a:latin typeface="Calibri"/>
                <a:cs typeface="Calibri"/>
              </a:rPr>
              <a:t> 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starting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noses.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2858859" y="3447173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 h="0">
                <a:moveTo>
                  <a:pt x="0" y="0"/>
                </a:moveTo>
                <a:lnTo>
                  <a:pt x="15577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3181870" y="3447173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 h="0">
                <a:moveTo>
                  <a:pt x="0" y="0"/>
                </a:moveTo>
                <a:lnTo>
                  <a:pt x="15577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2820760" y="3279789"/>
            <a:ext cx="854075" cy="3149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815"/>
              </a:lnSpc>
              <a:spcBef>
                <a:spcPts val="110"/>
              </a:spcBef>
              <a:tabLst>
                <a:tab pos="360680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  <a:p>
            <a:pPr marL="234315">
              <a:lnSpc>
                <a:spcPts val="620"/>
              </a:lnSpc>
              <a:tabLst>
                <a:tab pos="531495" algn="l"/>
              </a:tabLst>
            </a:pP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65" i="1">
                <a:latin typeface="Times New Roman"/>
                <a:cs typeface="Times New Roman"/>
              </a:rPr>
              <a:t>σ</a:t>
            </a:r>
            <a:r>
              <a:rPr dirty="0" baseline="35353" sz="825" spc="97">
                <a:latin typeface="Cambria"/>
                <a:cs typeface="Cambria"/>
              </a:rPr>
              <a:t>’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6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43815">
              <a:lnSpc>
                <a:spcPts val="830"/>
              </a:lnSpc>
              <a:tabLst>
                <a:tab pos="368935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083367" y="3356748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(3.19)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41897" y="3702584"/>
            <a:ext cx="3276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60" i="1">
                <a:latin typeface="Times New Roman"/>
                <a:cs typeface="Times New Roman"/>
              </a:rPr>
              <a:t>σ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sz="850" spc="60">
                <a:latin typeface="Tahoma"/>
                <a:cs typeface="Tahoma"/>
              </a:rPr>
              <a:t>)(</a:t>
            </a:r>
            <a:r>
              <a:rPr dirty="0" sz="850" spc="60"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5">
                <a:latin typeface="Cambria"/>
                <a:cs typeface="Cambria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σ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65">
                <a:latin typeface="Tahoma"/>
                <a:cs typeface="Tahoma"/>
              </a:rPr>
              <a:t>))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4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becomes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2662390" y="4152595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 h="0">
                <a:moveTo>
                  <a:pt x="0" y="0"/>
                </a:moveTo>
                <a:lnTo>
                  <a:pt x="15577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2649692" y="3985209"/>
            <a:ext cx="4940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35280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2985389" y="4152595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 h="0">
                <a:moveTo>
                  <a:pt x="0" y="0"/>
                </a:moveTo>
                <a:lnTo>
                  <a:pt x="15577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2655976" y="4062174"/>
            <a:ext cx="936625" cy="23749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02565">
              <a:lnSpc>
                <a:spcPts val="830"/>
              </a:lnSpc>
              <a:spcBef>
                <a:spcPts val="110"/>
              </a:spcBef>
              <a:tabLst>
                <a:tab pos="502920" algn="l"/>
              </a:tabLst>
            </a:pP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a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830"/>
              </a:lnSpc>
              <a:tabLst>
                <a:tab pos="337185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083411" y="4062174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(3.20)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62047" y="4399955"/>
            <a:ext cx="18808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Comparing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3" action="ppaction://hlinksldjump"/>
              </a:rPr>
              <a:t>3.18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obtain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2740279" y="4849964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 h="0">
                <a:moveTo>
                  <a:pt x="0" y="0"/>
                </a:moveTo>
                <a:lnTo>
                  <a:pt x="15577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2727576" y="4682580"/>
            <a:ext cx="664845" cy="23367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815"/>
              </a:lnSpc>
              <a:spcBef>
                <a:spcPts val="110"/>
              </a:spcBef>
              <a:tabLst>
                <a:tab pos="405765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a</a:t>
            </a:r>
            <a:r>
              <a:rPr dirty="0" sz="850" spc="-1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90">
                <a:latin typeface="Cambria"/>
                <a:cs typeface="Cambria"/>
              </a:rPr>
              <a:t> </a:t>
            </a: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  <a:p>
            <a:pPr marL="208915">
              <a:lnSpc>
                <a:spcPts val="815"/>
              </a:lnSpc>
            </a:pP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3063290" y="4849964"/>
            <a:ext cx="393065" cy="0"/>
          </a:xfrm>
          <a:custGeom>
            <a:avLst/>
            <a:gdLst/>
            <a:ahLst/>
            <a:cxnLst/>
            <a:rect l="l" t="t" r="r" b="b"/>
            <a:pathLst>
              <a:path w="393064" h="0">
                <a:moveTo>
                  <a:pt x="0" y="0"/>
                </a:moveTo>
                <a:lnTo>
                  <a:pt x="393001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2735605" y="4840442"/>
            <a:ext cx="7334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30200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a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a</a:t>
            </a:r>
            <a:r>
              <a:rPr dirty="0" sz="850" spc="-25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458768" y="4759544"/>
            <a:ext cx="558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083359" y="4759544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(3.21)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67295" y="5117164"/>
            <a:ext cx="4345940" cy="9302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Integrating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respect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gives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50">
              <a:latin typeface="Calibri"/>
              <a:cs typeface="Calibri"/>
            </a:endParaRPr>
          </a:p>
          <a:p>
            <a:pPr marL="12700" indent="984885">
              <a:lnSpc>
                <a:spcPct val="100000"/>
              </a:lnSpc>
              <a:tabLst>
                <a:tab pos="4028440" algn="l"/>
              </a:tabLst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85">
                <a:latin typeface="Cambria"/>
                <a:cs typeface="Cambria"/>
              </a:rPr>
              <a:t>−</a:t>
            </a:r>
            <a:r>
              <a:rPr dirty="0" sz="850" spc="85">
                <a:latin typeface="Tahoma"/>
                <a:cs typeface="Tahoma"/>
              </a:rPr>
              <a:t>[</a:t>
            </a:r>
            <a:r>
              <a:rPr dirty="0" sz="850" spc="-14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80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25">
                <a:latin typeface="Cambria"/>
                <a:cs typeface="Cambria"/>
              </a:rPr>
              <a:t> </a:t>
            </a:r>
            <a:r>
              <a:rPr dirty="0" sz="850" spc="55" i="1">
                <a:latin typeface="Calibri"/>
                <a:cs typeface="Calibri"/>
              </a:rPr>
              <a:t>y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-12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3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>
                <a:latin typeface="Tahoma"/>
                <a:cs typeface="Tahoma"/>
              </a:rPr>
              <a:t>)]</a:t>
            </a:r>
            <a:r>
              <a:rPr dirty="0" sz="850" spc="-80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75">
                <a:latin typeface="Tahoma"/>
                <a:cs typeface="Tahoma"/>
              </a:rPr>
              <a:t> </a:t>
            </a:r>
            <a:r>
              <a:rPr dirty="0" sz="850" spc="-10">
                <a:latin typeface="Calibri"/>
                <a:cs typeface="Calibri"/>
              </a:rPr>
              <a:t>constant,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(3.22)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850">
              <a:latin typeface="Calibri"/>
              <a:cs typeface="Calibri"/>
            </a:endParaRPr>
          </a:p>
          <a:p>
            <a:pPr marL="12700" marR="508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constant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integration.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contribution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average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obtaining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230931" y="6167120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232291" y="6324983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323503" y="6123990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921408" y="6244084"/>
            <a:ext cx="23869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67690" algn="l"/>
              </a:tabLst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>
                <a:latin typeface="Tahoma"/>
                <a:cs typeface="Tahoma"/>
              </a:rPr>
              <a:t>[</a:t>
            </a:r>
            <a:r>
              <a:rPr dirty="0" sz="850" spc="-14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2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70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40">
                <a:latin typeface="Cambria"/>
                <a:cs typeface="Cambria"/>
              </a:rPr>
              <a:t> </a:t>
            </a:r>
            <a:r>
              <a:rPr dirty="0" sz="850" spc="55" i="1">
                <a:latin typeface="Calibri"/>
                <a:cs typeface="Calibri"/>
              </a:rPr>
              <a:t>y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-114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>
                <a:latin typeface="Tahoma"/>
                <a:cs typeface="Tahoma"/>
              </a:rPr>
              <a:t>)]</a:t>
            </a:r>
            <a:r>
              <a:rPr dirty="0" sz="850" spc="-70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-10">
                <a:latin typeface="Calibri"/>
                <a:cs typeface="Calibri"/>
              </a:rPr>
              <a:t>constant,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382186" y="6403234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083418" y="6244085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(3.23)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060856" y="6617926"/>
            <a:ext cx="4378325" cy="13989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5080" indent="-6985">
              <a:lnSpc>
                <a:spcPct val="114300"/>
              </a:lnSpc>
              <a:spcBef>
                <a:spcPts val="95"/>
              </a:spcBef>
            </a:pPr>
            <a:r>
              <a:rPr dirty="0" sz="850" spc="30">
                <a:latin typeface="Calibri"/>
                <a:cs typeface="Calibri"/>
              </a:rPr>
              <a:t>where the constant here is the average of the individual constants for each training </a:t>
            </a:r>
            <a:r>
              <a:rPr dirty="0" sz="850" spc="-10">
                <a:latin typeface="Calibri"/>
                <a:cs typeface="Calibri"/>
              </a:rPr>
              <a:t>exam-</a:t>
            </a:r>
            <a:r>
              <a:rPr dirty="0" sz="850" spc="10">
                <a:latin typeface="Calibri"/>
                <a:cs typeface="Calibri"/>
              </a:rPr>
              <a:t>ple.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  <a:hlinkClick r:id="rId3" action="ppaction://hlinksldjump"/>
              </a:rPr>
              <a:t>(3.17)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  <a:hlinkClick r:id="rId3" action="ppaction://hlinksldjump"/>
              </a:rPr>
              <a:t>(3.18)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uniquely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determine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cross-entropy,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constant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cross-entropy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miraculously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pulled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air.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discovered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natural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way.</a:t>
            </a:r>
            <a:endParaRPr sz="850">
              <a:latin typeface="Calibri"/>
              <a:cs typeface="Calibri"/>
            </a:endParaRPr>
          </a:p>
          <a:p>
            <a:pPr algn="just" marL="19050" marR="15240" indent="189230">
              <a:lnSpc>
                <a:spcPct val="114300"/>
              </a:lnSpc>
              <a:spcBef>
                <a:spcPts val="325"/>
              </a:spcBef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intuitive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cross-entropy?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How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it?</a:t>
            </a:r>
            <a:r>
              <a:rPr dirty="0" sz="850" spc="20">
                <a:latin typeface="Calibri"/>
                <a:cs typeface="Calibri"/>
              </a:rPr>
              <a:t> Explaining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depth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would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take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further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afield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want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However,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mentioning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interpreting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</a:t>
            </a:r>
            <a:r>
              <a:rPr dirty="0" sz="850" spc="10">
                <a:latin typeface="Calibri"/>
                <a:cs typeface="Calibri"/>
              </a:rPr>
              <a:t>entropy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comes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theory.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Roughly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speaking,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measure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37" name="object 37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582160" cy="10147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70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45745" marR="50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surprise.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23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155">
                <a:latin typeface="Tahoma"/>
                <a:cs typeface="Tahoma"/>
              </a:rPr>
              <a:t> </a:t>
            </a:r>
            <a:r>
              <a:rPr dirty="0" sz="850" spc="70" i="1">
                <a:latin typeface="Calibri"/>
                <a:cs typeface="Calibri"/>
              </a:rPr>
              <a:t>y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Tahoma"/>
                <a:cs typeface="Tahoma"/>
              </a:rPr>
              <a:t>)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7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22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135">
                <a:latin typeface="Tahoma"/>
                <a:cs typeface="Tahoma"/>
              </a:rPr>
              <a:t> </a:t>
            </a:r>
            <a:r>
              <a:rPr dirty="0" sz="850" spc="55" i="1">
                <a:latin typeface="Calibri"/>
                <a:cs typeface="Calibri"/>
              </a:rPr>
              <a:t>a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 i="1">
                <a:latin typeface="Calibri"/>
                <a:cs typeface="Calibri"/>
              </a:rPr>
              <a:t>x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55">
                <a:latin typeface="Calibri"/>
                <a:cs typeface="Calibri"/>
              </a:rPr>
              <a:t>.</a:t>
            </a:r>
            <a:r>
              <a:rPr dirty="0" sz="850" spc="4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estimated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probability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-9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4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estimated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probability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0852" y="1357828"/>
            <a:ext cx="4375150" cy="15328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9685">
              <a:lnSpc>
                <a:spcPct val="114300"/>
              </a:lnSpc>
              <a:spcBef>
                <a:spcPts val="95"/>
              </a:spcBef>
            </a:pP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measures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“surprised”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average,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y</a:t>
            </a:r>
            <a:r>
              <a:rPr dirty="0" sz="850" spc="6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surprise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expect,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surprise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unexpected.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said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“surprise”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empty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verbiage.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precise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information-</a:t>
            </a:r>
            <a:r>
              <a:rPr dirty="0" sz="850" spc="-10">
                <a:latin typeface="Calibri"/>
                <a:cs typeface="Calibri"/>
              </a:rPr>
              <a:t>theoretic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saying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surprise.</a:t>
            </a:r>
            <a:r>
              <a:rPr dirty="0" sz="850" spc="19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Unfortunately,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good,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short,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self-contained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subject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available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online.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deeper,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Wikipedia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/>
              </a:rPr>
              <a:t>brief</a:t>
            </a:r>
            <a:r>
              <a:rPr dirty="0" sz="850" spc="120">
                <a:latin typeface="Calibri"/>
                <a:cs typeface="Calibri"/>
                <a:hlinkClick r:id="rId2"/>
              </a:rPr>
              <a:t> </a:t>
            </a:r>
            <a:r>
              <a:rPr dirty="0" sz="850">
                <a:latin typeface="Calibri"/>
                <a:cs typeface="Calibri"/>
                <a:hlinkClick r:id="rId2"/>
              </a:rPr>
              <a:t>summary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track.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details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filled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through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materials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Kraft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inequality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5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/>
              </a:rPr>
              <a:t>Cover</a:t>
            </a:r>
            <a:r>
              <a:rPr dirty="0" sz="850" spc="90">
                <a:latin typeface="Calibri"/>
                <a:cs typeface="Calibri"/>
                <a:hlinkClick r:id="rId3"/>
              </a:rPr>
              <a:t> </a:t>
            </a:r>
            <a:r>
              <a:rPr dirty="0" sz="850" spc="10">
                <a:latin typeface="Calibri"/>
                <a:cs typeface="Calibri"/>
                <a:hlinkClick r:id="rId3"/>
              </a:rPr>
              <a:t>and</a:t>
            </a:r>
            <a:r>
              <a:rPr dirty="0" sz="850" spc="95">
                <a:latin typeface="Calibri"/>
                <a:cs typeface="Calibri"/>
                <a:hlinkClick r:id="rId3"/>
              </a:rPr>
              <a:t> </a:t>
            </a:r>
            <a:r>
              <a:rPr dirty="0" sz="850" spc="-10">
                <a:latin typeface="Calibri"/>
                <a:cs typeface="Calibri"/>
                <a:hlinkClick r:id="rId3"/>
              </a:rPr>
              <a:t>Thomas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20"/>
              </a:spcBef>
            </a:pP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81901" y="2860021"/>
            <a:ext cx="4462145" cy="2386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47345" marR="68580" indent="-112395">
              <a:lnSpc>
                <a:spcPct val="114300"/>
              </a:lnSpc>
              <a:spcBef>
                <a:spcPts val="95"/>
              </a:spcBef>
              <a:buFont typeface="Cambria"/>
              <a:buChar char="•"/>
              <a:tabLst>
                <a:tab pos="347345" algn="l"/>
                <a:tab pos="353060" algn="l"/>
              </a:tabLst>
            </a:pP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-10">
                <a:latin typeface="Calibri"/>
                <a:cs typeface="Calibri"/>
              </a:rPr>
              <a:t>We’ve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slowdown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occur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inhibit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presence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-45" i="1">
                <a:latin typeface="Calibri"/>
                <a:cs typeface="Calibri"/>
              </a:rPr>
              <a:t> </a:t>
            </a:r>
            <a:r>
              <a:rPr dirty="0" baseline="-20202" sz="825" i="1">
                <a:latin typeface="Calibri"/>
                <a:cs typeface="Calibri"/>
              </a:rPr>
              <a:t>j</a:t>
            </a:r>
            <a:r>
              <a:rPr dirty="0" baseline="-20202" sz="825" spc="41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4" action="ppaction://hlinksldjump"/>
              </a:rPr>
              <a:t>(3.7).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20">
                <a:latin typeface="Calibri"/>
                <a:cs typeface="Calibri"/>
              </a:rPr>
              <a:t> 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-50" i="1">
                <a:latin typeface="Calibri"/>
                <a:cs typeface="Calibri"/>
              </a:rPr>
              <a:t> </a:t>
            </a:r>
            <a:r>
              <a:rPr dirty="0" baseline="-20202" sz="825" spc="30" i="1">
                <a:latin typeface="Calibri"/>
                <a:cs typeface="Calibri"/>
              </a:rPr>
              <a:t>j</a:t>
            </a:r>
            <a:r>
              <a:rPr dirty="0" baseline="-20202" sz="825" spc="397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zero,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39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slowly.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Explain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eliminate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-60" i="1">
                <a:latin typeface="Calibri"/>
                <a:cs typeface="Calibri"/>
              </a:rPr>
              <a:t> </a:t>
            </a:r>
            <a:r>
              <a:rPr dirty="0" baseline="-20202" sz="825" i="1">
                <a:latin typeface="Calibri"/>
                <a:cs typeface="Calibri"/>
              </a:rPr>
              <a:t>j</a:t>
            </a:r>
            <a:r>
              <a:rPr dirty="0" baseline="-20202" sz="825" spc="37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clever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90"/>
              </a:spcBef>
            </a:pPr>
            <a:endParaRPr sz="85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950" spc="50" b="1">
                <a:latin typeface="Calibri"/>
                <a:cs typeface="Calibri"/>
              </a:rPr>
              <a:t>3.1.4</a:t>
            </a:r>
            <a:r>
              <a:rPr dirty="0" sz="950" spc="260" b="1">
                <a:latin typeface="Calibri"/>
                <a:cs typeface="Calibri"/>
              </a:rPr>
              <a:t>  </a:t>
            </a:r>
            <a:r>
              <a:rPr dirty="0" sz="950" spc="40" b="1">
                <a:latin typeface="Calibri"/>
                <a:cs typeface="Calibri"/>
              </a:rPr>
              <a:t>Softmax</a:t>
            </a:r>
            <a:endParaRPr sz="950">
              <a:latin typeface="Calibri"/>
              <a:cs typeface="Calibri"/>
            </a:endParaRPr>
          </a:p>
          <a:p>
            <a:pPr algn="just" marL="31115" marR="68580" indent="6350">
              <a:lnSpc>
                <a:spcPct val="114300"/>
              </a:lnSpc>
              <a:spcBef>
                <a:spcPts val="670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address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slowdown.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briefly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softmax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remainder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hurry,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skip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next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section.</a:t>
            </a:r>
            <a:r>
              <a:rPr dirty="0" sz="850" spc="20">
                <a:latin typeface="Calibri"/>
                <a:cs typeface="Calibri"/>
              </a:rPr>
              <a:t> However,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softmax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still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understanding,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because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intrinsically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interesting,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6,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  <a:p>
            <a:pPr algn="just" marL="227329">
              <a:lnSpc>
                <a:spcPct val="100000"/>
              </a:lnSpc>
              <a:spcBef>
                <a:spcPts val="14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type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860276" y="5312125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81900" y="5237748"/>
            <a:ext cx="43961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baseline="35353" sz="825" spc="15">
                <a:latin typeface="Calibri"/>
                <a:cs typeface="Calibri"/>
                <a:hlinkClick r:id="rId5" action="ppaction://hlinksldjump"/>
              </a:rPr>
              <a:t>5</a:t>
            </a:r>
            <a:r>
              <a:rPr dirty="0" baseline="35353" sz="825" spc="442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457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7301" y="5292257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4132" y="5423712"/>
            <a:ext cx="4000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5050" sz="825" i="1">
                <a:latin typeface="Calibri"/>
                <a:cs typeface="Calibri"/>
              </a:rPr>
              <a:t>k</a:t>
            </a:r>
            <a:r>
              <a:rPr dirty="0" baseline="5050" sz="825" spc="179" i="1">
                <a:latin typeface="Calibri"/>
                <a:cs typeface="Calibri"/>
              </a:rPr>
              <a:t> </a:t>
            </a:r>
            <a:r>
              <a:rPr dirty="0" baseline="19607" sz="1275" spc="82" i="1">
                <a:latin typeface="Calibri"/>
                <a:cs typeface="Calibri"/>
              </a:rPr>
              <a:t>w</a:t>
            </a:r>
            <a:r>
              <a:rPr dirty="0" sz="550" spc="55" i="1">
                <a:latin typeface="Calibri"/>
                <a:cs typeface="Calibri"/>
              </a:rPr>
              <a:t>jk</a:t>
            </a:r>
            <a:r>
              <a:rPr dirty="0" baseline="19607" sz="1275" spc="82" i="1">
                <a:latin typeface="Calibri"/>
                <a:cs typeface="Calibri"/>
              </a:rPr>
              <a:t>a</a:t>
            </a:r>
            <a:r>
              <a:rPr dirty="0" sz="550" spc="55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6534" y="5378604"/>
            <a:ext cx="521334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1170" algn="l"/>
              </a:tabLst>
            </a:pPr>
            <a:r>
              <a:rPr dirty="0" sz="550" spc="60" i="1">
                <a:latin typeface="Calibri"/>
                <a:cs typeface="Calibri"/>
              </a:rPr>
              <a:t>L</a:t>
            </a:r>
            <a:r>
              <a:rPr dirty="0" sz="550" spc="305" i="1">
                <a:latin typeface="Calibri"/>
                <a:cs typeface="Calibri"/>
              </a:rPr>
              <a:t>  </a:t>
            </a:r>
            <a:r>
              <a:rPr dirty="0" sz="550" spc="55" i="1">
                <a:latin typeface="Calibri"/>
                <a:cs typeface="Calibri"/>
              </a:rPr>
              <a:t>L</a:t>
            </a:r>
            <a:r>
              <a:rPr dirty="0" sz="550" spc="55">
                <a:latin typeface="Cambria"/>
                <a:cs typeface="Cambria"/>
              </a:rPr>
              <a:t>−</a:t>
            </a:r>
            <a:r>
              <a:rPr dirty="0" sz="550" spc="55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238300" y="5385780"/>
            <a:ext cx="38398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7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30303" sz="825" i="1">
                <a:latin typeface="Calibri"/>
                <a:cs typeface="Calibri"/>
              </a:rPr>
              <a:t>j</a:t>
            </a:r>
            <a:r>
              <a:rPr dirty="0" baseline="-30303" sz="825" spc="18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692970" y="5608200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81900" y="5533824"/>
            <a:ext cx="4419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so-called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According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58253" y="5756226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81901" y="5681855"/>
            <a:ext cx="22148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45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639165" y="6107217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640078" y="6191608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573567" y="6117237"/>
            <a:ext cx="2489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434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950286" y="5990149"/>
            <a:ext cx="1530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5252" sz="825" i="1">
                <a:latin typeface="Calibri"/>
                <a:cs typeface="Calibri"/>
              </a:rPr>
              <a:t>x</a:t>
            </a:r>
            <a:r>
              <a:rPr dirty="0" baseline="-25252" sz="825" spc="-7" i="1">
                <a:latin typeface="Calibri"/>
                <a:cs typeface="Calibri"/>
              </a:rPr>
              <a:t> </a:t>
            </a:r>
            <a:r>
              <a:rPr dirty="0" sz="450" i="1">
                <a:latin typeface="Calibri"/>
                <a:cs typeface="Calibri"/>
              </a:rPr>
              <a:t>L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95740" y="6013870"/>
            <a:ext cx="1936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13071" sz="1275" i="1">
                <a:latin typeface="Calibri"/>
                <a:cs typeface="Calibri"/>
              </a:rPr>
              <a:t>e</a:t>
            </a:r>
            <a:r>
              <a:rPr dirty="0" baseline="-13071" sz="1275" spc="277" i="1">
                <a:latin typeface="Calibri"/>
                <a:cs typeface="Calibri"/>
              </a:rPr>
              <a:t> </a:t>
            </a:r>
            <a:r>
              <a:rPr dirty="0" sz="450" spc="-50" i="1">
                <a:latin typeface="Calibri"/>
                <a:cs typeface="Calibri"/>
              </a:rPr>
              <a:t>j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2850172" y="6207658"/>
            <a:ext cx="311150" cy="0"/>
          </a:xfrm>
          <a:custGeom>
            <a:avLst/>
            <a:gdLst/>
            <a:ahLst/>
            <a:cxnLst/>
            <a:rect l="l" t="t" r="r" b="b"/>
            <a:pathLst>
              <a:path w="311150" h="0">
                <a:moveTo>
                  <a:pt x="0" y="0"/>
                </a:moveTo>
                <a:lnTo>
                  <a:pt x="311111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2837472" y="6131486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949703" y="6295432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013292" y="6225009"/>
            <a:ext cx="717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062376" y="6214127"/>
            <a:ext cx="577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z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095966" y="6198120"/>
            <a:ext cx="62865" cy="16065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ts val="515"/>
              </a:lnSpc>
              <a:spcBef>
                <a:spcPts val="125"/>
              </a:spcBef>
            </a:pPr>
            <a:r>
              <a:rPr dirty="0" sz="450" i="1">
                <a:latin typeface="Calibri"/>
                <a:cs typeface="Calibri"/>
              </a:rPr>
              <a:t>L</a:t>
            </a:r>
            <a:endParaRPr sz="450">
              <a:latin typeface="Calibri"/>
              <a:cs typeface="Calibri"/>
            </a:endParaRPr>
          </a:p>
          <a:p>
            <a:pPr marL="12700">
              <a:lnSpc>
                <a:spcPts val="515"/>
              </a:lnSpc>
            </a:pPr>
            <a:r>
              <a:rPr dirty="0" sz="450" spc="-50" i="1">
                <a:latin typeface="Calibri"/>
                <a:cs typeface="Calibri"/>
              </a:rPr>
              <a:t>k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723395" y="6117238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(3.24)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00848" y="6498469"/>
            <a:ext cx="4379595" cy="76581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240"/>
              </a:spcBef>
            </a:pP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denominator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familiar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6" action="ppaction://hlinksldjump"/>
              </a:rPr>
              <a:t>(3.24)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opaque.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certainly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address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slowdown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  <a:hlinkClick r:id="rId6" action="ppaction://hlinksldjump"/>
              </a:rPr>
              <a:t>(3.24),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weighted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025359" y="7329862"/>
            <a:ext cx="7416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88340" algn="l"/>
              </a:tabLst>
            </a:pPr>
            <a:r>
              <a:rPr dirty="0" sz="550">
                <a:latin typeface="Calibri"/>
                <a:cs typeface="Calibri"/>
              </a:rPr>
              <a:t>1</a:t>
            </a:r>
            <a:r>
              <a:rPr dirty="0" sz="550" spc="330">
                <a:latin typeface="Calibri"/>
                <a:cs typeface="Calibri"/>
              </a:rPr>
              <a:t>  </a:t>
            </a:r>
            <a:r>
              <a:rPr dirty="0" sz="550">
                <a:latin typeface="Calibri"/>
                <a:cs typeface="Calibri"/>
              </a:rPr>
              <a:t>2</a:t>
            </a:r>
            <a:r>
              <a:rPr dirty="0" sz="550" spc="330">
                <a:latin typeface="Calibri"/>
                <a:cs typeface="Calibri"/>
              </a:rPr>
              <a:t>  </a:t>
            </a:r>
            <a:r>
              <a:rPr dirty="0" sz="550" spc="-50">
                <a:latin typeface="Calibri"/>
                <a:cs typeface="Calibri"/>
              </a:rPr>
              <a:t>3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4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81901" y="7255485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inputs,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7" action="ppaction://hlinksldjump"/>
              </a:rPr>
              <a:t>3.1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corresponding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537408" y="7477892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4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81901" y="7403520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baseline="35353" sz="825" spc="15">
                <a:latin typeface="Calibri"/>
                <a:cs typeface="Calibri"/>
                <a:hlinkClick r:id="rId5" action="ppaction://hlinksldjump"/>
              </a:rPr>
              <a:t>6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720001" y="7633841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 txBox="1"/>
          <p:nvPr/>
        </p:nvSpPr>
        <p:spPr>
          <a:xfrm>
            <a:off x="681901" y="7649203"/>
            <a:ext cx="4396740" cy="36512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 marR="30480" indent="12763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89">
                <a:latin typeface="Calibri"/>
                <a:cs typeface="Calibri"/>
              </a:rPr>
              <a:t>5</a:t>
            </a:r>
            <a:r>
              <a:rPr dirty="0" sz="750" spc="60">
                <a:latin typeface="Calibri"/>
                <a:cs typeface="Calibri"/>
              </a:rPr>
              <a:t>In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describing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softmax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we’ll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make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frequent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notation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introduced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last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chapter.</a:t>
            </a:r>
            <a:r>
              <a:rPr dirty="0" sz="750" spc="229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You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wish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revisit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chapter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if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you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need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refresh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your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memory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about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meaning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notation.</a:t>
            </a:r>
            <a:endParaRPr sz="750">
              <a:latin typeface="Calibri"/>
              <a:cs typeface="Calibri"/>
            </a:endParaRPr>
          </a:p>
          <a:p>
            <a:pPr marL="165735">
              <a:lnSpc>
                <a:spcPct val="100000"/>
              </a:lnSpc>
              <a:spcBef>
                <a:spcPts val="45"/>
              </a:spcBef>
            </a:pPr>
            <a:r>
              <a:rPr dirty="0" baseline="30303" sz="825" spc="75">
                <a:latin typeface="Calibri"/>
                <a:cs typeface="Calibri"/>
              </a:rPr>
              <a:t>6</a:t>
            </a:r>
            <a:r>
              <a:rPr dirty="0" sz="750" spc="50">
                <a:latin typeface="Calibri"/>
                <a:cs typeface="Calibri"/>
              </a:rPr>
              <a:t>This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paragraph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adaptation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animation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from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online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version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book.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35" name="object 35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562210" y="368721"/>
            <a:ext cx="205803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922780" algn="l"/>
              </a:tabLst>
            </a:pPr>
            <a:r>
              <a:rPr dirty="0" sz="850">
                <a:latin typeface="Calibri"/>
                <a:cs typeface="Calibri"/>
              </a:rPr>
              <a:t>3.1.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71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006536" y="997851"/>
            <a:ext cx="2891790" cy="1379855"/>
            <a:chOff x="2006536" y="997851"/>
            <a:chExt cx="2891790" cy="1379855"/>
          </a:xfrm>
        </p:grpSpPr>
        <p:sp>
          <p:nvSpPr>
            <p:cNvPr id="4" name="object 4"/>
            <p:cNvSpPr/>
            <p:nvPr/>
          </p:nvSpPr>
          <p:spPr>
            <a:xfrm>
              <a:off x="2297722" y="2321001"/>
              <a:ext cx="2309495" cy="54610"/>
            </a:xfrm>
            <a:custGeom>
              <a:avLst/>
              <a:gdLst/>
              <a:ahLst/>
              <a:cxnLst/>
              <a:rect l="l" t="t" r="r" b="b"/>
              <a:pathLst>
                <a:path w="2309495" h="54610">
                  <a:moveTo>
                    <a:pt x="0" y="54013"/>
                  </a:moveTo>
                  <a:lnTo>
                    <a:pt x="0" y="0"/>
                  </a:lnTo>
                </a:path>
                <a:path w="2309495" h="54610">
                  <a:moveTo>
                    <a:pt x="577303" y="54013"/>
                  </a:moveTo>
                  <a:lnTo>
                    <a:pt x="577303" y="0"/>
                  </a:lnTo>
                </a:path>
                <a:path w="2309495" h="54610">
                  <a:moveTo>
                    <a:pt x="1154620" y="54013"/>
                  </a:moveTo>
                  <a:lnTo>
                    <a:pt x="1154620" y="0"/>
                  </a:lnTo>
                </a:path>
                <a:path w="2309495" h="54610">
                  <a:moveTo>
                    <a:pt x="1731924" y="54013"/>
                  </a:moveTo>
                  <a:lnTo>
                    <a:pt x="1731924" y="0"/>
                  </a:lnTo>
                </a:path>
                <a:path w="2309495" h="54610">
                  <a:moveTo>
                    <a:pt x="2309215" y="54013"/>
                  </a:moveTo>
                  <a:lnTo>
                    <a:pt x="2309215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297722" y="1000391"/>
              <a:ext cx="1155065" cy="37465"/>
            </a:xfrm>
            <a:custGeom>
              <a:avLst/>
              <a:gdLst/>
              <a:ahLst/>
              <a:cxnLst/>
              <a:rect l="l" t="t" r="r" b="b"/>
              <a:pathLst>
                <a:path w="1155064" h="37465">
                  <a:moveTo>
                    <a:pt x="0" y="0"/>
                  </a:moveTo>
                  <a:lnTo>
                    <a:pt x="0" y="36890"/>
                  </a:lnTo>
                </a:path>
                <a:path w="1155064" h="37465">
                  <a:moveTo>
                    <a:pt x="577303" y="0"/>
                  </a:moveTo>
                  <a:lnTo>
                    <a:pt x="577303" y="36890"/>
                  </a:lnTo>
                </a:path>
                <a:path w="1155064" h="37465">
                  <a:moveTo>
                    <a:pt x="1154620" y="0"/>
                  </a:moveTo>
                  <a:lnTo>
                    <a:pt x="1154620" y="3689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029646" y="1000391"/>
              <a:ext cx="577850" cy="54610"/>
            </a:xfrm>
            <a:custGeom>
              <a:avLst/>
              <a:gdLst/>
              <a:ahLst/>
              <a:cxnLst/>
              <a:rect l="l" t="t" r="r" b="b"/>
              <a:pathLst>
                <a:path w="577850" h="54609">
                  <a:moveTo>
                    <a:pt x="0" y="0"/>
                  </a:moveTo>
                  <a:lnTo>
                    <a:pt x="0" y="54013"/>
                  </a:lnTo>
                </a:path>
                <a:path w="577850" h="54609">
                  <a:moveTo>
                    <a:pt x="577291" y="0"/>
                  </a:moveTo>
                  <a:lnTo>
                    <a:pt x="577291" y="54013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009076" y="1000391"/>
              <a:ext cx="2886710" cy="1374775"/>
            </a:xfrm>
            <a:custGeom>
              <a:avLst/>
              <a:gdLst/>
              <a:ahLst/>
              <a:cxnLst/>
              <a:rect l="l" t="t" r="r" b="b"/>
              <a:pathLst>
                <a:path w="2886710" h="1374775">
                  <a:moveTo>
                    <a:pt x="0" y="1374622"/>
                  </a:moveTo>
                  <a:lnTo>
                    <a:pt x="54000" y="1374622"/>
                  </a:lnTo>
                </a:path>
                <a:path w="2886710" h="1374775">
                  <a:moveTo>
                    <a:pt x="0" y="1099693"/>
                  </a:moveTo>
                  <a:lnTo>
                    <a:pt x="54000" y="1099693"/>
                  </a:lnTo>
                </a:path>
                <a:path w="2886710" h="1374775">
                  <a:moveTo>
                    <a:pt x="0" y="824776"/>
                  </a:moveTo>
                  <a:lnTo>
                    <a:pt x="54000" y="824776"/>
                  </a:lnTo>
                </a:path>
                <a:path w="2886710" h="1374775">
                  <a:moveTo>
                    <a:pt x="0" y="549846"/>
                  </a:moveTo>
                  <a:lnTo>
                    <a:pt x="54000" y="549846"/>
                  </a:lnTo>
                </a:path>
                <a:path w="2886710" h="1374775">
                  <a:moveTo>
                    <a:pt x="0" y="274916"/>
                  </a:moveTo>
                  <a:lnTo>
                    <a:pt x="54000" y="274916"/>
                  </a:lnTo>
                </a:path>
                <a:path w="2886710" h="1374775">
                  <a:moveTo>
                    <a:pt x="0" y="0"/>
                  </a:moveTo>
                  <a:lnTo>
                    <a:pt x="54000" y="0"/>
                  </a:lnTo>
                </a:path>
                <a:path w="2886710" h="1374775">
                  <a:moveTo>
                    <a:pt x="2886519" y="1374622"/>
                  </a:moveTo>
                  <a:lnTo>
                    <a:pt x="2832519" y="1374622"/>
                  </a:lnTo>
                </a:path>
                <a:path w="2886710" h="1374775">
                  <a:moveTo>
                    <a:pt x="2886519" y="1099693"/>
                  </a:moveTo>
                  <a:lnTo>
                    <a:pt x="2832519" y="1099693"/>
                  </a:lnTo>
                </a:path>
                <a:path w="2886710" h="1374775">
                  <a:moveTo>
                    <a:pt x="2886519" y="824776"/>
                  </a:moveTo>
                  <a:lnTo>
                    <a:pt x="2832519" y="824776"/>
                  </a:lnTo>
                </a:path>
                <a:path w="2886710" h="1374775">
                  <a:moveTo>
                    <a:pt x="2886519" y="549846"/>
                  </a:moveTo>
                  <a:lnTo>
                    <a:pt x="2832519" y="549846"/>
                  </a:lnTo>
                </a:path>
                <a:path w="2886710" h="1374775">
                  <a:moveTo>
                    <a:pt x="2886519" y="274916"/>
                  </a:moveTo>
                  <a:lnTo>
                    <a:pt x="2832519" y="274916"/>
                  </a:lnTo>
                </a:path>
                <a:path w="2886710" h="1374775">
                  <a:moveTo>
                    <a:pt x="2886519" y="0"/>
                  </a:moveTo>
                  <a:lnTo>
                    <a:pt x="28325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009076" y="1000391"/>
              <a:ext cx="2886710" cy="1374775"/>
            </a:xfrm>
            <a:custGeom>
              <a:avLst/>
              <a:gdLst/>
              <a:ahLst/>
              <a:cxnLst/>
              <a:rect l="l" t="t" r="r" b="b"/>
              <a:pathLst>
                <a:path w="2886710" h="1374775">
                  <a:moveTo>
                    <a:pt x="0" y="1374622"/>
                  </a:moveTo>
                  <a:lnTo>
                    <a:pt x="0" y="0"/>
                  </a:lnTo>
                  <a:lnTo>
                    <a:pt x="2886519" y="0"/>
                  </a:lnTo>
                  <a:lnTo>
                    <a:pt x="2886519" y="1374622"/>
                  </a:lnTo>
                  <a:lnTo>
                    <a:pt x="0" y="1374622"/>
                  </a:lnTo>
                  <a:close/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2214676" y="2365580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791966" y="2367004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86515" y="2367004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63824" y="2365580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96633" y="2290129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805461" y="2015189"/>
            <a:ext cx="177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5">
                <a:latin typeface="Calibri"/>
                <a:cs typeface="Calibri"/>
              </a:rPr>
              <a:t>0.2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805461" y="1738647"/>
            <a:ext cx="177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5">
                <a:latin typeface="Calibri"/>
                <a:cs typeface="Calibri"/>
              </a:rPr>
              <a:t>0.4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805461" y="1466818"/>
            <a:ext cx="177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5">
                <a:latin typeface="Calibri"/>
                <a:cs typeface="Calibri"/>
              </a:rPr>
              <a:t>0.6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805461" y="1189765"/>
            <a:ext cx="177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5">
                <a:latin typeface="Calibri"/>
                <a:cs typeface="Calibri"/>
              </a:rPr>
              <a:t>0.8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896633" y="915523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2003996" y="1032154"/>
            <a:ext cx="2896870" cy="1346200"/>
            <a:chOff x="2003996" y="1032154"/>
            <a:chExt cx="2896870" cy="1346200"/>
          </a:xfrm>
        </p:grpSpPr>
        <p:sp>
          <p:nvSpPr>
            <p:cNvPr id="20" name="object 20"/>
            <p:cNvSpPr/>
            <p:nvPr/>
          </p:nvSpPr>
          <p:spPr>
            <a:xfrm>
              <a:off x="2009076" y="2251455"/>
              <a:ext cx="2886710" cy="120650"/>
            </a:xfrm>
            <a:custGeom>
              <a:avLst/>
              <a:gdLst/>
              <a:ahLst/>
              <a:cxnLst/>
              <a:rect l="l" t="t" r="r" b="b"/>
              <a:pathLst>
                <a:path w="2886710" h="120650">
                  <a:moveTo>
                    <a:pt x="0" y="0"/>
                  </a:moveTo>
                  <a:lnTo>
                    <a:pt x="28867" y="25"/>
                  </a:lnTo>
                  <a:lnTo>
                    <a:pt x="57734" y="50"/>
                  </a:lnTo>
                  <a:lnTo>
                    <a:pt x="86601" y="76"/>
                  </a:lnTo>
                  <a:lnTo>
                    <a:pt x="115455" y="101"/>
                  </a:lnTo>
                  <a:lnTo>
                    <a:pt x="144322" y="139"/>
                  </a:lnTo>
                  <a:lnTo>
                    <a:pt x="173189" y="165"/>
                  </a:lnTo>
                  <a:lnTo>
                    <a:pt x="202057" y="215"/>
                  </a:lnTo>
                  <a:lnTo>
                    <a:pt x="230924" y="254"/>
                  </a:lnTo>
                  <a:lnTo>
                    <a:pt x="259791" y="304"/>
                  </a:lnTo>
                  <a:lnTo>
                    <a:pt x="288645" y="355"/>
                  </a:lnTo>
                  <a:lnTo>
                    <a:pt x="317512" y="406"/>
                  </a:lnTo>
                  <a:lnTo>
                    <a:pt x="346379" y="482"/>
                  </a:lnTo>
                  <a:lnTo>
                    <a:pt x="375246" y="546"/>
                  </a:lnTo>
                  <a:lnTo>
                    <a:pt x="404114" y="622"/>
                  </a:lnTo>
                  <a:lnTo>
                    <a:pt x="432981" y="711"/>
                  </a:lnTo>
                  <a:lnTo>
                    <a:pt x="461848" y="800"/>
                  </a:lnTo>
                  <a:lnTo>
                    <a:pt x="519569" y="1028"/>
                  </a:lnTo>
                  <a:lnTo>
                    <a:pt x="577303" y="1295"/>
                  </a:lnTo>
                  <a:lnTo>
                    <a:pt x="635038" y="1612"/>
                  </a:lnTo>
                  <a:lnTo>
                    <a:pt x="692759" y="2006"/>
                  </a:lnTo>
                  <a:lnTo>
                    <a:pt x="750493" y="2489"/>
                  </a:lnTo>
                  <a:lnTo>
                    <a:pt x="808228" y="3073"/>
                  </a:lnTo>
                  <a:lnTo>
                    <a:pt x="865949" y="3771"/>
                  </a:lnTo>
                  <a:lnTo>
                    <a:pt x="923683" y="4610"/>
                  </a:lnTo>
                  <a:lnTo>
                    <a:pt x="981417" y="5626"/>
                  </a:lnTo>
                  <a:lnTo>
                    <a:pt x="1039152" y="6845"/>
                  </a:lnTo>
                  <a:lnTo>
                    <a:pt x="1096873" y="8305"/>
                  </a:lnTo>
                  <a:lnTo>
                    <a:pt x="1154607" y="10020"/>
                  </a:lnTo>
                  <a:lnTo>
                    <a:pt x="1212342" y="12065"/>
                  </a:lnTo>
                  <a:lnTo>
                    <a:pt x="1270063" y="14452"/>
                  </a:lnTo>
                  <a:lnTo>
                    <a:pt x="1327797" y="17246"/>
                  </a:lnTo>
                  <a:lnTo>
                    <a:pt x="1385531" y="20459"/>
                  </a:lnTo>
                  <a:lnTo>
                    <a:pt x="1443266" y="24142"/>
                  </a:lnTo>
                  <a:lnTo>
                    <a:pt x="1500987" y="28282"/>
                  </a:lnTo>
                  <a:lnTo>
                    <a:pt x="1558721" y="32893"/>
                  </a:lnTo>
                  <a:lnTo>
                    <a:pt x="1616456" y="37973"/>
                  </a:lnTo>
                  <a:lnTo>
                    <a:pt x="1674177" y="43434"/>
                  </a:lnTo>
                  <a:lnTo>
                    <a:pt x="1731911" y="49237"/>
                  </a:lnTo>
                  <a:lnTo>
                    <a:pt x="1789645" y="55270"/>
                  </a:lnTo>
                  <a:lnTo>
                    <a:pt x="1818500" y="58356"/>
                  </a:lnTo>
                  <a:lnTo>
                    <a:pt x="1847367" y="61442"/>
                  </a:lnTo>
                  <a:lnTo>
                    <a:pt x="1905101" y="67614"/>
                  </a:lnTo>
                  <a:lnTo>
                    <a:pt x="1962835" y="73672"/>
                  </a:lnTo>
                  <a:lnTo>
                    <a:pt x="2020570" y="79489"/>
                  </a:lnTo>
                  <a:lnTo>
                    <a:pt x="2078291" y="84988"/>
                  </a:lnTo>
                  <a:lnTo>
                    <a:pt x="2136025" y="90093"/>
                  </a:lnTo>
                  <a:lnTo>
                    <a:pt x="2193759" y="94742"/>
                  </a:lnTo>
                  <a:lnTo>
                    <a:pt x="2251481" y="98933"/>
                  </a:lnTo>
                  <a:lnTo>
                    <a:pt x="2309215" y="102641"/>
                  </a:lnTo>
                  <a:lnTo>
                    <a:pt x="2366937" y="105892"/>
                  </a:lnTo>
                  <a:lnTo>
                    <a:pt x="2424671" y="108712"/>
                  </a:lnTo>
                  <a:lnTo>
                    <a:pt x="2482405" y="111125"/>
                  </a:lnTo>
                  <a:lnTo>
                    <a:pt x="2540127" y="113195"/>
                  </a:lnTo>
                  <a:lnTo>
                    <a:pt x="2597861" y="114947"/>
                  </a:lnTo>
                  <a:lnTo>
                    <a:pt x="2655595" y="116420"/>
                  </a:lnTo>
                  <a:lnTo>
                    <a:pt x="2713329" y="117640"/>
                  </a:lnTo>
                  <a:lnTo>
                    <a:pt x="2771051" y="118681"/>
                  </a:lnTo>
                  <a:lnTo>
                    <a:pt x="2828785" y="119532"/>
                  </a:lnTo>
                  <a:lnTo>
                    <a:pt x="2857652" y="119900"/>
                  </a:lnTo>
                  <a:lnTo>
                    <a:pt x="2886519" y="120243"/>
                  </a:lnTo>
                </a:path>
              </a:pathLst>
            </a:custGeom>
            <a:ln w="10122">
              <a:solidFill>
                <a:srgbClr val="3F3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009076" y="2039162"/>
              <a:ext cx="2886710" cy="327025"/>
            </a:xfrm>
            <a:custGeom>
              <a:avLst/>
              <a:gdLst/>
              <a:ahLst/>
              <a:cxnLst/>
              <a:rect l="l" t="t" r="r" b="b"/>
              <a:pathLst>
                <a:path w="2886710" h="327025">
                  <a:moveTo>
                    <a:pt x="0" y="0"/>
                  </a:moveTo>
                  <a:lnTo>
                    <a:pt x="28867" y="50"/>
                  </a:lnTo>
                  <a:lnTo>
                    <a:pt x="57734" y="127"/>
                  </a:lnTo>
                  <a:lnTo>
                    <a:pt x="86601" y="177"/>
                  </a:lnTo>
                  <a:lnTo>
                    <a:pt x="115455" y="266"/>
                  </a:lnTo>
                  <a:lnTo>
                    <a:pt x="144322" y="355"/>
                  </a:lnTo>
                  <a:lnTo>
                    <a:pt x="173189" y="444"/>
                  </a:lnTo>
                  <a:lnTo>
                    <a:pt x="202057" y="571"/>
                  </a:lnTo>
                  <a:lnTo>
                    <a:pt x="230924" y="660"/>
                  </a:lnTo>
                  <a:lnTo>
                    <a:pt x="259791" y="800"/>
                  </a:lnTo>
                  <a:lnTo>
                    <a:pt x="317512" y="1092"/>
                  </a:lnTo>
                  <a:lnTo>
                    <a:pt x="375246" y="1460"/>
                  </a:lnTo>
                  <a:lnTo>
                    <a:pt x="432981" y="1905"/>
                  </a:lnTo>
                  <a:lnTo>
                    <a:pt x="490715" y="2451"/>
                  </a:lnTo>
                  <a:lnTo>
                    <a:pt x="548436" y="3098"/>
                  </a:lnTo>
                  <a:lnTo>
                    <a:pt x="606171" y="3898"/>
                  </a:lnTo>
                  <a:lnTo>
                    <a:pt x="663905" y="4889"/>
                  </a:lnTo>
                  <a:lnTo>
                    <a:pt x="721626" y="6057"/>
                  </a:lnTo>
                  <a:lnTo>
                    <a:pt x="779360" y="7480"/>
                  </a:lnTo>
                  <a:lnTo>
                    <a:pt x="837082" y="9232"/>
                  </a:lnTo>
                  <a:lnTo>
                    <a:pt x="894816" y="11328"/>
                  </a:lnTo>
                  <a:lnTo>
                    <a:pt x="952550" y="13843"/>
                  </a:lnTo>
                  <a:lnTo>
                    <a:pt x="1010285" y="16852"/>
                  </a:lnTo>
                  <a:lnTo>
                    <a:pt x="1068006" y="20472"/>
                  </a:lnTo>
                  <a:lnTo>
                    <a:pt x="1125740" y="24790"/>
                  </a:lnTo>
                  <a:lnTo>
                    <a:pt x="1183474" y="29883"/>
                  </a:lnTo>
                  <a:lnTo>
                    <a:pt x="1241196" y="35902"/>
                  </a:lnTo>
                  <a:lnTo>
                    <a:pt x="1298930" y="42938"/>
                  </a:lnTo>
                  <a:lnTo>
                    <a:pt x="1356664" y="51066"/>
                  </a:lnTo>
                  <a:lnTo>
                    <a:pt x="1414386" y="60452"/>
                  </a:lnTo>
                  <a:lnTo>
                    <a:pt x="1472120" y="71056"/>
                  </a:lnTo>
                  <a:lnTo>
                    <a:pt x="1529854" y="82969"/>
                  </a:lnTo>
                  <a:lnTo>
                    <a:pt x="1587588" y="96139"/>
                  </a:lnTo>
                  <a:lnTo>
                    <a:pt x="1645310" y="110502"/>
                  </a:lnTo>
                  <a:lnTo>
                    <a:pt x="1703044" y="125857"/>
                  </a:lnTo>
                  <a:lnTo>
                    <a:pt x="1760778" y="141973"/>
                  </a:lnTo>
                  <a:lnTo>
                    <a:pt x="1818500" y="158610"/>
                  </a:lnTo>
                  <a:lnTo>
                    <a:pt x="1876234" y="175425"/>
                  </a:lnTo>
                  <a:lnTo>
                    <a:pt x="1905101" y="183769"/>
                  </a:lnTo>
                  <a:lnTo>
                    <a:pt x="1962835" y="200228"/>
                  </a:lnTo>
                  <a:lnTo>
                    <a:pt x="2020570" y="216065"/>
                  </a:lnTo>
                  <a:lnTo>
                    <a:pt x="2078291" y="231000"/>
                  </a:lnTo>
                  <a:lnTo>
                    <a:pt x="2136025" y="244868"/>
                  </a:lnTo>
                  <a:lnTo>
                    <a:pt x="2193759" y="257517"/>
                  </a:lnTo>
                  <a:lnTo>
                    <a:pt x="2251481" y="268897"/>
                  </a:lnTo>
                  <a:lnTo>
                    <a:pt x="2309215" y="278980"/>
                  </a:lnTo>
                  <a:lnTo>
                    <a:pt x="2366937" y="287820"/>
                  </a:lnTo>
                  <a:lnTo>
                    <a:pt x="2424671" y="295478"/>
                  </a:lnTo>
                  <a:lnTo>
                    <a:pt x="2482405" y="302069"/>
                  </a:lnTo>
                  <a:lnTo>
                    <a:pt x="2540127" y="307670"/>
                  </a:lnTo>
                  <a:lnTo>
                    <a:pt x="2597861" y="312432"/>
                  </a:lnTo>
                  <a:lnTo>
                    <a:pt x="2655595" y="316433"/>
                  </a:lnTo>
                  <a:lnTo>
                    <a:pt x="2713329" y="319773"/>
                  </a:lnTo>
                  <a:lnTo>
                    <a:pt x="2771051" y="322580"/>
                  </a:lnTo>
                  <a:lnTo>
                    <a:pt x="2828785" y="324904"/>
                  </a:lnTo>
                  <a:lnTo>
                    <a:pt x="2857652" y="325920"/>
                  </a:lnTo>
                  <a:lnTo>
                    <a:pt x="2886519" y="326834"/>
                  </a:lnTo>
                </a:path>
              </a:pathLst>
            </a:custGeom>
            <a:ln w="10122">
              <a:solidFill>
                <a:srgbClr val="FF9F3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009076" y="1462074"/>
              <a:ext cx="2886710" cy="889000"/>
            </a:xfrm>
            <a:custGeom>
              <a:avLst/>
              <a:gdLst/>
              <a:ahLst/>
              <a:cxnLst/>
              <a:rect l="l" t="t" r="r" b="b"/>
              <a:pathLst>
                <a:path w="2886710" h="889000">
                  <a:moveTo>
                    <a:pt x="0" y="0"/>
                  </a:moveTo>
                  <a:lnTo>
                    <a:pt x="57734" y="317"/>
                  </a:lnTo>
                  <a:lnTo>
                    <a:pt x="115455" y="736"/>
                  </a:lnTo>
                  <a:lnTo>
                    <a:pt x="173189" y="1219"/>
                  </a:lnTo>
                  <a:lnTo>
                    <a:pt x="230924" y="1828"/>
                  </a:lnTo>
                  <a:lnTo>
                    <a:pt x="288645" y="2552"/>
                  </a:lnTo>
                  <a:lnTo>
                    <a:pt x="346379" y="3467"/>
                  </a:lnTo>
                  <a:lnTo>
                    <a:pt x="404114" y="4572"/>
                  </a:lnTo>
                  <a:lnTo>
                    <a:pt x="461848" y="5892"/>
                  </a:lnTo>
                  <a:lnTo>
                    <a:pt x="519569" y="7531"/>
                  </a:lnTo>
                  <a:lnTo>
                    <a:pt x="577303" y="9499"/>
                  </a:lnTo>
                  <a:lnTo>
                    <a:pt x="635038" y="11887"/>
                  </a:lnTo>
                  <a:lnTo>
                    <a:pt x="692759" y="14808"/>
                  </a:lnTo>
                  <a:lnTo>
                    <a:pt x="750493" y="18351"/>
                  </a:lnTo>
                  <a:lnTo>
                    <a:pt x="808228" y="22631"/>
                  </a:lnTo>
                  <a:lnTo>
                    <a:pt x="865949" y="27825"/>
                  </a:lnTo>
                  <a:lnTo>
                    <a:pt x="923683" y="34048"/>
                  </a:lnTo>
                  <a:lnTo>
                    <a:pt x="981417" y="41554"/>
                  </a:lnTo>
                  <a:lnTo>
                    <a:pt x="1039152" y="50546"/>
                  </a:lnTo>
                  <a:lnTo>
                    <a:pt x="1096873" y="61290"/>
                  </a:lnTo>
                  <a:lnTo>
                    <a:pt x="1154607" y="74015"/>
                  </a:lnTo>
                  <a:lnTo>
                    <a:pt x="1212342" y="89103"/>
                  </a:lnTo>
                  <a:lnTo>
                    <a:pt x="1270063" y="106781"/>
                  </a:lnTo>
                  <a:lnTo>
                    <a:pt x="1327797" y="127381"/>
                  </a:lnTo>
                  <a:lnTo>
                    <a:pt x="1385531" y="151142"/>
                  </a:lnTo>
                  <a:lnTo>
                    <a:pt x="1443266" y="178282"/>
                  </a:lnTo>
                  <a:lnTo>
                    <a:pt x="1500987" y="208927"/>
                  </a:lnTo>
                  <a:lnTo>
                    <a:pt x="1558721" y="243065"/>
                  </a:lnTo>
                  <a:lnTo>
                    <a:pt x="1616456" y="280504"/>
                  </a:lnTo>
                  <a:lnTo>
                    <a:pt x="1674177" y="320916"/>
                  </a:lnTo>
                  <a:lnTo>
                    <a:pt x="1731911" y="363791"/>
                  </a:lnTo>
                  <a:lnTo>
                    <a:pt x="1789645" y="408406"/>
                  </a:lnTo>
                  <a:lnTo>
                    <a:pt x="1847367" y="453948"/>
                  </a:lnTo>
                  <a:lnTo>
                    <a:pt x="1876234" y="476821"/>
                  </a:lnTo>
                  <a:lnTo>
                    <a:pt x="1905101" y="499554"/>
                  </a:lnTo>
                  <a:lnTo>
                    <a:pt x="1962835" y="544283"/>
                  </a:lnTo>
                  <a:lnTo>
                    <a:pt x="2020570" y="587311"/>
                  </a:lnTo>
                  <a:lnTo>
                    <a:pt x="2078291" y="627938"/>
                  </a:lnTo>
                  <a:lnTo>
                    <a:pt x="2136025" y="665632"/>
                  </a:lnTo>
                  <a:lnTo>
                    <a:pt x="2193759" y="700024"/>
                  </a:lnTo>
                  <a:lnTo>
                    <a:pt x="2251481" y="730935"/>
                  </a:lnTo>
                  <a:lnTo>
                    <a:pt x="2309215" y="758342"/>
                  </a:lnTo>
                  <a:lnTo>
                    <a:pt x="2366937" y="782370"/>
                  </a:lnTo>
                  <a:lnTo>
                    <a:pt x="2424671" y="803198"/>
                  </a:lnTo>
                  <a:lnTo>
                    <a:pt x="2482405" y="821093"/>
                  </a:lnTo>
                  <a:lnTo>
                    <a:pt x="2540127" y="836345"/>
                  </a:lnTo>
                  <a:lnTo>
                    <a:pt x="2597861" y="849261"/>
                  </a:lnTo>
                  <a:lnTo>
                    <a:pt x="2655595" y="860145"/>
                  </a:lnTo>
                  <a:lnTo>
                    <a:pt x="2713329" y="869251"/>
                  </a:lnTo>
                  <a:lnTo>
                    <a:pt x="2771051" y="876858"/>
                  </a:lnTo>
                  <a:lnTo>
                    <a:pt x="2828785" y="883183"/>
                  </a:lnTo>
                  <a:lnTo>
                    <a:pt x="2857652" y="885939"/>
                  </a:lnTo>
                  <a:lnTo>
                    <a:pt x="2886519" y="888441"/>
                  </a:lnTo>
                </a:path>
              </a:pathLst>
            </a:custGeom>
            <a:ln w="10122">
              <a:solidFill>
                <a:srgbClr val="00B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009076" y="1037234"/>
              <a:ext cx="2886710" cy="1336040"/>
            </a:xfrm>
            <a:custGeom>
              <a:avLst/>
              <a:gdLst/>
              <a:ahLst/>
              <a:cxnLst/>
              <a:rect l="l" t="t" r="r" b="b"/>
              <a:pathLst>
                <a:path w="2886710" h="1336039">
                  <a:moveTo>
                    <a:pt x="0" y="1335519"/>
                  </a:moveTo>
                  <a:lnTo>
                    <a:pt x="57734" y="1335011"/>
                  </a:lnTo>
                  <a:lnTo>
                    <a:pt x="115455" y="1334401"/>
                  </a:lnTo>
                  <a:lnTo>
                    <a:pt x="173189" y="1333665"/>
                  </a:lnTo>
                  <a:lnTo>
                    <a:pt x="230924" y="1332750"/>
                  </a:lnTo>
                  <a:lnTo>
                    <a:pt x="288645" y="1331645"/>
                  </a:lnTo>
                  <a:lnTo>
                    <a:pt x="346379" y="1330299"/>
                  </a:lnTo>
                  <a:lnTo>
                    <a:pt x="404114" y="1328648"/>
                  </a:lnTo>
                  <a:lnTo>
                    <a:pt x="461848" y="1326642"/>
                  </a:lnTo>
                  <a:lnTo>
                    <a:pt x="519569" y="1324203"/>
                  </a:lnTo>
                  <a:lnTo>
                    <a:pt x="577303" y="1321231"/>
                  </a:lnTo>
                  <a:lnTo>
                    <a:pt x="635038" y="1317625"/>
                  </a:lnTo>
                  <a:lnTo>
                    <a:pt x="692759" y="1313243"/>
                  </a:lnTo>
                  <a:lnTo>
                    <a:pt x="750493" y="1307922"/>
                  </a:lnTo>
                  <a:lnTo>
                    <a:pt x="808228" y="1301483"/>
                  </a:lnTo>
                  <a:lnTo>
                    <a:pt x="865949" y="1293710"/>
                  </a:lnTo>
                  <a:lnTo>
                    <a:pt x="923683" y="1284325"/>
                  </a:lnTo>
                  <a:lnTo>
                    <a:pt x="981417" y="1273048"/>
                  </a:lnTo>
                  <a:lnTo>
                    <a:pt x="1039152" y="1259522"/>
                  </a:lnTo>
                  <a:lnTo>
                    <a:pt x="1096873" y="1243393"/>
                  </a:lnTo>
                  <a:lnTo>
                    <a:pt x="1154607" y="1224241"/>
                  </a:lnTo>
                  <a:lnTo>
                    <a:pt x="1212342" y="1201572"/>
                  </a:lnTo>
                  <a:lnTo>
                    <a:pt x="1270063" y="1174991"/>
                  </a:lnTo>
                  <a:lnTo>
                    <a:pt x="1327797" y="1144016"/>
                  </a:lnTo>
                  <a:lnTo>
                    <a:pt x="1385531" y="1108278"/>
                  </a:lnTo>
                  <a:lnTo>
                    <a:pt x="1443266" y="1067511"/>
                  </a:lnTo>
                  <a:lnTo>
                    <a:pt x="1500987" y="1021448"/>
                  </a:lnTo>
                  <a:lnTo>
                    <a:pt x="1529854" y="996467"/>
                  </a:lnTo>
                  <a:lnTo>
                    <a:pt x="1558721" y="970153"/>
                  </a:lnTo>
                  <a:lnTo>
                    <a:pt x="1587588" y="942581"/>
                  </a:lnTo>
                  <a:lnTo>
                    <a:pt x="1616456" y="913841"/>
                  </a:lnTo>
                  <a:lnTo>
                    <a:pt x="1645310" y="883983"/>
                  </a:lnTo>
                  <a:lnTo>
                    <a:pt x="1674177" y="853084"/>
                  </a:lnTo>
                  <a:lnTo>
                    <a:pt x="1703044" y="821258"/>
                  </a:lnTo>
                  <a:lnTo>
                    <a:pt x="1731911" y="788631"/>
                  </a:lnTo>
                  <a:lnTo>
                    <a:pt x="1760778" y="755370"/>
                  </a:lnTo>
                  <a:lnTo>
                    <a:pt x="1789645" y="721575"/>
                  </a:lnTo>
                  <a:lnTo>
                    <a:pt x="1818500" y="687425"/>
                  </a:lnTo>
                  <a:lnTo>
                    <a:pt x="1847367" y="653084"/>
                  </a:lnTo>
                  <a:lnTo>
                    <a:pt x="1876234" y="618731"/>
                  </a:lnTo>
                  <a:lnTo>
                    <a:pt x="1905101" y="584568"/>
                  </a:lnTo>
                  <a:lnTo>
                    <a:pt x="1933968" y="550710"/>
                  </a:lnTo>
                  <a:lnTo>
                    <a:pt x="1962835" y="517334"/>
                  </a:lnTo>
                  <a:lnTo>
                    <a:pt x="1991690" y="484606"/>
                  </a:lnTo>
                  <a:lnTo>
                    <a:pt x="2020570" y="452640"/>
                  </a:lnTo>
                  <a:lnTo>
                    <a:pt x="2049424" y="421601"/>
                  </a:lnTo>
                  <a:lnTo>
                    <a:pt x="2078291" y="391579"/>
                  </a:lnTo>
                  <a:lnTo>
                    <a:pt x="2107158" y="362648"/>
                  </a:lnTo>
                  <a:lnTo>
                    <a:pt x="2136025" y="334924"/>
                  </a:lnTo>
                  <a:lnTo>
                    <a:pt x="2164892" y="308419"/>
                  </a:lnTo>
                  <a:lnTo>
                    <a:pt x="2193759" y="283210"/>
                  </a:lnTo>
                  <a:lnTo>
                    <a:pt x="2251481" y="236766"/>
                  </a:lnTo>
                  <a:lnTo>
                    <a:pt x="2309215" y="195529"/>
                  </a:lnTo>
                  <a:lnTo>
                    <a:pt x="2366937" y="159435"/>
                  </a:lnTo>
                  <a:lnTo>
                    <a:pt x="2424671" y="128130"/>
                  </a:lnTo>
                  <a:lnTo>
                    <a:pt x="2482405" y="101206"/>
                  </a:lnTo>
                  <a:lnTo>
                    <a:pt x="2540127" y="78295"/>
                  </a:lnTo>
                  <a:lnTo>
                    <a:pt x="2597861" y="58864"/>
                  </a:lnTo>
                  <a:lnTo>
                    <a:pt x="2655595" y="42519"/>
                  </a:lnTo>
                  <a:lnTo>
                    <a:pt x="2713329" y="28841"/>
                  </a:lnTo>
                  <a:lnTo>
                    <a:pt x="2771051" y="17386"/>
                  </a:lnTo>
                  <a:lnTo>
                    <a:pt x="2828785" y="7899"/>
                  </a:lnTo>
                  <a:lnTo>
                    <a:pt x="2857652" y="3746"/>
                  </a:lnTo>
                  <a:lnTo>
                    <a:pt x="2886519" y="0"/>
                  </a:lnTo>
                </a:path>
              </a:pathLst>
            </a:custGeom>
            <a:ln w="10122">
              <a:solidFill>
                <a:srgbClr val="F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/>
          <p:cNvSpPr txBox="1"/>
          <p:nvPr/>
        </p:nvSpPr>
        <p:spPr>
          <a:xfrm>
            <a:off x="3366744" y="2367004"/>
            <a:ext cx="165100" cy="28829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461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5"/>
              </a:spcBef>
            </a:pPr>
            <a:r>
              <a:rPr dirty="0" sz="850" spc="-25" i="1">
                <a:latin typeface="Calibri"/>
                <a:cs typeface="Calibri"/>
              </a:rPr>
              <a:t>z</a:t>
            </a:r>
            <a:r>
              <a:rPr dirty="0" baseline="-20202" sz="825" spc="-37">
                <a:latin typeface="Calibri"/>
                <a:cs typeface="Calibri"/>
              </a:rPr>
              <a:t>4</a:t>
            </a:r>
            <a:endParaRPr baseline="-20202" sz="825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01762" y="1336482"/>
            <a:ext cx="210820" cy="70040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60"/>
              </a:lnSpc>
            </a:pPr>
            <a:r>
              <a:rPr dirty="0" sz="850" spc="20" i="1">
                <a:latin typeface="Calibri"/>
                <a:cs typeface="Calibri"/>
              </a:rPr>
              <a:t>a</a:t>
            </a:r>
            <a:r>
              <a:rPr dirty="0" baseline="-20202" sz="825" spc="30" i="1">
                <a:latin typeface="Calibri"/>
                <a:cs typeface="Calibri"/>
              </a:rPr>
              <a:t>j</a:t>
            </a:r>
            <a:r>
              <a:rPr dirty="0" baseline="-20202" sz="825" spc="-67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j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spc="50">
                <a:latin typeface="Cambria"/>
                <a:cs typeface="Cambria"/>
              </a:rPr>
              <a:t>∈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20">
                <a:latin typeface="Tahoma"/>
                <a:cs typeface="Tahoma"/>
              </a:rPr>
              <a:t>(</a:t>
            </a:r>
            <a:r>
              <a:rPr dirty="0" sz="850" spc="20">
                <a:latin typeface="Calibri"/>
                <a:cs typeface="Calibri"/>
              </a:rPr>
              <a:t>1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4</a:t>
            </a:r>
            <a:r>
              <a:rPr dirty="0" sz="850" spc="-25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2081212" y="1034742"/>
            <a:ext cx="1685925" cy="357505"/>
            <a:chOff x="2081212" y="1034742"/>
            <a:chExt cx="1685925" cy="357505"/>
          </a:xfrm>
        </p:grpSpPr>
        <p:sp>
          <p:nvSpPr>
            <p:cNvPr id="27" name="object 27"/>
            <p:cNvSpPr/>
            <p:nvPr/>
          </p:nvSpPr>
          <p:spPr>
            <a:xfrm>
              <a:off x="2083752" y="1037282"/>
              <a:ext cx="1680845" cy="352425"/>
            </a:xfrm>
            <a:custGeom>
              <a:avLst/>
              <a:gdLst/>
              <a:ahLst/>
              <a:cxnLst/>
              <a:rect l="l" t="t" r="r" b="b"/>
              <a:pathLst>
                <a:path w="1680845" h="352425">
                  <a:moveTo>
                    <a:pt x="1680298" y="0"/>
                  </a:moveTo>
                  <a:lnTo>
                    <a:pt x="0" y="0"/>
                  </a:lnTo>
                  <a:lnTo>
                    <a:pt x="0" y="352325"/>
                  </a:lnTo>
                  <a:lnTo>
                    <a:pt x="1680298" y="352325"/>
                  </a:lnTo>
                  <a:lnTo>
                    <a:pt x="16802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083752" y="1037282"/>
              <a:ext cx="1680845" cy="352425"/>
            </a:xfrm>
            <a:custGeom>
              <a:avLst/>
              <a:gdLst/>
              <a:ahLst/>
              <a:cxnLst/>
              <a:rect l="l" t="t" r="r" b="b"/>
              <a:pathLst>
                <a:path w="1680845" h="352425">
                  <a:moveTo>
                    <a:pt x="0" y="352325"/>
                  </a:moveTo>
                  <a:lnTo>
                    <a:pt x="1680298" y="352325"/>
                  </a:lnTo>
                  <a:lnTo>
                    <a:pt x="1680298" y="0"/>
                  </a:lnTo>
                  <a:lnTo>
                    <a:pt x="0" y="0"/>
                  </a:lnTo>
                  <a:lnTo>
                    <a:pt x="0" y="352325"/>
                  </a:lnTo>
                  <a:close/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126767" y="113802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 h="0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10122">
              <a:solidFill>
                <a:srgbClr val="3F3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968904" y="113802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 h="0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10122">
              <a:solidFill>
                <a:srgbClr val="FF9F3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126767" y="12888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 h="0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10122">
              <a:solidFill>
                <a:srgbClr val="00B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/>
          <p:cNvSpPr txBox="1"/>
          <p:nvPr/>
        </p:nvSpPr>
        <p:spPr>
          <a:xfrm>
            <a:off x="2337765" y="1030065"/>
            <a:ext cx="638810" cy="32766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65"/>
              </a:spcBef>
            </a:pP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345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20">
                <a:latin typeface="Tahoma"/>
                <a:cs typeface="Tahoma"/>
              </a:rPr>
              <a:t> </a:t>
            </a:r>
            <a:r>
              <a:rPr dirty="0" sz="850" spc="40">
                <a:latin typeface="Cambria"/>
                <a:cs typeface="Cambria"/>
              </a:rPr>
              <a:t>−</a:t>
            </a:r>
            <a:r>
              <a:rPr dirty="0" sz="850" spc="40">
                <a:latin typeface="Calibri"/>
                <a:cs typeface="Calibri"/>
              </a:rPr>
              <a:t>1</a:t>
            </a:r>
            <a:r>
              <a:rPr dirty="0" sz="850" spc="40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  <a:p>
            <a:pPr marL="38100">
              <a:lnSpc>
                <a:spcPct val="100000"/>
              </a:lnSpc>
              <a:spcBef>
                <a:spcPts val="165"/>
              </a:spcBef>
            </a:pP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3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baseline="-20202" sz="825">
                <a:latin typeface="Calibri"/>
                <a:cs typeface="Calibri"/>
              </a:rPr>
              <a:t>3</a:t>
            </a:r>
            <a:r>
              <a:rPr dirty="0" baseline="-20202" sz="825" spc="345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20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1</a:t>
            </a:r>
            <a:r>
              <a:rPr dirty="0" sz="850" spc="-25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2968904" y="1288872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10122">
            <a:solidFill>
              <a:srgbClr val="FF3F3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 txBox="1"/>
          <p:nvPr/>
        </p:nvSpPr>
        <p:spPr>
          <a:xfrm>
            <a:off x="3179902" y="1030065"/>
            <a:ext cx="559435" cy="32766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65"/>
              </a:spcBef>
            </a:pP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352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20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0</a:t>
            </a:r>
            <a:r>
              <a:rPr dirty="0" sz="850" spc="-25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  <a:p>
            <a:pPr marL="38100">
              <a:lnSpc>
                <a:spcPct val="100000"/>
              </a:lnSpc>
              <a:spcBef>
                <a:spcPts val="165"/>
              </a:spcBef>
            </a:pPr>
            <a:r>
              <a:rPr dirty="0" sz="850" spc="-25" i="1">
                <a:latin typeface="Calibri"/>
                <a:cs typeface="Calibri"/>
              </a:rPr>
              <a:t>a</a:t>
            </a:r>
            <a:r>
              <a:rPr dirty="0" baseline="-20202" sz="825" spc="-37">
                <a:latin typeface="Calibri"/>
                <a:cs typeface="Calibri"/>
              </a:rPr>
              <a:t>4</a:t>
            </a:r>
            <a:endParaRPr baseline="-20202" sz="825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260895" y="2788061"/>
            <a:ext cx="3958590" cy="1524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ts val="605"/>
              </a:lnSpc>
              <a:spcBef>
                <a:spcPts val="120"/>
              </a:spcBef>
            </a:pPr>
            <a:r>
              <a:rPr dirty="0" sz="650" spc="20" b="1">
                <a:latin typeface="Calibri"/>
                <a:cs typeface="Calibri"/>
              </a:rPr>
              <a:t>Figure</a:t>
            </a:r>
            <a:r>
              <a:rPr dirty="0" sz="650" spc="80" b="1">
                <a:latin typeface="Calibri"/>
                <a:cs typeface="Calibri"/>
              </a:rPr>
              <a:t> </a:t>
            </a:r>
            <a:r>
              <a:rPr dirty="0" sz="650" spc="20" b="1">
                <a:latin typeface="Calibri"/>
                <a:cs typeface="Calibri"/>
              </a:rPr>
              <a:t>3.1:</a:t>
            </a:r>
            <a:r>
              <a:rPr dirty="0" sz="650" spc="165" b="1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Equation</a:t>
            </a:r>
            <a:r>
              <a:rPr dirty="0" sz="650" spc="65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  <a:hlinkClick r:id="rId2" action="ppaction://hlinksldjump"/>
              </a:rPr>
              <a:t>3.24</a:t>
            </a:r>
            <a:r>
              <a:rPr dirty="0" sz="650" spc="70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for</a:t>
            </a:r>
            <a:r>
              <a:rPr dirty="0" sz="650" spc="70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different</a:t>
            </a:r>
            <a:r>
              <a:rPr dirty="0" sz="650" spc="70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fixed</a:t>
            </a:r>
            <a:r>
              <a:rPr dirty="0" sz="650" spc="70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values</a:t>
            </a:r>
            <a:r>
              <a:rPr dirty="0" sz="650" spc="70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of</a:t>
            </a:r>
            <a:r>
              <a:rPr dirty="0" sz="650" spc="70">
                <a:latin typeface="Calibri"/>
                <a:cs typeface="Calibri"/>
              </a:rPr>
              <a:t> </a:t>
            </a:r>
            <a:r>
              <a:rPr dirty="0" sz="650" spc="20" i="1">
                <a:latin typeface="Calibri"/>
                <a:cs typeface="Calibri"/>
              </a:rPr>
              <a:t>z</a:t>
            </a:r>
            <a:r>
              <a:rPr dirty="0" sz="650" spc="-70" i="1">
                <a:latin typeface="Calibri"/>
                <a:cs typeface="Calibri"/>
              </a:rPr>
              <a:t> </a:t>
            </a:r>
            <a:r>
              <a:rPr dirty="0" baseline="30864" sz="675" spc="75" i="1">
                <a:latin typeface="Calibri"/>
                <a:cs typeface="Calibri"/>
              </a:rPr>
              <a:t>L</a:t>
            </a:r>
            <a:r>
              <a:rPr dirty="0" baseline="30864" sz="675" spc="712" i="1">
                <a:latin typeface="Calibri"/>
                <a:cs typeface="Calibri"/>
              </a:rPr>
              <a:t>  </a:t>
            </a:r>
            <a:r>
              <a:rPr dirty="0" sz="650" spc="20">
                <a:latin typeface="Calibri"/>
                <a:cs typeface="Calibri"/>
              </a:rPr>
              <a:t>and</a:t>
            </a:r>
            <a:r>
              <a:rPr dirty="0" sz="650" spc="75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variable</a:t>
            </a:r>
            <a:r>
              <a:rPr dirty="0" sz="650" spc="70">
                <a:latin typeface="Calibri"/>
                <a:cs typeface="Calibri"/>
              </a:rPr>
              <a:t> </a:t>
            </a:r>
            <a:r>
              <a:rPr dirty="0" sz="650" spc="20" i="1">
                <a:latin typeface="Calibri"/>
                <a:cs typeface="Calibri"/>
              </a:rPr>
              <a:t>z</a:t>
            </a:r>
            <a:r>
              <a:rPr dirty="0" sz="650" spc="-65" i="1">
                <a:latin typeface="Calibri"/>
                <a:cs typeface="Calibri"/>
              </a:rPr>
              <a:t> </a:t>
            </a:r>
            <a:r>
              <a:rPr dirty="0" baseline="30864" sz="675" spc="75" i="1">
                <a:latin typeface="Calibri"/>
                <a:cs typeface="Calibri"/>
              </a:rPr>
              <a:t>L</a:t>
            </a:r>
            <a:r>
              <a:rPr dirty="0" baseline="30864" sz="675" spc="-30" i="1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.</a:t>
            </a:r>
            <a:r>
              <a:rPr dirty="0" sz="650" spc="210">
                <a:latin typeface="Calibri"/>
                <a:cs typeface="Calibri"/>
              </a:rPr>
              <a:t> </a:t>
            </a:r>
            <a:r>
              <a:rPr dirty="0" sz="650" spc="55" i="1">
                <a:latin typeface="Calibri"/>
                <a:cs typeface="Calibri"/>
              </a:rPr>
              <a:t>L</a:t>
            </a:r>
            <a:r>
              <a:rPr dirty="0" sz="650" spc="110" i="1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index</a:t>
            </a:r>
            <a:r>
              <a:rPr dirty="0" sz="650" spc="70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avoided</a:t>
            </a:r>
            <a:r>
              <a:rPr dirty="0" sz="650" spc="65">
                <a:latin typeface="Calibri"/>
                <a:cs typeface="Calibri"/>
              </a:rPr>
              <a:t> </a:t>
            </a:r>
            <a:r>
              <a:rPr dirty="0" sz="650" spc="20">
                <a:latin typeface="Calibri"/>
                <a:cs typeface="Calibri"/>
              </a:rPr>
              <a:t>for</a:t>
            </a:r>
            <a:r>
              <a:rPr dirty="0" sz="650" spc="70">
                <a:latin typeface="Calibri"/>
                <a:cs typeface="Calibri"/>
              </a:rPr>
              <a:t> </a:t>
            </a:r>
            <a:r>
              <a:rPr dirty="0" sz="650" spc="-10">
                <a:latin typeface="Calibri"/>
                <a:cs typeface="Calibri"/>
              </a:rPr>
              <a:t>clarity.</a:t>
            </a:r>
            <a:endParaRPr sz="650">
              <a:latin typeface="Calibri"/>
              <a:cs typeface="Calibri"/>
            </a:endParaRPr>
          </a:p>
          <a:p>
            <a:pPr marL="2123440">
              <a:lnSpc>
                <a:spcPts val="365"/>
              </a:lnSpc>
              <a:tabLst>
                <a:tab pos="2808605" algn="l"/>
              </a:tabLst>
            </a:pPr>
            <a:r>
              <a:rPr dirty="0" sz="450" spc="-10">
                <a:latin typeface="Calibri"/>
                <a:cs typeface="Calibri"/>
              </a:rPr>
              <a:t>1,2,3</a:t>
            </a:r>
            <a:r>
              <a:rPr dirty="0" sz="450">
                <a:latin typeface="Calibri"/>
                <a:cs typeface="Calibri"/>
              </a:rPr>
              <a:t>	</a:t>
            </a:r>
            <a:r>
              <a:rPr dirty="0" sz="450" spc="-50">
                <a:latin typeface="Calibri"/>
                <a:cs typeface="Calibri"/>
              </a:rPr>
              <a:t>4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675459" y="3282495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4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041896" y="3208124"/>
            <a:ext cx="4419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corresponding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decrease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Similarly,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840385" y="3430529"/>
            <a:ext cx="4495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5605" algn="l"/>
              </a:tabLst>
            </a:pPr>
            <a:r>
              <a:rPr dirty="0" sz="550" spc="-50">
                <a:latin typeface="Calibri"/>
                <a:cs typeface="Calibri"/>
              </a:rPr>
              <a:t>4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4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041892" y="3356168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decrease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90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3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38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decrease,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increase.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067296" y="3504199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closely,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total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041896" y="3652230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exactly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compensates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4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067296" y="3726607"/>
            <a:ext cx="4366895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331470">
              <a:lnSpc>
                <a:spcPts val="615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4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guaranteed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2" action="ppaction://hlinksldjump"/>
              </a:rPr>
              <a:t>(3.24)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algebra: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631401" y="4113901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701013" y="4396895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777352" y="4187521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2875" sz="1275" spc="60" i="1">
                <a:latin typeface="Calibri"/>
                <a:cs typeface="Calibri"/>
              </a:rPr>
              <a:t>a</a:t>
            </a:r>
            <a:r>
              <a:rPr dirty="0" sz="550" spc="4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869264" y="4308367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041130" y="4233990"/>
            <a:ext cx="111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392767" y="4200020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440332" y="4129608"/>
            <a:ext cx="717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489416" y="4108556"/>
            <a:ext cx="577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z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247848" y="4043045"/>
            <a:ext cx="3632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293370" algn="l"/>
              </a:tabLst>
            </a:pPr>
            <a:r>
              <a:rPr dirty="0" baseline="3267" sz="1275" spc="375">
                <a:latin typeface="Arial MT"/>
                <a:cs typeface="Arial MT"/>
              </a:rPr>
              <a:t>P</a:t>
            </a:r>
            <a:r>
              <a:rPr dirty="0" baseline="3267" sz="1275">
                <a:latin typeface="Arial MT"/>
                <a:cs typeface="Arial MT"/>
              </a:rPr>
              <a:t>	</a:t>
            </a:r>
            <a:r>
              <a:rPr dirty="0" baseline="-55555" sz="675" spc="-37" i="1">
                <a:latin typeface="Calibri"/>
                <a:cs typeface="Calibri"/>
              </a:rPr>
              <a:t>j</a:t>
            </a:r>
            <a:r>
              <a:rPr dirty="0" sz="450" spc="-25" i="1">
                <a:latin typeface="Calibri"/>
                <a:cs typeface="Calibri"/>
              </a:rPr>
              <a:t>L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3281578" y="4324413"/>
            <a:ext cx="311150" cy="0"/>
          </a:xfrm>
          <a:custGeom>
            <a:avLst/>
            <a:gdLst/>
            <a:ahLst/>
            <a:cxnLst/>
            <a:rect l="l" t="t" r="r" b="b"/>
            <a:pathLst>
              <a:path w="311150" h="0">
                <a:moveTo>
                  <a:pt x="0" y="0"/>
                </a:moveTo>
                <a:lnTo>
                  <a:pt x="311111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 txBox="1"/>
          <p:nvPr/>
        </p:nvSpPr>
        <p:spPr>
          <a:xfrm>
            <a:off x="3268878" y="4248241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381104" y="4412192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444694" y="4341764"/>
            <a:ext cx="717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493782" y="4330887"/>
            <a:ext cx="577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z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527373" y="4314875"/>
            <a:ext cx="62865" cy="16065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ts val="515"/>
              </a:lnSpc>
              <a:spcBef>
                <a:spcPts val="125"/>
              </a:spcBef>
            </a:pPr>
            <a:r>
              <a:rPr dirty="0" sz="450" i="1">
                <a:latin typeface="Calibri"/>
                <a:cs typeface="Calibri"/>
              </a:rPr>
              <a:t>L</a:t>
            </a:r>
            <a:endParaRPr sz="450">
              <a:latin typeface="Calibri"/>
              <a:cs typeface="Calibri"/>
            </a:endParaRPr>
          </a:p>
          <a:p>
            <a:pPr marL="12700">
              <a:lnSpc>
                <a:spcPts val="515"/>
              </a:lnSpc>
            </a:pPr>
            <a:r>
              <a:rPr dirty="0" sz="450" spc="-50" i="1">
                <a:latin typeface="Calibri"/>
                <a:cs typeface="Calibri"/>
              </a:rPr>
              <a:t>k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620579" y="4233993"/>
            <a:ext cx="228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1.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083433" y="4233993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(3.25)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036652" y="4654374"/>
            <a:ext cx="44018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359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increases,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decrease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total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060842" y="4728751"/>
            <a:ext cx="4378325" cy="12915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713740">
              <a:lnSpc>
                <a:spcPts val="615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4</a:t>
            </a:r>
            <a:endParaRPr sz="550">
              <a:latin typeface="Calibri"/>
              <a:cs typeface="Calibri"/>
            </a:endParaRPr>
          </a:p>
          <a:p>
            <a:pPr algn="just" marL="19050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amount,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ensure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remains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statements</a:t>
            </a:r>
            <a:endParaRPr sz="8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150"/>
              </a:spcBef>
            </a:pPr>
            <a:r>
              <a:rPr dirty="0" sz="850">
                <a:latin typeface="Calibri"/>
                <a:cs typeface="Calibri"/>
              </a:rPr>
              <a:t>hold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activations.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Equation </a:t>
            </a:r>
            <a:r>
              <a:rPr dirty="0" sz="850" spc="70">
                <a:latin typeface="Calibri"/>
                <a:cs typeface="Calibri"/>
                <a:hlinkClick r:id="rId2" action="ppaction://hlinksldjump"/>
              </a:rPr>
              <a:t>(3.24)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 implies that the output activations are all positive, since the </a:t>
            </a:r>
            <a:r>
              <a:rPr dirty="0" sz="850" spc="-25">
                <a:latin typeface="Calibri"/>
                <a:cs typeface="Calibri"/>
              </a:rPr>
              <a:t>ex-</a:t>
            </a:r>
            <a:r>
              <a:rPr dirty="0" sz="850" spc="30">
                <a:latin typeface="Calibri"/>
                <a:cs typeface="Calibri"/>
              </a:rPr>
              <a:t>ponential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function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positive.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Combining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with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observation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last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paragraph,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positive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words,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probability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distribution.</a:t>
            </a:r>
            <a:endParaRPr sz="850">
              <a:latin typeface="Calibri"/>
              <a:cs typeface="Calibri"/>
            </a:endParaRPr>
          </a:p>
          <a:p>
            <a:pPr algn="just" marL="208915">
              <a:lnSpc>
                <a:spcPct val="100000"/>
              </a:lnSpc>
              <a:spcBef>
                <a:spcPts val="24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probability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distribution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pleasing.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many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041896" y="6011712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convenient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interpret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442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network’s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067291" y="6086084"/>
            <a:ext cx="4350385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860425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 spc="10">
                <a:latin typeface="Calibri"/>
                <a:cs typeface="Calibri"/>
              </a:rPr>
              <a:t>estimate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probability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correct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j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4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MNIST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068268" y="6382164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041896" y="6307787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interpret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457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estimated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probability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067296" y="6426448"/>
            <a:ext cx="4349750" cy="112649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50" spc="10">
                <a:latin typeface="Calibri"/>
                <a:cs typeface="Calibri"/>
              </a:rPr>
              <a:t>correct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j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12700" marR="5080" indent="189230">
              <a:lnSpc>
                <a:spcPct val="114300"/>
              </a:lnSpc>
              <a:spcBef>
                <a:spcPts val="100"/>
              </a:spcBef>
            </a:pPr>
            <a:r>
              <a:rPr dirty="0" sz="850" spc="5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contrast,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certainly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couldn’t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assume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probability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distribution.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should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plausible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probability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distribution.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interpretation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activations.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265034" y="7551459"/>
            <a:ext cx="417067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30810" indent="-118110">
              <a:lnSpc>
                <a:spcPct val="100000"/>
              </a:lnSpc>
              <a:spcBef>
                <a:spcPts val="110"/>
              </a:spcBef>
              <a:buFont typeface="Cambria"/>
              <a:buChar char="•"/>
              <a:tabLst>
                <a:tab pos="130810" algn="l"/>
              </a:tabLst>
            </a:pPr>
            <a:r>
              <a:rPr dirty="0" sz="850" spc="10">
                <a:latin typeface="Calibri"/>
                <a:cs typeface="Calibri"/>
              </a:rPr>
              <a:t>Construct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358214" y="7699490"/>
            <a:ext cx="23882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45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1.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059750" y="7773867"/>
            <a:ext cx="4352925" cy="2432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136906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71" name="object 71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3" name="object 73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592320" cy="11626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72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45745" marR="508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behave.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review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at: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exponentials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  <a:hlinkClick r:id="rId2" action="ppaction://hlinksldjump"/>
              </a:rPr>
              <a:t>(3.24)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ensure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positive.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denominator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2" action="ppaction://hlinksldjump"/>
              </a:rPr>
              <a:t>(3.24)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ensures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appears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mysterious: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natural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ensure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probability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758388" y="1597083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81901" y="1522706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distribution.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rescaling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squishing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them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301" y="1656556"/>
            <a:ext cx="2058670" cy="348615"/>
          </a:xfrm>
          <a:prstGeom prst="rect">
            <a:avLst/>
          </a:prstGeom>
        </p:spPr>
        <p:txBody>
          <a:bodyPr wrap="square" lIns="0" tIns="279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850" spc="10">
                <a:latin typeface="Calibri"/>
                <a:cs typeface="Calibri"/>
              </a:rPr>
              <a:t>together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probability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distribution.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050" spc="40" b="1">
                <a:latin typeface="Calibri"/>
                <a:cs typeface="Calibri"/>
              </a:rPr>
              <a:t>Exercises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17594" y="1987315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155059" y="1987315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918507" y="2068863"/>
            <a:ext cx="2908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40029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05038" y="1994489"/>
            <a:ext cx="4175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30810" indent="-118110">
              <a:lnSpc>
                <a:spcPct val="100000"/>
              </a:lnSpc>
              <a:spcBef>
                <a:spcPts val="110"/>
              </a:spcBef>
              <a:buFont typeface="Cambria"/>
              <a:buChar char="•"/>
              <a:tabLst>
                <a:tab pos="130810" algn="l"/>
              </a:tabLst>
            </a:pPr>
            <a:r>
              <a:rPr dirty="0" sz="850" b="1">
                <a:latin typeface="Calibri"/>
                <a:cs typeface="Calibri"/>
              </a:rPr>
              <a:t>Monotonicity</a:t>
            </a:r>
            <a:r>
              <a:rPr dirty="0" sz="850" spc="7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of</a:t>
            </a:r>
            <a:r>
              <a:rPr dirty="0" sz="850" spc="7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softmax</a:t>
            </a:r>
            <a:r>
              <a:rPr dirty="0" sz="850" spc="6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355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/∂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229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25">
                <a:latin typeface="Tahoma"/>
                <a:cs typeface="Tahoma"/>
              </a:rPr>
              <a:t> </a:t>
            </a:r>
            <a:r>
              <a:rPr dirty="0" sz="850" spc="50" i="1">
                <a:latin typeface="Calibri"/>
                <a:cs typeface="Calibri"/>
              </a:rPr>
              <a:t>k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negative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-190">
                <a:latin typeface="Cambria"/>
                <a:cs typeface="Cambria"/>
              </a:rPr>
              <a:t>/</a:t>
            </a:r>
            <a:r>
              <a:rPr dirty="0" sz="850" spc="-190">
                <a:latin typeface="Tahoma"/>
                <a:cs typeface="Tahoma"/>
              </a:rPr>
              <a:t>=</a:t>
            </a:r>
            <a:r>
              <a:rPr dirty="0" sz="850" spc="25">
                <a:latin typeface="Tahoma"/>
                <a:cs typeface="Tahom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k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499805" y="2216907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92960" y="2142530"/>
            <a:ext cx="408812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consequence,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-8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442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guaranteed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98219" y="2290561"/>
            <a:ext cx="40805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activation,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decrease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already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23619" y="2364938"/>
            <a:ext cx="2667000" cy="23050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603885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 spc="10">
                <a:latin typeface="Calibri"/>
                <a:cs typeface="Calibri"/>
              </a:rPr>
              <a:t>empirically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sliders,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rigorous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proof.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789818" y="2579450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790731" y="2661008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05038" y="2586636"/>
            <a:ext cx="41478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30810" indent="-118110">
              <a:lnSpc>
                <a:spcPct val="100000"/>
              </a:lnSpc>
              <a:spcBef>
                <a:spcPts val="110"/>
              </a:spcBef>
              <a:buFont typeface="Cambria"/>
              <a:buChar char="•"/>
              <a:tabLst>
                <a:tab pos="130810" algn="l"/>
              </a:tabLst>
            </a:pPr>
            <a:r>
              <a:rPr dirty="0" sz="850" spc="50" b="1">
                <a:latin typeface="Calibri"/>
                <a:cs typeface="Calibri"/>
              </a:rPr>
              <a:t>Non-</a:t>
            </a:r>
            <a:r>
              <a:rPr dirty="0" sz="850" spc="10" b="1">
                <a:latin typeface="Calibri"/>
                <a:cs typeface="Calibri"/>
              </a:rPr>
              <a:t>locality</a:t>
            </a:r>
            <a:r>
              <a:rPr dirty="0" sz="850" spc="12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of</a:t>
            </a:r>
            <a:r>
              <a:rPr dirty="0" sz="850" spc="12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softmax</a:t>
            </a:r>
            <a:r>
              <a:rPr dirty="0" sz="850" spc="110" b="1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nice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sz="850" spc="229" i="1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374619" y="2809044"/>
            <a:ext cx="42037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7350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98219" y="2734668"/>
            <a:ext cx="40830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345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sz="850" spc="-9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52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)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Explain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060874" y="2957076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98219" y="2882699"/>
            <a:ext cx="40798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layer: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45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depends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07301" y="3016572"/>
            <a:ext cx="4348480" cy="494665"/>
          </a:xfrm>
          <a:prstGeom prst="rect">
            <a:avLst/>
          </a:prstGeom>
        </p:spPr>
        <p:txBody>
          <a:bodyPr wrap="square" lIns="0" tIns="27940" rIns="0" bIns="0" rtlCol="0" vert="horz">
            <a:spAutoFit/>
          </a:bodyPr>
          <a:lstStyle/>
          <a:p>
            <a:pPr marL="321945">
              <a:lnSpc>
                <a:spcPct val="100000"/>
              </a:lnSpc>
              <a:spcBef>
                <a:spcPts val="220"/>
              </a:spcBef>
            </a:pP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inputs.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  <a:p>
            <a:pPr marL="328295" indent="-118110">
              <a:lnSpc>
                <a:spcPct val="100000"/>
              </a:lnSpc>
              <a:spcBef>
                <a:spcPts val="130"/>
              </a:spcBef>
              <a:buFont typeface="Cambria"/>
              <a:buChar char="•"/>
              <a:tabLst>
                <a:tab pos="328295" algn="l"/>
              </a:tabLst>
            </a:pPr>
            <a:r>
              <a:rPr dirty="0" sz="850" spc="50" b="1">
                <a:latin typeface="Calibri"/>
                <a:cs typeface="Calibri"/>
              </a:rPr>
              <a:t>Inverting</a:t>
            </a:r>
            <a:r>
              <a:rPr dirty="0" sz="8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</a:t>
            </a:r>
            <a:r>
              <a:rPr dirty="0" sz="850" spc="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softmax</a:t>
            </a:r>
            <a:r>
              <a:rPr dirty="0" sz="850" spc="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layer</a:t>
            </a:r>
            <a:r>
              <a:rPr dirty="0" sz="850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softmax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276458" y="3576899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98227" y="3502521"/>
            <a:ext cx="40798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3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corresponding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776859" y="3724930"/>
            <a:ext cx="40767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4650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98219" y="3650554"/>
            <a:ext cx="36449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-90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3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254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sz="850" spc="85">
                <a:latin typeface="Calibri"/>
                <a:cs typeface="Calibri"/>
              </a:rPr>
              <a:t>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constant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independent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j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02385" y="3784637"/>
            <a:ext cx="435483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60" b="1">
                <a:latin typeface="Calibri"/>
                <a:cs typeface="Calibri"/>
              </a:rPr>
              <a:t>The</a:t>
            </a:r>
            <a:r>
              <a:rPr dirty="0" sz="850" spc="14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learning</a:t>
            </a:r>
            <a:r>
              <a:rPr dirty="0" sz="850" spc="14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slowdown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problem:</a:t>
            </a:r>
            <a:r>
              <a:rPr dirty="0" sz="850" spc="285" b="1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We’ve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considerable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familiarity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softmax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address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20">
                <a:latin typeface="Calibri"/>
                <a:cs typeface="Calibri"/>
              </a:rPr>
              <a:t> slowdown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define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log-likelihood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denote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denote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desired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log-likelihood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associated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603182" y="4706163"/>
            <a:ext cx="50228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≡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114">
                <a:latin typeface="Cambria"/>
                <a:cs typeface="Cambria"/>
              </a:rPr>
              <a:t>−</a:t>
            </a:r>
            <a:r>
              <a:rPr dirty="0" sz="850" spc="114">
                <a:latin typeface="Calibri"/>
                <a:cs typeface="Calibri"/>
              </a:rPr>
              <a:t>ln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087890" y="4696133"/>
            <a:ext cx="62230" cy="19748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5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723394" y="4706163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(3.26)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07301" y="5004162"/>
            <a:ext cx="4345940" cy="26860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images,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7,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then</a:t>
            </a:r>
            <a:endParaRPr sz="850">
              <a:latin typeface="Calibri"/>
              <a:cs typeface="Calibri"/>
            </a:endParaRPr>
          </a:p>
          <a:p>
            <a:pPr algn="ctr" marR="1291590">
              <a:lnSpc>
                <a:spcPct val="100000"/>
              </a:lnSpc>
              <a:spcBef>
                <a:spcPts val="10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191091" y="5241079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7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07301" y="5166718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log-likelihood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14">
                <a:latin typeface="Cambria"/>
                <a:cs typeface="Cambria"/>
              </a:rPr>
              <a:t>−</a:t>
            </a:r>
            <a:r>
              <a:rPr dirty="0" sz="850" spc="114">
                <a:latin typeface="Calibri"/>
                <a:cs typeface="Calibri"/>
              </a:rPr>
              <a:t>ln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a</a:t>
            </a:r>
            <a:r>
              <a:rPr dirty="0" sz="850" spc="27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intuitive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sense,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consider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case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00850" y="5314748"/>
            <a:ext cx="43522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job,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confident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7.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case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502618" y="5537151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7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81901" y="5462780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estimate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probability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419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202794" y="5603638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194599" y="5685185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7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07301" y="5610824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14">
                <a:latin typeface="Cambria"/>
                <a:cs typeface="Cambria"/>
              </a:rPr>
              <a:t>−</a:t>
            </a:r>
            <a:r>
              <a:rPr dirty="0" sz="850" spc="114">
                <a:latin typeface="Calibri"/>
                <a:cs typeface="Calibri"/>
              </a:rPr>
              <a:t>ln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275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By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contrast,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job,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327127" y="5751669"/>
            <a:ext cx="177800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727835" algn="l"/>
              </a:tabLst>
            </a:pPr>
            <a:r>
              <a:rPr dirty="0" sz="550" spc="1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318922" y="5833231"/>
            <a:ext cx="178181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727835" algn="l"/>
              </a:tabLst>
            </a:pPr>
            <a:r>
              <a:rPr dirty="0" sz="550" spc="-50">
                <a:latin typeface="Calibri"/>
                <a:cs typeface="Calibri"/>
              </a:rPr>
              <a:t>7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7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07301" y="5758855"/>
            <a:ext cx="43484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probability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a</a:t>
            </a:r>
            <a:r>
              <a:rPr dirty="0" sz="850" spc="160" i="1">
                <a:latin typeface="Calibri"/>
                <a:cs typeface="Calibri"/>
              </a:rPr>
              <a:t> 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smaller,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14">
                <a:latin typeface="Cambria"/>
                <a:cs typeface="Cambria"/>
              </a:rPr>
              <a:t>−</a:t>
            </a:r>
            <a:r>
              <a:rPr dirty="0" sz="850" spc="114">
                <a:latin typeface="Calibri"/>
                <a:cs typeface="Calibri"/>
              </a:rPr>
              <a:t>ln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a</a:t>
            </a:r>
            <a:r>
              <a:rPr dirty="0" sz="850" spc="160" i="1">
                <a:latin typeface="Calibri"/>
                <a:cs typeface="Calibri"/>
              </a:rPr>
              <a:t> 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larger.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log-likelihood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07301" y="5887130"/>
            <a:ext cx="4345940" cy="32766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850">
                <a:latin typeface="Calibri"/>
                <a:cs typeface="Calibri"/>
              </a:rPr>
              <a:t>behaves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expect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behave.</a:t>
            </a:r>
            <a:endParaRPr sz="850">
              <a:latin typeface="Calibri"/>
              <a:cs typeface="Calibri"/>
            </a:endParaRPr>
          </a:p>
          <a:p>
            <a:pPr marL="201930">
              <a:lnSpc>
                <a:spcPct val="100000"/>
              </a:lnSpc>
              <a:spcBef>
                <a:spcPts val="170"/>
              </a:spcBef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slowdown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problem?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analyze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recall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715222" y="6280246"/>
            <a:ext cx="7308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97865" algn="l"/>
              </a:tabLst>
            </a:pPr>
            <a:r>
              <a:rPr dirty="0" sz="550" spc="-25" i="1">
                <a:latin typeface="Calibri"/>
                <a:cs typeface="Calibri"/>
              </a:rPr>
              <a:t>jk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81901" y="6205870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slowdown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behaviour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quantities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35353" sz="825" spc="75" i="1">
                <a:latin typeface="Calibri"/>
                <a:cs typeface="Calibri"/>
              </a:rPr>
              <a:t>L</a:t>
            </a:r>
            <a:r>
              <a:rPr dirty="0" baseline="35353" sz="825" spc="359" i="1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0" i="1">
                <a:latin typeface="Times New Roman"/>
                <a:cs typeface="Times New Roman"/>
              </a:rPr>
              <a:t> </a:t>
            </a:r>
            <a:r>
              <a:rPr dirty="0" sz="850" spc="55" i="1">
                <a:latin typeface="Calibri"/>
                <a:cs typeface="Calibri"/>
              </a:rPr>
              <a:t>b</a:t>
            </a:r>
            <a:r>
              <a:rPr dirty="0" baseline="35353" sz="825" spc="82" i="1">
                <a:latin typeface="Calibri"/>
                <a:cs typeface="Calibri"/>
              </a:rPr>
              <a:t>L</a:t>
            </a:r>
            <a:r>
              <a:rPr dirty="0" baseline="35353" sz="825" spc="-52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go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81901" y="6337053"/>
            <a:ext cx="439674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I’ll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ask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below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little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algebra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baseline="35353" sz="825" spc="-30">
                <a:latin typeface="Calibri"/>
                <a:cs typeface="Calibri"/>
                <a:hlinkClick r:id="rId3" action="ppaction://hlinksldjump"/>
              </a:rPr>
              <a:t>7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305977" y="6784568"/>
            <a:ext cx="2203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-6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280577" y="6944248"/>
            <a:ext cx="2616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30" i="1">
                <a:latin typeface="Calibri"/>
                <a:cs typeface="Calibri"/>
              </a:rPr>
              <a:t>b</a:t>
            </a:r>
            <a:r>
              <a:rPr dirty="0" baseline="35353" sz="825" spc="44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455559" y="7015881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923500" y="6851505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924418" y="6935896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642616" y="6861519"/>
            <a:ext cx="5391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27329" algn="l"/>
              </a:tabLst>
            </a:pP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39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85">
                <a:latin typeface="Cambria"/>
                <a:cs typeface="Cambria"/>
              </a:rPr>
              <a:t> </a:t>
            </a: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165043" y="6922675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723396" y="6861519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(3.27)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2260854" y="7126696"/>
            <a:ext cx="2660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1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2235454" y="7286373"/>
            <a:ext cx="2755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25" i="1">
                <a:latin typeface="Calibri"/>
                <a:cs typeface="Calibri"/>
              </a:rPr>
              <a:t>w</a:t>
            </a:r>
            <a:r>
              <a:rPr dirty="0" baseline="35353" sz="825" spc="37" i="1">
                <a:latin typeface="Calibri"/>
                <a:cs typeface="Calibri"/>
              </a:rPr>
              <a:t>L</a:t>
            </a:r>
            <a:endParaRPr baseline="35353" sz="825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2430235" y="7360303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923501" y="7193630"/>
            <a:ext cx="3130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80" i="1">
                <a:latin typeface="Calibri"/>
                <a:cs typeface="Calibri"/>
              </a:rPr>
              <a:t>L</a:t>
            </a:r>
            <a:r>
              <a:rPr dirty="0" sz="550" spc="80">
                <a:latin typeface="Cambria"/>
                <a:cs typeface="Cambria"/>
              </a:rPr>
              <a:t>−</a:t>
            </a:r>
            <a:r>
              <a:rPr dirty="0" sz="550" spc="80">
                <a:latin typeface="Calibri"/>
                <a:cs typeface="Calibri"/>
              </a:rPr>
              <a:t>1</a:t>
            </a:r>
            <a:r>
              <a:rPr dirty="0" sz="550" spc="340">
                <a:latin typeface="Calibri"/>
                <a:cs typeface="Calibri"/>
              </a:rPr>
              <a:t>  </a:t>
            </a: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917126" y="7278021"/>
            <a:ext cx="3041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1145" algn="l"/>
              </a:tabLst>
            </a:pPr>
            <a:r>
              <a:rPr dirty="0" sz="550" spc="-50" i="1">
                <a:latin typeface="Calibri"/>
                <a:cs typeface="Calibri"/>
              </a:rPr>
              <a:t>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416390" y="7264800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642617" y="7203660"/>
            <a:ext cx="8718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27329" algn="l"/>
                <a:tab pos="433070" algn="l"/>
              </a:tabLst>
            </a:pP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 i="1">
                <a:latin typeface="Calibri"/>
                <a:cs typeface="Calibri"/>
              </a:rPr>
              <a:t>a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42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0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-60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723397" y="7203660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(3.28)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720001" y="7553162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 txBox="1"/>
          <p:nvPr/>
        </p:nvSpPr>
        <p:spPr>
          <a:xfrm>
            <a:off x="676160" y="7568523"/>
            <a:ext cx="4404995" cy="44577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just" marL="38100" marR="30480" indent="133350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15">
                <a:latin typeface="Calibri"/>
                <a:cs typeface="Calibri"/>
              </a:rPr>
              <a:t>7</a:t>
            </a:r>
            <a:r>
              <a:rPr dirty="0" sz="750" spc="10">
                <a:latin typeface="Calibri"/>
                <a:cs typeface="Calibri"/>
              </a:rPr>
              <a:t>Note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I’m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abusing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notation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here,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using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 spc="10" i="1">
                <a:latin typeface="Calibri"/>
                <a:cs typeface="Calibri"/>
              </a:rPr>
              <a:t>y</a:t>
            </a:r>
            <a:r>
              <a:rPr dirty="0" sz="750" spc="150" i="1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slightly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different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way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last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paragraph.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last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paragraph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used</a:t>
            </a:r>
            <a:r>
              <a:rPr dirty="0" sz="750" spc="210">
                <a:latin typeface="Calibri"/>
                <a:cs typeface="Calibri"/>
              </a:rPr>
              <a:t> </a:t>
            </a:r>
            <a:r>
              <a:rPr dirty="0" sz="750" i="1">
                <a:latin typeface="Calibri"/>
                <a:cs typeface="Calibri"/>
              </a:rPr>
              <a:t>y</a:t>
            </a:r>
            <a:r>
              <a:rPr dirty="0" sz="750" spc="170" i="1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denote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desired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output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from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network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–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e.g.,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output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“7”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if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image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-50">
                <a:latin typeface="Calibri"/>
                <a:cs typeface="Calibri"/>
              </a:rPr>
              <a:t>a</a:t>
            </a:r>
            <a:r>
              <a:rPr dirty="0" sz="750" spc="50">
                <a:latin typeface="Calibri"/>
                <a:cs typeface="Calibri"/>
              </a:rPr>
              <a:t> 7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was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input.</a:t>
            </a:r>
            <a:r>
              <a:rPr dirty="0" sz="750" spc="2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But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equations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which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follow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I’m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using</a:t>
            </a:r>
            <a:r>
              <a:rPr dirty="0" sz="750" spc="290">
                <a:latin typeface="Calibri"/>
                <a:cs typeface="Calibri"/>
              </a:rPr>
              <a:t> </a:t>
            </a:r>
            <a:r>
              <a:rPr dirty="0" sz="750" i="1">
                <a:latin typeface="Calibri"/>
                <a:cs typeface="Calibri"/>
              </a:rPr>
              <a:t>y</a:t>
            </a:r>
            <a:r>
              <a:rPr dirty="0" sz="750" spc="235" i="1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denote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vector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output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activations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which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corresponds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7,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vector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which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all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0s,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except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1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7th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location.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64" name="object 64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65" name="object 65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7" name="object 67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6" y="368721"/>
            <a:ext cx="4559300" cy="31102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85720">
              <a:lnSpc>
                <a:spcPts val="525"/>
              </a:lnSpc>
              <a:spcBef>
                <a:spcPts val="110"/>
              </a:spcBef>
              <a:tabLst>
                <a:tab pos="4424045" algn="l"/>
              </a:tabLst>
            </a:pPr>
            <a:r>
              <a:rPr dirty="0" sz="850" spc="10">
                <a:latin typeface="Calibri"/>
                <a:cs typeface="Calibri"/>
              </a:rPr>
              <a:t>3.2.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5">
                <a:latin typeface="Calibri"/>
                <a:cs typeface="Calibri"/>
              </a:rPr>
              <a:t>73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9050" marR="184150" indent="-508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analogous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obtained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analysis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cross-entropy.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2" action="ppaction://hlinksldjump"/>
              </a:rPr>
              <a:t>(3.28</a:t>
            </a:r>
            <a:r>
              <a:rPr dirty="0" sz="850" spc="65">
                <a:latin typeface="Calibri"/>
                <a:cs typeface="Calibri"/>
              </a:rPr>
              <a:t>)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  <a:hlinkClick r:id="rId3" action="ppaction://hlinksldjump"/>
              </a:rPr>
              <a:t>(3.13).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albeit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averaged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analysis,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ensure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encounter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slowdown.</a:t>
            </a:r>
            <a:r>
              <a:rPr dirty="0" sz="850" spc="50">
                <a:latin typeface="Calibri"/>
                <a:cs typeface="Calibri"/>
              </a:rPr>
              <a:t> 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useful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softmax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log-likelihood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quite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cost.</a:t>
            </a:r>
            <a:endParaRPr sz="850">
              <a:latin typeface="Calibri"/>
              <a:cs typeface="Calibri"/>
            </a:endParaRPr>
          </a:p>
          <a:p>
            <a:pPr algn="just" marL="12700" marR="207645" indent="19621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similarity,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cross-entropy,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log-likelihood?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situations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well.</a:t>
            </a:r>
            <a:r>
              <a:rPr dirty="0" sz="850" spc="160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remainder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6,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20">
                <a:latin typeface="Calibri"/>
                <a:cs typeface="Calibri"/>
              </a:rPr>
              <a:t> log-likelihood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reason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switch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20">
                <a:latin typeface="Calibri"/>
                <a:cs typeface="Calibri"/>
              </a:rPr>
              <a:t> similar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found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certain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influential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academic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papers.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point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plus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log-likelihood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whenever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interpret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probabilities.</a:t>
            </a:r>
            <a:r>
              <a:rPr dirty="0" sz="850" spc="4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always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concern,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useful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(like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MNIST)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involving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disjoint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classes.</a:t>
            </a:r>
            <a:endParaRPr sz="8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20"/>
              </a:spcBef>
            </a:pPr>
            <a:r>
              <a:rPr dirty="0" sz="1050" spc="40" b="1">
                <a:latin typeface="Calibri"/>
                <a:cs typeface="Calibri"/>
              </a:rPr>
              <a:t>Problems</a:t>
            </a:r>
            <a:endParaRPr sz="1050">
              <a:latin typeface="Calibri"/>
              <a:cs typeface="Calibri"/>
            </a:endParaRPr>
          </a:p>
          <a:p>
            <a:pPr marL="334645" indent="-118110">
              <a:lnSpc>
                <a:spcPct val="100000"/>
              </a:lnSpc>
              <a:spcBef>
                <a:spcPts val="110"/>
              </a:spcBef>
              <a:buFont typeface="Cambria"/>
              <a:buChar char="•"/>
              <a:tabLst>
                <a:tab pos="334645" algn="l"/>
              </a:tabLst>
            </a:pPr>
            <a:r>
              <a:rPr dirty="0" sz="850" spc="10">
                <a:latin typeface="Calibri"/>
                <a:cs typeface="Calibri"/>
              </a:rPr>
              <a:t>Derive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  <a:hlinkClick r:id="rId2" action="ppaction://hlinksldjump"/>
              </a:rPr>
              <a:t>(3.27)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  <a:hlinkClick r:id="rId2" action="ppaction://hlinksldjump"/>
              </a:rPr>
              <a:t>(3.28).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65034" y="3453388"/>
            <a:ext cx="415226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0810" marR="5080" indent="-118745">
              <a:lnSpc>
                <a:spcPct val="114300"/>
              </a:lnSpc>
              <a:spcBef>
                <a:spcPts val="95"/>
              </a:spcBef>
              <a:buFont typeface="Cambria"/>
              <a:buChar char="•"/>
              <a:tabLst>
                <a:tab pos="130810" algn="l"/>
              </a:tabLst>
            </a:pPr>
            <a:r>
              <a:rPr dirty="0" sz="850" spc="10" b="1">
                <a:latin typeface="Calibri"/>
                <a:cs typeface="Calibri"/>
              </a:rPr>
              <a:t>Where</a:t>
            </a:r>
            <a:r>
              <a:rPr dirty="0" sz="850" spc="25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does</a:t>
            </a:r>
            <a:r>
              <a:rPr dirty="0" sz="850" spc="25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the</a:t>
            </a:r>
            <a:r>
              <a:rPr dirty="0" sz="850" spc="25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“softmax”</a:t>
            </a:r>
            <a:r>
              <a:rPr dirty="0" sz="850" spc="25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name</a:t>
            </a:r>
            <a:r>
              <a:rPr dirty="0" sz="850" spc="25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come</a:t>
            </a:r>
            <a:r>
              <a:rPr dirty="0" sz="850" spc="25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from?</a:t>
            </a:r>
            <a:r>
              <a:rPr dirty="0" sz="850" spc="185" b="1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softmax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125036" y="4014570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25939" y="4098960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59442" y="4024584"/>
            <a:ext cx="2489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434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38131" y="3926583"/>
            <a:ext cx="17907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cz </a:t>
            </a:r>
            <a:r>
              <a:rPr dirty="0" baseline="30864" sz="675" i="1">
                <a:latin typeface="Calibri"/>
                <a:cs typeface="Calibri"/>
              </a:rPr>
              <a:t>L</a:t>
            </a:r>
            <a:endParaRPr baseline="30864" sz="675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87226" y="3921218"/>
            <a:ext cx="2159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13071" sz="1275" i="1">
                <a:latin typeface="Calibri"/>
                <a:cs typeface="Calibri"/>
              </a:rPr>
              <a:t>e</a:t>
            </a:r>
            <a:r>
              <a:rPr dirty="0" baseline="-13071" sz="1275" spc="540" i="1">
                <a:latin typeface="Calibri"/>
                <a:cs typeface="Calibri"/>
              </a:rPr>
              <a:t> </a:t>
            </a:r>
            <a:r>
              <a:rPr dirty="0" sz="450" spc="-50" i="1">
                <a:latin typeface="Calibri"/>
                <a:cs typeface="Calibri"/>
              </a:rPr>
              <a:t>j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336048" y="4115003"/>
            <a:ext cx="345440" cy="0"/>
          </a:xfrm>
          <a:custGeom>
            <a:avLst/>
            <a:gdLst/>
            <a:ahLst/>
            <a:cxnLst/>
            <a:rect l="l" t="t" r="r" b="b"/>
            <a:pathLst>
              <a:path w="345439" h="0">
                <a:moveTo>
                  <a:pt x="0" y="0"/>
                </a:moveTo>
                <a:lnTo>
                  <a:pt x="345287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3323348" y="4038844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435579" y="4202780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499169" y="4132368"/>
            <a:ext cx="717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50068" y="4121475"/>
            <a:ext cx="9017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cz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616024" y="4105463"/>
            <a:ext cx="62865" cy="16065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ts val="515"/>
              </a:lnSpc>
              <a:spcBef>
                <a:spcPts val="125"/>
              </a:spcBef>
            </a:pPr>
            <a:r>
              <a:rPr dirty="0" sz="450" i="1">
                <a:latin typeface="Calibri"/>
                <a:cs typeface="Calibri"/>
              </a:rPr>
              <a:t>L</a:t>
            </a:r>
            <a:endParaRPr sz="450">
              <a:latin typeface="Calibri"/>
              <a:cs typeface="Calibri"/>
            </a:endParaRPr>
          </a:p>
          <a:p>
            <a:pPr marL="12700">
              <a:lnSpc>
                <a:spcPts val="515"/>
              </a:lnSpc>
            </a:pPr>
            <a:r>
              <a:rPr dirty="0" sz="450" spc="-50" i="1">
                <a:latin typeface="Calibri"/>
                <a:cs typeface="Calibri"/>
              </a:rPr>
              <a:t>k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683815" y="4024581"/>
            <a:ext cx="558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083427" y="4024581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(3.29)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377162" y="4408964"/>
            <a:ext cx="4063365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5080" indent="-698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c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constant.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c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softmax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18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c</a:t>
            </a:r>
            <a:r>
              <a:rPr dirty="0" sz="850" spc="28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nonetheless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qualitatively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activations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probability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distribution,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usual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softmax.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c</a:t>
            </a:r>
            <a:r>
              <a:rPr dirty="0" sz="850" spc="14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become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i.e.,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c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55">
                <a:latin typeface="Cambria"/>
                <a:cs typeface="Cambria"/>
              </a:rPr>
              <a:t> </a:t>
            </a:r>
            <a:r>
              <a:rPr dirty="0" sz="850" spc="215">
                <a:latin typeface="Cambria"/>
                <a:cs typeface="Cambria"/>
              </a:rPr>
              <a:t>∞</a:t>
            </a:r>
            <a:r>
              <a:rPr dirty="0" sz="850" spc="215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limiting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58214" y="5166007"/>
            <a:ext cx="40805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?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clear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383614" y="5240378"/>
            <a:ext cx="4029710" cy="3784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991235">
              <a:lnSpc>
                <a:spcPts val="615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850" spc="20">
                <a:latin typeface="Calibri"/>
                <a:cs typeface="Calibri"/>
              </a:rPr>
              <a:t>think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c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“softened”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version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maximum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origin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“softmax”.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65032" y="5593262"/>
            <a:ext cx="414782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30810" marR="5080" indent="-118745">
              <a:lnSpc>
                <a:spcPct val="114300"/>
              </a:lnSpc>
              <a:spcBef>
                <a:spcPts val="95"/>
              </a:spcBef>
              <a:buFont typeface="Cambria"/>
              <a:buChar char="•"/>
              <a:tabLst>
                <a:tab pos="130810" algn="l"/>
              </a:tabLst>
            </a:pPr>
            <a:r>
              <a:rPr dirty="0" sz="850" spc="40" b="1">
                <a:latin typeface="Calibri"/>
                <a:cs typeface="Calibri"/>
              </a:rPr>
              <a:t>Backpropagation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40" b="1">
                <a:latin typeface="Calibri"/>
                <a:cs typeface="Calibri"/>
              </a:rPr>
              <a:t>with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40" b="1">
                <a:latin typeface="Calibri"/>
                <a:cs typeface="Calibri"/>
              </a:rPr>
              <a:t>softmax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and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40" b="1">
                <a:latin typeface="Calibri"/>
                <a:cs typeface="Calibri"/>
              </a:rPr>
              <a:t>the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40" b="1">
                <a:latin typeface="Calibri"/>
                <a:cs typeface="Calibri"/>
              </a:rPr>
              <a:t>log-likelihood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40" b="1">
                <a:latin typeface="Calibri"/>
                <a:cs typeface="Calibri"/>
              </a:rPr>
              <a:t>cost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last </a:t>
            </a:r>
            <a:r>
              <a:rPr dirty="0" sz="850" spc="30">
                <a:latin typeface="Calibri"/>
                <a:cs typeface="Calibri"/>
              </a:rPr>
              <a:t>chapter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20">
                <a:latin typeface="Calibri"/>
                <a:cs typeface="Calibri"/>
              </a:rPr>
              <a:t> derived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553982" y="6128596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552305" y="6047033"/>
            <a:ext cx="5918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42290" algn="l"/>
              </a:tabLst>
            </a:pPr>
            <a:r>
              <a:rPr dirty="0" sz="550" spc="1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080586" y="6128596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383614" y="6054219"/>
            <a:ext cx="40290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 the error </a:t>
            </a:r>
            <a:r>
              <a:rPr dirty="0" sz="850" spc="140" i="1">
                <a:latin typeface="Times New Roman"/>
                <a:cs typeface="Times New Roman"/>
              </a:rPr>
              <a:t>δ</a:t>
            </a:r>
            <a:r>
              <a:rPr dirty="0" sz="850" spc="155" i="1">
                <a:latin typeface="Times New Roman"/>
                <a:cs typeface="Times New Roman"/>
              </a:rPr>
              <a:t>  </a:t>
            </a:r>
            <a:r>
              <a:rPr dirty="0" sz="850">
                <a:latin typeface="Cambria"/>
                <a:cs typeface="Cambria"/>
              </a:rPr>
              <a:t>≡</a:t>
            </a:r>
            <a:r>
              <a:rPr dirty="0" sz="850" spc="55">
                <a:latin typeface="Cambria"/>
                <a:cs typeface="Cambria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1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-1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65" i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in the final layer.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 that a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suitable </a:t>
            </a:r>
            <a:r>
              <a:rPr dirty="0" sz="850" spc="-10">
                <a:latin typeface="Calibri"/>
                <a:cs typeface="Calibri"/>
              </a:rPr>
              <a:t>expression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383614" y="6202250"/>
            <a:ext cx="1346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5">
                <a:latin typeface="Calibri"/>
                <a:cs typeface="Calibri"/>
              </a:rPr>
              <a:t>is: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147351" y="6340266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398796" y="6340266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149028" y="6424657"/>
            <a:ext cx="29591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2890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640339" y="6411436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070605" y="6350286"/>
            <a:ext cx="6553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40" i="1">
                <a:latin typeface="Times New Roman"/>
                <a:cs typeface="Times New Roman"/>
              </a:rPr>
              <a:t>δ</a:t>
            </a:r>
            <a:r>
              <a:rPr dirty="0" sz="850" spc="425" i="1">
                <a:latin typeface="Times New Roman"/>
                <a:cs typeface="Times New Roman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40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9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083412" y="6350286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(3.30)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062380" y="6580169"/>
            <a:ext cx="4350385" cy="14370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33375" marR="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log-likelihood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cost.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95"/>
              </a:spcBef>
            </a:pPr>
            <a:endParaRPr sz="850">
              <a:latin typeface="Calibri"/>
              <a:cs typeface="Calibri"/>
            </a:endParaRPr>
          </a:p>
          <a:p>
            <a:pPr marL="17145">
              <a:lnSpc>
                <a:spcPct val="100000"/>
              </a:lnSpc>
              <a:tabLst>
                <a:tab pos="344805" algn="l"/>
              </a:tabLst>
            </a:pPr>
            <a:r>
              <a:rPr dirty="0" sz="1050" spc="30" b="1">
                <a:latin typeface="Calibri"/>
                <a:cs typeface="Calibri"/>
              </a:rPr>
              <a:t>3.2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20" b="1">
                <a:latin typeface="Calibri"/>
                <a:cs typeface="Calibri"/>
              </a:rPr>
              <a:t>Overfitting</a:t>
            </a:r>
            <a:r>
              <a:rPr dirty="0" sz="1050" spc="190" b="1">
                <a:latin typeface="Calibri"/>
                <a:cs typeface="Calibri"/>
              </a:rPr>
              <a:t> </a:t>
            </a:r>
            <a:r>
              <a:rPr dirty="0" sz="1050" spc="65" b="1">
                <a:latin typeface="Calibri"/>
                <a:cs typeface="Calibri"/>
              </a:rPr>
              <a:t>and</a:t>
            </a:r>
            <a:r>
              <a:rPr dirty="0" sz="1050" spc="195" b="1">
                <a:latin typeface="Calibri"/>
                <a:cs typeface="Calibri"/>
              </a:rPr>
              <a:t> </a:t>
            </a:r>
            <a:r>
              <a:rPr dirty="0" sz="1050" spc="45" b="1">
                <a:latin typeface="Calibri"/>
                <a:cs typeface="Calibri"/>
              </a:rPr>
              <a:t>regularization</a:t>
            </a:r>
            <a:endParaRPr sz="1050">
              <a:latin typeface="Calibri"/>
              <a:cs typeface="Calibri"/>
            </a:endParaRPr>
          </a:p>
          <a:p>
            <a:pPr algn="just" marL="17145" marR="5080" indent="-5080">
              <a:lnSpc>
                <a:spcPct val="114300"/>
              </a:lnSpc>
              <a:spcBef>
                <a:spcPts val="102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Nobel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prize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winning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physicist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Enrico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Fermi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once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asked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opinion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mathematical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colleagues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had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proposed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solution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important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unsolved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physics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excellent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agreement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Fermi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skeptical.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asked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free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“Four”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Fermi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34" name="object 34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48781" y="368721"/>
            <a:ext cx="4629785" cy="8667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33375" algn="l"/>
              </a:tabLst>
            </a:pPr>
            <a:r>
              <a:rPr dirty="0" sz="850" spc="25">
                <a:latin typeface="Calibri"/>
                <a:cs typeface="Calibri"/>
              </a:rPr>
              <a:t>74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203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271145" marR="3048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replied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8</a:t>
            </a:r>
            <a:r>
              <a:rPr dirty="0" baseline="35353" sz="825" spc="352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: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“I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remember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friend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Johnny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Neumann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elephant,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wiggle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trunk.”.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0852" y="1361523"/>
            <a:ext cx="4356100" cy="10617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9621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free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describe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amazingly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wide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range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phenomena.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agrees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available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freedom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almost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without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capturing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genuine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insights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underlying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phenomenon.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existing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fail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situations.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ability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predictions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situations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exposed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before.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0852" y="2549519"/>
            <a:ext cx="4379595" cy="22498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5080" indent="18923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Fermi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von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Neumann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suspicious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four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parameters.</a:t>
            </a:r>
            <a:r>
              <a:rPr dirty="0" sz="850" spc="229">
                <a:latin typeface="Calibri"/>
                <a:cs typeface="Calibri"/>
              </a:rPr>
              <a:t>  </a:t>
            </a:r>
            <a:r>
              <a:rPr dirty="0" sz="850" spc="50">
                <a:latin typeface="Calibri"/>
                <a:cs typeface="Calibri"/>
              </a:rPr>
              <a:t>Our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30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MNIST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nearly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24,000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parameters!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That’s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Our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80,000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state-of-</a:t>
            </a:r>
            <a:r>
              <a:rPr dirty="0" sz="850" spc="10">
                <a:latin typeface="Calibri"/>
                <a:cs typeface="Calibri"/>
              </a:rPr>
              <a:t>the-art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billions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parameters.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results?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3399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sharpen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constructing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situation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30">
                <a:latin typeface="Calibri"/>
                <a:cs typeface="Calibri"/>
              </a:rPr>
              <a:t> bad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job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generalizing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new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situations.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our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hidden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neuron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with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23,860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50,000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1,000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restricted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make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generalization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evident.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similar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before,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cross-entropy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40" i="1">
                <a:latin typeface="Times New Roman"/>
                <a:cs typeface="Times New Roman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0.5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size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400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because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network2</a:t>
            </a:r>
            <a:r>
              <a:rPr dirty="0" sz="90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9514" y="5458993"/>
            <a:ext cx="4401185" cy="100266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4508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5"/>
              </a:spcBef>
            </a:pPr>
            <a:endParaRPr sz="700">
              <a:latin typeface="Times New Roman"/>
              <a:cs typeface="Times New Roman"/>
            </a:endParaRPr>
          </a:p>
          <a:p>
            <a:pPr marL="4572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mnist_loader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mnist_loader.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load_data_wrapper()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network2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10],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cost=network2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CrossEntropyCost)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net.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large_weight_initializer()</a:t>
            </a:r>
            <a:endParaRPr sz="700">
              <a:latin typeface="Calibri"/>
              <a:cs typeface="Calibri"/>
            </a:endParaRPr>
          </a:p>
          <a:p>
            <a:pPr marL="299720" marR="423545" indent="-254000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net.SGD(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training_data[:1000],</a:t>
            </a:r>
            <a:r>
              <a:rPr dirty="0" sz="700" spc="42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400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0.5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evaluation_data=test_data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90">
                <a:latin typeface="Calibri"/>
                <a:cs typeface="Calibri"/>
              </a:rPr>
              <a:t>monitor_evaluation_accuracy=True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monitor_training_cost=True)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81901" y="6803240"/>
            <a:ext cx="384047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learns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9</a:t>
            </a:r>
            <a:r>
              <a:rPr dirty="0" baseline="35353" sz="825" spc="40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20001" y="7636748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681901" y="7652124"/>
            <a:ext cx="4396740" cy="36258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 marR="30480" indent="12763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15">
                <a:latin typeface="Calibri"/>
                <a:cs typeface="Calibri"/>
              </a:rPr>
              <a:t>8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quote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comes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from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charming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article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Freeman</a:t>
            </a:r>
            <a:r>
              <a:rPr dirty="0" sz="750" spc="5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Dyson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who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one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people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who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proposed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flawed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model.</a:t>
            </a:r>
            <a:r>
              <a:rPr dirty="0" sz="750" spc="2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four-parameter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elephant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may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be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found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  <a:hlinkClick r:id="rId4"/>
              </a:rPr>
              <a:t>here</a:t>
            </a:r>
            <a:r>
              <a:rPr dirty="0" sz="750" spc="-10">
                <a:latin typeface="Calibri"/>
                <a:cs typeface="Calibri"/>
              </a:rPr>
              <a:t>.</a:t>
            </a:r>
            <a:endParaRPr sz="750">
              <a:latin typeface="Calibri"/>
              <a:cs typeface="Calibri"/>
            </a:endParaRPr>
          </a:p>
          <a:p>
            <a:pPr marL="165735">
              <a:lnSpc>
                <a:spcPct val="100000"/>
              </a:lnSpc>
              <a:spcBef>
                <a:spcPts val="20"/>
              </a:spcBef>
            </a:pPr>
            <a:r>
              <a:rPr dirty="0" baseline="30303" sz="825" spc="75">
                <a:latin typeface="Calibri"/>
                <a:cs typeface="Calibri"/>
              </a:rPr>
              <a:t>9</a:t>
            </a:r>
            <a:r>
              <a:rPr dirty="0" sz="750" spc="50">
                <a:latin typeface="Calibri"/>
                <a:cs typeface="Calibri"/>
              </a:rPr>
              <a:t>This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next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four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graphs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were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generated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program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  <a:hlinkClick r:id="rId5"/>
              </a:rPr>
              <a:t>overfitting.py</a:t>
            </a:r>
            <a:r>
              <a:rPr dirty="0" sz="750" spc="-10">
                <a:latin typeface="Calibri"/>
                <a:cs typeface="Calibri"/>
              </a:rPr>
              <a:t>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10" name="object 10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634143" y="368721"/>
            <a:ext cx="198564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851025" algn="l"/>
              </a:tabLst>
            </a:pPr>
            <a:r>
              <a:rPr dirty="0" sz="850" spc="10">
                <a:latin typeface="Calibri"/>
                <a:cs typeface="Calibri"/>
              </a:rPr>
              <a:t>3.2.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75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96834" y="1027996"/>
            <a:ext cx="2241735" cy="183487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62380" y="3004280"/>
            <a:ext cx="4353560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encouraging,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smooth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expect.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200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399.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nice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up-close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stages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is.</a:t>
            </a:r>
            <a:endParaRPr sz="850">
              <a:latin typeface="Calibri"/>
              <a:cs typeface="Calibri"/>
            </a:endParaRPr>
          </a:p>
          <a:p>
            <a:pPr algn="just" marL="207010">
              <a:lnSpc>
                <a:spcPct val="100000"/>
              </a:lnSpc>
              <a:spcBef>
                <a:spcPts val="145"/>
              </a:spcBef>
            </a:pP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time: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096834" y="3817043"/>
            <a:ext cx="2241735" cy="1834876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060856" y="5770684"/>
            <a:ext cx="4379595" cy="22459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63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Again,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zoomed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shown)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rises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82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gradually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slows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down.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Finally,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around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epoch</a:t>
            </a:r>
            <a:r>
              <a:rPr dirty="0" sz="850" spc="50">
                <a:latin typeface="Calibri"/>
                <a:cs typeface="Calibri"/>
              </a:rPr>
              <a:t> 280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improving.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merely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small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fluctuations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280.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Contrast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graph,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associated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continues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smoothly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drop.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appears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getting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“better”.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test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improvement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illusion.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Fermi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disliked,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280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useful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overfitting</a:t>
            </a:r>
            <a:r>
              <a:rPr dirty="0" sz="850" spc="14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overtraining</a:t>
            </a:r>
            <a:r>
              <a:rPr dirty="0" sz="850" spc="14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beyond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280.</a:t>
            </a:r>
            <a:endParaRPr sz="850">
              <a:latin typeface="Calibri"/>
              <a:cs typeface="Calibri"/>
            </a:endParaRPr>
          </a:p>
          <a:p>
            <a:pPr algn="just" marL="19050" marR="32384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wonder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opposed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classification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accuracy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words,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oranges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comparison.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comparing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measures?</a:t>
            </a:r>
            <a:r>
              <a:rPr dirty="0" sz="850" spc="4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Or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data?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essentially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phenomenon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8" name="object 8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582795" cy="8667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76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245745" marR="50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matter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comparison.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look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data: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87776" y="1397896"/>
            <a:ext cx="2190786" cy="183487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99754" y="3342215"/>
            <a:ext cx="4356100" cy="1506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3335" marR="5080" indent="-127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until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around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15,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20">
                <a:latin typeface="Calibri"/>
                <a:cs typeface="Calibri"/>
              </a:rPr>
              <a:t> actually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starts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worse,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though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continuing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get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puzzle,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regard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15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280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dominate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learning?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improving</a:t>
            </a:r>
            <a:r>
              <a:rPr dirty="0" sz="850" spc="20">
                <a:latin typeface="Calibri"/>
                <a:cs typeface="Calibri"/>
              </a:rPr>
              <a:t> classification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accuracy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proxy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classification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accuracy.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sense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regard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epoch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280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beyond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dominating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endParaRPr sz="850">
              <a:latin typeface="Calibri"/>
              <a:cs typeface="Calibri"/>
            </a:endParaRPr>
          </a:p>
          <a:p>
            <a:pPr algn="just" marL="19685" marR="762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data: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87776" y="5010665"/>
            <a:ext cx="2190786" cy="1834876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693638" y="6954984"/>
            <a:ext cx="4382135" cy="10617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24765" indent="825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rises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100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1,000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images!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Meanwhile,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tops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82.27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20">
                <a:latin typeface="Calibri"/>
                <a:cs typeface="Calibri"/>
              </a:rPr>
              <a:t> network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peculiarities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recognizing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almost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merely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memorizing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without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set.</a:t>
            </a:r>
            <a:endParaRPr sz="850">
              <a:latin typeface="Calibri"/>
              <a:cs typeface="Calibri"/>
            </a:endParaRPr>
          </a:p>
          <a:p>
            <a:pPr algn="just" marL="26034" marR="508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major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especially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modern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effectively,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8" name="object 8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6" y="368721"/>
            <a:ext cx="4559300" cy="20688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85720">
              <a:lnSpc>
                <a:spcPts val="525"/>
              </a:lnSpc>
              <a:spcBef>
                <a:spcPts val="110"/>
              </a:spcBef>
              <a:tabLst>
                <a:tab pos="4424045" algn="l"/>
              </a:tabLst>
            </a:pPr>
            <a:r>
              <a:rPr dirty="0" sz="850" spc="10">
                <a:latin typeface="Calibri"/>
                <a:cs typeface="Calibri"/>
              </a:rPr>
              <a:t>3.2.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5">
                <a:latin typeface="Calibri"/>
                <a:cs typeface="Calibri"/>
              </a:rPr>
              <a:t>77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9050" marR="211454" indent="-698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detecting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overtrain.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we’d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overfitting.</a:t>
            </a:r>
            <a:endParaRPr sz="850">
              <a:latin typeface="Calibri"/>
              <a:cs typeface="Calibri"/>
            </a:endParaRPr>
          </a:p>
          <a:p>
            <a:pPr algn="just" marL="19050" marR="208915" indent="189230">
              <a:lnSpc>
                <a:spcPct val="114300"/>
              </a:lnSpc>
              <a:spcBef>
                <a:spcPts val="70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detect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track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trains.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test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improving,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strictly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speaking,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necessarily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adopting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strategy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prevent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overfitting.</a:t>
            </a:r>
            <a:endParaRPr sz="850">
              <a:latin typeface="Calibri"/>
              <a:cs typeface="Calibri"/>
            </a:endParaRPr>
          </a:p>
          <a:p>
            <a:pPr algn="just" marL="19050" marR="207010" indent="189230">
              <a:lnSpc>
                <a:spcPct val="114300"/>
              </a:lnSpc>
              <a:spcBef>
                <a:spcPts val="70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strategy.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Recall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load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MNIST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load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sets: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9510" y="2511488"/>
            <a:ext cx="4401185" cy="31178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mnist_loader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mnist_loader.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load_data_wrapper()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079996" y="7451929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15528" y="2863206"/>
            <a:ext cx="4480560" cy="515112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marL="57785" marR="43180" indent="6350">
              <a:lnSpc>
                <a:spcPct val="110500"/>
              </a:lnSpc>
              <a:spcBef>
                <a:spcPts val="70"/>
              </a:spcBef>
            </a:pP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900" spc="90">
                <a:latin typeface="Calibri"/>
                <a:cs typeface="Calibri"/>
              </a:rPr>
              <a:t>training_data</a:t>
            </a:r>
            <a:r>
              <a:rPr dirty="0" sz="90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test_data</a:t>
            </a:r>
            <a:r>
              <a:rPr dirty="0" sz="850" spc="75">
                <a:latin typeface="Calibri"/>
                <a:cs typeface="Calibri"/>
              </a:rPr>
              <a:t>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ignoring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900" spc="114">
                <a:latin typeface="Calibri"/>
                <a:cs typeface="Calibri"/>
              </a:rPr>
              <a:t>val-</a:t>
            </a:r>
            <a:r>
              <a:rPr dirty="0" sz="900" spc="75">
                <a:latin typeface="Calibri"/>
                <a:cs typeface="Calibri"/>
              </a:rPr>
              <a:t>idation_data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4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validation_data</a:t>
            </a:r>
            <a:r>
              <a:rPr dirty="0" sz="90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10,000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50,000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MNIST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10,000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MNIST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test_data</a:t>
            </a:r>
            <a:r>
              <a:rPr dirty="0" sz="90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prevent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validation_data</a:t>
            </a:r>
            <a:r>
              <a:rPr dirty="0" sz="850" spc="80">
                <a:latin typeface="Calibri"/>
                <a:cs typeface="Calibri"/>
              </a:rPr>
              <a:t>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strategy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test_data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validation_data</a:t>
            </a:r>
            <a:r>
              <a:rPr dirty="0" sz="90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Once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validation_data</a:t>
            </a:r>
            <a:r>
              <a:rPr dirty="0" sz="90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saturated,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strategy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stopping.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20">
                <a:latin typeface="Calibri"/>
                <a:cs typeface="Calibri"/>
              </a:rPr>
              <a:t> won’t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immediately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accuracy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saturated.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Instead,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continue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until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confident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saturated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10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50800" marR="60325" indent="203200">
              <a:lnSpc>
                <a:spcPct val="112900"/>
              </a:lnSpc>
              <a:spcBef>
                <a:spcPts val="30"/>
              </a:spcBef>
            </a:pP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validation_data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prevent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test_data</a:t>
            </a:r>
            <a:r>
              <a:rPr dirty="0" sz="850" spc="75">
                <a:latin typeface="Calibri"/>
                <a:cs typeface="Calibri"/>
              </a:rPr>
              <a:t>?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strategy,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validation_data</a:t>
            </a:r>
            <a:r>
              <a:rPr dirty="0" sz="90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evaluate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evaluations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find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Indeed,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although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haven’t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mentioned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until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arrived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book.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(More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later.)</a:t>
            </a:r>
            <a:endParaRPr sz="850">
              <a:latin typeface="Calibri"/>
              <a:cs typeface="Calibri"/>
            </a:endParaRPr>
          </a:p>
          <a:p>
            <a:pPr marL="57785" marR="43180" indent="196215">
              <a:lnSpc>
                <a:spcPct val="109300"/>
              </a:lnSpc>
              <a:spcBef>
                <a:spcPts val="65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900" spc="110">
                <a:latin typeface="Calibri"/>
                <a:cs typeface="Calibri"/>
              </a:rPr>
              <a:t>valida-</a:t>
            </a:r>
            <a:r>
              <a:rPr dirty="0" sz="900" spc="70">
                <a:latin typeface="Calibri"/>
                <a:cs typeface="Calibri"/>
              </a:rPr>
              <a:t>tion_data</a:t>
            </a:r>
            <a:r>
              <a:rPr dirty="0" sz="90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prevent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test_data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replaces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validation_data</a:t>
            </a:r>
            <a:r>
              <a:rPr dirty="0" sz="90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test_data</a:t>
            </a:r>
            <a:r>
              <a:rPr dirty="0" sz="90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hyper-parameters?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setting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evaluations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test_data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test_data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hyper-</a:t>
            </a:r>
            <a:r>
              <a:rPr dirty="0" sz="850" spc="10">
                <a:latin typeface="Calibri"/>
                <a:cs typeface="Calibri"/>
              </a:rPr>
              <a:t>parameters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peculiarities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test_data</a:t>
            </a:r>
            <a:r>
              <a:rPr dirty="0" sz="850" spc="75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performance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guard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against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validation_data</a:t>
            </a:r>
            <a:r>
              <a:rPr dirty="0" sz="850" spc="8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once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evaluation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test_data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confidence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test_data</a:t>
            </a:r>
            <a:r>
              <a:rPr dirty="0" sz="90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measure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gener-</a:t>
            </a:r>
            <a:r>
              <a:rPr dirty="0" sz="850" spc="10">
                <a:latin typeface="Calibri"/>
                <a:cs typeface="Calibri"/>
              </a:rPr>
              <a:t>alizes.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data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850">
              <a:latin typeface="Calibri"/>
              <a:cs typeface="Calibri"/>
            </a:endParaRPr>
          </a:p>
          <a:p>
            <a:pPr algn="just" marL="64135" marR="87630" indent="86995">
              <a:lnSpc>
                <a:spcPts val="800"/>
              </a:lnSpc>
            </a:pPr>
            <a:r>
              <a:rPr dirty="0" baseline="30303" sz="825">
                <a:latin typeface="Calibri"/>
                <a:cs typeface="Calibri"/>
              </a:rPr>
              <a:t>10</a:t>
            </a:r>
            <a:r>
              <a:rPr dirty="0" sz="750">
                <a:latin typeface="Calibri"/>
                <a:cs typeface="Calibri"/>
              </a:rPr>
              <a:t>It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requires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some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judgment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determine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when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stop.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earlier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graphs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I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identified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epoch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280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as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place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which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accuracy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saturated.</a:t>
            </a:r>
            <a:r>
              <a:rPr dirty="0" sz="750" spc="2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It’s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possible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was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too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pessimistic.</a:t>
            </a:r>
            <a:r>
              <a:rPr dirty="0" sz="750" spc="2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Neural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networks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sometimes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plateau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while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training,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before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continuing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improve.</a:t>
            </a:r>
            <a:r>
              <a:rPr dirty="0" sz="750" spc="21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wouldn’t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surprised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if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more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learning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could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have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occurred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even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after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epoch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400,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although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magnitude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further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improvement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would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likely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small.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it’s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possible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adopt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more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less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aggressive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strategies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early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stopping.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7" name="object 7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606290" cy="32531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78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850">
              <a:latin typeface="Arial MT"/>
              <a:cs typeface="Arial MT"/>
            </a:endParaRPr>
          </a:p>
          <a:p>
            <a:pPr algn="just" marL="225425" marR="29209" indent="19685">
              <a:lnSpc>
                <a:spcPct val="108600"/>
              </a:lnSpc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validation_data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kept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apart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“held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out”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training_data</a:t>
            </a:r>
            <a:r>
              <a:rPr dirty="0" sz="850" spc="7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238760" marR="7620" indent="196215">
              <a:lnSpc>
                <a:spcPct val="112400"/>
              </a:lnSpc>
              <a:spcBef>
                <a:spcPts val="25"/>
              </a:spcBef>
            </a:pPr>
            <a:r>
              <a:rPr dirty="0" sz="850" spc="10">
                <a:latin typeface="Calibri"/>
                <a:cs typeface="Calibri"/>
              </a:rPr>
              <a:t>Now,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evaluating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test_data</a:t>
            </a:r>
            <a:r>
              <a:rPr dirty="0" sz="90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minds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–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involve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danger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test_data</a:t>
            </a:r>
            <a:r>
              <a:rPr dirty="0" sz="90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well?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potentially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infinite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regress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confident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generalize?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Addressing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concern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purposes,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worry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question.</a:t>
            </a:r>
            <a:r>
              <a:rPr dirty="0" sz="850" spc="4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Instead,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plunge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ahead,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basic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hold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method,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training_data</a:t>
            </a:r>
            <a:r>
              <a:rPr dirty="0" sz="850" spc="85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validation_data</a:t>
            </a:r>
            <a:r>
              <a:rPr dirty="0" sz="850" spc="80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test_data</a:t>
            </a:r>
            <a:r>
              <a:rPr dirty="0" sz="850" spc="75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above.</a:t>
            </a:r>
            <a:endParaRPr sz="850">
              <a:latin typeface="Calibri"/>
              <a:cs typeface="Calibri"/>
            </a:endParaRPr>
          </a:p>
          <a:p>
            <a:pPr algn="just" marL="238125" marR="5080" indent="196850">
              <a:lnSpc>
                <a:spcPct val="114300"/>
              </a:lnSpc>
              <a:spcBef>
                <a:spcPts val="60"/>
              </a:spcBef>
            </a:pP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1,000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50,000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images?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(30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0.5,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10),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50,000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epochs.</a:t>
            </a:r>
            <a:r>
              <a:rPr dirty="0" sz="850" spc="4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graph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test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here,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rather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validation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order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directly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comparable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graphs.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87776" y="3913897"/>
            <a:ext cx="2190786" cy="178390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700852" y="5853932"/>
            <a:ext cx="4375150" cy="2162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63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together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1,000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accuracy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97.86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2.53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higher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95.33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17.73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earlier!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still</a:t>
            </a:r>
            <a:r>
              <a:rPr dirty="0" sz="850" spc="20">
                <a:latin typeface="Calibri"/>
                <a:cs typeface="Calibri"/>
              </a:rPr>
              <a:t> going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greatly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reduced.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generalizing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increase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very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Unfortunately,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expensive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acquire,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option.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25"/>
              </a:spcBef>
            </a:pPr>
            <a:endParaRPr sz="8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950" spc="50" b="1">
                <a:latin typeface="Calibri"/>
                <a:cs typeface="Calibri"/>
              </a:rPr>
              <a:t>3.2.1</a:t>
            </a:r>
            <a:r>
              <a:rPr dirty="0" sz="950" spc="260" b="1">
                <a:latin typeface="Calibri"/>
                <a:cs typeface="Calibri"/>
              </a:rPr>
              <a:t>  </a:t>
            </a:r>
            <a:r>
              <a:rPr dirty="0" sz="950" spc="40" b="1">
                <a:latin typeface="Calibri"/>
                <a:cs typeface="Calibri"/>
              </a:rPr>
              <a:t>Regularization</a:t>
            </a:r>
            <a:endParaRPr sz="950">
              <a:latin typeface="Calibri"/>
              <a:cs typeface="Calibri"/>
            </a:endParaRPr>
          </a:p>
          <a:p>
            <a:pPr algn="just" marL="12700" marR="24765" indent="6350">
              <a:lnSpc>
                <a:spcPct val="114300"/>
              </a:lnSpc>
              <a:spcBef>
                <a:spcPts val="805"/>
              </a:spcBef>
            </a:pPr>
            <a:r>
              <a:rPr dirty="0" sz="850" spc="20">
                <a:latin typeface="Calibri"/>
                <a:cs typeface="Calibri"/>
              </a:rPr>
              <a:t>Increasing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amount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reducing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overfitting.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extent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occurs?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6" name="object 6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96" y="368721"/>
            <a:ext cx="4552950" cy="8667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79370">
              <a:lnSpc>
                <a:spcPts val="525"/>
              </a:lnSpc>
              <a:spcBef>
                <a:spcPts val="110"/>
              </a:spcBef>
              <a:tabLst>
                <a:tab pos="4417695" algn="l"/>
              </a:tabLst>
            </a:pPr>
            <a:r>
              <a:rPr dirty="0" sz="850" spc="10">
                <a:latin typeface="Calibri"/>
                <a:cs typeface="Calibri"/>
              </a:rPr>
              <a:t>3.2.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5">
                <a:latin typeface="Calibri"/>
                <a:cs typeface="Calibri"/>
              </a:rPr>
              <a:t>79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12700" marR="211454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reduce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potential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adopt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reluctantly.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7296" y="1342422"/>
            <a:ext cx="4345940" cy="913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8923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Fortunately,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r>
              <a:rPr dirty="0" sz="850" spc="20">
                <a:latin typeface="Calibri"/>
                <a:cs typeface="Calibri"/>
              </a:rPr>
              <a:t> 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fixed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fixed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regularization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techniques.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section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commonly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</a:t>
            </a:r>
            <a:r>
              <a:rPr dirty="0" sz="850" spc="20">
                <a:latin typeface="Calibri"/>
                <a:cs typeface="Calibri"/>
              </a:rPr>
              <a:t> sometimes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weight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decay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L2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regularization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L2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regularization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term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regularized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</a:t>
            </a:r>
            <a:r>
              <a:rPr dirty="0" sz="850" spc="-10">
                <a:latin typeface="Calibri"/>
                <a:cs typeface="Calibri"/>
              </a:rPr>
              <a:t>entropy: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93126" y="2459041"/>
            <a:ext cx="3181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102649" y="2355408"/>
            <a:ext cx="87630" cy="34163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220"/>
              </a:spcBef>
            </a:pP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713698" y="2533417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491463" y="2520181"/>
            <a:ext cx="73279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99770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712785" y="2449026"/>
            <a:ext cx="1001394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951230" algn="l"/>
              </a:tabLst>
            </a:pPr>
            <a:r>
              <a:rPr dirty="0" sz="550" spc="10" i="1">
                <a:latin typeface="Calibri"/>
                <a:cs typeface="Calibri"/>
              </a:rPr>
              <a:t>L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10" i="1">
                <a:latin typeface="Calibri"/>
                <a:cs typeface="Calibri"/>
              </a:rPr>
              <a:t>L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652903" y="2533417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195235" y="2342225"/>
            <a:ext cx="16243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558290" algn="l"/>
              </a:tabLst>
            </a:pPr>
            <a:r>
              <a:rPr dirty="0" baseline="3267" sz="1275" spc="195">
                <a:latin typeface="Arial MT"/>
                <a:cs typeface="Arial MT"/>
              </a:rPr>
              <a:t>X</a:t>
            </a:r>
            <a:r>
              <a:rPr dirty="0" sz="850" spc="130">
                <a:latin typeface="Arial MT"/>
                <a:cs typeface="Arial MT"/>
              </a:rPr>
              <a:t>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495">
                <a:latin typeface="Arial MT"/>
                <a:cs typeface="Arial MT"/>
              </a:rPr>
              <a:t>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430423" y="2459040"/>
            <a:ext cx="14890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27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45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85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1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4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13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ln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-2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27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375">
                <a:latin typeface="Tahoma"/>
                <a:cs typeface="Tahoma"/>
              </a:rPr>
              <a:t> </a:t>
            </a:r>
            <a:r>
              <a:rPr dirty="0" sz="850" spc="-50">
                <a:latin typeface="Tahoma"/>
                <a:cs typeface="Tahoma"/>
              </a:rPr>
              <a:t>+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929888" y="2355407"/>
            <a:ext cx="149860" cy="34163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u="sng" sz="850" spc="1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λ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8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850" spc="30">
                <a:latin typeface="Calibri"/>
                <a:cs typeface="Calibri"/>
              </a:rPr>
              <a:t>2</a:t>
            </a:r>
            <a:r>
              <a:rPr dirty="0" sz="850" spc="3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237740" y="2621950"/>
            <a:ext cx="19761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10714" algn="l"/>
              </a:tabLst>
            </a:pPr>
            <a:r>
              <a:rPr dirty="0" sz="550" i="1">
                <a:latin typeface="Calibri"/>
                <a:cs typeface="Calibri"/>
              </a:rPr>
              <a:t>x</a:t>
            </a:r>
            <a:r>
              <a:rPr dirty="0" sz="550" spc="35" i="1">
                <a:latin typeface="Calibri"/>
                <a:cs typeface="Calibri"/>
              </a:rPr>
              <a:t> </a:t>
            </a: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w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084614" y="2338951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333916" y="2449027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255975" y="2459041"/>
            <a:ext cx="1809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083360" y="2459041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(3.31)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62380" y="2851918"/>
            <a:ext cx="4350385" cy="11944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cross-entropy.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second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namely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squares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scaled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factor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5" i="1">
                <a:latin typeface="Times New Roman"/>
                <a:cs typeface="Times New Roman"/>
              </a:rPr>
              <a:t>λ/</a:t>
            </a:r>
            <a:r>
              <a:rPr dirty="0" sz="850" spc="105">
                <a:latin typeface="Calibri"/>
                <a:cs typeface="Calibri"/>
              </a:rPr>
              <a:t>2</a:t>
            </a:r>
            <a:r>
              <a:rPr dirty="0" sz="850" spc="105" i="1">
                <a:latin typeface="Calibri"/>
                <a:cs typeface="Calibri"/>
              </a:rPr>
              <a:t>n</a:t>
            </a:r>
            <a:r>
              <a:rPr dirty="0" sz="850" spc="105">
                <a:latin typeface="Calibri"/>
                <a:cs typeface="Calibri"/>
              </a:rPr>
              <a:t>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&gt;</a:t>
            </a:r>
            <a:r>
              <a:rPr dirty="0" sz="850" spc="15" i="1">
                <a:latin typeface="Times New Roman"/>
                <a:cs typeface="Times New Roman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regularization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parameter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n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usual,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14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chosen.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regularization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term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include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biases.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I’ll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below.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50">
              <a:latin typeface="Calibri"/>
              <a:cs typeface="Calibri"/>
            </a:endParaRPr>
          </a:p>
          <a:p>
            <a:pPr marL="17145" marR="5080" indent="18923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regularize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way: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284120" y="4249220"/>
            <a:ext cx="2127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512364" y="4145587"/>
            <a:ext cx="149860" cy="3416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1900"/>
              </a:lnSpc>
              <a:spcBef>
                <a:spcPts val="95"/>
              </a:spcBef>
            </a:pPr>
            <a:r>
              <a:rPr dirty="0" u="sng" sz="85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50" spc="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2</a:t>
            </a:r>
            <a:r>
              <a:rPr dirty="0" sz="850" spc="3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725779" y="4408369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154706" y="4239206"/>
            <a:ext cx="1676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60" i="1">
                <a:latin typeface="Calibri"/>
                <a:cs typeface="Calibri"/>
              </a:rPr>
              <a:t>L</a:t>
            </a:r>
            <a:r>
              <a:rPr dirty="0" sz="550" spc="390" i="1">
                <a:latin typeface="Calibri"/>
                <a:cs typeface="Calibri"/>
              </a:rPr>
              <a:t> 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35723" y="4249220"/>
            <a:ext cx="5930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80">
                <a:latin typeface="Cambria"/>
                <a:cs typeface="Cambria"/>
              </a:rPr>
              <a:t>ǁ</a:t>
            </a:r>
            <a:r>
              <a:rPr dirty="0" sz="850" spc="-8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240" i="1">
                <a:latin typeface="Calibri"/>
                <a:cs typeface="Calibri"/>
              </a:rPr>
              <a:t> </a:t>
            </a:r>
            <a:r>
              <a:rPr dirty="0" sz="850" spc="80">
                <a:latin typeface="Cambria"/>
                <a:cs typeface="Cambria"/>
              </a:rPr>
              <a:t>ǁ</a:t>
            </a:r>
            <a:r>
              <a:rPr dirty="0" sz="850" spc="360">
                <a:latin typeface="Cambria"/>
                <a:cs typeface="Cambria"/>
              </a:rPr>
              <a:t> </a:t>
            </a:r>
            <a:r>
              <a:rPr dirty="0" sz="850" spc="-50">
                <a:latin typeface="Tahoma"/>
                <a:cs typeface="Tahoma"/>
              </a:rPr>
              <a:t>+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438893" y="4172261"/>
            <a:ext cx="1498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1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λ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667091" y="4129140"/>
            <a:ext cx="11049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939165" algn="l"/>
              </a:tabLst>
            </a:pPr>
            <a:r>
              <a:rPr dirty="0" sz="850" spc="585">
                <a:latin typeface="Arial MT"/>
                <a:cs typeface="Arial MT"/>
              </a:rPr>
              <a:t>X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413493" y="4330118"/>
            <a:ext cx="3346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55" i="1">
                <a:latin typeface="Calibri"/>
                <a:cs typeface="Calibri"/>
              </a:rPr>
              <a:t>n</a:t>
            </a:r>
            <a:r>
              <a:rPr dirty="0" sz="850" spc="440" i="1">
                <a:latin typeface="Calibri"/>
                <a:cs typeface="Calibri"/>
              </a:rPr>
              <a:t> </a:t>
            </a:r>
            <a:r>
              <a:rPr dirty="0" baseline="-35353" sz="825" spc="-75" i="1">
                <a:latin typeface="Calibri"/>
                <a:cs typeface="Calibri"/>
              </a:rPr>
              <a:t>w</a:t>
            </a:r>
            <a:endParaRPr baseline="-35353" sz="825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842922" y="4239206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764980" y="4249220"/>
            <a:ext cx="1809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083422" y="4249220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(3.32)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067294" y="4639914"/>
            <a:ext cx="28155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both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cases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write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911118" y="5060653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629292" y="4999498"/>
            <a:ext cx="4540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330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+</a:t>
            </a:r>
            <a:endParaRPr sz="85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093720" y="4895865"/>
            <a:ext cx="149860" cy="34163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u="sng" sz="850" spc="1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λ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8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850" spc="30">
                <a:latin typeface="Calibri"/>
                <a:cs typeface="Calibri"/>
              </a:rPr>
              <a:t>2</a:t>
            </a:r>
            <a:r>
              <a:rPr dirty="0" sz="850" spc="3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248446" y="4879418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300070" y="5158642"/>
            <a:ext cx="7747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w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497743" y="4989479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419807" y="4999493"/>
            <a:ext cx="1809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083369" y="4999493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(3.33)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97342" y="5389641"/>
            <a:ext cx="4457700" cy="26269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C</a:t>
            </a:r>
            <a:r>
              <a:rPr dirty="0" baseline="-20202" sz="825" spc="82">
                <a:latin typeface="Calibri"/>
                <a:cs typeface="Calibri"/>
              </a:rPr>
              <a:t>0</a:t>
            </a:r>
            <a:r>
              <a:rPr dirty="0" baseline="-20202" sz="825" spc="28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original,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unregularized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50">
              <a:latin typeface="Calibri"/>
              <a:cs typeface="Calibri"/>
            </a:endParaRPr>
          </a:p>
          <a:p>
            <a:pPr algn="just" marL="76200" marR="43180" indent="196215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Intuitively,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prefers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small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equal.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allowed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considerably</a:t>
            </a:r>
            <a:r>
              <a:rPr dirty="0" sz="850" spc="30">
                <a:latin typeface="Calibri"/>
                <a:cs typeface="Calibri"/>
              </a:rPr>
              <a:t> improve the first part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 the cost function.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Put another way,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regularization can be </a:t>
            </a:r>
            <a:r>
              <a:rPr dirty="0" sz="850" spc="-10">
                <a:latin typeface="Calibri"/>
                <a:cs typeface="Calibri"/>
              </a:rPr>
              <a:t>viewed</a:t>
            </a:r>
            <a:r>
              <a:rPr dirty="0" sz="850" spc="30">
                <a:latin typeface="Calibri"/>
                <a:cs typeface="Calibri"/>
              </a:rPr>
              <a:t> 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way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compromising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between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finding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small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weights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minimizing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original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relative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importance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elements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compromise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depends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14" i="1">
                <a:latin typeface="Times New Roman"/>
                <a:cs typeface="Times New Roman"/>
              </a:rPr>
              <a:t>λ</a:t>
            </a:r>
            <a:r>
              <a:rPr dirty="0" sz="850" spc="114">
                <a:latin typeface="Calibri"/>
                <a:cs typeface="Calibri"/>
              </a:rPr>
              <a:t>: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prefer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minimize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80" i="1">
                <a:latin typeface="Times New Roman"/>
                <a:cs typeface="Times New Roman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prefer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50">
              <a:latin typeface="Calibri"/>
              <a:cs typeface="Calibri"/>
            </a:endParaRPr>
          </a:p>
          <a:p>
            <a:pPr algn="just" marL="82550" marR="4699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Now,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kind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compromise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reduce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overfitting!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address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next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section.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does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overfitting.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Calibri"/>
              <a:cs typeface="Calibri"/>
            </a:endParaRPr>
          </a:p>
          <a:p>
            <a:pPr algn="just" marL="82550" marR="4699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construct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stochastic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41" name="object 41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3917950" cy="718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80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marL="245745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  <a:hlinkClick r:id="rId2" action="ppaction://hlinksldjump"/>
              </a:rPr>
              <a:t>(3.33)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gives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368893" y="1383385"/>
            <a:ext cx="158115" cy="0"/>
          </a:xfrm>
          <a:custGeom>
            <a:avLst/>
            <a:gdLst/>
            <a:ahLst/>
            <a:cxnLst/>
            <a:rect l="l" t="t" r="r" b="b"/>
            <a:pathLst>
              <a:path w="158114" h="0">
                <a:moveTo>
                  <a:pt x="0" y="0"/>
                </a:moveTo>
                <a:lnTo>
                  <a:pt x="157530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2655431" y="1292965"/>
            <a:ext cx="111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895866" y="1383385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 h="0">
                <a:moveTo>
                  <a:pt x="0" y="0"/>
                </a:moveTo>
                <a:lnTo>
                  <a:pt x="19245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3239274" y="1383385"/>
            <a:ext cx="71755" cy="0"/>
          </a:xfrm>
          <a:custGeom>
            <a:avLst/>
            <a:gdLst/>
            <a:ahLst/>
            <a:cxnLst/>
            <a:rect l="l" t="t" r="r" b="b"/>
            <a:pathLst>
              <a:path w="71754" h="0">
                <a:moveTo>
                  <a:pt x="0" y="0"/>
                </a:moveTo>
                <a:lnTo>
                  <a:pt x="71170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4723397" y="1292965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(3.34)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370632" y="1676260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 h="0">
                <a:moveTo>
                  <a:pt x="0" y="0"/>
                </a:moveTo>
                <a:lnTo>
                  <a:pt x="15577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2356192" y="1189318"/>
            <a:ext cx="183515" cy="63436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32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45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  <a:p>
            <a:pPr marL="20320">
              <a:lnSpc>
                <a:spcPct val="100000"/>
              </a:lnSpc>
              <a:spcBef>
                <a:spcPts val="225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655416" y="1585840"/>
            <a:ext cx="111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2895866" y="1676260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 h="0">
                <a:moveTo>
                  <a:pt x="0" y="0"/>
                </a:moveTo>
                <a:lnTo>
                  <a:pt x="19245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2857767" y="1189322"/>
            <a:ext cx="586740" cy="63436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2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55" i="1">
                <a:latin typeface="Calibri"/>
                <a:cs typeface="Calibri"/>
              </a:rPr>
              <a:t>C</a:t>
            </a:r>
            <a:r>
              <a:rPr dirty="0" baseline="-15151" sz="825" spc="82">
                <a:latin typeface="Calibri"/>
                <a:cs typeface="Calibri"/>
              </a:rPr>
              <a:t>0</a:t>
            </a:r>
            <a:r>
              <a:rPr dirty="0" baseline="-15151" sz="825" spc="322">
                <a:latin typeface="Calibri"/>
                <a:cs typeface="Calibri"/>
              </a:rPr>
              <a:t> </a:t>
            </a:r>
            <a:r>
              <a:rPr dirty="0" baseline="-39215" sz="1275">
                <a:latin typeface="Tahoma"/>
                <a:cs typeface="Tahoma"/>
              </a:rPr>
              <a:t>+</a:t>
            </a:r>
            <a:r>
              <a:rPr dirty="0" baseline="-39215" sz="1275" spc="30">
                <a:latin typeface="Tahoma"/>
                <a:cs typeface="Tahoma"/>
              </a:rPr>
              <a:t> </a:t>
            </a:r>
            <a:r>
              <a:rPr dirty="0" sz="850" spc="140" i="1">
                <a:latin typeface="Times New Roman"/>
                <a:cs typeface="Times New Roman"/>
              </a:rPr>
              <a:t>λ</a:t>
            </a:r>
            <a:r>
              <a:rPr dirty="0" baseline="-39215" sz="1275" spc="209" i="1">
                <a:latin typeface="Calibri"/>
                <a:cs typeface="Calibri"/>
              </a:rPr>
              <a:t>w</a:t>
            </a:r>
            <a:endParaRPr baseline="-39215" sz="1275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spcBef>
                <a:spcPts val="220"/>
              </a:spcBef>
              <a:tabLst>
                <a:tab pos="387985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55" i="1">
                <a:latin typeface="Calibri"/>
                <a:cs typeface="Calibri"/>
              </a:rPr>
              <a:t>C</a:t>
            </a:r>
            <a:r>
              <a:rPr dirty="0" baseline="-20202" sz="825" spc="82">
                <a:latin typeface="Calibri"/>
                <a:cs typeface="Calibri"/>
              </a:rPr>
              <a:t>0</a:t>
            </a:r>
            <a:r>
              <a:rPr dirty="0" baseline="-20202" sz="825" spc="75">
                <a:latin typeface="Calibri"/>
                <a:cs typeface="Calibri"/>
              </a:rPr>
              <a:t> </a:t>
            </a:r>
            <a:r>
              <a:rPr dirty="0" baseline="-42483" sz="1275" spc="-75">
                <a:latin typeface="Calibri"/>
                <a:cs typeface="Calibri"/>
              </a:rPr>
              <a:t>.</a:t>
            </a:r>
            <a:endParaRPr baseline="-42483" sz="1275">
              <a:latin typeface="Calibri"/>
              <a:cs typeface="Calibri"/>
            </a:endParaRPr>
          </a:p>
          <a:p>
            <a:pPr marL="62230">
              <a:lnSpc>
                <a:spcPct val="100000"/>
              </a:lnSpc>
              <a:spcBef>
                <a:spcPts val="244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723381" y="1585840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(3.35)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76984" y="1911674"/>
            <a:ext cx="440436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2545" marR="304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 i="1">
                <a:latin typeface="Times New Roman"/>
                <a:cs typeface="Times New Roman"/>
              </a:rPr>
              <a:t>∂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baseline="-20202" sz="825" spc="127">
                <a:latin typeface="Calibri"/>
                <a:cs typeface="Calibri"/>
              </a:rPr>
              <a:t>0</a:t>
            </a:r>
            <a:r>
              <a:rPr dirty="0" sz="850" spc="85" i="1">
                <a:latin typeface="Times New Roman"/>
                <a:cs typeface="Times New Roman"/>
              </a:rPr>
              <a:t>/∂</a:t>
            </a:r>
            <a:r>
              <a:rPr dirty="0" sz="850" spc="5" i="1">
                <a:latin typeface="Times New Roman"/>
                <a:cs typeface="Times New Roman"/>
              </a:rPr>
              <a:t> 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 i="1">
                <a:latin typeface="Times New Roman"/>
                <a:cs typeface="Times New Roman"/>
              </a:rPr>
              <a:t>∂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baseline="-20202" sz="825" spc="127">
                <a:latin typeface="Calibri"/>
                <a:cs typeface="Calibri"/>
              </a:rPr>
              <a:t>0</a:t>
            </a:r>
            <a:r>
              <a:rPr dirty="0" sz="850" spc="85" i="1">
                <a:latin typeface="Times New Roman"/>
                <a:cs typeface="Times New Roman"/>
              </a:rPr>
              <a:t>/∂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terms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described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504641" y="2315032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447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681901" y="2224610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function: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baseline="40404" sz="825" spc="195" i="1">
                <a:latin typeface="Times New Roman"/>
                <a:cs typeface="Times New Roman"/>
              </a:rPr>
              <a:t>λ</a:t>
            </a:r>
            <a:r>
              <a:rPr dirty="0" baseline="40404" sz="825" spc="22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all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07301" y="2297347"/>
            <a:ext cx="4345940" cy="38036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1297940">
              <a:lnSpc>
                <a:spcPts val="62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n</a:t>
            </a:r>
            <a:endParaRPr sz="550">
              <a:latin typeface="Calibri"/>
              <a:cs typeface="Calibri"/>
            </a:endParaRPr>
          </a:p>
          <a:p>
            <a:pPr marL="12700">
              <a:lnSpc>
                <a:spcPts val="980"/>
              </a:lnSpc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respect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unchanged,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rule: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999270" y="2803315"/>
            <a:ext cx="1714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144889" y="2864456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55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023895" y="2963966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505494" y="2883082"/>
            <a:ext cx="7575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713740" algn="l"/>
              </a:tabLst>
            </a:pP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2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-1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η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723388" y="2883078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(3.36)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02385" y="3224023"/>
            <a:ext cx="2071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becomes: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502993" y="3567804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55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357389" y="3508097"/>
            <a:ext cx="51180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55600" algn="l"/>
              </a:tabLst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 spc="1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ηλ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341584" y="3508097"/>
            <a:ext cx="1682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1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ηλ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076715" y="3435285"/>
            <a:ext cx="516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35609" algn="l"/>
              </a:tabLst>
            </a:pPr>
            <a:r>
              <a:rPr dirty="0" sz="850" spc="-365">
                <a:latin typeface="Arial MT"/>
                <a:cs typeface="Arial MT"/>
              </a:rPr>
              <a:t>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375">
                <a:latin typeface="Arial MT"/>
                <a:cs typeface="Arial MT"/>
              </a:rPr>
              <a:t>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872024" y="3506648"/>
            <a:ext cx="1714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017628" y="3567803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55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374849" y="3667318"/>
            <a:ext cx="169798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81000" algn="l"/>
                <a:tab pos="1021715" algn="l"/>
                <a:tab pos="1527175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n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n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627278" y="3586416"/>
            <a:ext cx="25082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56565" algn="l"/>
                <a:tab pos="970280" algn="l"/>
                <a:tab pos="1247140" algn="l"/>
                <a:tab pos="1971039" algn="l"/>
                <a:tab pos="2464435" algn="l"/>
              </a:tabLst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95" i="1">
                <a:latin typeface="Calibri"/>
                <a:cs typeface="Calibri"/>
              </a:rPr>
              <a:t>  </a:t>
            </a:r>
            <a:r>
              <a:rPr dirty="0" sz="850" spc="95">
                <a:latin typeface="Cambria"/>
                <a:cs typeface="Cambria"/>
              </a:rPr>
              <a:t>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3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η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465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3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η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723343" y="3586415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(3.37)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02384" y="3940164"/>
            <a:ext cx="4350385" cy="24701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except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rescale</a:t>
            </a:r>
            <a:endParaRPr sz="850">
              <a:latin typeface="Calibri"/>
              <a:cs typeface="Calibri"/>
            </a:endParaRPr>
          </a:p>
          <a:p>
            <a:pPr algn="ctr" marR="1257935">
              <a:lnSpc>
                <a:spcPct val="100000"/>
              </a:lnSpc>
              <a:spcBef>
                <a:spcPts val="45"/>
              </a:spcBef>
            </a:pPr>
            <a:r>
              <a:rPr dirty="0" sz="550" spc="80" i="1">
                <a:latin typeface="Times New Roman"/>
                <a:cs typeface="Times New Roman"/>
              </a:rPr>
              <a:t>λ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2220912" y="4178617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447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 txBox="1"/>
          <p:nvPr/>
        </p:nvSpPr>
        <p:spPr>
          <a:xfrm>
            <a:off x="2212581" y="4160932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n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07301" y="4088196"/>
            <a:ext cx="4368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45" i="1">
                <a:latin typeface="Times New Roman"/>
                <a:cs typeface="Times New Roman"/>
              </a:rPr>
              <a:t> 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rescaling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referred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weight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decay</a:t>
            </a:r>
            <a:r>
              <a:rPr dirty="0" sz="850" spc="-1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81901" y="4219366"/>
            <a:ext cx="4424045" cy="1087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smaller.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glance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driven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unstoppably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toward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zero.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may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increase,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causes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unregularized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endParaRPr sz="850">
              <a:latin typeface="Calibri"/>
              <a:cs typeface="Calibri"/>
            </a:endParaRPr>
          </a:p>
          <a:p>
            <a:pPr algn="just" marL="38100" marR="34925" indent="189230">
              <a:lnSpc>
                <a:spcPct val="114300"/>
              </a:lnSpc>
              <a:spcBef>
                <a:spcPts val="204"/>
              </a:spcBef>
            </a:pPr>
            <a:r>
              <a:rPr dirty="0" sz="850">
                <a:latin typeface="Calibri"/>
                <a:cs typeface="Calibri"/>
              </a:rPr>
              <a:t>Okay,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descent?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Well,</a:t>
            </a:r>
            <a:r>
              <a:rPr dirty="0" sz="850" spc="20">
                <a:latin typeface="Calibri"/>
                <a:cs typeface="Calibri"/>
              </a:rPr>
              <a:t> just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unregularized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stochastic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estimate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 i="1">
                <a:latin typeface="Times New Roman"/>
                <a:cs typeface="Times New Roman"/>
              </a:rPr>
              <a:t>∂</a:t>
            </a:r>
            <a:r>
              <a:rPr dirty="0" sz="850" spc="-25" i="1">
                <a:latin typeface="Times New Roman"/>
                <a:cs typeface="Times New Roman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baseline="-20202" sz="825" spc="127">
                <a:latin typeface="Calibri"/>
                <a:cs typeface="Calibri"/>
              </a:rPr>
              <a:t>0</a:t>
            </a:r>
            <a:r>
              <a:rPr dirty="0" sz="850" spc="85" i="1">
                <a:latin typeface="Times New Roman"/>
                <a:cs typeface="Times New Roman"/>
              </a:rPr>
              <a:t>/∂</a:t>
            </a:r>
            <a:r>
              <a:rPr dirty="0" sz="850" spc="-25" i="1">
                <a:latin typeface="Times New Roman"/>
                <a:cs typeface="Times New Roman"/>
              </a:rPr>
              <a:t> 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averaging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m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Thus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stochastic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becomes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(c.f.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3" action="ppaction://hlinksldjump"/>
              </a:rPr>
              <a:t>(1.20))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489822" y="5434257"/>
            <a:ext cx="1682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1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ηλ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224948" y="5361445"/>
            <a:ext cx="516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35609" algn="l"/>
              </a:tabLst>
            </a:pPr>
            <a:r>
              <a:rPr dirty="0" sz="850" spc="-365">
                <a:latin typeface="Arial MT"/>
                <a:cs typeface="Arial MT"/>
              </a:rPr>
              <a:t>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375">
                <a:latin typeface="Arial MT"/>
                <a:cs typeface="Arial MT"/>
              </a:rPr>
              <a:t>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985543" y="5512576"/>
            <a:ext cx="9525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761365" algn="l"/>
              </a:tabLst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180">
                <a:latin typeface="Cambria"/>
                <a:cs typeface="Cambria"/>
              </a:rPr>
              <a:t> 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35" i="1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070478" y="5392498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129166" y="5671737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948216" y="5434255"/>
            <a:ext cx="4775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18135" algn="l"/>
              </a:tabLst>
            </a:pPr>
            <a:r>
              <a:rPr dirty="0" u="sng" sz="850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8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η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405366" y="5493922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5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532392" y="5593476"/>
            <a:ext cx="9258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31165" algn="l"/>
                <a:tab pos="755015" algn="l"/>
              </a:tabLst>
            </a:pPr>
            <a:r>
              <a:rPr dirty="0" sz="850" spc="-50" i="1">
                <a:latin typeface="Calibri"/>
                <a:cs typeface="Calibri"/>
              </a:rPr>
              <a:t>n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m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468344" y="5512573"/>
            <a:ext cx="558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723436" y="5512573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(3.38)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50052" y="5883257"/>
            <a:ext cx="4467225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9850" marR="46355" indent="-698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C</a:t>
            </a:r>
            <a:r>
              <a:rPr dirty="0" baseline="-20202" sz="825" spc="104" i="1">
                <a:latin typeface="Calibri"/>
                <a:cs typeface="Calibri"/>
              </a:rPr>
              <a:t>x</a:t>
            </a:r>
            <a:r>
              <a:rPr dirty="0" baseline="-20202" sz="825" spc="427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(unregularized)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stochastic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except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 </a:t>
            </a:r>
            <a:r>
              <a:rPr dirty="0" sz="850" spc="145" i="1">
                <a:latin typeface="Times New Roman"/>
                <a:cs typeface="Times New Roman"/>
              </a:rPr>
              <a:t>ηλ/</a:t>
            </a:r>
            <a:r>
              <a:rPr dirty="0" sz="850" spc="145" i="1">
                <a:latin typeface="Calibri"/>
                <a:cs typeface="Calibri"/>
              </a:rPr>
              <a:t>n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Finally,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completeness,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same</a:t>
            </a:r>
            <a:r>
              <a:rPr dirty="0" sz="850" spc="20">
                <a:latin typeface="Calibri"/>
                <a:cs typeface="Calibri"/>
              </a:rPr>
              <a:t> 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unregularized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(c.f.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  <a:hlinkClick r:id="rId3" action="ppaction://hlinksldjump"/>
              </a:rPr>
              <a:t>1.21),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258745" y="6854679"/>
            <a:ext cx="4114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2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-15" i="1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802751" y="6734581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861439" y="7013819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680487" y="6776340"/>
            <a:ext cx="482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18135" algn="l"/>
              </a:tabLst>
            </a:pPr>
            <a:r>
              <a:rPr dirty="0" u="sng" sz="850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8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η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137639" y="6836019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5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2683217" y="6935574"/>
            <a:ext cx="4972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43535" algn="l"/>
              </a:tabLst>
            </a:pPr>
            <a:r>
              <a:rPr dirty="0" sz="850" spc="-50" i="1">
                <a:latin typeface="Calibri"/>
                <a:cs typeface="Calibri"/>
              </a:rPr>
              <a:t>m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200601" y="6854676"/>
            <a:ext cx="558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723416" y="6854676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(3.39)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700848" y="7199624"/>
            <a:ext cx="4355465" cy="81851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445"/>
              </a:spcBef>
            </a:pP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</a:t>
            </a:r>
            <a:r>
              <a:rPr dirty="0" sz="850" spc="-10">
                <a:latin typeface="Calibri"/>
                <a:cs typeface="Calibri"/>
              </a:rPr>
              <a:t>batch.</a:t>
            </a:r>
            <a:endParaRPr sz="850">
              <a:latin typeface="Calibri"/>
              <a:cs typeface="Calibri"/>
            </a:endParaRPr>
          </a:p>
          <a:p>
            <a:pPr algn="just" marL="19050" marR="5080" indent="189230">
              <a:lnSpc>
                <a:spcPct val="112599"/>
              </a:lnSpc>
              <a:spcBef>
                <a:spcPts val="220"/>
              </a:spcBef>
            </a:pP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performance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10,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0.5,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cross-entropy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However,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time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parameter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114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5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0.1.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name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lmbda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lambda</a:t>
            </a:r>
            <a:r>
              <a:rPr dirty="0" sz="90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59" name="object 59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96" y="368721"/>
            <a:ext cx="4552950" cy="14585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79370">
              <a:lnSpc>
                <a:spcPts val="525"/>
              </a:lnSpc>
              <a:spcBef>
                <a:spcPts val="110"/>
              </a:spcBef>
              <a:tabLst>
                <a:tab pos="4417695" algn="l"/>
              </a:tabLst>
            </a:pPr>
            <a:r>
              <a:rPr dirty="0" sz="850" spc="10">
                <a:latin typeface="Calibri"/>
                <a:cs typeface="Calibri"/>
              </a:rPr>
              <a:t>3.2.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5">
                <a:latin typeface="Calibri"/>
                <a:cs typeface="Calibri"/>
              </a:rPr>
              <a:t>81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50">
              <a:latin typeface="Arial MT"/>
              <a:cs typeface="Arial MT"/>
            </a:endParaRPr>
          </a:p>
          <a:p>
            <a:pPr algn="just" marL="12700" marR="188595">
              <a:lnSpc>
                <a:spcPct val="110100"/>
              </a:lnSpc>
            </a:pPr>
            <a:r>
              <a:rPr dirty="0" sz="850" spc="10">
                <a:latin typeface="Calibri"/>
                <a:cs typeface="Calibri"/>
              </a:rPr>
              <a:t>reserved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Python,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unrelated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meaning.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test_data</a:t>
            </a:r>
            <a:r>
              <a:rPr dirty="0" sz="90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again,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validation_data</a:t>
            </a:r>
            <a:r>
              <a:rPr dirty="0" sz="850" spc="8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Strictly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speaking,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validation_data</a:t>
            </a:r>
            <a:r>
              <a:rPr dirty="0" sz="850" spc="80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discussed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decided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test_data</a:t>
            </a:r>
            <a:r>
              <a:rPr dirty="0" sz="90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makes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directly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comparable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unregularized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results.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easily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validation_data</a:t>
            </a:r>
            <a:r>
              <a:rPr dirty="0" sz="90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similar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9510" y="2017890"/>
            <a:ext cx="4401185" cy="111760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4508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5"/>
              </a:spcBef>
            </a:pPr>
            <a:endParaRPr sz="700">
              <a:latin typeface="Times New Roman"/>
              <a:cs typeface="Times New Roman"/>
            </a:endParaRPr>
          </a:p>
          <a:p>
            <a:pPr marL="4572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mnist_loader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 </a:t>
            </a:r>
            <a:r>
              <a:rPr dirty="0" sz="700" spc="100">
                <a:latin typeface="Calibri"/>
                <a:cs typeface="Calibri"/>
              </a:rPr>
              <a:t>mnist_loader.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load_data_wrapper()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network2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10],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cost=network2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CrossEntropyCost)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net.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large_weight_initializer()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 spc="10">
                <a:latin typeface="Calibri"/>
                <a:cs typeface="Calibri"/>
              </a:rPr>
              <a:t>&gt;&gt;&gt;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training_data[:1000],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400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0.5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evaluation_data=test_data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lmbda</a:t>
            </a:r>
            <a:endParaRPr sz="700">
              <a:latin typeface="Calibri"/>
              <a:cs typeface="Calibri"/>
            </a:endParaRPr>
          </a:p>
          <a:p>
            <a:pPr marL="299720" marR="382905" indent="-3175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0.1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monitor_evaluation_cost=True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monitor_evaluation_accuracy=True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100">
                <a:latin typeface="Calibri"/>
                <a:cs typeface="Calibri"/>
              </a:rPr>
              <a:t>monitor_training_cost=True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monitor_training_accuracy=True)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36980" y="3149925"/>
            <a:ext cx="442404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2545" marR="304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earlier,</a:t>
            </a:r>
            <a:r>
              <a:rPr dirty="0" sz="850" spc="20">
                <a:latin typeface="Calibri"/>
                <a:cs typeface="Calibri"/>
              </a:rPr>
              <a:t> unregularized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case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11</a:t>
            </a:r>
            <a:r>
              <a:rPr dirty="0" sz="850" spc="-1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35046" y="3668440"/>
            <a:ext cx="2190786" cy="1783907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067296" y="5597977"/>
            <a:ext cx="4366895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test_data</a:t>
            </a:r>
            <a:r>
              <a:rPr dirty="0" sz="90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continues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increase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400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epochs: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096834" y="5937041"/>
            <a:ext cx="2241735" cy="1834876"/>
          </a:xfrm>
          <a:prstGeom prst="rect">
            <a:avLst/>
          </a:prstGeom>
        </p:spPr>
      </p:pic>
      <p:sp>
        <p:nvSpPr>
          <p:cNvPr id="8" name="object 8"/>
          <p:cNvSpPr/>
          <p:nvPr/>
        </p:nvSpPr>
        <p:spPr>
          <a:xfrm>
            <a:off x="1079996" y="785681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1129436" y="7868144"/>
            <a:ext cx="36537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30303" sz="825" spc="75">
                <a:latin typeface="Calibri"/>
                <a:cs typeface="Calibri"/>
              </a:rPr>
              <a:t>11</a:t>
            </a:r>
            <a:r>
              <a:rPr dirty="0" sz="750" spc="50">
                <a:latin typeface="Calibri"/>
                <a:cs typeface="Calibri"/>
              </a:rPr>
              <a:t>This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next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two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graphs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were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produced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with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program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800" spc="100">
                <a:latin typeface="Calibri"/>
                <a:cs typeface="Calibri"/>
              </a:rPr>
              <a:t>overfitting.py.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11" name="object 11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601845" cy="23482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82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45745" marR="5080" indent="-5715">
              <a:lnSpc>
                <a:spcPct val="114300"/>
              </a:lnSpc>
              <a:spcBef>
                <a:spcPts val="5"/>
              </a:spcBef>
            </a:pPr>
            <a:r>
              <a:rPr dirty="0" sz="850" spc="30">
                <a:latin typeface="Calibri"/>
                <a:cs typeface="Calibri"/>
              </a:rPr>
              <a:t>Clearly,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 use of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regularization has suppressed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overfitting.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What’s more,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 accuracy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considerably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higher,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peak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87.1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peak</a:t>
            </a:r>
            <a:r>
              <a:rPr dirty="0" sz="850" spc="20">
                <a:latin typeface="Calibri"/>
                <a:cs typeface="Calibri"/>
              </a:rPr>
              <a:t> 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82.27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obtained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unregularized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case.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Indeed,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could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almost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certainly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get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considerably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continuing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400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empirically,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regularization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causing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generalize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better,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considerably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reducing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effects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overfitting.</a:t>
            </a:r>
            <a:endParaRPr sz="850">
              <a:latin typeface="Calibri"/>
              <a:cs typeface="Calibri"/>
            </a:endParaRPr>
          </a:p>
          <a:p>
            <a:pPr algn="just" marL="245745" marR="24765" indent="18923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artificial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environment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1,000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return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50,000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set?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already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overfitting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less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50,000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help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further?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keep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30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rate</a:t>
            </a:r>
            <a:r>
              <a:rPr dirty="0" sz="850" spc="20">
                <a:latin typeface="Calibri"/>
                <a:cs typeface="Calibri"/>
              </a:rPr>
              <a:t> 0.5,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mini-batch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size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10.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However,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modify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parameter.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</a:t>
            </a:r>
            <a:r>
              <a:rPr dirty="0" sz="850" spc="10">
                <a:latin typeface="Lucida Sans Unicode"/>
                <a:cs typeface="Lucida Sans Unicode"/>
              </a:rPr>
              <a:t>=</a:t>
            </a:r>
            <a:r>
              <a:rPr dirty="0" sz="850" spc="10">
                <a:latin typeface="Calibri"/>
                <a:cs typeface="Calibri"/>
              </a:rPr>
              <a:t>1,000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</a:t>
            </a:r>
            <a:r>
              <a:rPr dirty="0" sz="850" spc="10">
                <a:latin typeface="Lucida Sans Unicode"/>
                <a:cs typeface="Lucida Sans Unicode"/>
              </a:rPr>
              <a:t>=</a:t>
            </a:r>
            <a:r>
              <a:rPr dirty="0" sz="850" spc="10">
                <a:latin typeface="Calibri"/>
                <a:cs typeface="Calibri"/>
              </a:rPr>
              <a:t>50,000,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01" y="2691124"/>
            <a:ext cx="4345940" cy="6191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10">
                <a:latin typeface="Cambria"/>
                <a:cs typeface="Cambria"/>
              </a:rPr>
              <a:t> </a:t>
            </a:r>
            <a:r>
              <a:rPr dirty="0" sz="850" spc="120" i="1">
                <a:latin typeface="Times New Roman"/>
                <a:cs typeface="Times New Roman"/>
              </a:rPr>
              <a:t>ηλ/</a:t>
            </a:r>
            <a:r>
              <a:rPr dirty="0" sz="850" spc="120" i="1">
                <a:latin typeface="Calibri"/>
                <a:cs typeface="Calibri"/>
              </a:rPr>
              <a:t>n</a:t>
            </a:r>
            <a:r>
              <a:rPr dirty="0" sz="850" spc="12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continued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0.1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would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decay,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thus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compensate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5.0.</a:t>
            </a:r>
            <a:endParaRPr sz="850">
              <a:latin typeface="Calibri"/>
              <a:cs typeface="Calibri"/>
            </a:endParaRPr>
          </a:p>
          <a:p>
            <a:pPr marL="201930">
              <a:lnSpc>
                <a:spcPct val="100000"/>
              </a:lnSpc>
              <a:spcBef>
                <a:spcPts val="155"/>
              </a:spcBef>
            </a:pPr>
            <a:r>
              <a:rPr dirty="0" sz="850" spc="10">
                <a:latin typeface="Calibri"/>
                <a:cs typeface="Calibri"/>
              </a:rPr>
              <a:t>Okay,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stopping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re-initialize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79514" y="3517150"/>
            <a:ext cx="4401185" cy="42672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net.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large_weight_initializer()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0.5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evaluation_data=test_data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lmbda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5.0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monitor_evaluation_accuracy=True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1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monitor_training_accuracy=True)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99754" y="3984170"/>
            <a:ext cx="10648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87776" y="4378424"/>
            <a:ext cx="2190786" cy="1783907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702384" y="6294775"/>
            <a:ext cx="4378325" cy="135890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240"/>
              </a:spcBef>
            </a:pPr>
            <a:r>
              <a:rPr dirty="0" sz="850" spc="10">
                <a:latin typeface="Calibri"/>
                <a:cs typeface="Calibri"/>
              </a:rPr>
              <a:t>There’s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endParaRPr sz="850">
              <a:latin typeface="Calibri"/>
              <a:cs typeface="Calibri"/>
            </a:endParaRPr>
          </a:p>
          <a:p>
            <a:pPr algn="just" marL="17145" marR="5080" indent="-5080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95.49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running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unregularized,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96.49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improvement.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Second,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gap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much</a:t>
            </a:r>
            <a:r>
              <a:rPr dirty="0" sz="850" spc="20">
                <a:latin typeface="Calibri"/>
                <a:cs typeface="Calibri"/>
              </a:rPr>
              <a:t> narrower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before,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running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still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significant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gap,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made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substantial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progress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overfitting.</a:t>
            </a:r>
            <a:endParaRPr sz="850">
              <a:latin typeface="Calibri"/>
              <a:cs typeface="Calibri"/>
            </a:endParaRPr>
          </a:p>
          <a:p>
            <a:pPr algn="just" marL="17145" marR="29209" indent="189230">
              <a:lnSpc>
                <a:spcPct val="114300"/>
              </a:lnSpc>
              <a:spcBef>
                <a:spcPts val="10"/>
              </a:spcBef>
            </a:pPr>
            <a:r>
              <a:rPr dirty="0" sz="850">
                <a:latin typeface="Calibri"/>
                <a:cs typeface="Calibri"/>
              </a:rPr>
              <a:t>Finally,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100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5.0.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detailed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analysis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overfitting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purely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tricks: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L2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676984" y="7858453"/>
            <a:ext cx="4406265" cy="158750"/>
          </a:xfrm>
          <a:custGeom>
            <a:avLst/>
            <a:gdLst/>
            <a:ahLst/>
            <a:cxnLst/>
            <a:rect l="l" t="t" r="r" b="b"/>
            <a:pathLst>
              <a:path w="4406265" h="158750">
                <a:moveTo>
                  <a:pt x="2529" y="43016"/>
                </a:moveTo>
                <a:lnTo>
                  <a:pt x="2529" y="0"/>
                </a:lnTo>
              </a:path>
              <a:path w="4406265" h="158750">
                <a:moveTo>
                  <a:pt x="0" y="2514"/>
                </a:moveTo>
                <a:lnTo>
                  <a:pt x="43016" y="2514"/>
                </a:lnTo>
              </a:path>
              <a:path w="4406265" h="158750">
                <a:moveTo>
                  <a:pt x="43016" y="2514"/>
                </a:moveTo>
                <a:lnTo>
                  <a:pt x="4363010" y="2514"/>
                </a:lnTo>
              </a:path>
              <a:path w="4406265" h="158750">
                <a:moveTo>
                  <a:pt x="4363010" y="2514"/>
                </a:moveTo>
                <a:lnTo>
                  <a:pt x="4406025" y="2514"/>
                </a:lnTo>
              </a:path>
              <a:path w="4406265" h="158750">
                <a:moveTo>
                  <a:pt x="4403497" y="43016"/>
                </a:moveTo>
                <a:lnTo>
                  <a:pt x="4403497" y="0"/>
                </a:lnTo>
              </a:path>
              <a:path w="4406265" h="158750">
                <a:moveTo>
                  <a:pt x="2529" y="158154"/>
                </a:moveTo>
                <a:lnTo>
                  <a:pt x="2529" y="43016"/>
                </a:lnTo>
              </a:path>
              <a:path w="4406265" h="158750">
                <a:moveTo>
                  <a:pt x="4403497" y="158154"/>
                </a:moveTo>
                <a:lnTo>
                  <a:pt x="4403497" y="43016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10" name="object 10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634143" y="368721"/>
            <a:ext cx="198564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851025" algn="l"/>
              </a:tabLst>
            </a:pPr>
            <a:r>
              <a:rPr dirty="0" sz="850" spc="10">
                <a:latin typeface="Calibri"/>
                <a:cs typeface="Calibri"/>
              </a:rPr>
              <a:t>3.2.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83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9510" y="971994"/>
            <a:ext cx="4401185" cy="575945"/>
          </a:xfrm>
          <a:custGeom>
            <a:avLst/>
            <a:gdLst/>
            <a:ahLst/>
            <a:cxnLst/>
            <a:rect l="l" t="t" r="r" b="b"/>
            <a:pathLst>
              <a:path w="4401185" h="575944">
                <a:moveTo>
                  <a:pt x="0" y="115138"/>
                </a:moveTo>
                <a:lnTo>
                  <a:pt x="0" y="0"/>
                </a:lnTo>
              </a:path>
              <a:path w="4401185" h="575944">
                <a:moveTo>
                  <a:pt x="4400979" y="115138"/>
                </a:moveTo>
                <a:lnTo>
                  <a:pt x="4400979" y="0"/>
                </a:lnTo>
              </a:path>
              <a:path w="4401185" h="575944">
                <a:moveTo>
                  <a:pt x="0" y="230276"/>
                </a:moveTo>
                <a:lnTo>
                  <a:pt x="0" y="115138"/>
                </a:lnTo>
              </a:path>
              <a:path w="4401185" h="575944">
                <a:moveTo>
                  <a:pt x="4400979" y="230276"/>
                </a:moveTo>
                <a:lnTo>
                  <a:pt x="4400979" y="115138"/>
                </a:lnTo>
              </a:path>
              <a:path w="4401185" h="575944">
                <a:moveTo>
                  <a:pt x="0" y="345414"/>
                </a:moveTo>
                <a:lnTo>
                  <a:pt x="0" y="230276"/>
                </a:lnTo>
              </a:path>
              <a:path w="4401185" h="575944">
                <a:moveTo>
                  <a:pt x="4400979" y="345414"/>
                </a:moveTo>
                <a:lnTo>
                  <a:pt x="4400979" y="230276"/>
                </a:lnTo>
              </a:path>
              <a:path w="4401185" h="575944">
                <a:moveTo>
                  <a:pt x="0" y="460552"/>
                </a:moveTo>
                <a:lnTo>
                  <a:pt x="0" y="345414"/>
                </a:lnTo>
              </a:path>
              <a:path w="4401185" h="575944">
                <a:moveTo>
                  <a:pt x="4400979" y="460552"/>
                </a:moveTo>
                <a:lnTo>
                  <a:pt x="4400979" y="345414"/>
                </a:lnTo>
              </a:path>
              <a:path w="4401185" h="575944">
                <a:moveTo>
                  <a:pt x="0" y="575691"/>
                </a:moveTo>
                <a:lnTo>
                  <a:pt x="0" y="460552"/>
                </a:lnTo>
              </a:path>
              <a:path w="4401185" h="575944">
                <a:moveTo>
                  <a:pt x="4400979" y="575691"/>
                </a:moveTo>
                <a:lnTo>
                  <a:pt x="4400979" y="46055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42037" y="942463"/>
            <a:ext cx="4396105" cy="60134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1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10],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cost=network2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CrossEntropyCost)</a:t>
            </a: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net.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large_weight_initializer()</a:t>
            </a:r>
            <a:endParaRPr sz="700">
              <a:latin typeface="Calibri"/>
              <a:cs typeface="Calibri"/>
            </a:endParaRPr>
          </a:p>
          <a:p>
            <a:pPr marL="296545" marR="793115" indent="-253365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0.5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lmbda=5.0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evaluation_data=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</a:t>
            </a:r>
            <a:endParaRPr sz="70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  <a:spcBef>
                <a:spcPts val="70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monitor_evaluation_accuracy=True)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036980" y="1547685"/>
            <a:ext cx="4406265" cy="43180"/>
          </a:xfrm>
          <a:custGeom>
            <a:avLst/>
            <a:gdLst/>
            <a:ahLst/>
            <a:cxnLst/>
            <a:rect l="l" t="t" r="r" b="b"/>
            <a:pathLst>
              <a:path w="4406265" h="43180">
                <a:moveTo>
                  <a:pt x="2529" y="43014"/>
                </a:moveTo>
                <a:lnTo>
                  <a:pt x="2529" y="0"/>
                </a:lnTo>
              </a:path>
              <a:path w="4406265" h="43180">
                <a:moveTo>
                  <a:pt x="0" y="40487"/>
                </a:moveTo>
                <a:lnTo>
                  <a:pt x="43016" y="40487"/>
                </a:lnTo>
              </a:path>
              <a:path w="4406265" h="43180">
                <a:moveTo>
                  <a:pt x="43016" y="40487"/>
                </a:moveTo>
                <a:lnTo>
                  <a:pt x="4363008" y="40487"/>
                </a:lnTo>
              </a:path>
              <a:path w="4406265" h="43180">
                <a:moveTo>
                  <a:pt x="4363021" y="40487"/>
                </a:moveTo>
                <a:lnTo>
                  <a:pt x="4406036" y="40487"/>
                </a:lnTo>
              </a:path>
              <a:path w="4406265" h="43180">
                <a:moveTo>
                  <a:pt x="4403509" y="43014"/>
                </a:moveTo>
                <a:lnTo>
                  <a:pt x="4403509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062380" y="1638841"/>
            <a:ext cx="4354830" cy="27190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145" marR="635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97.92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jump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60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00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4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0.1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100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4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5.0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break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98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barrier,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98.04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152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code!</a:t>
            </a:r>
            <a:endParaRPr sz="850">
              <a:latin typeface="Calibri"/>
              <a:cs typeface="Calibri"/>
            </a:endParaRPr>
          </a:p>
          <a:p>
            <a:pPr algn="just" marL="17145" marR="5080" indent="189230">
              <a:lnSpc>
                <a:spcPct val="114300"/>
              </a:lnSpc>
              <a:spcBef>
                <a:spcPts val="114"/>
              </a:spcBef>
            </a:pP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classification</a:t>
            </a:r>
            <a:r>
              <a:rPr dirty="0" sz="850" spc="20">
                <a:latin typeface="Calibri"/>
                <a:cs typeface="Calibri"/>
              </a:rPr>
              <a:t> accuracies.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benefit.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Empirically,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multiple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our</a:t>
            </a:r>
            <a:r>
              <a:rPr dirty="0" sz="850" spc="55">
                <a:latin typeface="Calibri"/>
                <a:cs typeface="Calibri"/>
              </a:rPr>
              <a:t> MNIST </a:t>
            </a:r>
            <a:r>
              <a:rPr dirty="0" sz="850" spc="20">
                <a:latin typeface="Calibri"/>
                <a:cs typeface="Calibri"/>
              </a:rPr>
              <a:t>networks,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(random)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initializations,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found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unregularized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occasionally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“stuck”,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apparently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caught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local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minima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20">
                <a:latin typeface="Calibri"/>
                <a:cs typeface="Calibri"/>
              </a:rPr>
              <a:t> contrast,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runs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provided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easily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replicable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results.</a:t>
            </a:r>
            <a:endParaRPr sz="850">
              <a:latin typeface="Calibri"/>
              <a:cs typeface="Calibri"/>
            </a:endParaRPr>
          </a:p>
          <a:p>
            <a:pPr algn="just" marL="17145" marR="5080" indent="189230">
              <a:lnSpc>
                <a:spcPct val="114300"/>
              </a:lnSpc>
              <a:spcBef>
                <a:spcPts val="115"/>
              </a:spcBef>
            </a:pP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on?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Heuristically,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unregularized,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length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grow,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equal.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lead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indeed.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stuck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due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make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tiny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believe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phenomenon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making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hard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properly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explore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space,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consequently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harder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859470" y="6106566"/>
            <a:ext cx="3108325" cy="1595755"/>
            <a:chOff x="1859470" y="6106566"/>
            <a:chExt cx="3108325" cy="1595755"/>
          </a:xfrm>
        </p:grpSpPr>
        <p:sp>
          <p:nvSpPr>
            <p:cNvPr id="8" name="object 8"/>
            <p:cNvSpPr/>
            <p:nvPr/>
          </p:nvSpPr>
          <p:spPr>
            <a:xfrm>
              <a:off x="1862010" y="6109106"/>
              <a:ext cx="2820670" cy="1590675"/>
            </a:xfrm>
            <a:custGeom>
              <a:avLst/>
              <a:gdLst/>
              <a:ahLst/>
              <a:cxnLst/>
              <a:rect l="l" t="t" r="r" b="b"/>
              <a:pathLst>
                <a:path w="2820670" h="1590675">
                  <a:moveTo>
                    <a:pt x="0" y="1590636"/>
                  </a:moveTo>
                  <a:lnTo>
                    <a:pt x="0" y="1536631"/>
                  </a:lnTo>
                </a:path>
                <a:path w="2820670" h="1590675">
                  <a:moveTo>
                    <a:pt x="564121" y="1590636"/>
                  </a:moveTo>
                  <a:lnTo>
                    <a:pt x="564121" y="1536631"/>
                  </a:lnTo>
                </a:path>
                <a:path w="2820670" h="1590675">
                  <a:moveTo>
                    <a:pt x="1128229" y="1590636"/>
                  </a:moveTo>
                  <a:lnTo>
                    <a:pt x="1128229" y="1536631"/>
                  </a:lnTo>
                </a:path>
                <a:path w="2820670" h="1590675">
                  <a:moveTo>
                    <a:pt x="1692351" y="1590636"/>
                  </a:moveTo>
                  <a:lnTo>
                    <a:pt x="1692351" y="1536631"/>
                  </a:lnTo>
                </a:path>
                <a:path w="2820670" h="1590675">
                  <a:moveTo>
                    <a:pt x="2256472" y="1590636"/>
                  </a:moveTo>
                  <a:lnTo>
                    <a:pt x="2256472" y="1536631"/>
                  </a:lnTo>
                </a:path>
                <a:path w="2820670" h="1590675">
                  <a:moveTo>
                    <a:pt x="2820581" y="1590636"/>
                  </a:moveTo>
                  <a:lnTo>
                    <a:pt x="2820581" y="1536631"/>
                  </a:lnTo>
                </a:path>
                <a:path w="2820670" h="1590675">
                  <a:moveTo>
                    <a:pt x="0" y="0"/>
                  </a:moveTo>
                  <a:lnTo>
                    <a:pt x="0" y="54000"/>
                  </a:lnTo>
                </a:path>
                <a:path w="2820670" h="1590675">
                  <a:moveTo>
                    <a:pt x="564121" y="0"/>
                  </a:moveTo>
                  <a:lnTo>
                    <a:pt x="564121" y="54000"/>
                  </a:lnTo>
                </a:path>
                <a:path w="2820670" h="1590675">
                  <a:moveTo>
                    <a:pt x="1128229" y="0"/>
                  </a:moveTo>
                  <a:lnTo>
                    <a:pt x="1128229" y="54000"/>
                  </a:lnTo>
                </a:path>
                <a:path w="2820670" h="1590675">
                  <a:moveTo>
                    <a:pt x="1692351" y="0"/>
                  </a:moveTo>
                  <a:lnTo>
                    <a:pt x="1692351" y="54000"/>
                  </a:lnTo>
                </a:path>
                <a:path w="2820670" h="1590675">
                  <a:moveTo>
                    <a:pt x="2256472" y="0"/>
                  </a:moveTo>
                  <a:lnTo>
                    <a:pt x="2256472" y="54000"/>
                  </a:lnTo>
                </a:path>
                <a:path w="2820670" h="1590675">
                  <a:moveTo>
                    <a:pt x="2820581" y="0"/>
                  </a:moveTo>
                  <a:lnTo>
                    <a:pt x="2820581" y="5400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862010" y="6253708"/>
              <a:ext cx="3103245" cy="1446530"/>
            </a:xfrm>
            <a:custGeom>
              <a:avLst/>
              <a:gdLst/>
              <a:ahLst/>
              <a:cxnLst/>
              <a:rect l="l" t="t" r="r" b="b"/>
              <a:pathLst>
                <a:path w="3103245" h="1446529">
                  <a:moveTo>
                    <a:pt x="0" y="1446034"/>
                  </a:moveTo>
                  <a:lnTo>
                    <a:pt x="54000" y="1446034"/>
                  </a:lnTo>
                </a:path>
                <a:path w="3103245" h="1446529">
                  <a:moveTo>
                    <a:pt x="0" y="723023"/>
                  </a:moveTo>
                  <a:lnTo>
                    <a:pt x="54000" y="723023"/>
                  </a:lnTo>
                </a:path>
                <a:path w="3103245" h="1446529">
                  <a:moveTo>
                    <a:pt x="0" y="0"/>
                  </a:moveTo>
                  <a:lnTo>
                    <a:pt x="54000" y="0"/>
                  </a:lnTo>
                </a:path>
                <a:path w="3103245" h="1446529">
                  <a:moveTo>
                    <a:pt x="3102648" y="1446034"/>
                  </a:moveTo>
                  <a:lnTo>
                    <a:pt x="3048647" y="1446034"/>
                  </a:lnTo>
                </a:path>
                <a:path w="3103245" h="1446529">
                  <a:moveTo>
                    <a:pt x="3102648" y="723023"/>
                  </a:moveTo>
                  <a:lnTo>
                    <a:pt x="3048647" y="723023"/>
                  </a:lnTo>
                </a:path>
                <a:path w="3103245" h="1446529">
                  <a:moveTo>
                    <a:pt x="3102648" y="0"/>
                  </a:moveTo>
                  <a:lnTo>
                    <a:pt x="3048647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862010" y="6109106"/>
              <a:ext cx="3103245" cy="1590675"/>
            </a:xfrm>
            <a:custGeom>
              <a:avLst/>
              <a:gdLst/>
              <a:ahLst/>
              <a:cxnLst/>
              <a:rect l="l" t="t" r="r" b="b"/>
              <a:pathLst>
                <a:path w="3103245" h="1590675">
                  <a:moveTo>
                    <a:pt x="0" y="1590636"/>
                  </a:moveTo>
                  <a:lnTo>
                    <a:pt x="0" y="0"/>
                  </a:lnTo>
                  <a:lnTo>
                    <a:pt x="3102648" y="0"/>
                  </a:lnTo>
                  <a:lnTo>
                    <a:pt x="3102648" y="1590636"/>
                  </a:lnTo>
                  <a:lnTo>
                    <a:pt x="0" y="1590636"/>
                  </a:lnTo>
                  <a:close/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2383027" y="7691746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47141" y="7691746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11259" y="7691746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3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075366" y="7690322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639474" y="7690322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5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749564" y="7614871"/>
            <a:ext cx="155575" cy="23367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815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  <a:p>
            <a:pPr marL="81915">
              <a:lnSpc>
                <a:spcPts val="815"/>
              </a:lnSpc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59751" y="4624470"/>
            <a:ext cx="4375785" cy="1701164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9685">
              <a:lnSpc>
                <a:spcPct val="100000"/>
              </a:lnSpc>
              <a:spcBef>
                <a:spcPts val="105"/>
              </a:spcBef>
            </a:pPr>
            <a:r>
              <a:rPr dirty="0" sz="950" spc="50" b="1">
                <a:latin typeface="Calibri"/>
                <a:cs typeface="Calibri"/>
              </a:rPr>
              <a:t>3.2.2</a:t>
            </a:r>
            <a:r>
              <a:rPr dirty="0" sz="950" spc="409" b="1">
                <a:latin typeface="Calibri"/>
                <a:cs typeface="Calibri"/>
              </a:rPr>
              <a:t>  </a:t>
            </a:r>
            <a:r>
              <a:rPr dirty="0" sz="950" b="1">
                <a:latin typeface="Calibri"/>
                <a:cs typeface="Calibri"/>
              </a:rPr>
              <a:t>Why</a:t>
            </a:r>
            <a:r>
              <a:rPr dirty="0" sz="950" spc="15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does</a:t>
            </a:r>
            <a:r>
              <a:rPr dirty="0" sz="950" spc="150" b="1">
                <a:latin typeface="Calibri"/>
                <a:cs typeface="Calibri"/>
              </a:rPr>
              <a:t> </a:t>
            </a:r>
            <a:r>
              <a:rPr dirty="0" sz="950" spc="50" b="1">
                <a:latin typeface="Calibri"/>
                <a:cs typeface="Calibri"/>
              </a:rPr>
              <a:t>regularization</a:t>
            </a:r>
            <a:r>
              <a:rPr dirty="0" sz="950" spc="15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help</a:t>
            </a:r>
            <a:r>
              <a:rPr dirty="0" sz="950" spc="15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reduce</a:t>
            </a:r>
            <a:r>
              <a:rPr dirty="0" sz="950" spc="150" b="1">
                <a:latin typeface="Calibri"/>
                <a:cs typeface="Calibri"/>
              </a:rPr>
              <a:t> </a:t>
            </a:r>
            <a:r>
              <a:rPr dirty="0" sz="950" spc="-10" b="1">
                <a:latin typeface="Calibri"/>
                <a:cs typeface="Calibri"/>
              </a:rPr>
              <a:t>overfitting?</a:t>
            </a:r>
            <a:endParaRPr sz="950">
              <a:latin typeface="Calibri"/>
              <a:cs typeface="Calibri"/>
            </a:endParaRPr>
          </a:p>
          <a:p>
            <a:pPr algn="just" marL="19685" marR="5080" indent="-7620">
              <a:lnSpc>
                <a:spcPct val="114300"/>
              </a:lnSpc>
              <a:spcBef>
                <a:spcPts val="890"/>
              </a:spcBef>
            </a:pP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empirically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regularization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encouraging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but,</a:t>
            </a:r>
            <a:r>
              <a:rPr dirty="0" sz="850" spc="20">
                <a:latin typeface="Calibri"/>
                <a:cs typeface="Calibri"/>
              </a:rPr>
              <a:t> unfortunately,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obvious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helps!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standard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story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people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lines: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sense,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lower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complexity,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explanation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thus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preferred.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story,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elements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dubious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mystifying.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unpack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story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examine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critically.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wish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model: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35"/>
              </a:spcBef>
            </a:pPr>
            <a:endParaRPr sz="850">
              <a:latin typeface="Calibri"/>
              <a:cs typeface="Calibri"/>
            </a:endParaRPr>
          </a:p>
          <a:p>
            <a:pPr marL="641350">
              <a:lnSpc>
                <a:spcPct val="100000"/>
              </a:lnSpc>
            </a:pPr>
            <a:r>
              <a:rPr dirty="0" sz="850" spc="25">
                <a:latin typeface="Calibri"/>
                <a:cs typeface="Calibri"/>
              </a:rPr>
              <a:t>10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749564" y="6891150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5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2229062" y="6225867"/>
            <a:ext cx="2425065" cy="1241425"/>
            <a:chOff x="2229062" y="6225867"/>
            <a:chExt cx="2425065" cy="1241425"/>
          </a:xfrm>
        </p:grpSpPr>
        <p:sp>
          <p:nvSpPr>
            <p:cNvPr id="20" name="object 20"/>
            <p:cNvSpPr/>
            <p:nvPr/>
          </p:nvSpPr>
          <p:spPr>
            <a:xfrm>
              <a:off x="2231593" y="7414152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46" y="1988"/>
                  </a:lnTo>
                  <a:lnTo>
                    <a:pt x="7405" y="7412"/>
                  </a:lnTo>
                  <a:lnTo>
                    <a:pt x="1986" y="15456"/>
                  </a:lnTo>
                  <a:lnTo>
                    <a:pt x="0" y="25306"/>
                  </a:lnTo>
                  <a:lnTo>
                    <a:pt x="1986" y="35155"/>
                  </a:lnTo>
                  <a:lnTo>
                    <a:pt x="7405" y="43199"/>
                  </a:lnTo>
                  <a:lnTo>
                    <a:pt x="15446" y="48622"/>
                  </a:lnTo>
                  <a:lnTo>
                    <a:pt x="25298" y="50610"/>
                  </a:lnTo>
                  <a:lnTo>
                    <a:pt x="35152" y="48622"/>
                  </a:lnTo>
                  <a:lnTo>
                    <a:pt x="43197" y="43199"/>
                  </a:lnTo>
                  <a:lnTo>
                    <a:pt x="48620" y="35155"/>
                  </a:lnTo>
                  <a:lnTo>
                    <a:pt x="50609" y="25306"/>
                  </a:lnTo>
                  <a:lnTo>
                    <a:pt x="48620" y="15456"/>
                  </a:lnTo>
                  <a:lnTo>
                    <a:pt x="43197" y="7412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231593" y="7414152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06"/>
                  </a:moveTo>
                  <a:lnTo>
                    <a:pt x="48620" y="15456"/>
                  </a:lnTo>
                  <a:lnTo>
                    <a:pt x="43197" y="7412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46" y="1988"/>
                  </a:lnTo>
                  <a:lnTo>
                    <a:pt x="7405" y="7412"/>
                  </a:lnTo>
                  <a:lnTo>
                    <a:pt x="1986" y="15456"/>
                  </a:lnTo>
                  <a:lnTo>
                    <a:pt x="0" y="25306"/>
                  </a:lnTo>
                  <a:lnTo>
                    <a:pt x="1986" y="35155"/>
                  </a:lnTo>
                  <a:lnTo>
                    <a:pt x="7405" y="43199"/>
                  </a:lnTo>
                  <a:lnTo>
                    <a:pt x="15446" y="48622"/>
                  </a:lnTo>
                  <a:lnTo>
                    <a:pt x="25298" y="50610"/>
                  </a:lnTo>
                  <a:lnTo>
                    <a:pt x="35152" y="48622"/>
                  </a:lnTo>
                  <a:lnTo>
                    <a:pt x="43197" y="43199"/>
                  </a:lnTo>
                  <a:lnTo>
                    <a:pt x="48620" y="35155"/>
                  </a:lnTo>
                  <a:lnTo>
                    <a:pt x="50609" y="25306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570061" y="735631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1"/>
                  </a:lnTo>
                  <a:lnTo>
                    <a:pt x="1988" y="15454"/>
                  </a:lnTo>
                  <a:lnTo>
                    <a:pt x="0" y="25303"/>
                  </a:lnTo>
                  <a:lnTo>
                    <a:pt x="1988" y="35155"/>
                  </a:lnTo>
                  <a:lnTo>
                    <a:pt x="7410" y="43199"/>
                  </a:lnTo>
                  <a:lnTo>
                    <a:pt x="15451" y="48621"/>
                  </a:lnTo>
                  <a:lnTo>
                    <a:pt x="25298" y="50609"/>
                  </a:lnTo>
                  <a:lnTo>
                    <a:pt x="35152" y="48621"/>
                  </a:lnTo>
                  <a:lnTo>
                    <a:pt x="43197" y="43199"/>
                  </a:lnTo>
                  <a:lnTo>
                    <a:pt x="48620" y="35155"/>
                  </a:lnTo>
                  <a:lnTo>
                    <a:pt x="50609" y="25303"/>
                  </a:lnTo>
                  <a:lnTo>
                    <a:pt x="48620" y="15454"/>
                  </a:lnTo>
                  <a:lnTo>
                    <a:pt x="43197" y="7411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570060" y="735631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03"/>
                  </a:moveTo>
                  <a:lnTo>
                    <a:pt x="48620" y="15454"/>
                  </a:lnTo>
                  <a:lnTo>
                    <a:pt x="43197" y="7411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1"/>
                  </a:lnTo>
                  <a:lnTo>
                    <a:pt x="1988" y="15454"/>
                  </a:lnTo>
                  <a:lnTo>
                    <a:pt x="0" y="25303"/>
                  </a:lnTo>
                  <a:lnTo>
                    <a:pt x="1988" y="35155"/>
                  </a:lnTo>
                  <a:lnTo>
                    <a:pt x="7410" y="43199"/>
                  </a:lnTo>
                  <a:lnTo>
                    <a:pt x="15451" y="48621"/>
                  </a:lnTo>
                  <a:lnTo>
                    <a:pt x="25298" y="50609"/>
                  </a:lnTo>
                  <a:lnTo>
                    <a:pt x="35152" y="48621"/>
                  </a:lnTo>
                  <a:lnTo>
                    <a:pt x="43197" y="43199"/>
                  </a:lnTo>
                  <a:lnTo>
                    <a:pt x="48620" y="35155"/>
                  </a:lnTo>
                  <a:lnTo>
                    <a:pt x="50609" y="25303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908528" y="709602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311" y="0"/>
                  </a:moveTo>
                  <a:lnTo>
                    <a:pt x="15457" y="1988"/>
                  </a:lnTo>
                  <a:lnTo>
                    <a:pt x="7412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2" y="43197"/>
                  </a:lnTo>
                  <a:lnTo>
                    <a:pt x="15457" y="48620"/>
                  </a:lnTo>
                  <a:lnTo>
                    <a:pt x="25311" y="50609"/>
                  </a:lnTo>
                  <a:lnTo>
                    <a:pt x="35157" y="48620"/>
                  </a:lnTo>
                  <a:lnTo>
                    <a:pt x="43199" y="43197"/>
                  </a:lnTo>
                  <a:lnTo>
                    <a:pt x="48621" y="35152"/>
                  </a:lnTo>
                  <a:lnTo>
                    <a:pt x="50609" y="25298"/>
                  </a:lnTo>
                  <a:lnTo>
                    <a:pt x="48621" y="15451"/>
                  </a:lnTo>
                  <a:lnTo>
                    <a:pt x="43199" y="7410"/>
                  </a:lnTo>
                  <a:lnTo>
                    <a:pt x="35157" y="1988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908528" y="709602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298"/>
                  </a:moveTo>
                  <a:lnTo>
                    <a:pt x="48621" y="15451"/>
                  </a:lnTo>
                  <a:lnTo>
                    <a:pt x="43199" y="7410"/>
                  </a:lnTo>
                  <a:lnTo>
                    <a:pt x="35157" y="1988"/>
                  </a:lnTo>
                  <a:lnTo>
                    <a:pt x="25311" y="0"/>
                  </a:lnTo>
                  <a:lnTo>
                    <a:pt x="15457" y="1988"/>
                  </a:lnTo>
                  <a:lnTo>
                    <a:pt x="7412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2" y="43197"/>
                  </a:lnTo>
                  <a:lnTo>
                    <a:pt x="15457" y="48620"/>
                  </a:lnTo>
                  <a:lnTo>
                    <a:pt x="25311" y="50609"/>
                  </a:lnTo>
                  <a:lnTo>
                    <a:pt x="35157" y="48620"/>
                  </a:lnTo>
                  <a:lnTo>
                    <a:pt x="43199" y="43197"/>
                  </a:lnTo>
                  <a:lnTo>
                    <a:pt x="48621" y="35152"/>
                  </a:lnTo>
                  <a:lnTo>
                    <a:pt x="50609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303409" y="6951421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311" y="0"/>
                  </a:moveTo>
                  <a:lnTo>
                    <a:pt x="15457" y="1988"/>
                  </a:lnTo>
                  <a:lnTo>
                    <a:pt x="7412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2" y="43199"/>
                  </a:lnTo>
                  <a:lnTo>
                    <a:pt x="15457" y="48621"/>
                  </a:lnTo>
                  <a:lnTo>
                    <a:pt x="25311" y="50609"/>
                  </a:lnTo>
                  <a:lnTo>
                    <a:pt x="35157" y="48621"/>
                  </a:lnTo>
                  <a:lnTo>
                    <a:pt x="43199" y="43199"/>
                  </a:lnTo>
                  <a:lnTo>
                    <a:pt x="48621" y="35157"/>
                  </a:lnTo>
                  <a:lnTo>
                    <a:pt x="50609" y="25311"/>
                  </a:lnTo>
                  <a:lnTo>
                    <a:pt x="48621" y="15457"/>
                  </a:lnTo>
                  <a:lnTo>
                    <a:pt x="43199" y="7412"/>
                  </a:lnTo>
                  <a:lnTo>
                    <a:pt x="35157" y="1988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303409" y="6951421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11"/>
                  </a:moveTo>
                  <a:lnTo>
                    <a:pt x="48621" y="15457"/>
                  </a:lnTo>
                  <a:lnTo>
                    <a:pt x="43199" y="7412"/>
                  </a:lnTo>
                  <a:lnTo>
                    <a:pt x="35157" y="1988"/>
                  </a:lnTo>
                  <a:lnTo>
                    <a:pt x="25311" y="0"/>
                  </a:lnTo>
                  <a:lnTo>
                    <a:pt x="15457" y="1988"/>
                  </a:lnTo>
                  <a:lnTo>
                    <a:pt x="7412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2" y="43199"/>
                  </a:lnTo>
                  <a:lnTo>
                    <a:pt x="15457" y="48621"/>
                  </a:lnTo>
                  <a:lnTo>
                    <a:pt x="25311" y="50609"/>
                  </a:lnTo>
                  <a:lnTo>
                    <a:pt x="35157" y="48621"/>
                  </a:lnTo>
                  <a:lnTo>
                    <a:pt x="43199" y="43199"/>
                  </a:lnTo>
                  <a:lnTo>
                    <a:pt x="48621" y="35157"/>
                  </a:lnTo>
                  <a:lnTo>
                    <a:pt x="50609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472650" y="679235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0" y="43199"/>
                  </a:lnTo>
                  <a:lnTo>
                    <a:pt x="15451" y="48621"/>
                  </a:lnTo>
                  <a:lnTo>
                    <a:pt x="25298" y="50609"/>
                  </a:lnTo>
                  <a:lnTo>
                    <a:pt x="35150" y="48621"/>
                  </a:lnTo>
                  <a:lnTo>
                    <a:pt x="43191" y="43199"/>
                  </a:lnTo>
                  <a:lnTo>
                    <a:pt x="48610" y="35157"/>
                  </a:lnTo>
                  <a:lnTo>
                    <a:pt x="50596" y="25311"/>
                  </a:lnTo>
                  <a:lnTo>
                    <a:pt x="48610" y="15457"/>
                  </a:lnTo>
                  <a:lnTo>
                    <a:pt x="43191" y="7412"/>
                  </a:lnTo>
                  <a:lnTo>
                    <a:pt x="35150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472649" y="679235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596" y="25311"/>
                  </a:moveTo>
                  <a:lnTo>
                    <a:pt x="48610" y="15457"/>
                  </a:lnTo>
                  <a:lnTo>
                    <a:pt x="43191" y="7412"/>
                  </a:lnTo>
                  <a:lnTo>
                    <a:pt x="35150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0" y="43199"/>
                  </a:lnTo>
                  <a:lnTo>
                    <a:pt x="15451" y="48621"/>
                  </a:lnTo>
                  <a:lnTo>
                    <a:pt x="25298" y="50609"/>
                  </a:lnTo>
                  <a:lnTo>
                    <a:pt x="35150" y="48621"/>
                  </a:lnTo>
                  <a:lnTo>
                    <a:pt x="43191" y="43199"/>
                  </a:lnTo>
                  <a:lnTo>
                    <a:pt x="48610" y="35157"/>
                  </a:lnTo>
                  <a:lnTo>
                    <a:pt x="50596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867531" y="6662217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6"/>
                  </a:lnTo>
                  <a:lnTo>
                    <a:pt x="7410" y="7405"/>
                  </a:lnTo>
                  <a:lnTo>
                    <a:pt x="1988" y="15446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lnTo>
                    <a:pt x="48620" y="15446"/>
                  </a:lnTo>
                  <a:lnTo>
                    <a:pt x="43197" y="7405"/>
                  </a:lnTo>
                  <a:lnTo>
                    <a:pt x="35152" y="1986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867530" y="6662217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298"/>
                  </a:moveTo>
                  <a:lnTo>
                    <a:pt x="48620" y="15446"/>
                  </a:lnTo>
                  <a:lnTo>
                    <a:pt x="43197" y="7405"/>
                  </a:lnTo>
                  <a:lnTo>
                    <a:pt x="35152" y="1986"/>
                  </a:lnTo>
                  <a:lnTo>
                    <a:pt x="25298" y="0"/>
                  </a:lnTo>
                  <a:lnTo>
                    <a:pt x="15451" y="1986"/>
                  </a:lnTo>
                  <a:lnTo>
                    <a:pt x="7410" y="7405"/>
                  </a:lnTo>
                  <a:lnTo>
                    <a:pt x="1988" y="15446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980345" y="6604368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311" y="0"/>
                  </a:moveTo>
                  <a:lnTo>
                    <a:pt x="15457" y="1988"/>
                  </a:lnTo>
                  <a:lnTo>
                    <a:pt x="7412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2" y="43199"/>
                  </a:lnTo>
                  <a:lnTo>
                    <a:pt x="15457" y="48621"/>
                  </a:lnTo>
                  <a:lnTo>
                    <a:pt x="25311" y="50609"/>
                  </a:lnTo>
                  <a:lnTo>
                    <a:pt x="35157" y="48621"/>
                  </a:lnTo>
                  <a:lnTo>
                    <a:pt x="43199" y="43199"/>
                  </a:lnTo>
                  <a:lnTo>
                    <a:pt x="48621" y="35157"/>
                  </a:lnTo>
                  <a:lnTo>
                    <a:pt x="50609" y="25311"/>
                  </a:lnTo>
                  <a:lnTo>
                    <a:pt x="48621" y="15457"/>
                  </a:lnTo>
                  <a:lnTo>
                    <a:pt x="43199" y="7412"/>
                  </a:lnTo>
                  <a:lnTo>
                    <a:pt x="35157" y="1988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980345" y="6604368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11"/>
                  </a:moveTo>
                  <a:lnTo>
                    <a:pt x="48621" y="15457"/>
                  </a:lnTo>
                  <a:lnTo>
                    <a:pt x="43199" y="7412"/>
                  </a:lnTo>
                  <a:lnTo>
                    <a:pt x="35157" y="1988"/>
                  </a:lnTo>
                  <a:lnTo>
                    <a:pt x="25311" y="0"/>
                  </a:lnTo>
                  <a:lnTo>
                    <a:pt x="15457" y="1988"/>
                  </a:lnTo>
                  <a:lnTo>
                    <a:pt x="7412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2" y="43199"/>
                  </a:lnTo>
                  <a:lnTo>
                    <a:pt x="15457" y="48621"/>
                  </a:lnTo>
                  <a:lnTo>
                    <a:pt x="25311" y="50609"/>
                  </a:lnTo>
                  <a:lnTo>
                    <a:pt x="35157" y="48621"/>
                  </a:lnTo>
                  <a:lnTo>
                    <a:pt x="43199" y="43199"/>
                  </a:lnTo>
                  <a:lnTo>
                    <a:pt x="48621" y="35157"/>
                  </a:lnTo>
                  <a:lnTo>
                    <a:pt x="50609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064965" y="6517602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311" y="0"/>
                  </a:moveTo>
                  <a:lnTo>
                    <a:pt x="15457" y="1990"/>
                  </a:lnTo>
                  <a:lnTo>
                    <a:pt x="7412" y="7416"/>
                  </a:lnTo>
                  <a:lnTo>
                    <a:pt x="1988" y="15462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2" y="43199"/>
                  </a:lnTo>
                  <a:lnTo>
                    <a:pt x="15457" y="48621"/>
                  </a:lnTo>
                  <a:lnTo>
                    <a:pt x="25311" y="50609"/>
                  </a:lnTo>
                  <a:lnTo>
                    <a:pt x="35157" y="48621"/>
                  </a:lnTo>
                  <a:lnTo>
                    <a:pt x="43199" y="43199"/>
                  </a:lnTo>
                  <a:lnTo>
                    <a:pt x="48621" y="35157"/>
                  </a:lnTo>
                  <a:lnTo>
                    <a:pt x="50609" y="25311"/>
                  </a:lnTo>
                  <a:lnTo>
                    <a:pt x="48621" y="15462"/>
                  </a:lnTo>
                  <a:lnTo>
                    <a:pt x="43199" y="7416"/>
                  </a:lnTo>
                  <a:lnTo>
                    <a:pt x="35157" y="1990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064965" y="6517602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11"/>
                  </a:moveTo>
                  <a:lnTo>
                    <a:pt x="48621" y="15462"/>
                  </a:lnTo>
                  <a:lnTo>
                    <a:pt x="43199" y="7416"/>
                  </a:lnTo>
                  <a:lnTo>
                    <a:pt x="35157" y="1990"/>
                  </a:lnTo>
                  <a:lnTo>
                    <a:pt x="25311" y="0"/>
                  </a:lnTo>
                  <a:lnTo>
                    <a:pt x="15457" y="1990"/>
                  </a:lnTo>
                  <a:lnTo>
                    <a:pt x="7412" y="7416"/>
                  </a:lnTo>
                  <a:lnTo>
                    <a:pt x="1988" y="15462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2" y="43199"/>
                  </a:lnTo>
                  <a:lnTo>
                    <a:pt x="15457" y="48621"/>
                  </a:lnTo>
                  <a:lnTo>
                    <a:pt x="25311" y="50609"/>
                  </a:lnTo>
                  <a:lnTo>
                    <a:pt x="35157" y="48621"/>
                  </a:lnTo>
                  <a:lnTo>
                    <a:pt x="43199" y="43199"/>
                  </a:lnTo>
                  <a:lnTo>
                    <a:pt x="48621" y="35157"/>
                  </a:lnTo>
                  <a:lnTo>
                    <a:pt x="50609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318812" y="6358547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311" y="0"/>
                  </a:moveTo>
                  <a:lnTo>
                    <a:pt x="15462" y="1988"/>
                  </a:lnTo>
                  <a:lnTo>
                    <a:pt x="7416" y="7410"/>
                  </a:lnTo>
                  <a:lnTo>
                    <a:pt x="1990" y="15451"/>
                  </a:lnTo>
                  <a:lnTo>
                    <a:pt x="0" y="25298"/>
                  </a:lnTo>
                  <a:lnTo>
                    <a:pt x="1990" y="35152"/>
                  </a:lnTo>
                  <a:lnTo>
                    <a:pt x="7416" y="43197"/>
                  </a:lnTo>
                  <a:lnTo>
                    <a:pt x="15462" y="48620"/>
                  </a:lnTo>
                  <a:lnTo>
                    <a:pt x="25311" y="50609"/>
                  </a:lnTo>
                  <a:lnTo>
                    <a:pt x="35159" y="48620"/>
                  </a:lnTo>
                  <a:lnTo>
                    <a:pt x="43205" y="43197"/>
                  </a:lnTo>
                  <a:lnTo>
                    <a:pt x="48631" y="35152"/>
                  </a:lnTo>
                  <a:lnTo>
                    <a:pt x="50622" y="25298"/>
                  </a:lnTo>
                  <a:lnTo>
                    <a:pt x="48631" y="15451"/>
                  </a:lnTo>
                  <a:lnTo>
                    <a:pt x="43205" y="7410"/>
                  </a:lnTo>
                  <a:lnTo>
                    <a:pt x="35159" y="1988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318812" y="6358547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22" y="25298"/>
                  </a:moveTo>
                  <a:lnTo>
                    <a:pt x="48631" y="15451"/>
                  </a:lnTo>
                  <a:lnTo>
                    <a:pt x="43205" y="7410"/>
                  </a:lnTo>
                  <a:lnTo>
                    <a:pt x="35159" y="1988"/>
                  </a:lnTo>
                  <a:lnTo>
                    <a:pt x="25311" y="0"/>
                  </a:lnTo>
                  <a:lnTo>
                    <a:pt x="15462" y="1988"/>
                  </a:lnTo>
                  <a:lnTo>
                    <a:pt x="7416" y="7410"/>
                  </a:lnTo>
                  <a:lnTo>
                    <a:pt x="1990" y="15451"/>
                  </a:lnTo>
                  <a:lnTo>
                    <a:pt x="0" y="25298"/>
                  </a:lnTo>
                  <a:lnTo>
                    <a:pt x="1990" y="35152"/>
                  </a:lnTo>
                  <a:lnTo>
                    <a:pt x="7416" y="43197"/>
                  </a:lnTo>
                  <a:lnTo>
                    <a:pt x="15462" y="48620"/>
                  </a:lnTo>
                  <a:lnTo>
                    <a:pt x="25311" y="50609"/>
                  </a:lnTo>
                  <a:lnTo>
                    <a:pt x="35159" y="48620"/>
                  </a:lnTo>
                  <a:lnTo>
                    <a:pt x="43205" y="43197"/>
                  </a:lnTo>
                  <a:lnTo>
                    <a:pt x="48631" y="35152"/>
                  </a:lnTo>
                  <a:lnTo>
                    <a:pt x="50622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600880" y="6228397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0" y="43199"/>
                  </a:lnTo>
                  <a:lnTo>
                    <a:pt x="15451" y="48621"/>
                  </a:lnTo>
                  <a:lnTo>
                    <a:pt x="25298" y="50609"/>
                  </a:lnTo>
                  <a:lnTo>
                    <a:pt x="35152" y="48621"/>
                  </a:lnTo>
                  <a:lnTo>
                    <a:pt x="43197" y="43199"/>
                  </a:lnTo>
                  <a:lnTo>
                    <a:pt x="48620" y="35157"/>
                  </a:lnTo>
                  <a:lnTo>
                    <a:pt x="50609" y="25311"/>
                  </a:lnTo>
                  <a:lnTo>
                    <a:pt x="48620" y="15457"/>
                  </a:lnTo>
                  <a:lnTo>
                    <a:pt x="43197" y="7412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600879" y="6228397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11"/>
                  </a:moveTo>
                  <a:lnTo>
                    <a:pt x="48620" y="15457"/>
                  </a:lnTo>
                  <a:lnTo>
                    <a:pt x="43197" y="7412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0" y="43199"/>
                  </a:lnTo>
                  <a:lnTo>
                    <a:pt x="15451" y="48621"/>
                  </a:lnTo>
                  <a:lnTo>
                    <a:pt x="25298" y="50609"/>
                  </a:lnTo>
                  <a:lnTo>
                    <a:pt x="35152" y="48621"/>
                  </a:lnTo>
                  <a:lnTo>
                    <a:pt x="43197" y="43199"/>
                  </a:lnTo>
                  <a:lnTo>
                    <a:pt x="48620" y="35157"/>
                  </a:lnTo>
                  <a:lnTo>
                    <a:pt x="50609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/>
          <p:cNvSpPr txBox="1"/>
          <p:nvPr/>
        </p:nvSpPr>
        <p:spPr>
          <a:xfrm>
            <a:off x="3373615" y="7822784"/>
            <a:ext cx="781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505269" y="6863528"/>
            <a:ext cx="135255" cy="7747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5778775" y="1799981"/>
            <a:ext cx="344170" cy="461645"/>
            <a:chOff x="5778775" y="1799981"/>
            <a:chExt cx="344170" cy="461645"/>
          </a:xfrm>
        </p:grpSpPr>
        <p:sp>
          <p:nvSpPr>
            <p:cNvPr id="43" name="object 43"/>
            <p:cNvSpPr/>
            <p:nvPr/>
          </p:nvSpPr>
          <p:spPr>
            <a:xfrm>
              <a:off x="5781306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68" y="0"/>
                  </a:moveTo>
                  <a:lnTo>
                    <a:pt x="72008" y="0"/>
                  </a:lnTo>
                  <a:lnTo>
                    <a:pt x="43982" y="5657"/>
                  </a:lnTo>
                  <a:lnTo>
                    <a:pt x="21093" y="21088"/>
                  </a:lnTo>
                  <a:lnTo>
                    <a:pt x="5659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9" y="412569"/>
                  </a:lnTo>
                  <a:lnTo>
                    <a:pt x="21093" y="435459"/>
                  </a:lnTo>
                  <a:lnTo>
                    <a:pt x="43982" y="450892"/>
                  </a:lnTo>
                  <a:lnTo>
                    <a:pt x="72008" y="456552"/>
                  </a:lnTo>
                  <a:lnTo>
                    <a:pt x="336168" y="456552"/>
                  </a:lnTo>
                  <a:lnTo>
                    <a:pt x="338696" y="456041"/>
                  </a:lnTo>
                  <a:lnTo>
                    <a:pt x="338696" y="510"/>
                  </a:lnTo>
                  <a:lnTo>
                    <a:pt x="336168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781306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96" y="510"/>
                  </a:moveTo>
                  <a:lnTo>
                    <a:pt x="336168" y="0"/>
                  </a:lnTo>
                  <a:lnTo>
                    <a:pt x="72008" y="0"/>
                  </a:lnTo>
                  <a:lnTo>
                    <a:pt x="43982" y="5657"/>
                  </a:lnTo>
                  <a:lnTo>
                    <a:pt x="21093" y="21088"/>
                  </a:lnTo>
                  <a:lnTo>
                    <a:pt x="5659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9" y="412569"/>
                  </a:lnTo>
                  <a:lnTo>
                    <a:pt x="21093" y="435459"/>
                  </a:lnTo>
                  <a:lnTo>
                    <a:pt x="43982" y="450892"/>
                  </a:lnTo>
                  <a:lnTo>
                    <a:pt x="72008" y="456552"/>
                  </a:lnTo>
                  <a:lnTo>
                    <a:pt x="336168" y="456552"/>
                  </a:lnTo>
                  <a:lnTo>
                    <a:pt x="338696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/>
          <p:cNvSpPr txBox="1"/>
          <p:nvPr/>
        </p:nvSpPr>
        <p:spPr>
          <a:xfrm>
            <a:off x="5876607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48781" y="368721"/>
            <a:ext cx="4629785" cy="175513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33375" algn="l"/>
              </a:tabLst>
            </a:pPr>
            <a:r>
              <a:rPr dirty="0" sz="850" spc="25">
                <a:latin typeface="Calibri"/>
                <a:cs typeface="Calibri"/>
              </a:rPr>
              <a:t>84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203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64160" marR="30480" indent="6350">
              <a:lnSpc>
                <a:spcPct val="114300"/>
              </a:lnSpc>
              <a:spcBef>
                <a:spcPts val="5"/>
              </a:spcBef>
            </a:pPr>
            <a:r>
              <a:rPr dirty="0" sz="850" spc="30">
                <a:latin typeface="Calibri"/>
                <a:cs typeface="Calibri"/>
              </a:rPr>
              <a:t>Implicitly,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studying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real-</a:t>
            </a:r>
            <a:r>
              <a:rPr dirty="0" sz="850" spc="35">
                <a:latin typeface="Calibri"/>
                <a:cs typeface="Calibri"/>
              </a:rPr>
              <a:t>world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phenomenon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here,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45" i="1">
                <a:latin typeface="Calibri"/>
                <a:cs typeface="Calibri"/>
              </a:rPr>
              <a:t>x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y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representing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real-</a:t>
            </a:r>
            <a:r>
              <a:rPr dirty="0" sz="850" spc="20">
                <a:latin typeface="Calibri"/>
                <a:cs typeface="Calibri"/>
              </a:rPr>
              <a:t>world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data.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goal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build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which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lets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us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predict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y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could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try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neural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build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model,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going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something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simpler: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try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y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polynomial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doing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using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nets</a:t>
            </a:r>
            <a:r>
              <a:rPr dirty="0" sz="850">
                <a:latin typeface="Calibri"/>
                <a:cs typeface="Calibri"/>
              </a:rPr>
              <a:t> because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using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polynomials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will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make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things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particularly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transparent.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Once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understood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polynomial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case, we’ll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translate</a:t>
            </a:r>
            <a:r>
              <a:rPr dirty="0" sz="850" spc="-5">
                <a:latin typeface="Calibri"/>
                <a:cs typeface="Calibri"/>
              </a:rPr>
              <a:t> to </a:t>
            </a:r>
            <a:r>
              <a:rPr dirty="0" sz="850" spc="15">
                <a:latin typeface="Calibri"/>
                <a:cs typeface="Calibri"/>
              </a:rPr>
              <a:t>neural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networks.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are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ten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points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graph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which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unique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9-th-</a:t>
            </a:r>
            <a:r>
              <a:rPr dirty="0" sz="850" spc="15">
                <a:latin typeface="Calibri"/>
                <a:cs typeface="Calibri"/>
              </a:rPr>
              <a:t>order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polynomial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y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45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25" i="1">
                <a:latin typeface="Calibri"/>
                <a:cs typeface="Calibri"/>
              </a:rPr>
              <a:t>a</a:t>
            </a:r>
            <a:r>
              <a:rPr dirty="0" baseline="-20202" sz="825" spc="37">
                <a:latin typeface="Calibri"/>
                <a:cs typeface="Calibri"/>
              </a:rPr>
              <a:t>0</a:t>
            </a:r>
            <a:r>
              <a:rPr dirty="0" baseline="-20202" sz="825" spc="-15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baseline="35353" sz="825" spc="120">
                <a:latin typeface="Calibri"/>
                <a:cs typeface="Calibri"/>
              </a:rPr>
              <a:t>9</a:t>
            </a:r>
            <a:r>
              <a:rPr dirty="0" baseline="35353" sz="825" spc="127">
                <a:latin typeface="Calibri"/>
                <a:cs typeface="Calibri"/>
              </a:rPr>
              <a:t> </a:t>
            </a:r>
            <a:r>
              <a:rPr dirty="0" sz="850" spc="5">
                <a:latin typeface="Tahoma"/>
                <a:cs typeface="Tahoma"/>
              </a:rPr>
              <a:t>+</a:t>
            </a:r>
            <a:r>
              <a:rPr dirty="0" sz="850" spc="-85">
                <a:latin typeface="Tahoma"/>
                <a:cs typeface="Tahoma"/>
              </a:rPr>
              <a:t> </a:t>
            </a:r>
            <a:r>
              <a:rPr dirty="0" sz="850" spc="25" i="1">
                <a:latin typeface="Calibri"/>
                <a:cs typeface="Calibri"/>
              </a:rPr>
              <a:t>a</a:t>
            </a:r>
            <a:r>
              <a:rPr dirty="0" baseline="-20202" sz="825" spc="37">
                <a:latin typeface="Calibri"/>
                <a:cs typeface="Calibri"/>
              </a:rPr>
              <a:t>1</a:t>
            </a:r>
            <a:r>
              <a:rPr dirty="0" baseline="-20202" sz="825" spc="-15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baseline="35353" sz="825" spc="120">
                <a:latin typeface="Calibri"/>
                <a:cs typeface="Calibri"/>
              </a:rPr>
              <a:t>8</a:t>
            </a:r>
            <a:r>
              <a:rPr dirty="0" baseline="35353" sz="825" spc="127">
                <a:latin typeface="Calibri"/>
                <a:cs typeface="Calibri"/>
              </a:rPr>
              <a:t> </a:t>
            </a:r>
            <a:r>
              <a:rPr dirty="0" sz="850" spc="5">
                <a:latin typeface="Tahoma"/>
                <a:cs typeface="Tahoma"/>
              </a:rPr>
              <a:t>+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5">
                <a:latin typeface="Tahoma"/>
                <a:cs typeface="Tahoma"/>
              </a:rPr>
              <a:t>+</a:t>
            </a:r>
            <a:r>
              <a:rPr dirty="0" sz="850" spc="-85">
                <a:latin typeface="Tahoma"/>
                <a:cs typeface="Tahoma"/>
              </a:rPr>
              <a:t> </a:t>
            </a:r>
            <a:r>
              <a:rPr dirty="0" sz="850" spc="25" i="1">
                <a:latin typeface="Calibri"/>
                <a:cs typeface="Calibri"/>
              </a:rPr>
              <a:t>a</a:t>
            </a:r>
            <a:r>
              <a:rPr dirty="0" baseline="-20202" sz="825" spc="37">
                <a:latin typeface="Calibri"/>
                <a:cs typeface="Calibri"/>
              </a:rPr>
              <a:t>9</a:t>
            </a:r>
            <a:r>
              <a:rPr dirty="0" baseline="-20202" sz="825" spc="3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which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fits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data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exactly.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graph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polynomial</a:t>
            </a:r>
            <a:r>
              <a:rPr dirty="0" baseline="35353" sz="825" spc="44">
                <a:latin typeface="Calibri"/>
                <a:cs typeface="Calibri"/>
                <a:hlinkClick r:id="rId2" action="ppaction://hlinksldjump"/>
              </a:rPr>
              <a:t>12</a:t>
            </a:r>
            <a:r>
              <a:rPr dirty="0" baseline="35353" sz="825" spc="247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499476" y="2204745"/>
            <a:ext cx="3108325" cy="1595755"/>
            <a:chOff x="1499476" y="2204745"/>
            <a:chExt cx="3108325" cy="1595755"/>
          </a:xfrm>
        </p:grpSpPr>
        <p:sp>
          <p:nvSpPr>
            <p:cNvPr id="4" name="object 4"/>
            <p:cNvSpPr/>
            <p:nvPr/>
          </p:nvSpPr>
          <p:spPr>
            <a:xfrm>
              <a:off x="1502016" y="2207285"/>
              <a:ext cx="2820670" cy="1590675"/>
            </a:xfrm>
            <a:custGeom>
              <a:avLst/>
              <a:gdLst/>
              <a:ahLst/>
              <a:cxnLst/>
              <a:rect l="l" t="t" r="r" b="b"/>
              <a:pathLst>
                <a:path w="2820670" h="1590675">
                  <a:moveTo>
                    <a:pt x="0" y="1590649"/>
                  </a:moveTo>
                  <a:lnTo>
                    <a:pt x="0" y="1536636"/>
                  </a:lnTo>
                </a:path>
                <a:path w="2820670" h="1590675">
                  <a:moveTo>
                    <a:pt x="564121" y="1590649"/>
                  </a:moveTo>
                  <a:lnTo>
                    <a:pt x="564121" y="1536636"/>
                  </a:lnTo>
                </a:path>
                <a:path w="2820670" h="1590675">
                  <a:moveTo>
                    <a:pt x="1128229" y="1590649"/>
                  </a:moveTo>
                  <a:lnTo>
                    <a:pt x="1128229" y="1536636"/>
                  </a:lnTo>
                </a:path>
                <a:path w="2820670" h="1590675">
                  <a:moveTo>
                    <a:pt x="1692351" y="1590649"/>
                  </a:moveTo>
                  <a:lnTo>
                    <a:pt x="1692351" y="1536636"/>
                  </a:lnTo>
                </a:path>
                <a:path w="2820670" h="1590675">
                  <a:moveTo>
                    <a:pt x="2256472" y="1590649"/>
                  </a:moveTo>
                  <a:lnTo>
                    <a:pt x="2256472" y="1536636"/>
                  </a:lnTo>
                </a:path>
                <a:path w="2820670" h="1590675">
                  <a:moveTo>
                    <a:pt x="2820581" y="1590649"/>
                  </a:moveTo>
                  <a:lnTo>
                    <a:pt x="2820581" y="1536636"/>
                  </a:lnTo>
                </a:path>
                <a:path w="2820670" h="1590675">
                  <a:moveTo>
                    <a:pt x="0" y="0"/>
                  </a:moveTo>
                  <a:lnTo>
                    <a:pt x="0" y="54013"/>
                  </a:lnTo>
                </a:path>
                <a:path w="2820670" h="1590675">
                  <a:moveTo>
                    <a:pt x="564121" y="0"/>
                  </a:moveTo>
                  <a:lnTo>
                    <a:pt x="564121" y="54013"/>
                  </a:lnTo>
                </a:path>
                <a:path w="2820670" h="1590675">
                  <a:moveTo>
                    <a:pt x="1128229" y="0"/>
                  </a:moveTo>
                  <a:lnTo>
                    <a:pt x="1128229" y="54013"/>
                  </a:lnTo>
                </a:path>
                <a:path w="2820670" h="1590675">
                  <a:moveTo>
                    <a:pt x="1692351" y="0"/>
                  </a:moveTo>
                  <a:lnTo>
                    <a:pt x="1692351" y="54013"/>
                  </a:lnTo>
                </a:path>
                <a:path w="2820670" h="1590675">
                  <a:moveTo>
                    <a:pt x="2256472" y="0"/>
                  </a:moveTo>
                  <a:lnTo>
                    <a:pt x="2256472" y="54013"/>
                  </a:lnTo>
                </a:path>
                <a:path w="2820670" h="1590675">
                  <a:moveTo>
                    <a:pt x="2820581" y="0"/>
                  </a:moveTo>
                  <a:lnTo>
                    <a:pt x="2820581" y="54013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502016" y="2351887"/>
              <a:ext cx="3103245" cy="1446530"/>
            </a:xfrm>
            <a:custGeom>
              <a:avLst/>
              <a:gdLst/>
              <a:ahLst/>
              <a:cxnLst/>
              <a:rect l="l" t="t" r="r" b="b"/>
              <a:pathLst>
                <a:path w="3103245" h="1446529">
                  <a:moveTo>
                    <a:pt x="0" y="1446047"/>
                  </a:moveTo>
                  <a:lnTo>
                    <a:pt x="54000" y="1446047"/>
                  </a:lnTo>
                </a:path>
                <a:path w="3103245" h="1446529">
                  <a:moveTo>
                    <a:pt x="0" y="723023"/>
                  </a:moveTo>
                  <a:lnTo>
                    <a:pt x="54000" y="723023"/>
                  </a:lnTo>
                </a:path>
                <a:path w="3103245" h="1446529">
                  <a:moveTo>
                    <a:pt x="0" y="0"/>
                  </a:moveTo>
                  <a:lnTo>
                    <a:pt x="54000" y="0"/>
                  </a:lnTo>
                </a:path>
                <a:path w="3103245" h="1446529">
                  <a:moveTo>
                    <a:pt x="3102635" y="1446047"/>
                  </a:moveTo>
                  <a:lnTo>
                    <a:pt x="3048647" y="1446047"/>
                  </a:lnTo>
                </a:path>
                <a:path w="3103245" h="1446529">
                  <a:moveTo>
                    <a:pt x="3102635" y="723023"/>
                  </a:moveTo>
                  <a:lnTo>
                    <a:pt x="3048647" y="723023"/>
                  </a:lnTo>
                </a:path>
                <a:path w="3103245" h="1446529">
                  <a:moveTo>
                    <a:pt x="3102635" y="0"/>
                  </a:moveTo>
                  <a:lnTo>
                    <a:pt x="3048647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502016" y="2207285"/>
              <a:ext cx="3103245" cy="1590675"/>
            </a:xfrm>
            <a:custGeom>
              <a:avLst/>
              <a:gdLst/>
              <a:ahLst/>
              <a:cxnLst/>
              <a:rect l="l" t="t" r="r" b="b"/>
              <a:pathLst>
                <a:path w="3103245" h="1590675">
                  <a:moveTo>
                    <a:pt x="0" y="1590649"/>
                  </a:moveTo>
                  <a:lnTo>
                    <a:pt x="0" y="0"/>
                  </a:lnTo>
                  <a:lnTo>
                    <a:pt x="3102635" y="0"/>
                  </a:lnTo>
                  <a:lnTo>
                    <a:pt x="3102635" y="1590649"/>
                  </a:lnTo>
                  <a:lnTo>
                    <a:pt x="0" y="1590649"/>
                  </a:lnTo>
                  <a:close/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2023033" y="3789936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587141" y="3789936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151249" y="3789936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3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715359" y="3788517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279467" y="3788517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5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389570" y="3713067"/>
            <a:ext cx="155575" cy="23367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815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  <a:p>
            <a:pPr marL="81915">
              <a:lnSpc>
                <a:spcPts val="815"/>
              </a:lnSpc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389570" y="2989346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5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328789" y="2267043"/>
            <a:ext cx="1473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">
                <a:latin typeface="Calibri"/>
                <a:cs typeface="Calibri"/>
              </a:rPr>
              <a:t>10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869068" y="2204768"/>
            <a:ext cx="2425065" cy="1595755"/>
            <a:chOff x="1869068" y="2204768"/>
            <a:chExt cx="2425065" cy="1595755"/>
          </a:xfrm>
        </p:grpSpPr>
        <p:sp>
          <p:nvSpPr>
            <p:cNvPr id="16" name="object 16"/>
            <p:cNvSpPr/>
            <p:nvPr/>
          </p:nvSpPr>
          <p:spPr>
            <a:xfrm>
              <a:off x="1872503" y="2207298"/>
              <a:ext cx="2404110" cy="1590675"/>
            </a:xfrm>
            <a:custGeom>
              <a:avLst/>
              <a:gdLst/>
              <a:ahLst/>
              <a:cxnLst/>
              <a:rect l="l" t="t" r="r" b="b"/>
              <a:pathLst>
                <a:path w="2404110" h="1590675">
                  <a:moveTo>
                    <a:pt x="0" y="1590636"/>
                  </a:moveTo>
                  <a:lnTo>
                    <a:pt x="13941" y="1426959"/>
                  </a:lnTo>
                  <a:lnTo>
                    <a:pt x="29270" y="1291882"/>
                  </a:lnTo>
                  <a:lnTo>
                    <a:pt x="44586" y="1194041"/>
                  </a:lnTo>
                  <a:lnTo>
                    <a:pt x="59915" y="1126870"/>
                  </a:lnTo>
                  <a:lnTo>
                    <a:pt x="75231" y="1084554"/>
                  </a:lnTo>
                  <a:lnTo>
                    <a:pt x="105876" y="1054976"/>
                  </a:lnTo>
                  <a:lnTo>
                    <a:pt x="121192" y="1059624"/>
                  </a:lnTo>
                  <a:lnTo>
                    <a:pt x="151837" y="1091895"/>
                  </a:lnTo>
                  <a:lnTo>
                    <a:pt x="182483" y="1139062"/>
                  </a:lnTo>
                  <a:lnTo>
                    <a:pt x="197799" y="1163853"/>
                  </a:lnTo>
                  <a:lnTo>
                    <a:pt x="213128" y="1187742"/>
                  </a:lnTo>
                  <a:lnTo>
                    <a:pt x="243773" y="1229486"/>
                  </a:lnTo>
                  <a:lnTo>
                    <a:pt x="274405" y="1259598"/>
                  </a:lnTo>
                  <a:lnTo>
                    <a:pt x="320379" y="1279524"/>
                  </a:lnTo>
                  <a:lnTo>
                    <a:pt x="335695" y="1279588"/>
                  </a:lnTo>
                  <a:lnTo>
                    <a:pt x="351024" y="1276654"/>
                  </a:lnTo>
                  <a:lnTo>
                    <a:pt x="396985" y="1252702"/>
                  </a:lnTo>
                  <a:lnTo>
                    <a:pt x="427631" y="1227327"/>
                  </a:lnTo>
                  <a:lnTo>
                    <a:pt x="458276" y="1197482"/>
                  </a:lnTo>
                  <a:lnTo>
                    <a:pt x="488921" y="1165644"/>
                  </a:lnTo>
                  <a:lnTo>
                    <a:pt x="504237" y="1149667"/>
                  </a:lnTo>
                  <a:lnTo>
                    <a:pt x="534882" y="1118742"/>
                  </a:lnTo>
                  <a:lnTo>
                    <a:pt x="565527" y="1090396"/>
                  </a:lnTo>
                  <a:lnTo>
                    <a:pt x="596172" y="1065631"/>
                  </a:lnTo>
                  <a:lnTo>
                    <a:pt x="642134" y="1036332"/>
                  </a:lnTo>
                  <a:lnTo>
                    <a:pt x="688095" y="1016406"/>
                  </a:lnTo>
                  <a:lnTo>
                    <a:pt x="734056" y="1004290"/>
                  </a:lnTo>
                  <a:lnTo>
                    <a:pt x="780030" y="997280"/>
                  </a:lnTo>
                  <a:lnTo>
                    <a:pt x="810663" y="993851"/>
                  </a:lnTo>
                  <a:lnTo>
                    <a:pt x="825991" y="992123"/>
                  </a:lnTo>
                  <a:lnTo>
                    <a:pt x="871953" y="985519"/>
                  </a:lnTo>
                  <a:lnTo>
                    <a:pt x="917914" y="974648"/>
                  </a:lnTo>
                  <a:lnTo>
                    <a:pt x="963888" y="957452"/>
                  </a:lnTo>
                  <a:lnTo>
                    <a:pt x="1009849" y="932865"/>
                  </a:lnTo>
                  <a:lnTo>
                    <a:pt x="1055811" y="900950"/>
                  </a:lnTo>
                  <a:lnTo>
                    <a:pt x="1086456" y="876058"/>
                  </a:lnTo>
                  <a:lnTo>
                    <a:pt x="1117101" y="848867"/>
                  </a:lnTo>
                  <a:lnTo>
                    <a:pt x="1147733" y="820051"/>
                  </a:lnTo>
                  <a:lnTo>
                    <a:pt x="1178378" y="790384"/>
                  </a:lnTo>
                  <a:lnTo>
                    <a:pt x="1193707" y="775474"/>
                  </a:lnTo>
                  <a:lnTo>
                    <a:pt x="1209023" y="760653"/>
                  </a:lnTo>
                  <a:lnTo>
                    <a:pt x="1239669" y="731710"/>
                  </a:lnTo>
                  <a:lnTo>
                    <a:pt x="1270314" y="704341"/>
                  </a:lnTo>
                  <a:lnTo>
                    <a:pt x="1300959" y="679246"/>
                  </a:lnTo>
                  <a:lnTo>
                    <a:pt x="1346920" y="647115"/>
                  </a:lnTo>
                  <a:lnTo>
                    <a:pt x="1392881" y="622604"/>
                  </a:lnTo>
                  <a:lnTo>
                    <a:pt x="1438843" y="605980"/>
                  </a:lnTo>
                  <a:lnTo>
                    <a:pt x="1484817" y="596341"/>
                  </a:lnTo>
                  <a:lnTo>
                    <a:pt x="1530778" y="591718"/>
                  </a:lnTo>
                  <a:lnTo>
                    <a:pt x="1561423" y="590016"/>
                  </a:lnTo>
                  <a:lnTo>
                    <a:pt x="1576739" y="589203"/>
                  </a:lnTo>
                  <a:lnTo>
                    <a:pt x="1622713" y="585266"/>
                  </a:lnTo>
                  <a:lnTo>
                    <a:pt x="1668675" y="576224"/>
                  </a:lnTo>
                  <a:lnTo>
                    <a:pt x="1714636" y="558711"/>
                  </a:lnTo>
                  <a:lnTo>
                    <a:pt x="1760597" y="530351"/>
                  </a:lnTo>
                  <a:lnTo>
                    <a:pt x="1791242" y="504939"/>
                  </a:lnTo>
                  <a:lnTo>
                    <a:pt x="1821887" y="474586"/>
                  </a:lnTo>
                  <a:lnTo>
                    <a:pt x="1852532" y="440042"/>
                  </a:lnTo>
                  <a:lnTo>
                    <a:pt x="1883177" y="402602"/>
                  </a:lnTo>
                  <a:lnTo>
                    <a:pt x="1898494" y="383362"/>
                  </a:lnTo>
                  <a:lnTo>
                    <a:pt x="1913823" y="364108"/>
                  </a:lnTo>
                  <a:lnTo>
                    <a:pt x="1944455" y="326872"/>
                  </a:lnTo>
                  <a:lnTo>
                    <a:pt x="1975100" y="293674"/>
                  </a:lnTo>
                  <a:lnTo>
                    <a:pt x="2005745" y="267614"/>
                  </a:lnTo>
                  <a:lnTo>
                    <a:pt x="2051706" y="248818"/>
                  </a:lnTo>
                  <a:lnTo>
                    <a:pt x="2067035" y="249453"/>
                  </a:lnTo>
                  <a:lnTo>
                    <a:pt x="2112997" y="276034"/>
                  </a:lnTo>
                  <a:lnTo>
                    <a:pt x="2143642" y="315442"/>
                  </a:lnTo>
                  <a:lnTo>
                    <a:pt x="2174287" y="370992"/>
                  </a:lnTo>
                  <a:lnTo>
                    <a:pt x="2204919" y="438556"/>
                  </a:lnTo>
                  <a:lnTo>
                    <a:pt x="2220248" y="474522"/>
                  </a:lnTo>
                  <a:lnTo>
                    <a:pt x="2235564" y="510120"/>
                  </a:lnTo>
                  <a:lnTo>
                    <a:pt x="2250893" y="543534"/>
                  </a:lnTo>
                  <a:lnTo>
                    <a:pt x="2266209" y="572579"/>
                  </a:lnTo>
                  <a:lnTo>
                    <a:pt x="2281526" y="594550"/>
                  </a:lnTo>
                  <a:lnTo>
                    <a:pt x="2296855" y="606310"/>
                  </a:lnTo>
                  <a:lnTo>
                    <a:pt x="2312171" y="604075"/>
                  </a:lnTo>
                  <a:lnTo>
                    <a:pt x="2342816" y="539445"/>
                  </a:lnTo>
                  <a:lnTo>
                    <a:pt x="2358132" y="466115"/>
                  </a:lnTo>
                  <a:lnTo>
                    <a:pt x="2373461" y="356755"/>
                  </a:lnTo>
                  <a:lnTo>
                    <a:pt x="2388777" y="203758"/>
                  </a:lnTo>
                  <a:lnTo>
                    <a:pt x="2403989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1871598" y="3512337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0" y="43199"/>
                  </a:lnTo>
                  <a:lnTo>
                    <a:pt x="15451" y="48621"/>
                  </a:lnTo>
                  <a:lnTo>
                    <a:pt x="25298" y="50609"/>
                  </a:lnTo>
                  <a:lnTo>
                    <a:pt x="35152" y="48621"/>
                  </a:lnTo>
                  <a:lnTo>
                    <a:pt x="43197" y="43199"/>
                  </a:lnTo>
                  <a:lnTo>
                    <a:pt x="48620" y="35157"/>
                  </a:lnTo>
                  <a:lnTo>
                    <a:pt x="50609" y="25311"/>
                  </a:lnTo>
                  <a:lnTo>
                    <a:pt x="48620" y="15457"/>
                  </a:lnTo>
                  <a:lnTo>
                    <a:pt x="43197" y="7412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871598" y="3512337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11"/>
                  </a:moveTo>
                  <a:lnTo>
                    <a:pt x="48620" y="15457"/>
                  </a:lnTo>
                  <a:lnTo>
                    <a:pt x="43197" y="7412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0" y="43199"/>
                  </a:lnTo>
                  <a:lnTo>
                    <a:pt x="15451" y="48621"/>
                  </a:lnTo>
                  <a:lnTo>
                    <a:pt x="25298" y="50609"/>
                  </a:lnTo>
                  <a:lnTo>
                    <a:pt x="35152" y="48621"/>
                  </a:lnTo>
                  <a:lnTo>
                    <a:pt x="43197" y="43199"/>
                  </a:lnTo>
                  <a:lnTo>
                    <a:pt x="48620" y="35157"/>
                  </a:lnTo>
                  <a:lnTo>
                    <a:pt x="50609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210066" y="3454501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210066" y="3454501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298"/>
                  </a:move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548534" y="3194215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548534" y="3194215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298"/>
                  </a:move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943415" y="3049612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943415" y="3049612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298"/>
                  </a:move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112655" y="2890545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112655" y="2890545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298"/>
                  </a:move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507536" y="2760395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9"/>
                  </a:lnTo>
                  <a:lnTo>
                    <a:pt x="7410" y="43205"/>
                  </a:lnTo>
                  <a:lnTo>
                    <a:pt x="15451" y="48631"/>
                  </a:lnTo>
                  <a:lnTo>
                    <a:pt x="25298" y="50622"/>
                  </a:lnTo>
                  <a:lnTo>
                    <a:pt x="35152" y="48631"/>
                  </a:lnTo>
                  <a:lnTo>
                    <a:pt x="43197" y="43205"/>
                  </a:lnTo>
                  <a:lnTo>
                    <a:pt x="48620" y="35159"/>
                  </a:lnTo>
                  <a:lnTo>
                    <a:pt x="50609" y="25311"/>
                  </a:lnTo>
                  <a:lnTo>
                    <a:pt x="48620" y="15457"/>
                  </a:lnTo>
                  <a:lnTo>
                    <a:pt x="43197" y="7412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507536" y="2760395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11"/>
                  </a:moveTo>
                  <a:lnTo>
                    <a:pt x="48620" y="15457"/>
                  </a:lnTo>
                  <a:lnTo>
                    <a:pt x="43197" y="7412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9"/>
                  </a:lnTo>
                  <a:lnTo>
                    <a:pt x="7410" y="43205"/>
                  </a:lnTo>
                  <a:lnTo>
                    <a:pt x="15451" y="48631"/>
                  </a:lnTo>
                  <a:lnTo>
                    <a:pt x="25298" y="50622"/>
                  </a:lnTo>
                  <a:lnTo>
                    <a:pt x="35152" y="48631"/>
                  </a:lnTo>
                  <a:lnTo>
                    <a:pt x="43197" y="43205"/>
                  </a:lnTo>
                  <a:lnTo>
                    <a:pt x="48620" y="35159"/>
                  </a:lnTo>
                  <a:lnTo>
                    <a:pt x="50609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620350" y="270255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311" y="0"/>
                  </a:moveTo>
                  <a:lnTo>
                    <a:pt x="15457" y="1988"/>
                  </a:lnTo>
                  <a:lnTo>
                    <a:pt x="7412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2" y="43197"/>
                  </a:lnTo>
                  <a:lnTo>
                    <a:pt x="15457" y="48620"/>
                  </a:lnTo>
                  <a:lnTo>
                    <a:pt x="25311" y="50609"/>
                  </a:lnTo>
                  <a:lnTo>
                    <a:pt x="35162" y="48620"/>
                  </a:lnTo>
                  <a:lnTo>
                    <a:pt x="43203" y="43197"/>
                  </a:lnTo>
                  <a:lnTo>
                    <a:pt x="48622" y="35152"/>
                  </a:lnTo>
                  <a:lnTo>
                    <a:pt x="50609" y="25298"/>
                  </a:lnTo>
                  <a:lnTo>
                    <a:pt x="48622" y="15451"/>
                  </a:lnTo>
                  <a:lnTo>
                    <a:pt x="43203" y="7410"/>
                  </a:lnTo>
                  <a:lnTo>
                    <a:pt x="35162" y="1988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620350" y="270255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298"/>
                  </a:moveTo>
                  <a:lnTo>
                    <a:pt x="48622" y="15451"/>
                  </a:lnTo>
                  <a:lnTo>
                    <a:pt x="43203" y="7410"/>
                  </a:lnTo>
                  <a:lnTo>
                    <a:pt x="35162" y="1988"/>
                  </a:lnTo>
                  <a:lnTo>
                    <a:pt x="25311" y="0"/>
                  </a:lnTo>
                  <a:lnTo>
                    <a:pt x="15457" y="1988"/>
                  </a:lnTo>
                  <a:lnTo>
                    <a:pt x="7412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2" y="43197"/>
                  </a:lnTo>
                  <a:lnTo>
                    <a:pt x="15457" y="48620"/>
                  </a:lnTo>
                  <a:lnTo>
                    <a:pt x="25311" y="50609"/>
                  </a:lnTo>
                  <a:lnTo>
                    <a:pt x="35162" y="48620"/>
                  </a:lnTo>
                  <a:lnTo>
                    <a:pt x="43203" y="43197"/>
                  </a:lnTo>
                  <a:lnTo>
                    <a:pt x="48622" y="35152"/>
                  </a:lnTo>
                  <a:lnTo>
                    <a:pt x="50609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704970" y="261579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311" y="0"/>
                  </a:moveTo>
                  <a:lnTo>
                    <a:pt x="15457" y="1988"/>
                  </a:lnTo>
                  <a:lnTo>
                    <a:pt x="7412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2" y="43199"/>
                  </a:lnTo>
                  <a:lnTo>
                    <a:pt x="15457" y="48621"/>
                  </a:lnTo>
                  <a:lnTo>
                    <a:pt x="25311" y="50609"/>
                  </a:lnTo>
                  <a:lnTo>
                    <a:pt x="35157" y="48621"/>
                  </a:lnTo>
                  <a:lnTo>
                    <a:pt x="43199" y="43199"/>
                  </a:lnTo>
                  <a:lnTo>
                    <a:pt x="48621" y="35157"/>
                  </a:lnTo>
                  <a:lnTo>
                    <a:pt x="50609" y="25311"/>
                  </a:lnTo>
                  <a:lnTo>
                    <a:pt x="48621" y="15457"/>
                  </a:lnTo>
                  <a:lnTo>
                    <a:pt x="43199" y="7412"/>
                  </a:lnTo>
                  <a:lnTo>
                    <a:pt x="35157" y="1988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704970" y="261579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11"/>
                  </a:moveTo>
                  <a:lnTo>
                    <a:pt x="48621" y="15457"/>
                  </a:lnTo>
                  <a:lnTo>
                    <a:pt x="43199" y="7412"/>
                  </a:lnTo>
                  <a:lnTo>
                    <a:pt x="35157" y="1988"/>
                  </a:lnTo>
                  <a:lnTo>
                    <a:pt x="25311" y="0"/>
                  </a:lnTo>
                  <a:lnTo>
                    <a:pt x="15457" y="1988"/>
                  </a:lnTo>
                  <a:lnTo>
                    <a:pt x="7412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2" y="43199"/>
                  </a:lnTo>
                  <a:lnTo>
                    <a:pt x="15457" y="48621"/>
                  </a:lnTo>
                  <a:lnTo>
                    <a:pt x="25311" y="50609"/>
                  </a:lnTo>
                  <a:lnTo>
                    <a:pt x="35157" y="48621"/>
                  </a:lnTo>
                  <a:lnTo>
                    <a:pt x="43199" y="43199"/>
                  </a:lnTo>
                  <a:lnTo>
                    <a:pt x="48621" y="35157"/>
                  </a:lnTo>
                  <a:lnTo>
                    <a:pt x="50609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958818" y="2456726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311" y="0"/>
                  </a:moveTo>
                  <a:lnTo>
                    <a:pt x="15462" y="1990"/>
                  </a:lnTo>
                  <a:lnTo>
                    <a:pt x="7416" y="7416"/>
                  </a:lnTo>
                  <a:lnTo>
                    <a:pt x="1990" y="15462"/>
                  </a:lnTo>
                  <a:lnTo>
                    <a:pt x="0" y="25311"/>
                  </a:lnTo>
                  <a:lnTo>
                    <a:pt x="1990" y="35159"/>
                  </a:lnTo>
                  <a:lnTo>
                    <a:pt x="7416" y="43205"/>
                  </a:lnTo>
                  <a:lnTo>
                    <a:pt x="15462" y="48631"/>
                  </a:lnTo>
                  <a:lnTo>
                    <a:pt x="25311" y="50622"/>
                  </a:lnTo>
                  <a:lnTo>
                    <a:pt x="35164" y="48631"/>
                  </a:lnTo>
                  <a:lnTo>
                    <a:pt x="43210" y="43205"/>
                  </a:lnTo>
                  <a:lnTo>
                    <a:pt x="48633" y="35159"/>
                  </a:lnTo>
                  <a:lnTo>
                    <a:pt x="50622" y="25311"/>
                  </a:lnTo>
                  <a:lnTo>
                    <a:pt x="48633" y="15462"/>
                  </a:lnTo>
                  <a:lnTo>
                    <a:pt x="43210" y="7416"/>
                  </a:lnTo>
                  <a:lnTo>
                    <a:pt x="35164" y="1990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958818" y="2456726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22" y="25311"/>
                  </a:moveTo>
                  <a:lnTo>
                    <a:pt x="48633" y="15462"/>
                  </a:lnTo>
                  <a:lnTo>
                    <a:pt x="43210" y="7416"/>
                  </a:lnTo>
                  <a:lnTo>
                    <a:pt x="35164" y="1990"/>
                  </a:lnTo>
                  <a:lnTo>
                    <a:pt x="25311" y="0"/>
                  </a:lnTo>
                  <a:lnTo>
                    <a:pt x="15462" y="1990"/>
                  </a:lnTo>
                  <a:lnTo>
                    <a:pt x="7416" y="7416"/>
                  </a:lnTo>
                  <a:lnTo>
                    <a:pt x="1990" y="15462"/>
                  </a:lnTo>
                  <a:lnTo>
                    <a:pt x="0" y="25311"/>
                  </a:lnTo>
                  <a:lnTo>
                    <a:pt x="1990" y="35159"/>
                  </a:lnTo>
                  <a:lnTo>
                    <a:pt x="7416" y="43205"/>
                  </a:lnTo>
                  <a:lnTo>
                    <a:pt x="15462" y="48631"/>
                  </a:lnTo>
                  <a:lnTo>
                    <a:pt x="25311" y="50622"/>
                  </a:lnTo>
                  <a:lnTo>
                    <a:pt x="35164" y="48631"/>
                  </a:lnTo>
                  <a:lnTo>
                    <a:pt x="43210" y="43205"/>
                  </a:lnTo>
                  <a:lnTo>
                    <a:pt x="48633" y="35159"/>
                  </a:lnTo>
                  <a:lnTo>
                    <a:pt x="50622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240885" y="232658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240885" y="232658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298"/>
                  </a:move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 txBox="1"/>
          <p:nvPr/>
        </p:nvSpPr>
        <p:spPr>
          <a:xfrm>
            <a:off x="1145274" y="2961732"/>
            <a:ext cx="135255" cy="7747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1499476" y="4422825"/>
            <a:ext cx="3108325" cy="1595755"/>
            <a:chOff x="1499476" y="4422825"/>
            <a:chExt cx="3108325" cy="1595755"/>
          </a:xfrm>
        </p:grpSpPr>
        <p:sp>
          <p:nvSpPr>
            <p:cNvPr id="39" name="object 39"/>
            <p:cNvSpPr/>
            <p:nvPr/>
          </p:nvSpPr>
          <p:spPr>
            <a:xfrm>
              <a:off x="1502016" y="4425365"/>
              <a:ext cx="2820670" cy="1590675"/>
            </a:xfrm>
            <a:custGeom>
              <a:avLst/>
              <a:gdLst/>
              <a:ahLst/>
              <a:cxnLst/>
              <a:rect l="l" t="t" r="r" b="b"/>
              <a:pathLst>
                <a:path w="2820670" h="1590675">
                  <a:moveTo>
                    <a:pt x="0" y="1590649"/>
                  </a:moveTo>
                  <a:lnTo>
                    <a:pt x="0" y="1536649"/>
                  </a:lnTo>
                </a:path>
                <a:path w="2820670" h="1590675">
                  <a:moveTo>
                    <a:pt x="564121" y="1590649"/>
                  </a:moveTo>
                  <a:lnTo>
                    <a:pt x="564121" y="1536649"/>
                  </a:lnTo>
                </a:path>
                <a:path w="2820670" h="1590675">
                  <a:moveTo>
                    <a:pt x="1128229" y="1590649"/>
                  </a:moveTo>
                  <a:lnTo>
                    <a:pt x="1128229" y="1536649"/>
                  </a:lnTo>
                </a:path>
                <a:path w="2820670" h="1590675">
                  <a:moveTo>
                    <a:pt x="1692351" y="1590649"/>
                  </a:moveTo>
                  <a:lnTo>
                    <a:pt x="1692351" y="1536649"/>
                  </a:lnTo>
                </a:path>
                <a:path w="2820670" h="1590675">
                  <a:moveTo>
                    <a:pt x="2256472" y="1590649"/>
                  </a:moveTo>
                  <a:lnTo>
                    <a:pt x="2256472" y="1536649"/>
                  </a:lnTo>
                </a:path>
                <a:path w="2820670" h="1590675">
                  <a:moveTo>
                    <a:pt x="2820581" y="1590649"/>
                  </a:moveTo>
                  <a:lnTo>
                    <a:pt x="2820581" y="1536649"/>
                  </a:lnTo>
                </a:path>
                <a:path w="2820670" h="1590675">
                  <a:moveTo>
                    <a:pt x="0" y="0"/>
                  </a:moveTo>
                  <a:lnTo>
                    <a:pt x="0" y="54013"/>
                  </a:lnTo>
                </a:path>
                <a:path w="2820670" h="1590675">
                  <a:moveTo>
                    <a:pt x="564121" y="0"/>
                  </a:moveTo>
                  <a:lnTo>
                    <a:pt x="564121" y="54013"/>
                  </a:lnTo>
                </a:path>
                <a:path w="2820670" h="1590675">
                  <a:moveTo>
                    <a:pt x="1128229" y="0"/>
                  </a:moveTo>
                  <a:lnTo>
                    <a:pt x="1128229" y="54013"/>
                  </a:lnTo>
                </a:path>
                <a:path w="2820670" h="1590675">
                  <a:moveTo>
                    <a:pt x="1692351" y="0"/>
                  </a:moveTo>
                  <a:lnTo>
                    <a:pt x="1692351" y="54013"/>
                  </a:lnTo>
                </a:path>
                <a:path w="2820670" h="1590675">
                  <a:moveTo>
                    <a:pt x="2256472" y="0"/>
                  </a:moveTo>
                  <a:lnTo>
                    <a:pt x="2256472" y="54013"/>
                  </a:lnTo>
                </a:path>
                <a:path w="2820670" h="1590675">
                  <a:moveTo>
                    <a:pt x="2820581" y="0"/>
                  </a:moveTo>
                  <a:lnTo>
                    <a:pt x="2820581" y="54013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1502016" y="4569980"/>
              <a:ext cx="3103245" cy="1446530"/>
            </a:xfrm>
            <a:custGeom>
              <a:avLst/>
              <a:gdLst/>
              <a:ahLst/>
              <a:cxnLst/>
              <a:rect l="l" t="t" r="r" b="b"/>
              <a:pathLst>
                <a:path w="3103245" h="1446529">
                  <a:moveTo>
                    <a:pt x="0" y="1446034"/>
                  </a:moveTo>
                  <a:lnTo>
                    <a:pt x="54000" y="1446034"/>
                  </a:lnTo>
                </a:path>
                <a:path w="3103245" h="1446529">
                  <a:moveTo>
                    <a:pt x="0" y="723011"/>
                  </a:moveTo>
                  <a:lnTo>
                    <a:pt x="54000" y="723011"/>
                  </a:lnTo>
                </a:path>
                <a:path w="3103245" h="1446529">
                  <a:moveTo>
                    <a:pt x="0" y="0"/>
                  </a:moveTo>
                  <a:lnTo>
                    <a:pt x="54000" y="0"/>
                  </a:lnTo>
                </a:path>
                <a:path w="3103245" h="1446529">
                  <a:moveTo>
                    <a:pt x="3102635" y="1446034"/>
                  </a:moveTo>
                  <a:lnTo>
                    <a:pt x="3048647" y="1446034"/>
                  </a:lnTo>
                </a:path>
                <a:path w="3103245" h="1446529">
                  <a:moveTo>
                    <a:pt x="3102635" y="723011"/>
                  </a:moveTo>
                  <a:lnTo>
                    <a:pt x="3048647" y="723011"/>
                  </a:lnTo>
                </a:path>
                <a:path w="3103245" h="1446529">
                  <a:moveTo>
                    <a:pt x="3102635" y="0"/>
                  </a:moveTo>
                  <a:lnTo>
                    <a:pt x="3048647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1502016" y="4425365"/>
              <a:ext cx="3103245" cy="1590675"/>
            </a:xfrm>
            <a:custGeom>
              <a:avLst/>
              <a:gdLst/>
              <a:ahLst/>
              <a:cxnLst/>
              <a:rect l="l" t="t" r="r" b="b"/>
              <a:pathLst>
                <a:path w="3103245" h="1590675">
                  <a:moveTo>
                    <a:pt x="0" y="1590649"/>
                  </a:moveTo>
                  <a:lnTo>
                    <a:pt x="0" y="0"/>
                  </a:lnTo>
                  <a:lnTo>
                    <a:pt x="3102635" y="0"/>
                  </a:lnTo>
                  <a:lnTo>
                    <a:pt x="3102635" y="1590649"/>
                  </a:lnTo>
                  <a:lnTo>
                    <a:pt x="0" y="1590649"/>
                  </a:lnTo>
                  <a:close/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/>
          <p:cNvSpPr txBox="1"/>
          <p:nvPr/>
        </p:nvSpPr>
        <p:spPr>
          <a:xfrm>
            <a:off x="2023033" y="6008004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587141" y="6008004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151249" y="6008004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3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715359" y="6006580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279467" y="6006580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5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389570" y="5931129"/>
            <a:ext cx="155575" cy="23367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815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  <a:p>
            <a:pPr marL="81915">
              <a:lnSpc>
                <a:spcPts val="815"/>
              </a:lnSpc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02384" y="3920975"/>
            <a:ext cx="4227830" cy="7207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471805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  <a:p>
            <a:pPr marL="638810" marR="5080" indent="-626745">
              <a:lnSpc>
                <a:spcPts val="2360"/>
              </a:lnSpc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fit.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 spc="65">
                <a:latin typeface="Calibri"/>
                <a:cs typeface="Calibri"/>
              </a:rPr>
              <a:t>2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sz="850" spc="65">
                <a:latin typeface="Calibri"/>
                <a:cs typeface="Calibri"/>
              </a:rPr>
              <a:t>: </a:t>
            </a:r>
            <a:r>
              <a:rPr dirty="0" sz="850" spc="25">
                <a:latin typeface="Calibri"/>
                <a:cs typeface="Calibri"/>
              </a:rPr>
              <a:t>10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389570" y="5207408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5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499485" y="4422835"/>
            <a:ext cx="3108325" cy="1595755"/>
            <a:chOff x="1499485" y="4422835"/>
            <a:chExt cx="3108325" cy="1595755"/>
          </a:xfrm>
        </p:grpSpPr>
        <p:sp>
          <p:nvSpPr>
            <p:cNvPr id="51" name="object 51"/>
            <p:cNvSpPr/>
            <p:nvPr/>
          </p:nvSpPr>
          <p:spPr>
            <a:xfrm>
              <a:off x="1502016" y="4425365"/>
              <a:ext cx="3103245" cy="1590675"/>
            </a:xfrm>
            <a:custGeom>
              <a:avLst/>
              <a:gdLst/>
              <a:ahLst/>
              <a:cxnLst/>
              <a:rect l="l" t="t" r="r" b="b"/>
              <a:pathLst>
                <a:path w="3103245" h="1590675">
                  <a:moveTo>
                    <a:pt x="0" y="1590649"/>
                  </a:moveTo>
                  <a:lnTo>
                    <a:pt x="28206" y="1576184"/>
                  </a:lnTo>
                  <a:lnTo>
                    <a:pt x="56413" y="1561731"/>
                  </a:lnTo>
                  <a:lnTo>
                    <a:pt x="84620" y="1547266"/>
                  </a:lnTo>
                  <a:lnTo>
                    <a:pt x="112826" y="1532801"/>
                  </a:lnTo>
                  <a:lnTo>
                    <a:pt x="141033" y="1518348"/>
                  </a:lnTo>
                  <a:lnTo>
                    <a:pt x="169240" y="1503883"/>
                  </a:lnTo>
                  <a:lnTo>
                    <a:pt x="197446" y="1489430"/>
                  </a:lnTo>
                  <a:lnTo>
                    <a:pt x="225640" y="1474965"/>
                  </a:lnTo>
                  <a:lnTo>
                    <a:pt x="253847" y="1460500"/>
                  </a:lnTo>
                  <a:lnTo>
                    <a:pt x="282067" y="1446047"/>
                  </a:lnTo>
                  <a:lnTo>
                    <a:pt x="310261" y="1431582"/>
                  </a:lnTo>
                  <a:lnTo>
                    <a:pt x="338467" y="1417129"/>
                  </a:lnTo>
                  <a:lnTo>
                    <a:pt x="366674" y="1402664"/>
                  </a:lnTo>
                  <a:lnTo>
                    <a:pt x="394881" y="1388198"/>
                  </a:lnTo>
                  <a:lnTo>
                    <a:pt x="423087" y="1373746"/>
                  </a:lnTo>
                  <a:lnTo>
                    <a:pt x="451294" y="1359281"/>
                  </a:lnTo>
                  <a:lnTo>
                    <a:pt x="479501" y="1344815"/>
                  </a:lnTo>
                  <a:lnTo>
                    <a:pt x="507707" y="1330363"/>
                  </a:lnTo>
                  <a:lnTo>
                    <a:pt x="535914" y="1315897"/>
                  </a:lnTo>
                  <a:lnTo>
                    <a:pt x="564121" y="1301445"/>
                  </a:lnTo>
                  <a:lnTo>
                    <a:pt x="592328" y="1286979"/>
                  </a:lnTo>
                  <a:lnTo>
                    <a:pt x="620534" y="1272514"/>
                  </a:lnTo>
                  <a:lnTo>
                    <a:pt x="648728" y="1258062"/>
                  </a:lnTo>
                  <a:lnTo>
                    <a:pt x="676935" y="1243596"/>
                  </a:lnTo>
                  <a:lnTo>
                    <a:pt x="705142" y="1229144"/>
                  </a:lnTo>
                  <a:lnTo>
                    <a:pt x="733348" y="1214678"/>
                  </a:lnTo>
                  <a:lnTo>
                    <a:pt x="761555" y="1200213"/>
                  </a:lnTo>
                  <a:lnTo>
                    <a:pt x="789762" y="1185760"/>
                  </a:lnTo>
                  <a:lnTo>
                    <a:pt x="817968" y="1171295"/>
                  </a:lnTo>
                  <a:lnTo>
                    <a:pt x="846175" y="1156830"/>
                  </a:lnTo>
                  <a:lnTo>
                    <a:pt x="874382" y="1142377"/>
                  </a:lnTo>
                  <a:lnTo>
                    <a:pt x="902589" y="1127912"/>
                  </a:lnTo>
                  <a:lnTo>
                    <a:pt x="930795" y="1113459"/>
                  </a:lnTo>
                  <a:lnTo>
                    <a:pt x="959002" y="1098994"/>
                  </a:lnTo>
                  <a:lnTo>
                    <a:pt x="987209" y="1084529"/>
                  </a:lnTo>
                  <a:lnTo>
                    <a:pt x="1015415" y="1070076"/>
                  </a:lnTo>
                  <a:lnTo>
                    <a:pt x="1043609" y="1055611"/>
                  </a:lnTo>
                  <a:lnTo>
                    <a:pt x="1071816" y="1041158"/>
                  </a:lnTo>
                  <a:lnTo>
                    <a:pt x="1100035" y="1026693"/>
                  </a:lnTo>
                  <a:lnTo>
                    <a:pt x="1128229" y="1012228"/>
                  </a:lnTo>
                  <a:lnTo>
                    <a:pt x="1156436" y="997775"/>
                  </a:lnTo>
                  <a:lnTo>
                    <a:pt x="1184643" y="983310"/>
                  </a:lnTo>
                  <a:lnTo>
                    <a:pt x="1212850" y="968844"/>
                  </a:lnTo>
                  <a:lnTo>
                    <a:pt x="1241056" y="954392"/>
                  </a:lnTo>
                  <a:lnTo>
                    <a:pt x="1269263" y="939939"/>
                  </a:lnTo>
                  <a:lnTo>
                    <a:pt x="1297470" y="925474"/>
                  </a:lnTo>
                  <a:lnTo>
                    <a:pt x="1325676" y="911009"/>
                  </a:lnTo>
                  <a:lnTo>
                    <a:pt x="1353883" y="896556"/>
                  </a:lnTo>
                  <a:lnTo>
                    <a:pt x="1382090" y="882091"/>
                  </a:lnTo>
                  <a:lnTo>
                    <a:pt x="1410296" y="867625"/>
                  </a:lnTo>
                  <a:lnTo>
                    <a:pt x="1438503" y="853160"/>
                  </a:lnTo>
                  <a:lnTo>
                    <a:pt x="1466697" y="838708"/>
                  </a:lnTo>
                  <a:lnTo>
                    <a:pt x="1494917" y="824255"/>
                  </a:lnTo>
                  <a:lnTo>
                    <a:pt x="1523111" y="809790"/>
                  </a:lnTo>
                  <a:lnTo>
                    <a:pt x="1551317" y="795324"/>
                  </a:lnTo>
                  <a:lnTo>
                    <a:pt x="1579524" y="780872"/>
                  </a:lnTo>
                  <a:lnTo>
                    <a:pt x="1607731" y="766406"/>
                  </a:lnTo>
                  <a:lnTo>
                    <a:pt x="1635937" y="751954"/>
                  </a:lnTo>
                  <a:lnTo>
                    <a:pt x="1664144" y="737489"/>
                  </a:lnTo>
                  <a:lnTo>
                    <a:pt x="1692351" y="723023"/>
                  </a:lnTo>
                  <a:lnTo>
                    <a:pt x="1720557" y="708571"/>
                  </a:lnTo>
                  <a:lnTo>
                    <a:pt x="1748764" y="694105"/>
                  </a:lnTo>
                  <a:lnTo>
                    <a:pt x="1776971" y="679640"/>
                  </a:lnTo>
                  <a:lnTo>
                    <a:pt x="1805178" y="665187"/>
                  </a:lnTo>
                  <a:lnTo>
                    <a:pt x="1833384" y="650722"/>
                  </a:lnTo>
                  <a:lnTo>
                    <a:pt x="1861578" y="636270"/>
                  </a:lnTo>
                  <a:lnTo>
                    <a:pt x="1889785" y="621804"/>
                  </a:lnTo>
                  <a:lnTo>
                    <a:pt x="1918004" y="607339"/>
                  </a:lnTo>
                  <a:lnTo>
                    <a:pt x="1946198" y="592886"/>
                  </a:lnTo>
                  <a:lnTo>
                    <a:pt x="1974405" y="578421"/>
                  </a:lnTo>
                  <a:lnTo>
                    <a:pt x="2002612" y="563968"/>
                  </a:lnTo>
                  <a:lnTo>
                    <a:pt x="2030818" y="549503"/>
                  </a:lnTo>
                  <a:lnTo>
                    <a:pt x="2059025" y="535038"/>
                  </a:lnTo>
                  <a:lnTo>
                    <a:pt x="2087232" y="520585"/>
                  </a:lnTo>
                  <a:lnTo>
                    <a:pt x="2115439" y="506120"/>
                  </a:lnTo>
                  <a:lnTo>
                    <a:pt x="2143645" y="491655"/>
                  </a:lnTo>
                  <a:lnTo>
                    <a:pt x="2171852" y="477202"/>
                  </a:lnTo>
                  <a:lnTo>
                    <a:pt x="2200059" y="462737"/>
                  </a:lnTo>
                  <a:lnTo>
                    <a:pt x="2228265" y="448284"/>
                  </a:lnTo>
                  <a:lnTo>
                    <a:pt x="2256472" y="433819"/>
                  </a:lnTo>
                  <a:lnTo>
                    <a:pt x="2284666" y="419354"/>
                  </a:lnTo>
                  <a:lnTo>
                    <a:pt x="2312885" y="404901"/>
                  </a:lnTo>
                  <a:lnTo>
                    <a:pt x="2341079" y="390436"/>
                  </a:lnTo>
                  <a:lnTo>
                    <a:pt x="2369286" y="375970"/>
                  </a:lnTo>
                  <a:lnTo>
                    <a:pt x="2397493" y="361518"/>
                  </a:lnTo>
                  <a:lnTo>
                    <a:pt x="2425700" y="347052"/>
                  </a:lnTo>
                  <a:lnTo>
                    <a:pt x="2453906" y="332600"/>
                  </a:lnTo>
                  <a:lnTo>
                    <a:pt x="2482113" y="318135"/>
                  </a:lnTo>
                  <a:lnTo>
                    <a:pt x="2510320" y="303669"/>
                  </a:lnTo>
                  <a:lnTo>
                    <a:pt x="2538526" y="289217"/>
                  </a:lnTo>
                  <a:lnTo>
                    <a:pt x="2566733" y="274751"/>
                  </a:lnTo>
                  <a:lnTo>
                    <a:pt x="2594940" y="260299"/>
                  </a:lnTo>
                  <a:lnTo>
                    <a:pt x="2623146" y="245833"/>
                  </a:lnTo>
                  <a:lnTo>
                    <a:pt x="2651353" y="231368"/>
                  </a:lnTo>
                  <a:lnTo>
                    <a:pt x="2679560" y="216916"/>
                  </a:lnTo>
                  <a:lnTo>
                    <a:pt x="2707767" y="202450"/>
                  </a:lnTo>
                  <a:lnTo>
                    <a:pt x="2735973" y="187985"/>
                  </a:lnTo>
                  <a:lnTo>
                    <a:pt x="2764167" y="173532"/>
                  </a:lnTo>
                  <a:lnTo>
                    <a:pt x="2792374" y="159067"/>
                  </a:lnTo>
                  <a:lnTo>
                    <a:pt x="2820581" y="144614"/>
                  </a:lnTo>
                  <a:lnTo>
                    <a:pt x="2848787" y="130149"/>
                  </a:lnTo>
                  <a:lnTo>
                    <a:pt x="2876994" y="115684"/>
                  </a:lnTo>
                  <a:lnTo>
                    <a:pt x="2905201" y="101231"/>
                  </a:lnTo>
                  <a:lnTo>
                    <a:pt x="2933407" y="86766"/>
                  </a:lnTo>
                  <a:lnTo>
                    <a:pt x="2961614" y="72313"/>
                  </a:lnTo>
                  <a:lnTo>
                    <a:pt x="2989821" y="57848"/>
                  </a:lnTo>
                  <a:lnTo>
                    <a:pt x="3018028" y="43383"/>
                  </a:lnTo>
                  <a:lnTo>
                    <a:pt x="3046234" y="28930"/>
                  </a:lnTo>
                  <a:lnTo>
                    <a:pt x="3074441" y="14465"/>
                  </a:lnTo>
                  <a:lnTo>
                    <a:pt x="3102635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1871599" y="573043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6"/>
                  </a:lnTo>
                  <a:lnTo>
                    <a:pt x="7410" y="7405"/>
                  </a:lnTo>
                  <a:lnTo>
                    <a:pt x="1988" y="15446"/>
                  </a:lnTo>
                  <a:lnTo>
                    <a:pt x="0" y="25298"/>
                  </a:lnTo>
                  <a:lnTo>
                    <a:pt x="1988" y="35144"/>
                  </a:lnTo>
                  <a:lnTo>
                    <a:pt x="7410" y="43186"/>
                  </a:lnTo>
                  <a:lnTo>
                    <a:pt x="15451" y="48608"/>
                  </a:lnTo>
                  <a:lnTo>
                    <a:pt x="25298" y="50596"/>
                  </a:lnTo>
                  <a:lnTo>
                    <a:pt x="35152" y="48608"/>
                  </a:lnTo>
                  <a:lnTo>
                    <a:pt x="43197" y="43186"/>
                  </a:lnTo>
                  <a:lnTo>
                    <a:pt x="48620" y="35144"/>
                  </a:lnTo>
                  <a:lnTo>
                    <a:pt x="50609" y="25298"/>
                  </a:lnTo>
                  <a:lnTo>
                    <a:pt x="48620" y="15446"/>
                  </a:lnTo>
                  <a:lnTo>
                    <a:pt x="43197" y="7405"/>
                  </a:lnTo>
                  <a:lnTo>
                    <a:pt x="35152" y="1986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1871599" y="573043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298"/>
                  </a:moveTo>
                  <a:lnTo>
                    <a:pt x="48620" y="15446"/>
                  </a:lnTo>
                  <a:lnTo>
                    <a:pt x="43197" y="7405"/>
                  </a:lnTo>
                  <a:lnTo>
                    <a:pt x="35152" y="1986"/>
                  </a:lnTo>
                  <a:lnTo>
                    <a:pt x="25298" y="0"/>
                  </a:lnTo>
                  <a:lnTo>
                    <a:pt x="15451" y="1986"/>
                  </a:lnTo>
                  <a:lnTo>
                    <a:pt x="7410" y="7405"/>
                  </a:lnTo>
                  <a:lnTo>
                    <a:pt x="1988" y="15446"/>
                  </a:lnTo>
                  <a:lnTo>
                    <a:pt x="0" y="25298"/>
                  </a:lnTo>
                  <a:lnTo>
                    <a:pt x="1988" y="35144"/>
                  </a:lnTo>
                  <a:lnTo>
                    <a:pt x="7410" y="43186"/>
                  </a:lnTo>
                  <a:lnTo>
                    <a:pt x="15451" y="48608"/>
                  </a:lnTo>
                  <a:lnTo>
                    <a:pt x="25298" y="50596"/>
                  </a:lnTo>
                  <a:lnTo>
                    <a:pt x="35152" y="48608"/>
                  </a:lnTo>
                  <a:lnTo>
                    <a:pt x="43197" y="43186"/>
                  </a:lnTo>
                  <a:lnTo>
                    <a:pt x="48620" y="35144"/>
                  </a:lnTo>
                  <a:lnTo>
                    <a:pt x="50609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210066" y="5672582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210066" y="5672582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298"/>
                  </a:move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548534" y="5412295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548534" y="5412295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298"/>
                  </a:move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943415" y="526769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943415" y="526769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298"/>
                  </a:moveTo>
                  <a:lnTo>
                    <a:pt x="48620" y="15451"/>
                  </a:lnTo>
                  <a:lnTo>
                    <a:pt x="43197" y="7410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0"/>
                  </a:lnTo>
                  <a:lnTo>
                    <a:pt x="1988" y="15451"/>
                  </a:lnTo>
                  <a:lnTo>
                    <a:pt x="0" y="25298"/>
                  </a:lnTo>
                  <a:lnTo>
                    <a:pt x="1988" y="35152"/>
                  </a:lnTo>
                  <a:lnTo>
                    <a:pt x="7410" y="43197"/>
                  </a:lnTo>
                  <a:lnTo>
                    <a:pt x="15451" y="48620"/>
                  </a:lnTo>
                  <a:lnTo>
                    <a:pt x="25298" y="50609"/>
                  </a:lnTo>
                  <a:lnTo>
                    <a:pt x="35152" y="48620"/>
                  </a:lnTo>
                  <a:lnTo>
                    <a:pt x="43197" y="43197"/>
                  </a:lnTo>
                  <a:lnTo>
                    <a:pt x="48620" y="35152"/>
                  </a:lnTo>
                  <a:lnTo>
                    <a:pt x="50609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112655" y="5108625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0" y="43199"/>
                  </a:lnTo>
                  <a:lnTo>
                    <a:pt x="15451" y="48621"/>
                  </a:lnTo>
                  <a:lnTo>
                    <a:pt x="25298" y="50609"/>
                  </a:lnTo>
                  <a:lnTo>
                    <a:pt x="35152" y="48621"/>
                  </a:lnTo>
                  <a:lnTo>
                    <a:pt x="43197" y="43199"/>
                  </a:lnTo>
                  <a:lnTo>
                    <a:pt x="48620" y="35157"/>
                  </a:lnTo>
                  <a:lnTo>
                    <a:pt x="50609" y="25311"/>
                  </a:lnTo>
                  <a:lnTo>
                    <a:pt x="48620" y="15457"/>
                  </a:lnTo>
                  <a:lnTo>
                    <a:pt x="43197" y="7412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112655" y="5108625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11"/>
                  </a:moveTo>
                  <a:lnTo>
                    <a:pt x="48620" y="15457"/>
                  </a:lnTo>
                  <a:lnTo>
                    <a:pt x="43197" y="7412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0" y="43199"/>
                  </a:lnTo>
                  <a:lnTo>
                    <a:pt x="15451" y="48621"/>
                  </a:lnTo>
                  <a:lnTo>
                    <a:pt x="25298" y="50609"/>
                  </a:lnTo>
                  <a:lnTo>
                    <a:pt x="35152" y="48621"/>
                  </a:lnTo>
                  <a:lnTo>
                    <a:pt x="43197" y="43199"/>
                  </a:lnTo>
                  <a:lnTo>
                    <a:pt x="48620" y="35157"/>
                  </a:lnTo>
                  <a:lnTo>
                    <a:pt x="50609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507536" y="4978476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90"/>
                  </a:lnTo>
                  <a:lnTo>
                    <a:pt x="7410" y="7416"/>
                  </a:lnTo>
                  <a:lnTo>
                    <a:pt x="1988" y="15462"/>
                  </a:lnTo>
                  <a:lnTo>
                    <a:pt x="0" y="25311"/>
                  </a:lnTo>
                  <a:lnTo>
                    <a:pt x="1988" y="35162"/>
                  </a:lnTo>
                  <a:lnTo>
                    <a:pt x="7410" y="43203"/>
                  </a:lnTo>
                  <a:lnTo>
                    <a:pt x="15451" y="48622"/>
                  </a:lnTo>
                  <a:lnTo>
                    <a:pt x="25298" y="50609"/>
                  </a:lnTo>
                  <a:lnTo>
                    <a:pt x="35152" y="48622"/>
                  </a:lnTo>
                  <a:lnTo>
                    <a:pt x="43197" y="43203"/>
                  </a:lnTo>
                  <a:lnTo>
                    <a:pt x="48620" y="35162"/>
                  </a:lnTo>
                  <a:lnTo>
                    <a:pt x="50609" y="25311"/>
                  </a:lnTo>
                  <a:lnTo>
                    <a:pt x="48620" y="15462"/>
                  </a:lnTo>
                  <a:lnTo>
                    <a:pt x="43197" y="7416"/>
                  </a:lnTo>
                  <a:lnTo>
                    <a:pt x="35152" y="1990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507536" y="4978476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11"/>
                  </a:moveTo>
                  <a:lnTo>
                    <a:pt x="48620" y="15462"/>
                  </a:lnTo>
                  <a:lnTo>
                    <a:pt x="43197" y="7416"/>
                  </a:lnTo>
                  <a:lnTo>
                    <a:pt x="35152" y="1990"/>
                  </a:lnTo>
                  <a:lnTo>
                    <a:pt x="25298" y="0"/>
                  </a:lnTo>
                  <a:lnTo>
                    <a:pt x="15451" y="1990"/>
                  </a:lnTo>
                  <a:lnTo>
                    <a:pt x="7410" y="7416"/>
                  </a:lnTo>
                  <a:lnTo>
                    <a:pt x="1988" y="15462"/>
                  </a:lnTo>
                  <a:lnTo>
                    <a:pt x="0" y="25311"/>
                  </a:lnTo>
                  <a:lnTo>
                    <a:pt x="1988" y="35162"/>
                  </a:lnTo>
                  <a:lnTo>
                    <a:pt x="7410" y="43203"/>
                  </a:lnTo>
                  <a:lnTo>
                    <a:pt x="15451" y="48622"/>
                  </a:lnTo>
                  <a:lnTo>
                    <a:pt x="25298" y="50609"/>
                  </a:lnTo>
                  <a:lnTo>
                    <a:pt x="35152" y="48622"/>
                  </a:lnTo>
                  <a:lnTo>
                    <a:pt x="43197" y="43203"/>
                  </a:lnTo>
                  <a:lnTo>
                    <a:pt x="48620" y="35162"/>
                  </a:lnTo>
                  <a:lnTo>
                    <a:pt x="50609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620351" y="492064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311" y="0"/>
                  </a:moveTo>
                  <a:lnTo>
                    <a:pt x="15457" y="1988"/>
                  </a:lnTo>
                  <a:lnTo>
                    <a:pt x="7412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2" y="43199"/>
                  </a:lnTo>
                  <a:lnTo>
                    <a:pt x="15457" y="48621"/>
                  </a:lnTo>
                  <a:lnTo>
                    <a:pt x="25311" y="50609"/>
                  </a:lnTo>
                  <a:lnTo>
                    <a:pt x="35162" y="48621"/>
                  </a:lnTo>
                  <a:lnTo>
                    <a:pt x="43203" y="43199"/>
                  </a:lnTo>
                  <a:lnTo>
                    <a:pt x="48622" y="35157"/>
                  </a:lnTo>
                  <a:lnTo>
                    <a:pt x="50609" y="25311"/>
                  </a:lnTo>
                  <a:lnTo>
                    <a:pt x="48622" y="15457"/>
                  </a:lnTo>
                  <a:lnTo>
                    <a:pt x="43203" y="7412"/>
                  </a:lnTo>
                  <a:lnTo>
                    <a:pt x="35162" y="1988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620351" y="492064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11"/>
                  </a:moveTo>
                  <a:lnTo>
                    <a:pt x="48622" y="15457"/>
                  </a:lnTo>
                  <a:lnTo>
                    <a:pt x="43203" y="7412"/>
                  </a:lnTo>
                  <a:lnTo>
                    <a:pt x="35162" y="1988"/>
                  </a:lnTo>
                  <a:lnTo>
                    <a:pt x="25311" y="0"/>
                  </a:lnTo>
                  <a:lnTo>
                    <a:pt x="15457" y="1988"/>
                  </a:lnTo>
                  <a:lnTo>
                    <a:pt x="7412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2" y="43199"/>
                  </a:lnTo>
                  <a:lnTo>
                    <a:pt x="15457" y="48621"/>
                  </a:lnTo>
                  <a:lnTo>
                    <a:pt x="25311" y="50609"/>
                  </a:lnTo>
                  <a:lnTo>
                    <a:pt x="35162" y="48621"/>
                  </a:lnTo>
                  <a:lnTo>
                    <a:pt x="43203" y="43199"/>
                  </a:lnTo>
                  <a:lnTo>
                    <a:pt x="48622" y="35157"/>
                  </a:lnTo>
                  <a:lnTo>
                    <a:pt x="50609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704971" y="4833874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311" y="0"/>
                  </a:moveTo>
                  <a:lnTo>
                    <a:pt x="15457" y="1990"/>
                  </a:lnTo>
                  <a:lnTo>
                    <a:pt x="7412" y="7416"/>
                  </a:lnTo>
                  <a:lnTo>
                    <a:pt x="1988" y="15462"/>
                  </a:lnTo>
                  <a:lnTo>
                    <a:pt x="0" y="25311"/>
                  </a:lnTo>
                  <a:lnTo>
                    <a:pt x="1988" y="35159"/>
                  </a:lnTo>
                  <a:lnTo>
                    <a:pt x="7412" y="43205"/>
                  </a:lnTo>
                  <a:lnTo>
                    <a:pt x="15457" y="48631"/>
                  </a:lnTo>
                  <a:lnTo>
                    <a:pt x="25311" y="50622"/>
                  </a:lnTo>
                  <a:lnTo>
                    <a:pt x="35157" y="48631"/>
                  </a:lnTo>
                  <a:lnTo>
                    <a:pt x="43199" y="43205"/>
                  </a:lnTo>
                  <a:lnTo>
                    <a:pt x="48621" y="35159"/>
                  </a:lnTo>
                  <a:lnTo>
                    <a:pt x="50609" y="25311"/>
                  </a:lnTo>
                  <a:lnTo>
                    <a:pt x="48621" y="15462"/>
                  </a:lnTo>
                  <a:lnTo>
                    <a:pt x="43199" y="7416"/>
                  </a:lnTo>
                  <a:lnTo>
                    <a:pt x="35157" y="1990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704971" y="4833874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11"/>
                  </a:moveTo>
                  <a:lnTo>
                    <a:pt x="48621" y="15462"/>
                  </a:lnTo>
                  <a:lnTo>
                    <a:pt x="43199" y="7416"/>
                  </a:lnTo>
                  <a:lnTo>
                    <a:pt x="35157" y="1990"/>
                  </a:lnTo>
                  <a:lnTo>
                    <a:pt x="25311" y="0"/>
                  </a:lnTo>
                  <a:lnTo>
                    <a:pt x="15457" y="1990"/>
                  </a:lnTo>
                  <a:lnTo>
                    <a:pt x="7412" y="7416"/>
                  </a:lnTo>
                  <a:lnTo>
                    <a:pt x="1988" y="15462"/>
                  </a:lnTo>
                  <a:lnTo>
                    <a:pt x="0" y="25311"/>
                  </a:lnTo>
                  <a:lnTo>
                    <a:pt x="1988" y="35159"/>
                  </a:lnTo>
                  <a:lnTo>
                    <a:pt x="7412" y="43205"/>
                  </a:lnTo>
                  <a:lnTo>
                    <a:pt x="15457" y="48631"/>
                  </a:lnTo>
                  <a:lnTo>
                    <a:pt x="25311" y="50622"/>
                  </a:lnTo>
                  <a:lnTo>
                    <a:pt x="35157" y="48631"/>
                  </a:lnTo>
                  <a:lnTo>
                    <a:pt x="43199" y="43205"/>
                  </a:lnTo>
                  <a:lnTo>
                    <a:pt x="48621" y="35159"/>
                  </a:lnTo>
                  <a:lnTo>
                    <a:pt x="50609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958818" y="467481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311" y="0"/>
                  </a:moveTo>
                  <a:lnTo>
                    <a:pt x="15462" y="1988"/>
                  </a:lnTo>
                  <a:lnTo>
                    <a:pt x="7416" y="7410"/>
                  </a:lnTo>
                  <a:lnTo>
                    <a:pt x="1990" y="15451"/>
                  </a:lnTo>
                  <a:lnTo>
                    <a:pt x="0" y="25298"/>
                  </a:lnTo>
                  <a:lnTo>
                    <a:pt x="1990" y="35152"/>
                  </a:lnTo>
                  <a:lnTo>
                    <a:pt x="7416" y="43197"/>
                  </a:lnTo>
                  <a:lnTo>
                    <a:pt x="15462" y="48620"/>
                  </a:lnTo>
                  <a:lnTo>
                    <a:pt x="25311" y="50609"/>
                  </a:lnTo>
                  <a:lnTo>
                    <a:pt x="35164" y="48620"/>
                  </a:lnTo>
                  <a:lnTo>
                    <a:pt x="43210" y="43197"/>
                  </a:lnTo>
                  <a:lnTo>
                    <a:pt x="48633" y="35152"/>
                  </a:lnTo>
                  <a:lnTo>
                    <a:pt x="50622" y="25298"/>
                  </a:lnTo>
                  <a:lnTo>
                    <a:pt x="48633" y="15451"/>
                  </a:lnTo>
                  <a:lnTo>
                    <a:pt x="43210" y="7410"/>
                  </a:lnTo>
                  <a:lnTo>
                    <a:pt x="35164" y="1988"/>
                  </a:lnTo>
                  <a:lnTo>
                    <a:pt x="25311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958818" y="467481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22" y="25298"/>
                  </a:moveTo>
                  <a:lnTo>
                    <a:pt x="48633" y="15451"/>
                  </a:lnTo>
                  <a:lnTo>
                    <a:pt x="43210" y="7410"/>
                  </a:lnTo>
                  <a:lnTo>
                    <a:pt x="35164" y="1988"/>
                  </a:lnTo>
                  <a:lnTo>
                    <a:pt x="25311" y="0"/>
                  </a:lnTo>
                  <a:lnTo>
                    <a:pt x="15462" y="1988"/>
                  </a:lnTo>
                  <a:lnTo>
                    <a:pt x="7416" y="7410"/>
                  </a:lnTo>
                  <a:lnTo>
                    <a:pt x="1990" y="15451"/>
                  </a:lnTo>
                  <a:lnTo>
                    <a:pt x="0" y="25298"/>
                  </a:lnTo>
                  <a:lnTo>
                    <a:pt x="1990" y="35152"/>
                  </a:lnTo>
                  <a:lnTo>
                    <a:pt x="7416" y="43197"/>
                  </a:lnTo>
                  <a:lnTo>
                    <a:pt x="15462" y="48620"/>
                  </a:lnTo>
                  <a:lnTo>
                    <a:pt x="25311" y="50609"/>
                  </a:lnTo>
                  <a:lnTo>
                    <a:pt x="35164" y="48620"/>
                  </a:lnTo>
                  <a:lnTo>
                    <a:pt x="43210" y="43197"/>
                  </a:lnTo>
                  <a:lnTo>
                    <a:pt x="48633" y="35152"/>
                  </a:lnTo>
                  <a:lnTo>
                    <a:pt x="50622" y="25298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240885" y="454466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298" y="0"/>
                  </a:moveTo>
                  <a:lnTo>
                    <a:pt x="15451" y="1988"/>
                  </a:lnTo>
                  <a:lnTo>
                    <a:pt x="7410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0" y="43199"/>
                  </a:lnTo>
                  <a:lnTo>
                    <a:pt x="15451" y="48621"/>
                  </a:lnTo>
                  <a:lnTo>
                    <a:pt x="25298" y="50609"/>
                  </a:lnTo>
                  <a:lnTo>
                    <a:pt x="35152" y="48621"/>
                  </a:lnTo>
                  <a:lnTo>
                    <a:pt x="43197" y="43199"/>
                  </a:lnTo>
                  <a:lnTo>
                    <a:pt x="48620" y="35157"/>
                  </a:lnTo>
                  <a:lnTo>
                    <a:pt x="50609" y="25311"/>
                  </a:lnTo>
                  <a:lnTo>
                    <a:pt x="48620" y="15457"/>
                  </a:lnTo>
                  <a:lnTo>
                    <a:pt x="43197" y="7412"/>
                  </a:lnTo>
                  <a:lnTo>
                    <a:pt x="35152" y="1988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3F8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240885" y="454466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609" y="25311"/>
                  </a:moveTo>
                  <a:lnTo>
                    <a:pt x="48620" y="15457"/>
                  </a:lnTo>
                  <a:lnTo>
                    <a:pt x="43197" y="7412"/>
                  </a:lnTo>
                  <a:lnTo>
                    <a:pt x="35152" y="1988"/>
                  </a:lnTo>
                  <a:lnTo>
                    <a:pt x="25298" y="0"/>
                  </a:lnTo>
                  <a:lnTo>
                    <a:pt x="15451" y="1988"/>
                  </a:lnTo>
                  <a:lnTo>
                    <a:pt x="7410" y="7412"/>
                  </a:lnTo>
                  <a:lnTo>
                    <a:pt x="1988" y="15457"/>
                  </a:lnTo>
                  <a:lnTo>
                    <a:pt x="0" y="25311"/>
                  </a:lnTo>
                  <a:lnTo>
                    <a:pt x="1988" y="35157"/>
                  </a:lnTo>
                  <a:lnTo>
                    <a:pt x="7410" y="43199"/>
                  </a:lnTo>
                  <a:lnTo>
                    <a:pt x="15451" y="48621"/>
                  </a:lnTo>
                  <a:lnTo>
                    <a:pt x="25298" y="50609"/>
                  </a:lnTo>
                  <a:lnTo>
                    <a:pt x="35152" y="48621"/>
                  </a:lnTo>
                  <a:lnTo>
                    <a:pt x="43197" y="43199"/>
                  </a:lnTo>
                  <a:lnTo>
                    <a:pt x="48620" y="35157"/>
                  </a:lnTo>
                  <a:lnTo>
                    <a:pt x="50609" y="25311"/>
                  </a:lnTo>
                  <a:close/>
                </a:path>
              </a:pathLst>
            </a:custGeom>
            <a:ln w="5060">
              <a:solidFill>
                <a:srgbClr val="3F82B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" name="object 72"/>
          <p:cNvSpPr txBox="1"/>
          <p:nvPr/>
        </p:nvSpPr>
        <p:spPr>
          <a:xfrm>
            <a:off x="1145274" y="5179800"/>
            <a:ext cx="135255" cy="7747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720001" y="765439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 txBox="1"/>
          <p:nvPr/>
        </p:nvSpPr>
        <p:spPr>
          <a:xfrm>
            <a:off x="669201" y="6139043"/>
            <a:ext cx="4446270" cy="187578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32004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  <a:p>
            <a:pPr algn="r" marL="50800" marR="51435" indent="-7620">
              <a:lnSpc>
                <a:spcPct val="114300"/>
              </a:lnSpc>
              <a:spcBef>
                <a:spcPts val="910"/>
              </a:spcBef>
            </a:pP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model?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true?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underlying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real-world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phenomenon?</a:t>
            </a:r>
            <a:endParaRPr sz="850">
              <a:latin typeface="Calibri"/>
              <a:cs typeface="Calibri"/>
            </a:endParaRPr>
          </a:p>
          <a:p>
            <a:pPr algn="just" marL="50800" marR="4445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can’t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determine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certainty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answer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without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information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underlying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real-</a:t>
            </a:r>
            <a:r>
              <a:rPr dirty="0" sz="850" spc="-10">
                <a:latin typeface="Calibri"/>
                <a:cs typeface="Calibri"/>
              </a:rPr>
              <a:t>world</a:t>
            </a:r>
            <a:r>
              <a:rPr dirty="0" sz="850" spc="20">
                <a:latin typeface="Calibri"/>
                <a:cs typeface="Calibri"/>
              </a:rPr>
              <a:t> phenomenon.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consider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two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possibilities: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(1)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9th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order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polynomial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fact,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real-world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phenomenon,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therefore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perfectly;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(2)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80">
                <a:latin typeface="Calibri"/>
                <a:cs typeface="Calibri"/>
              </a:rPr>
              <a:t>2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sz="850" spc="80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additional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noise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due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measurement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fit.</a:t>
            </a:r>
            <a:endParaRPr sz="850">
              <a:latin typeface="Calibri"/>
              <a:cs typeface="Calibri"/>
            </a:endParaRPr>
          </a:p>
          <a:p>
            <a:pPr algn="just" marL="50800" marR="43180" indent="86995">
              <a:lnSpc>
                <a:spcPts val="800"/>
              </a:lnSpc>
              <a:spcBef>
                <a:spcPts val="910"/>
              </a:spcBef>
            </a:pPr>
            <a:r>
              <a:rPr dirty="0" baseline="30303" sz="825" spc="89">
                <a:latin typeface="Calibri"/>
                <a:cs typeface="Calibri"/>
              </a:rPr>
              <a:t>12</a:t>
            </a:r>
            <a:r>
              <a:rPr dirty="0" sz="750" spc="60">
                <a:latin typeface="Calibri"/>
                <a:cs typeface="Calibri"/>
              </a:rPr>
              <a:t>I </a:t>
            </a:r>
            <a:r>
              <a:rPr dirty="0" sz="750">
                <a:latin typeface="Calibri"/>
                <a:cs typeface="Calibri"/>
              </a:rPr>
              <a:t>won’t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show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coefficients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explicitly,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although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they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are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easy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find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using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routine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such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Numpy’s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800" spc="75">
                <a:latin typeface="Calibri"/>
                <a:cs typeface="Calibri"/>
              </a:rPr>
              <a:t>polyfit</a:t>
            </a:r>
            <a:r>
              <a:rPr dirty="0" sz="750" spc="75">
                <a:latin typeface="Calibri"/>
                <a:cs typeface="Calibri"/>
              </a:rPr>
              <a:t>.You</a:t>
            </a:r>
            <a:r>
              <a:rPr dirty="0" sz="750" spc="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can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view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exact</a:t>
            </a:r>
            <a:r>
              <a:rPr dirty="0" sz="750" spc="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form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polynomial</a:t>
            </a:r>
            <a:r>
              <a:rPr dirty="0" sz="750" spc="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source</a:t>
            </a:r>
            <a:r>
              <a:rPr dirty="0" sz="750" spc="3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code</a:t>
            </a:r>
            <a:r>
              <a:rPr dirty="0" sz="750" spc="3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for</a:t>
            </a:r>
            <a:r>
              <a:rPr dirty="0" sz="750" spc="25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the</a:t>
            </a:r>
            <a:r>
              <a:rPr dirty="0" sz="750" spc="3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graph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if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you’re</a:t>
            </a:r>
            <a:r>
              <a:rPr dirty="0" sz="750" spc="2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curious.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It’s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function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 spc="50" i="1">
                <a:latin typeface="Calibri"/>
                <a:cs typeface="Calibri"/>
              </a:rPr>
              <a:t>p</a:t>
            </a:r>
            <a:r>
              <a:rPr dirty="0" sz="750" spc="50">
                <a:latin typeface="Tahoma"/>
                <a:cs typeface="Tahoma"/>
              </a:rPr>
              <a:t>(</a:t>
            </a:r>
            <a:r>
              <a:rPr dirty="0" sz="750" spc="50" i="1">
                <a:latin typeface="Calibri"/>
                <a:cs typeface="Calibri"/>
              </a:rPr>
              <a:t>x</a:t>
            </a:r>
            <a:r>
              <a:rPr dirty="0" sz="750" spc="50">
                <a:latin typeface="Tahoma"/>
                <a:cs typeface="Tahoma"/>
              </a:rPr>
              <a:t>)</a:t>
            </a:r>
            <a:r>
              <a:rPr dirty="0" sz="750" spc="75">
                <a:latin typeface="Tahoma"/>
                <a:cs typeface="Tahoma"/>
              </a:rPr>
              <a:t> </a:t>
            </a:r>
            <a:r>
              <a:rPr dirty="0" sz="750">
                <a:latin typeface="Calibri"/>
                <a:cs typeface="Calibri"/>
              </a:rPr>
              <a:t>defined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starting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on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line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14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program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which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produces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graph.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-2530" y="1799993"/>
            <a:ext cx="344170" cy="461645"/>
            <a:chOff x="-2530" y="1799993"/>
            <a:chExt cx="344170" cy="461645"/>
          </a:xfrm>
        </p:grpSpPr>
        <p:sp>
          <p:nvSpPr>
            <p:cNvPr id="76" name="object 76"/>
            <p:cNvSpPr/>
            <p:nvPr/>
          </p:nvSpPr>
          <p:spPr>
            <a:xfrm>
              <a:off x="0" y="1802524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30"/>
                  </a:lnTo>
                  <a:lnTo>
                    <a:pt x="2520" y="456539"/>
                  </a:lnTo>
                  <a:lnTo>
                    <a:pt x="266679" y="456539"/>
                  </a:lnTo>
                  <a:lnTo>
                    <a:pt x="294707" y="450881"/>
                  </a:lnTo>
                  <a:lnTo>
                    <a:pt x="317594" y="435452"/>
                  </a:lnTo>
                  <a:lnTo>
                    <a:pt x="333025" y="412568"/>
                  </a:lnTo>
                  <a:lnTo>
                    <a:pt x="338683" y="384543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0" y="1802524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30"/>
                  </a:moveTo>
                  <a:lnTo>
                    <a:pt x="2520" y="456539"/>
                  </a:lnTo>
                  <a:lnTo>
                    <a:pt x="266679" y="456539"/>
                  </a:lnTo>
                  <a:lnTo>
                    <a:pt x="294707" y="450881"/>
                  </a:lnTo>
                  <a:lnTo>
                    <a:pt x="317594" y="435452"/>
                  </a:lnTo>
                  <a:lnTo>
                    <a:pt x="333025" y="412568"/>
                  </a:lnTo>
                  <a:lnTo>
                    <a:pt x="338683" y="384543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/>
          <p:cNvSpPr txBox="1"/>
          <p:nvPr/>
        </p:nvSpPr>
        <p:spPr>
          <a:xfrm>
            <a:off x="25831" y="178801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456" y="368721"/>
            <a:ext cx="4610100" cy="76479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611120">
              <a:lnSpc>
                <a:spcPts val="525"/>
              </a:lnSpc>
              <a:spcBef>
                <a:spcPts val="110"/>
              </a:spcBef>
              <a:tabLst>
                <a:tab pos="4449445" algn="l"/>
              </a:tabLst>
            </a:pPr>
            <a:r>
              <a:rPr dirty="0" sz="850" spc="10">
                <a:latin typeface="Calibri"/>
                <a:cs typeface="Calibri"/>
              </a:rPr>
              <a:t>3.2.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5">
                <a:latin typeface="Calibri"/>
                <a:cs typeface="Calibri"/>
              </a:rPr>
              <a:t>85</a:t>
            </a:r>
            <a:endParaRPr sz="850">
              <a:latin typeface="Calibri"/>
              <a:cs typeface="Calibri"/>
            </a:endParaRPr>
          </a:p>
          <a:p>
            <a:pPr algn="r" marR="2279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44450" marR="209550" indent="18923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priori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possibilities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correct.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(Or,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possibility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holds).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Logically,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trivial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difference.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models.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predict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corresponding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much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above.</a:t>
            </a:r>
            <a:r>
              <a:rPr dirty="0" sz="850" spc="3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dramatic</a:t>
            </a:r>
            <a:r>
              <a:rPr dirty="0" sz="850" spc="20">
                <a:latin typeface="Calibri"/>
                <a:cs typeface="Calibri"/>
              </a:rPr>
              <a:t> difference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between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predictions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two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models,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9th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order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polynomial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model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dominated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baseline="35353" sz="825" spc="120">
                <a:latin typeface="Calibri"/>
                <a:cs typeface="Calibri"/>
              </a:rPr>
              <a:t>9</a:t>
            </a:r>
            <a:r>
              <a:rPr dirty="0" baseline="35353" sz="825" spc="41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remains,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linear.</a:t>
            </a:r>
            <a:endParaRPr sz="850">
              <a:latin typeface="Calibri"/>
              <a:cs typeface="Calibri"/>
            </a:endParaRPr>
          </a:p>
          <a:p>
            <a:pPr algn="just" marL="44450" marR="209550" indent="189230">
              <a:lnSpc>
                <a:spcPct val="114300"/>
              </a:lnSpc>
              <a:spcBef>
                <a:spcPts val="235"/>
              </a:spcBef>
            </a:pPr>
            <a:r>
              <a:rPr dirty="0" sz="850" spc="40">
                <a:latin typeface="Calibri"/>
                <a:cs typeface="Calibri"/>
              </a:rPr>
              <a:t>One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point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view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say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in </a:t>
            </a:r>
            <a:r>
              <a:rPr dirty="0" sz="850" spc="20">
                <a:latin typeface="Calibri"/>
                <a:cs typeface="Calibri"/>
              </a:rPr>
              <a:t>science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should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go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with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simpler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explanation,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unless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compelled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to.</a:t>
            </a:r>
            <a:r>
              <a:rPr dirty="0" sz="850">
                <a:latin typeface="Calibri"/>
                <a:cs typeface="Calibri"/>
              </a:rPr>
              <a:t>  </a:t>
            </a:r>
            <a:r>
              <a:rPr dirty="0" sz="850" spc="35">
                <a:latin typeface="Calibri"/>
                <a:cs typeface="Calibri"/>
              </a:rPr>
              <a:t>When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find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simple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model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seems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explain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many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data</a:t>
            </a:r>
            <a:r>
              <a:rPr dirty="0" sz="850" spc="10">
                <a:latin typeface="Calibri"/>
                <a:cs typeface="Calibri"/>
              </a:rPr>
              <a:t> points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are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tempted</a:t>
            </a:r>
            <a:r>
              <a:rPr dirty="0" sz="850" spc="-5">
                <a:latin typeface="Calibri"/>
                <a:cs typeface="Calibri"/>
              </a:rPr>
              <a:t> to </a:t>
            </a:r>
            <a:r>
              <a:rPr dirty="0" sz="850" spc="5">
                <a:latin typeface="Calibri"/>
                <a:cs typeface="Calibri"/>
              </a:rPr>
              <a:t>shout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“Eureka!”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After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all,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unlikely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simple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explanation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should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occur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merely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coincidence.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suspect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model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expressing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underlying</a:t>
            </a:r>
            <a:r>
              <a:rPr dirty="0" sz="850" spc="10">
                <a:latin typeface="Calibri"/>
                <a:cs typeface="Calibri"/>
              </a:rPr>
              <a:t> truth </a:t>
            </a:r>
            <a:r>
              <a:rPr dirty="0" sz="850" spc="5">
                <a:latin typeface="Calibri"/>
                <a:cs typeface="Calibri"/>
              </a:rPr>
              <a:t>about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phenomenon.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In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hand,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model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y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4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70">
                <a:latin typeface="Calibri"/>
                <a:cs typeface="Calibri"/>
              </a:rPr>
              <a:t>2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-30" i="1">
                <a:latin typeface="Calibri"/>
                <a:cs typeface="Calibri"/>
              </a:rPr>
              <a:t> </a:t>
            </a:r>
            <a:r>
              <a:rPr dirty="0" sz="850" spc="25">
                <a:latin typeface="Tahoma"/>
                <a:cs typeface="Tahoma"/>
              </a:rPr>
              <a:t>+</a:t>
            </a:r>
            <a:r>
              <a:rPr dirty="0" sz="850" spc="25">
                <a:latin typeface="Calibri"/>
                <a:cs typeface="Calibri"/>
              </a:rPr>
              <a:t>noise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simpler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y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4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25" i="1">
                <a:latin typeface="Calibri"/>
                <a:cs typeface="Calibri"/>
              </a:rPr>
              <a:t>a</a:t>
            </a:r>
            <a:r>
              <a:rPr dirty="0" baseline="-20202" sz="825" spc="37">
                <a:latin typeface="Calibri"/>
                <a:cs typeface="Calibri"/>
              </a:rPr>
              <a:t>0</a:t>
            </a:r>
            <a:r>
              <a:rPr dirty="0" baseline="-20202" sz="825" spc="-15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baseline="35353" sz="825" spc="120">
                <a:latin typeface="Calibri"/>
                <a:cs typeface="Calibri"/>
              </a:rPr>
              <a:t>9</a:t>
            </a:r>
            <a:r>
              <a:rPr dirty="0" baseline="35353" sz="825" spc="104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95">
                <a:latin typeface="Tahoma"/>
                <a:cs typeface="Tahoma"/>
              </a:rPr>
              <a:t> </a:t>
            </a:r>
            <a:r>
              <a:rPr dirty="0" sz="850" spc="25" i="1">
                <a:latin typeface="Calibri"/>
                <a:cs typeface="Calibri"/>
              </a:rPr>
              <a:t>a</a:t>
            </a:r>
            <a:r>
              <a:rPr dirty="0" baseline="-20202" sz="825" spc="37">
                <a:latin typeface="Calibri"/>
                <a:cs typeface="Calibri"/>
              </a:rPr>
              <a:t>1</a:t>
            </a:r>
            <a:r>
              <a:rPr dirty="0" baseline="-20202" sz="825" spc="-15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baseline="35353" sz="825" spc="120">
                <a:latin typeface="Calibri"/>
                <a:cs typeface="Calibri"/>
              </a:rPr>
              <a:t>8</a:t>
            </a:r>
            <a:r>
              <a:rPr dirty="0" baseline="35353" sz="825" spc="104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114">
                <a:latin typeface="Tahoma"/>
                <a:cs typeface="Tahoma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would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be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surprising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simplicity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had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occurred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chance,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suspect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y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45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70">
                <a:latin typeface="Calibri"/>
                <a:cs typeface="Calibri"/>
              </a:rPr>
              <a:t>2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15">
                <a:latin typeface="Calibri"/>
                <a:cs typeface="Calibri"/>
              </a:rPr>
              <a:t>noise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expresses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underlying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truth.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In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9th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model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really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just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effects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local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noise.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9th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model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perfectly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model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will</a:t>
            </a:r>
            <a:r>
              <a:rPr dirty="0" sz="850" spc="20">
                <a:latin typeface="Calibri"/>
                <a:cs typeface="Calibri"/>
              </a:rPr>
              <a:t> fail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generalize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points,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noisy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linear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model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will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greater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predictive</a:t>
            </a:r>
            <a:r>
              <a:rPr dirty="0" sz="850" spc="5">
                <a:latin typeface="Calibri"/>
                <a:cs typeface="Calibri"/>
              </a:rPr>
              <a:t> power.</a:t>
            </a:r>
            <a:endParaRPr sz="850">
              <a:latin typeface="Calibri"/>
              <a:cs typeface="Calibri"/>
            </a:endParaRPr>
          </a:p>
          <a:p>
            <a:pPr algn="just" marL="38100" marR="214629" indent="196215">
              <a:lnSpc>
                <a:spcPct val="114300"/>
              </a:lnSpc>
              <a:spcBef>
                <a:spcPts val="235"/>
              </a:spcBef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mostly</a:t>
            </a:r>
            <a:r>
              <a:rPr dirty="0" sz="850" spc="20">
                <a:latin typeface="Calibri"/>
                <a:cs typeface="Calibri"/>
              </a:rPr>
              <a:t> has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happen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smallness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few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effects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local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noise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pieces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evidence</a:t>
            </a:r>
            <a:r>
              <a:rPr dirty="0" sz="850" spc="20">
                <a:latin typeface="Calibri"/>
                <a:cs typeface="Calibri"/>
              </a:rPr>
              <a:t> don’t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matter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Instead,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respond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across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contrast,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response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changes</a:t>
            </a:r>
            <a:r>
              <a:rPr dirty="0" sz="850" spc="30">
                <a:latin typeface="Calibri"/>
                <a:cs typeface="Calibri"/>
              </a:rPr>
              <a:t> 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input.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unregularized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large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weights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learn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complex</a:t>
            </a:r>
            <a:r>
              <a:rPr dirty="0" sz="850" spc="20">
                <a:latin typeface="Calibri"/>
                <a:cs typeface="Calibri"/>
              </a:rPr>
              <a:t> model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carries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information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noise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nutshell,</a:t>
            </a:r>
            <a:r>
              <a:rPr dirty="0" sz="850" spc="20">
                <a:latin typeface="Calibri"/>
                <a:cs typeface="Calibri"/>
              </a:rPr>
              <a:t> regularized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constrained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build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relatively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models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patterns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resistant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peculiarities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noise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hope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force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phenomenon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learn.</a:t>
            </a:r>
            <a:endParaRPr sz="850">
              <a:latin typeface="Calibri"/>
              <a:cs typeface="Calibri"/>
            </a:endParaRPr>
          </a:p>
          <a:p>
            <a:pPr algn="just" marL="44450" marR="209550" indent="189230">
              <a:lnSpc>
                <a:spcPct val="114300"/>
              </a:lnSpc>
              <a:spcBef>
                <a:spcPts val="235"/>
              </a:spcBef>
            </a:pP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preferring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nervous.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refer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“Occam’s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Razor”,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zealously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though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status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scientific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principle.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scientific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priori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logical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prefer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complex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correct.</a:t>
            </a:r>
            <a:endParaRPr sz="850">
              <a:latin typeface="Calibri"/>
              <a:cs typeface="Calibri"/>
            </a:endParaRPr>
          </a:p>
          <a:p>
            <a:pPr algn="just" marL="44450" marR="234315" indent="189230">
              <a:lnSpc>
                <a:spcPct val="114300"/>
              </a:lnSpc>
              <a:spcBef>
                <a:spcPts val="235"/>
              </a:spcBef>
            </a:pPr>
            <a:r>
              <a:rPr dirty="0" sz="850" spc="10">
                <a:latin typeface="Calibri"/>
                <a:cs typeface="Calibri"/>
              </a:rPr>
              <a:t>Let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1940s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physicist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Marcel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Schein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announced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particle</a:t>
            </a:r>
            <a:r>
              <a:rPr dirty="0" sz="850" spc="20">
                <a:latin typeface="Calibri"/>
                <a:cs typeface="Calibri"/>
              </a:rPr>
              <a:t> 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nature.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Electric,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ecstatic,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publicized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discovery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widely.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physicist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Hans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skeptical.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visited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Schein,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plates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tracks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Schein’s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particle.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Schein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plate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plate,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identified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should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discarded.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Finally,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Schein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might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statistical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fluke.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Schein: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“Yes,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chance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statistics,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even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according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own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formula,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five.”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Bethe: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already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five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plates.”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Finally,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Schein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said: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“But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plates,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plates,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4" name="object 4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48781" y="368721"/>
            <a:ext cx="4652645" cy="68472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33375" algn="l"/>
              </a:tabLst>
            </a:pPr>
            <a:r>
              <a:rPr dirty="0" sz="850" spc="25">
                <a:latin typeface="Calibri"/>
                <a:cs typeface="Calibri"/>
              </a:rPr>
              <a:t>86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203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71145" marR="4889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pictures,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theory,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hypothesis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plates,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Lucida Sans Unicode"/>
                <a:cs typeface="Lucida Sans Unicode"/>
              </a:rPr>
              <a:t>[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particle</a:t>
            </a:r>
            <a:r>
              <a:rPr dirty="0" sz="850">
                <a:latin typeface="Lucida Sans Unicode"/>
                <a:cs typeface="Lucida Sans Unicode"/>
              </a:rPr>
              <a:t>]</a:t>
            </a:r>
            <a:r>
              <a:rPr dirty="0" sz="850">
                <a:latin typeface="Calibri"/>
                <a:cs typeface="Calibri"/>
              </a:rPr>
              <a:t>.”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replied: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difference</a:t>
            </a:r>
            <a:r>
              <a:rPr dirty="0" sz="850" spc="20">
                <a:latin typeface="Calibri"/>
                <a:cs typeface="Calibri"/>
              </a:rPr>
              <a:t> between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explanations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wrong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right.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Your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wrong,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right.”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Subsequent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confirmed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Nature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agreed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Bethe,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Schein’s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more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13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264160" marR="30480" indent="196215">
              <a:lnSpc>
                <a:spcPct val="114300"/>
              </a:lnSpc>
              <a:spcBef>
                <a:spcPts val="90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1859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astronomer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Urbain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Verrier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observed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orbit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planet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Mercury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shape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Newton’s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gravitation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tiny,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tiny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deviation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Newton’s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theory,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explanations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proferred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boiled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Newton’s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tiny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alteration.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1916,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Einstein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deviation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very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relativity,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radically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Newtonian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gravitation,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mathematics.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Despite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additional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complexity,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today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accepted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Einstein’s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correct,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Newtonian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gravity,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modified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Einstein’s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many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phenomena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Newton’s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Furthermore,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impressively,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Einstein’s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accurately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predicts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phenomena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aren’t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predicted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Newtonian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gravity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impressive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qualities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weren’t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entirely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days.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judged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merely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grounds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simplicity,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modified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form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Newton’s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arguably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attractive.</a:t>
            </a:r>
            <a:endParaRPr sz="850">
              <a:latin typeface="Calibri"/>
              <a:cs typeface="Calibri"/>
            </a:endParaRPr>
          </a:p>
          <a:p>
            <a:pPr algn="just" marL="271145" marR="46355" indent="18923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morals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draw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stories.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subtle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business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deciding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“simpler”.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judgment,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simplicity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guide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caution!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Third,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simplicity,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predicting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phenomena,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new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regimes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behaviour.</a:t>
            </a:r>
            <a:endParaRPr sz="850">
              <a:latin typeface="Calibri"/>
              <a:cs typeface="Calibri"/>
            </a:endParaRPr>
          </a:p>
          <a:p>
            <a:pPr algn="just" marL="271145" marR="30480" indent="189230">
              <a:lnSpc>
                <a:spcPct val="114300"/>
              </a:lnSpc>
              <a:spcBef>
                <a:spcPts val="90"/>
              </a:spcBef>
            </a:pP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mind,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empirical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regularized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usually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generalize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unregularized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remainder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frequent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included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stories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merely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convey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no-one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convincing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theoretical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researchers</a:t>
            </a:r>
            <a:r>
              <a:rPr dirty="0" sz="850" spc="20">
                <a:latin typeface="Calibri"/>
                <a:cs typeface="Calibri"/>
              </a:rPr>
              <a:t> continue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write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papers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attempt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worse.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kludge.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often</a:t>
            </a:r>
            <a:r>
              <a:rPr dirty="0" sz="850" spc="20">
                <a:latin typeface="Calibri"/>
                <a:cs typeface="Calibri"/>
              </a:rPr>
              <a:t> helps,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don’t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entirely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satisfactory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systematic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merely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incomplete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heuristics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thumb.</a:t>
            </a:r>
            <a:endParaRPr sz="850">
              <a:latin typeface="Calibri"/>
              <a:cs typeface="Calibri"/>
            </a:endParaRPr>
          </a:p>
          <a:p>
            <a:pPr algn="just" marL="271145" marR="52705" indent="18923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deeper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issues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issues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heart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science.</a:t>
            </a:r>
            <a:r>
              <a:rPr dirty="0" sz="850" spc="4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question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how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generalize.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Regularization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give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computational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magic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generalization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best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is</a:t>
            </a:r>
            <a:r>
              <a:rPr dirty="0" baseline="35353" sz="825" spc="-30">
                <a:latin typeface="Calibri"/>
                <a:cs typeface="Calibri"/>
                <a:hlinkClick r:id="rId2" action="ppaction://hlinksldjump"/>
              </a:rPr>
              <a:t>14</a:t>
            </a:r>
            <a:r>
              <a:rPr dirty="0" sz="850" spc="-2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264160" marR="48895" indent="19621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galling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everyday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life,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phenomenally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Shown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elephant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child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elephants.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occasionally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mistakes,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confusing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rhinoceros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elephant,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process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remarkably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accurately.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01" y="7333094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75192" y="7348471"/>
            <a:ext cx="4406265" cy="66611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just" marL="38100" marR="33020" indent="93980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82">
                <a:latin typeface="Calibri"/>
                <a:cs typeface="Calibri"/>
              </a:rPr>
              <a:t>13</a:t>
            </a:r>
            <a:r>
              <a:rPr dirty="0" sz="750" spc="55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story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related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physicist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Richard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Feynman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interview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with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historian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Charles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Weiner.</a:t>
            </a:r>
            <a:endParaRPr sz="750">
              <a:latin typeface="Calibri"/>
              <a:cs typeface="Calibri"/>
            </a:endParaRPr>
          </a:p>
          <a:p>
            <a:pPr algn="just" marL="44450" marR="30480" indent="86995">
              <a:lnSpc>
                <a:spcPts val="800"/>
              </a:lnSpc>
              <a:spcBef>
                <a:spcPts val="130"/>
              </a:spcBef>
            </a:pPr>
            <a:r>
              <a:rPr dirty="0" baseline="30303" sz="825" spc="30">
                <a:latin typeface="Calibri"/>
                <a:cs typeface="Calibri"/>
              </a:rPr>
              <a:t>14</a:t>
            </a:r>
            <a:r>
              <a:rPr dirty="0" sz="750" spc="20">
                <a:latin typeface="Calibri"/>
                <a:cs typeface="Calibri"/>
              </a:rPr>
              <a:t>These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issues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go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back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problem</a:t>
            </a:r>
            <a:r>
              <a:rPr dirty="0" sz="750" spc="8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of</a:t>
            </a:r>
            <a:r>
              <a:rPr dirty="0" sz="750" spc="8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induction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famously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discussed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Scottish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philosopher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David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Hume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“An</a:t>
            </a:r>
            <a:r>
              <a:rPr dirty="0" sz="750" spc="13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Enquiry</a:t>
            </a:r>
            <a:r>
              <a:rPr dirty="0" sz="750" spc="13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Concerning</a:t>
            </a:r>
            <a:r>
              <a:rPr dirty="0" sz="750" spc="13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Human</a:t>
            </a:r>
            <a:r>
              <a:rPr dirty="0" sz="750" spc="13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Understanding”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(1748).</a:t>
            </a:r>
            <a:r>
              <a:rPr dirty="0" sz="750" spc="2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problem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induction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has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been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given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modern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machine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learning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form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  <a:hlinkClick r:id="rId6"/>
              </a:rPr>
              <a:t>no-free</a:t>
            </a:r>
            <a:r>
              <a:rPr dirty="0" sz="750" spc="100">
                <a:latin typeface="Calibri"/>
                <a:cs typeface="Calibri"/>
                <a:hlinkClick r:id="rId6"/>
              </a:rPr>
              <a:t> </a:t>
            </a:r>
            <a:r>
              <a:rPr dirty="0" sz="750">
                <a:latin typeface="Calibri"/>
                <a:cs typeface="Calibri"/>
                <a:hlinkClick r:id="rId6"/>
              </a:rPr>
              <a:t>lunch</a:t>
            </a:r>
            <a:r>
              <a:rPr dirty="0" sz="750" spc="110">
                <a:latin typeface="Calibri"/>
                <a:cs typeface="Calibri"/>
                <a:hlinkClick r:id="rId6"/>
              </a:rPr>
              <a:t> </a:t>
            </a:r>
            <a:r>
              <a:rPr dirty="0" sz="750">
                <a:latin typeface="Calibri"/>
                <a:cs typeface="Calibri"/>
                <a:hlinkClick r:id="rId6"/>
              </a:rPr>
              <a:t>theorem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David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Wolpert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William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Macready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(1997).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6" name="object 6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456" y="368721"/>
            <a:ext cx="4610100" cy="44310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611120">
              <a:lnSpc>
                <a:spcPts val="525"/>
              </a:lnSpc>
              <a:spcBef>
                <a:spcPts val="110"/>
              </a:spcBef>
              <a:tabLst>
                <a:tab pos="4449445" algn="l"/>
              </a:tabLst>
            </a:pPr>
            <a:r>
              <a:rPr dirty="0" sz="850" spc="10">
                <a:latin typeface="Calibri"/>
                <a:cs typeface="Calibri"/>
              </a:rPr>
              <a:t>3.2.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5">
                <a:latin typeface="Calibri"/>
                <a:cs typeface="Calibri"/>
              </a:rPr>
              <a:t>87</a:t>
            </a:r>
            <a:endParaRPr sz="850">
              <a:latin typeface="Calibri"/>
              <a:cs typeface="Calibri"/>
            </a:endParaRPr>
          </a:p>
          <a:p>
            <a:pPr algn="r" marR="2279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44450" marR="233679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system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huge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free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shown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system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Our </a:t>
            </a:r>
            <a:r>
              <a:rPr dirty="0" sz="850" spc="20">
                <a:latin typeface="Calibri"/>
                <a:cs typeface="Calibri"/>
              </a:rPr>
              <a:t>brains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sense,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amazingly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well!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it?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point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expect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years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powerful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20">
                <a:latin typeface="Calibri"/>
                <a:cs typeface="Calibri"/>
              </a:rPr>
              <a:t> regularization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artificial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techniques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ultimately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enable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sets.</a:t>
            </a:r>
            <a:endParaRPr sz="850">
              <a:latin typeface="Calibri"/>
              <a:cs typeface="Calibri"/>
            </a:endParaRPr>
          </a:p>
          <a:p>
            <a:pPr algn="just" marL="38100" marR="209550" indent="196215">
              <a:lnSpc>
                <a:spcPct val="114300"/>
              </a:lnSpc>
              <a:spcBef>
                <a:spcPts val="40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already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priori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expect.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100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80,000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50,000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80,000th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degree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polynomial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50,000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terribly.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saw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job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generalizing.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case?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understood.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conjectured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15</a:t>
            </a:r>
            <a:r>
              <a:rPr dirty="0" baseline="35353" sz="825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dynamics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multilayer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‘self-regularization’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effect”.</a:t>
            </a:r>
            <a:r>
              <a:rPr dirty="0" sz="850" spc="165">
                <a:latin typeface="Calibri"/>
                <a:cs typeface="Calibri"/>
              </a:rPr>
              <a:t> 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exceptionally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fortunate,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somewhat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disquieting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meantime,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adopt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pragmatic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whenever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it.</a:t>
            </a:r>
            <a:endParaRPr sz="850">
              <a:latin typeface="Calibri"/>
              <a:cs typeface="Calibri"/>
            </a:endParaRPr>
          </a:p>
          <a:p>
            <a:pPr algn="just" marL="38735" marR="209550" indent="194945">
              <a:lnSpc>
                <a:spcPct val="114300"/>
              </a:lnSpc>
              <a:spcBef>
                <a:spcPts val="45"/>
              </a:spcBef>
            </a:pPr>
            <a:r>
              <a:rPr dirty="0" sz="850" spc="20">
                <a:latin typeface="Calibri"/>
                <a:cs typeface="Calibri"/>
              </a:rPr>
              <a:t>Let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conclude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returning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detail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left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unexplained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earlier:</a:t>
            </a:r>
            <a:r>
              <a:rPr dirty="0" sz="850" spc="30">
                <a:latin typeface="Calibri"/>
                <a:cs typeface="Calibri"/>
              </a:rPr>
              <a:t> the fact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that </a:t>
            </a:r>
            <a:r>
              <a:rPr dirty="0" sz="850" spc="70">
                <a:latin typeface="Calibri"/>
                <a:cs typeface="Calibri"/>
              </a:rPr>
              <a:t>L2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regularization </a:t>
            </a:r>
            <a:r>
              <a:rPr dirty="0" sz="850" spc="20">
                <a:latin typeface="Calibri"/>
                <a:cs typeface="Calibri"/>
              </a:rPr>
              <a:t>doesn’t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constrain 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biases.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 course,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it would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easy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modify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procedure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biases.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Empirically,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often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merely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convention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regularize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make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sensitive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worry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enabling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noise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data.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allowing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flexibility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behaviour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desirable.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include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regularizing.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2380" y="5015938"/>
            <a:ext cx="4373245" cy="160528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7145">
              <a:lnSpc>
                <a:spcPct val="100000"/>
              </a:lnSpc>
              <a:spcBef>
                <a:spcPts val="105"/>
              </a:spcBef>
            </a:pPr>
            <a:r>
              <a:rPr dirty="0" sz="950" spc="50" b="1">
                <a:latin typeface="Calibri"/>
                <a:cs typeface="Calibri"/>
              </a:rPr>
              <a:t>3.2.3</a:t>
            </a:r>
            <a:r>
              <a:rPr dirty="0" sz="950" spc="375" b="1">
                <a:latin typeface="Calibri"/>
                <a:cs typeface="Calibri"/>
              </a:rPr>
              <a:t>  </a:t>
            </a:r>
            <a:r>
              <a:rPr dirty="0" sz="950" spc="20" b="1">
                <a:latin typeface="Calibri"/>
                <a:cs typeface="Calibri"/>
              </a:rPr>
              <a:t>Other</a:t>
            </a:r>
            <a:r>
              <a:rPr dirty="0" sz="950" spc="125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techniques</a:t>
            </a:r>
            <a:r>
              <a:rPr dirty="0" sz="950" spc="125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for</a:t>
            </a:r>
            <a:r>
              <a:rPr dirty="0" sz="950" spc="130" b="1">
                <a:latin typeface="Calibri"/>
                <a:cs typeface="Calibri"/>
              </a:rPr>
              <a:t> </a:t>
            </a:r>
            <a:r>
              <a:rPr dirty="0" sz="950" spc="40" b="1">
                <a:latin typeface="Calibri"/>
                <a:cs typeface="Calibri"/>
              </a:rPr>
              <a:t>regularization</a:t>
            </a:r>
            <a:endParaRPr sz="950">
              <a:latin typeface="Calibri"/>
              <a:cs typeface="Calibri"/>
            </a:endParaRPr>
          </a:p>
          <a:p>
            <a:pPr algn="just" marL="17145" marR="5080" indent="-5080">
              <a:lnSpc>
                <a:spcPct val="114300"/>
              </a:lnSpc>
              <a:spcBef>
                <a:spcPts val="755"/>
              </a:spcBef>
            </a:pP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techniques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L2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many</a:t>
            </a:r>
            <a:r>
              <a:rPr dirty="0" sz="850" spc="20">
                <a:latin typeface="Calibri"/>
                <a:cs typeface="Calibri"/>
              </a:rPr>
              <a:t> techniques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developed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I </a:t>
            </a:r>
            <a:r>
              <a:rPr dirty="0" sz="850" spc="20">
                <a:latin typeface="Calibri"/>
                <a:cs typeface="Calibri"/>
              </a:rPr>
              <a:t>can’t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possibly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summarize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 </a:t>
            </a:r>
            <a:r>
              <a:rPr dirty="0" sz="850" spc="20">
                <a:latin typeface="Calibri"/>
                <a:cs typeface="Calibri"/>
              </a:rPr>
              <a:t>briefly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describe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three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reducing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overfitting: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L1 </a:t>
            </a:r>
            <a:r>
              <a:rPr dirty="0" sz="850" spc="20">
                <a:latin typeface="Calibri"/>
                <a:cs typeface="Calibri"/>
              </a:rPr>
              <a:t>regularization,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dropout,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artificially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size.</a:t>
            </a:r>
            <a:r>
              <a:rPr dirty="0" sz="850" spc="4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nearly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depth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studying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earlier.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purpose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familiar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30">
                <a:latin typeface="Calibri"/>
                <a:cs typeface="Calibri"/>
              </a:rPr>
              <a:t> 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ideas,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appreciate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something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diversity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regularization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available.</a:t>
            </a:r>
            <a:endParaRPr sz="850">
              <a:latin typeface="Calibri"/>
              <a:cs typeface="Calibri"/>
            </a:endParaRPr>
          </a:p>
          <a:p>
            <a:pPr algn="just" marL="17145" marR="27305" indent="189230">
              <a:lnSpc>
                <a:spcPct val="114300"/>
              </a:lnSpc>
              <a:spcBef>
                <a:spcPts val="40"/>
              </a:spcBef>
            </a:pPr>
            <a:r>
              <a:rPr dirty="0" sz="850" spc="85" b="1">
                <a:latin typeface="Calibri"/>
                <a:cs typeface="Calibri"/>
              </a:rPr>
              <a:t>L1</a:t>
            </a:r>
            <a:r>
              <a:rPr dirty="0" sz="850" spc="2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regularization: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 approach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unregularized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adding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absolute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930386" y="6884996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12988" y="6746876"/>
            <a:ext cx="965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1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λ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119551" y="6904739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14588" y="6703761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648560" y="6823840"/>
            <a:ext cx="8718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746760" algn="l"/>
              </a:tabLst>
            </a:pP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330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+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25">
                <a:latin typeface="Cambria"/>
                <a:cs typeface="Cambria"/>
              </a:rPr>
              <a:t>|</a:t>
            </a:r>
            <a:r>
              <a:rPr dirty="0" sz="850" spc="-25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66211" y="6983000"/>
            <a:ext cx="7747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w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94608" y="6823840"/>
            <a:ext cx="869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5">
                <a:latin typeface="Cambria"/>
                <a:cs typeface="Cambria"/>
              </a:rPr>
              <a:t>|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083346" y="6823840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(3.40)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079996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1029196" y="7193974"/>
            <a:ext cx="4422140" cy="8204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254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Intuitively,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L2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penalizing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tending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make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prefer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L1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L2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term,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shouldn’t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expect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exactly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behaviour.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Let’s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850">
              <a:latin typeface="Calibri"/>
              <a:cs typeface="Calibri"/>
            </a:endParaRPr>
          </a:p>
          <a:p>
            <a:pPr marL="50800" marR="43180" indent="86995">
              <a:lnSpc>
                <a:spcPts val="800"/>
              </a:lnSpc>
            </a:pPr>
            <a:r>
              <a:rPr dirty="0" baseline="30303" sz="825" spc="75">
                <a:latin typeface="Calibri"/>
                <a:cs typeface="Calibri"/>
              </a:rPr>
              <a:t>15</a:t>
            </a:r>
            <a:r>
              <a:rPr dirty="0" sz="750" spc="50">
                <a:latin typeface="Calibri"/>
                <a:cs typeface="Calibri"/>
              </a:rPr>
              <a:t>In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Gradient-Based</a:t>
            </a:r>
            <a:r>
              <a:rPr dirty="0" sz="750" spc="10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Learning</a:t>
            </a:r>
            <a:r>
              <a:rPr dirty="0" sz="750" spc="95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Applied</a:t>
            </a:r>
            <a:r>
              <a:rPr dirty="0" sz="750" spc="10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to</a:t>
            </a:r>
            <a:r>
              <a:rPr dirty="0" sz="750" spc="95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Document</a:t>
            </a:r>
            <a:r>
              <a:rPr dirty="0" sz="750" spc="10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Recognition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Yann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LeCun,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Léon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Bottou,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Yoshua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Bengio,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Patrick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Haffner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(1998).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15" name="object 15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592320" cy="13703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88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245745" marR="18415">
              <a:lnSpc>
                <a:spcPct val="114300"/>
              </a:lnSpc>
              <a:spcBef>
                <a:spcPts val="5"/>
              </a:spcBef>
            </a:pPr>
            <a:r>
              <a:rPr dirty="0" sz="850" spc="30">
                <a:latin typeface="Calibri"/>
                <a:cs typeface="Calibri"/>
              </a:rPr>
              <a:t>try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understand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how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behaviour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trained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using</a:t>
            </a:r>
            <a:r>
              <a:rPr dirty="0" sz="850" spc="70">
                <a:latin typeface="Calibri"/>
                <a:cs typeface="Calibri"/>
              </a:rPr>
              <a:t> L1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regularization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L2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90"/>
              </a:spcBef>
            </a:pPr>
            <a:endParaRPr sz="850">
              <a:latin typeface="Calibri"/>
              <a:cs typeface="Calibri"/>
            </a:endParaRPr>
          </a:p>
          <a:p>
            <a:pPr marL="238760" marR="5080" indent="19621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Differentiating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(95)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obtain: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158098" y="1844270"/>
            <a:ext cx="1206500" cy="3149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735">
              <a:lnSpc>
                <a:spcPts val="815"/>
              </a:lnSpc>
              <a:spcBef>
                <a:spcPts val="110"/>
              </a:spcBef>
              <a:tabLst>
                <a:tab pos="362585" algn="l"/>
                <a:tab pos="706120" algn="l"/>
              </a:tabLst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3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baseline="-15151" sz="825" spc="44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baseline="-15151" sz="825">
                <a:latin typeface="Calibri"/>
                <a:cs typeface="Calibri"/>
              </a:rPr>
              <a:t>	</a:t>
            </a:r>
            <a:r>
              <a:rPr dirty="0" u="sng" sz="850" spc="1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λ</a:t>
            </a:r>
            <a:endParaRPr sz="850">
              <a:latin typeface="Times New Roman"/>
              <a:cs typeface="Times New Roman"/>
            </a:endParaRPr>
          </a:p>
          <a:p>
            <a:pPr marL="235585">
              <a:lnSpc>
                <a:spcPts val="620"/>
              </a:lnSpc>
              <a:tabLst>
                <a:tab pos="590550" algn="l"/>
                <a:tab pos="807720" algn="l"/>
              </a:tabLst>
            </a:pP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>
                <a:latin typeface="Tahoma"/>
                <a:cs typeface="Tahoma"/>
              </a:rPr>
              <a:t>+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10">
                <a:latin typeface="Calibri"/>
                <a:cs typeface="Calibri"/>
              </a:rPr>
              <a:t>sgn</a:t>
            </a:r>
            <a:r>
              <a:rPr dirty="0" sz="850" spc="-10">
                <a:latin typeface="Tahoma"/>
                <a:cs typeface="Tahoma"/>
              </a:rPr>
              <a:t>(</a:t>
            </a:r>
            <a:r>
              <a:rPr dirty="0" sz="850" spc="-10" i="1">
                <a:latin typeface="Calibri"/>
                <a:cs typeface="Calibri"/>
              </a:rPr>
              <a:t>w</a:t>
            </a:r>
            <a:r>
              <a:rPr dirty="0" sz="850" spc="-10">
                <a:latin typeface="Tahoma"/>
                <a:cs typeface="Tahoma"/>
              </a:rPr>
              <a:t>)</a:t>
            </a:r>
            <a:r>
              <a:rPr dirty="0" sz="850" spc="-1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  <a:p>
            <a:pPr marL="38100">
              <a:lnSpc>
                <a:spcPts val="830"/>
              </a:lnSpc>
              <a:tabLst>
                <a:tab pos="379730" algn="l"/>
                <a:tab pos="712470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723350" y="1921234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(3.41)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0852" y="2247068"/>
            <a:ext cx="4365625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5080" indent="-698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sgn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positive,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 spc="95">
                <a:latin typeface="Calibri"/>
                <a:cs typeface="Calibri"/>
              </a:rPr>
              <a:t>1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negative.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L1 </a:t>
            </a:r>
            <a:r>
              <a:rPr dirty="0" sz="850" spc="20">
                <a:latin typeface="Calibri"/>
                <a:cs typeface="Calibri"/>
              </a:rPr>
              <a:t>regularization.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update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L1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639885" y="3012820"/>
            <a:ext cx="143510" cy="0"/>
          </a:xfrm>
          <a:custGeom>
            <a:avLst/>
            <a:gdLst/>
            <a:ahLst/>
            <a:cxnLst/>
            <a:rect l="l" t="t" r="r" b="b"/>
            <a:pathLst>
              <a:path w="143510" h="0">
                <a:moveTo>
                  <a:pt x="0" y="0"/>
                </a:moveTo>
                <a:lnTo>
                  <a:pt x="14320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2627184" y="2844078"/>
            <a:ext cx="8674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708025" algn="l"/>
              </a:tabLst>
            </a:pPr>
            <a:r>
              <a:rPr dirty="0" sz="850" spc="135" i="1">
                <a:latin typeface="Times New Roman"/>
                <a:cs typeface="Times New Roman"/>
              </a:rPr>
              <a:t>ηλ</a:t>
            </a:r>
            <a:r>
              <a:rPr dirty="0" sz="850" i="1">
                <a:latin typeface="Times New Roman"/>
                <a:cs typeface="Times New Roman"/>
              </a:rPr>
              <a:t>	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17966" y="2912383"/>
            <a:ext cx="134239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1263015" algn="l"/>
              </a:tabLst>
            </a:pPr>
            <a:r>
              <a:rPr dirty="0" sz="550" spc="10">
                <a:latin typeface="Cambria"/>
                <a:cs typeface="Cambria"/>
              </a:rPr>
              <a:t>’</a:t>
            </a:r>
            <a:r>
              <a:rPr dirty="0" sz="550">
                <a:latin typeface="Cambria"/>
                <a:cs typeface="Cambria"/>
              </a:rPr>
              <a:t>	</a:t>
            </a:r>
            <a:r>
              <a:rPr dirty="0" baseline="5050" sz="825" spc="-75">
                <a:latin typeface="Calibri"/>
                <a:cs typeface="Calibri"/>
              </a:rPr>
              <a:t>0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335667" y="3012820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 h="0">
                <a:moveTo>
                  <a:pt x="0" y="0"/>
                </a:moveTo>
                <a:lnTo>
                  <a:pt x="19245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2669768" y="3003298"/>
            <a:ext cx="8540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83260" algn="l"/>
              </a:tabLst>
            </a:pPr>
            <a:r>
              <a:rPr dirty="0" sz="850" spc="-50" i="1">
                <a:latin typeface="Calibri"/>
                <a:cs typeface="Calibri"/>
              </a:rPr>
              <a:t>n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923276" y="2922402"/>
            <a:ext cx="16637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874394" algn="l"/>
                <a:tab pos="1619885" algn="l"/>
              </a:tabLst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35" i="1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>
                <a:latin typeface="Calibri"/>
                <a:cs typeface="Calibri"/>
              </a:rPr>
              <a:t>sgn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45">
                <a:latin typeface="Cambria"/>
                <a:cs typeface="Cambria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η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723395" y="2922400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(3.42)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75452" y="3248235"/>
            <a:ext cx="443039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735" marR="30480" indent="-127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where,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usual,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estimate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baseline="-20202" sz="825" spc="127">
                <a:latin typeface="Calibri"/>
                <a:cs typeface="Calibri"/>
              </a:rPr>
              <a:t>0</a:t>
            </a:r>
            <a:r>
              <a:rPr dirty="0" sz="850" spc="85" i="1">
                <a:latin typeface="Times New Roman"/>
                <a:cs typeface="Times New Roman"/>
              </a:rPr>
              <a:t>/∂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7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average,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wish.</a:t>
            </a:r>
            <a:r>
              <a:rPr dirty="0" sz="850" spc="20">
                <a:latin typeface="Calibri"/>
                <a:cs typeface="Calibri"/>
              </a:rPr>
              <a:t> Compare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update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L2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(c.f.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2" action="ppaction://hlinksldjump"/>
              </a:rPr>
              <a:t>(3.38)),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301823" y="3765503"/>
            <a:ext cx="495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>
                <a:latin typeface="Cambria"/>
                <a:cs typeface="Cambria"/>
              </a:rPr>
              <a:t>’</a:t>
            </a:r>
            <a:endParaRPr sz="550">
              <a:latin typeface="Cambria"/>
              <a:cs typeface="Cambri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872574" y="3856421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565130" y="3624392"/>
            <a:ext cx="516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35609" algn="l"/>
              </a:tabLst>
            </a:pPr>
            <a:r>
              <a:rPr dirty="0" sz="850" spc="-365">
                <a:latin typeface="Arial MT"/>
                <a:cs typeface="Arial MT"/>
              </a:rPr>
              <a:t>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-375">
                <a:latin typeface="Arial MT"/>
                <a:cs typeface="Arial MT"/>
              </a:rPr>
              <a:t>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981734" y="3775532"/>
            <a:ext cx="12007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107440" algn="l"/>
              </a:tabLst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459" i="1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95">
                <a:latin typeface="Cambria"/>
                <a:cs typeface="Cambria"/>
              </a:rPr>
              <a:t>−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830004" y="3697199"/>
            <a:ext cx="6057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47040" algn="l"/>
              </a:tabLst>
            </a:pPr>
            <a:r>
              <a:rPr dirty="0" u="sng" sz="850" spc="1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ηλ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410127" y="3756907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55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177285" y="3775533"/>
            <a:ext cx="1875789" cy="23749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830"/>
              </a:lnSpc>
              <a:spcBef>
                <a:spcPts val="110"/>
              </a:spcBef>
              <a:tabLst>
                <a:tab pos="307340" algn="l"/>
                <a:tab pos="1558290" algn="l"/>
              </a:tabLst>
            </a:pPr>
            <a:r>
              <a:rPr dirty="0" sz="850" spc="85" i="1">
                <a:latin typeface="Times New Roman"/>
                <a:cs typeface="Times New Roman"/>
              </a:rPr>
              <a:t>η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sz="850" spc="-50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(3.43)</a:t>
            </a:r>
            <a:endParaRPr sz="850">
              <a:latin typeface="Calibri"/>
              <a:cs typeface="Calibri"/>
            </a:endParaRPr>
          </a:p>
          <a:p>
            <a:pPr marL="116839">
              <a:lnSpc>
                <a:spcPts val="830"/>
              </a:lnSpc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00852" y="4112419"/>
            <a:ext cx="4375150" cy="39046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2476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shrink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accords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20">
                <a:latin typeface="Calibri"/>
                <a:cs typeface="Calibri"/>
              </a:rPr>
              <a:t> intuition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kinds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penalize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r>
              <a:rPr dirty="0" sz="850" spc="20">
                <a:latin typeface="Calibri"/>
                <a:cs typeface="Calibri"/>
              </a:rPr>
              <a:t> shrink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different.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L1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shrink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constant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amount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toward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0.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L2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shrink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amount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proportional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20">
                <a:latin typeface="Calibri"/>
                <a:cs typeface="Calibri"/>
              </a:rPr>
              <a:t> 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magnitude,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mbria"/>
                <a:cs typeface="Cambria"/>
              </a:rPr>
              <a:t>|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Cambria"/>
                <a:cs typeface="Cambria"/>
              </a:rPr>
              <a:t>|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L1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shrinks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much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L2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regularization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does.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By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contrast,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|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mbria"/>
                <a:cs typeface="Cambria"/>
              </a:rPr>
              <a:t>|</a:t>
            </a:r>
            <a:r>
              <a:rPr dirty="0" sz="850" spc="204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L1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regularization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shrinks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L2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L1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tends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concentrate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relatively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high-</a:t>
            </a:r>
            <a:r>
              <a:rPr dirty="0" sz="850" spc="-10">
                <a:latin typeface="Calibri"/>
                <a:cs typeface="Calibri"/>
              </a:rPr>
              <a:t>importance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connections,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driven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toward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zero.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40"/>
              </a:spcBef>
            </a:pPr>
            <a:endParaRPr sz="850">
              <a:latin typeface="Calibri"/>
              <a:cs typeface="Calibri"/>
            </a:endParaRPr>
          </a:p>
          <a:p>
            <a:pPr algn="just" marL="208915">
              <a:lnSpc>
                <a:spcPct val="100000"/>
              </a:lnSpc>
            </a:pP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glossed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issue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discussion,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derivative</a:t>
            </a:r>
            <a:endParaRPr sz="850">
              <a:latin typeface="Calibri"/>
              <a:cs typeface="Calibri"/>
            </a:endParaRPr>
          </a:p>
          <a:p>
            <a:pPr algn="just" marL="19050" marR="7620">
              <a:lnSpc>
                <a:spcPct val="114300"/>
              </a:lnSpc>
            </a:pPr>
            <a:r>
              <a:rPr dirty="0" sz="850" spc="10" i="1">
                <a:latin typeface="Times New Roman"/>
                <a:cs typeface="Times New Roman"/>
              </a:rPr>
              <a:t>∂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1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mbria"/>
                <a:cs typeface="Cambria"/>
              </a:rPr>
              <a:t>|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Cambria"/>
                <a:cs typeface="Cambria"/>
              </a:rPr>
              <a:t>|</a:t>
            </a:r>
            <a:r>
              <a:rPr dirty="0" sz="850" spc="90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sharp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“corner”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40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 </a:t>
            </a:r>
            <a:r>
              <a:rPr dirty="0" sz="850" spc="10">
                <a:latin typeface="Calibri"/>
                <a:cs typeface="Calibri"/>
              </a:rPr>
              <a:t>0,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differentiable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okay,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30">
                <a:latin typeface="Calibri"/>
                <a:cs typeface="Calibri"/>
              </a:rPr>
              <a:t> just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apply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usual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(unregularized)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rule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stochastic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gradient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w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70">
                <a:latin typeface="Tahoma"/>
                <a:cs typeface="Tahoma"/>
              </a:rPr>
              <a:t> </a:t>
            </a:r>
            <a:r>
              <a:rPr dirty="0" sz="850" spc="30">
                <a:latin typeface="Calibri"/>
                <a:cs typeface="Calibri"/>
              </a:rPr>
              <a:t>0.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okay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intuitively,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shrink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can’t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shrink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already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precisely,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  <a:hlinkClick r:id="rId3" action="ppaction://hlinksldjump"/>
              </a:rPr>
              <a:t>(3.41)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3" action="ppaction://hlinksldjump"/>
              </a:rPr>
              <a:t>(3.42)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sgn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>
                <a:latin typeface="Calibri"/>
                <a:cs typeface="Calibri"/>
              </a:rPr>
              <a:t>0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nice,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compact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L1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95"/>
              </a:spcBef>
            </a:pP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</a:pPr>
            <a:r>
              <a:rPr dirty="0" sz="850" spc="20" b="1">
                <a:latin typeface="Calibri"/>
                <a:cs typeface="Calibri"/>
              </a:rPr>
              <a:t>Dropout:</a:t>
            </a:r>
            <a:r>
              <a:rPr dirty="0" sz="850" spc="235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Dropout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radically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technique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Unlike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L1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L2 </a:t>
            </a:r>
            <a:r>
              <a:rPr dirty="0" sz="850" spc="20">
                <a:latin typeface="Calibri"/>
                <a:cs typeface="Calibri"/>
              </a:rPr>
              <a:t>regularization,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dropout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doesn’t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modifying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Instead,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dropout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itself.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mechanics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are.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40"/>
              </a:spcBef>
            </a:pPr>
            <a:endParaRPr sz="850">
              <a:latin typeface="Calibri"/>
              <a:cs typeface="Calibri"/>
            </a:endParaRPr>
          </a:p>
          <a:p>
            <a:pPr algn="just" marL="208915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23" name="object 23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634143" y="368721"/>
            <a:ext cx="198564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851025" algn="l"/>
              </a:tabLst>
            </a:pPr>
            <a:r>
              <a:rPr dirty="0" sz="850" spc="10">
                <a:latin typeface="Calibri"/>
                <a:cs typeface="Calibri"/>
              </a:rPr>
              <a:t>3.2.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89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68004" y="926084"/>
            <a:ext cx="1862454" cy="203175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67296" y="3104979"/>
            <a:ext cx="4371975" cy="10617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In particular, suppose we have a training input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 corresponding desired output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y</a:t>
            </a:r>
            <a:r>
              <a:rPr dirty="0" sz="850" spc="60">
                <a:latin typeface="Calibri"/>
                <a:cs typeface="Calibri"/>
              </a:rPr>
              <a:t>.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Ordi-</a:t>
            </a:r>
            <a:r>
              <a:rPr dirty="0" sz="850">
                <a:latin typeface="Calibri"/>
                <a:cs typeface="Calibri"/>
              </a:rPr>
              <a:t>narily,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forward-propagating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3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determine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contribution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process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modified.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temporarily)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deleting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half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leaving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untouched.</a:t>
            </a:r>
            <a:r>
              <a:rPr dirty="0" sz="850" spc="19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end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i.e.,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temporarily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deleted,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ghosted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68004" y="4319701"/>
            <a:ext cx="1862454" cy="2031758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059750" y="6498622"/>
            <a:ext cx="4380865" cy="1518285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algn="r" marL="13335" marR="5080" indent="-1270">
              <a:lnSpc>
                <a:spcPct val="115500"/>
              </a:lnSpc>
              <a:spcBef>
                <a:spcPts val="85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forward-propagate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8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modified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modified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appropriate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repeat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restoring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dropout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random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subset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delete,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estimating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r>
              <a:rPr dirty="0" sz="850" spc="55">
                <a:latin typeface="Calibri"/>
                <a:cs typeface="Calibri"/>
              </a:rPr>
              <a:t> By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repeating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conditions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half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dropped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twice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active.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compensate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halve</a:t>
            </a:r>
            <a:endParaRPr sz="850">
              <a:latin typeface="Calibri"/>
              <a:cs typeface="Calibri"/>
            </a:endParaRPr>
          </a:p>
          <a:p>
            <a:pPr marL="19685">
              <a:lnSpc>
                <a:spcPct val="100000"/>
              </a:lnSpc>
              <a:spcBef>
                <a:spcPts val="14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outgoing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8" name="object 8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48781" y="368721"/>
            <a:ext cx="4652645" cy="69646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33375" algn="l"/>
              </a:tabLst>
            </a:pPr>
            <a:r>
              <a:rPr dirty="0" sz="850" spc="25">
                <a:latin typeface="Calibri"/>
                <a:cs typeface="Calibri"/>
              </a:rPr>
              <a:t>90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203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64160" marR="48895" indent="19621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procedure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strange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ad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hoc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expect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help</a:t>
            </a:r>
            <a:r>
              <a:rPr dirty="0" sz="850" spc="20">
                <a:latin typeface="Calibri"/>
                <a:cs typeface="Calibri"/>
              </a:rPr>
              <a:t> 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regularization?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explain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briefly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stop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dropout,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imagine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standard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(no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dropout).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imagine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several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identical,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results.</a:t>
            </a:r>
            <a:r>
              <a:rPr dirty="0" sz="850" spc="4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kind</a:t>
            </a:r>
            <a:r>
              <a:rPr dirty="0" sz="850" spc="20">
                <a:latin typeface="Calibri"/>
                <a:cs typeface="Calibri"/>
              </a:rPr>
              <a:t> 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averaging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voting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scheme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decide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accept.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instance,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trained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five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classifying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“3”,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probably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“3”.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probably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mistake.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averaging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scheme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(though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expensive)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averaging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help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eliminate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overfitting.</a:t>
            </a:r>
            <a:endParaRPr sz="850">
              <a:latin typeface="Calibri"/>
              <a:cs typeface="Calibri"/>
            </a:endParaRPr>
          </a:p>
          <a:p>
            <a:pPr algn="just" marL="264160" marR="50165" indent="196215">
              <a:lnSpc>
                <a:spcPct val="114300"/>
              </a:lnSpc>
              <a:spcBef>
                <a:spcPts val="55"/>
              </a:spcBef>
            </a:pP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dropout?</a:t>
            </a:r>
            <a:r>
              <a:rPr dirty="0" sz="850" spc="210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Heuristically,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3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dropout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procedure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averaging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The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hopefully,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effect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dropout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overfitting.</a:t>
            </a:r>
            <a:endParaRPr sz="850">
              <a:latin typeface="Calibri"/>
              <a:cs typeface="Calibri"/>
            </a:endParaRPr>
          </a:p>
          <a:p>
            <a:pPr algn="just" marL="271145" marR="48260" indent="189230">
              <a:lnSpc>
                <a:spcPct val="114300"/>
              </a:lnSpc>
              <a:spcBef>
                <a:spcPts val="55"/>
              </a:spcBef>
            </a:pPr>
            <a:r>
              <a:rPr dirty="0" sz="850" spc="6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16</a:t>
            </a:r>
            <a:r>
              <a:rPr dirty="0" sz="850">
                <a:latin typeface="Calibri"/>
                <a:cs typeface="Calibri"/>
              </a:rPr>
              <a:t>: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co-adaptations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presence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therefore,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forced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20">
                <a:latin typeface="Calibri"/>
                <a:cs typeface="Calibri"/>
              </a:rPr>
              <a:t> robust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features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useful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conjunction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random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subsets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neurons.”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words,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making </a:t>
            </a:r>
            <a:r>
              <a:rPr dirty="0" sz="850" spc="10">
                <a:latin typeface="Calibri"/>
                <a:cs typeface="Calibri"/>
              </a:rPr>
              <a:t>predictions,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robust</a:t>
            </a:r>
            <a:r>
              <a:rPr dirty="0" sz="850" spc="30">
                <a:latin typeface="Calibri"/>
                <a:cs typeface="Calibri"/>
              </a:rPr>
              <a:t> 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loss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individual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piece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evidence.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this,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somewhat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similar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L1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L2 </a:t>
            </a:r>
            <a:r>
              <a:rPr dirty="0" sz="850" spc="30">
                <a:latin typeface="Calibri"/>
                <a:cs typeface="Calibri"/>
              </a:rPr>
              <a:t>regularization,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which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tend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reduce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weights,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thus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make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more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robust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losing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individual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connection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endParaRPr sz="850">
              <a:latin typeface="Calibri"/>
              <a:cs typeface="Calibri"/>
            </a:endParaRPr>
          </a:p>
          <a:p>
            <a:pPr algn="just" marL="271145" marR="49530" indent="189230">
              <a:lnSpc>
                <a:spcPct val="114300"/>
              </a:lnSpc>
              <a:spcBef>
                <a:spcPts val="55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measure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successful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improving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17</a:t>
            </a:r>
            <a:r>
              <a:rPr dirty="0" baseline="35353" sz="825" spc="322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introducing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applied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tasks.</a:t>
            </a:r>
            <a:r>
              <a:rPr dirty="0" sz="850" spc="4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MNIST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vanilla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feedforward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considering.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anyone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achieved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98.4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98.7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combination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modified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form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L2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regularization.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Similarly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impressive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results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have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been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obtained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tasks,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including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speech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natural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language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processing.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especially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useful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acute.</a:t>
            </a:r>
            <a:endParaRPr sz="850">
              <a:latin typeface="Calibri"/>
              <a:cs typeface="Calibri"/>
            </a:endParaRPr>
          </a:p>
          <a:p>
            <a:pPr algn="just" marL="264160" marR="30480" indent="196215">
              <a:lnSpc>
                <a:spcPct val="114300"/>
              </a:lnSpc>
              <a:spcBef>
                <a:spcPts val="55"/>
              </a:spcBef>
            </a:pPr>
            <a:r>
              <a:rPr dirty="0" sz="850" b="1">
                <a:latin typeface="Calibri"/>
                <a:cs typeface="Calibri"/>
              </a:rPr>
              <a:t>Artificially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expanding</a:t>
            </a:r>
            <a:r>
              <a:rPr dirty="0" sz="850" spc="15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the</a:t>
            </a:r>
            <a:r>
              <a:rPr dirty="0" sz="850" spc="15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training</a:t>
            </a:r>
            <a:r>
              <a:rPr dirty="0" sz="850" spc="15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data:</a:t>
            </a:r>
            <a:r>
              <a:rPr dirty="0" sz="850" spc="23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classification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dropped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percentages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mid-80s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1,000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20">
                <a:latin typeface="Calibri"/>
                <a:cs typeface="Calibri"/>
              </a:rPr>
              <a:t> images.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surprising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case,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since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less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exposed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variety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sizes,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see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varies.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10,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14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65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0.5,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01" y="7431391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1901" y="7449689"/>
            <a:ext cx="4417060" cy="56451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just" marL="38100" marR="30480" indent="8699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30">
                <a:latin typeface="Calibri"/>
                <a:cs typeface="Calibri"/>
              </a:rPr>
              <a:t>16</a:t>
            </a:r>
            <a:r>
              <a:rPr dirty="0" sz="750" spc="20">
                <a:latin typeface="Calibri"/>
                <a:cs typeface="Calibri"/>
                <a:hlinkClick r:id="rId3"/>
              </a:rPr>
              <a:t>ImageNet</a:t>
            </a:r>
            <a:r>
              <a:rPr dirty="0" sz="750" spc="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Classification</a:t>
            </a:r>
            <a:r>
              <a:rPr dirty="0" sz="750" spc="1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with</a:t>
            </a:r>
            <a:r>
              <a:rPr dirty="0" sz="750" spc="10">
                <a:latin typeface="Calibri"/>
                <a:cs typeface="Calibri"/>
                <a:hlinkClick r:id="rId3"/>
              </a:rPr>
              <a:t> Deep </a:t>
            </a:r>
            <a:r>
              <a:rPr dirty="0" sz="750" spc="20">
                <a:latin typeface="Calibri"/>
                <a:cs typeface="Calibri"/>
                <a:hlinkClick r:id="rId3"/>
              </a:rPr>
              <a:t>Convolutional</a:t>
            </a:r>
            <a:r>
              <a:rPr dirty="0" sz="750" spc="1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Neural</a:t>
            </a:r>
            <a:r>
              <a:rPr dirty="0" sz="750" spc="1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Networks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Alex</a:t>
            </a:r>
            <a:r>
              <a:rPr dirty="0" sz="750" spc="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Krizhevsky,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Ilya</a:t>
            </a:r>
            <a:r>
              <a:rPr dirty="0" sz="750" spc="1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Sutskever,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Geoffrey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Hinton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(2012).</a:t>
            </a:r>
            <a:endParaRPr sz="750">
              <a:latin typeface="Calibri"/>
              <a:cs typeface="Calibri"/>
            </a:endParaRPr>
          </a:p>
          <a:p>
            <a:pPr algn="just" marL="38100" marR="30480" indent="86995">
              <a:lnSpc>
                <a:spcPts val="800"/>
              </a:lnSpc>
              <a:spcBef>
                <a:spcPts val="130"/>
              </a:spcBef>
            </a:pPr>
            <a:r>
              <a:rPr dirty="0" baseline="30303" sz="825" spc="44">
                <a:latin typeface="Calibri"/>
                <a:cs typeface="Calibri"/>
              </a:rPr>
              <a:t>17</a:t>
            </a:r>
            <a:r>
              <a:rPr dirty="0" sz="750" spc="30">
                <a:latin typeface="Calibri"/>
                <a:cs typeface="Calibri"/>
                <a:hlinkClick r:id="rId4"/>
              </a:rPr>
              <a:t>Improving</a:t>
            </a:r>
            <a:r>
              <a:rPr dirty="0" sz="750" spc="45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neural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networks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by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preventing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co-</a:t>
            </a:r>
            <a:r>
              <a:rPr dirty="0" sz="750" spc="30">
                <a:latin typeface="Calibri"/>
                <a:cs typeface="Calibri"/>
                <a:hlinkClick r:id="rId4"/>
              </a:rPr>
              <a:t>adaptation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of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feature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detectors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by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Geoffrey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Hinton,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Nitish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Srivastava,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Alex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Krizhevsky,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Ilya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Sutskever,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Ruslan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Salakhutdinov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(2012).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Note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that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paper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discusses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number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subtleties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have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glossed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over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brief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introduction.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6" name="object 6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41896" y="368721"/>
            <a:ext cx="4603750" cy="14585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604770">
              <a:lnSpc>
                <a:spcPts val="525"/>
              </a:lnSpc>
              <a:spcBef>
                <a:spcPts val="110"/>
              </a:spcBef>
              <a:tabLst>
                <a:tab pos="4443095" algn="l"/>
              </a:tabLst>
            </a:pPr>
            <a:r>
              <a:rPr dirty="0" sz="850" spc="10">
                <a:latin typeface="Calibri"/>
                <a:cs typeface="Calibri"/>
              </a:rPr>
              <a:t>3.2.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5">
                <a:latin typeface="Calibri"/>
                <a:cs typeface="Calibri"/>
              </a:rPr>
              <a:t>91</a:t>
            </a:r>
            <a:endParaRPr sz="850">
              <a:latin typeface="Calibri"/>
              <a:cs typeface="Calibri"/>
            </a:endParaRPr>
          </a:p>
          <a:p>
            <a:pPr algn="r" marR="2279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100" marR="236854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parameter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160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114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5.0,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cross-entropy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function.</a:t>
            </a:r>
            <a:r>
              <a:rPr dirty="0" sz="850" spc="4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scale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epochs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proportionally when smaller training </a:t>
            </a:r>
            <a:r>
              <a:rPr dirty="0" sz="850">
                <a:latin typeface="Calibri"/>
                <a:cs typeface="Calibri"/>
              </a:rPr>
              <a:t>sets</a:t>
            </a:r>
            <a:r>
              <a:rPr dirty="0" sz="850" spc="10">
                <a:latin typeface="Calibri"/>
                <a:cs typeface="Calibri"/>
              </a:rPr>
              <a:t> are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 ensure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 weight decay factor </a:t>
            </a:r>
            <a:r>
              <a:rPr dirty="0" sz="850" spc="-10">
                <a:latin typeface="Calibri"/>
                <a:cs typeface="Calibri"/>
              </a:rPr>
              <a:t>remains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across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parameter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5.0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scale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proportionally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used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18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47783" y="1968951"/>
            <a:ext cx="2241735" cy="183487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61173" y="3892175"/>
            <a:ext cx="4379595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63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accuracies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considerably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Presumably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continue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available.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graph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appear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getting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saturation.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plotted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logarithmically: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147783" y="4674534"/>
            <a:ext cx="2146206" cy="1834876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1079996" y="785681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1048156" y="6597758"/>
            <a:ext cx="4377690" cy="141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7305" marR="17780" indent="381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clear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toward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end.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used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vastly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billions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samples,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50,000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considerably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small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endParaRPr sz="850">
              <a:latin typeface="Calibri"/>
              <a:cs typeface="Calibri"/>
            </a:endParaRPr>
          </a:p>
          <a:p>
            <a:pPr algn="just" marL="25400" marR="17780" indent="196215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Obtaining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Unfortunately,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expensive,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take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MNIST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five,</a:t>
            </a:r>
            <a:endParaRPr sz="850">
              <a:latin typeface="Calibri"/>
              <a:cs typeface="Calibri"/>
            </a:endParaRPr>
          </a:p>
          <a:p>
            <a:pPr marL="119380">
              <a:lnSpc>
                <a:spcPct val="100000"/>
              </a:lnSpc>
              <a:spcBef>
                <a:spcPts val="680"/>
              </a:spcBef>
            </a:pPr>
            <a:r>
              <a:rPr dirty="0" baseline="30303" sz="825" spc="75">
                <a:latin typeface="Calibri"/>
                <a:cs typeface="Calibri"/>
              </a:rPr>
              <a:t>18</a:t>
            </a:r>
            <a:r>
              <a:rPr dirty="0" sz="750" spc="50">
                <a:latin typeface="Calibri"/>
                <a:cs typeface="Calibri"/>
              </a:rPr>
              <a:t>This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next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two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graph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are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produced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with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program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800" spc="-10">
                <a:latin typeface="Calibri"/>
                <a:cs typeface="Calibri"/>
              </a:rPr>
              <a:t>more_data.py</a:t>
            </a:r>
            <a:r>
              <a:rPr dirty="0" sz="750" spc="-10">
                <a:latin typeface="Calibri"/>
                <a:cs typeface="Calibri"/>
              </a:rPr>
              <a:t>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9" name="object 9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29933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92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96598" y="974975"/>
            <a:ext cx="391189" cy="39724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707301" y="1515658"/>
            <a:ext cx="25406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rotate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amount,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15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degrees: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696598" y="1798595"/>
            <a:ext cx="391189" cy="397240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720001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637352" y="2322430"/>
            <a:ext cx="4506595" cy="56921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91440" indent="635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recognizably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level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currently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MNIST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conceivable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obviously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limited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making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many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rotations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all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expanded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performance.</a:t>
            </a:r>
            <a:endParaRPr sz="850">
              <a:latin typeface="Calibri"/>
              <a:cs typeface="Calibri"/>
            </a:endParaRPr>
          </a:p>
          <a:p>
            <a:pPr algn="just" marL="77470" marR="68580" indent="194310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powerful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widely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</a:t>
            </a:r>
            <a:r>
              <a:rPr dirty="0" baseline="35353" sz="825" spc="15">
                <a:latin typeface="Calibri"/>
                <a:cs typeface="Calibri"/>
                <a:hlinkClick r:id="rId4" action="ppaction://hlinksldjump"/>
              </a:rPr>
              <a:t>19</a:t>
            </a:r>
            <a:r>
              <a:rPr dirty="0" baseline="35353" sz="825" spc="4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several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MNIST.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feedforward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800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cross-entropy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MNIST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classification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98.4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rotations,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translating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skewing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By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98.9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percent.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“elastic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distortions”,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distortion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intended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emulate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random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oscillations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muscles.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elastic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distortions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99.3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percent.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Effectively,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broadening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experience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exposing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sort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handwriting.</a:t>
            </a:r>
            <a:endParaRPr sz="850">
              <a:latin typeface="Calibri"/>
              <a:cs typeface="Calibri"/>
            </a:endParaRPr>
          </a:p>
          <a:p>
            <a:pPr algn="just" marL="76835" marR="68580" indent="19494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Variations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tasks,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applying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operations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reflect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real-world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presence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distortions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background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noise.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background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noise.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recognize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speech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These</a:t>
            </a:r>
            <a:r>
              <a:rPr dirty="0" sz="850" spc="20">
                <a:latin typeface="Calibri"/>
                <a:cs typeface="Calibri"/>
              </a:rPr>
              <a:t> techniques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always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instance,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instead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expanding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noise,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efficient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clean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first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noise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filter.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opportunities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it.</a:t>
            </a:r>
            <a:endParaRPr sz="850">
              <a:latin typeface="Calibri"/>
              <a:cs typeface="Calibri"/>
            </a:endParaRPr>
          </a:p>
          <a:p>
            <a:pPr marL="82550">
              <a:lnSpc>
                <a:spcPct val="100000"/>
              </a:lnSpc>
              <a:spcBef>
                <a:spcPts val="120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  <a:p>
            <a:pPr algn="just" marL="398780" marR="91440" indent="-118745">
              <a:lnSpc>
                <a:spcPts val="1170"/>
              </a:lnSpc>
              <a:spcBef>
                <a:spcPts val="20"/>
              </a:spcBef>
              <a:buFont typeface="Cambria"/>
              <a:buChar char="•"/>
              <a:tabLst>
                <a:tab pos="398780" algn="l"/>
              </a:tabLst>
            </a:pP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discussed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expanding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small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rotations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occur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arbitrarily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rotations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images?</a:t>
            </a:r>
            <a:endParaRPr sz="850">
              <a:latin typeface="Calibri"/>
              <a:cs typeface="Calibri"/>
            </a:endParaRPr>
          </a:p>
          <a:p>
            <a:pPr algn="just" marL="76835">
              <a:lnSpc>
                <a:spcPct val="100000"/>
              </a:lnSpc>
              <a:spcBef>
                <a:spcPts val="70"/>
              </a:spcBef>
            </a:pPr>
            <a:r>
              <a:rPr dirty="0" sz="850" spc="55" b="1">
                <a:latin typeface="Calibri"/>
                <a:cs typeface="Calibri"/>
              </a:rPr>
              <a:t>An</a:t>
            </a:r>
            <a:r>
              <a:rPr dirty="0" sz="850" spc="17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aside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on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big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data</a:t>
            </a:r>
            <a:r>
              <a:rPr dirty="0" sz="850" spc="17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and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what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it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means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to</a:t>
            </a:r>
            <a:r>
              <a:rPr dirty="0" sz="850" spc="17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compare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classification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accuracies:</a:t>
            </a:r>
            <a:r>
              <a:rPr dirty="0" sz="850" spc="31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look</a:t>
            </a:r>
            <a:endParaRPr sz="850">
              <a:latin typeface="Calibri"/>
              <a:cs typeface="Calibri"/>
            </a:endParaRPr>
          </a:p>
          <a:p>
            <a:pPr algn="just" marL="82550">
              <a:lnSpc>
                <a:spcPct val="100000"/>
              </a:lnSpc>
              <a:spcBef>
                <a:spcPts val="145"/>
              </a:spcBef>
            </a:pPr>
            <a:r>
              <a:rPr dirty="0" sz="850" spc="10">
                <a:latin typeface="Calibri"/>
                <a:cs typeface="Calibri"/>
              </a:rPr>
              <a:t>again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size:</a:t>
            </a:r>
            <a:endParaRPr sz="850">
              <a:latin typeface="Calibri"/>
              <a:cs typeface="Calibri"/>
            </a:endParaRPr>
          </a:p>
          <a:p>
            <a:pPr marL="82550" marR="95885" indent="86995">
              <a:lnSpc>
                <a:spcPts val="800"/>
              </a:lnSpc>
              <a:spcBef>
                <a:spcPts val="894"/>
              </a:spcBef>
            </a:pPr>
            <a:r>
              <a:rPr dirty="0" baseline="30303" sz="825" spc="30">
                <a:latin typeface="Calibri"/>
                <a:cs typeface="Calibri"/>
              </a:rPr>
              <a:t>19</a:t>
            </a:r>
            <a:r>
              <a:rPr dirty="0" sz="750" spc="20">
                <a:latin typeface="Calibri"/>
                <a:cs typeface="Calibri"/>
                <a:hlinkClick r:id="rId5"/>
              </a:rPr>
              <a:t>Best</a:t>
            </a:r>
            <a:r>
              <a:rPr dirty="0" sz="750" spc="100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Practices</a:t>
            </a:r>
            <a:r>
              <a:rPr dirty="0" sz="750" spc="105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for</a:t>
            </a:r>
            <a:r>
              <a:rPr dirty="0" sz="750" spc="105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Convolutional</a:t>
            </a:r>
            <a:r>
              <a:rPr dirty="0" sz="750" spc="100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Neural</a:t>
            </a:r>
            <a:r>
              <a:rPr dirty="0" sz="750" spc="105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Networks</a:t>
            </a:r>
            <a:r>
              <a:rPr dirty="0" sz="750" spc="105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Applied</a:t>
            </a:r>
            <a:r>
              <a:rPr dirty="0" sz="750" spc="100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to</a:t>
            </a:r>
            <a:r>
              <a:rPr dirty="0" sz="750" spc="105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Visual</a:t>
            </a:r>
            <a:r>
              <a:rPr dirty="0" sz="750" spc="105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Document</a:t>
            </a:r>
            <a:r>
              <a:rPr dirty="0" sz="750" spc="100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Analysis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Patrice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Simard,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Dave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Steinkraus,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John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Platt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(2003).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9" name="object 9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634143" y="368721"/>
            <a:ext cx="198564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851025" algn="l"/>
              </a:tabLst>
            </a:pPr>
            <a:r>
              <a:rPr dirty="0" sz="850" spc="10">
                <a:latin typeface="Calibri"/>
                <a:cs typeface="Calibri"/>
              </a:rPr>
              <a:t>3.2.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93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47783" y="1027996"/>
            <a:ext cx="2146206" cy="183487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35456" y="3003734"/>
            <a:ext cx="4406265" cy="913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635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>
                <a:latin typeface="Calibri"/>
                <a:cs typeface="Calibri"/>
              </a:rPr>
              <a:t> other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support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(SVM)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briefly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worry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familiar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SVMs,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SVM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supplied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scikit-learn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library.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SVM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set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plotted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comparison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easy</a:t>
            </a:r>
            <a:r>
              <a:rPr dirty="0" baseline="35353" sz="825" spc="-15">
                <a:latin typeface="Calibri"/>
                <a:cs typeface="Calibri"/>
                <a:hlinkClick r:id="rId3" action="ppaction://hlinksldjump"/>
              </a:rPr>
              <a:t>20</a:t>
            </a:r>
            <a:r>
              <a:rPr dirty="0" sz="850" spc="-1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147783" y="4189398"/>
            <a:ext cx="2146206" cy="1783907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1079996" y="785681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1054596" y="6114168"/>
            <a:ext cx="4397375" cy="19011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5400" marR="177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Probably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strikes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outper-</a:t>
            </a:r>
            <a:r>
              <a:rPr dirty="0" sz="850">
                <a:latin typeface="Calibri"/>
                <a:cs typeface="Calibri"/>
              </a:rPr>
              <a:t>forms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SVM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nice,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although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much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out-of-the-box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settings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scikit-learn’s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SVM,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done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fair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subtle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interesting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fact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graph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SVM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50,000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</a:t>
            </a:r>
            <a:r>
              <a:rPr dirty="0" sz="850" spc="20">
                <a:latin typeface="Calibri"/>
                <a:cs typeface="Calibri"/>
              </a:rPr>
              <a:t> performance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(94.48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accuracy)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5,000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(93.24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accuracy).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sometimes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compensate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differences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used.</a:t>
            </a:r>
            <a:endParaRPr sz="850">
              <a:latin typeface="Calibri"/>
              <a:cs typeface="Calibri"/>
            </a:endParaRPr>
          </a:p>
          <a:p>
            <a:pPr algn="just" marL="25400" marR="43815" indent="189230">
              <a:lnSpc>
                <a:spcPct val="114300"/>
              </a:lnSpc>
              <a:spcBef>
                <a:spcPts val="30"/>
              </a:spcBef>
            </a:pPr>
            <a:r>
              <a:rPr dirty="0" sz="850" spc="20">
                <a:latin typeface="Calibri"/>
                <a:cs typeface="Calibri"/>
              </a:rPr>
              <a:t>Something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interesting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occur.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trying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solve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happens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outperform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B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algorithm</a:t>
            </a:r>
            <a:endParaRPr sz="850">
              <a:latin typeface="Calibri"/>
              <a:cs typeface="Calibri"/>
            </a:endParaRPr>
          </a:p>
          <a:p>
            <a:pPr marL="112395">
              <a:lnSpc>
                <a:spcPct val="100000"/>
              </a:lnSpc>
              <a:spcBef>
                <a:spcPts val="960"/>
              </a:spcBef>
            </a:pPr>
            <a:r>
              <a:rPr dirty="0" baseline="30303" sz="825" spc="75">
                <a:latin typeface="Calibri"/>
                <a:cs typeface="Calibri"/>
              </a:rPr>
              <a:t>20</a:t>
            </a:r>
            <a:r>
              <a:rPr dirty="0" sz="750" spc="50">
                <a:latin typeface="Calibri"/>
                <a:cs typeface="Calibri"/>
              </a:rPr>
              <a:t>This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graph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was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produced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with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program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800" spc="20">
                <a:latin typeface="Calibri"/>
                <a:cs typeface="Calibri"/>
              </a:rPr>
              <a:t>more_data.py</a:t>
            </a:r>
            <a:r>
              <a:rPr dirty="0" sz="80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(as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were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last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few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graphs).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9" name="object 9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48781" y="368721"/>
            <a:ext cx="4653915" cy="32619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33375" algn="l"/>
              </a:tabLst>
            </a:pPr>
            <a:r>
              <a:rPr dirty="0" sz="850" spc="25">
                <a:latin typeface="Calibri"/>
                <a:cs typeface="Calibri"/>
              </a:rPr>
              <a:t>94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203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71145" marR="304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B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outperform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–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require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21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response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B?”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really: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using?”</a:t>
            </a:r>
            <a:endParaRPr sz="850">
              <a:latin typeface="Calibri"/>
              <a:cs typeface="Calibri"/>
            </a:endParaRPr>
          </a:p>
          <a:p>
            <a:pPr algn="just" marL="271145" marR="3175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development,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research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focus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tricks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performance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benchmark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whiz-bang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X </a:t>
            </a:r>
            <a:r>
              <a:rPr dirty="0" sz="850" spc="20">
                <a:latin typeface="Calibri"/>
                <a:cs typeface="Calibri"/>
              </a:rPr>
              <a:t>percent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standard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benchmark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Y”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canonical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research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claim.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claims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genuinely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interesting,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understood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context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specific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Imagine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alternate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history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who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originally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created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benchmark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research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grant.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used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money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collect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entirely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“improvement”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due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whiz-bang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disappear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purported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accident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history.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message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away,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especially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applications,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</a:t>
            </a:r>
            <a:r>
              <a:rPr dirty="0" sz="850" spc="20">
                <a:latin typeface="Calibri"/>
                <a:cs typeface="Calibri"/>
              </a:rPr>
              <a:t> training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you’re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focusing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exclusion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data.</a:t>
            </a:r>
            <a:endParaRPr sz="850">
              <a:latin typeface="Calibri"/>
              <a:cs typeface="Calibri"/>
            </a:endParaRPr>
          </a:p>
          <a:p>
            <a:pPr marL="271145">
              <a:lnSpc>
                <a:spcPct val="100000"/>
              </a:lnSpc>
              <a:spcBef>
                <a:spcPts val="114"/>
              </a:spcBef>
            </a:pP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01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69201" y="3600217"/>
            <a:ext cx="4445000" cy="4414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62585" marR="66040" indent="-114935">
              <a:lnSpc>
                <a:spcPct val="114300"/>
              </a:lnSpc>
              <a:spcBef>
                <a:spcPts val="95"/>
              </a:spcBef>
              <a:buFont typeface="Cambria"/>
              <a:buChar char="•"/>
              <a:tabLst>
                <a:tab pos="362585" algn="l"/>
                <a:tab pos="365760" algn="l"/>
              </a:tabLst>
            </a:pP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 b="1">
                <a:latin typeface="Calibri"/>
                <a:cs typeface="Calibri"/>
              </a:rPr>
              <a:t>(Research</a:t>
            </a:r>
            <a:r>
              <a:rPr dirty="0" sz="850" spc="114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problem)</a:t>
            </a:r>
            <a:r>
              <a:rPr dirty="0" sz="850" spc="10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limit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sets?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natural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attempt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notion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asymptotic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limit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quick-and-dirty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approach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fitting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curves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extrapolate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fitted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curves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infinity.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objection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approach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fitting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asymptotic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principled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justification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fitting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curves?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asymptotic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several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machine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algorithms.</a:t>
            </a:r>
            <a:endParaRPr sz="850">
              <a:latin typeface="Calibri"/>
              <a:cs typeface="Calibri"/>
            </a:endParaRPr>
          </a:p>
          <a:p>
            <a:pPr algn="just" marL="43815" marR="43180" indent="6350">
              <a:lnSpc>
                <a:spcPct val="114300"/>
              </a:lnSpc>
            </a:pPr>
            <a:r>
              <a:rPr dirty="0" sz="850" spc="70" b="1">
                <a:latin typeface="Calibri"/>
                <a:cs typeface="Calibri"/>
              </a:rPr>
              <a:t>Summing</a:t>
            </a:r>
            <a:r>
              <a:rPr dirty="0" sz="850" spc="95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up: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course,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return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again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issue.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mentioned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major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especially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powerful,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ability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pressing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extremely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current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45"/>
              </a:spcBef>
            </a:pPr>
            <a:endParaRPr sz="85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tabLst>
                <a:tab pos="377825" algn="l"/>
              </a:tabLst>
            </a:pPr>
            <a:r>
              <a:rPr dirty="0" sz="1050" spc="30" b="1">
                <a:latin typeface="Calibri"/>
                <a:cs typeface="Calibri"/>
              </a:rPr>
              <a:t>3.3</a:t>
            </a:r>
            <a:r>
              <a:rPr dirty="0" sz="1050" b="1">
                <a:latin typeface="Calibri"/>
                <a:cs typeface="Calibri"/>
              </a:rPr>
              <a:t>	Weight</a:t>
            </a:r>
            <a:r>
              <a:rPr dirty="0" sz="1050" spc="254" b="1">
                <a:latin typeface="Calibri"/>
                <a:cs typeface="Calibri"/>
              </a:rPr>
              <a:t> </a:t>
            </a:r>
            <a:r>
              <a:rPr dirty="0" sz="1050" spc="40" b="1">
                <a:latin typeface="Calibri"/>
                <a:cs typeface="Calibri"/>
              </a:rPr>
              <a:t>initialization</a:t>
            </a:r>
            <a:endParaRPr sz="1050">
              <a:latin typeface="Calibri"/>
              <a:cs typeface="Calibri"/>
            </a:endParaRPr>
          </a:p>
          <a:p>
            <a:pPr algn="just" marL="43815" marR="43180" indent="-1270">
              <a:lnSpc>
                <a:spcPct val="114300"/>
              </a:lnSpc>
              <a:spcBef>
                <a:spcPts val="1019"/>
              </a:spcBef>
            </a:pP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create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according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prescription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discussed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briefly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remind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prescription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independent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Gaussian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normalized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mean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0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standard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deviation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hoc,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revisiting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initial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biases,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faster.</a:t>
            </a:r>
            <a:endParaRPr sz="850">
              <a:latin typeface="Calibri"/>
              <a:cs typeface="Calibri"/>
            </a:endParaRPr>
          </a:p>
          <a:p>
            <a:pPr algn="just" marL="45720" marR="38735" indent="19431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turns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quite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normalized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Gaussians.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number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1,000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normalized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Gaussians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endParaRPr sz="850">
              <a:latin typeface="Calibri"/>
              <a:cs typeface="Calibri"/>
            </a:endParaRPr>
          </a:p>
          <a:p>
            <a:pPr marL="50800" marR="43180" indent="86995">
              <a:lnSpc>
                <a:spcPts val="800"/>
              </a:lnSpc>
              <a:spcBef>
                <a:spcPts val="930"/>
              </a:spcBef>
            </a:pPr>
            <a:r>
              <a:rPr dirty="0" baseline="30303" sz="825" spc="44">
                <a:latin typeface="Calibri"/>
                <a:cs typeface="Calibri"/>
              </a:rPr>
              <a:t>21</a:t>
            </a:r>
            <a:r>
              <a:rPr dirty="0" sz="750" spc="30">
                <a:latin typeface="Calibri"/>
                <a:cs typeface="Calibri"/>
              </a:rPr>
              <a:t>Striking examples may be found in </a:t>
            </a:r>
            <a:r>
              <a:rPr dirty="0" sz="750" spc="30">
                <a:latin typeface="Calibri"/>
                <a:cs typeface="Calibri"/>
                <a:hlinkClick r:id="rId3"/>
              </a:rPr>
              <a:t>Scaling to very very large corpora for natural language </a:t>
            </a:r>
            <a:r>
              <a:rPr dirty="0" sz="750" spc="-10">
                <a:latin typeface="Calibri"/>
                <a:cs typeface="Calibri"/>
                <a:hlinkClick r:id="rId3"/>
              </a:rPr>
              <a:t>disam-</a:t>
            </a:r>
            <a:r>
              <a:rPr dirty="0" sz="750" spc="10">
                <a:latin typeface="Calibri"/>
                <a:cs typeface="Calibri"/>
                <a:hlinkClick r:id="rId3"/>
              </a:rPr>
              <a:t>biguation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Michele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Banko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Eric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Brill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(2001).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6" name="object 6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6" y="368721"/>
            <a:ext cx="4559300" cy="10147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5080">
              <a:lnSpc>
                <a:spcPts val="525"/>
              </a:lnSpc>
              <a:spcBef>
                <a:spcPts val="110"/>
              </a:spcBef>
              <a:tabLst>
                <a:tab pos="1379220" algn="l"/>
              </a:tabLst>
            </a:pPr>
            <a:r>
              <a:rPr dirty="0" sz="850">
                <a:latin typeface="Calibri"/>
                <a:cs typeface="Calibri"/>
              </a:rPr>
              <a:t>3.3.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95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2700" marR="211454" indent="635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connecting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concentrate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specifically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ignore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83992" y="1460995"/>
            <a:ext cx="1446937" cy="189549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59750" y="3514465"/>
            <a:ext cx="435356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685" marR="5080" indent="-762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simplicity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21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half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half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7296" y="3827389"/>
            <a:ext cx="43732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argument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follows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generally,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special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case.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787789" y="3881897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881908" y="4045848"/>
            <a:ext cx="3378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3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7296" y="3975420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899920" algn="l"/>
              </a:tabLst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 spc="-6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6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39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500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terms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633385" y="45961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 h="0">
                <a:moveTo>
                  <a:pt x="0" y="0"/>
                </a:moveTo>
                <a:lnTo>
                  <a:pt x="182346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/>
          <p:cNvGrpSpPr/>
          <p:nvPr/>
        </p:nvGrpSpPr>
        <p:grpSpPr>
          <a:xfrm>
            <a:off x="1593634" y="4952491"/>
            <a:ext cx="3321685" cy="970915"/>
            <a:chOff x="1593634" y="4952491"/>
            <a:chExt cx="3321685" cy="970915"/>
          </a:xfrm>
        </p:grpSpPr>
        <p:sp>
          <p:nvSpPr>
            <p:cNvPr id="11" name="object 11"/>
            <p:cNvSpPr/>
            <p:nvPr/>
          </p:nvSpPr>
          <p:spPr>
            <a:xfrm>
              <a:off x="1699882" y="5868123"/>
              <a:ext cx="3111500" cy="54610"/>
            </a:xfrm>
            <a:custGeom>
              <a:avLst/>
              <a:gdLst/>
              <a:ahLst/>
              <a:cxnLst/>
              <a:rect l="l" t="t" r="r" b="b"/>
              <a:pathLst>
                <a:path w="3111500" h="54610">
                  <a:moveTo>
                    <a:pt x="0" y="54000"/>
                  </a:moveTo>
                  <a:lnTo>
                    <a:pt x="0" y="0"/>
                  </a:lnTo>
                </a:path>
                <a:path w="3111500" h="54610">
                  <a:moveTo>
                    <a:pt x="518541" y="54000"/>
                  </a:moveTo>
                  <a:lnTo>
                    <a:pt x="518541" y="0"/>
                  </a:lnTo>
                </a:path>
                <a:path w="3111500" h="54610">
                  <a:moveTo>
                    <a:pt x="1037069" y="54000"/>
                  </a:moveTo>
                  <a:lnTo>
                    <a:pt x="1037069" y="0"/>
                  </a:lnTo>
                </a:path>
                <a:path w="3111500" h="54610">
                  <a:moveTo>
                    <a:pt x="2074138" y="54000"/>
                  </a:moveTo>
                  <a:lnTo>
                    <a:pt x="2074138" y="0"/>
                  </a:lnTo>
                </a:path>
                <a:path w="3111500" h="54610">
                  <a:moveTo>
                    <a:pt x="2592666" y="54000"/>
                  </a:moveTo>
                  <a:lnTo>
                    <a:pt x="2592666" y="0"/>
                  </a:lnTo>
                </a:path>
                <a:path w="3111500" h="54610">
                  <a:moveTo>
                    <a:pt x="3111207" y="54000"/>
                  </a:moveTo>
                  <a:lnTo>
                    <a:pt x="3111207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228479" y="5038178"/>
              <a:ext cx="54610" cy="428625"/>
            </a:xfrm>
            <a:custGeom>
              <a:avLst/>
              <a:gdLst/>
              <a:ahLst/>
              <a:cxnLst/>
              <a:rect l="l" t="t" r="r" b="b"/>
              <a:pathLst>
                <a:path w="54610" h="428625">
                  <a:moveTo>
                    <a:pt x="0" y="428472"/>
                  </a:moveTo>
                  <a:lnTo>
                    <a:pt x="54000" y="428472"/>
                  </a:lnTo>
                </a:path>
                <a:path w="54610" h="428625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596174" y="5895123"/>
              <a:ext cx="3293745" cy="0"/>
            </a:xfrm>
            <a:custGeom>
              <a:avLst/>
              <a:gdLst/>
              <a:ahLst/>
              <a:cxnLst/>
              <a:rect l="l" t="t" r="r" b="b"/>
              <a:pathLst>
                <a:path w="3293745" h="0">
                  <a:moveTo>
                    <a:pt x="0" y="0"/>
                  </a:moveTo>
                  <a:lnTo>
                    <a:pt x="3293313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874311" y="587488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76" y="20243"/>
                  </a:lnTo>
                  <a:lnTo>
                    <a:pt x="0" y="40487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255492" y="4977790"/>
              <a:ext cx="0" cy="917575"/>
            </a:xfrm>
            <a:custGeom>
              <a:avLst/>
              <a:gdLst/>
              <a:ahLst/>
              <a:cxnLst/>
              <a:rect l="l" t="t" r="r" b="b"/>
              <a:pathLst>
                <a:path w="0" h="917575">
                  <a:moveTo>
                    <a:pt x="0" y="917333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235236" y="4952491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56" y="0"/>
                  </a:moveTo>
                  <a:lnTo>
                    <a:pt x="0" y="40487"/>
                  </a:lnTo>
                  <a:lnTo>
                    <a:pt x="20256" y="25298"/>
                  </a:lnTo>
                  <a:lnTo>
                    <a:pt x="40487" y="40487"/>
                  </a:lnTo>
                  <a:lnTo>
                    <a:pt x="202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965696" y="4106590"/>
            <a:ext cx="4549140" cy="1431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00330" marR="106045" indent="1333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vanish,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corresponding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-50" i="1">
                <a:latin typeface="Calibri"/>
                <a:cs typeface="Calibri"/>
              </a:rPr>
              <a:t> </a:t>
            </a:r>
            <a:r>
              <a:rPr dirty="0" baseline="-20202" sz="825" i="1">
                <a:latin typeface="Calibri"/>
                <a:cs typeface="Calibri"/>
              </a:rPr>
              <a:t>j</a:t>
            </a:r>
            <a:r>
              <a:rPr dirty="0" baseline="-20202" sz="825" spc="38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zero.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4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total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501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normalized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Gaussian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accounting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Thus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itself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distributed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Gaussian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zero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standard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deviation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baseline="45751" sz="1275" spc="262">
                <a:latin typeface="Cambria"/>
                <a:cs typeface="Cambria"/>
              </a:rPr>
              <a:t>,</a:t>
            </a:r>
            <a:r>
              <a:rPr dirty="0" sz="850" spc="175">
                <a:latin typeface="Calibri"/>
                <a:cs typeface="Calibri"/>
              </a:rPr>
              <a:t>501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5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22.4.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broad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Gaussian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distribution,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sharply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peaked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all:</a:t>
            </a:r>
            <a:endParaRPr sz="850">
              <a:latin typeface="Calibri"/>
              <a:cs typeface="Calibri"/>
            </a:endParaRPr>
          </a:p>
          <a:p>
            <a:pPr algn="ctr" marR="306705">
              <a:lnSpc>
                <a:spcPct val="100000"/>
              </a:lnSpc>
              <a:spcBef>
                <a:spcPts val="855"/>
              </a:spcBef>
            </a:pPr>
            <a:r>
              <a:rPr dirty="0" sz="850" spc="-20">
                <a:latin typeface="Calibri"/>
                <a:cs typeface="Calibri"/>
              </a:rPr>
              <a:t>0.02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850">
              <a:latin typeface="Calibri"/>
              <a:cs typeface="Calibri"/>
            </a:endParaRPr>
          </a:p>
          <a:p>
            <a:pPr algn="ctr" marR="306705">
              <a:lnSpc>
                <a:spcPct val="100000"/>
              </a:lnSpc>
            </a:pPr>
            <a:r>
              <a:rPr dirty="0" sz="850" spc="-20">
                <a:latin typeface="Calibri"/>
                <a:cs typeface="Calibri"/>
              </a:rPr>
              <a:t>0.01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1699882" y="5131422"/>
            <a:ext cx="3111500" cy="452755"/>
          </a:xfrm>
          <a:custGeom>
            <a:avLst/>
            <a:gdLst/>
            <a:ahLst/>
            <a:cxnLst/>
            <a:rect l="l" t="t" r="r" b="b"/>
            <a:pathLst>
              <a:path w="3111500" h="452754">
                <a:moveTo>
                  <a:pt x="0" y="452577"/>
                </a:moveTo>
                <a:lnTo>
                  <a:pt x="38887" y="438531"/>
                </a:lnTo>
                <a:lnTo>
                  <a:pt x="77774" y="424103"/>
                </a:lnTo>
                <a:lnTo>
                  <a:pt x="116674" y="409511"/>
                </a:lnTo>
                <a:lnTo>
                  <a:pt x="155562" y="394677"/>
                </a:lnTo>
                <a:lnTo>
                  <a:pt x="194449" y="379730"/>
                </a:lnTo>
                <a:lnTo>
                  <a:pt x="233337" y="364502"/>
                </a:lnTo>
                <a:lnTo>
                  <a:pt x="272224" y="349237"/>
                </a:lnTo>
                <a:lnTo>
                  <a:pt x="311111" y="333806"/>
                </a:lnTo>
                <a:lnTo>
                  <a:pt x="350012" y="318376"/>
                </a:lnTo>
                <a:lnTo>
                  <a:pt x="388899" y="302869"/>
                </a:lnTo>
                <a:lnTo>
                  <a:pt x="427786" y="287286"/>
                </a:lnTo>
                <a:lnTo>
                  <a:pt x="466674" y="271868"/>
                </a:lnTo>
                <a:lnTo>
                  <a:pt x="505574" y="256425"/>
                </a:lnTo>
                <a:lnTo>
                  <a:pt x="544461" y="241071"/>
                </a:lnTo>
                <a:lnTo>
                  <a:pt x="583349" y="225869"/>
                </a:lnTo>
                <a:lnTo>
                  <a:pt x="622236" y="210908"/>
                </a:lnTo>
                <a:lnTo>
                  <a:pt x="661136" y="196151"/>
                </a:lnTo>
                <a:lnTo>
                  <a:pt x="700024" y="181559"/>
                </a:lnTo>
                <a:lnTo>
                  <a:pt x="738911" y="167360"/>
                </a:lnTo>
                <a:lnTo>
                  <a:pt x="777798" y="153454"/>
                </a:lnTo>
                <a:lnTo>
                  <a:pt x="816686" y="140004"/>
                </a:lnTo>
                <a:lnTo>
                  <a:pt x="855586" y="126873"/>
                </a:lnTo>
                <a:lnTo>
                  <a:pt x="894473" y="114274"/>
                </a:lnTo>
                <a:lnTo>
                  <a:pt x="933361" y="102133"/>
                </a:lnTo>
                <a:lnTo>
                  <a:pt x="972248" y="90512"/>
                </a:lnTo>
                <a:lnTo>
                  <a:pt x="1011135" y="79438"/>
                </a:lnTo>
                <a:lnTo>
                  <a:pt x="1050036" y="68973"/>
                </a:lnTo>
                <a:lnTo>
                  <a:pt x="1088923" y="59194"/>
                </a:lnTo>
                <a:lnTo>
                  <a:pt x="1127810" y="50025"/>
                </a:lnTo>
                <a:lnTo>
                  <a:pt x="1166698" y="41554"/>
                </a:lnTo>
                <a:lnTo>
                  <a:pt x="1205585" y="33845"/>
                </a:lnTo>
                <a:lnTo>
                  <a:pt x="1244473" y="26809"/>
                </a:lnTo>
                <a:lnTo>
                  <a:pt x="1283373" y="20624"/>
                </a:lnTo>
                <a:lnTo>
                  <a:pt x="1322260" y="15125"/>
                </a:lnTo>
                <a:lnTo>
                  <a:pt x="1361147" y="10541"/>
                </a:lnTo>
                <a:lnTo>
                  <a:pt x="1400048" y="6718"/>
                </a:lnTo>
                <a:lnTo>
                  <a:pt x="1438935" y="3733"/>
                </a:lnTo>
                <a:lnTo>
                  <a:pt x="1477822" y="1600"/>
                </a:lnTo>
                <a:lnTo>
                  <a:pt x="1516710" y="304"/>
                </a:lnTo>
                <a:lnTo>
                  <a:pt x="1555610" y="0"/>
                </a:lnTo>
                <a:lnTo>
                  <a:pt x="1594497" y="304"/>
                </a:lnTo>
                <a:lnTo>
                  <a:pt x="1633385" y="1600"/>
                </a:lnTo>
                <a:lnTo>
                  <a:pt x="1672272" y="3733"/>
                </a:lnTo>
                <a:lnTo>
                  <a:pt x="1711159" y="6718"/>
                </a:lnTo>
                <a:lnTo>
                  <a:pt x="1750047" y="10541"/>
                </a:lnTo>
                <a:lnTo>
                  <a:pt x="1788947" y="15125"/>
                </a:lnTo>
                <a:lnTo>
                  <a:pt x="1827834" y="20624"/>
                </a:lnTo>
                <a:lnTo>
                  <a:pt x="1866722" y="26809"/>
                </a:lnTo>
                <a:lnTo>
                  <a:pt x="1905609" y="33845"/>
                </a:lnTo>
                <a:lnTo>
                  <a:pt x="1944497" y="41554"/>
                </a:lnTo>
                <a:lnTo>
                  <a:pt x="1983384" y="50025"/>
                </a:lnTo>
                <a:lnTo>
                  <a:pt x="2022284" y="59194"/>
                </a:lnTo>
                <a:lnTo>
                  <a:pt x="2061171" y="68973"/>
                </a:lnTo>
                <a:lnTo>
                  <a:pt x="2100059" y="79438"/>
                </a:lnTo>
                <a:lnTo>
                  <a:pt x="2138946" y="90512"/>
                </a:lnTo>
                <a:lnTo>
                  <a:pt x="2177846" y="102133"/>
                </a:lnTo>
                <a:lnTo>
                  <a:pt x="2216734" y="114274"/>
                </a:lnTo>
                <a:lnTo>
                  <a:pt x="2255621" y="126873"/>
                </a:lnTo>
                <a:lnTo>
                  <a:pt x="2294509" y="140004"/>
                </a:lnTo>
                <a:lnTo>
                  <a:pt x="2333409" y="153454"/>
                </a:lnTo>
                <a:lnTo>
                  <a:pt x="2372296" y="167360"/>
                </a:lnTo>
                <a:lnTo>
                  <a:pt x="2411183" y="181559"/>
                </a:lnTo>
                <a:lnTo>
                  <a:pt x="2450071" y="196151"/>
                </a:lnTo>
                <a:lnTo>
                  <a:pt x="2488958" y="210908"/>
                </a:lnTo>
                <a:lnTo>
                  <a:pt x="2527858" y="225869"/>
                </a:lnTo>
                <a:lnTo>
                  <a:pt x="2566746" y="241071"/>
                </a:lnTo>
                <a:lnTo>
                  <a:pt x="2605633" y="256425"/>
                </a:lnTo>
                <a:lnTo>
                  <a:pt x="2644521" y="271868"/>
                </a:lnTo>
                <a:lnTo>
                  <a:pt x="2683408" y="287286"/>
                </a:lnTo>
                <a:lnTo>
                  <a:pt x="2722308" y="302869"/>
                </a:lnTo>
                <a:lnTo>
                  <a:pt x="2761195" y="318376"/>
                </a:lnTo>
                <a:lnTo>
                  <a:pt x="2800083" y="333806"/>
                </a:lnTo>
                <a:lnTo>
                  <a:pt x="2838970" y="349237"/>
                </a:lnTo>
                <a:lnTo>
                  <a:pt x="2877858" y="364502"/>
                </a:lnTo>
                <a:lnTo>
                  <a:pt x="2916758" y="379730"/>
                </a:lnTo>
                <a:lnTo>
                  <a:pt x="2955645" y="394677"/>
                </a:lnTo>
                <a:lnTo>
                  <a:pt x="2994533" y="409511"/>
                </a:lnTo>
                <a:lnTo>
                  <a:pt x="3033420" y="424103"/>
                </a:lnTo>
                <a:lnTo>
                  <a:pt x="3072320" y="438531"/>
                </a:lnTo>
                <a:lnTo>
                  <a:pt x="3111207" y="452577"/>
                </a:lnTo>
              </a:path>
            </a:pathLst>
          </a:custGeom>
          <a:ln w="5060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1079996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1010042" y="5914113"/>
            <a:ext cx="4481195" cy="21005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R="22225">
              <a:lnSpc>
                <a:spcPct val="100000"/>
              </a:lnSpc>
              <a:spcBef>
                <a:spcPts val="110"/>
              </a:spcBef>
              <a:tabLst>
                <a:tab pos="518159" algn="l"/>
                <a:tab pos="1036955" algn="l"/>
                <a:tab pos="2113915" algn="l"/>
                <a:tab pos="2632075" algn="l"/>
                <a:tab pos="3150870" algn="l"/>
              </a:tabLst>
            </a:pPr>
            <a:r>
              <a:rPr dirty="0" sz="850" spc="55">
                <a:latin typeface="Cambria"/>
                <a:cs typeface="Cambria"/>
              </a:rPr>
              <a:t>−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mbria"/>
                <a:cs typeface="Cambria"/>
              </a:rPr>
              <a:t>−</a:t>
            </a:r>
            <a:r>
              <a:rPr dirty="0" sz="850" spc="55">
                <a:latin typeface="Calibri"/>
                <a:cs typeface="Calibri"/>
              </a:rPr>
              <a:t>20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mbria"/>
                <a:cs typeface="Cambria"/>
              </a:rPr>
              <a:t>−</a:t>
            </a:r>
            <a:r>
              <a:rPr dirty="0" sz="850" spc="55">
                <a:latin typeface="Calibri"/>
                <a:cs typeface="Calibri"/>
              </a:rPr>
              <a:t>10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20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30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50">
              <a:latin typeface="Calibri"/>
              <a:cs typeface="Calibri"/>
            </a:endParaRPr>
          </a:p>
          <a:p>
            <a:pPr algn="just" marL="63500" marR="55880" indent="6350">
              <a:lnSpc>
                <a:spcPct val="114300"/>
              </a:lnSpc>
              <a:spcBef>
                <a:spcPts val="5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|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>
                <a:latin typeface="Cambria"/>
                <a:cs typeface="Cambria"/>
              </a:rPr>
              <a:t>|</a:t>
            </a:r>
            <a:r>
              <a:rPr dirty="0" sz="850" spc="19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large,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either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490">
                <a:latin typeface="Cambria"/>
                <a:cs typeface="Cambria"/>
              </a:rPr>
              <a:t>⧛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 spc="490">
                <a:latin typeface="Cambria"/>
                <a:cs typeface="Cambria"/>
              </a:rPr>
              <a:t>⧛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1.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z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1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either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19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saturated.</a:t>
            </a:r>
            <a:r>
              <a:rPr dirty="0" sz="850" spc="50">
                <a:latin typeface="Calibri"/>
                <a:cs typeface="Calibri"/>
              </a:rPr>
              <a:t> 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only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absolutely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miniscule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miniscule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barely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affect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miniscule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slowly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baseline="35353" sz="825" spc="15">
                <a:latin typeface="Calibri"/>
                <a:cs typeface="Calibri"/>
                <a:hlinkClick r:id="rId3" action="ppaction://hlinksldjump"/>
              </a:rPr>
              <a:t>22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saturated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addressed</a:t>
            </a:r>
            <a:endParaRPr sz="850">
              <a:latin typeface="Calibri"/>
              <a:cs typeface="Calibri"/>
            </a:endParaRPr>
          </a:p>
          <a:p>
            <a:pPr marL="69850" marR="83185" indent="86995">
              <a:lnSpc>
                <a:spcPts val="800"/>
              </a:lnSpc>
              <a:spcBef>
                <a:spcPts val="985"/>
              </a:spcBef>
            </a:pPr>
            <a:r>
              <a:rPr dirty="0" baseline="30303" sz="825" spc="15">
                <a:latin typeface="Calibri"/>
                <a:cs typeface="Calibri"/>
              </a:rPr>
              <a:t>22</a:t>
            </a:r>
            <a:r>
              <a:rPr dirty="0" sz="750" spc="10">
                <a:latin typeface="Calibri"/>
                <a:cs typeface="Calibri"/>
              </a:rPr>
              <a:t>We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discussed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more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detail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Chapter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2,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where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used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equations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backpropagation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to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show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weights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input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saturated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neurons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learned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slowly.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22" name="object 22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/>
          <p:cNvSpPr txBox="1"/>
          <p:nvPr/>
        </p:nvSpPr>
        <p:spPr>
          <a:xfrm>
            <a:off x="5876607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4582160" cy="19030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96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38760" marR="7620" indent="635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clever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Unfortunately,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helped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nothing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hidden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  <a:p>
            <a:pPr algn="just" marL="238760" marR="5080" indent="196215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talking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similar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layers: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initialized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normalized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Gaussians,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slowly.</a:t>
            </a:r>
            <a:endParaRPr sz="850">
              <a:latin typeface="Calibri"/>
              <a:cs typeface="Calibri"/>
            </a:endParaRPr>
          </a:p>
          <a:p>
            <a:pPr algn="just" marL="245745" marR="7620" indent="18923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better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kind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saturation,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slowdown?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636175" y="2462479"/>
            <a:ext cx="132080" cy="0"/>
          </a:xfrm>
          <a:custGeom>
            <a:avLst/>
            <a:gdLst/>
            <a:ahLst/>
            <a:cxnLst/>
            <a:rect l="l" t="t" r="r" b="b"/>
            <a:pathLst>
              <a:path w="132079" h="0">
                <a:moveTo>
                  <a:pt x="0" y="0"/>
                </a:moveTo>
                <a:lnTo>
                  <a:pt x="13164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63411" y="2246038"/>
            <a:ext cx="4427855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5715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n</a:t>
            </a:r>
            <a:r>
              <a:rPr dirty="0" baseline="-20202" sz="825" spc="30">
                <a:latin typeface="Calibri"/>
                <a:cs typeface="Calibri"/>
              </a:rPr>
              <a:t>in</a:t>
            </a:r>
            <a:r>
              <a:rPr dirty="0" baseline="-20202" sz="825" spc="367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Gaussian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deviation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40">
                <a:latin typeface="Calibri"/>
                <a:cs typeface="Calibri"/>
              </a:rPr>
              <a:t>1</a:t>
            </a:r>
            <a:r>
              <a:rPr dirty="0" sz="850" spc="140" i="1">
                <a:latin typeface="Times New Roman"/>
                <a:cs typeface="Times New Roman"/>
              </a:rPr>
              <a:t>/</a:t>
            </a:r>
            <a:r>
              <a:rPr dirty="0" baseline="35947" sz="1275" spc="209">
                <a:latin typeface="Cambria"/>
                <a:cs typeface="Cambria"/>
              </a:rPr>
              <a:t>,</a:t>
            </a:r>
            <a:r>
              <a:rPr dirty="0" sz="850" spc="140" i="1">
                <a:latin typeface="Calibri"/>
                <a:cs typeface="Calibri"/>
              </a:rPr>
              <a:t>n</a:t>
            </a:r>
            <a:r>
              <a:rPr dirty="0" baseline="-20202" sz="825" spc="209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squash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Gaussians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continue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choose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301" y="2706995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Gaussian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deviation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return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238004" y="2761503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32123" y="2925453"/>
            <a:ext cx="3378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3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301" y="2855025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710180" algn="l"/>
              </a:tabLst>
            </a:pPr>
            <a:r>
              <a:rPr dirty="0" sz="850" spc="10">
                <a:latin typeface="Calibri"/>
                <a:cs typeface="Calibri"/>
              </a:rPr>
              <a:t>moment.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7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41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1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Gaussian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297" y="2986193"/>
            <a:ext cx="437324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random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it’ll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sharply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peaked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before.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500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zero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500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7301" y="3299132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show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(see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exercise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below)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Gaussian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distribution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standard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79259" y="3349538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75">
                <a:latin typeface="Arial MT"/>
                <a:cs typeface="Arial MT"/>
              </a:rPr>
              <a:t>,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302588" y="3468280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5" h="0">
                <a:moveTo>
                  <a:pt x="0" y="0"/>
                </a:moveTo>
                <a:lnTo>
                  <a:pt x="176872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700852" y="3430302"/>
            <a:ext cx="437515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635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deviation</a:t>
            </a:r>
            <a:r>
              <a:rPr dirty="0" sz="850" spc="890">
                <a:latin typeface="Calibri"/>
                <a:cs typeface="Calibri"/>
              </a:rPr>
              <a:t> </a:t>
            </a:r>
            <a:r>
              <a:rPr dirty="0" sz="850" spc="95">
                <a:latin typeface="Calibri"/>
                <a:cs typeface="Calibri"/>
              </a:rPr>
              <a:t>3</a:t>
            </a:r>
            <a:r>
              <a:rPr dirty="0" sz="850" spc="95" i="1">
                <a:latin typeface="Times New Roman"/>
                <a:cs typeface="Times New Roman"/>
              </a:rPr>
              <a:t>/</a:t>
            </a:r>
            <a:r>
              <a:rPr dirty="0" sz="850" spc="95">
                <a:latin typeface="Calibri"/>
                <a:cs typeface="Calibri"/>
              </a:rPr>
              <a:t>2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40">
                <a:latin typeface="Calibri"/>
                <a:cs typeface="Calibri"/>
              </a:rPr>
              <a:t>1.22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This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much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more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sharply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peaked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before,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much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even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graph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below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understates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situation,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since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had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rescale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vertical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axis,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when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compared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graph: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233641" y="3965511"/>
            <a:ext cx="3321685" cy="970915"/>
            <a:chOff x="1233641" y="3965511"/>
            <a:chExt cx="3321685" cy="970915"/>
          </a:xfrm>
        </p:grpSpPr>
        <p:sp>
          <p:nvSpPr>
            <p:cNvPr id="15" name="object 15"/>
            <p:cNvSpPr/>
            <p:nvPr/>
          </p:nvSpPr>
          <p:spPr>
            <a:xfrm>
              <a:off x="1339888" y="4881156"/>
              <a:ext cx="3111500" cy="54610"/>
            </a:xfrm>
            <a:custGeom>
              <a:avLst/>
              <a:gdLst/>
              <a:ahLst/>
              <a:cxnLst/>
              <a:rect l="l" t="t" r="r" b="b"/>
              <a:pathLst>
                <a:path w="3111500" h="54610">
                  <a:moveTo>
                    <a:pt x="0" y="54000"/>
                  </a:moveTo>
                  <a:lnTo>
                    <a:pt x="0" y="0"/>
                  </a:lnTo>
                </a:path>
                <a:path w="3111500" h="54610">
                  <a:moveTo>
                    <a:pt x="518528" y="54000"/>
                  </a:moveTo>
                  <a:lnTo>
                    <a:pt x="518528" y="0"/>
                  </a:lnTo>
                </a:path>
                <a:path w="3111500" h="54610">
                  <a:moveTo>
                    <a:pt x="1037069" y="54000"/>
                  </a:moveTo>
                  <a:lnTo>
                    <a:pt x="1037069" y="0"/>
                  </a:lnTo>
                </a:path>
                <a:path w="3111500" h="54610">
                  <a:moveTo>
                    <a:pt x="2074138" y="54000"/>
                  </a:moveTo>
                  <a:lnTo>
                    <a:pt x="2074138" y="0"/>
                  </a:lnTo>
                </a:path>
                <a:path w="3111500" h="54610">
                  <a:moveTo>
                    <a:pt x="2592666" y="54000"/>
                  </a:moveTo>
                  <a:lnTo>
                    <a:pt x="2592666" y="0"/>
                  </a:lnTo>
                </a:path>
                <a:path w="3111500" h="54610">
                  <a:moveTo>
                    <a:pt x="3111207" y="54000"/>
                  </a:moveTo>
                  <a:lnTo>
                    <a:pt x="3111207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868485" y="4070248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10" h="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1236181" y="4908156"/>
              <a:ext cx="3293745" cy="0"/>
            </a:xfrm>
            <a:custGeom>
              <a:avLst/>
              <a:gdLst/>
              <a:ahLst/>
              <a:cxnLst/>
              <a:rect l="l" t="t" r="r" b="b"/>
              <a:pathLst>
                <a:path w="3293745" h="0">
                  <a:moveTo>
                    <a:pt x="0" y="0"/>
                  </a:moveTo>
                  <a:lnTo>
                    <a:pt x="3293311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514304" y="488791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89" y="20243"/>
                  </a:lnTo>
                  <a:lnTo>
                    <a:pt x="0" y="40487"/>
                  </a:lnTo>
                  <a:lnTo>
                    <a:pt x="40500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895485" y="3990822"/>
              <a:ext cx="0" cy="917575"/>
            </a:xfrm>
            <a:custGeom>
              <a:avLst/>
              <a:gdLst/>
              <a:ahLst/>
              <a:cxnLst/>
              <a:rect l="l" t="t" r="r" b="b"/>
              <a:pathLst>
                <a:path w="0" h="917575">
                  <a:moveTo>
                    <a:pt x="0" y="917333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875241" y="3965511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0" y="40487"/>
                  </a:lnTo>
                  <a:lnTo>
                    <a:pt x="20243" y="25311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2664852" y="3983751"/>
            <a:ext cx="177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5">
                <a:latin typeface="Calibri"/>
                <a:cs typeface="Calibri"/>
              </a:rPr>
              <a:t>0.4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2376957" y="4225810"/>
            <a:ext cx="1037590" cy="682625"/>
          </a:xfrm>
          <a:custGeom>
            <a:avLst/>
            <a:gdLst/>
            <a:ahLst/>
            <a:cxnLst/>
            <a:rect l="l" t="t" r="r" b="b"/>
            <a:pathLst>
              <a:path w="1037589" h="682625">
                <a:moveTo>
                  <a:pt x="0" y="682345"/>
                </a:moveTo>
                <a:lnTo>
                  <a:pt x="207416" y="682345"/>
                </a:lnTo>
                <a:lnTo>
                  <a:pt x="212598" y="682332"/>
                </a:lnTo>
                <a:lnTo>
                  <a:pt x="217779" y="682332"/>
                </a:lnTo>
                <a:lnTo>
                  <a:pt x="222961" y="682332"/>
                </a:lnTo>
                <a:lnTo>
                  <a:pt x="228155" y="682320"/>
                </a:lnTo>
                <a:lnTo>
                  <a:pt x="233337" y="682320"/>
                </a:lnTo>
                <a:lnTo>
                  <a:pt x="238518" y="682307"/>
                </a:lnTo>
                <a:lnTo>
                  <a:pt x="243713" y="682294"/>
                </a:lnTo>
                <a:lnTo>
                  <a:pt x="248894" y="682269"/>
                </a:lnTo>
                <a:lnTo>
                  <a:pt x="290372" y="681266"/>
                </a:lnTo>
                <a:lnTo>
                  <a:pt x="331863" y="673265"/>
                </a:lnTo>
                <a:lnTo>
                  <a:pt x="362978" y="648373"/>
                </a:lnTo>
                <a:lnTo>
                  <a:pt x="383717" y="610692"/>
                </a:lnTo>
                <a:lnTo>
                  <a:pt x="399262" y="565378"/>
                </a:lnTo>
                <a:lnTo>
                  <a:pt x="409638" y="525437"/>
                </a:lnTo>
                <a:lnTo>
                  <a:pt x="420014" y="477456"/>
                </a:lnTo>
                <a:lnTo>
                  <a:pt x="430377" y="421906"/>
                </a:lnTo>
                <a:lnTo>
                  <a:pt x="440753" y="359994"/>
                </a:lnTo>
                <a:lnTo>
                  <a:pt x="451129" y="293801"/>
                </a:lnTo>
                <a:lnTo>
                  <a:pt x="456311" y="260019"/>
                </a:lnTo>
                <a:lnTo>
                  <a:pt x="461492" y="226364"/>
                </a:lnTo>
                <a:lnTo>
                  <a:pt x="471868" y="161315"/>
                </a:lnTo>
                <a:lnTo>
                  <a:pt x="482231" y="102692"/>
                </a:lnTo>
                <a:lnTo>
                  <a:pt x="492607" y="54444"/>
                </a:lnTo>
                <a:lnTo>
                  <a:pt x="508165" y="8915"/>
                </a:lnTo>
                <a:lnTo>
                  <a:pt x="518528" y="0"/>
                </a:lnTo>
                <a:lnTo>
                  <a:pt x="523722" y="2159"/>
                </a:lnTo>
                <a:lnTo>
                  <a:pt x="544461" y="54444"/>
                </a:lnTo>
                <a:lnTo>
                  <a:pt x="554824" y="102692"/>
                </a:lnTo>
                <a:lnTo>
                  <a:pt x="565200" y="161315"/>
                </a:lnTo>
                <a:lnTo>
                  <a:pt x="575564" y="226364"/>
                </a:lnTo>
                <a:lnTo>
                  <a:pt x="585939" y="293801"/>
                </a:lnTo>
                <a:lnTo>
                  <a:pt x="591121" y="327240"/>
                </a:lnTo>
                <a:lnTo>
                  <a:pt x="601497" y="391591"/>
                </a:lnTo>
                <a:lnTo>
                  <a:pt x="611873" y="450557"/>
                </a:lnTo>
                <a:lnTo>
                  <a:pt x="622236" y="502437"/>
                </a:lnTo>
                <a:lnTo>
                  <a:pt x="632612" y="546404"/>
                </a:lnTo>
                <a:lnTo>
                  <a:pt x="648169" y="597369"/>
                </a:lnTo>
                <a:lnTo>
                  <a:pt x="663714" y="632333"/>
                </a:lnTo>
                <a:lnTo>
                  <a:pt x="689648" y="664248"/>
                </a:lnTo>
                <a:lnTo>
                  <a:pt x="725944" y="679043"/>
                </a:lnTo>
                <a:lnTo>
                  <a:pt x="767422" y="682028"/>
                </a:lnTo>
                <a:lnTo>
                  <a:pt x="803732" y="682320"/>
                </a:lnTo>
                <a:lnTo>
                  <a:pt x="808913" y="682320"/>
                </a:lnTo>
                <a:lnTo>
                  <a:pt x="814095" y="682332"/>
                </a:lnTo>
                <a:lnTo>
                  <a:pt x="819277" y="682332"/>
                </a:lnTo>
                <a:lnTo>
                  <a:pt x="824471" y="682332"/>
                </a:lnTo>
                <a:lnTo>
                  <a:pt x="829652" y="682345"/>
                </a:lnTo>
                <a:lnTo>
                  <a:pt x="1031887" y="682345"/>
                </a:lnTo>
                <a:lnTo>
                  <a:pt x="1037069" y="682345"/>
                </a:lnTo>
              </a:path>
            </a:pathLst>
          </a:custGeom>
          <a:ln w="5060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707301" y="4927158"/>
            <a:ext cx="4345940" cy="5511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R="1270">
              <a:lnSpc>
                <a:spcPct val="100000"/>
              </a:lnSpc>
              <a:spcBef>
                <a:spcPts val="110"/>
              </a:spcBef>
              <a:tabLst>
                <a:tab pos="518159" algn="l"/>
                <a:tab pos="1036955" algn="l"/>
                <a:tab pos="2113915" algn="l"/>
                <a:tab pos="2632075" algn="l"/>
                <a:tab pos="3150870" algn="l"/>
              </a:tabLst>
            </a:pPr>
            <a:r>
              <a:rPr dirty="0" sz="850" spc="55">
                <a:latin typeface="Cambria"/>
                <a:cs typeface="Cambria"/>
              </a:rPr>
              <a:t>−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mbria"/>
                <a:cs typeface="Cambria"/>
              </a:rPr>
              <a:t>−</a:t>
            </a:r>
            <a:r>
              <a:rPr dirty="0" sz="850" spc="55">
                <a:latin typeface="Calibri"/>
                <a:cs typeface="Calibri"/>
              </a:rPr>
              <a:t>20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mbria"/>
                <a:cs typeface="Cambria"/>
              </a:rPr>
              <a:t>−</a:t>
            </a:r>
            <a:r>
              <a:rPr dirty="0" sz="850" spc="55">
                <a:latin typeface="Calibri"/>
                <a:cs typeface="Calibri"/>
              </a:rPr>
              <a:t>10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20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30</a:t>
            </a:r>
            <a:endParaRPr sz="850">
              <a:latin typeface="Calibri"/>
              <a:cs typeface="Calibri"/>
            </a:endParaRPr>
          </a:p>
          <a:p>
            <a:pPr marL="12700" marR="5080">
              <a:lnSpc>
                <a:spcPct val="114300"/>
              </a:lnSpc>
              <a:spcBef>
                <a:spcPts val="775"/>
              </a:spcBef>
            </a:pP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less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saturate,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less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slowdown.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01" y="5467186"/>
            <a:ext cx="53403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05038" y="5639513"/>
            <a:ext cx="22904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30810" indent="-118110">
              <a:lnSpc>
                <a:spcPct val="100000"/>
              </a:lnSpc>
              <a:spcBef>
                <a:spcPts val="110"/>
              </a:spcBef>
              <a:buFont typeface="Cambria"/>
              <a:buChar char="•"/>
              <a:tabLst>
                <a:tab pos="130810" algn="l"/>
                <a:tab pos="2199005" algn="l"/>
              </a:tabLst>
            </a:pPr>
            <a:r>
              <a:rPr dirty="0" sz="850">
                <a:latin typeface="Calibri"/>
                <a:cs typeface="Calibri"/>
              </a:rPr>
              <a:t>Verify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standard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deviation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018890" y="5709936"/>
            <a:ext cx="3378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3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924771" y="5545990"/>
            <a:ext cx="194881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824989" algn="l"/>
              </a:tabLst>
            </a:pPr>
            <a:r>
              <a:rPr dirty="0" sz="850" spc="250">
                <a:latin typeface="Arial MT"/>
                <a:cs typeface="Arial MT"/>
              </a:rPr>
              <a:t>P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baseline="3267" sz="1275" spc="862">
                <a:latin typeface="Arial MT"/>
                <a:cs typeface="Arial MT"/>
              </a:rPr>
              <a:t>,</a:t>
            </a:r>
            <a:endParaRPr baseline="3267" sz="1275">
              <a:latin typeface="Arial MT"/>
              <a:cs typeface="Arial MT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860772" y="5660631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 h="0">
                <a:moveTo>
                  <a:pt x="0" y="0"/>
                </a:moveTo>
                <a:lnTo>
                  <a:pt x="176872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3219411" y="5639514"/>
            <a:ext cx="18611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640839" algn="l"/>
              </a:tabLst>
            </a:pP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36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paragraph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3</a:t>
            </a:r>
            <a:r>
              <a:rPr dirty="0" sz="850" spc="55" i="1">
                <a:latin typeface="Times New Roman"/>
                <a:cs typeface="Times New Roman"/>
              </a:rPr>
              <a:t>/</a:t>
            </a:r>
            <a:r>
              <a:rPr dirty="0" sz="850" spc="55">
                <a:latin typeface="Calibri"/>
                <a:cs typeface="Calibri"/>
              </a:rPr>
              <a:t>2.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03148" y="5770684"/>
            <a:ext cx="4377055" cy="22459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32740" marR="32384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that: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(a)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independent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random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variables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variances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individual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variables;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(b)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variance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square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standard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deviation.</a:t>
            </a:r>
            <a:endParaRPr sz="850">
              <a:latin typeface="Calibri"/>
              <a:cs typeface="Calibri"/>
            </a:endParaRPr>
          </a:p>
          <a:p>
            <a:pPr algn="just" marL="12700" marR="5080" indent="3810">
              <a:lnSpc>
                <a:spcPct val="114300"/>
              </a:lnSpc>
            </a:pP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stated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continue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before,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Gaussian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random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deviation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okay,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doesn’t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provided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saturation.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go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far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>
                <a:latin typeface="Calibri"/>
                <a:cs typeface="Calibri"/>
              </a:rPr>
              <a:t> to </a:t>
            </a:r>
            <a:r>
              <a:rPr dirty="0" sz="850" spc="10">
                <a:latin typeface="Calibri"/>
                <a:cs typeface="Calibri"/>
              </a:rPr>
              <a:t>initialize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>
                <a:latin typeface="Calibri"/>
                <a:cs typeface="Calibri"/>
              </a:rPr>
              <a:t> the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>
                <a:latin typeface="Calibri"/>
                <a:cs typeface="Calibri"/>
              </a:rPr>
              <a:t> to </a:t>
            </a:r>
            <a:r>
              <a:rPr dirty="0" sz="850" spc="10">
                <a:latin typeface="Calibri"/>
                <a:cs typeface="Calibri"/>
              </a:rPr>
              <a:t>0,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rely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>
                <a:latin typeface="Calibri"/>
                <a:cs typeface="Calibri"/>
              </a:rPr>
              <a:t> descent to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appropriate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biases.</a:t>
            </a:r>
            <a:r>
              <a:rPr dirty="0" sz="850" spc="20">
                <a:latin typeface="Calibri"/>
                <a:cs typeface="Calibri"/>
              </a:rPr>
              <a:t> But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since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unlikely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difference,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continue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initialization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procedure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before.</a:t>
            </a:r>
            <a:endParaRPr sz="850">
              <a:latin typeface="Calibri"/>
              <a:cs typeface="Calibri"/>
            </a:endParaRPr>
          </a:p>
          <a:p>
            <a:pPr algn="just" marL="16510" marR="9525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old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initialization,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task.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</a:t>
            </a:r>
            <a:r>
              <a:rPr dirty="0" sz="850" spc="-10">
                <a:latin typeface="Calibri"/>
                <a:cs typeface="Calibri"/>
              </a:rPr>
              <a:t>batch</a:t>
            </a:r>
            <a:r>
              <a:rPr dirty="0" sz="850" spc="20">
                <a:latin typeface="Calibri"/>
                <a:cs typeface="Calibri"/>
              </a:rPr>
              <a:t> size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10,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parameter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-10" i="1">
                <a:latin typeface="Times New Roman"/>
                <a:cs typeface="Times New Roman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60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5.0,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</a:t>
            </a:r>
            <a:r>
              <a:rPr dirty="0" sz="850" spc="20">
                <a:latin typeface="Calibri"/>
                <a:cs typeface="Calibri"/>
              </a:rPr>
              <a:t>entropy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slightly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0.5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0.1,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little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visible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initialization: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32" name="object 32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56042"/>
                  </a:ln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2"/>
                  </a:move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093057" y="368721"/>
            <a:ext cx="152717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391920" algn="l"/>
              </a:tabLst>
            </a:pPr>
            <a:r>
              <a:rPr dirty="0" sz="850">
                <a:latin typeface="Calibri"/>
                <a:cs typeface="Calibri"/>
              </a:rPr>
              <a:t>3.3.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initialization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97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9510" y="1012101"/>
            <a:ext cx="4401185" cy="100266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mnist_loader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 </a:t>
            </a:r>
            <a:r>
              <a:rPr dirty="0" sz="700" spc="100">
                <a:latin typeface="Calibri"/>
                <a:cs typeface="Calibri"/>
              </a:rPr>
              <a:t>mnist_loader.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load_data_wrapper()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network2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10],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cost=network2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CrossEntropyCost)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net.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large_weight_initializer()</a:t>
            </a:r>
            <a:endParaRPr sz="700">
              <a:latin typeface="Calibri"/>
              <a:cs typeface="Calibri"/>
            </a:endParaRPr>
          </a:p>
          <a:p>
            <a:pPr marL="299085" marR="636270" indent="-253365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0.1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lmbda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5.0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 </a:t>
            </a:r>
            <a:r>
              <a:rPr dirty="0" sz="700" spc="85">
                <a:latin typeface="Calibri"/>
                <a:cs typeface="Calibri"/>
              </a:rPr>
              <a:t>evaluation_data=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monitor_evaluation_accuracy=True)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9750" y="2174136"/>
            <a:ext cx="4376420" cy="4654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just" marL="19685" marR="5080" indent="-7620">
              <a:lnSpc>
                <a:spcPct val="108600"/>
              </a:lnSpc>
              <a:spcBef>
                <a:spcPts val="114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initialization.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easier,</a:t>
            </a:r>
            <a:r>
              <a:rPr dirty="0" sz="850" spc="30">
                <a:latin typeface="Calibri"/>
                <a:cs typeface="Calibri"/>
              </a:rPr>
              <a:t> since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network2</a:t>
            </a:r>
            <a:r>
              <a:rPr dirty="0" sz="850" spc="30">
                <a:latin typeface="Calibri"/>
                <a:cs typeface="Calibri"/>
              </a:rPr>
              <a:t>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default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way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initializing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weights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new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approach.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omit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900" spc="114">
                <a:latin typeface="Calibri"/>
                <a:cs typeface="Calibri"/>
              </a:rPr>
              <a:t>net.large_weight_initializer()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above: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39510" y="2828213"/>
            <a:ext cx="4401185" cy="54165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10],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cost=network2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CrossEntropyCost)</a:t>
            </a:r>
            <a:endParaRPr sz="700">
              <a:latin typeface="Calibri"/>
              <a:cs typeface="Calibri"/>
            </a:endParaRPr>
          </a:p>
          <a:p>
            <a:pPr marL="299085" marR="688975" indent="-253365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0.1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lmbda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5.0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evaluation_data=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70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monitor_evaluation_accuracy=True)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41896" y="3541499"/>
            <a:ext cx="16294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Plotting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23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obtain: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47783" y="4170204"/>
            <a:ext cx="2190786" cy="1834876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1053628" y="6334208"/>
            <a:ext cx="4362450" cy="1209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333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96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almost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initialization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brings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faster.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old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classification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accuracy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87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already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almost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93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appears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regime,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get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phenomenon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">
                <a:latin typeface="Calibri"/>
                <a:cs typeface="Calibri"/>
              </a:rPr>
              <a:t> 100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079996" y="785681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1129436" y="7868144"/>
            <a:ext cx="38804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30303" sz="825" spc="75">
                <a:latin typeface="Calibri"/>
                <a:cs typeface="Calibri"/>
              </a:rPr>
              <a:t>23</a:t>
            </a:r>
            <a:r>
              <a:rPr dirty="0" sz="750" spc="50">
                <a:latin typeface="Calibri"/>
                <a:cs typeface="Calibri"/>
              </a:rPr>
              <a:t>The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program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generate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next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graph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800" spc="85">
                <a:latin typeface="Calibri"/>
                <a:cs typeface="Calibri"/>
              </a:rPr>
              <a:t>weight_initialization.py</a:t>
            </a:r>
            <a:r>
              <a:rPr dirty="0" sz="750" spc="85">
                <a:latin typeface="Calibri"/>
                <a:cs typeface="Calibri"/>
              </a:rPr>
              <a:t>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12" name="object 12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4181" y="368721"/>
            <a:ext cx="229933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07975" algn="l"/>
              </a:tabLst>
            </a:pPr>
            <a:r>
              <a:rPr dirty="0" sz="850" spc="25">
                <a:latin typeface="Calibri"/>
                <a:cs typeface="Calibri"/>
              </a:rPr>
              <a:t>98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19494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94144" y="1047109"/>
            <a:ext cx="2158943" cy="1783907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1647507" y="3823068"/>
            <a:ext cx="132080" cy="0"/>
          </a:xfrm>
          <a:custGeom>
            <a:avLst/>
            <a:gdLst/>
            <a:ahLst/>
            <a:cxnLst/>
            <a:rect l="l" t="t" r="r" b="b"/>
            <a:pathLst>
              <a:path w="132080" h="0">
                <a:moveTo>
                  <a:pt x="0" y="0"/>
                </a:moveTo>
                <a:lnTo>
                  <a:pt x="13164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339024" y="4126509"/>
            <a:ext cx="132080" cy="0"/>
          </a:xfrm>
          <a:custGeom>
            <a:avLst/>
            <a:gdLst/>
            <a:ahLst/>
            <a:cxnLst/>
            <a:rect l="l" t="t" r="r" b="b"/>
            <a:pathLst>
              <a:path w="132080" h="0">
                <a:moveTo>
                  <a:pt x="0" y="0"/>
                </a:moveTo>
                <a:lnTo>
                  <a:pt x="13164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3852379" y="4422584"/>
            <a:ext cx="132080" cy="0"/>
          </a:xfrm>
          <a:custGeom>
            <a:avLst/>
            <a:gdLst/>
            <a:ahLst/>
            <a:cxnLst/>
            <a:rect l="l" t="t" r="r" b="b"/>
            <a:pathLst>
              <a:path w="132079" h="0">
                <a:moveTo>
                  <a:pt x="0" y="0"/>
                </a:moveTo>
                <a:lnTo>
                  <a:pt x="13164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2314714" y="6087567"/>
            <a:ext cx="132080" cy="0"/>
          </a:xfrm>
          <a:custGeom>
            <a:avLst/>
            <a:gdLst/>
            <a:ahLst/>
            <a:cxnLst/>
            <a:rect l="l" t="t" r="r" b="b"/>
            <a:pathLst>
              <a:path w="132080" h="0">
                <a:moveTo>
                  <a:pt x="0" y="0"/>
                </a:moveTo>
                <a:lnTo>
                  <a:pt x="13164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720001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562357" y="3014479"/>
            <a:ext cx="4657725" cy="49999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52400" marR="144780" indent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curves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meet.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just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shown)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accuracies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almost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same.</a:t>
            </a:r>
            <a:r>
              <a:rPr dirty="0" sz="850" spc="55">
                <a:latin typeface="Calibri"/>
                <a:cs typeface="Calibri"/>
              </a:rPr>
              <a:t> 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initialization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4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long-run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significantly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50">
                <a:latin typeface="Calibri"/>
                <a:cs typeface="Calibri"/>
              </a:rPr>
              <a:t>1</a:t>
            </a:r>
            <a:r>
              <a:rPr dirty="0" sz="850" spc="150" i="1">
                <a:latin typeface="Times New Roman"/>
                <a:cs typeface="Times New Roman"/>
              </a:rPr>
              <a:t>/</a:t>
            </a:r>
            <a:r>
              <a:rPr dirty="0" baseline="35947" sz="1275" spc="225">
                <a:latin typeface="Cambria"/>
                <a:cs typeface="Cambria"/>
              </a:rPr>
              <a:t>,</a:t>
            </a:r>
            <a:r>
              <a:rPr dirty="0" sz="850" spc="150" i="1">
                <a:latin typeface="Calibri"/>
                <a:cs typeface="Calibri"/>
              </a:rPr>
              <a:t>n</a:t>
            </a:r>
            <a:r>
              <a:rPr dirty="0" baseline="-20202" sz="825" spc="225">
                <a:latin typeface="Calibri"/>
                <a:cs typeface="Calibri"/>
              </a:rPr>
              <a:t>in</a:t>
            </a:r>
            <a:r>
              <a:rPr dirty="0" baseline="-20202" sz="825" spc="277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initialization.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Thus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improved,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performance.</a:t>
            </a:r>
            <a:endParaRPr sz="850">
              <a:latin typeface="Calibri"/>
              <a:cs typeface="Calibri"/>
            </a:endParaRPr>
          </a:p>
          <a:p>
            <a:pPr algn="just" marL="157480" marR="168910" indent="189230">
              <a:lnSpc>
                <a:spcPct val="114900"/>
              </a:lnSpc>
              <a:spcBef>
                <a:spcPts val="5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50">
                <a:latin typeface="Calibri"/>
                <a:cs typeface="Calibri"/>
              </a:rPr>
              <a:t>1</a:t>
            </a:r>
            <a:r>
              <a:rPr dirty="0" sz="850" spc="150" i="1">
                <a:latin typeface="Times New Roman"/>
                <a:cs typeface="Times New Roman"/>
              </a:rPr>
              <a:t>/</a:t>
            </a:r>
            <a:r>
              <a:rPr dirty="0" baseline="35947" sz="1275" spc="225">
                <a:latin typeface="Cambria"/>
                <a:cs typeface="Cambria"/>
              </a:rPr>
              <a:t>,</a:t>
            </a:r>
            <a:r>
              <a:rPr dirty="0" sz="850" spc="150" i="1">
                <a:latin typeface="Calibri"/>
                <a:cs typeface="Calibri"/>
              </a:rPr>
              <a:t>n</a:t>
            </a:r>
            <a:r>
              <a:rPr dirty="0" baseline="-20202" sz="825" spc="225">
                <a:latin typeface="Calibri"/>
                <a:cs typeface="Calibri"/>
              </a:rPr>
              <a:t>in</a:t>
            </a:r>
            <a:r>
              <a:rPr dirty="0" baseline="-20202" sz="825" spc="419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proposed,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basic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review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approaches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50">
                <a:latin typeface="Calibri"/>
                <a:cs typeface="Calibri"/>
              </a:rPr>
              <a:t>1</a:t>
            </a:r>
            <a:r>
              <a:rPr dirty="0" sz="850" spc="150" i="1">
                <a:latin typeface="Times New Roman"/>
                <a:cs typeface="Times New Roman"/>
              </a:rPr>
              <a:t>/</a:t>
            </a:r>
            <a:r>
              <a:rPr dirty="0" baseline="35947" sz="1275" spc="225">
                <a:latin typeface="Cambria"/>
                <a:cs typeface="Cambria"/>
              </a:rPr>
              <a:t>,</a:t>
            </a:r>
            <a:r>
              <a:rPr dirty="0" sz="850" spc="150" i="1">
                <a:latin typeface="Calibri"/>
                <a:cs typeface="Calibri"/>
              </a:rPr>
              <a:t>n</a:t>
            </a:r>
            <a:r>
              <a:rPr dirty="0" baseline="-20202" sz="825" spc="225">
                <a:latin typeface="Calibri"/>
                <a:cs typeface="Calibri"/>
              </a:rPr>
              <a:t>in</a:t>
            </a:r>
            <a:r>
              <a:rPr dirty="0" baseline="-20202" sz="825" spc="29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purposes.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interested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recommend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discussion</a:t>
            </a:r>
            <a:r>
              <a:rPr dirty="0" sz="850" spc="20">
                <a:latin typeface="Calibri"/>
                <a:cs typeface="Calibri"/>
              </a:rPr>
              <a:t> 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pages</a:t>
            </a:r>
            <a:r>
              <a:rPr dirty="0" sz="850" spc="50">
                <a:latin typeface="Calibri"/>
                <a:cs typeface="Calibri"/>
              </a:rPr>
              <a:t> 14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50">
                <a:latin typeface="Calibri"/>
                <a:cs typeface="Calibri"/>
              </a:rPr>
              <a:t> 15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2012 </a:t>
            </a:r>
            <a:r>
              <a:rPr dirty="0" sz="850" spc="20">
                <a:latin typeface="Calibri"/>
                <a:cs typeface="Calibri"/>
              </a:rPr>
              <a:t>paper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Yoshua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Bengio</a:t>
            </a:r>
            <a:r>
              <a:rPr dirty="0" baseline="35353" sz="825" spc="30">
                <a:latin typeface="Calibri"/>
                <a:cs typeface="Calibri"/>
                <a:hlinkClick r:id="rId3" action="ppaction://hlinksldjump"/>
              </a:rPr>
              <a:t>24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references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therein.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  <a:p>
            <a:pPr algn="just" marL="473709" marR="145415" indent="-118745">
              <a:lnSpc>
                <a:spcPct val="114300"/>
              </a:lnSpc>
              <a:spcBef>
                <a:spcPts val="15"/>
              </a:spcBef>
              <a:buFont typeface="Cambria"/>
              <a:buChar char="•"/>
              <a:tabLst>
                <a:tab pos="473709" algn="l"/>
              </a:tabLst>
            </a:pPr>
            <a:r>
              <a:rPr dirty="0" sz="850" spc="55" b="1">
                <a:latin typeface="Calibri"/>
                <a:cs typeface="Calibri"/>
              </a:rPr>
              <a:t>Connecting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40" b="1">
                <a:latin typeface="Calibri"/>
                <a:cs typeface="Calibri"/>
              </a:rPr>
              <a:t>regularization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and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40" b="1">
                <a:latin typeface="Calibri"/>
                <a:cs typeface="Calibri"/>
              </a:rPr>
              <a:t>the</a:t>
            </a:r>
            <a:r>
              <a:rPr dirty="0" sz="850" spc="8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improved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40" b="1">
                <a:latin typeface="Calibri"/>
                <a:cs typeface="Calibri"/>
              </a:rPr>
              <a:t>method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40" b="1">
                <a:latin typeface="Calibri"/>
                <a:cs typeface="Calibri"/>
              </a:rPr>
              <a:t>of</a:t>
            </a:r>
            <a:r>
              <a:rPr dirty="0" sz="850" spc="85" b="1">
                <a:latin typeface="Calibri"/>
                <a:cs typeface="Calibri"/>
              </a:rPr>
              <a:t> </a:t>
            </a:r>
            <a:r>
              <a:rPr dirty="0" sz="850" spc="40" b="1">
                <a:latin typeface="Calibri"/>
                <a:cs typeface="Calibri"/>
              </a:rPr>
              <a:t>weight</a:t>
            </a:r>
            <a:r>
              <a:rPr dirty="0" sz="850" spc="80" b="1">
                <a:latin typeface="Calibri"/>
                <a:cs typeface="Calibri"/>
              </a:rPr>
              <a:t> </a:t>
            </a:r>
            <a:r>
              <a:rPr dirty="0" sz="850" spc="40" b="1">
                <a:latin typeface="Calibri"/>
                <a:cs typeface="Calibri"/>
              </a:rPr>
              <a:t>initialization</a:t>
            </a:r>
            <a:r>
              <a:rPr dirty="0" sz="850" spc="70" b="1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L2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20">
                <a:latin typeface="Calibri"/>
                <a:cs typeface="Calibri"/>
              </a:rPr>
              <a:t> sometimes</a:t>
            </a:r>
            <a:r>
              <a:rPr dirty="0" sz="850" spc="20">
                <a:latin typeface="Calibri"/>
                <a:cs typeface="Calibri"/>
              </a:rPr>
              <a:t> automatically</a:t>
            </a:r>
            <a:r>
              <a:rPr dirty="0" sz="850" spc="20">
                <a:latin typeface="Calibri"/>
                <a:cs typeface="Calibri"/>
              </a:rPr>
              <a:t> gives</a:t>
            </a:r>
            <a:r>
              <a:rPr dirty="0" sz="850" spc="20">
                <a:latin typeface="Calibri"/>
                <a:cs typeface="Calibri"/>
              </a:rPr>
              <a:t> us</a:t>
            </a:r>
            <a:r>
              <a:rPr dirty="0" sz="850" spc="20">
                <a:latin typeface="Calibri"/>
                <a:cs typeface="Calibri"/>
              </a:rPr>
              <a:t> something</a:t>
            </a:r>
            <a:r>
              <a:rPr dirty="0" sz="850" spc="20">
                <a:latin typeface="Calibri"/>
                <a:cs typeface="Calibri"/>
              </a:rPr>
              <a:t> similar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20">
                <a:latin typeface="Calibri"/>
                <a:cs typeface="Calibri"/>
              </a:rPr>
              <a:t> new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ap-</a:t>
            </a:r>
            <a:r>
              <a:rPr dirty="0" sz="850" spc="10">
                <a:latin typeface="Calibri"/>
                <a:cs typeface="Calibri"/>
              </a:rPr>
              <a:t>proach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initialization.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old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initialization.</a:t>
            </a:r>
            <a:r>
              <a:rPr dirty="0" sz="850" spc="4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Sketch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that: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(1)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small,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dominated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almost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entirely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decay;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(2) </a:t>
            </a:r>
            <a:r>
              <a:rPr dirty="0" sz="850" spc="10">
                <a:latin typeface="Calibri"/>
                <a:cs typeface="Calibri"/>
              </a:rPr>
              <a:t>provided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60" i="1">
                <a:latin typeface="Times New Roman"/>
                <a:cs typeface="Times New Roman"/>
              </a:rPr>
              <a:t>ηλ</a:t>
            </a:r>
            <a:r>
              <a:rPr dirty="0" sz="850" spc="40" i="1">
                <a:latin typeface="Times New Roman"/>
                <a:cs typeface="Times New Roman"/>
              </a:rPr>
              <a:t> </a:t>
            </a:r>
            <a:r>
              <a:rPr dirty="0" sz="850" spc="490">
                <a:latin typeface="Cambria"/>
                <a:cs typeface="Cambria"/>
              </a:rPr>
              <a:t>⧛</a:t>
            </a:r>
            <a:r>
              <a:rPr dirty="0" sz="850" spc="85">
                <a:latin typeface="Cambria"/>
                <a:cs typeface="Cambria"/>
              </a:rPr>
              <a:t> </a:t>
            </a:r>
            <a:r>
              <a:rPr dirty="0" sz="850" spc="10" i="1">
                <a:latin typeface="Calibri"/>
                <a:cs typeface="Calibri"/>
              </a:rPr>
              <a:t>n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80">
                <a:latin typeface="Calibri"/>
                <a:cs typeface="Calibri"/>
              </a:rPr>
              <a:t>exp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>
                <a:latin typeface="Cambria"/>
                <a:cs typeface="Cambria"/>
              </a:rPr>
              <a:t>−</a:t>
            </a:r>
            <a:r>
              <a:rPr dirty="0" sz="850" spc="80" i="1">
                <a:latin typeface="Times New Roman"/>
                <a:cs typeface="Times New Roman"/>
              </a:rPr>
              <a:t>ηλ/</a:t>
            </a:r>
            <a:r>
              <a:rPr dirty="0" sz="850" spc="80" i="1">
                <a:latin typeface="Calibri"/>
                <a:cs typeface="Calibri"/>
              </a:rPr>
              <a:t>m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per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epoch;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endParaRPr sz="850">
              <a:latin typeface="Calibri"/>
              <a:cs typeface="Calibri"/>
            </a:endParaRPr>
          </a:p>
          <a:p>
            <a:pPr algn="just" marL="468630" marR="144780" indent="-8890">
              <a:lnSpc>
                <a:spcPct val="114300"/>
              </a:lnSpc>
            </a:pPr>
            <a:r>
              <a:rPr dirty="0" sz="850" spc="85">
                <a:latin typeface="Calibri"/>
                <a:cs typeface="Calibri"/>
              </a:rPr>
              <a:t>(3)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9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tail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around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40">
                <a:latin typeface="Calibri"/>
                <a:cs typeface="Calibri"/>
              </a:rPr>
              <a:t>1</a:t>
            </a:r>
            <a:r>
              <a:rPr dirty="0" sz="850" spc="140" i="1">
                <a:latin typeface="Times New Roman"/>
                <a:cs typeface="Times New Roman"/>
              </a:rPr>
              <a:t>/</a:t>
            </a:r>
            <a:r>
              <a:rPr dirty="0" baseline="35947" sz="1275" spc="209">
                <a:latin typeface="Cambria"/>
                <a:cs typeface="Cambria"/>
              </a:rPr>
              <a:t>,</a:t>
            </a:r>
            <a:r>
              <a:rPr dirty="0" sz="850" spc="140" i="1">
                <a:latin typeface="Calibri"/>
                <a:cs typeface="Calibri"/>
              </a:rPr>
              <a:t>n</a:t>
            </a:r>
            <a:r>
              <a:rPr dirty="0" baseline="-20202" sz="825" spc="209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total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conditions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satisfied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section.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50">
              <a:latin typeface="Calibri"/>
              <a:cs typeface="Calibri"/>
            </a:endParaRPr>
          </a:p>
          <a:p>
            <a:pPr marL="157480">
              <a:lnSpc>
                <a:spcPct val="100000"/>
              </a:lnSpc>
              <a:tabLst>
                <a:tab pos="484505" algn="l"/>
              </a:tabLst>
            </a:pPr>
            <a:r>
              <a:rPr dirty="0" sz="1050" spc="30" b="1">
                <a:latin typeface="Calibri"/>
                <a:cs typeface="Calibri"/>
              </a:rPr>
              <a:t>3.4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60" b="1">
                <a:latin typeface="Calibri"/>
                <a:cs typeface="Calibri"/>
              </a:rPr>
              <a:t>Handwriting</a:t>
            </a:r>
            <a:r>
              <a:rPr dirty="0" sz="1050" spc="18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recognition</a:t>
            </a:r>
            <a:r>
              <a:rPr dirty="0" sz="1050" spc="185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revisited:</a:t>
            </a:r>
            <a:r>
              <a:rPr dirty="0" sz="1050" spc="320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the</a:t>
            </a:r>
            <a:r>
              <a:rPr dirty="0" sz="1050" spc="185" b="1">
                <a:latin typeface="Calibri"/>
                <a:cs typeface="Calibri"/>
              </a:rPr>
              <a:t> </a:t>
            </a:r>
            <a:r>
              <a:rPr dirty="0" sz="1050" spc="-20" b="1">
                <a:latin typeface="Calibri"/>
                <a:cs typeface="Calibri"/>
              </a:rPr>
              <a:t>code</a:t>
            </a:r>
            <a:endParaRPr sz="1050">
              <a:latin typeface="Calibri"/>
              <a:cs typeface="Calibri"/>
            </a:endParaRPr>
          </a:p>
          <a:p>
            <a:pPr algn="just" marL="151765" marR="149225" indent="5080">
              <a:lnSpc>
                <a:spcPct val="111000"/>
              </a:lnSpc>
              <a:spcBef>
                <a:spcPts val="1165"/>
              </a:spcBef>
            </a:pP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program,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network2.py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which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improved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version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program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network.py</a:t>
            </a:r>
            <a:r>
              <a:rPr dirty="0" sz="90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developed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network.py</a:t>
            </a:r>
            <a:r>
              <a:rPr dirty="0" sz="90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helpful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minutes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reading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discussion.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74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code,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understood.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850">
              <a:latin typeface="Calibri"/>
              <a:cs typeface="Calibri"/>
            </a:endParaRPr>
          </a:p>
          <a:p>
            <a:pPr marL="145415" marR="172085" indent="99695">
              <a:lnSpc>
                <a:spcPts val="800"/>
              </a:lnSpc>
              <a:spcBef>
                <a:spcPts val="5"/>
              </a:spcBef>
            </a:pPr>
            <a:r>
              <a:rPr dirty="0" baseline="30303" sz="825" spc="30">
                <a:latin typeface="Calibri"/>
                <a:cs typeface="Calibri"/>
              </a:rPr>
              <a:t>24</a:t>
            </a:r>
            <a:r>
              <a:rPr dirty="0" sz="750" spc="20">
                <a:latin typeface="Calibri"/>
                <a:cs typeface="Calibri"/>
                <a:hlinkClick r:id="rId4"/>
              </a:rPr>
              <a:t>Practical</a:t>
            </a:r>
            <a:r>
              <a:rPr dirty="0" sz="750" spc="11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Recommendations</a:t>
            </a:r>
            <a:r>
              <a:rPr dirty="0" sz="750" spc="10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for</a:t>
            </a:r>
            <a:r>
              <a:rPr dirty="0" sz="750" spc="11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Gradient-Based</a:t>
            </a:r>
            <a:r>
              <a:rPr dirty="0" sz="750" spc="10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Training</a:t>
            </a:r>
            <a:r>
              <a:rPr dirty="0" sz="750" spc="11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of</a:t>
            </a:r>
            <a:r>
              <a:rPr dirty="0" sz="750" spc="11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Deep</a:t>
            </a:r>
            <a:r>
              <a:rPr dirty="0" sz="750" spc="10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Architectures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Yoshua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Bengio</a:t>
            </a:r>
            <a:r>
              <a:rPr dirty="0" sz="750" spc="45">
                <a:latin typeface="Calibri"/>
                <a:cs typeface="Calibri"/>
              </a:rPr>
              <a:t> (2012).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11" name="object 11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6" y="368721"/>
            <a:ext cx="4559300" cy="11626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917064">
              <a:lnSpc>
                <a:spcPts val="525"/>
              </a:lnSpc>
              <a:spcBef>
                <a:spcPts val="110"/>
              </a:spcBef>
              <a:tabLst>
                <a:tab pos="4424045" algn="l"/>
              </a:tabLst>
            </a:pPr>
            <a:r>
              <a:rPr dirty="0" sz="850" spc="20">
                <a:latin typeface="Calibri"/>
                <a:cs typeface="Calibri"/>
              </a:rPr>
              <a:t>3.4.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Handwriting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revisited: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code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99</a:t>
            </a:r>
            <a:endParaRPr sz="850">
              <a:latin typeface="Calibri"/>
              <a:cs typeface="Calibri"/>
            </a:endParaRPr>
          </a:p>
          <a:p>
            <a:pPr algn="r" marR="20256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85"/>
              </a:spcBef>
            </a:pPr>
            <a:endParaRPr sz="850">
              <a:latin typeface="Arial MT"/>
              <a:cs typeface="Arial MT"/>
            </a:endParaRPr>
          </a:p>
          <a:p>
            <a:pPr algn="just" marL="12700" marR="211454" indent="196215">
              <a:lnSpc>
                <a:spcPct val="109500"/>
              </a:lnSpc>
            </a:pPr>
            <a:r>
              <a:rPr dirty="0" sz="850" spc="30">
                <a:latin typeface="Calibri"/>
                <a:cs typeface="Calibri"/>
              </a:rPr>
              <a:t>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case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network.py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star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network2.py</a:t>
            </a:r>
            <a:r>
              <a:rPr dirty="0" sz="90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</a:t>
            </a:r>
            <a:r>
              <a:rPr dirty="0" sz="90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class,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represent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Network</a:t>
            </a:r>
            <a:r>
              <a:rPr dirty="0" sz="90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900" spc="125">
                <a:latin typeface="Calibri"/>
                <a:cs typeface="Calibri"/>
              </a:rPr>
              <a:t>sizes</a:t>
            </a:r>
            <a:r>
              <a:rPr dirty="0" sz="90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defaulting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</a:t>
            </a:r>
            <a:r>
              <a:rPr dirty="0" sz="850" spc="-10">
                <a:latin typeface="Calibri"/>
                <a:cs typeface="Calibri"/>
              </a:rPr>
              <a:t>entropy: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404747" y="1827862"/>
            <a:ext cx="99060" cy="0"/>
          </a:xfrm>
          <a:custGeom>
            <a:avLst/>
            <a:gdLst/>
            <a:ahLst/>
            <a:cxnLst/>
            <a:rect l="l" t="t" r="r" b="b"/>
            <a:pathLst>
              <a:path w="99059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719161" y="1827862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39510" y="1588884"/>
            <a:ext cx="4401185" cy="77216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Network(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95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 marL="257810" marR="1645920" indent="-106680">
              <a:lnSpc>
                <a:spcPct val="107900"/>
              </a:lnSpc>
              <a:tabLst>
                <a:tab pos="469900" algn="l"/>
              </a:tabLst>
            </a:pPr>
            <a:r>
              <a:rPr dirty="0" sz="700" spc="55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	</a:t>
            </a:r>
            <a:r>
              <a:rPr dirty="0" sz="700" spc="165">
                <a:latin typeface="Calibri"/>
                <a:cs typeface="Calibri"/>
              </a:rPr>
              <a:t>init</a:t>
            </a:r>
            <a:r>
              <a:rPr dirty="0" sz="700" spc="310">
                <a:latin typeface="Calibri"/>
                <a:cs typeface="Calibri"/>
              </a:rPr>
              <a:t>  </a:t>
            </a:r>
            <a:r>
              <a:rPr dirty="0" sz="700" spc="170">
                <a:latin typeface="Calibri"/>
                <a:cs typeface="Calibri"/>
              </a:rPr>
              <a:t>(self,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sizes,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cost=CrossEntropyCost):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num_layers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30">
                <a:latin typeface="Calibri"/>
                <a:cs typeface="Calibri"/>
              </a:rPr>
              <a:t>(sizes)</a:t>
            </a:r>
            <a:endParaRPr sz="700">
              <a:latin typeface="Calibri"/>
              <a:cs typeface="Calibri"/>
            </a:endParaRPr>
          </a:p>
          <a:p>
            <a:pPr marL="257810" marR="2390775">
              <a:lnSpc>
                <a:spcPct val="107900"/>
              </a:lnSpc>
            </a:pPr>
            <a:r>
              <a:rPr dirty="0" sz="700" spc="155">
                <a:latin typeface="Calibri"/>
                <a:cs typeface="Calibri"/>
              </a:rPr>
              <a:t>self.sizes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sizes</a:t>
            </a:r>
            <a:r>
              <a:rPr dirty="0" sz="700" spc="500">
                <a:latin typeface="Calibri"/>
                <a:cs typeface="Calibri"/>
              </a:rPr>
              <a:t>      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default_weight_initializer() </a:t>
            </a:r>
            <a:r>
              <a:rPr dirty="0" sz="700" spc="120">
                <a:latin typeface="Calibri"/>
                <a:cs typeface="Calibri"/>
              </a:rPr>
              <a:t>self.cost=cost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2380" y="2379307"/>
            <a:ext cx="4353560" cy="136271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17145" marR="5080" indent="-5080">
              <a:lnSpc>
                <a:spcPct val="113399"/>
              </a:lnSpc>
              <a:spcBef>
                <a:spcPts val="80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first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couple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lines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u="sng" sz="850" spc="25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900" spc="170">
                <a:latin typeface="Calibri"/>
                <a:cs typeface="Calibri"/>
              </a:rPr>
              <a:t>init</a:t>
            </a:r>
            <a:r>
              <a:rPr dirty="0" u="sng" sz="900" spc="3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850" spc="30">
                <a:latin typeface="Calibri"/>
                <a:cs typeface="Calibri"/>
              </a:rPr>
              <a:t>method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same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network.py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self-explanatory.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next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detail.</a:t>
            </a:r>
            <a:endParaRPr sz="850">
              <a:latin typeface="Calibri"/>
              <a:cs typeface="Calibri"/>
            </a:endParaRPr>
          </a:p>
          <a:p>
            <a:pPr algn="just" marL="17145" marR="7620" indent="189230">
              <a:lnSpc>
                <a:spcPts val="1170"/>
              </a:lnSpc>
              <a:spcBef>
                <a:spcPts val="65"/>
              </a:spcBef>
            </a:pP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start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900" spc="105">
                <a:latin typeface="Calibri"/>
                <a:cs typeface="Calibri"/>
              </a:rPr>
              <a:t>default_weight_initializer</a:t>
            </a:r>
            <a:r>
              <a:rPr dirty="0" sz="90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method.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initialization.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approach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Gaussian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deviation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divided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square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Gaussian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0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standard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deviation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code: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39510" y="3799509"/>
            <a:ext cx="4401185" cy="54165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25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default_weight_initializer(self):</a:t>
            </a:r>
            <a:endParaRPr sz="700">
              <a:latin typeface="Calibri"/>
              <a:cs typeface="Calibri"/>
            </a:endParaRPr>
          </a:p>
          <a:p>
            <a:pPr marL="151765">
              <a:lnSpc>
                <a:spcPct val="100000"/>
              </a:lnSpc>
              <a:spcBef>
                <a:spcPts val="70"/>
              </a:spcBef>
            </a:pPr>
            <a:r>
              <a:rPr dirty="0" sz="700" spc="140">
                <a:latin typeface="Calibri"/>
                <a:cs typeface="Calibri"/>
              </a:rPr>
              <a:t>self.biases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[np.random.randn(y,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1)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self.sizes[1:]]</a:t>
            </a:r>
            <a:endParaRPr sz="700">
              <a:latin typeface="Calibri"/>
              <a:cs typeface="Calibri"/>
            </a:endParaRPr>
          </a:p>
          <a:p>
            <a:pPr marL="297815" marR="266065" indent="-146050">
              <a:lnSpc>
                <a:spcPct val="107900"/>
              </a:lnSpc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weights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[np.random.randn(y,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x)/np.sqrt(x)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5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5">
                <a:latin typeface="Calibri"/>
                <a:cs typeface="Calibri"/>
              </a:rPr>
              <a:t>(self.sizes </a:t>
            </a:r>
            <a:r>
              <a:rPr dirty="0" sz="700" spc="200">
                <a:latin typeface="Calibri"/>
                <a:cs typeface="Calibri"/>
              </a:rPr>
              <a:t>[:-</a:t>
            </a:r>
            <a:r>
              <a:rPr dirty="0" sz="700" spc="150">
                <a:latin typeface="Calibri"/>
                <a:cs typeface="Calibri"/>
              </a:rPr>
              <a:t>1],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self.sizes[1:])]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2380" y="4359635"/>
            <a:ext cx="4354830" cy="1363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7145" marR="5080" indent="-5080">
              <a:lnSpc>
                <a:spcPct val="111800"/>
              </a:lnSpc>
              <a:spcBef>
                <a:spcPts val="100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np</a:t>
            </a:r>
            <a:r>
              <a:rPr dirty="0" sz="90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Numpy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library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linear</a:t>
            </a:r>
            <a:r>
              <a:rPr dirty="0" sz="850" spc="20">
                <a:latin typeface="Calibri"/>
                <a:cs typeface="Calibri"/>
              </a:rPr>
              <a:t> algebra.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import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Numpy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beginning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notice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first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thing</a:t>
            </a:r>
            <a:r>
              <a:rPr dirty="0" sz="850" spc="30">
                <a:latin typeface="Calibri"/>
                <a:cs typeface="Calibri"/>
              </a:rPr>
              <a:t> 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network.py</a:t>
            </a:r>
            <a:r>
              <a:rPr dirty="0" sz="850" spc="30">
                <a:latin typeface="Calibri"/>
                <a:cs typeface="Calibri"/>
              </a:rPr>
              <a:t>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Complementing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900" spc="105">
                <a:latin typeface="Calibri"/>
                <a:cs typeface="Calibri"/>
              </a:rPr>
              <a:t>default_weight_initializer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also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include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900" spc="110">
                <a:latin typeface="Calibri"/>
                <a:cs typeface="Calibri"/>
              </a:rPr>
              <a:t>large_weight_initializer</a:t>
            </a:r>
            <a:r>
              <a:rPr dirty="0" sz="90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old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Chapter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both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initialized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Gaussian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random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standard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deviation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tiny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900" spc="95">
                <a:latin typeface="Calibri"/>
                <a:cs typeface="Calibri"/>
              </a:rPr>
              <a:t>default_weight_initializer</a:t>
            </a:r>
            <a:r>
              <a:rPr dirty="0" sz="850" spc="95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39510" y="5779300"/>
            <a:ext cx="4401185" cy="54165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25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large_weight_initializer(self):</a:t>
            </a:r>
            <a:endParaRPr sz="700">
              <a:latin typeface="Calibri"/>
              <a:cs typeface="Calibri"/>
            </a:endParaRPr>
          </a:p>
          <a:p>
            <a:pPr marL="151765">
              <a:lnSpc>
                <a:spcPct val="100000"/>
              </a:lnSpc>
              <a:spcBef>
                <a:spcPts val="70"/>
              </a:spcBef>
            </a:pPr>
            <a:r>
              <a:rPr dirty="0" sz="700" spc="140">
                <a:latin typeface="Calibri"/>
                <a:cs typeface="Calibri"/>
              </a:rPr>
              <a:t>self.biases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[np.random.randn(y,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1)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self.sizes[1:]]</a:t>
            </a:r>
            <a:endParaRPr sz="700">
              <a:latin typeface="Calibri"/>
              <a:cs typeface="Calibri"/>
            </a:endParaRPr>
          </a:p>
          <a:p>
            <a:pPr marL="298450" marR="210820" indent="-147320">
              <a:lnSpc>
                <a:spcPct val="107900"/>
              </a:lnSpc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weights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[np.random.randn(y,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x)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65">
                <a:latin typeface="Calibri"/>
                <a:cs typeface="Calibri"/>
              </a:rPr>
              <a:t>(self.sizes[:-</a:t>
            </a:r>
            <a:r>
              <a:rPr dirty="0" sz="700" spc="150">
                <a:latin typeface="Calibri"/>
                <a:cs typeface="Calibri"/>
              </a:rPr>
              <a:t>1],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 </a:t>
            </a:r>
            <a:r>
              <a:rPr dirty="0" sz="700" spc="150">
                <a:latin typeface="Calibri"/>
                <a:cs typeface="Calibri"/>
              </a:rPr>
              <a:t>sizes[1:])]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036980" y="7313015"/>
            <a:ext cx="4406265" cy="158750"/>
          </a:xfrm>
          <a:custGeom>
            <a:avLst/>
            <a:gdLst/>
            <a:ahLst/>
            <a:cxnLst/>
            <a:rect l="l" t="t" r="r" b="b"/>
            <a:pathLst>
              <a:path w="4406265" h="158750">
                <a:moveTo>
                  <a:pt x="2529" y="43014"/>
                </a:moveTo>
                <a:lnTo>
                  <a:pt x="2529" y="0"/>
                </a:lnTo>
              </a:path>
              <a:path w="4406265" h="158750">
                <a:moveTo>
                  <a:pt x="0" y="2527"/>
                </a:moveTo>
                <a:lnTo>
                  <a:pt x="43016" y="2527"/>
                </a:lnTo>
              </a:path>
              <a:path w="4406265" h="158750">
                <a:moveTo>
                  <a:pt x="43016" y="2527"/>
                </a:moveTo>
                <a:lnTo>
                  <a:pt x="4363008" y="2527"/>
                </a:lnTo>
              </a:path>
              <a:path w="4406265" h="158750">
                <a:moveTo>
                  <a:pt x="4363021" y="2527"/>
                </a:moveTo>
                <a:lnTo>
                  <a:pt x="4406036" y="2527"/>
                </a:lnTo>
              </a:path>
              <a:path w="4406265" h="158750">
                <a:moveTo>
                  <a:pt x="4403509" y="43014"/>
                </a:moveTo>
                <a:lnTo>
                  <a:pt x="4403509" y="0"/>
                </a:lnTo>
              </a:path>
              <a:path w="4406265" h="158750">
                <a:moveTo>
                  <a:pt x="2529" y="158151"/>
                </a:moveTo>
                <a:lnTo>
                  <a:pt x="2529" y="43014"/>
                </a:lnTo>
              </a:path>
              <a:path w="4406265" h="158750">
                <a:moveTo>
                  <a:pt x="4403509" y="158151"/>
                </a:moveTo>
                <a:lnTo>
                  <a:pt x="4403509" y="43014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1079996" y="7553162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1016496" y="6339451"/>
            <a:ext cx="4455160" cy="1675764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63500" marR="59055" indent="189230">
              <a:lnSpc>
                <a:spcPct val="113399"/>
              </a:lnSpc>
              <a:spcBef>
                <a:spcPts val="80"/>
              </a:spcBef>
            </a:pP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included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900" spc="110">
                <a:latin typeface="Calibri"/>
                <a:cs typeface="Calibri"/>
              </a:rPr>
              <a:t>large_weight_initializer</a:t>
            </a:r>
            <a:r>
              <a:rPr dirty="0" sz="90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convenience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make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many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practical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situations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recommend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it!</a:t>
            </a:r>
            <a:endParaRPr sz="850">
              <a:latin typeface="Calibri"/>
              <a:cs typeface="Calibri"/>
            </a:endParaRPr>
          </a:p>
          <a:p>
            <a:pPr algn="just" marL="63500" marR="60325" indent="189230">
              <a:lnSpc>
                <a:spcPts val="1170"/>
              </a:lnSpc>
              <a:spcBef>
                <a:spcPts val="6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second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Network</a:t>
            </a:r>
            <a:r>
              <a:rPr dirty="0" sz="850" spc="20">
                <a:latin typeface="Calibri"/>
                <a:cs typeface="Calibri"/>
              </a:rPr>
              <a:t>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u="sng" sz="850" spc="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900" spc="170">
                <a:latin typeface="Calibri"/>
                <a:cs typeface="Calibri"/>
              </a:rPr>
              <a:t>init</a:t>
            </a:r>
            <a:r>
              <a:rPr dirty="0" u="sng" sz="900" spc="3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850" spc="20">
                <a:latin typeface="Calibri"/>
                <a:cs typeface="Calibri"/>
              </a:rPr>
              <a:t>method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attribute.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represent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cost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25</a:t>
            </a:r>
            <a:r>
              <a:rPr dirty="0" sz="850" spc="-1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  <a:p>
            <a:pPr marL="68580">
              <a:lnSpc>
                <a:spcPct val="100000"/>
              </a:lnSpc>
              <a:spcBef>
                <a:spcPts val="735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CrossEntropyCost(</a:t>
            </a:r>
            <a:r>
              <a:rPr dirty="0" sz="700" spc="100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100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0"/>
              </a:spcBef>
            </a:pPr>
            <a:endParaRPr sz="700">
              <a:latin typeface="Calibri"/>
              <a:cs typeface="Calibri"/>
            </a:endParaRPr>
          </a:p>
          <a:p>
            <a:pPr algn="just" marL="57150" marR="43180" indent="92710">
              <a:lnSpc>
                <a:spcPts val="800"/>
              </a:lnSpc>
            </a:pPr>
            <a:r>
              <a:rPr dirty="0" baseline="30303" sz="825" spc="75">
                <a:latin typeface="Calibri"/>
                <a:cs typeface="Calibri"/>
              </a:rPr>
              <a:t>25</a:t>
            </a:r>
            <a:r>
              <a:rPr dirty="0" sz="750" spc="50">
                <a:latin typeface="Calibri"/>
                <a:cs typeface="Calibri"/>
              </a:rPr>
              <a:t>If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you’re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not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familiar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with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Python’s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static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methods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you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can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ignore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800" spc="20">
                <a:latin typeface="Calibri"/>
                <a:cs typeface="Calibri"/>
              </a:rPr>
              <a:t>@staticmethod</a:t>
            </a:r>
            <a:r>
              <a:rPr dirty="0" sz="800" spc="5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decorators,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just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treat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800" spc="75">
                <a:latin typeface="Calibri"/>
                <a:cs typeface="Calibri"/>
              </a:rPr>
              <a:t>fn</a:t>
            </a:r>
            <a:r>
              <a:rPr dirty="0" sz="80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800" spc="80">
                <a:latin typeface="Calibri"/>
                <a:cs typeface="Calibri"/>
              </a:rPr>
              <a:t>delta</a:t>
            </a:r>
            <a:r>
              <a:rPr dirty="0" sz="80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ordinary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methods.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If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you’re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curious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about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details,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all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800" spc="-10">
                <a:latin typeface="Calibri"/>
                <a:cs typeface="Calibri"/>
              </a:rPr>
              <a:t>@staticmethod</a:t>
            </a:r>
            <a:r>
              <a:rPr dirty="0" sz="80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does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tell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Python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interpreter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method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which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follows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doesn’t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depend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object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any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way.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That’s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why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self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isn’t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passed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parameter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800" spc="75">
                <a:latin typeface="Calibri"/>
                <a:cs typeface="Calibri"/>
              </a:rPr>
              <a:t>fn</a:t>
            </a:r>
            <a:r>
              <a:rPr dirty="0" sz="800" spc="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800" spc="80">
                <a:latin typeface="Calibri"/>
                <a:cs typeface="Calibri"/>
              </a:rPr>
              <a:t>delta</a:t>
            </a:r>
            <a:r>
              <a:rPr dirty="0" sz="80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methods.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14" name="object 14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235966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100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9514" y="971994"/>
            <a:ext cx="4401185" cy="690880"/>
          </a:xfrm>
          <a:custGeom>
            <a:avLst/>
            <a:gdLst/>
            <a:ahLst/>
            <a:cxnLst/>
            <a:rect l="l" t="t" r="r" b="b"/>
            <a:pathLst>
              <a:path w="4401185" h="690880">
                <a:moveTo>
                  <a:pt x="0" y="115138"/>
                </a:moveTo>
                <a:lnTo>
                  <a:pt x="0" y="0"/>
                </a:lnTo>
              </a:path>
              <a:path w="4401185" h="690880">
                <a:moveTo>
                  <a:pt x="4400967" y="115138"/>
                </a:moveTo>
                <a:lnTo>
                  <a:pt x="4400967" y="0"/>
                </a:lnTo>
              </a:path>
              <a:path w="4401185" h="690880">
                <a:moveTo>
                  <a:pt x="0" y="230276"/>
                </a:moveTo>
                <a:lnTo>
                  <a:pt x="0" y="115138"/>
                </a:lnTo>
              </a:path>
              <a:path w="4401185" h="690880">
                <a:moveTo>
                  <a:pt x="4400967" y="230276"/>
                </a:moveTo>
                <a:lnTo>
                  <a:pt x="4400967" y="115138"/>
                </a:lnTo>
              </a:path>
              <a:path w="4401185" h="690880">
                <a:moveTo>
                  <a:pt x="0" y="345414"/>
                </a:moveTo>
                <a:lnTo>
                  <a:pt x="0" y="230276"/>
                </a:lnTo>
              </a:path>
              <a:path w="4401185" h="690880">
                <a:moveTo>
                  <a:pt x="4400967" y="345414"/>
                </a:moveTo>
                <a:lnTo>
                  <a:pt x="4400967" y="230276"/>
                </a:lnTo>
              </a:path>
              <a:path w="4401185" h="690880">
                <a:moveTo>
                  <a:pt x="0" y="460552"/>
                </a:moveTo>
                <a:lnTo>
                  <a:pt x="0" y="345414"/>
                </a:lnTo>
              </a:path>
              <a:path w="4401185" h="690880">
                <a:moveTo>
                  <a:pt x="4400967" y="460552"/>
                </a:moveTo>
                <a:lnTo>
                  <a:pt x="4400967" y="345414"/>
                </a:lnTo>
              </a:path>
              <a:path w="4401185" h="690880">
                <a:moveTo>
                  <a:pt x="0" y="575691"/>
                </a:moveTo>
                <a:lnTo>
                  <a:pt x="0" y="460552"/>
                </a:lnTo>
              </a:path>
              <a:path w="4401185" h="690880">
                <a:moveTo>
                  <a:pt x="4400967" y="575691"/>
                </a:moveTo>
                <a:lnTo>
                  <a:pt x="4400967" y="460552"/>
                </a:lnTo>
              </a:path>
              <a:path w="4401185" h="690880">
                <a:moveTo>
                  <a:pt x="0" y="690829"/>
                </a:moveTo>
                <a:lnTo>
                  <a:pt x="0" y="575691"/>
                </a:lnTo>
              </a:path>
              <a:path w="4401185" h="690880">
                <a:moveTo>
                  <a:pt x="4400967" y="690829"/>
                </a:moveTo>
                <a:lnTo>
                  <a:pt x="4400967" y="575691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2042" y="942463"/>
            <a:ext cx="4396105" cy="71628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49860">
              <a:lnSpc>
                <a:spcPct val="100000"/>
              </a:lnSpc>
              <a:spcBef>
                <a:spcPts val="165"/>
              </a:spcBef>
            </a:pPr>
            <a:r>
              <a:rPr dirty="0" sz="700" spc="55">
                <a:latin typeface="Calibri"/>
                <a:cs typeface="Calibri"/>
              </a:rPr>
              <a:t>@staticmethod</a:t>
            </a:r>
            <a:endParaRPr sz="700">
              <a:latin typeface="Calibri"/>
              <a:cs typeface="Calibri"/>
            </a:endParaRPr>
          </a:p>
          <a:p>
            <a:pPr marL="148590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fn(a,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149860" marR="952500" indent="105410">
              <a:lnSpc>
                <a:spcPct val="107900"/>
              </a:lnSpc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4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np.</a:t>
            </a:r>
            <a:r>
              <a:rPr dirty="0" sz="700" spc="85">
                <a:solidFill>
                  <a:srgbClr val="003FFF"/>
                </a:solidFill>
                <a:latin typeface="Calibri"/>
                <a:cs typeface="Calibri"/>
              </a:rPr>
              <a:t>sum</a:t>
            </a:r>
            <a:r>
              <a:rPr dirty="0" sz="700" spc="85">
                <a:latin typeface="Calibri"/>
                <a:cs typeface="Calibri"/>
              </a:rPr>
              <a:t>(np.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nan_to_num(-</a:t>
            </a:r>
            <a:r>
              <a:rPr dirty="0" sz="700" spc="130">
                <a:latin typeface="Calibri"/>
                <a:cs typeface="Calibri"/>
              </a:rPr>
              <a:t>y*np.log(a)-</a:t>
            </a:r>
            <a:r>
              <a:rPr dirty="0" sz="700" spc="155">
                <a:latin typeface="Calibri"/>
                <a:cs typeface="Calibri"/>
              </a:rPr>
              <a:t>(1-</a:t>
            </a:r>
            <a:r>
              <a:rPr dirty="0" sz="700" spc="130">
                <a:latin typeface="Calibri"/>
                <a:cs typeface="Calibri"/>
              </a:rPr>
              <a:t>y)*np.log(1-</a:t>
            </a:r>
            <a:r>
              <a:rPr dirty="0" sz="700" spc="135">
                <a:latin typeface="Calibri"/>
                <a:cs typeface="Calibri"/>
              </a:rPr>
              <a:t>a))) </a:t>
            </a:r>
            <a:r>
              <a:rPr dirty="0" sz="700" spc="55">
                <a:latin typeface="Calibri"/>
                <a:cs typeface="Calibri"/>
              </a:rPr>
              <a:t>@staticmethod</a:t>
            </a:r>
            <a:endParaRPr sz="700">
              <a:latin typeface="Calibri"/>
              <a:cs typeface="Calibri"/>
            </a:endParaRPr>
          </a:p>
          <a:p>
            <a:pPr marL="255904" marR="3237230" indent="-107314">
              <a:lnSpc>
                <a:spcPct val="107900"/>
              </a:lnSpc>
              <a:spcBef>
                <a:spcPts val="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delta(z,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a,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(a-</a:t>
            </a:r>
            <a:r>
              <a:rPr dirty="0" sz="700" spc="100">
                <a:latin typeface="Calibri"/>
                <a:cs typeface="Calibri"/>
              </a:rPr>
              <a:t>y)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76984" y="1662823"/>
            <a:ext cx="4406265" cy="43180"/>
          </a:xfrm>
          <a:custGeom>
            <a:avLst/>
            <a:gdLst/>
            <a:ahLst/>
            <a:cxnLst/>
            <a:rect l="l" t="t" r="r" b="b"/>
            <a:pathLst>
              <a:path w="4406265" h="43180">
                <a:moveTo>
                  <a:pt x="2529" y="43014"/>
                </a:moveTo>
                <a:lnTo>
                  <a:pt x="2529" y="0"/>
                </a:lnTo>
              </a:path>
              <a:path w="4406265" h="43180">
                <a:moveTo>
                  <a:pt x="0" y="40487"/>
                </a:moveTo>
                <a:lnTo>
                  <a:pt x="43016" y="40487"/>
                </a:lnTo>
              </a:path>
              <a:path w="4406265" h="43180">
                <a:moveTo>
                  <a:pt x="43016" y="40487"/>
                </a:moveTo>
                <a:lnTo>
                  <a:pt x="4363010" y="40487"/>
                </a:lnTo>
              </a:path>
              <a:path w="4406265" h="43180">
                <a:moveTo>
                  <a:pt x="4363010" y="40487"/>
                </a:moveTo>
                <a:lnTo>
                  <a:pt x="4406025" y="40487"/>
                </a:lnTo>
              </a:path>
              <a:path w="4406265" h="43180">
                <a:moveTo>
                  <a:pt x="4403497" y="43014"/>
                </a:moveTo>
                <a:lnTo>
                  <a:pt x="4403497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42838" y="1724654"/>
            <a:ext cx="4488180" cy="352932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just" marL="63500" marR="55880" indent="13335">
              <a:lnSpc>
                <a:spcPct val="112500"/>
              </a:lnSpc>
              <a:spcBef>
                <a:spcPts val="114"/>
              </a:spcBef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break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observe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is,</a:t>
            </a:r>
            <a:r>
              <a:rPr dirty="0" sz="850" spc="20">
                <a:latin typeface="Calibri"/>
                <a:cs typeface="Calibri"/>
              </a:rPr>
              <a:t> mathematically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speaking,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Python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Python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made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choice?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plays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roles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measure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-25">
                <a:latin typeface="Calibri"/>
                <a:cs typeface="Calibri"/>
              </a:rPr>
              <a:t>a</a:t>
            </a:r>
            <a:r>
              <a:rPr dirty="0" sz="850" spc="-25">
                <a:latin typeface="Calibri"/>
                <a:cs typeface="Calibri"/>
              </a:rPr>
              <a:t>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matches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y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captured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CrossEntropyCost.fn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method.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(Note,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np.nan_to_num</a:t>
            </a:r>
            <a:r>
              <a:rPr dirty="0" sz="90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inside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CrossEntropyCost.fn</a:t>
            </a:r>
            <a:r>
              <a:rPr dirty="0" sz="90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ensures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Numpy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deals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zero.)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second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enters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Recall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running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network’s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20" i="1">
                <a:latin typeface="Times New Roman"/>
                <a:cs typeface="Times New Roman"/>
              </a:rPr>
              <a:t>δ</a:t>
            </a:r>
            <a:r>
              <a:rPr dirty="0" baseline="35353" sz="825" spc="179" i="1">
                <a:latin typeface="Calibri"/>
                <a:cs typeface="Calibri"/>
              </a:rPr>
              <a:t>L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depends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function: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  <a:hlinkClick r:id="rId2" action="ppaction://hlinksldjump"/>
              </a:rPr>
              <a:t>(3.12),</a:t>
            </a:r>
            <a:endParaRPr sz="850">
              <a:latin typeface="Calibri"/>
              <a:cs typeface="Calibri"/>
            </a:endParaRPr>
          </a:p>
          <a:p>
            <a:pPr marL="1939925">
              <a:lnSpc>
                <a:spcPct val="100000"/>
              </a:lnSpc>
              <a:spcBef>
                <a:spcPts val="145"/>
              </a:spcBef>
              <a:tabLst>
                <a:tab pos="4093210" algn="l"/>
              </a:tabLst>
            </a:pPr>
            <a:r>
              <a:rPr dirty="0" sz="850" spc="130" i="1">
                <a:latin typeface="Times New Roman"/>
                <a:cs typeface="Times New Roman"/>
              </a:rPr>
              <a:t>δ</a:t>
            </a:r>
            <a:r>
              <a:rPr dirty="0" baseline="35353" sz="825" spc="195" i="1">
                <a:latin typeface="Calibri"/>
                <a:cs typeface="Calibri"/>
              </a:rPr>
              <a:t>L</a:t>
            </a:r>
            <a:r>
              <a:rPr dirty="0" baseline="35353" sz="825" spc="232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35353" sz="825" spc="97" i="1">
                <a:latin typeface="Calibri"/>
                <a:cs typeface="Calibri"/>
              </a:rPr>
              <a:t>L</a:t>
            </a:r>
            <a:r>
              <a:rPr dirty="0" baseline="35353" sz="825" spc="16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85">
                <a:latin typeface="Cambria"/>
                <a:cs typeface="Cambri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y</a:t>
            </a:r>
            <a:r>
              <a:rPr dirty="0" sz="850" spc="-25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(3.44)</a:t>
            </a:r>
            <a:endParaRPr sz="850">
              <a:latin typeface="Calibri"/>
              <a:cs typeface="Calibri"/>
            </a:endParaRPr>
          </a:p>
          <a:p>
            <a:pPr algn="r" marL="70485" marR="56515" indent="6350">
              <a:lnSpc>
                <a:spcPct val="110800"/>
              </a:lnSpc>
              <a:spcBef>
                <a:spcPts val="755"/>
              </a:spcBef>
            </a:pP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CrossEntropyCost.delta</a:t>
            </a:r>
            <a:r>
              <a:rPr dirty="0" sz="850" spc="75">
                <a:latin typeface="Calibri"/>
                <a:cs typeface="Calibri"/>
              </a:rPr>
              <a:t>, </a:t>
            </a:r>
            <a:r>
              <a:rPr dirty="0" sz="850">
                <a:latin typeface="Calibri"/>
                <a:cs typeface="Calibri"/>
              </a:rPr>
              <a:t>whose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purpose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bundle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everything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r>
              <a:rPr dirty="0" sz="850" spc="55">
                <a:latin typeface="Calibri"/>
                <a:cs typeface="Calibri"/>
              </a:rPr>
              <a:t> 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similar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network2.py</a:t>
            </a:r>
            <a:r>
              <a:rPr dirty="0" sz="90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contains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represent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quadratic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included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comparison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forward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entropy.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below.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QuadraticCost.fn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method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straightforward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quadratic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associated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actual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900" spc="-25">
                <a:latin typeface="Calibri"/>
                <a:cs typeface="Calibri"/>
              </a:rPr>
              <a:t>a</a:t>
            </a:r>
            <a:r>
              <a:rPr dirty="0" sz="850" spc="-25">
                <a:latin typeface="Calibri"/>
                <a:cs typeface="Calibri"/>
              </a:rPr>
              <a:t>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y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returned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QuadraticCost.delta</a:t>
            </a:r>
            <a:r>
              <a:rPr dirty="0" sz="90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3" action="ppaction://hlinksldjump"/>
              </a:rPr>
              <a:t>(2.8)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quadratic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Chapter</a:t>
            </a:r>
            <a:endParaRPr sz="850">
              <a:latin typeface="Calibri"/>
              <a:cs typeface="Calibri"/>
            </a:endParaRPr>
          </a:p>
          <a:p>
            <a:pPr marL="72390">
              <a:lnSpc>
                <a:spcPct val="100000"/>
              </a:lnSpc>
              <a:spcBef>
                <a:spcPts val="145"/>
              </a:spcBef>
            </a:pPr>
            <a:r>
              <a:rPr dirty="0" sz="850" spc="-25">
                <a:latin typeface="Calibri"/>
                <a:cs typeface="Calibri"/>
              </a:rPr>
              <a:t>2.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9514" y="5457151"/>
            <a:ext cx="4401185" cy="887094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23495" rIns="0" bIns="0" rtlCol="0" vert="horz">
            <a:spAutoFit/>
          </a:bodyPr>
          <a:lstStyle/>
          <a:p>
            <a:pPr marL="152400" marR="2867660" indent="-107314">
              <a:lnSpc>
                <a:spcPct val="107900"/>
              </a:lnSpc>
              <a:spcBef>
                <a:spcPts val="185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QuadraticCost(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105">
                <a:latin typeface="Calibri"/>
                <a:cs typeface="Calibri"/>
              </a:rPr>
              <a:t>): </a:t>
            </a:r>
            <a:r>
              <a:rPr dirty="0" sz="700" spc="55">
                <a:latin typeface="Calibri"/>
                <a:cs typeface="Calibri"/>
              </a:rPr>
              <a:t>@staticmethod</a:t>
            </a:r>
            <a:endParaRPr sz="7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fn(a,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152400" marR="2391410" indent="105410">
              <a:lnSpc>
                <a:spcPct val="107900"/>
              </a:lnSpc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40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0.5*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np.linalg.norm(a-</a:t>
            </a:r>
            <a:r>
              <a:rPr dirty="0" sz="700" spc="65">
                <a:latin typeface="Calibri"/>
                <a:cs typeface="Calibri"/>
              </a:rPr>
              <a:t>y)**2 </a:t>
            </a:r>
            <a:r>
              <a:rPr dirty="0" sz="700" spc="55">
                <a:latin typeface="Calibri"/>
                <a:cs typeface="Calibri"/>
              </a:rPr>
              <a:t>@staticmethod</a:t>
            </a:r>
            <a:endParaRPr sz="7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delta(z,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a,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258445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(a-</a:t>
            </a:r>
            <a:r>
              <a:rPr dirty="0" sz="700" spc="125">
                <a:latin typeface="Calibri"/>
                <a:cs typeface="Calibri"/>
              </a:rPr>
              <a:t>y)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*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sigmoid_prime(z)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676984" y="7628176"/>
            <a:ext cx="4406265" cy="273685"/>
          </a:xfrm>
          <a:custGeom>
            <a:avLst/>
            <a:gdLst/>
            <a:ahLst/>
            <a:cxnLst/>
            <a:rect l="l" t="t" r="r" b="b"/>
            <a:pathLst>
              <a:path w="4406265" h="273684">
                <a:moveTo>
                  <a:pt x="2529" y="43016"/>
                </a:moveTo>
                <a:lnTo>
                  <a:pt x="2529" y="0"/>
                </a:lnTo>
              </a:path>
              <a:path w="4406265" h="273684">
                <a:moveTo>
                  <a:pt x="0" y="2515"/>
                </a:moveTo>
                <a:lnTo>
                  <a:pt x="43016" y="2515"/>
                </a:lnTo>
              </a:path>
              <a:path w="4406265" h="273684">
                <a:moveTo>
                  <a:pt x="43016" y="2515"/>
                </a:moveTo>
                <a:lnTo>
                  <a:pt x="4363010" y="2515"/>
                </a:lnTo>
              </a:path>
              <a:path w="4406265" h="273684">
                <a:moveTo>
                  <a:pt x="4363010" y="2515"/>
                </a:moveTo>
                <a:lnTo>
                  <a:pt x="4406025" y="2515"/>
                </a:lnTo>
              </a:path>
              <a:path w="4406265" h="273684">
                <a:moveTo>
                  <a:pt x="4403497" y="43016"/>
                </a:moveTo>
                <a:lnTo>
                  <a:pt x="4403497" y="0"/>
                </a:lnTo>
              </a:path>
              <a:path w="4406265" h="273684">
                <a:moveTo>
                  <a:pt x="2529" y="158155"/>
                </a:moveTo>
                <a:lnTo>
                  <a:pt x="2529" y="43016"/>
                </a:lnTo>
              </a:path>
              <a:path w="4406265" h="273684">
                <a:moveTo>
                  <a:pt x="4403497" y="158155"/>
                </a:moveTo>
                <a:lnTo>
                  <a:pt x="4403497" y="43016"/>
                </a:lnTo>
              </a:path>
              <a:path w="4406265" h="273684">
                <a:moveTo>
                  <a:pt x="2529" y="273293"/>
                </a:moveTo>
                <a:lnTo>
                  <a:pt x="2529" y="158155"/>
                </a:lnTo>
              </a:path>
              <a:path w="4406265" h="273684">
                <a:moveTo>
                  <a:pt x="4403497" y="273293"/>
                </a:moveTo>
                <a:lnTo>
                  <a:pt x="4403497" y="158155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682042" y="6361138"/>
            <a:ext cx="4396105" cy="153670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algn="just" marL="37465" marR="6985" indent="-7620">
              <a:lnSpc>
                <a:spcPct val="113100"/>
              </a:lnSpc>
              <a:spcBef>
                <a:spcPts val="85"/>
              </a:spcBef>
            </a:pPr>
            <a:r>
              <a:rPr dirty="0" sz="850" spc="20">
                <a:latin typeface="Calibri"/>
                <a:cs typeface="Calibri"/>
              </a:rPr>
              <a:t>We’ve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understood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differences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between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network2.py</a:t>
            </a:r>
            <a:r>
              <a:rPr dirty="0" sz="90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network.py</a:t>
            </a:r>
            <a:r>
              <a:rPr dirty="0" sz="850" spc="3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stuff.</a:t>
            </a:r>
            <a:r>
              <a:rPr dirty="0" sz="850" spc="17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smaller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changes,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I’ll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below,</a:t>
            </a:r>
            <a:r>
              <a:rPr dirty="0" sz="850" spc="20">
                <a:latin typeface="Calibri"/>
                <a:cs typeface="Calibri"/>
              </a:rPr>
              <a:t> including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L2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Before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network2.py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0">
                <a:latin typeface="Calibri"/>
                <a:cs typeface="Calibri"/>
              </a:rPr>
              <a:t> don’t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detail,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broad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reading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documentation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strings,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piece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welcome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delve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wish!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lost,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wish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continue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reading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below,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return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Anyway,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code:</a:t>
            </a:r>
            <a:endParaRPr sz="85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  <a:spcBef>
                <a:spcPts val="79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network2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.py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65"/>
              </a:spcBef>
            </a:pPr>
            <a:r>
              <a:rPr dirty="0" sz="700" spc="45" i="1">
                <a:solidFill>
                  <a:srgbClr val="980000"/>
                </a:solidFill>
                <a:latin typeface="Calibri"/>
                <a:cs typeface="Calibri"/>
              </a:rPr>
              <a:t>~~~~~~~~~~~~~~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679514" y="7901470"/>
            <a:ext cx="4401185" cy="115570"/>
          </a:xfrm>
          <a:custGeom>
            <a:avLst/>
            <a:gdLst/>
            <a:ahLst/>
            <a:cxnLst/>
            <a:rect l="l" t="t" r="r" b="b"/>
            <a:pathLst>
              <a:path w="4401185" h="115570">
                <a:moveTo>
                  <a:pt x="0" y="115138"/>
                </a:moveTo>
                <a:lnTo>
                  <a:pt x="0" y="0"/>
                </a:lnTo>
              </a:path>
              <a:path w="4401185" h="115570">
                <a:moveTo>
                  <a:pt x="4400967" y="115138"/>
                </a:moveTo>
                <a:lnTo>
                  <a:pt x="4400967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" name="object 11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12" name="object 12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65221" y="368721"/>
            <a:ext cx="271526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519680" algn="l"/>
              </a:tabLst>
            </a:pPr>
            <a:r>
              <a:rPr dirty="0" sz="850" spc="20">
                <a:latin typeface="Calibri"/>
                <a:cs typeface="Calibri"/>
              </a:rPr>
              <a:t>3.4.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Handwriting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revisited: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code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101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9510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440489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70625" y="942463"/>
            <a:ext cx="3685540" cy="175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604" marR="5080" indent="-1270">
              <a:lnSpc>
                <a:spcPct val="107900"/>
              </a:lnSpc>
              <a:spcBef>
                <a:spcPts val="100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improved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version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network.py,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implementing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stochastic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descent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learning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algorithm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feedforward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network.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Improvements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include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addition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cross-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entropy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function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,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regularization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better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initialization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weights.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-2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 that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have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focused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making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code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simple,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easily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readable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 easily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modifiable.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It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not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optimized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omits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many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desirable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features.</a:t>
            </a:r>
            <a:endParaRPr sz="7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6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Libraries</a:t>
            </a: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Standard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library</a:t>
            </a:r>
            <a:endParaRPr sz="700">
              <a:latin typeface="Calibri"/>
              <a:cs typeface="Calibri"/>
            </a:endParaRPr>
          </a:p>
          <a:p>
            <a:pPr marL="14604" marR="2983230">
              <a:lnSpc>
                <a:spcPct val="107900"/>
              </a:lnSpc>
            </a:pP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json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random</a:t>
            </a:r>
            <a:r>
              <a:rPr dirty="0" sz="700" spc="70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sys</a:t>
            </a: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Third</a:t>
            </a:r>
            <a:r>
              <a:rPr dirty="0" sz="700" spc="-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-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party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libraries</a:t>
            </a:r>
            <a:endParaRPr sz="700">
              <a:latin typeface="Calibri"/>
              <a:cs typeface="Calibri"/>
            </a:endParaRPr>
          </a:p>
          <a:p>
            <a:pPr marL="14604">
              <a:lnSpc>
                <a:spcPct val="100000"/>
              </a:lnSpc>
              <a:spcBef>
                <a:spcPts val="70"/>
              </a:spcBef>
            </a:pP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numpy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as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np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404747" y="7848489"/>
            <a:ext cx="99060" cy="0"/>
          </a:xfrm>
          <a:custGeom>
            <a:avLst/>
            <a:gdLst/>
            <a:ahLst/>
            <a:cxnLst/>
            <a:rect l="l" t="t" r="r" b="b"/>
            <a:pathLst>
              <a:path w="99059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719161" y="7848489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1070625" y="2793532"/>
            <a:ext cx="4269740" cy="5198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Define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quadratic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cross-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entropy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functions</a:t>
            </a:r>
            <a:endParaRPr sz="700">
              <a:latin typeface="Calibri"/>
              <a:cs typeface="Calibri"/>
            </a:endParaRPr>
          </a:p>
          <a:p>
            <a:pPr marL="121285" marR="2767330" indent="-107314">
              <a:lnSpc>
                <a:spcPct val="215899"/>
              </a:lnSpc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QuadraticCost(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105">
                <a:latin typeface="Calibri"/>
                <a:cs typeface="Calibri"/>
              </a:rPr>
              <a:t>): </a:t>
            </a:r>
            <a:r>
              <a:rPr dirty="0" sz="700" spc="55">
                <a:latin typeface="Calibri"/>
                <a:cs typeface="Calibri"/>
              </a:rPr>
              <a:t>@staticmethod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fn(a,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226695" marR="508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associated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‘‘a‘‘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desired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5" i="1">
                <a:solidFill>
                  <a:srgbClr val="980000"/>
                </a:solidFill>
                <a:latin typeface="Calibri"/>
                <a:cs typeface="Calibri"/>
              </a:rPr>
              <a:t>‘‘y‘‘.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227329">
              <a:lnSpc>
                <a:spcPct val="100000"/>
              </a:lnSpc>
              <a:spcBef>
                <a:spcPts val="70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40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0.5*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np.linalg.norm(a-</a:t>
            </a:r>
            <a:r>
              <a:rPr dirty="0" sz="700" spc="65">
                <a:latin typeface="Calibri"/>
                <a:cs typeface="Calibri"/>
              </a:rPr>
              <a:t>y)**2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21285">
              <a:lnSpc>
                <a:spcPct val="100000"/>
              </a:lnSpc>
              <a:spcBef>
                <a:spcPts val="5"/>
              </a:spcBef>
            </a:pPr>
            <a:r>
              <a:rPr dirty="0" sz="700" spc="55">
                <a:latin typeface="Calibri"/>
                <a:cs typeface="Calibri"/>
              </a:rPr>
              <a:t>@staticmethod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delta(z,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a,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226695">
              <a:lnSpc>
                <a:spcPct val="100000"/>
              </a:lnSpc>
              <a:spcBef>
                <a:spcPts val="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error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delta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from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layer."""</a:t>
            </a:r>
            <a:endParaRPr sz="700">
              <a:latin typeface="Calibri"/>
              <a:cs typeface="Calibri"/>
            </a:endParaRPr>
          </a:p>
          <a:p>
            <a:pPr marL="227329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(a-</a:t>
            </a:r>
            <a:r>
              <a:rPr dirty="0" sz="700" spc="125">
                <a:latin typeface="Calibri"/>
                <a:cs typeface="Calibri"/>
              </a:rPr>
              <a:t>y)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*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sigmoid_prime(z)</a:t>
            </a:r>
            <a:endParaRPr sz="700">
              <a:latin typeface="Calibri"/>
              <a:cs typeface="Calibri"/>
            </a:endParaRPr>
          </a:p>
          <a:p>
            <a:pPr marL="121285" marR="2607945" indent="-107314">
              <a:lnSpc>
                <a:spcPct val="215899"/>
              </a:lnSpc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CrossEntropyCost(</a:t>
            </a:r>
            <a:r>
              <a:rPr dirty="0" sz="700" spc="100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100">
                <a:latin typeface="Calibri"/>
                <a:cs typeface="Calibri"/>
              </a:rPr>
              <a:t>): </a:t>
            </a:r>
            <a:r>
              <a:rPr dirty="0" sz="700" spc="55">
                <a:latin typeface="Calibri"/>
                <a:cs typeface="Calibri"/>
              </a:rPr>
              <a:t>@staticmethod</a:t>
            </a:r>
            <a:endParaRPr sz="700">
              <a:latin typeface="Calibri"/>
              <a:cs typeface="Calibri"/>
            </a:endParaRPr>
          </a:p>
          <a:p>
            <a:pPr marL="226695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fn(a,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226695" marR="378460" indent="-63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associated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‘‘a‘‘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desired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output </a:t>
            </a:r>
            <a:r>
              <a:rPr dirty="0" sz="700" spc="204" i="1">
                <a:solidFill>
                  <a:srgbClr val="980000"/>
                </a:solidFill>
                <a:latin typeface="Calibri"/>
                <a:cs typeface="Calibri"/>
              </a:rPr>
              <a:t>‘‘y‘‘.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42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np.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nan_to_num</a:t>
            </a:r>
            <a:r>
              <a:rPr dirty="0" sz="700" spc="42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ensure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numerical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stability.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particular,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both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‘‘a‘‘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‘‘y‘‘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have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1.0</a:t>
            </a:r>
            <a:endParaRPr sz="700">
              <a:latin typeface="Calibri"/>
              <a:cs typeface="Calibri"/>
            </a:endParaRPr>
          </a:p>
          <a:p>
            <a:pPr marL="226060" marR="750570">
              <a:lnSpc>
                <a:spcPct val="107900"/>
              </a:lnSpc>
            </a:pP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same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slot,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then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expression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5" i="1">
                <a:solidFill>
                  <a:srgbClr val="980000"/>
                </a:solidFill>
                <a:latin typeface="Calibri"/>
                <a:cs typeface="Calibri"/>
              </a:rPr>
              <a:t>(1-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y)*np.log(1-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a)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returns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nan.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np.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nan_to_num</a:t>
            </a:r>
            <a:r>
              <a:rPr dirty="0" sz="700" spc="42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ensures</a:t>
            </a:r>
            <a:r>
              <a:rPr dirty="0" sz="700" spc="42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converted to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correct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value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(0.0).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226695">
              <a:lnSpc>
                <a:spcPct val="100000"/>
              </a:lnSpc>
              <a:spcBef>
                <a:spcPts val="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227329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4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np.</a:t>
            </a:r>
            <a:r>
              <a:rPr dirty="0" sz="700" spc="85">
                <a:solidFill>
                  <a:srgbClr val="003FFF"/>
                </a:solidFill>
                <a:latin typeface="Calibri"/>
                <a:cs typeface="Calibri"/>
              </a:rPr>
              <a:t>sum</a:t>
            </a:r>
            <a:r>
              <a:rPr dirty="0" sz="700" spc="85">
                <a:latin typeface="Calibri"/>
                <a:cs typeface="Calibri"/>
              </a:rPr>
              <a:t>(np.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nan_to_num(-</a:t>
            </a:r>
            <a:r>
              <a:rPr dirty="0" sz="700" spc="130">
                <a:latin typeface="Calibri"/>
                <a:cs typeface="Calibri"/>
              </a:rPr>
              <a:t>y*np.log(a)-</a:t>
            </a:r>
            <a:r>
              <a:rPr dirty="0" sz="700" spc="155">
                <a:latin typeface="Calibri"/>
                <a:cs typeface="Calibri"/>
              </a:rPr>
              <a:t>(1-</a:t>
            </a:r>
            <a:r>
              <a:rPr dirty="0" sz="700" spc="130">
                <a:latin typeface="Calibri"/>
                <a:cs typeface="Calibri"/>
              </a:rPr>
              <a:t>y)*np.log(1-</a:t>
            </a:r>
            <a:r>
              <a:rPr dirty="0" sz="700" spc="135">
                <a:latin typeface="Calibri"/>
                <a:cs typeface="Calibri"/>
              </a:rPr>
              <a:t>a)))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21285">
              <a:lnSpc>
                <a:spcPct val="100000"/>
              </a:lnSpc>
              <a:spcBef>
                <a:spcPts val="5"/>
              </a:spcBef>
            </a:pPr>
            <a:r>
              <a:rPr dirty="0" sz="700" spc="55">
                <a:latin typeface="Calibri"/>
                <a:cs typeface="Calibri"/>
              </a:rPr>
              <a:t>@staticmethod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delta(z,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a,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226695" marR="69659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error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delta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from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layer.</a:t>
            </a:r>
            <a:r>
              <a:rPr dirty="0" sz="700" spc="32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parameter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4" i="1">
                <a:solidFill>
                  <a:srgbClr val="980000"/>
                </a:solidFill>
                <a:latin typeface="Calibri"/>
                <a:cs typeface="Calibri"/>
              </a:rPr>
              <a:t>‘‘z‘‘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not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method.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It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included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in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method’s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parameters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order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make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interface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consistent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delta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method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other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classes.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226695">
              <a:lnSpc>
                <a:spcPct val="100000"/>
              </a:lnSpc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227329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(a-</a:t>
            </a:r>
            <a:r>
              <a:rPr dirty="0" sz="700" spc="100">
                <a:latin typeface="Calibri"/>
                <a:cs typeface="Calibri"/>
              </a:rPr>
              <a:t>y)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4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Main</a:t>
            </a:r>
            <a:r>
              <a:rPr dirty="0" sz="700" spc="4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4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class</a:t>
            </a:r>
            <a:endParaRPr sz="700">
              <a:latin typeface="Calibri"/>
              <a:cs typeface="Calibri"/>
            </a:endParaRPr>
          </a:p>
          <a:p>
            <a:pPr marL="14604">
              <a:lnSpc>
                <a:spcPct val="100000"/>
              </a:lnSpc>
              <a:spcBef>
                <a:spcPts val="70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Network(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95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tabLst>
                <a:tab pos="438784" algn="l"/>
              </a:tabLst>
            </a:pPr>
            <a:r>
              <a:rPr dirty="0" sz="700" spc="55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	</a:t>
            </a:r>
            <a:r>
              <a:rPr dirty="0" sz="700" spc="165">
                <a:latin typeface="Calibri"/>
                <a:cs typeface="Calibri"/>
              </a:rPr>
              <a:t>init</a:t>
            </a:r>
            <a:r>
              <a:rPr dirty="0" sz="700" spc="310">
                <a:latin typeface="Calibri"/>
                <a:cs typeface="Calibri"/>
              </a:rPr>
              <a:t>  </a:t>
            </a:r>
            <a:r>
              <a:rPr dirty="0" sz="700" spc="170">
                <a:latin typeface="Calibri"/>
                <a:cs typeface="Calibri"/>
              </a:rPr>
              <a:t>(self,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sizes,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cost=CrossEntropyCost):</a:t>
            </a:r>
            <a:endParaRPr sz="700">
              <a:latin typeface="Calibri"/>
              <a:cs typeface="Calibri"/>
            </a:endParaRPr>
          </a:p>
          <a:p>
            <a:pPr marL="226695">
              <a:lnSpc>
                <a:spcPct val="100000"/>
              </a:lnSpc>
              <a:spcBef>
                <a:spcPts val="70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‘‘sizes‘‘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contains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number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neurons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respective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10" name="object 10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235966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102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9514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080482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24852" y="942463"/>
            <a:ext cx="3310890" cy="831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635">
              <a:lnSpc>
                <a:spcPct val="107900"/>
              </a:lnSpc>
              <a:spcBef>
                <a:spcPts val="100"/>
              </a:spcBef>
            </a:pP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network.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example,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was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[2,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3,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1]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 then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it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would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three-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network,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first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layer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containing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2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neurons,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second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3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neurons,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third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1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neuron.</a:t>
            </a:r>
            <a:r>
              <a:rPr dirty="0" sz="700" spc="32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weights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network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5" i="1">
                <a:solidFill>
                  <a:srgbClr val="980000"/>
                </a:solidFill>
                <a:latin typeface="Calibri"/>
                <a:cs typeface="Calibri"/>
              </a:rPr>
              <a:t>initialized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randomly,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              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‘‘self.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default_weight_initializer</a:t>
            </a:r>
            <a:r>
              <a:rPr dirty="0" sz="700" spc="-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(see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docstring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that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method).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4852" y="1863569"/>
            <a:ext cx="1769745" cy="60134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12700" marR="5080">
              <a:lnSpc>
                <a:spcPct val="107900"/>
              </a:lnSpc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num_layers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30">
                <a:latin typeface="Calibri"/>
                <a:cs typeface="Calibri"/>
              </a:rPr>
              <a:t>(sizes) </a:t>
            </a:r>
            <a:r>
              <a:rPr dirty="0" sz="700" spc="155">
                <a:latin typeface="Calibri"/>
                <a:cs typeface="Calibri"/>
              </a:rPr>
              <a:t>self.sizes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sizes</a:t>
            </a:r>
            <a:r>
              <a:rPr dirty="0" sz="700" spc="500">
                <a:latin typeface="Calibri"/>
                <a:cs typeface="Calibri"/>
              </a:rPr>
              <a:t>      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default_weight_initializer() </a:t>
            </a:r>
            <a:r>
              <a:rPr dirty="0" sz="700" spc="120">
                <a:latin typeface="Calibri"/>
                <a:cs typeface="Calibri"/>
              </a:rPr>
              <a:t>self.cost=cost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18564" y="2554398"/>
            <a:ext cx="4107179" cy="543750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default_weight_initializer(self):</a:t>
            </a:r>
            <a:endParaRPr sz="700">
              <a:latin typeface="Calibri"/>
              <a:cs typeface="Calibri"/>
            </a:endParaRPr>
          </a:p>
          <a:p>
            <a:pPr marL="118745" marR="42735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Initialize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each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weight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Gaussian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distribution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mean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0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standard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deviation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1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over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square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root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number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of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weights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connecting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same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neuron.</a:t>
            </a:r>
            <a:r>
              <a:rPr dirty="0" sz="700" spc="32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Initialize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endParaRPr sz="700">
              <a:latin typeface="Calibri"/>
              <a:cs typeface="Calibri"/>
            </a:endParaRPr>
          </a:p>
          <a:p>
            <a:pPr marL="119380" marR="1121410" indent="-635">
              <a:lnSpc>
                <a:spcPct val="107900"/>
              </a:lnSpc>
            </a:pP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Gaussian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distribution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mean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0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standard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deviation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1.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118110" marR="695325" indent="635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first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assumed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input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layer,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convention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won’t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set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those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neurons,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since biases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only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ever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computing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outputs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from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later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layers.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  <a:spcBef>
                <a:spcPts val="70"/>
              </a:spcBef>
            </a:pPr>
            <a:r>
              <a:rPr dirty="0" sz="700" spc="140">
                <a:latin typeface="Calibri"/>
                <a:cs typeface="Calibri"/>
              </a:rPr>
              <a:t>self.biases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[np.random.randn(y,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1)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self.sizes[1:]]</a:t>
            </a:r>
            <a:endParaRPr sz="700">
              <a:latin typeface="Calibri"/>
              <a:cs typeface="Calibri"/>
            </a:endParaRPr>
          </a:p>
          <a:p>
            <a:pPr marL="158750" marR="5080" indent="-40005">
              <a:lnSpc>
                <a:spcPct val="107900"/>
              </a:lnSpc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weights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[np.random.randn(y,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x)/np.sqrt(x)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5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5">
                <a:latin typeface="Calibri"/>
                <a:cs typeface="Calibri"/>
              </a:rPr>
              <a:t>(self.sizes </a:t>
            </a:r>
            <a:r>
              <a:rPr dirty="0" sz="700" spc="200">
                <a:latin typeface="Calibri"/>
                <a:cs typeface="Calibri"/>
              </a:rPr>
              <a:t>[:-</a:t>
            </a:r>
            <a:r>
              <a:rPr dirty="0" sz="700" spc="150">
                <a:latin typeface="Calibri"/>
                <a:cs typeface="Calibri"/>
              </a:rPr>
              <a:t>1],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self.sizes[1:])]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large_weight_initializer(self):</a:t>
            </a:r>
            <a:endParaRPr sz="700">
              <a:latin typeface="Calibri"/>
              <a:cs typeface="Calibri"/>
            </a:endParaRPr>
          </a:p>
          <a:p>
            <a:pPr marL="118745" marR="42735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Initialize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weights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Gaussian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distribution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mean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0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standard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deviation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1.</a:t>
            </a:r>
            <a:r>
              <a:rPr dirty="0" sz="700" spc="32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Initialize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endParaRPr sz="700">
              <a:latin typeface="Calibri"/>
              <a:cs typeface="Calibri"/>
            </a:endParaRPr>
          </a:p>
          <a:p>
            <a:pPr marL="119380">
              <a:lnSpc>
                <a:spcPct val="100000"/>
              </a:lnSpc>
              <a:spcBef>
                <a:spcPts val="65"/>
              </a:spcBef>
            </a:pP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Gaussian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distribution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mean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0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standard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deviation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1.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marL="118110" marR="695325" indent="635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first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assumed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input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layer,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convention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won’t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set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those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neurons,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since biases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only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ever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computing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outputs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from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later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layers.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118745" marR="74739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This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weight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bias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initializer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uses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same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approach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as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in Chapter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1,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included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purposes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comparison.</a:t>
            </a:r>
            <a:r>
              <a:rPr dirty="0" sz="700" spc="30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It will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usually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better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default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weight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5" i="1">
                <a:solidFill>
                  <a:srgbClr val="980000"/>
                </a:solidFill>
                <a:latin typeface="Calibri"/>
                <a:cs typeface="Calibri"/>
              </a:rPr>
              <a:t>initializer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instead.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  <a:spcBef>
                <a:spcPts val="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118745" marR="748665">
              <a:lnSpc>
                <a:spcPct val="107900"/>
              </a:lnSpc>
            </a:pPr>
            <a:r>
              <a:rPr dirty="0" sz="700" spc="140">
                <a:latin typeface="Calibri"/>
                <a:cs typeface="Calibri"/>
              </a:rPr>
              <a:t>self.biases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[np.random.randn(y,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1)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self.sizes[1:]]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weights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[np.random.randn(y,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x)</a:t>
            </a: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65">
                <a:latin typeface="Calibri"/>
                <a:cs typeface="Calibri"/>
              </a:rPr>
              <a:t>(self.sizes[:-</a:t>
            </a:r>
            <a:r>
              <a:rPr dirty="0" sz="700" spc="150">
                <a:latin typeface="Calibri"/>
                <a:cs typeface="Calibri"/>
              </a:rPr>
              <a:t>1],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self.sizes[1:])]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8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feedforward(self,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a):</a:t>
            </a: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  <a:spcBef>
                <a:spcPts val="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‘‘a‘‘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input."""</a:t>
            </a: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1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b,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0">
                <a:latin typeface="Calibri"/>
                <a:cs typeface="Calibri"/>
              </a:rPr>
              <a:t>(self.biases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weights):</a:t>
            </a:r>
            <a:endParaRPr sz="700">
              <a:latin typeface="Calibri"/>
              <a:cs typeface="Calibri"/>
            </a:endParaRPr>
          </a:p>
          <a:p>
            <a:pPr marL="119380" marR="2553335" indent="-2540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a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sigmoid(np.dot(w,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a)+b)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-50">
                <a:latin typeface="Calibri"/>
                <a:cs typeface="Calibri"/>
              </a:rPr>
              <a:t>a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160655" marR="322580" indent="-148590">
              <a:lnSpc>
                <a:spcPct val="1079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8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SGD(self,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epochs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eta,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lmbda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80">
                <a:latin typeface="Calibri"/>
                <a:cs typeface="Calibri"/>
              </a:rPr>
              <a:t>evaluation_data=None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monitor_evaluation_cost=False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95">
                <a:latin typeface="Calibri"/>
                <a:cs typeface="Calibri"/>
              </a:rPr>
              <a:t>monitor_evaluation_accuracy=False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9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monitor_training_cost=False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100">
                <a:latin typeface="Calibri"/>
                <a:cs typeface="Calibri"/>
              </a:rPr>
              <a:t>monitor_training_accuracy=False):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9" name="object 9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65221" y="368721"/>
            <a:ext cx="271526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519680" algn="l"/>
              </a:tabLst>
            </a:pPr>
            <a:r>
              <a:rPr dirty="0" sz="850" spc="20">
                <a:latin typeface="Calibri"/>
                <a:cs typeface="Calibri"/>
              </a:rPr>
              <a:t>3.4.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Handwriting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revisited: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code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103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9510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440489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284287" y="942463"/>
            <a:ext cx="3416300" cy="19831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" marR="5080" indent="-635">
              <a:lnSpc>
                <a:spcPct val="107900"/>
              </a:lnSpc>
              <a:spcBef>
                <a:spcPts val="100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Train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mini-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batch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stochastic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gradient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descent.</a:t>
            </a:r>
            <a:r>
              <a:rPr dirty="0" sz="700" spc="32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‘‘training_data</a:t>
            </a:r>
            <a:r>
              <a:rPr dirty="0" sz="700" spc="-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tuples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‘‘(x,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y)‘‘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representing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inputs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desired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outputs.</a:t>
            </a:r>
            <a:r>
              <a:rPr dirty="0" sz="700" spc="31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 other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non-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optional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parameters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5" i="1">
                <a:solidFill>
                  <a:srgbClr val="980000"/>
                </a:solidFill>
                <a:latin typeface="Calibri"/>
                <a:cs typeface="Calibri"/>
              </a:rPr>
              <a:t>self-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explanatory,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as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regularization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parameter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‘‘lmbda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20" i="1">
                <a:solidFill>
                  <a:srgbClr val="980000"/>
                </a:solidFill>
                <a:latin typeface="Calibri"/>
                <a:cs typeface="Calibri"/>
              </a:rPr>
              <a:t>‘‘.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method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also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accepts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‘‘evaluation_data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20" i="1">
                <a:solidFill>
                  <a:srgbClr val="980000"/>
                </a:solidFill>
                <a:latin typeface="Calibri"/>
                <a:cs typeface="Calibri"/>
              </a:rPr>
              <a:t>‘‘,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usually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either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validation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or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test</a:t>
            </a:r>
            <a:endParaRPr sz="700">
              <a:latin typeface="Calibri"/>
              <a:cs typeface="Calibri"/>
            </a:endParaRPr>
          </a:p>
          <a:p>
            <a:pPr marL="12700" marR="108585" indent="635">
              <a:lnSpc>
                <a:spcPct val="107900"/>
              </a:lnSpc>
            </a:pP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data.</a:t>
            </a:r>
            <a:r>
              <a:rPr dirty="0" sz="700" spc="29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-20" i="1">
                <a:solidFill>
                  <a:srgbClr val="980000"/>
                </a:solidFill>
                <a:latin typeface="Calibri"/>
                <a:cs typeface="Calibri"/>
              </a:rPr>
              <a:t>We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can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monitor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accuracy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either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evaluation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or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data,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setting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appropriate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flags.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method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returns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tuple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containing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four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lists: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(per-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epoch)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costs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evaluation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data,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accuracies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evaluation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data,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costs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training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data,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accuracies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data.</a:t>
            </a:r>
            <a:r>
              <a:rPr dirty="0" sz="700" spc="32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All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values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are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evaluated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at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end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each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epoch.</a:t>
            </a:r>
            <a:r>
              <a:rPr dirty="0" sz="700" spc="30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So,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example,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train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30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epochs,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then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first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element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tuple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will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30-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element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containing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evaluation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at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end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each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epoch.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lists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empty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corresponding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flag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not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set.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78560" y="3014951"/>
            <a:ext cx="4212590" cy="497649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18745">
              <a:lnSpc>
                <a:spcPct val="100000"/>
              </a:lnSpc>
              <a:spcBef>
                <a:spcPts val="16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evaluation_data:</a:t>
            </a:r>
            <a:endParaRPr sz="700">
              <a:latin typeface="Calibri"/>
              <a:cs typeface="Calibri"/>
            </a:endParaRPr>
          </a:p>
          <a:p>
            <a:pPr marL="116839" marR="2446655" indent="108585">
              <a:lnSpc>
                <a:spcPct val="107900"/>
              </a:lnSpc>
            </a:pPr>
            <a:r>
              <a:rPr dirty="0" sz="700" spc="65">
                <a:latin typeface="Calibri"/>
                <a:cs typeface="Calibri"/>
              </a:rPr>
              <a:t>n_data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evaluation_data) </a:t>
            </a:r>
            <a:r>
              <a:rPr dirty="0" sz="700">
                <a:latin typeface="Calibri"/>
                <a:cs typeface="Calibri"/>
              </a:rPr>
              <a:t>n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training_data)</a:t>
            </a:r>
            <a:endParaRPr sz="700">
              <a:latin typeface="Calibri"/>
              <a:cs typeface="Calibri"/>
            </a:endParaRPr>
          </a:p>
          <a:p>
            <a:pPr marL="119380" marR="1703705">
              <a:lnSpc>
                <a:spcPct val="107900"/>
              </a:lnSpc>
              <a:spcBef>
                <a:spcPts val="5"/>
              </a:spcBef>
            </a:pPr>
            <a:r>
              <a:rPr dirty="0" sz="700" spc="100">
                <a:latin typeface="Calibri"/>
                <a:cs typeface="Calibri"/>
              </a:rPr>
              <a:t>evaluation_cost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evaluation_accuracy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95">
                <a:latin typeface="Calibri"/>
                <a:cs typeface="Calibri"/>
              </a:rPr>
              <a:t>[],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[] </a:t>
            </a:r>
            <a:r>
              <a:rPr dirty="0" sz="700" spc="114">
                <a:latin typeface="Calibri"/>
                <a:cs typeface="Calibri"/>
              </a:rPr>
              <a:t>training_cost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training_accuracy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95">
                <a:latin typeface="Calibri"/>
                <a:cs typeface="Calibri"/>
              </a:rPr>
              <a:t>[],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[]</a:t>
            </a:r>
            <a:endParaRPr sz="700">
              <a:latin typeface="Calibri"/>
              <a:cs typeface="Calibri"/>
            </a:endParaRPr>
          </a:p>
          <a:p>
            <a:pPr marL="225425" marR="2446655" indent="-107314">
              <a:lnSpc>
                <a:spcPct val="107900"/>
              </a:lnSpc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j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95">
                <a:latin typeface="Calibri"/>
                <a:cs typeface="Calibri"/>
              </a:rPr>
              <a:t>(epochs):</a:t>
            </a:r>
            <a:r>
              <a:rPr dirty="0" sz="700" spc="50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random.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shuffle(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training_data) </a:t>
            </a:r>
            <a:r>
              <a:rPr dirty="0" sz="700" spc="85">
                <a:latin typeface="Calibri"/>
                <a:cs typeface="Calibri"/>
              </a:rPr>
              <a:t>mini_batches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[</a:t>
            </a:r>
            <a:endParaRPr sz="700">
              <a:latin typeface="Calibri"/>
              <a:cs typeface="Calibri"/>
            </a:endParaRPr>
          </a:p>
          <a:p>
            <a:pPr marL="332740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latin typeface="Calibri"/>
                <a:cs typeface="Calibri"/>
              </a:rPr>
              <a:t>training_data[k:k+mini_batch_size]</a:t>
            </a:r>
            <a:endParaRPr sz="700">
              <a:latin typeface="Calibri"/>
              <a:cs typeface="Calibri"/>
            </a:endParaRPr>
          </a:p>
          <a:p>
            <a:pPr marL="224790" marR="1808480" indent="106045">
              <a:lnSpc>
                <a:spcPct val="107900"/>
              </a:lnSpc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k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110">
                <a:latin typeface="Calibri"/>
                <a:cs typeface="Calibri"/>
              </a:rPr>
              <a:t>(0,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n,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mini_batch_size)]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mini_batches:</a:t>
            </a:r>
            <a:endParaRPr sz="700">
              <a:latin typeface="Calibri"/>
              <a:cs typeface="Calibri"/>
            </a:endParaRPr>
          </a:p>
          <a:p>
            <a:pPr marL="331470">
              <a:lnSpc>
                <a:spcPct val="100000"/>
              </a:lnSpc>
              <a:spcBef>
                <a:spcPts val="65"/>
              </a:spcBef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update_mini_batch(</a:t>
            </a:r>
            <a:endParaRPr sz="700">
              <a:latin typeface="Calibri"/>
              <a:cs typeface="Calibri"/>
            </a:endParaRPr>
          </a:p>
          <a:p>
            <a:pPr marL="225425" marR="1489710" indent="212090">
              <a:lnSpc>
                <a:spcPct val="107900"/>
              </a:lnSpc>
            </a:pPr>
            <a:r>
              <a:rPr dirty="0" sz="700" spc="80">
                <a:latin typeface="Calibri"/>
                <a:cs typeface="Calibri"/>
              </a:rPr>
              <a:t>mini_batch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eta,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20">
                <a:latin typeface="Calibri"/>
                <a:cs typeface="Calibri"/>
              </a:rPr>
              <a:t>lmbda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training_data)) 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32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solidFill>
                  <a:srgbClr val="007F00"/>
                </a:solidFill>
                <a:latin typeface="Calibri"/>
                <a:cs typeface="Calibri"/>
              </a:rPr>
              <a:t>"Epoch</a:t>
            </a:r>
            <a:r>
              <a:rPr dirty="0" sz="700" spc="33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7F00"/>
                </a:solidFill>
                <a:latin typeface="Calibri"/>
                <a:cs typeface="Calibri"/>
              </a:rPr>
              <a:t>%s</a:t>
            </a:r>
            <a:r>
              <a:rPr dirty="0" sz="700" spc="33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training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5">
                <a:solidFill>
                  <a:srgbClr val="007F00"/>
                </a:solidFill>
                <a:latin typeface="Calibri"/>
                <a:cs typeface="Calibri"/>
              </a:rPr>
              <a:t>complete"</a:t>
            </a:r>
            <a:r>
              <a:rPr dirty="0" sz="700" spc="31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%</a:t>
            </a:r>
            <a:r>
              <a:rPr dirty="0" sz="700" spc="310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j</a:t>
            </a:r>
            <a:endParaRPr sz="700">
              <a:latin typeface="Calibri"/>
              <a:cs typeface="Calibri"/>
            </a:endParaRPr>
          </a:p>
          <a:p>
            <a:pPr marL="224154">
              <a:lnSpc>
                <a:spcPct val="100000"/>
              </a:lnSpc>
              <a:spcBef>
                <a:spcPts val="70"/>
              </a:spcBef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monitor_training_cost:</a:t>
            </a:r>
            <a:endParaRPr sz="700">
              <a:latin typeface="Calibri"/>
              <a:cs typeface="Calibri"/>
            </a:endParaRPr>
          </a:p>
          <a:p>
            <a:pPr marL="332740" marR="1543050" indent="-1270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cost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total_cost(training_data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lmbda) </a:t>
            </a:r>
            <a:r>
              <a:rPr dirty="0" sz="700" spc="105">
                <a:latin typeface="Calibri"/>
                <a:cs typeface="Calibri"/>
              </a:rPr>
              <a:t>training_cost.append(cost)</a:t>
            </a:r>
            <a:endParaRPr sz="700">
              <a:latin typeface="Calibri"/>
              <a:cs typeface="Calibri"/>
            </a:endParaRPr>
          </a:p>
          <a:p>
            <a:pPr marL="224154" marR="1436370" indent="107314">
              <a:lnSpc>
                <a:spcPct val="107900"/>
              </a:lnSpc>
            </a:pP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"Cost</a:t>
            </a:r>
            <a:r>
              <a:rPr dirty="0" sz="700" spc="3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7F00"/>
                </a:solidFill>
                <a:latin typeface="Calibri"/>
                <a:cs typeface="Calibri"/>
              </a:rPr>
              <a:t>on</a:t>
            </a:r>
            <a:r>
              <a:rPr dirty="0" sz="700" spc="3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training</a:t>
            </a:r>
            <a:r>
              <a:rPr dirty="0" sz="700" spc="3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data: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{}"</a:t>
            </a:r>
            <a:r>
              <a:rPr dirty="0" sz="700" spc="120">
                <a:latin typeface="Calibri"/>
                <a:cs typeface="Calibri"/>
              </a:rPr>
              <a:t>.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20">
                <a:latin typeface="Calibri"/>
                <a:cs typeface="Calibri"/>
              </a:rPr>
              <a:t>(cost) </a:t>
            </a: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monitor_training_accuracy:</a:t>
            </a:r>
            <a:endParaRPr sz="700">
              <a:latin typeface="Calibri"/>
              <a:cs typeface="Calibri"/>
            </a:endParaRPr>
          </a:p>
          <a:p>
            <a:pPr marL="332740" marR="1064895" indent="-635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accuracy(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convert=True) </a:t>
            </a:r>
            <a:r>
              <a:rPr dirty="0" sz="700" spc="105">
                <a:latin typeface="Calibri"/>
                <a:cs typeface="Calibri"/>
              </a:rPr>
              <a:t>training_accuracy.append(</a:t>
            </a:r>
            <a:r>
              <a:rPr dirty="0" sz="700" spc="-2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accuracy)</a:t>
            </a:r>
            <a:endParaRPr sz="700">
              <a:latin typeface="Calibri"/>
              <a:cs typeface="Calibri"/>
            </a:endParaRPr>
          </a:p>
          <a:p>
            <a:pPr marL="224154" marR="586105" indent="107314">
              <a:lnSpc>
                <a:spcPct val="107900"/>
              </a:lnSpc>
            </a:pP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7F00"/>
                </a:solidFill>
                <a:latin typeface="Calibri"/>
                <a:cs typeface="Calibri"/>
              </a:rPr>
              <a:t>on</a:t>
            </a:r>
            <a:r>
              <a:rPr dirty="0" sz="700" spc="3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training</a:t>
            </a:r>
            <a:r>
              <a:rPr dirty="0" sz="700" spc="3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data: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50">
                <a:solidFill>
                  <a:srgbClr val="007F00"/>
                </a:solidFill>
                <a:latin typeface="Calibri"/>
                <a:cs typeface="Calibri"/>
              </a:rPr>
              <a:t>{}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/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7F00"/>
                </a:solidFill>
                <a:latin typeface="Calibri"/>
                <a:cs typeface="Calibri"/>
              </a:rPr>
              <a:t>{}"</a:t>
            </a:r>
            <a:r>
              <a:rPr dirty="0" sz="700" spc="110">
                <a:latin typeface="Calibri"/>
                <a:cs typeface="Calibri"/>
              </a:rPr>
              <a:t>.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10">
                <a:latin typeface="Calibri"/>
                <a:cs typeface="Calibri"/>
              </a:rPr>
              <a:t>(accuracy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n) </a:t>
            </a: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monitor_evaluation_cost:</a:t>
            </a:r>
            <a:endParaRPr sz="700">
              <a:latin typeface="Calibri"/>
              <a:cs typeface="Calibri"/>
            </a:endParaRPr>
          </a:p>
          <a:p>
            <a:pPr marL="332740" marR="692785" indent="-1270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cost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2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total_cost(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evaluation_data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20">
                <a:latin typeface="Calibri"/>
                <a:cs typeface="Calibri"/>
              </a:rPr>
              <a:t>lmbda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convert=True) </a:t>
            </a:r>
            <a:r>
              <a:rPr dirty="0" sz="700" spc="95">
                <a:latin typeface="Calibri"/>
                <a:cs typeface="Calibri"/>
              </a:rPr>
              <a:t>evaluation_cost.append(cost)</a:t>
            </a:r>
            <a:endParaRPr sz="700">
              <a:latin typeface="Calibri"/>
              <a:cs typeface="Calibri"/>
            </a:endParaRPr>
          </a:p>
          <a:p>
            <a:pPr marL="224154" marR="1330325" indent="107314">
              <a:lnSpc>
                <a:spcPct val="107900"/>
              </a:lnSpc>
            </a:pP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"Cost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7F00"/>
                </a:solidFill>
                <a:latin typeface="Calibri"/>
                <a:cs typeface="Calibri"/>
              </a:rPr>
              <a:t>on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evaluation</a:t>
            </a:r>
            <a:r>
              <a:rPr dirty="0" sz="700" spc="3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data:</a:t>
            </a:r>
            <a:r>
              <a:rPr dirty="0" sz="700" spc="34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{}"</a:t>
            </a:r>
            <a:r>
              <a:rPr dirty="0" sz="700" spc="120">
                <a:latin typeface="Calibri"/>
                <a:cs typeface="Calibri"/>
              </a:rPr>
              <a:t>.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20">
                <a:latin typeface="Calibri"/>
                <a:cs typeface="Calibri"/>
              </a:rPr>
              <a:t>(cost) </a:t>
            </a: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monitor_evaluation_accuracy:</a:t>
            </a:r>
            <a:endParaRPr sz="700">
              <a:latin typeface="Calibri"/>
              <a:cs typeface="Calibri"/>
            </a:endParaRPr>
          </a:p>
          <a:p>
            <a:pPr marL="332740" marR="1702435" indent="-635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accuracy(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evaluation_data) </a:t>
            </a:r>
            <a:r>
              <a:rPr dirty="0" sz="700" spc="100">
                <a:latin typeface="Calibri"/>
                <a:cs typeface="Calibri"/>
              </a:rPr>
              <a:t>evaluation_accuracy.append(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accuracy)</a:t>
            </a:r>
            <a:endParaRPr sz="700">
              <a:latin typeface="Calibri"/>
              <a:cs typeface="Calibri"/>
            </a:endParaRPr>
          </a:p>
          <a:p>
            <a:pPr marL="160655" marR="374015" indent="170815">
              <a:lnSpc>
                <a:spcPct val="107900"/>
              </a:lnSpc>
            </a:pP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9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7F00"/>
                </a:solidFill>
                <a:latin typeface="Calibri"/>
                <a:cs typeface="Calibri"/>
              </a:rPr>
              <a:t>on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evaluation</a:t>
            </a:r>
            <a:r>
              <a:rPr dirty="0" sz="700" spc="3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data:</a:t>
            </a:r>
            <a:r>
              <a:rPr dirty="0" sz="700" spc="34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50">
                <a:solidFill>
                  <a:srgbClr val="007F00"/>
                </a:solidFill>
                <a:latin typeface="Calibri"/>
                <a:cs typeface="Calibri"/>
              </a:rPr>
              <a:t>{}</a:t>
            </a:r>
            <a:r>
              <a:rPr dirty="0" sz="700" spc="34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/</a:t>
            </a:r>
            <a:r>
              <a:rPr dirty="0" sz="700" spc="34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45">
                <a:solidFill>
                  <a:srgbClr val="007F00"/>
                </a:solidFill>
                <a:latin typeface="Calibri"/>
                <a:cs typeface="Calibri"/>
              </a:rPr>
              <a:t>{}"</a:t>
            </a:r>
            <a:r>
              <a:rPr dirty="0" sz="700" spc="145">
                <a:latin typeface="Calibri"/>
                <a:cs typeface="Calibri"/>
              </a:rPr>
              <a:t>.</a:t>
            </a:r>
            <a:r>
              <a:rPr dirty="0" sz="700" spc="145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45">
                <a:latin typeface="Calibri"/>
                <a:cs typeface="Calibri"/>
              </a:rPr>
              <a:t>(self.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accuracy( </a:t>
            </a:r>
            <a:r>
              <a:rPr dirty="0" sz="700" spc="114">
                <a:latin typeface="Calibri"/>
                <a:cs typeface="Calibri"/>
              </a:rPr>
              <a:t>evaluation_data),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n_data)</a:t>
            </a:r>
            <a:endParaRPr sz="700">
              <a:latin typeface="Calibri"/>
              <a:cs typeface="Calibri"/>
            </a:endParaRPr>
          </a:p>
          <a:p>
            <a:pPr marL="225425">
              <a:lnSpc>
                <a:spcPct val="100000"/>
              </a:lnSpc>
              <a:spcBef>
                <a:spcPts val="65"/>
              </a:spcBef>
            </a:pP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endParaRPr sz="700">
              <a:latin typeface="Calibri"/>
              <a:cs typeface="Calibri"/>
            </a:endParaRPr>
          </a:p>
          <a:p>
            <a:pPr marL="119380">
              <a:lnSpc>
                <a:spcPct val="100000"/>
              </a:lnSpc>
              <a:spcBef>
                <a:spcPts val="70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9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evaluation_cost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evaluation_accuracy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training_cost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training_accuracy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9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update_mini_batch(self,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mini_batch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eta,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20">
                <a:latin typeface="Calibri"/>
                <a:cs typeface="Calibri"/>
              </a:rPr>
              <a:t>lmbda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n):</a:t>
            </a:r>
            <a:endParaRPr sz="700">
              <a:latin typeface="Calibri"/>
              <a:cs typeface="Calibri"/>
            </a:endParaRPr>
          </a:p>
          <a:p>
            <a:pPr marL="118745" marR="748665" indent="-63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Update</a:t>
            </a:r>
            <a:r>
              <a:rPr dirty="0" sz="700" spc="42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2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network’s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weights</a:t>
            </a:r>
            <a:r>
              <a:rPr dirty="0" sz="700" spc="42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42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r>
              <a:rPr dirty="0" sz="700" spc="42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42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applying</a:t>
            </a:r>
            <a:r>
              <a:rPr dirty="0" sz="700" spc="434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gradient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descent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backpropagation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single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mini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batch.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 ‘‘mini_batch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tuples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‘‘(x,</a:t>
            </a:r>
            <a:r>
              <a:rPr dirty="0" sz="700" spc="32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5" i="1">
                <a:solidFill>
                  <a:srgbClr val="980000"/>
                </a:solidFill>
                <a:latin typeface="Calibri"/>
                <a:cs typeface="Calibri"/>
              </a:rPr>
              <a:t>y)‘‘,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‘‘eta‘‘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learning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rate,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‘‘lmbda</a:t>
            </a:r>
            <a:r>
              <a:rPr dirty="0" sz="700" spc="-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regularization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parameter,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 ‘‘n‘‘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total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size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set.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8" name="object 8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235966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104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9514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080482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24852" y="942463"/>
            <a:ext cx="3365500" cy="1177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42620" indent="635">
              <a:lnSpc>
                <a:spcPct val="107900"/>
              </a:lnSpc>
              <a:spcBef>
                <a:spcPts val="100"/>
              </a:spcBef>
            </a:pPr>
            <a:r>
              <a:rPr dirty="0" sz="700" spc="75">
                <a:latin typeface="Calibri"/>
                <a:cs typeface="Calibri"/>
              </a:rPr>
              <a:t>nabla_b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[np.zeros(b.shape)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b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self.biases] </a:t>
            </a:r>
            <a:r>
              <a:rPr dirty="0" sz="700" spc="55">
                <a:latin typeface="Calibri"/>
                <a:cs typeface="Calibri"/>
              </a:rPr>
              <a:t>nabla_w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1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[np.zeros(w.shape)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weights]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mini_batch:</a:t>
            </a:r>
            <a:endParaRPr sz="700">
              <a:latin typeface="Calibri"/>
              <a:cs typeface="Calibri"/>
            </a:endParaRPr>
          </a:p>
          <a:p>
            <a:pPr marL="119380">
              <a:lnSpc>
                <a:spcPct val="100000"/>
              </a:lnSpc>
              <a:spcBef>
                <a:spcPts val="65"/>
              </a:spcBef>
            </a:pPr>
            <a:r>
              <a:rPr dirty="0" sz="700" spc="90">
                <a:latin typeface="Calibri"/>
                <a:cs typeface="Calibri"/>
              </a:rPr>
              <a:t>delta_nabla_b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delta_nabla_w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backprop(x,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y)</a:t>
            </a:r>
            <a:endParaRPr sz="700">
              <a:latin typeface="Calibri"/>
              <a:cs typeface="Calibri"/>
            </a:endParaRPr>
          </a:p>
          <a:p>
            <a:pPr marL="119380" marR="5080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nabla_b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[nb+dnb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nb,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dnb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05">
                <a:latin typeface="Calibri"/>
                <a:cs typeface="Calibri"/>
              </a:rPr>
              <a:t>(nabla_b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delta_nabla_b)] </a:t>
            </a:r>
            <a:r>
              <a:rPr dirty="0" sz="700" spc="55">
                <a:latin typeface="Calibri"/>
                <a:cs typeface="Calibri"/>
              </a:rPr>
              <a:t>nabla_w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[nw+dnw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nw,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dnw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90">
                <a:latin typeface="Calibri"/>
                <a:cs typeface="Calibri"/>
              </a:rPr>
              <a:t>(nabla_w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delta_nabla_w)]</a:t>
            </a:r>
            <a:endParaRPr sz="700">
              <a:latin typeface="Calibri"/>
              <a:cs typeface="Calibri"/>
            </a:endParaRPr>
          </a:p>
          <a:p>
            <a:pPr marL="437515" marR="165100" indent="-424815">
              <a:lnSpc>
                <a:spcPct val="107900"/>
              </a:lnSpc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weights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[(1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-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eta*(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lmbda/n))*w-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eta/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mini_batch))*nw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w,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nw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30">
                <a:latin typeface="Calibri"/>
                <a:cs typeface="Calibri"/>
              </a:rPr>
              <a:t>(self.weights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nabla_w)]</a:t>
            </a: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700" spc="140">
                <a:latin typeface="Calibri"/>
                <a:cs typeface="Calibri"/>
              </a:rPr>
              <a:t>self.biases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[b-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eta/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mini_batch))*nb</a:t>
            </a:r>
            <a:endParaRPr sz="700">
              <a:latin typeface="Calibri"/>
              <a:cs typeface="Calibri"/>
            </a:endParaRPr>
          </a:p>
          <a:p>
            <a:pPr marL="437515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b,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nb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0">
                <a:latin typeface="Calibri"/>
                <a:cs typeface="Calibri"/>
              </a:rPr>
              <a:t>(self.biases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nabla_b)]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18564" y="2208983"/>
            <a:ext cx="3788410" cy="578231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backprop(self,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118110" marR="42989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tuple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‘‘(nabla_b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nabla_w)‘‘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representing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function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C_x.</a:t>
            </a:r>
            <a:r>
              <a:rPr dirty="0" sz="700" spc="30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‘‘nabla_b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‘‘nabla_w</a:t>
            </a:r>
            <a:r>
              <a:rPr dirty="0" sz="700" spc="-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‘‘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layer-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by-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5" i="1">
                <a:solidFill>
                  <a:srgbClr val="980000"/>
                </a:solidFill>
                <a:latin typeface="Calibri"/>
                <a:cs typeface="Calibri"/>
              </a:rPr>
              <a:t>lists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numpy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arrays,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similar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‘‘self.biases‘‘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‘‘self.weights‘‘."""</a:t>
            </a:r>
            <a:endParaRPr sz="700">
              <a:latin typeface="Calibri"/>
              <a:cs typeface="Calibri"/>
            </a:endParaRPr>
          </a:p>
          <a:p>
            <a:pPr marL="116839" marR="958850" indent="1905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nabla_b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[np.zeros(b.shape)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b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self.biases] </a:t>
            </a:r>
            <a:r>
              <a:rPr dirty="0" sz="700" spc="55">
                <a:latin typeface="Calibri"/>
                <a:cs typeface="Calibri"/>
              </a:rPr>
              <a:t>nabla_w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1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[np.zeros(w.shape)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weights]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feedforward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70"/>
              </a:spcBef>
            </a:pPr>
            <a:r>
              <a:rPr dirty="0" sz="700" spc="120">
                <a:latin typeface="Calibri"/>
                <a:cs typeface="Calibri"/>
              </a:rPr>
              <a:t>activation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5">
                <a:latin typeface="Calibri"/>
                <a:cs typeface="Calibri"/>
              </a:rPr>
              <a:t>x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120">
                <a:latin typeface="Calibri"/>
                <a:cs typeface="Calibri"/>
              </a:rPr>
              <a:t>activations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[x]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store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all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activations,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endParaRPr sz="700">
              <a:latin typeface="Calibri"/>
              <a:cs typeface="Calibri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latin typeface="Calibri"/>
                <a:cs typeface="Calibri"/>
              </a:rPr>
              <a:t>zs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[]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store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all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z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vectors,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  <a:spcBef>
                <a:spcPts val="70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1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b,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40">
                <a:latin typeface="Calibri"/>
                <a:cs typeface="Calibri"/>
              </a:rPr>
              <a:t>(self.biases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weights):</a:t>
            </a:r>
            <a:endParaRPr sz="700">
              <a:latin typeface="Calibri"/>
              <a:cs typeface="Calibri"/>
            </a:endParaRPr>
          </a:p>
          <a:p>
            <a:pPr marL="224154" marR="2127885" indent="-1270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z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np.dot(w,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activation)+b </a:t>
            </a:r>
            <a:r>
              <a:rPr dirty="0" sz="700" spc="100">
                <a:latin typeface="Calibri"/>
                <a:cs typeface="Calibri"/>
              </a:rPr>
              <a:t>zs.append(z)</a:t>
            </a:r>
            <a:endParaRPr sz="700">
              <a:latin typeface="Calibri"/>
              <a:cs typeface="Calibri"/>
            </a:endParaRPr>
          </a:p>
          <a:p>
            <a:pPr marL="226060" marR="1968500" indent="-635">
              <a:lnSpc>
                <a:spcPct val="107900"/>
              </a:lnSpc>
            </a:pPr>
            <a:r>
              <a:rPr dirty="0" sz="700" spc="120">
                <a:latin typeface="Calibri"/>
                <a:cs typeface="Calibri"/>
              </a:rPr>
              <a:t>activation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sigmoid(z) </a:t>
            </a:r>
            <a:r>
              <a:rPr dirty="0" sz="700" spc="110">
                <a:latin typeface="Calibri"/>
                <a:cs typeface="Calibri"/>
              </a:rPr>
              <a:t>activations.append(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activation)</a:t>
            </a:r>
            <a:endParaRPr sz="700">
              <a:latin typeface="Calibri"/>
              <a:cs typeface="Calibri"/>
            </a:endParaRPr>
          </a:p>
          <a:p>
            <a:pPr marL="116839">
              <a:lnSpc>
                <a:spcPct val="100000"/>
              </a:lnSpc>
              <a:spcBef>
                <a:spcPts val="6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backward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pass</a:t>
            </a:r>
            <a:endParaRPr sz="700">
              <a:latin typeface="Calibri"/>
              <a:cs typeface="Calibri"/>
            </a:endParaRPr>
          </a:p>
          <a:p>
            <a:pPr marL="119380" marR="852805" indent="-635">
              <a:lnSpc>
                <a:spcPct val="107900"/>
              </a:lnSpc>
            </a:pPr>
            <a:r>
              <a:rPr dirty="0" sz="700" spc="105">
                <a:latin typeface="Calibri"/>
                <a:cs typeface="Calibri"/>
              </a:rPr>
              <a:t>delta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(self.cost).delta(zs[-</a:t>
            </a:r>
            <a:r>
              <a:rPr dirty="0" sz="700" spc="150">
                <a:latin typeface="Calibri"/>
                <a:cs typeface="Calibri"/>
              </a:rPr>
              <a:t>1],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activations[-</a:t>
            </a:r>
            <a:r>
              <a:rPr dirty="0" sz="700" spc="150">
                <a:latin typeface="Calibri"/>
                <a:cs typeface="Calibri"/>
              </a:rPr>
              <a:t>1],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y) </a:t>
            </a:r>
            <a:r>
              <a:rPr dirty="0" sz="700" spc="110">
                <a:latin typeface="Calibri"/>
                <a:cs typeface="Calibri"/>
              </a:rPr>
              <a:t>nabla_b[-</a:t>
            </a:r>
            <a:r>
              <a:rPr dirty="0" sz="700" spc="95">
                <a:latin typeface="Calibri"/>
                <a:cs typeface="Calibri"/>
              </a:rPr>
              <a:t>1]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delta</a:t>
            </a:r>
            <a:endParaRPr sz="700">
              <a:latin typeface="Calibri"/>
              <a:cs typeface="Calibri"/>
            </a:endParaRPr>
          </a:p>
          <a:p>
            <a:pPr marL="119380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latin typeface="Calibri"/>
                <a:cs typeface="Calibri"/>
              </a:rPr>
              <a:t>nabla_w[-1]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np.dot(delta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activations[-2].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transpose())</a:t>
            </a:r>
            <a:endParaRPr sz="700">
              <a:latin typeface="Calibri"/>
              <a:cs typeface="Calibri"/>
            </a:endParaRPr>
          </a:p>
          <a:p>
            <a:pPr marL="116839" marR="374650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variable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l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loop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below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little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differently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notation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Chapter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2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book.</a:t>
            </a:r>
            <a:r>
              <a:rPr dirty="0" sz="700" spc="30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Here,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l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=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1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means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last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neurons,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l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=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2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endParaRPr sz="700">
              <a:latin typeface="Calibri"/>
              <a:cs typeface="Calibri"/>
            </a:endParaRPr>
          </a:p>
          <a:p>
            <a:pPr marL="116839">
              <a:lnSpc>
                <a:spcPct val="100000"/>
              </a:lnSpc>
              <a:spcBef>
                <a:spcPts val="70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second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-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last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layer,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so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on.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It’s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renumbering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endParaRPr sz="700">
              <a:latin typeface="Calibri"/>
              <a:cs typeface="Calibri"/>
            </a:endParaRPr>
          </a:p>
          <a:p>
            <a:pPr marL="116839" marR="429895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scheme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book,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here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take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advantage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fact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Python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can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negative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indices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5" i="1">
                <a:solidFill>
                  <a:srgbClr val="980000"/>
                </a:solidFill>
                <a:latin typeface="Calibri"/>
                <a:cs typeface="Calibri"/>
              </a:rPr>
              <a:t>lists.</a:t>
            </a: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l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110">
                <a:latin typeface="Calibri"/>
                <a:cs typeface="Calibri"/>
              </a:rPr>
              <a:t>(2,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num_layers):</a:t>
            </a:r>
            <a:endParaRPr sz="700">
              <a:latin typeface="Calibri"/>
              <a:cs typeface="Calibri"/>
            </a:endParaRPr>
          </a:p>
          <a:p>
            <a:pPr marL="223520">
              <a:lnSpc>
                <a:spcPct val="100000"/>
              </a:lnSpc>
              <a:spcBef>
                <a:spcPts val="65"/>
              </a:spcBef>
            </a:pPr>
            <a:r>
              <a:rPr dirty="0" sz="700" spc="90">
                <a:latin typeface="Calibri"/>
                <a:cs typeface="Calibri"/>
              </a:rPr>
              <a:t>z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zs[-</a:t>
            </a:r>
            <a:r>
              <a:rPr dirty="0" sz="700" spc="175">
                <a:latin typeface="Calibri"/>
                <a:cs typeface="Calibri"/>
              </a:rPr>
              <a:t>l]</a:t>
            </a:r>
            <a:endParaRPr sz="700">
              <a:latin typeface="Calibri"/>
              <a:cs typeface="Calibri"/>
            </a:endParaRPr>
          </a:p>
          <a:p>
            <a:pPr marL="224154">
              <a:lnSpc>
                <a:spcPct val="100000"/>
              </a:lnSpc>
              <a:spcBef>
                <a:spcPts val="70"/>
              </a:spcBef>
            </a:pPr>
            <a:r>
              <a:rPr dirty="0" sz="700" spc="60">
                <a:latin typeface="Calibri"/>
                <a:cs typeface="Calibri"/>
              </a:rPr>
              <a:t>sp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sigmoid_prime(z)</a:t>
            </a:r>
            <a:endParaRPr sz="700">
              <a:latin typeface="Calibri"/>
              <a:cs typeface="Calibri"/>
            </a:endParaRPr>
          </a:p>
          <a:p>
            <a:pPr marL="226060" marR="481965" indent="-635">
              <a:lnSpc>
                <a:spcPct val="107900"/>
              </a:lnSpc>
            </a:pPr>
            <a:r>
              <a:rPr dirty="0" sz="700" spc="105">
                <a:latin typeface="Calibri"/>
                <a:cs typeface="Calibri"/>
              </a:rPr>
              <a:t>delta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np.dot(self.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weights[-</a:t>
            </a:r>
            <a:r>
              <a:rPr dirty="0" sz="700" spc="150">
                <a:latin typeface="Calibri"/>
                <a:cs typeface="Calibri"/>
              </a:rPr>
              <a:t>l+1].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transpose(),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delta)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*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35">
                <a:latin typeface="Calibri"/>
                <a:cs typeface="Calibri"/>
              </a:rPr>
              <a:t>sp</a:t>
            </a:r>
            <a:r>
              <a:rPr dirty="0" sz="700" spc="110">
                <a:latin typeface="Calibri"/>
                <a:cs typeface="Calibri"/>
              </a:rPr>
              <a:t> nabla_b[-</a:t>
            </a:r>
            <a:r>
              <a:rPr dirty="0" sz="700" spc="200">
                <a:latin typeface="Calibri"/>
                <a:cs typeface="Calibri"/>
              </a:rPr>
              <a:t>l]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delta</a:t>
            </a:r>
            <a:endParaRPr sz="700">
              <a:latin typeface="Calibri"/>
              <a:cs typeface="Calibri"/>
            </a:endParaRPr>
          </a:p>
          <a:p>
            <a:pPr marL="119380" marR="480695" indent="106045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nabla_w[-</a:t>
            </a:r>
            <a:r>
              <a:rPr dirty="0" sz="700" spc="200">
                <a:latin typeface="Calibri"/>
                <a:cs typeface="Calibri"/>
              </a:rPr>
              <a:t>l]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np.dot(delta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activations[-</a:t>
            </a:r>
            <a:r>
              <a:rPr dirty="0" sz="700" spc="235">
                <a:latin typeface="Calibri"/>
                <a:cs typeface="Calibri"/>
              </a:rPr>
              <a:t>l-</a:t>
            </a:r>
            <a:r>
              <a:rPr dirty="0" sz="700" spc="145">
                <a:latin typeface="Calibri"/>
                <a:cs typeface="Calibri"/>
              </a:rPr>
              <a:t>1].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transpose())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(nabla_b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nabla_w)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accuracy(self,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data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convert=False):</a:t>
            </a:r>
            <a:endParaRPr sz="700">
              <a:latin typeface="Calibri"/>
              <a:cs typeface="Calibri"/>
            </a:endParaRPr>
          </a:p>
          <a:p>
            <a:pPr marL="119380" marR="323850" indent="-1270">
              <a:lnSpc>
                <a:spcPct val="107900"/>
              </a:lnSpc>
              <a:spcBef>
                <a:spcPts val="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number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inputs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‘‘data‘‘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which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neural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outputs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correct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result.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network’s</a:t>
            </a:r>
            <a:endParaRPr sz="700">
              <a:latin typeface="Calibri"/>
              <a:cs typeface="Calibri"/>
            </a:endParaRPr>
          </a:p>
          <a:p>
            <a:pPr marL="119380" marR="482600">
              <a:lnSpc>
                <a:spcPct val="107900"/>
              </a:lnSpc>
            </a:pP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assumed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index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whichever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neuron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final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has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highest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activation.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marL="118745" marR="375920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flag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‘‘convert‘‘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should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set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False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set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is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validation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or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test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(the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usual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case),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True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set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data.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need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this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flag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arises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due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differences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way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results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‘‘y‘‘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represented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different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sets.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particular,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5" i="1">
                <a:solidFill>
                  <a:srgbClr val="980000"/>
                </a:solidFill>
                <a:latin typeface="Calibri"/>
                <a:cs typeface="Calibri"/>
              </a:rPr>
              <a:t>it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flags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whether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need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convert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between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different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representations.</a:t>
            </a:r>
            <a:r>
              <a:rPr dirty="0" sz="700" spc="30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It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may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seem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strange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different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representations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different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sets.</a:t>
            </a:r>
            <a:r>
              <a:rPr dirty="0" sz="700" spc="29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Why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not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same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representation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all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three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sets?</a:t>
            </a:r>
            <a:r>
              <a:rPr dirty="0" sz="700" spc="32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It’s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done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for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efficiency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reasons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-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-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program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usually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evaluates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8" name="object 8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65221" y="368721"/>
            <a:ext cx="271526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519680" algn="l"/>
              </a:tabLst>
            </a:pPr>
            <a:r>
              <a:rPr dirty="0" sz="850" spc="20">
                <a:latin typeface="Calibri"/>
                <a:cs typeface="Calibri"/>
              </a:rPr>
              <a:t>3.4.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Handwriting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revisited: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code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105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9510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440489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284287" y="942463"/>
            <a:ext cx="3310254" cy="601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" marR="5080" indent="-1270">
              <a:lnSpc>
                <a:spcPct val="107900"/>
              </a:lnSpc>
              <a:spcBef>
                <a:spcPts val="100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accuracy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other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sets.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These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different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types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computations,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different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representations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speeds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things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up.</a:t>
            </a:r>
            <a:r>
              <a:rPr dirty="0" sz="700" spc="32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More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details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representations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can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found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           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mnist_loader.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load_data_wrapper.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84287" y="1633292"/>
            <a:ext cx="3896360" cy="83185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convert:</a:t>
            </a:r>
            <a:endParaRPr sz="700">
              <a:latin typeface="Calibri"/>
              <a:cs typeface="Calibri"/>
            </a:endParaRPr>
          </a:p>
          <a:p>
            <a:pPr marL="53975" marR="5080" indent="66040">
              <a:lnSpc>
                <a:spcPct val="107900"/>
              </a:lnSpc>
            </a:pPr>
            <a:r>
              <a:rPr dirty="0" sz="700" spc="130">
                <a:latin typeface="Calibri"/>
                <a:cs typeface="Calibri"/>
              </a:rPr>
              <a:t>results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[(np.argmax(self.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feedforward(x)),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np.argmax(y))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(x,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y)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3FFF"/>
                </a:solidFill>
                <a:latin typeface="Calibri"/>
                <a:cs typeface="Calibri"/>
              </a:rPr>
              <a:t>in </a:t>
            </a:r>
            <a:r>
              <a:rPr dirty="0" sz="700" spc="90">
                <a:latin typeface="Calibri"/>
                <a:cs typeface="Calibri"/>
              </a:rPr>
              <a:t>data]</a:t>
            </a:r>
            <a:endParaRPr sz="7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70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else</a:t>
            </a:r>
            <a:r>
              <a:rPr dirty="0" sz="700" spc="125">
                <a:latin typeface="Calibri"/>
                <a:cs typeface="Calibri"/>
              </a:rPr>
              <a:t>: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130">
                <a:latin typeface="Calibri"/>
                <a:cs typeface="Calibri"/>
              </a:rPr>
              <a:t>results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[(np.argmax(self.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feedforward(x)),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y)</a:t>
            </a:r>
            <a:r>
              <a:rPr dirty="0" sz="700" spc="315">
                <a:latin typeface="Calibri"/>
                <a:cs typeface="Calibri"/>
              </a:rPr>
              <a:t> 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(x,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y)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data]</a:t>
            </a:r>
            <a:endParaRPr sz="7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sum</a:t>
            </a:r>
            <a:r>
              <a:rPr dirty="0" sz="700" spc="105">
                <a:latin typeface="Calibri"/>
                <a:cs typeface="Calibri"/>
              </a:rPr>
              <a:t>(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int</a:t>
            </a:r>
            <a:r>
              <a:rPr dirty="0" sz="700" spc="105">
                <a:latin typeface="Calibri"/>
                <a:cs typeface="Calibri"/>
              </a:rPr>
              <a:t>(x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y)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(x,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y)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results)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573841" y="5085171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2888255" y="5085171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2733256" y="6697105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3047669" y="6697105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1176907" y="2554398"/>
            <a:ext cx="4217035" cy="532193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1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8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total_cost(self,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data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20">
                <a:latin typeface="Calibri"/>
                <a:cs typeface="Calibri"/>
              </a:rPr>
              <a:t>lmbda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convert=False):</a:t>
            </a:r>
            <a:endParaRPr sz="700">
              <a:latin typeface="Calibri"/>
              <a:cs typeface="Calibri"/>
            </a:endParaRPr>
          </a:p>
          <a:p>
            <a:pPr marL="120014" marR="80327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total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set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‘‘data</a:t>
            </a:r>
            <a:r>
              <a:rPr dirty="0" sz="700" spc="-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20" i="1">
                <a:solidFill>
                  <a:srgbClr val="980000"/>
                </a:solidFill>
                <a:latin typeface="Calibri"/>
                <a:cs typeface="Calibri"/>
              </a:rPr>
              <a:t>‘‘.</a:t>
            </a:r>
            <a:r>
              <a:rPr dirty="0" sz="700" spc="31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flag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‘‘convert‘‘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should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set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False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set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(the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usual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case),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True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set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is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validation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or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test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data.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See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comments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similar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(but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reversed)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convention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‘‘accuracy‘‘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" i="1">
                <a:solidFill>
                  <a:srgbClr val="980000"/>
                </a:solidFill>
                <a:latin typeface="Calibri"/>
                <a:cs typeface="Calibri"/>
              </a:rPr>
              <a:t>method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above.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120650">
              <a:lnSpc>
                <a:spcPct val="100000"/>
              </a:lnSpc>
              <a:spcBef>
                <a:spcPts val="70"/>
              </a:spcBef>
            </a:pPr>
            <a:r>
              <a:rPr dirty="0" sz="700" spc="95">
                <a:latin typeface="Calibri"/>
                <a:cs typeface="Calibri"/>
              </a:rPr>
              <a:t>cost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0.0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x,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data:</a:t>
            </a:r>
            <a:endParaRPr sz="700">
              <a:latin typeface="Calibri"/>
              <a:cs typeface="Calibri"/>
            </a:endParaRPr>
          </a:p>
          <a:p>
            <a:pPr marL="120014" marR="2767965" indent="104775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a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feedforward(x) </a:t>
            </a: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convert:</a:t>
            </a:r>
            <a:endParaRPr sz="700">
              <a:latin typeface="Calibri"/>
              <a:cs typeface="Calibri"/>
            </a:endParaRPr>
          </a:p>
          <a:p>
            <a:pPr marL="224790">
              <a:lnSpc>
                <a:spcPct val="100000"/>
              </a:lnSpc>
              <a:spcBef>
                <a:spcPts val="70"/>
              </a:spcBef>
            </a:pPr>
            <a:r>
              <a:rPr dirty="0" sz="700" spc="50">
                <a:latin typeface="Calibri"/>
                <a:cs typeface="Calibri"/>
              </a:rPr>
              <a:t>y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vectorized_result(y)</a:t>
            </a:r>
            <a:endParaRPr sz="700">
              <a:latin typeface="Calibri"/>
              <a:cs typeface="Calibri"/>
            </a:endParaRPr>
          </a:p>
          <a:p>
            <a:pPr marL="120650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latin typeface="Calibri"/>
                <a:cs typeface="Calibri"/>
              </a:rPr>
              <a:t>cost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+=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self.cost.fn(a,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y)/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20">
                <a:latin typeface="Calibri"/>
                <a:cs typeface="Calibri"/>
              </a:rPr>
              <a:t>(data)</a:t>
            </a:r>
            <a:endParaRPr sz="700">
              <a:latin typeface="Calibri"/>
              <a:cs typeface="Calibri"/>
            </a:endParaRPr>
          </a:p>
          <a:p>
            <a:pPr marL="121285" marR="5080" indent="-635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cost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+=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0.5*(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lmbda/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05">
                <a:latin typeface="Calibri"/>
                <a:cs typeface="Calibri"/>
              </a:rPr>
              <a:t>(data))*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sum</a:t>
            </a:r>
            <a:r>
              <a:rPr dirty="0" sz="700" spc="95">
                <a:latin typeface="Calibri"/>
                <a:cs typeface="Calibri"/>
              </a:rPr>
              <a:t>(np.linalg.norm(w)**2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weights)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cost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save(self,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filename):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Save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5" i="1">
                <a:solidFill>
                  <a:srgbClr val="980000"/>
                </a:solidFill>
                <a:latin typeface="Calibri"/>
                <a:cs typeface="Calibri"/>
              </a:rPr>
              <a:t>file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‘‘filename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‘‘."""</a:t>
            </a:r>
            <a:endParaRPr sz="700">
              <a:latin typeface="Calibri"/>
              <a:cs typeface="Calibri"/>
            </a:endParaRPr>
          </a:p>
          <a:p>
            <a:pPr marL="120650">
              <a:lnSpc>
                <a:spcPct val="100000"/>
              </a:lnSpc>
              <a:spcBef>
                <a:spcPts val="65"/>
              </a:spcBef>
            </a:pPr>
            <a:r>
              <a:rPr dirty="0" sz="700" spc="75">
                <a:latin typeface="Calibri"/>
                <a:cs typeface="Calibri"/>
              </a:rPr>
              <a:t>data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{</a:t>
            </a:r>
            <a:r>
              <a:rPr dirty="0" sz="700" spc="150">
                <a:solidFill>
                  <a:srgbClr val="007F00"/>
                </a:solidFill>
                <a:latin typeface="Calibri"/>
                <a:cs typeface="Calibri"/>
              </a:rPr>
              <a:t>"sizes"</a:t>
            </a:r>
            <a:r>
              <a:rPr dirty="0" sz="700" spc="150">
                <a:latin typeface="Calibri"/>
                <a:cs typeface="Calibri"/>
              </a:rPr>
              <a:t>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self.sizes,</a:t>
            </a:r>
            <a:endParaRPr sz="700">
              <a:latin typeface="Calibri"/>
              <a:cs typeface="Calibri"/>
            </a:endParaRPr>
          </a:p>
          <a:p>
            <a:pPr marL="224790" marR="1545590">
              <a:lnSpc>
                <a:spcPct val="107900"/>
              </a:lnSpc>
            </a:pP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9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7F00"/>
                </a:solidFill>
                <a:latin typeface="Calibri"/>
                <a:cs typeface="Calibri"/>
              </a:rPr>
              <a:t>weights"</a:t>
            </a:r>
            <a:r>
              <a:rPr dirty="0" sz="700" spc="110">
                <a:latin typeface="Calibri"/>
                <a:cs typeface="Calibri"/>
              </a:rPr>
              <a:t>:</a:t>
            </a:r>
            <a:r>
              <a:rPr dirty="0" sz="700" spc="305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[w.tolist()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weights], </a:t>
            </a:r>
            <a:r>
              <a:rPr dirty="0" sz="700" spc="130">
                <a:solidFill>
                  <a:srgbClr val="007F00"/>
                </a:solidFill>
                <a:latin typeface="Calibri"/>
                <a:cs typeface="Calibri"/>
              </a:rPr>
              <a:t>"biases"</a:t>
            </a:r>
            <a:r>
              <a:rPr dirty="0" sz="700" spc="130">
                <a:latin typeface="Calibri"/>
                <a:cs typeface="Calibri"/>
              </a:rPr>
              <a:t>: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70">
                <a:latin typeface="Calibri"/>
                <a:cs typeface="Calibri"/>
              </a:rPr>
              <a:t>[b.tolist()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b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self.biases], </a:t>
            </a:r>
            <a:r>
              <a:rPr dirty="0" sz="700" spc="130">
                <a:solidFill>
                  <a:srgbClr val="007F00"/>
                </a:solidFill>
                <a:latin typeface="Calibri"/>
                <a:cs typeface="Calibri"/>
              </a:rPr>
              <a:t>"cost"</a:t>
            </a:r>
            <a:r>
              <a:rPr dirty="0" sz="700" spc="130">
                <a:latin typeface="Calibri"/>
                <a:cs typeface="Calibri"/>
              </a:rPr>
              <a:t>: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55">
                <a:solidFill>
                  <a:srgbClr val="003FFF"/>
                </a:solidFill>
                <a:latin typeface="Calibri"/>
                <a:cs typeface="Calibri"/>
              </a:rPr>
              <a:t>str</a:t>
            </a:r>
            <a:r>
              <a:rPr dirty="0" sz="700" spc="155">
                <a:latin typeface="Calibri"/>
                <a:cs typeface="Calibri"/>
              </a:rPr>
              <a:t>(self.cost.</a:t>
            </a:r>
            <a:r>
              <a:rPr dirty="0" sz="700" spc="310">
                <a:latin typeface="Calibri"/>
                <a:cs typeface="Calibri"/>
              </a:rPr>
              <a:t>  </a:t>
            </a:r>
            <a:r>
              <a:rPr dirty="0" sz="700">
                <a:latin typeface="Calibri"/>
                <a:cs typeface="Calibri"/>
              </a:rPr>
              <a:t>name</a:t>
            </a:r>
            <a:r>
              <a:rPr dirty="0" sz="700" spc="310">
                <a:latin typeface="Calibri"/>
                <a:cs typeface="Calibri"/>
              </a:rPr>
              <a:t>  </a:t>
            </a:r>
            <a:r>
              <a:rPr dirty="0" sz="700" spc="135">
                <a:latin typeface="Calibri"/>
                <a:cs typeface="Calibri"/>
              </a:rPr>
              <a:t>)}</a:t>
            </a:r>
            <a:endParaRPr sz="700">
              <a:latin typeface="Calibri"/>
              <a:cs typeface="Calibri"/>
            </a:endParaRPr>
          </a:p>
          <a:p>
            <a:pPr marL="118745" marR="2874645">
              <a:lnSpc>
                <a:spcPct val="107900"/>
              </a:lnSpc>
            </a:pPr>
            <a:r>
              <a:rPr dirty="0" sz="700" spc="150">
                <a:latin typeface="Calibri"/>
                <a:cs typeface="Calibri"/>
              </a:rPr>
              <a:t>f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85">
                <a:solidFill>
                  <a:srgbClr val="003FFF"/>
                </a:solidFill>
                <a:latin typeface="Calibri"/>
                <a:cs typeface="Calibri"/>
              </a:rPr>
              <a:t>open</a:t>
            </a:r>
            <a:r>
              <a:rPr dirty="0" sz="700" spc="85">
                <a:latin typeface="Calibri"/>
                <a:cs typeface="Calibri"/>
              </a:rPr>
              <a:t>(filename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65">
                <a:solidFill>
                  <a:srgbClr val="007F00"/>
                </a:solidFill>
                <a:latin typeface="Calibri"/>
                <a:cs typeface="Calibri"/>
              </a:rPr>
              <a:t>"w"</a:t>
            </a:r>
            <a:r>
              <a:rPr dirty="0" sz="700" spc="65">
                <a:latin typeface="Calibri"/>
                <a:cs typeface="Calibri"/>
              </a:rPr>
              <a:t>) </a:t>
            </a:r>
            <a:r>
              <a:rPr dirty="0" sz="700" spc="85">
                <a:latin typeface="Calibri"/>
                <a:cs typeface="Calibri"/>
              </a:rPr>
              <a:t>json.dump(data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f) </a:t>
            </a:r>
            <a:r>
              <a:rPr dirty="0" sz="700" spc="140">
                <a:latin typeface="Calibri"/>
                <a:cs typeface="Calibri"/>
              </a:rPr>
              <a:t>f.close()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42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Loading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endParaRPr sz="7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load(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filename):</a:t>
            </a:r>
            <a:endParaRPr sz="700">
              <a:latin typeface="Calibri"/>
              <a:cs typeface="Calibri"/>
            </a:endParaRPr>
          </a:p>
          <a:p>
            <a:pPr marL="121285" marR="696595" indent="-127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Load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from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5" i="1">
                <a:solidFill>
                  <a:srgbClr val="980000"/>
                </a:solidFill>
                <a:latin typeface="Calibri"/>
                <a:cs typeface="Calibri"/>
              </a:rPr>
              <a:t>file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‘‘filename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20" i="1">
                <a:solidFill>
                  <a:srgbClr val="980000"/>
                </a:solidFill>
                <a:latin typeface="Calibri"/>
                <a:cs typeface="Calibri"/>
              </a:rPr>
              <a:t>‘‘.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Returns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 instance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Network.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118745" marR="2874645">
              <a:lnSpc>
                <a:spcPct val="107900"/>
              </a:lnSpc>
            </a:pPr>
            <a:r>
              <a:rPr dirty="0" sz="700" spc="150">
                <a:latin typeface="Calibri"/>
                <a:cs typeface="Calibri"/>
              </a:rPr>
              <a:t>f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85">
                <a:solidFill>
                  <a:srgbClr val="003FFF"/>
                </a:solidFill>
                <a:latin typeface="Calibri"/>
                <a:cs typeface="Calibri"/>
              </a:rPr>
              <a:t>open</a:t>
            </a:r>
            <a:r>
              <a:rPr dirty="0" sz="700" spc="85">
                <a:latin typeface="Calibri"/>
                <a:cs typeface="Calibri"/>
              </a:rPr>
              <a:t>(filename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"r"</a:t>
            </a:r>
            <a:r>
              <a:rPr dirty="0" sz="700" spc="125">
                <a:latin typeface="Calibri"/>
                <a:cs typeface="Calibri"/>
              </a:rPr>
              <a:t>) </a:t>
            </a:r>
            <a:r>
              <a:rPr dirty="0" sz="700" spc="75">
                <a:latin typeface="Calibri"/>
                <a:cs typeface="Calibri"/>
              </a:rPr>
              <a:t>data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json.load(f) </a:t>
            </a:r>
            <a:r>
              <a:rPr dirty="0" sz="700" spc="140">
                <a:latin typeface="Calibri"/>
                <a:cs typeface="Calibri"/>
              </a:rPr>
              <a:t>f.close()</a:t>
            </a:r>
            <a:endParaRPr sz="700">
              <a:latin typeface="Calibri"/>
              <a:cs typeface="Calibri"/>
            </a:endParaRPr>
          </a:p>
          <a:p>
            <a:pPr marL="120014" marR="1387475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cost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getattr</a:t>
            </a:r>
            <a:r>
              <a:rPr dirty="0" sz="700" spc="140">
                <a:latin typeface="Calibri"/>
                <a:cs typeface="Calibri"/>
              </a:rPr>
              <a:t>(sys.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modules[</a:t>
            </a:r>
            <a:r>
              <a:rPr dirty="0" sz="700" spc="300">
                <a:latin typeface="Calibri"/>
                <a:cs typeface="Calibri"/>
              </a:rPr>
              <a:t>  </a:t>
            </a:r>
            <a:r>
              <a:rPr dirty="0" sz="700">
                <a:latin typeface="Calibri"/>
                <a:cs typeface="Calibri"/>
              </a:rPr>
              <a:t>name</a:t>
            </a:r>
            <a:r>
              <a:rPr dirty="0" sz="700" spc="300">
                <a:latin typeface="Calibri"/>
                <a:cs typeface="Calibri"/>
              </a:rPr>
              <a:t>  </a:t>
            </a:r>
            <a:r>
              <a:rPr dirty="0" sz="700" spc="195">
                <a:latin typeface="Calibri"/>
                <a:cs typeface="Calibri"/>
              </a:rPr>
              <a:t>],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data[</a:t>
            </a:r>
            <a:r>
              <a:rPr dirty="0" sz="700" spc="114">
                <a:solidFill>
                  <a:srgbClr val="007F00"/>
                </a:solidFill>
                <a:latin typeface="Calibri"/>
                <a:cs typeface="Calibri"/>
              </a:rPr>
              <a:t>"cost"</a:t>
            </a:r>
            <a:r>
              <a:rPr dirty="0" sz="700" spc="114">
                <a:latin typeface="Calibri"/>
                <a:cs typeface="Calibri"/>
              </a:rPr>
              <a:t>])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Network(data[</a:t>
            </a:r>
            <a:r>
              <a:rPr dirty="0" sz="700" spc="114">
                <a:solidFill>
                  <a:srgbClr val="007F00"/>
                </a:solidFill>
                <a:latin typeface="Calibri"/>
                <a:cs typeface="Calibri"/>
              </a:rPr>
              <a:t>"sizes"</a:t>
            </a:r>
            <a:r>
              <a:rPr dirty="0" sz="700" spc="114">
                <a:latin typeface="Calibri"/>
                <a:cs typeface="Calibri"/>
              </a:rPr>
              <a:t>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cost=cost)</a:t>
            </a:r>
            <a:endParaRPr sz="700">
              <a:latin typeface="Calibri"/>
              <a:cs typeface="Calibri"/>
            </a:endParaRPr>
          </a:p>
          <a:p>
            <a:pPr marL="120014" marR="1335405">
              <a:lnSpc>
                <a:spcPct val="107900"/>
              </a:lnSpc>
            </a:pPr>
            <a:r>
              <a:rPr dirty="0" sz="700" spc="114">
                <a:latin typeface="Calibri"/>
                <a:cs typeface="Calibri"/>
              </a:rPr>
              <a:t>net.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weights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1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[np.array(w)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w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data[</a:t>
            </a:r>
            <a:r>
              <a:rPr dirty="0" sz="700" spc="110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9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weights"</a:t>
            </a:r>
            <a:r>
              <a:rPr dirty="0" sz="700" spc="105">
                <a:latin typeface="Calibri"/>
                <a:cs typeface="Calibri"/>
              </a:rPr>
              <a:t>]] </a:t>
            </a:r>
            <a:r>
              <a:rPr dirty="0" sz="700" spc="114">
                <a:latin typeface="Calibri"/>
                <a:cs typeface="Calibri"/>
              </a:rPr>
              <a:t>net.biases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[np.array(b)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b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data[</a:t>
            </a:r>
            <a:r>
              <a:rPr dirty="0" sz="700" spc="114">
                <a:solidFill>
                  <a:srgbClr val="007F00"/>
                </a:solidFill>
                <a:latin typeface="Calibri"/>
                <a:cs typeface="Calibri"/>
              </a:rPr>
              <a:t>"biases"</a:t>
            </a:r>
            <a:r>
              <a:rPr dirty="0" sz="700" spc="114">
                <a:latin typeface="Calibri"/>
                <a:cs typeface="Calibri"/>
              </a:rPr>
              <a:t>]]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45">
                <a:latin typeface="Calibri"/>
                <a:cs typeface="Calibri"/>
              </a:rPr>
              <a:t>net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4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Miscellaneous</a:t>
            </a:r>
            <a:r>
              <a:rPr dirty="0" sz="700" spc="45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functions</a:t>
            </a:r>
            <a:endParaRPr sz="7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vectorized_result(j):</a:t>
            </a:r>
            <a:endParaRPr sz="700">
              <a:latin typeface="Calibri"/>
              <a:cs typeface="Calibri"/>
            </a:endParaRPr>
          </a:p>
          <a:p>
            <a:pPr marL="120014" marR="37909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Return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10-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dimensional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unit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vector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1.0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j’th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position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zeroes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elsewhere.</a:t>
            </a:r>
            <a:r>
              <a:rPr dirty="0" sz="700" spc="31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This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convert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digit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5" i="1">
                <a:solidFill>
                  <a:srgbClr val="980000"/>
                </a:solidFill>
                <a:latin typeface="Calibri"/>
                <a:cs typeface="Calibri"/>
              </a:rPr>
              <a:t>(0...9)</a:t>
            </a:r>
            <a:endParaRPr sz="700">
              <a:latin typeface="Calibri"/>
              <a:cs typeface="Calibri"/>
            </a:endParaRPr>
          </a:p>
          <a:p>
            <a:pPr marL="120650">
              <a:lnSpc>
                <a:spcPct val="100000"/>
              </a:lnSpc>
              <a:spcBef>
                <a:spcPts val="70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into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corresponding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desired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output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from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network.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13" name="object 13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235966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106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9514" y="971994"/>
            <a:ext cx="4401185" cy="1381760"/>
          </a:xfrm>
          <a:custGeom>
            <a:avLst/>
            <a:gdLst/>
            <a:ahLst/>
            <a:cxnLst/>
            <a:rect l="l" t="t" r="r" b="b"/>
            <a:pathLst>
              <a:path w="4401185" h="1381760">
                <a:moveTo>
                  <a:pt x="0" y="115138"/>
                </a:moveTo>
                <a:lnTo>
                  <a:pt x="0" y="0"/>
                </a:lnTo>
              </a:path>
              <a:path w="4401185" h="1381760">
                <a:moveTo>
                  <a:pt x="4400967" y="115138"/>
                </a:moveTo>
                <a:lnTo>
                  <a:pt x="4400967" y="0"/>
                </a:lnTo>
              </a:path>
              <a:path w="4401185" h="1381760">
                <a:moveTo>
                  <a:pt x="0" y="230276"/>
                </a:moveTo>
                <a:lnTo>
                  <a:pt x="0" y="115138"/>
                </a:lnTo>
              </a:path>
              <a:path w="4401185" h="1381760">
                <a:moveTo>
                  <a:pt x="4400967" y="230276"/>
                </a:moveTo>
                <a:lnTo>
                  <a:pt x="4400967" y="115138"/>
                </a:lnTo>
              </a:path>
              <a:path w="4401185" h="1381760">
                <a:moveTo>
                  <a:pt x="0" y="345414"/>
                </a:moveTo>
                <a:lnTo>
                  <a:pt x="0" y="230276"/>
                </a:lnTo>
              </a:path>
              <a:path w="4401185" h="1381760">
                <a:moveTo>
                  <a:pt x="4400967" y="345414"/>
                </a:moveTo>
                <a:lnTo>
                  <a:pt x="4400967" y="230276"/>
                </a:lnTo>
              </a:path>
              <a:path w="4401185" h="1381760">
                <a:moveTo>
                  <a:pt x="0" y="460552"/>
                </a:moveTo>
                <a:lnTo>
                  <a:pt x="0" y="345414"/>
                </a:lnTo>
              </a:path>
              <a:path w="4401185" h="1381760">
                <a:moveTo>
                  <a:pt x="4400967" y="460552"/>
                </a:moveTo>
                <a:lnTo>
                  <a:pt x="4400967" y="345414"/>
                </a:lnTo>
              </a:path>
              <a:path w="4401185" h="1381760">
                <a:moveTo>
                  <a:pt x="0" y="575691"/>
                </a:moveTo>
                <a:lnTo>
                  <a:pt x="0" y="460552"/>
                </a:lnTo>
              </a:path>
              <a:path w="4401185" h="1381760">
                <a:moveTo>
                  <a:pt x="4400967" y="575691"/>
                </a:moveTo>
                <a:lnTo>
                  <a:pt x="4400967" y="460552"/>
                </a:lnTo>
              </a:path>
              <a:path w="4401185" h="1381760">
                <a:moveTo>
                  <a:pt x="0" y="690829"/>
                </a:moveTo>
                <a:lnTo>
                  <a:pt x="0" y="575691"/>
                </a:lnTo>
              </a:path>
              <a:path w="4401185" h="1381760">
                <a:moveTo>
                  <a:pt x="4400967" y="690829"/>
                </a:moveTo>
                <a:lnTo>
                  <a:pt x="4400967" y="575691"/>
                </a:lnTo>
              </a:path>
              <a:path w="4401185" h="1381760">
                <a:moveTo>
                  <a:pt x="0" y="805967"/>
                </a:moveTo>
                <a:lnTo>
                  <a:pt x="0" y="690829"/>
                </a:lnTo>
              </a:path>
              <a:path w="4401185" h="1381760">
                <a:moveTo>
                  <a:pt x="4400967" y="805967"/>
                </a:moveTo>
                <a:lnTo>
                  <a:pt x="4400967" y="690829"/>
                </a:lnTo>
              </a:path>
              <a:path w="4401185" h="1381760">
                <a:moveTo>
                  <a:pt x="0" y="921105"/>
                </a:moveTo>
                <a:lnTo>
                  <a:pt x="0" y="805967"/>
                </a:lnTo>
              </a:path>
              <a:path w="4401185" h="1381760">
                <a:moveTo>
                  <a:pt x="4400967" y="921105"/>
                </a:moveTo>
                <a:lnTo>
                  <a:pt x="4400967" y="805967"/>
                </a:lnTo>
              </a:path>
              <a:path w="4401185" h="1381760">
                <a:moveTo>
                  <a:pt x="0" y="1036243"/>
                </a:moveTo>
                <a:lnTo>
                  <a:pt x="0" y="921105"/>
                </a:lnTo>
              </a:path>
              <a:path w="4401185" h="1381760">
                <a:moveTo>
                  <a:pt x="4400967" y="1036243"/>
                </a:moveTo>
                <a:lnTo>
                  <a:pt x="4400967" y="921105"/>
                </a:lnTo>
              </a:path>
              <a:path w="4401185" h="1381760">
                <a:moveTo>
                  <a:pt x="0" y="1151382"/>
                </a:moveTo>
                <a:lnTo>
                  <a:pt x="0" y="1036243"/>
                </a:lnTo>
              </a:path>
              <a:path w="4401185" h="1381760">
                <a:moveTo>
                  <a:pt x="4400967" y="1151382"/>
                </a:moveTo>
                <a:lnTo>
                  <a:pt x="4400967" y="1036243"/>
                </a:lnTo>
              </a:path>
              <a:path w="4401185" h="1381760">
                <a:moveTo>
                  <a:pt x="0" y="1266520"/>
                </a:moveTo>
                <a:lnTo>
                  <a:pt x="0" y="1151382"/>
                </a:lnTo>
              </a:path>
              <a:path w="4401185" h="1381760">
                <a:moveTo>
                  <a:pt x="4400967" y="1266520"/>
                </a:moveTo>
                <a:lnTo>
                  <a:pt x="4400967" y="1151382"/>
                </a:lnTo>
              </a:path>
              <a:path w="4401185" h="1381760">
                <a:moveTo>
                  <a:pt x="0" y="1381658"/>
                </a:moveTo>
                <a:lnTo>
                  <a:pt x="0" y="1266520"/>
                </a:lnTo>
              </a:path>
              <a:path w="4401185" h="1381760">
                <a:moveTo>
                  <a:pt x="4400967" y="1381658"/>
                </a:moveTo>
                <a:lnTo>
                  <a:pt x="4400967" y="126652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2042" y="942463"/>
            <a:ext cx="4396105" cy="140716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255270">
              <a:lnSpc>
                <a:spcPct val="100000"/>
              </a:lnSpc>
              <a:spcBef>
                <a:spcPts val="16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253365" marR="3024505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e</a:t>
            </a:r>
            <a:r>
              <a:rPr dirty="0" sz="700" spc="32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np.zeros((10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1)) </a:t>
            </a:r>
            <a:r>
              <a:rPr dirty="0" sz="700" spc="165">
                <a:latin typeface="Calibri"/>
                <a:cs typeface="Calibri"/>
              </a:rPr>
              <a:t>e[j]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1.0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-50">
                <a:latin typeface="Calibri"/>
                <a:cs typeface="Calibri"/>
              </a:rPr>
              <a:t>e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48590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sigmoid(z):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70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sigmoid</a:t>
            </a:r>
            <a:r>
              <a:rPr dirty="0" sz="700" spc="4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function."""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4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1.0/(1.0+np.exp(-</a:t>
            </a:r>
            <a:r>
              <a:rPr dirty="0" sz="700" spc="140">
                <a:latin typeface="Calibri"/>
                <a:cs typeface="Calibri"/>
              </a:rPr>
              <a:t>z))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48590">
              <a:lnSpc>
                <a:spcPct val="100000"/>
              </a:lnSpc>
              <a:spcBef>
                <a:spcPts val="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sigmoid_prime(z):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Derivative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sigmoid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function."""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9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sigmoid(z)*(1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-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sigmoid(z))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76984" y="2353652"/>
            <a:ext cx="4406265" cy="43180"/>
          </a:xfrm>
          <a:custGeom>
            <a:avLst/>
            <a:gdLst/>
            <a:ahLst/>
            <a:cxnLst/>
            <a:rect l="l" t="t" r="r" b="b"/>
            <a:pathLst>
              <a:path w="4406265" h="43180">
                <a:moveTo>
                  <a:pt x="2529" y="43014"/>
                </a:moveTo>
                <a:lnTo>
                  <a:pt x="2529" y="0"/>
                </a:lnTo>
              </a:path>
              <a:path w="4406265" h="43180">
                <a:moveTo>
                  <a:pt x="0" y="40487"/>
                </a:moveTo>
                <a:lnTo>
                  <a:pt x="43016" y="40487"/>
                </a:lnTo>
              </a:path>
              <a:path w="4406265" h="43180">
                <a:moveTo>
                  <a:pt x="43016" y="40487"/>
                </a:moveTo>
                <a:lnTo>
                  <a:pt x="4363010" y="40487"/>
                </a:lnTo>
              </a:path>
              <a:path w="4406265" h="43180">
                <a:moveTo>
                  <a:pt x="4363010" y="40487"/>
                </a:moveTo>
                <a:lnTo>
                  <a:pt x="4406025" y="40487"/>
                </a:lnTo>
              </a:path>
              <a:path w="4406265" h="43180">
                <a:moveTo>
                  <a:pt x="4403497" y="43014"/>
                </a:moveTo>
                <a:lnTo>
                  <a:pt x="4403497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99754" y="2417312"/>
            <a:ext cx="4380865" cy="23958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just" marL="19685" marR="9525" indent="-6350">
              <a:lnSpc>
                <a:spcPct val="111100"/>
              </a:lnSpc>
              <a:spcBef>
                <a:spcPts val="130"/>
              </a:spcBef>
            </a:pPr>
            <a:r>
              <a:rPr dirty="0" sz="850" spc="20">
                <a:latin typeface="Calibri"/>
                <a:cs typeface="Calibri"/>
              </a:rPr>
              <a:t>One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interesting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include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L2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Although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major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conceptual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trivial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miss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involves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passing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lmbda</a:t>
            </a:r>
            <a:r>
              <a:rPr dirty="0" sz="90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various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methods,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notably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Network.SGD</a:t>
            </a:r>
            <a:r>
              <a:rPr dirty="0" sz="90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fourth-last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Network.update_mini_batch</a:t>
            </a:r>
            <a:r>
              <a:rPr dirty="0" sz="90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method.</a:t>
            </a:r>
            <a:r>
              <a:rPr dirty="0" sz="850" spc="3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modify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include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decay.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although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modification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tiny,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impact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results!</a:t>
            </a:r>
            <a:endParaRPr sz="850">
              <a:latin typeface="Calibri"/>
              <a:cs typeface="Calibri"/>
            </a:endParaRPr>
          </a:p>
          <a:p>
            <a:pPr algn="just" marL="12700" marR="5080" indent="196850">
              <a:lnSpc>
                <a:spcPct val="114300"/>
              </a:lnSpc>
              <a:spcBef>
                <a:spcPts val="5"/>
              </a:spcBef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common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techniques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thousands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conceptually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subtle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trivial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program!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surprisingly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sophisticated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implemented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code.</a:t>
            </a:r>
            <a:endParaRPr sz="850">
              <a:latin typeface="Calibri"/>
              <a:cs typeface="Calibri"/>
            </a:endParaRPr>
          </a:p>
          <a:p>
            <a:pPr algn="just" marL="13335" marR="9525" indent="196215">
              <a:lnSpc>
                <a:spcPct val="111000"/>
              </a:lnSpc>
              <a:spcBef>
                <a:spcPts val="40"/>
              </a:spcBef>
            </a:pP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important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optional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flags</a:t>
            </a:r>
            <a:r>
              <a:rPr dirty="0" sz="850" spc="30">
                <a:latin typeface="Calibri"/>
                <a:cs typeface="Calibri"/>
              </a:rPr>
              <a:t> 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stochastic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gradient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descent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method,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Network.SGD.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flags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make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possible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monitor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either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900" spc="90">
                <a:latin typeface="Calibri"/>
                <a:cs typeface="Calibri"/>
              </a:rPr>
              <a:t>training_data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900" spc="60">
                <a:latin typeface="Calibri"/>
                <a:cs typeface="Calibri"/>
              </a:rPr>
              <a:t>evaluation_data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passed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Network.SGD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flags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chapter,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remind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you: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9514" y="4870526"/>
            <a:ext cx="4401185" cy="111760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mnist_loader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 </a:t>
            </a:r>
            <a:r>
              <a:rPr dirty="0" sz="700" spc="100">
                <a:latin typeface="Calibri"/>
                <a:cs typeface="Calibri"/>
              </a:rPr>
              <a:t>mnist_loader.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load_data_wrapper()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network2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10],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cost=network2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CrossEntropyCost)</a:t>
            </a:r>
            <a:endParaRPr sz="700">
              <a:latin typeface="Calibri"/>
              <a:cs typeface="Calibri"/>
            </a:endParaRPr>
          </a:p>
          <a:p>
            <a:pPr marL="299085" marR="688975" indent="-253365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net.SGD(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0.5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lmbda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5.0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evaluation_data=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</a:t>
            </a:r>
            <a:endParaRPr sz="700">
              <a:latin typeface="Calibri"/>
              <a:cs typeface="Calibri"/>
            </a:endParaRPr>
          </a:p>
          <a:p>
            <a:pPr marL="299720" marR="795655" indent="-254635">
              <a:lnSpc>
                <a:spcPct val="107900"/>
              </a:lnSpc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42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monitor_evaluation_accuracy=True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monitor_evaluation_cost=True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100">
                <a:latin typeface="Calibri"/>
                <a:cs typeface="Calibri"/>
              </a:rPr>
              <a:t>monitor_training_accuracy=True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70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monitor_training_cost=True)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300" y="6011828"/>
            <a:ext cx="4349115" cy="106108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12700" marR="5080">
              <a:lnSpc>
                <a:spcPct val="109800"/>
              </a:lnSpc>
              <a:spcBef>
                <a:spcPts val="80"/>
              </a:spcBef>
            </a:pPr>
            <a:r>
              <a:rPr dirty="0" sz="850">
                <a:latin typeface="Calibri"/>
                <a:cs typeface="Calibri"/>
              </a:rPr>
              <a:t>Here,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900" spc="70">
                <a:latin typeface="Calibri"/>
                <a:cs typeface="Calibri"/>
              </a:rPr>
              <a:t>evaluation_data</a:t>
            </a:r>
            <a:r>
              <a:rPr dirty="0" sz="90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validation_data</a:t>
            </a:r>
            <a:r>
              <a:rPr dirty="0" sz="850" spc="8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also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monitored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test_data</a:t>
            </a:r>
            <a:r>
              <a:rPr dirty="0" sz="90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flags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monitor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900" spc="70">
                <a:latin typeface="Calibri"/>
                <a:cs typeface="Calibri"/>
              </a:rPr>
              <a:t>evaluation_data</a:t>
            </a:r>
            <a:r>
              <a:rPr dirty="0" sz="90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training_data</a:t>
            </a:r>
            <a:r>
              <a:rPr dirty="0" sz="850" spc="85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flags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False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default,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order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monitor our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Network</a:t>
            </a:r>
            <a:r>
              <a:rPr dirty="0" sz="850" spc="10">
                <a:latin typeface="Calibri"/>
                <a:cs typeface="Calibri"/>
              </a:rPr>
              <a:t>’s</a:t>
            </a:r>
            <a:r>
              <a:rPr dirty="0" sz="850" spc="20">
                <a:latin typeface="Calibri"/>
                <a:cs typeface="Calibri"/>
              </a:rPr>
              <a:t> performance.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Furthermore,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network2.py</a:t>
            </a:r>
            <a:r>
              <a:rPr dirty="0" sz="850" spc="20">
                <a:latin typeface="Calibri"/>
                <a:cs typeface="Calibri"/>
              </a:rPr>
              <a:t>’s </a:t>
            </a:r>
            <a:r>
              <a:rPr dirty="0" sz="900" spc="20">
                <a:latin typeface="Calibri"/>
                <a:cs typeface="Calibri"/>
              </a:rPr>
              <a:t>Network.SGD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method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returns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four-element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tuple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representing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monitoring.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follows: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9514" y="7130453"/>
            <a:ext cx="4401185" cy="54165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evaluation_cost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evaluation_accuracy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 </a:t>
            </a:r>
            <a:r>
              <a:rPr dirty="0" sz="700" spc="114">
                <a:latin typeface="Calibri"/>
                <a:cs typeface="Calibri"/>
              </a:rPr>
              <a:t>training_cost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training_accuracy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45">
                <a:latin typeface="Calibri"/>
                <a:cs typeface="Calibri"/>
              </a:rPr>
              <a:t>net</a:t>
            </a:r>
            <a:endParaRPr sz="700">
              <a:latin typeface="Calibri"/>
              <a:cs typeface="Calibri"/>
            </a:endParaRPr>
          </a:p>
          <a:p>
            <a:pPr marL="297815" marR="117475" indent="-1270">
              <a:lnSpc>
                <a:spcPct val="107900"/>
              </a:lnSpc>
            </a:pPr>
            <a:r>
              <a:rPr dirty="0" sz="700" spc="85">
                <a:latin typeface="Calibri"/>
                <a:cs typeface="Calibri"/>
              </a:rPr>
              <a:t>.SGD(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0.5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 </a:t>
            </a:r>
            <a:r>
              <a:rPr dirty="0" sz="700">
                <a:latin typeface="Calibri"/>
                <a:cs typeface="Calibri"/>
              </a:rPr>
              <a:t>lmbda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5.0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evaluation_data=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1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monitor_evaluation_accuracy=True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monitor_evaluation_cost= </a:t>
            </a:r>
            <a:r>
              <a:rPr dirty="0" sz="700" spc="60">
                <a:latin typeface="Calibri"/>
                <a:cs typeface="Calibri"/>
              </a:rPr>
              <a:t>True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monitor_training_accuracy=True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monitor_training_cost=True)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7301" y="7690831"/>
            <a:ext cx="4345940" cy="326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 indent="189230">
              <a:lnSpc>
                <a:spcPct val="112599"/>
              </a:lnSpc>
              <a:spcBef>
                <a:spcPts val="90"/>
              </a:spcBef>
            </a:pPr>
            <a:r>
              <a:rPr dirty="0" sz="850" spc="10">
                <a:latin typeface="Calibri"/>
                <a:cs typeface="Calibri"/>
              </a:rPr>
              <a:t>So,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evaluation_cost</a:t>
            </a:r>
            <a:r>
              <a:rPr dirty="0" sz="90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30-element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evaluation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epoch.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sort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information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extremely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useful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12" name="object 12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3143" y="368721"/>
            <a:ext cx="4617720" cy="32639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464310">
              <a:lnSpc>
                <a:spcPts val="525"/>
              </a:lnSpc>
              <a:spcBef>
                <a:spcPts val="110"/>
              </a:spcBef>
              <a:tabLst>
                <a:tab pos="4422140" algn="l"/>
              </a:tabLst>
            </a:pPr>
            <a:r>
              <a:rPr dirty="0" sz="850">
                <a:latin typeface="Calibri"/>
                <a:cs typeface="Calibri"/>
              </a:rPr>
              <a:t>3.5.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parameters?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107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6510" marR="27241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behaviour.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draw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graphs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showing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constructed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graphs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monitoring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flags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element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tuple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empty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list.</a:t>
            </a:r>
            <a:endParaRPr sz="850">
              <a:latin typeface="Calibri"/>
              <a:cs typeface="Calibri"/>
            </a:endParaRPr>
          </a:p>
          <a:p>
            <a:pPr algn="just" marL="16510" marR="272415" indent="189230">
              <a:lnSpc>
                <a:spcPts val="1170"/>
              </a:lnSpc>
              <a:spcBef>
                <a:spcPts val="60"/>
              </a:spcBef>
            </a:pP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include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Network.save</a:t>
            </a:r>
            <a:r>
              <a:rPr dirty="0" sz="90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</a:t>
            </a:r>
            <a:r>
              <a:rPr dirty="0" sz="90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objects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disk,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load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saving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loading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JSON,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Python’s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pickle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cPickle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modules,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save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load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objects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disk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Python.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JSON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requires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pickle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cPickle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JSON,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imagine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future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decided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</a:t>
            </a:r>
            <a:r>
              <a:rPr dirty="0" sz="90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allow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sigmoid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attributes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Network.</a:t>
            </a:r>
            <a:r>
              <a:rPr dirty="0" u="sng" sz="900" spc="3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900" spc="170">
                <a:latin typeface="Calibri"/>
                <a:cs typeface="Calibri"/>
              </a:rPr>
              <a:t>init</a:t>
            </a:r>
            <a:r>
              <a:rPr dirty="0" u="sng" sz="900" spc="2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850">
                <a:latin typeface="Calibri"/>
                <a:cs typeface="Calibri"/>
              </a:rPr>
              <a:t>method.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pickled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objects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load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fail.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JSON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serialization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ensure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load.</a:t>
            </a:r>
            <a:endParaRPr sz="850">
              <a:latin typeface="Calibri"/>
              <a:cs typeface="Calibri"/>
            </a:endParaRPr>
          </a:p>
          <a:p>
            <a:pPr algn="just" marL="206375">
              <a:lnSpc>
                <a:spcPts val="1075"/>
              </a:lnSpc>
            </a:pP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network2.py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simple</a:t>
            </a:r>
            <a:endParaRPr sz="850">
              <a:latin typeface="Calibri"/>
              <a:cs typeface="Calibri"/>
            </a:endParaRPr>
          </a:p>
          <a:p>
            <a:pPr algn="just" marL="16510" marR="272415" indent="-4445">
              <a:lnSpc>
                <a:spcPts val="1170"/>
              </a:lnSpc>
              <a:spcBef>
                <a:spcPts val="50"/>
              </a:spcBef>
            </a:pPr>
            <a:r>
              <a:rPr dirty="0" sz="850" spc="20">
                <a:latin typeface="Calibri"/>
                <a:cs typeface="Calibri"/>
              </a:rPr>
              <a:t>variations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network.py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74-line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capable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152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lines.</a:t>
            </a:r>
            <a:endParaRPr sz="850">
              <a:latin typeface="Calibri"/>
              <a:cs typeface="Calibri"/>
            </a:endParaRPr>
          </a:p>
          <a:p>
            <a:pPr marL="16510">
              <a:lnSpc>
                <a:spcPct val="100000"/>
              </a:lnSpc>
              <a:spcBef>
                <a:spcPts val="55"/>
              </a:spcBef>
            </a:pPr>
            <a:r>
              <a:rPr dirty="0" sz="1050" spc="40" b="1">
                <a:latin typeface="Calibri"/>
                <a:cs typeface="Calibri"/>
              </a:rPr>
              <a:t>Problems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3143" y="3602265"/>
            <a:ext cx="4377055" cy="3362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32740" marR="32384" indent="-118745">
              <a:lnSpc>
                <a:spcPct val="114300"/>
              </a:lnSpc>
              <a:spcBef>
                <a:spcPts val="95"/>
              </a:spcBef>
              <a:buFont typeface="Cambria"/>
              <a:buChar char="•"/>
              <a:tabLst>
                <a:tab pos="332740" algn="l"/>
              </a:tabLst>
            </a:pPr>
            <a:r>
              <a:rPr dirty="0" sz="850" spc="20">
                <a:latin typeface="Calibri"/>
                <a:cs typeface="Calibri"/>
              </a:rPr>
              <a:t>Modify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L1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L1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enables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unregularized?</a:t>
            </a:r>
            <a:endParaRPr sz="850">
              <a:latin typeface="Calibri"/>
              <a:cs typeface="Calibri"/>
            </a:endParaRPr>
          </a:p>
          <a:p>
            <a:pPr algn="just" marL="326390" marR="5080" indent="-112395">
              <a:lnSpc>
                <a:spcPts val="1170"/>
              </a:lnSpc>
              <a:spcBef>
                <a:spcPts val="60"/>
              </a:spcBef>
              <a:buFont typeface="Cambria"/>
              <a:buChar char="•"/>
              <a:tabLst>
                <a:tab pos="326390" algn="l"/>
                <a:tab pos="332105" algn="l"/>
              </a:tabLst>
            </a:pPr>
            <a:r>
              <a:rPr dirty="0" sz="850">
                <a:latin typeface="Calibri"/>
                <a:cs typeface="Calibri"/>
              </a:rPr>
              <a:t>	Take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Network.cost_derivative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network.py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method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 written for the quadratic cost.</a:t>
            </a:r>
            <a:r>
              <a:rPr dirty="0" sz="850" spc="55">
                <a:latin typeface="Calibri"/>
                <a:cs typeface="Calibri"/>
              </a:rPr>
              <a:t> How </a:t>
            </a:r>
            <a:r>
              <a:rPr dirty="0" sz="850">
                <a:latin typeface="Calibri"/>
                <a:cs typeface="Calibri"/>
              </a:rPr>
              <a:t>would you rewrite the method for the </a:t>
            </a:r>
            <a:r>
              <a:rPr dirty="0" sz="850" spc="-10">
                <a:latin typeface="Calibri"/>
                <a:cs typeface="Calibri"/>
              </a:rPr>
              <a:t>cross-</a:t>
            </a:r>
            <a:r>
              <a:rPr dirty="0" sz="850">
                <a:latin typeface="Calibri"/>
                <a:cs typeface="Calibri"/>
              </a:rPr>
              <a:t>entropy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cost?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arise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version?</a:t>
            </a:r>
            <a:r>
              <a:rPr dirty="0" sz="850" spc="50">
                <a:latin typeface="Calibri"/>
                <a:cs typeface="Calibri"/>
              </a:rPr>
              <a:t> In </a:t>
            </a:r>
            <a:r>
              <a:rPr dirty="0" sz="900" spc="30">
                <a:latin typeface="Calibri"/>
                <a:cs typeface="Calibri"/>
              </a:rPr>
              <a:t>network2.py</a:t>
            </a:r>
            <a:r>
              <a:rPr dirty="0" sz="90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eliminated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Network.cost_derivative</a:t>
            </a:r>
            <a:r>
              <a:rPr dirty="0" sz="90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method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entirely,</a:t>
            </a:r>
            <a:r>
              <a:rPr dirty="0" sz="850" spc="20">
                <a:latin typeface="Calibri"/>
                <a:cs typeface="Calibri"/>
              </a:rPr>
              <a:t> instead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incorporating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functionality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CrossEntropyCost.delta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method.</a:t>
            </a:r>
            <a:r>
              <a:rPr dirty="0" sz="850" spc="55">
                <a:latin typeface="Calibri"/>
                <a:cs typeface="Calibri"/>
              </a:rPr>
              <a:t> 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identified?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15"/>
              </a:spcBef>
            </a:pPr>
            <a:endParaRPr sz="850">
              <a:latin typeface="Calibri"/>
              <a:cs typeface="Calibri"/>
            </a:endParaRPr>
          </a:p>
          <a:p>
            <a:pPr marL="16510">
              <a:lnSpc>
                <a:spcPct val="100000"/>
              </a:lnSpc>
              <a:tabLst>
                <a:tab pos="344170" algn="l"/>
              </a:tabLst>
            </a:pPr>
            <a:r>
              <a:rPr dirty="0" sz="1050" spc="30" b="1">
                <a:latin typeface="Calibri"/>
                <a:cs typeface="Calibri"/>
              </a:rPr>
              <a:t>3.5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70" b="1">
                <a:latin typeface="Calibri"/>
                <a:cs typeface="Calibri"/>
              </a:rPr>
              <a:t>How</a:t>
            </a:r>
            <a:r>
              <a:rPr dirty="0" sz="1050" spc="155" b="1">
                <a:latin typeface="Calibri"/>
                <a:cs typeface="Calibri"/>
              </a:rPr>
              <a:t> </a:t>
            </a:r>
            <a:r>
              <a:rPr dirty="0" sz="1050" spc="20" b="1">
                <a:latin typeface="Calibri"/>
                <a:cs typeface="Calibri"/>
              </a:rPr>
              <a:t>to</a:t>
            </a:r>
            <a:r>
              <a:rPr dirty="0" sz="1050" spc="155" b="1">
                <a:latin typeface="Calibri"/>
                <a:cs typeface="Calibri"/>
              </a:rPr>
              <a:t> </a:t>
            </a:r>
            <a:r>
              <a:rPr dirty="0" sz="1050" spc="20" b="1">
                <a:latin typeface="Calibri"/>
                <a:cs typeface="Calibri"/>
              </a:rPr>
              <a:t>choose</a:t>
            </a:r>
            <a:r>
              <a:rPr dirty="0" sz="1050" spc="155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a</a:t>
            </a:r>
            <a:r>
              <a:rPr dirty="0" sz="1050" spc="155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neural</a:t>
            </a:r>
            <a:r>
              <a:rPr dirty="0" sz="1050" spc="155" b="1">
                <a:latin typeface="Calibri"/>
                <a:cs typeface="Calibri"/>
              </a:rPr>
              <a:t> </a:t>
            </a:r>
            <a:r>
              <a:rPr dirty="0" sz="1050" spc="20" b="1">
                <a:latin typeface="Calibri"/>
                <a:cs typeface="Calibri"/>
              </a:rPr>
              <a:t>network’s</a:t>
            </a:r>
            <a:r>
              <a:rPr dirty="0" sz="1050" spc="155" b="1">
                <a:latin typeface="Calibri"/>
                <a:cs typeface="Calibri"/>
              </a:rPr>
              <a:t> </a:t>
            </a:r>
            <a:r>
              <a:rPr dirty="0" sz="1050" spc="20" b="1">
                <a:latin typeface="Calibri"/>
                <a:cs typeface="Calibri"/>
              </a:rPr>
              <a:t>hyper-</a:t>
            </a:r>
            <a:r>
              <a:rPr dirty="0" sz="1050" spc="-10" b="1">
                <a:latin typeface="Calibri"/>
                <a:cs typeface="Calibri"/>
              </a:rPr>
              <a:t>parameters?</a:t>
            </a:r>
            <a:endParaRPr sz="1050">
              <a:latin typeface="Calibri"/>
              <a:cs typeface="Calibri"/>
            </a:endParaRPr>
          </a:p>
          <a:p>
            <a:pPr algn="just" marL="12700" marR="9525" indent="3810">
              <a:lnSpc>
                <a:spcPct val="114300"/>
              </a:lnSpc>
              <a:spcBef>
                <a:spcPts val="1025"/>
              </a:spcBef>
            </a:pP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until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such</a:t>
            </a:r>
            <a:r>
              <a:rPr dirty="0" sz="850" spc="20">
                <a:latin typeface="Calibri"/>
                <a:cs typeface="Calibri"/>
              </a:rPr>
              <a:t> as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rate,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η</a:t>
            </a:r>
            <a:r>
              <a:rPr dirty="0" sz="850" spc="8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5" i="1">
                <a:latin typeface="Times New Roman"/>
                <a:cs typeface="Times New Roman"/>
              </a:rPr>
              <a:t>λ</a:t>
            </a:r>
            <a:r>
              <a:rPr dirty="0" sz="850" spc="105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supplying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attack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hyper-parameters.</a:t>
            </a:r>
            <a:r>
              <a:rPr dirty="0" sz="850" spc="4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Imagine,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just</a:t>
            </a:r>
            <a:r>
              <a:rPr dirty="0" sz="850" spc="20">
                <a:latin typeface="Calibri"/>
                <a:cs typeface="Calibri"/>
              </a:rPr>
              <a:t> been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introduced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begun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knowing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nothing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fortune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first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earlier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chapter:</a:t>
            </a:r>
            <a:r>
              <a:rPr dirty="0" sz="850" spc="4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10,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cross-entropy.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90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35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10.0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parameter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1000.0.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run: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036980" y="7167626"/>
            <a:ext cx="4406265" cy="848994"/>
          </a:xfrm>
          <a:custGeom>
            <a:avLst/>
            <a:gdLst/>
            <a:ahLst/>
            <a:cxnLst/>
            <a:rect l="l" t="t" r="r" b="b"/>
            <a:pathLst>
              <a:path w="4406265" h="848995">
                <a:moveTo>
                  <a:pt x="2529" y="43014"/>
                </a:moveTo>
                <a:lnTo>
                  <a:pt x="2529" y="0"/>
                </a:lnTo>
              </a:path>
              <a:path w="4406265" h="848995">
                <a:moveTo>
                  <a:pt x="0" y="2514"/>
                </a:moveTo>
                <a:lnTo>
                  <a:pt x="43016" y="2514"/>
                </a:lnTo>
              </a:path>
              <a:path w="4406265" h="848995">
                <a:moveTo>
                  <a:pt x="43016" y="2514"/>
                </a:moveTo>
                <a:lnTo>
                  <a:pt x="4363008" y="2514"/>
                </a:lnTo>
              </a:path>
              <a:path w="4406265" h="848995">
                <a:moveTo>
                  <a:pt x="4363021" y="2514"/>
                </a:moveTo>
                <a:lnTo>
                  <a:pt x="4406036" y="2514"/>
                </a:lnTo>
              </a:path>
              <a:path w="4406265" h="848995">
                <a:moveTo>
                  <a:pt x="4403509" y="43014"/>
                </a:moveTo>
                <a:lnTo>
                  <a:pt x="4403509" y="0"/>
                </a:lnTo>
              </a:path>
              <a:path w="4406265" h="848995">
                <a:moveTo>
                  <a:pt x="2529" y="158153"/>
                </a:moveTo>
                <a:lnTo>
                  <a:pt x="2529" y="43014"/>
                </a:lnTo>
              </a:path>
              <a:path w="4406265" h="848995">
                <a:moveTo>
                  <a:pt x="4403509" y="158153"/>
                </a:moveTo>
                <a:lnTo>
                  <a:pt x="4403509" y="43014"/>
                </a:lnTo>
              </a:path>
              <a:path w="4406265" h="848995">
                <a:moveTo>
                  <a:pt x="2529" y="273290"/>
                </a:moveTo>
                <a:lnTo>
                  <a:pt x="2529" y="158153"/>
                </a:lnTo>
              </a:path>
              <a:path w="4406265" h="848995">
                <a:moveTo>
                  <a:pt x="4403509" y="273290"/>
                </a:moveTo>
                <a:lnTo>
                  <a:pt x="4403509" y="158153"/>
                </a:lnTo>
              </a:path>
              <a:path w="4406265" h="848995">
                <a:moveTo>
                  <a:pt x="2529" y="388428"/>
                </a:moveTo>
                <a:lnTo>
                  <a:pt x="2529" y="273290"/>
                </a:lnTo>
              </a:path>
              <a:path w="4406265" h="848995">
                <a:moveTo>
                  <a:pt x="4403509" y="388428"/>
                </a:moveTo>
                <a:lnTo>
                  <a:pt x="4403509" y="273290"/>
                </a:lnTo>
              </a:path>
              <a:path w="4406265" h="848995">
                <a:moveTo>
                  <a:pt x="2529" y="503566"/>
                </a:moveTo>
                <a:lnTo>
                  <a:pt x="2529" y="388428"/>
                </a:lnTo>
              </a:path>
              <a:path w="4406265" h="848995">
                <a:moveTo>
                  <a:pt x="4403509" y="503566"/>
                </a:moveTo>
                <a:lnTo>
                  <a:pt x="4403509" y="388428"/>
                </a:lnTo>
              </a:path>
              <a:path w="4406265" h="848995">
                <a:moveTo>
                  <a:pt x="2529" y="618705"/>
                </a:moveTo>
                <a:lnTo>
                  <a:pt x="2529" y="503566"/>
                </a:lnTo>
              </a:path>
              <a:path w="4406265" h="848995">
                <a:moveTo>
                  <a:pt x="4403509" y="618705"/>
                </a:moveTo>
                <a:lnTo>
                  <a:pt x="4403509" y="503566"/>
                </a:lnTo>
              </a:path>
              <a:path w="4406265" h="848995">
                <a:moveTo>
                  <a:pt x="2529" y="733844"/>
                </a:moveTo>
                <a:lnTo>
                  <a:pt x="2529" y="618705"/>
                </a:lnTo>
              </a:path>
              <a:path w="4406265" h="848995">
                <a:moveTo>
                  <a:pt x="4403509" y="733844"/>
                </a:moveTo>
                <a:lnTo>
                  <a:pt x="4403509" y="618705"/>
                </a:lnTo>
              </a:path>
              <a:path w="4406265" h="848995">
                <a:moveTo>
                  <a:pt x="2529" y="848982"/>
                </a:moveTo>
                <a:lnTo>
                  <a:pt x="2529" y="733844"/>
                </a:lnTo>
              </a:path>
              <a:path w="4406265" h="848995">
                <a:moveTo>
                  <a:pt x="4403509" y="848982"/>
                </a:moveTo>
                <a:lnTo>
                  <a:pt x="4403509" y="733844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42037" y="7296248"/>
            <a:ext cx="4396105" cy="71628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1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mnist_loader</a:t>
            </a: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\</a:t>
            </a:r>
            <a:endParaRPr sz="70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  <a:spcBef>
                <a:spcPts val="70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mnist_loader.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load_data_wrapper()</a:t>
            </a: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network2</a:t>
            </a: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10.0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lmbda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1000.0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7" name="object 7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235966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108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9514" y="971994"/>
            <a:ext cx="4401185" cy="2533650"/>
          </a:xfrm>
          <a:custGeom>
            <a:avLst/>
            <a:gdLst/>
            <a:ahLst/>
            <a:cxnLst/>
            <a:rect l="l" t="t" r="r" b="b"/>
            <a:pathLst>
              <a:path w="4401185" h="2533650">
                <a:moveTo>
                  <a:pt x="0" y="115138"/>
                </a:moveTo>
                <a:lnTo>
                  <a:pt x="0" y="0"/>
                </a:lnTo>
              </a:path>
              <a:path w="4401185" h="2533650">
                <a:moveTo>
                  <a:pt x="4400967" y="115138"/>
                </a:moveTo>
                <a:lnTo>
                  <a:pt x="4400967" y="0"/>
                </a:lnTo>
              </a:path>
              <a:path w="4401185" h="2533650">
                <a:moveTo>
                  <a:pt x="0" y="230276"/>
                </a:moveTo>
                <a:lnTo>
                  <a:pt x="0" y="115138"/>
                </a:lnTo>
              </a:path>
              <a:path w="4401185" h="2533650">
                <a:moveTo>
                  <a:pt x="4400967" y="230276"/>
                </a:moveTo>
                <a:lnTo>
                  <a:pt x="4400967" y="115138"/>
                </a:lnTo>
              </a:path>
              <a:path w="4401185" h="2533650">
                <a:moveTo>
                  <a:pt x="0" y="345414"/>
                </a:moveTo>
                <a:lnTo>
                  <a:pt x="0" y="230276"/>
                </a:lnTo>
              </a:path>
              <a:path w="4401185" h="2533650">
                <a:moveTo>
                  <a:pt x="4400967" y="345414"/>
                </a:moveTo>
                <a:lnTo>
                  <a:pt x="4400967" y="230276"/>
                </a:lnTo>
              </a:path>
              <a:path w="4401185" h="2533650">
                <a:moveTo>
                  <a:pt x="0" y="460552"/>
                </a:moveTo>
                <a:lnTo>
                  <a:pt x="0" y="345414"/>
                </a:lnTo>
              </a:path>
              <a:path w="4401185" h="2533650">
                <a:moveTo>
                  <a:pt x="4400967" y="460552"/>
                </a:moveTo>
                <a:lnTo>
                  <a:pt x="4400967" y="345414"/>
                </a:lnTo>
              </a:path>
              <a:path w="4401185" h="2533650">
                <a:moveTo>
                  <a:pt x="0" y="575691"/>
                </a:moveTo>
                <a:lnTo>
                  <a:pt x="0" y="460552"/>
                </a:lnTo>
              </a:path>
              <a:path w="4401185" h="2533650">
                <a:moveTo>
                  <a:pt x="4400967" y="575691"/>
                </a:moveTo>
                <a:lnTo>
                  <a:pt x="4400967" y="460552"/>
                </a:lnTo>
              </a:path>
              <a:path w="4401185" h="2533650">
                <a:moveTo>
                  <a:pt x="0" y="690829"/>
                </a:moveTo>
                <a:lnTo>
                  <a:pt x="0" y="575691"/>
                </a:lnTo>
              </a:path>
              <a:path w="4401185" h="2533650">
                <a:moveTo>
                  <a:pt x="4400967" y="690829"/>
                </a:moveTo>
                <a:lnTo>
                  <a:pt x="4400967" y="575691"/>
                </a:lnTo>
              </a:path>
              <a:path w="4401185" h="2533650">
                <a:moveTo>
                  <a:pt x="0" y="805967"/>
                </a:moveTo>
                <a:lnTo>
                  <a:pt x="0" y="690829"/>
                </a:lnTo>
              </a:path>
              <a:path w="4401185" h="2533650">
                <a:moveTo>
                  <a:pt x="4400967" y="805967"/>
                </a:moveTo>
                <a:lnTo>
                  <a:pt x="4400967" y="690829"/>
                </a:lnTo>
              </a:path>
              <a:path w="4401185" h="2533650">
                <a:moveTo>
                  <a:pt x="0" y="921105"/>
                </a:moveTo>
                <a:lnTo>
                  <a:pt x="0" y="805967"/>
                </a:lnTo>
              </a:path>
              <a:path w="4401185" h="2533650">
                <a:moveTo>
                  <a:pt x="4400967" y="921105"/>
                </a:moveTo>
                <a:lnTo>
                  <a:pt x="4400967" y="805967"/>
                </a:lnTo>
              </a:path>
              <a:path w="4401185" h="2533650">
                <a:moveTo>
                  <a:pt x="0" y="1036243"/>
                </a:moveTo>
                <a:lnTo>
                  <a:pt x="0" y="921105"/>
                </a:lnTo>
              </a:path>
              <a:path w="4401185" h="2533650">
                <a:moveTo>
                  <a:pt x="4400967" y="1036243"/>
                </a:moveTo>
                <a:lnTo>
                  <a:pt x="4400967" y="921105"/>
                </a:lnTo>
              </a:path>
              <a:path w="4401185" h="2533650">
                <a:moveTo>
                  <a:pt x="0" y="1151382"/>
                </a:moveTo>
                <a:lnTo>
                  <a:pt x="0" y="1036243"/>
                </a:lnTo>
              </a:path>
              <a:path w="4401185" h="2533650">
                <a:moveTo>
                  <a:pt x="4400967" y="1151382"/>
                </a:moveTo>
                <a:lnTo>
                  <a:pt x="4400967" y="1036243"/>
                </a:lnTo>
              </a:path>
              <a:path w="4401185" h="2533650">
                <a:moveTo>
                  <a:pt x="0" y="1266520"/>
                </a:moveTo>
                <a:lnTo>
                  <a:pt x="0" y="1151382"/>
                </a:lnTo>
              </a:path>
              <a:path w="4401185" h="2533650">
                <a:moveTo>
                  <a:pt x="4400967" y="1266520"/>
                </a:moveTo>
                <a:lnTo>
                  <a:pt x="4400967" y="1151382"/>
                </a:lnTo>
              </a:path>
              <a:path w="4401185" h="2533650">
                <a:moveTo>
                  <a:pt x="0" y="1381658"/>
                </a:moveTo>
                <a:lnTo>
                  <a:pt x="0" y="1266520"/>
                </a:lnTo>
              </a:path>
              <a:path w="4401185" h="2533650">
                <a:moveTo>
                  <a:pt x="4400967" y="1381658"/>
                </a:moveTo>
                <a:lnTo>
                  <a:pt x="4400967" y="1266520"/>
                </a:lnTo>
              </a:path>
              <a:path w="4401185" h="2533650">
                <a:moveTo>
                  <a:pt x="0" y="1496796"/>
                </a:moveTo>
                <a:lnTo>
                  <a:pt x="0" y="1381658"/>
                </a:lnTo>
              </a:path>
              <a:path w="4401185" h="2533650">
                <a:moveTo>
                  <a:pt x="4400967" y="1496796"/>
                </a:moveTo>
                <a:lnTo>
                  <a:pt x="4400967" y="1381658"/>
                </a:lnTo>
              </a:path>
              <a:path w="4401185" h="2533650">
                <a:moveTo>
                  <a:pt x="0" y="1611934"/>
                </a:moveTo>
                <a:lnTo>
                  <a:pt x="0" y="1496796"/>
                </a:lnTo>
              </a:path>
              <a:path w="4401185" h="2533650">
                <a:moveTo>
                  <a:pt x="4400967" y="1611934"/>
                </a:moveTo>
                <a:lnTo>
                  <a:pt x="4400967" y="1496796"/>
                </a:lnTo>
              </a:path>
              <a:path w="4401185" h="2533650">
                <a:moveTo>
                  <a:pt x="0" y="1727073"/>
                </a:moveTo>
                <a:lnTo>
                  <a:pt x="0" y="1611934"/>
                </a:lnTo>
              </a:path>
              <a:path w="4401185" h="2533650">
                <a:moveTo>
                  <a:pt x="4400967" y="1727073"/>
                </a:moveTo>
                <a:lnTo>
                  <a:pt x="4400967" y="1611934"/>
                </a:lnTo>
              </a:path>
              <a:path w="4401185" h="2533650">
                <a:moveTo>
                  <a:pt x="0" y="1842211"/>
                </a:moveTo>
                <a:lnTo>
                  <a:pt x="0" y="1727073"/>
                </a:lnTo>
              </a:path>
              <a:path w="4401185" h="2533650">
                <a:moveTo>
                  <a:pt x="4400967" y="1842211"/>
                </a:moveTo>
                <a:lnTo>
                  <a:pt x="4400967" y="1727073"/>
                </a:lnTo>
              </a:path>
              <a:path w="4401185" h="2533650">
                <a:moveTo>
                  <a:pt x="0" y="1957349"/>
                </a:moveTo>
                <a:lnTo>
                  <a:pt x="0" y="1842211"/>
                </a:lnTo>
              </a:path>
              <a:path w="4401185" h="2533650">
                <a:moveTo>
                  <a:pt x="4400967" y="1957349"/>
                </a:moveTo>
                <a:lnTo>
                  <a:pt x="4400967" y="1842211"/>
                </a:lnTo>
              </a:path>
              <a:path w="4401185" h="2533650">
                <a:moveTo>
                  <a:pt x="0" y="2072487"/>
                </a:moveTo>
                <a:lnTo>
                  <a:pt x="0" y="1957349"/>
                </a:lnTo>
              </a:path>
              <a:path w="4401185" h="2533650">
                <a:moveTo>
                  <a:pt x="4400967" y="2072487"/>
                </a:moveTo>
                <a:lnTo>
                  <a:pt x="4400967" y="1957349"/>
                </a:lnTo>
              </a:path>
              <a:path w="4401185" h="2533650">
                <a:moveTo>
                  <a:pt x="0" y="2187625"/>
                </a:moveTo>
                <a:lnTo>
                  <a:pt x="0" y="2072487"/>
                </a:lnTo>
              </a:path>
              <a:path w="4401185" h="2533650">
                <a:moveTo>
                  <a:pt x="4400967" y="2187625"/>
                </a:moveTo>
                <a:lnTo>
                  <a:pt x="4400967" y="2072487"/>
                </a:lnTo>
              </a:path>
              <a:path w="4401185" h="2533650">
                <a:moveTo>
                  <a:pt x="0" y="2302764"/>
                </a:moveTo>
                <a:lnTo>
                  <a:pt x="0" y="2187625"/>
                </a:lnTo>
              </a:path>
              <a:path w="4401185" h="2533650">
                <a:moveTo>
                  <a:pt x="4400967" y="2302764"/>
                </a:moveTo>
                <a:lnTo>
                  <a:pt x="4400967" y="2187625"/>
                </a:lnTo>
              </a:path>
              <a:path w="4401185" h="2533650">
                <a:moveTo>
                  <a:pt x="0" y="2417902"/>
                </a:moveTo>
                <a:lnTo>
                  <a:pt x="0" y="2302764"/>
                </a:lnTo>
              </a:path>
              <a:path w="4401185" h="2533650">
                <a:moveTo>
                  <a:pt x="4400967" y="2417902"/>
                </a:moveTo>
                <a:lnTo>
                  <a:pt x="4400967" y="2302764"/>
                </a:lnTo>
              </a:path>
              <a:path w="4401185" h="2533650">
                <a:moveTo>
                  <a:pt x="0" y="2533040"/>
                </a:moveTo>
                <a:lnTo>
                  <a:pt x="0" y="2417902"/>
                </a:lnTo>
              </a:path>
              <a:path w="4401185" h="2533650">
                <a:moveTo>
                  <a:pt x="4400967" y="2533040"/>
                </a:moveTo>
                <a:lnTo>
                  <a:pt x="4400967" y="241790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2042" y="951321"/>
            <a:ext cx="4396105" cy="2550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2545">
              <a:lnSpc>
                <a:spcPct val="100000"/>
              </a:lnSpc>
              <a:spcBef>
                <a:spcPts val="95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evaluation_data=validation_data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monitor_evaluation_accuracy=True)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0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1030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990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2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1009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  <a:spcBef>
                <a:spcPts val="5"/>
              </a:spcBef>
            </a:pPr>
            <a:r>
              <a:rPr dirty="0" sz="700" spc="185">
                <a:latin typeface="Calibri"/>
                <a:cs typeface="Calibri"/>
              </a:rPr>
              <a:t>...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27</a:t>
            </a:r>
            <a:r>
              <a:rPr dirty="0" sz="700" spc="459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7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1009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28</a:t>
            </a:r>
            <a:r>
              <a:rPr dirty="0" sz="700" spc="459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7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983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29</a:t>
            </a:r>
            <a:r>
              <a:rPr dirty="0" sz="700" spc="459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7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967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10000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76984" y="3505034"/>
            <a:ext cx="4406265" cy="43180"/>
          </a:xfrm>
          <a:custGeom>
            <a:avLst/>
            <a:gdLst/>
            <a:ahLst/>
            <a:cxnLst/>
            <a:rect l="l" t="t" r="r" b="b"/>
            <a:pathLst>
              <a:path w="4406265" h="43179">
                <a:moveTo>
                  <a:pt x="2529" y="43014"/>
                </a:moveTo>
                <a:lnTo>
                  <a:pt x="2529" y="0"/>
                </a:lnTo>
              </a:path>
              <a:path w="4406265" h="43179">
                <a:moveTo>
                  <a:pt x="0" y="40487"/>
                </a:moveTo>
                <a:lnTo>
                  <a:pt x="43016" y="40487"/>
                </a:lnTo>
              </a:path>
              <a:path w="4406265" h="43179">
                <a:moveTo>
                  <a:pt x="43016" y="40487"/>
                </a:moveTo>
                <a:lnTo>
                  <a:pt x="4363010" y="40487"/>
                </a:lnTo>
              </a:path>
              <a:path w="4406265" h="43179">
                <a:moveTo>
                  <a:pt x="4363010" y="40487"/>
                </a:moveTo>
                <a:lnTo>
                  <a:pt x="4406025" y="40487"/>
                </a:lnTo>
              </a:path>
              <a:path w="4406265" h="43179">
                <a:moveTo>
                  <a:pt x="4403497" y="43014"/>
                </a:moveTo>
                <a:lnTo>
                  <a:pt x="4403497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0852" y="3610947"/>
            <a:ext cx="4379595" cy="4406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32384" indent="-635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accuracies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chance!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random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noise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generator!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  <a:spcBef>
                <a:spcPts val="175"/>
              </a:spcBef>
            </a:pPr>
            <a:r>
              <a:rPr dirty="0" sz="850">
                <a:latin typeface="Calibri"/>
                <a:cs typeface="Calibri"/>
              </a:rPr>
              <a:t>“Well,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fix,”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say,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“just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decrease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hyper-parameters”.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Unfortunately,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priori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adjust.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never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chosen?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100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neurons?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300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neurons?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multiple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layers?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encoding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output?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Maybe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epochs?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Maybe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small?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switching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quadratic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function?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</a:t>
            </a:r>
            <a:r>
              <a:rPr dirty="0" sz="850" spc="20">
                <a:latin typeface="Calibri"/>
                <a:cs typeface="Calibri"/>
              </a:rPr>
              <a:t> initialization?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feel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</a:t>
            </a:r>
            <a:r>
              <a:rPr dirty="0" sz="850" spc="20">
                <a:latin typeface="Calibri"/>
                <a:cs typeface="Calibri"/>
              </a:rPr>
              <a:t>parameter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space.</a:t>
            </a:r>
            <a:r>
              <a:rPr dirty="0" sz="850" spc="50">
                <a:latin typeface="Calibri"/>
                <a:cs typeface="Calibri"/>
              </a:rPr>
              <a:t> 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frustrating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hours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days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weeks,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situation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persists,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damages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confidence.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Maybe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problem?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job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beekeeping?</a:t>
            </a:r>
            <a:endParaRPr sz="850">
              <a:latin typeface="Calibri"/>
              <a:cs typeface="Calibri"/>
            </a:endParaRPr>
          </a:p>
          <a:p>
            <a:pPr algn="just" marL="19050" marR="5715" indent="189230">
              <a:lnSpc>
                <a:spcPct val="114300"/>
              </a:lnSpc>
              <a:spcBef>
                <a:spcPts val="170"/>
              </a:spcBef>
            </a:pP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heuristics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workflow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enables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 good job setting hyper-parameters.</a:t>
            </a:r>
            <a:r>
              <a:rPr dirty="0" sz="850" spc="10">
                <a:latin typeface="Calibri"/>
                <a:cs typeface="Calibri"/>
              </a:rPr>
              <a:t> Of course, </a:t>
            </a:r>
            <a:r>
              <a:rPr dirty="0" sz="850" spc="65">
                <a:latin typeface="Calibri"/>
                <a:cs typeface="Calibri"/>
              </a:rPr>
              <a:t>I </a:t>
            </a:r>
            <a:r>
              <a:rPr dirty="0" sz="850" spc="10">
                <a:latin typeface="Calibri"/>
                <a:cs typeface="Calibri"/>
              </a:rPr>
              <a:t>won’t cover everything about </a:t>
            </a:r>
            <a:r>
              <a:rPr dirty="0" sz="850" spc="-10">
                <a:latin typeface="Calibri"/>
                <a:cs typeface="Calibri"/>
              </a:rPr>
              <a:t>hyper-</a:t>
            </a:r>
            <a:r>
              <a:rPr dirty="0" sz="850">
                <a:latin typeface="Calibri"/>
                <a:cs typeface="Calibri"/>
              </a:rPr>
              <a:t>parameter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optimization.</a:t>
            </a:r>
            <a:r>
              <a:rPr dirty="0" sz="850" spc="15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huge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subject,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not,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case,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completely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solved,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agreement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amongst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practitioners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strategies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trick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eke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heuristics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started.</a:t>
            </a:r>
            <a:endParaRPr sz="850">
              <a:latin typeface="Calibri"/>
              <a:cs typeface="Calibri"/>
            </a:endParaRPr>
          </a:p>
          <a:p>
            <a:pPr algn="just" marL="13970" marR="5080" indent="194310">
              <a:lnSpc>
                <a:spcPct val="114300"/>
              </a:lnSpc>
              <a:spcBef>
                <a:spcPts val="170"/>
              </a:spcBef>
            </a:pPr>
            <a:r>
              <a:rPr dirty="0" sz="850" spc="50" b="1">
                <a:latin typeface="Calibri"/>
                <a:cs typeface="Calibri"/>
              </a:rPr>
              <a:t>Broad</a:t>
            </a:r>
            <a:r>
              <a:rPr dirty="0" sz="850" spc="4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strategy:</a:t>
            </a:r>
            <a:r>
              <a:rPr dirty="0" sz="850" spc="135" b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attack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challenge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non-trivial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i.e.,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chance.</a:t>
            </a:r>
            <a:r>
              <a:rPr dirty="0" sz="850" spc="20">
                <a:latin typeface="Calibri"/>
                <a:cs typeface="Calibri"/>
              </a:rPr>
              <a:t> 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surprisingly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difficult,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especially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confronting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new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strategies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trouble.</a:t>
            </a:r>
            <a:endParaRPr sz="850">
              <a:latin typeface="Calibri"/>
              <a:cs typeface="Calibri"/>
            </a:endParaRPr>
          </a:p>
          <a:p>
            <a:pPr algn="just" marL="19050" marR="29209" indent="189230">
              <a:lnSpc>
                <a:spcPct val="114300"/>
              </a:lnSpc>
              <a:spcBef>
                <a:spcPts val="170"/>
              </a:spcBef>
            </a:pPr>
            <a:r>
              <a:rPr dirty="0" sz="850" spc="10">
                <a:latin typeface="Calibri"/>
                <a:cs typeface="Calibri"/>
              </a:rPr>
              <a:t>Suppose,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attacking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enthusiastic,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discouraged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fails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completely,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strip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8" name="object 8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53629" y="368721"/>
            <a:ext cx="4627245" cy="44348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473835">
              <a:lnSpc>
                <a:spcPts val="525"/>
              </a:lnSpc>
              <a:spcBef>
                <a:spcPts val="110"/>
              </a:spcBef>
              <a:tabLst>
                <a:tab pos="4431665" algn="l"/>
              </a:tabLst>
            </a:pPr>
            <a:r>
              <a:rPr dirty="0" sz="850">
                <a:latin typeface="Calibri"/>
                <a:cs typeface="Calibri"/>
              </a:rPr>
              <a:t>3.5.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parameters?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109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6034" marR="26860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except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1s.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distinguish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0s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1s.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inherently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easier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distinguishing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amount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80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enables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rapid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experimentation,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rapid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insight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endParaRPr sz="850">
              <a:latin typeface="Calibri"/>
              <a:cs typeface="Calibri"/>
            </a:endParaRPr>
          </a:p>
          <a:p>
            <a:pPr algn="just" marL="26034" marR="268605" indent="189230">
              <a:lnSpc>
                <a:spcPct val="111000"/>
              </a:lnSpc>
              <a:spcBef>
                <a:spcPts val="90"/>
              </a:spcBef>
            </a:pPr>
            <a:r>
              <a:rPr dirty="0" sz="850" spc="10">
                <a:latin typeface="Calibri"/>
                <a:cs typeface="Calibri"/>
              </a:rPr>
              <a:t>You can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10">
                <a:latin typeface="Calibri"/>
                <a:cs typeface="Calibri"/>
              </a:rPr>
              <a:t> up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experimentation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 stripping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 to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simplest</a:t>
            </a:r>
            <a:r>
              <a:rPr dirty="0" sz="850" spc="20">
                <a:latin typeface="Calibri"/>
                <a:cs typeface="Calibri"/>
              </a:rPr>
              <a:t> 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meaningful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believe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900" spc="95">
                <a:latin typeface="Calibri"/>
                <a:cs typeface="Calibri"/>
              </a:rPr>
              <a:t>[784,</a:t>
            </a:r>
            <a:r>
              <a:rPr dirty="0" sz="900" spc="37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10]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likely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better-than-chance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MNIST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900" spc="95">
                <a:latin typeface="Calibri"/>
                <a:cs typeface="Calibri"/>
              </a:rPr>
              <a:t>[784,</a:t>
            </a:r>
            <a:r>
              <a:rPr dirty="0" sz="900" spc="370">
                <a:latin typeface="Calibri"/>
                <a:cs typeface="Calibri"/>
              </a:rPr>
              <a:t> </a:t>
            </a:r>
            <a:r>
              <a:rPr dirty="0" sz="900" spc="90">
                <a:latin typeface="Calibri"/>
                <a:cs typeface="Calibri"/>
              </a:rPr>
              <a:t>30,</a:t>
            </a:r>
            <a:r>
              <a:rPr dirty="0" sz="900" spc="365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10]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latter.</a:t>
            </a:r>
            <a:endParaRPr sz="850">
              <a:latin typeface="Calibri"/>
              <a:cs typeface="Calibri"/>
            </a:endParaRPr>
          </a:p>
          <a:p>
            <a:pPr algn="just" marL="12700" marR="245110" indent="203200">
              <a:lnSpc>
                <a:spcPct val="113399"/>
              </a:lnSpc>
              <a:spcBef>
                <a:spcPts val="70"/>
              </a:spcBef>
            </a:pPr>
            <a:r>
              <a:rPr dirty="0" sz="850" spc="20">
                <a:latin typeface="Calibri"/>
                <a:cs typeface="Calibri"/>
              </a:rPr>
              <a:t>You can get another speed up in experimentation by increasing the frequency of </a:t>
            </a:r>
            <a:r>
              <a:rPr dirty="0" sz="850" spc="-10">
                <a:latin typeface="Calibri"/>
                <a:cs typeface="Calibri"/>
              </a:rPr>
              <a:t>moni-</a:t>
            </a:r>
            <a:r>
              <a:rPr dirty="0" sz="850" spc="30">
                <a:latin typeface="Calibri"/>
                <a:cs typeface="Calibri"/>
              </a:rPr>
              <a:t>toring.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network2.py</a:t>
            </a:r>
            <a:r>
              <a:rPr dirty="0" sz="90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monitor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performance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each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training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epoch.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">
                <a:latin typeface="Calibri"/>
                <a:cs typeface="Calibri"/>
              </a:rPr>
              <a:t> 50,000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waiting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epoch,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laptop,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Lucida Sans Unicode"/>
                <a:cs typeface="Lucida Sans Unicode"/>
              </a:rPr>
              <a:t>[</a:t>
            </a:r>
            <a:r>
              <a:rPr dirty="0" sz="850">
                <a:latin typeface="Calibri"/>
                <a:cs typeface="Calibri"/>
              </a:rPr>
              <a:t>784,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</a:t>
            </a:r>
            <a:r>
              <a:rPr dirty="0" sz="850">
                <a:latin typeface="Lucida Sans Unicode"/>
                <a:cs typeface="Lucida Sans Unicode"/>
              </a:rPr>
              <a:t>]</a:t>
            </a:r>
            <a:r>
              <a:rPr dirty="0" sz="850" spc="60">
                <a:latin typeface="Lucida Sans Unicode"/>
                <a:cs typeface="Lucida Sans Unicode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getting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feedback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dozens</a:t>
            </a:r>
            <a:r>
              <a:rPr dirty="0" sz="850" spc="20">
                <a:latin typeface="Calibri"/>
                <a:cs typeface="Calibri"/>
              </a:rPr>
              <a:t> 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hyper-parameter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choices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annoying,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trial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hundreds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thousands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debilitating.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feedback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monitoring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validation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1,000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Furthermore,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instead</a:t>
            </a:r>
            <a:r>
              <a:rPr dirty="0" sz="850" spc="20">
                <a:latin typeface="Calibri"/>
                <a:cs typeface="Calibri"/>
              </a:rPr>
              <a:t> 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10,000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validation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monitor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performance,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much</a:t>
            </a:r>
            <a:r>
              <a:rPr dirty="0" sz="850" spc="20">
                <a:latin typeface="Calibri"/>
                <a:cs typeface="Calibri"/>
              </a:rPr>
              <a:t> faster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estimate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validation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matters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rough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estimate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performance.</a:t>
            </a:r>
            <a:r>
              <a:rPr dirty="0" sz="850" spc="30">
                <a:latin typeface="Calibri"/>
                <a:cs typeface="Calibri"/>
              </a:rPr>
              <a:t> 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course,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our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program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network2.py</a:t>
            </a:r>
            <a:r>
              <a:rPr dirty="0" sz="90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doesn’t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currently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kind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monitoring.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kludge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purposes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illustration,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strip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1,000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happens.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keep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haven’t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implemented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work.)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9510" y="4874945"/>
            <a:ext cx="4401185" cy="157797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training_data[:1000],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10.0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lmbda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1000.0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\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evaluation_data=validation_data[:100],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\</a:t>
            </a:r>
            <a:endParaRPr sz="700">
              <a:latin typeface="Calibri"/>
              <a:cs typeface="Calibri"/>
            </a:endParaRPr>
          </a:p>
          <a:p>
            <a:pPr marL="45720" marR="2389505" indent="-635">
              <a:lnSpc>
                <a:spcPct val="107900"/>
              </a:lnSpc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monitor_evaluation_accuracy=True) </a:t>
            </a: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0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2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185">
                <a:latin typeface="Calibri"/>
                <a:cs typeface="Calibri"/>
              </a:rPr>
              <a:t>...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036980" y="7628176"/>
            <a:ext cx="4406265" cy="388620"/>
          </a:xfrm>
          <a:custGeom>
            <a:avLst/>
            <a:gdLst/>
            <a:ahLst/>
            <a:cxnLst/>
            <a:rect l="l" t="t" r="r" b="b"/>
            <a:pathLst>
              <a:path w="4406265" h="388620">
                <a:moveTo>
                  <a:pt x="2529" y="43016"/>
                </a:moveTo>
                <a:lnTo>
                  <a:pt x="2529" y="0"/>
                </a:lnTo>
              </a:path>
              <a:path w="4406265" h="388620">
                <a:moveTo>
                  <a:pt x="0" y="2515"/>
                </a:moveTo>
                <a:lnTo>
                  <a:pt x="43016" y="2515"/>
                </a:lnTo>
              </a:path>
              <a:path w="4406265" h="388620">
                <a:moveTo>
                  <a:pt x="43016" y="2515"/>
                </a:moveTo>
                <a:lnTo>
                  <a:pt x="4363008" y="2515"/>
                </a:lnTo>
              </a:path>
              <a:path w="4406265" h="388620">
                <a:moveTo>
                  <a:pt x="4363021" y="2515"/>
                </a:moveTo>
                <a:lnTo>
                  <a:pt x="4406036" y="2515"/>
                </a:lnTo>
              </a:path>
              <a:path w="4406265" h="388620">
                <a:moveTo>
                  <a:pt x="4403509" y="43016"/>
                </a:moveTo>
                <a:lnTo>
                  <a:pt x="4403509" y="0"/>
                </a:lnTo>
              </a:path>
              <a:path w="4406265" h="388620">
                <a:moveTo>
                  <a:pt x="2529" y="158155"/>
                </a:moveTo>
                <a:lnTo>
                  <a:pt x="2529" y="43016"/>
                </a:lnTo>
              </a:path>
              <a:path w="4406265" h="388620">
                <a:moveTo>
                  <a:pt x="4403509" y="158155"/>
                </a:moveTo>
                <a:lnTo>
                  <a:pt x="4403509" y="43016"/>
                </a:lnTo>
              </a:path>
              <a:path w="4406265" h="388620">
                <a:moveTo>
                  <a:pt x="2529" y="273293"/>
                </a:moveTo>
                <a:lnTo>
                  <a:pt x="2529" y="158155"/>
                </a:lnTo>
              </a:path>
              <a:path w="4406265" h="388620">
                <a:moveTo>
                  <a:pt x="4403509" y="273293"/>
                </a:moveTo>
                <a:lnTo>
                  <a:pt x="4403509" y="158155"/>
                </a:lnTo>
              </a:path>
              <a:path w="4406265" h="388620">
                <a:moveTo>
                  <a:pt x="2529" y="388432"/>
                </a:moveTo>
                <a:lnTo>
                  <a:pt x="2529" y="273293"/>
                </a:lnTo>
              </a:path>
              <a:path w="4406265" h="388620">
                <a:moveTo>
                  <a:pt x="4403509" y="388432"/>
                </a:moveTo>
                <a:lnTo>
                  <a:pt x="4403509" y="273293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42037" y="6489720"/>
            <a:ext cx="4396105" cy="15233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7465" marR="26034" indent="-7620">
              <a:lnSpc>
                <a:spcPct val="114300"/>
              </a:lnSpc>
              <a:spcBef>
                <a:spcPts val="95"/>
              </a:spcBef>
            </a:pPr>
            <a:r>
              <a:rPr dirty="0" sz="850" spc="-10">
                <a:latin typeface="Calibri"/>
                <a:cs typeface="Calibri"/>
              </a:rPr>
              <a:t>We’re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noise!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win: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feedback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fraction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once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quickly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conduct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trialling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nearly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simultaneously.</a:t>
            </a:r>
            <a:endParaRPr sz="850">
              <a:latin typeface="Calibri"/>
              <a:cs typeface="Calibri"/>
            </a:endParaRPr>
          </a:p>
          <a:p>
            <a:pPr algn="just" marL="37465" marR="29845" indent="189230">
              <a:lnSpc>
                <a:spcPct val="114300"/>
              </a:lnSpc>
              <a:spcBef>
                <a:spcPts val="60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example</a:t>
            </a:r>
            <a:r>
              <a:rPr dirty="0" sz="850" spc="65">
                <a:latin typeface="Calibri"/>
                <a:cs typeface="Calibri"/>
              </a:rPr>
              <a:t> I </a:t>
            </a:r>
            <a:r>
              <a:rPr dirty="0" sz="850" spc="20">
                <a:latin typeface="Calibri"/>
                <a:cs typeface="Calibri"/>
              </a:rPr>
              <a:t>left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5" i="1">
                <a:latin typeface="Times New Roman"/>
                <a:cs typeface="Times New Roman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1000.0,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since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12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decay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90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20.0.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happens:</a:t>
            </a:r>
            <a:endParaRPr sz="85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919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training_data[:1000],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10.0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lmbda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20.0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\</a:t>
            </a:r>
            <a:endParaRPr sz="70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  <a:spcBef>
                <a:spcPts val="65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evaluation_data=validation_data[:100],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\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7" name="object 7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235966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110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9514" y="971994"/>
            <a:ext cx="4401185" cy="1497330"/>
          </a:xfrm>
          <a:custGeom>
            <a:avLst/>
            <a:gdLst/>
            <a:ahLst/>
            <a:cxnLst/>
            <a:rect l="l" t="t" r="r" b="b"/>
            <a:pathLst>
              <a:path w="4401185" h="1497330">
                <a:moveTo>
                  <a:pt x="0" y="115138"/>
                </a:moveTo>
                <a:lnTo>
                  <a:pt x="0" y="0"/>
                </a:lnTo>
              </a:path>
              <a:path w="4401185" h="1497330">
                <a:moveTo>
                  <a:pt x="4400967" y="115138"/>
                </a:moveTo>
                <a:lnTo>
                  <a:pt x="4400967" y="0"/>
                </a:lnTo>
              </a:path>
              <a:path w="4401185" h="1497330">
                <a:moveTo>
                  <a:pt x="0" y="230276"/>
                </a:moveTo>
                <a:lnTo>
                  <a:pt x="0" y="115138"/>
                </a:lnTo>
              </a:path>
              <a:path w="4401185" h="1497330">
                <a:moveTo>
                  <a:pt x="4400967" y="230276"/>
                </a:moveTo>
                <a:lnTo>
                  <a:pt x="4400967" y="115138"/>
                </a:lnTo>
              </a:path>
              <a:path w="4401185" h="1497330">
                <a:moveTo>
                  <a:pt x="0" y="345414"/>
                </a:moveTo>
                <a:lnTo>
                  <a:pt x="0" y="230276"/>
                </a:lnTo>
              </a:path>
              <a:path w="4401185" h="1497330">
                <a:moveTo>
                  <a:pt x="4400967" y="345414"/>
                </a:moveTo>
                <a:lnTo>
                  <a:pt x="4400967" y="230276"/>
                </a:lnTo>
              </a:path>
              <a:path w="4401185" h="1497330">
                <a:moveTo>
                  <a:pt x="0" y="460552"/>
                </a:moveTo>
                <a:lnTo>
                  <a:pt x="0" y="345414"/>
                </a:lnTo>
              </a:path>
              <a:path w="4401185" h="1497330">
                <a:moveTo>
                  <a:pt x="4400967" y="460552"/>
                </a:moveTo>
                <a:lnTo>
                  <a:pt x="4400967" y="345414"/>
                </a:lnTo>
              </a:path>
              <a:path w="4401185" h="1497330">
                <a:moveTo>
                  <a:pt x="0" y="575691"/>
                </a:moveTo>
                <a:lnTo>
                  <a:pt x="0" y="460552"/>
                </a:lnTo>
              </a:path>
              <a:path w="4401185" h="1497330">
                <a:moveTo>
                  <a:pt x="4400967" y="575691"/>
                </a:moveTo>
                <a:lnTo>
                  <a:pt x="4400967" y="460552"/>
                </a:lnTo>
              </a:path>
              <a:path w="4401185" h="1497330">
                <a:moveTo>
                  <a:pt x="0" y="690829"/>
                </a:moveTo>
                <a:lnTo>
                  <a:pt x="0" y="575691"/>
                </a:lnTo>
              </a:path>
              <a:path w="4401185" h="1497330">
                <a:moveTo>
                  <a:pt x="4400967" y="690829"/>
                </a:moveTo>
                <a:lnTo>
                  <a:pt x="4400967" y="575691"/>
                </a:lnTo>
              </a:path>
              <a:path w="4401185" h="1497330">
                <a:moveTo>
                  <a:pt x="0" y="805967"/>
                </a:moveTo>
                <a:lnTo>
                  <a:pt x="0" y="690829"/>
                </a:lnTo>
              </a:path>
              <a:path w="4401185" h="1497330">
                <a:moveTo>
                  <a:pt x="4400967" y="805967"/>
                </a:moveTo>
                <a:lnTo>
                  <a:pt x="4400967" y="690829"/>
                </a:lnTo>
              </a:path>
              <a:path w="4401185" h="1497330">
                <a:moveTo>
                  <a:pt x="0" y="921105"/>
                </a:moveTo>
                <a:lnTo>
                  <a:pt x="0" y="805967"/>
                </a:lnTo>
              </a:path>
              <a:path w="4401185" h="1497330">
                <a:moveTo>
                  <a:pt x="4400967" y="921105"/>
                </a:moveTo>
                <a:lnTo>
                  <a:pt x="4400967" y="805967"/>
                </a:lnTo>
              </a:path>
              <a:path w="4401185" h="1497330">
                <a:moveTo>
                  <a:pt x="0" y="1036243"/>
                </a:moveTo>
                <a:lnTo>
                  <a:pt x="0" y="921105"/>
                </a:lnTo>
              </a:path>
              <a:path w="4401185" h="1497330">
                <a:moveTo>
                  <a:pt x="4400967" y="1036243"/>
                </a:moveTo>
                <a:lnTo>
                  <a:pt x="4400967" y="921105"/>
                </a:lnTo>
              </a:path>
              <a:path w="4401185" h="1497330">
                <a:moveTo>
                  <a:pt x="0" y="1151382"/>
                </a:moveTo>
                <a:lnTo>
                  <a:pt x="0" y="1036243"/>
                </a:lnTo>
              </a:path>
              <a:path w="4401185" h="1497330">
                <a:moveTo>
                  <a:pt x="4400967" y="1151382"/>
                </a:moveTo>
                <a:lnTo>
                  <a:pt x="4400967" y="1036243"/>
                </a:lnTo>
              </a:path>
              <a:path w="4401185" h="1497330">
                <a:moveTo>
                  <a:pt x="0" y="1266520"/>
                </a:moveTo>
                <a:lnTo>
                  <a:pt x="0" y="1151382"/>
                </a:lnTo>
              </a:path>
              <a:path w="4401185" h="1497330">
                <a:moveTo>
                  <a:pt x="4400967" y="1266520"/>
                </a:moveTo>
                <a:lnTo>
                  <a:pt x="4400967" y="1151382"/>
                </a:lnTo>
              </a:path>
              <a:path w="4401185" h="1497330">
                <a:moveTo>
                  <a:pt x="0" y="1381658"/>
                </a:moveTo>
                <a:lnTo>
                  <a:pt x="0" y="1266520"/>
                </a:lnTo>
              </a:path>
              <a:path w="4401185" h="1497330">
                <a:moveTo>
                  <a:pt x="4400967" y="1381658"/>
                </a:moveTo>
                <a:lnTo>
                  <a:pt x="4400967" y="1266520"/>
                </a:lnTo>
              </a:path>
              <a:path w="4401185" h="1497330">
                <a:moveTo>
                  <a:pt x="0" y="1496796"/>
                </a:moveTo>
                <a:lnTo>
                  <a:pt x="0" y="1381658"/>
                </a:lnTo>
              </a:path>
              <a:path w="4401185" h="1497330">
                <a:moveTo>
                  <a:pt x="4400967" y="1496796"/>
                </a:moveTo>
                <a:lnTo>
                  <a:pt x="4400967" y="1381658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2042" y="942463"/>
            <a:ext cx="4396105" cy="1522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3180" marR="2386965" indent="-635">
              <a:lnSpc>
                <a:spcPct val="107900"/>
              </a:lnSpc>
              <a:spcBef>
                <a:spcPts val="100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monitor_evaluation_accuracy=True) </a:t>
            </a: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0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12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14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2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25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3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18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  <a:spcBef>
                <a:spcPts val="70"/>
              </a:spcBef>
            </a:pPr>
            <a:r>
              <a:rPr dirty="0" sz="700" spc="185">
                <a:latin typeface="Calibri"/>
                <a:cs typeface="Calibri"/>
              </a:rPr>
              <a:t>...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76984" y="2468791"/>
            <a:ext cx="4406265" cy="43180"/>
          </a:xfrm>
          <a:custGeom>
            <a:avLst/>
            <a:gdLst/>
            <a:ahLst/>
            <a:cxnLst/>
            <a:rect l="l" t="t" r="r" b="b"/>
            <a:pathLst>
              <a:path w="4406265" h="43180">
                <a:moveTo>
                  <a:pt x="2529" y="43014"/>
                </a:moveTo>
                <a:lnTo>
                  <a:pt x="2529" y="0"/>
                </a:lnTo>
              </a:path>
              <a:path w="4406265" h="43180">
                <a:moveTo>
                  <a:pt x="0" y="40487"/>
                </a:moveTo>
                <a:lnTo>
                  <a:pt x="43016" y="40487"/>
                </a:lnTo>
              </a:path>
              <a:path w="4406265" h="43180">
                <a:moveTo>
                  <a:pt x="43016" y="40487"/>
                </a:moveTo>
                <a:lnTo>
                  <a:pt x="4363010" y="40487"/>
                </a:lnTo>
              </a:path>
              <a:path w="4406265" h="43180">
                <a:moveTo>
                  <a:pt x="4363010" y="40487"/>
                </a:moveTo>
                <a:lnTo>
                  <a:pt x="4406025" y="40487"/>
                </a:lnTo>
              </a:path>
              <a:path w="4406265" h="43180">
                <a:moveTo>
                  <a:pt x="4403497" y="43014"/>
                </a:moveTo>
                <a:lnTo>
                  <a:pt x="4403497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0852" y="2539207"/>
            <a:ext cx="435610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63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Ahah!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3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signal.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terribly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signal,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signal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nonetheless.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something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Maybe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guess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higher.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(As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realize,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guess,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shortly,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please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bear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me.)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guess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dialing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8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100.0: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9514" y="3521557"/>
            <a:ext cx="4401185" cy="1923414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net.SGD(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training_data[:1000],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100.0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1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lmbda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20.0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\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evaluation_data=validation_data[:100],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\</a:t>
            </a:r>
            <a:endParaRPr sz="700">
              <a:latin typeface="Calibri"/>
              <a:cs typeface="Calibri"/>
            </a:endParaRPr>
          </a:p>
          <a:p>
            <a:pPr marL="45720" marR="2389505" indent="-635">
              <a:lnSpc>
                <a:spcPct val="107900"/>
              </a:lnSpc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monitor_evaluation_accuracy=True) </a:t>
            </a: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0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2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3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185">
                <a:latin typeface="Calibri"/>
                <a:cs typeface="Calibri"/>
              </a:rPr>
              <a:t>...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2384" y="5474697"/>
            <a:ext cx="435038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good!</a:t>
            </a:r>
            <a:r>
              <a:rPr dirty="0" sz="850" spc="15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guess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wrong,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wasn’t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low.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dialing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70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1.0: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9514" y="6012929"/>
            <a:ext cx="4401185" cy="1923414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net.SGD(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training_data[:1000],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1.0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1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lmbda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20.0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\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evaluation_data=validation_data[:100],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\</a:t>
            </a:r>
            <a:endParaRPr sz="700">
              <a:latin typeface="Calibri"/>
              <a:cs typeface="Calibri"/>
            </a:endParaRPr>
          </a:p>
          <a:p>
            <a:pPr marL="45720" marR="2389505" indent="-635">
              <a:lnSpc>
                <a:spcPct val="107900"/>
              </a:lnSpc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monitor_evaluation_accuracy=True) </a:t>
            </a: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0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62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42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2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43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</a:pP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3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</a:t>
            </a:r>
            <a:r>
              <a:rPr dirty="0" sz="700" spc="46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complete</a:t>
            </a:r>
            <a:endParaRPr sz="7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latin typeface="Calibri"/>
                <a:cs typeface="Calibri"/>
              </a:rPr>
              <a:t>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data: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61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/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100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185">
                <a:latin typeface="Calibri"/>
                <a:cs typeface="Calibri"/>
              </a:rPr>
              <a:t>...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11" name="object 11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6980" y="368721"/>
            <a:ext cx="4669155" cy="49060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490345">
              <a:lnSpc>
                <a:spcPts val="525"/>
              </a:lnSpc>
              <a:spcBef>
                <a:spcPts val="110"/>
              </a:spcBef>
              <a:tabLst>
                <a:tab pos="4448175" algn="l"/>
              </a:tabLst>
            </a:pPr>
            <a:r>
              <a:rPr dirty="0" sz="850">
                <a:latin typeface="Calibri"/>
                <a:cs typeface="Calibri"/>
              </a:rPr>
              <a:t>3.5.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parameters?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111</a:t>
            </a:r>
            <a:endParaRPr sz="850">
              <a:latin typeface="Calibri"/>
              <a:cs typeface="Calibri"/>
            </a:endParaRPr>
          </a:p>
          <a:p>
            <a:pPr algn="r" marR="2889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42545" marR="274955" indent="-50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better!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continue,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individually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adjusting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gradually</a:t>
            </a:r>
            <a:r>
              <a:rPr dirty="0" sz="850" spc="20">
                <a:latin typeface="Calibri"/>
                <a:cs typeface="Calibri"/>
              </a:rPr>
              <a:t> improving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performance.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explored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value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η</a:t>
            </a:r>
            <a:r>
              <a:rPr dirty="0" sz="850" spc="80">
                <a:latin typeface="Calibri"/>
                <a:cs typeface="Calibri"/>
              </a:rPr>
              <a:t>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10" i="1">
                <a:latin typeface="Times New Roman"/>
                <a:cs typeface="Times New Roman"/>
              </a:rPr>
              <a:t>λ</a:t>
            </a:r>
            <a:r>
              <a:rPr dirty="0" sz="850" spc="110">
                <a:latin typeface="Calibri"/>
                <a:cs typeface="Calibri"/>
              </a:rPr>
              <a:t>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architecture,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adjust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6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17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again.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Then </a:t>
            </a:r>
            <a:r>
              <a:rPr dirty="0" sz="850" spc="10">
                <a:latin typeface="Calibri"/>
                <a:cs typeface="Calibri"/>
              </a:rPr>
              <a:t>increase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adjust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evaluating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held-out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evaluations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typically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takes</a:t>
            </a:r>
            <a:r>
              <a:rPr dirty="0" sz="850" spc="20">
                <a:latin typeface="Calibri"/>
                <a:cs typeface="Calibri"/>
              </a:rPr>
              <a:t> longer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witness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impact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due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modifications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hyper-parameters,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gradually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frequency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monitoring.</a:t>
            </a:r>
            <a:endParaRPr sz="850">
              <a:latin typeface="Calibri"/>
              <a:cs typeface="Calibri"/>
            </a:endParaRPr>
          </a:p>
          <a:p>
            <a:pPr algn="r" marL="42545" marR="270510" indent="189230">
              <a:lnSpc>
                <a:spcPct val="115300"/>
              </a:lnSpc>
              <a:spcBef>
                <a:spcPts val="100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promising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broad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strategy.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return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stage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enable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anything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fact,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conveys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outlook.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immensely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frustrating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nothing.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tweak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days,</a:t>
            </a:r>
            <a:r>
              <a:rPr dirty="0" sz="850" spc="20">
                <a:latin typeface="Calibri"/>
                <a:cs typeface="Calibri"/>
              </a:rPr>
              <a:t> 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still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meaningful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response.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re-emphasize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during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stages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feedback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Intuitively,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simplifying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merely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down.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quickly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meaningful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signal.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signal,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rapid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improvements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tweaking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life,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hardest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do.</a:t>
            </a:r>
            <a:r>
              <a:rPr dirty="0" sz="850" spc="20">
                <a:latin typeface="Calibri"/>
                <a:cs typeface="Calibri"/>
              </a:rPr>
              <a:t> Okay,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broad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strategy.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specific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recommendations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setting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focus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η</a:t>
            </a:r>
            <a:r>
              <a:rPr dirty="0" sz="850" spc="75">
                <a:latin typeface="Calibri"/>
                <a:cs typeface="Calibri"/>
              </a:rPr>
              <a:t>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L2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parameter,</a:t>
            </a:r>
            <a:endParaRPr sz="850">
              <a:latin typeface="Calibri"/>
              <a:cs typeface="Calibri"/>
            </a:endParaRPr>
          </a:p>
          <a:p>
            <a:pPr algn="just" marL="42545" marR="271780">
              <a:lnSpc>
                <a:spcPct val="114300"/>
              </a:lnSpc>
            </a:pPr>
            <a:r>
              <a:rPr dirty="0" sz="850" spc="110" i="1">
                <a:latin typeface="Times New Roman"/>
                <a:cs typeface="Times New Roman"/>
              </a:rPr>
              <a:t>λ</a:t>
            </a:r>
            <a:r>
              <a:rPr dirty="0" sz="850" spc="110">
                <a:latin typeface="Calibri"/>
                <a:cs typeface="Calibri"/>
              </a:rPr>
              <a:t>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remarks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hyper-</a:t>
            </a:r>
            <a:r>
              <a:rPr dirty="0" sz="850" spc="10">
                <a:latin typeface="Calibri"/>
                <a:cs typeface="Calibri"/>
              </a:rPr>
              <a:t>parameters,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including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associated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momentum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co-</a:t>
            </a:r>
            <a:r>
              <a:rPr dirty="0" sz="850" spc="-10">
                <a:latin typeface="Calibri"/>
                <a:cs typeface="Calibri"/>
              </a:rPr>
              <a:t>efficient.</a:t>
            </a:r>
            <a:endParaRPr sz="850">
              <a:latin typeface="Calibri"/>
              <a:cs typeface="Calibri"/>
            </a:endParaRPr>
          </a:p>
          <a:p>
            <a:pPr algn="just" marL="42545" marR="274955" indent="189230">
              <a:lnSpc>
                <a:spcPct val="1143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rate: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50">
                <a:latin typeface="Calibri"/>
                <a:cs typeface="Calibri"/>
              </a:rPr>
              <a:t> MNIST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rates,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0.025,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0.25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40" i="1">
                <a:latin typeface="Times New Roman"/>
                <a:cs typeface="Times New Roman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2.5,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respectively.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experiments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sections,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running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epochs,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mini-batch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size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10,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5.0.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return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50,000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graph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behaviour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26</a:t>
            </a:r>
            <a:r>
              <a:rPr dirty="0" sz="850" spc="-1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74336" y="5630692"/>
            <a:ext cx="2633825" cy="2050070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1079996" y="7853895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129436" y="7868144"/>
            <a:ext cx="22161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30303" sz="825" spc="75">
                <a:latin typeface="Calibri"/>
                <a:cs typeface="Calibri"/>
              </a:rPr>
              <a:t>26</a:t>
            </a:r>
            <a:r>
              <a:rPr dirty="0" sz="750" spc="5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graph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was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generated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800" spc="55">
                <a:latin typeface="Calibri"/>
                <a:cs typeface="Calibri"/>
              </a:rPr>
              <a:t>multiple_eta.py</a:t>
            </a:r>
            <a:r>
              <a:rPr dirty="0" sz="750" spc="55">
                <a:latin typeface="Calibri"/>
                <a:cs typeface="Calibri"/>
              </a:rPr>
              <a:t>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7" name="object 7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62170" cy="14585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112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06070" marR="5080" indent="-762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0.025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smoothly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until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0.25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initially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decreases,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saturation,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thereafter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merely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apparently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random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oscillations.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Finally,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80" i="1">
                <a:latin typeface="Times New Roman"/>
                <a:cs typeface="Times New Roman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2.5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oscillations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oscillations,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recall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gradually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valley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function,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39306" y="2158762"/>
            <a:ext cx="1513178" cy="1219725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720001" y="724949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62752" y="3606527"/>
            <a:ext cx="4452620" cy="4408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64135" indent="635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6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overshoot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minimum,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climb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valley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</a:t>
            </a:r>
            <a:r>
              <a:rPr dirty="0" baseline="35353" sz="825" spc="15">
                <a:latin typeface="Calibri"/>
                <a:cs typeface="Calibri"/>
                <a:hlinkClick r:id="rId3" action="ppaction://hlinksldjump"/>
              </a:rPr>
              <a:t>27</a:t>
            </a:r>
            <a:r>
              <a:rPr dirty="0" baseline="35353" sz="825" spc="3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what’s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oscillate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2.5.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η</a:t>
            </a:r>
            <a:r>
              <a:rPr dirty="0" sz="850" spc="10">
                <a:latin typeface="Lucida Sans Unicode"/>
                <a:cs typeface="Lucida Sans Unicode"/>
              </a:rPr>
              <a:t>=</a:t>
            </a:r>
            <a:r>
              <a:rPr dirty="0" sz="850" spc="10">
                <a:latin typeface="Calibri"/>
                <a:cs typeface="Calibri"/>
              </a:rPr>
              <a:t>0.25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take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toward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minimum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once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minimum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suffer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overshooting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0.025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suffer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during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20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small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creates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namely,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even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85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0.25,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switch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0.025.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schedules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stick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5" i="1">
                <a:latin typeface="Times New Roman"/>
                <a:cs typeface="Times New Roman"/>
              </a:rPr>
              <a:t>η</a:t>
            </a:r>
            <a:r>
              <a:rPr dirty="0" sz="850" spc="5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52705" marR="60960" indent="193675">
              <a:lnSpc>
                <a:spcPct val="114300"/>
              </a:lnSpc>
            </a:pPr>
            <a:r>
              <a:rPr dirty="0" sz="850" spc="3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picture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mind,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set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85" i="1">
                <a:latin typeface="Times New Roman"/>
                <a:cs typeface="Times New Roman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follows.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First,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estimate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threshold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value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5">
                <a:latin typeface="Calibri"/>
                <a:cs typeface="Calibri"/>
              </a:rPr>
              <a:t>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which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training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data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immediately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begins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decreasing,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of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oscillating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increasing.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 </a:t>
            </a:r>
            <a:r>
              <a:rPr dirty="0" sz="850" spc="15">
                <a:latin typeface="Calibri"/>
                <a:cs typeface="Calibri"/>
              </a:rPr>
              <a:t>estimate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too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accurate.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You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can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estimate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order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magnitude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starting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with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0" i="1">
                <a:latin typeface="Times New Roman"/>
                <a:cs typeface="Times New Roman"/>
              </a:rPr>
              <a:t>η</a:t>
            </a:r>
            <a:r>
              <a:rPr dirty="0" sz="850" spc="50">
                <a:latin typeface="Lucida Sans Unicode"/>
                <a:cs typeface="Lucida Sans Unicode"/>
              </a:rPr>
              <a:t>=</a:t>
            </a:r>
            <a:r>
              <a:rPr dirty="0" sz="850" spc="50">
                <a:latin typeface="Calibri"/>
                <a:cs typeface="Calibri"/>
              </a:rPr>
              <a:t>0.01.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If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decreases</a:t>
            </a:r>
            <a:r>
              <a:rPr dirty="0" sz="850" spc="45">
                <a:latin typeface="Calibri"/>
                <a:cs typeface="Calibri"/>
              </a:rPr>
              <a:t> during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first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few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epochs,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you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should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successively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-10" i="1">
                <a:latin typeface="Times New Roman"/>
                <a:cs typeface="Times New Roman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35">
                <a:latin typeface="Calibri"/>
                <a:cs typeface="Calibri"/>
              </a:rPr>
              <a:t>0.1,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1.0,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until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you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value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oscillates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increases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during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epochs.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Alternately,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oscillates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increases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during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first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few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epochs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when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50" i="1">
                <a:latin typeface="Times New Roman"/>
                <a:cs typeface="Times New Roman"/>
              </a:rPr>
              <a:t>η</a:t>
            </a:r>
            <a:r>
              <a:rPr dirty="0" sz="850" spc="50">
                <a:latin typeface="Lucida Sans Unicode"/>
                <a:cs typeface="Lucida Sans Unicode"/>
              </a:rPr>
              <a:t>=</a:t>
            </a:r>
            <a:r>
              <a:rPr dirty="0" sz="850" spc="50">
                <a:latin typeface="Calibri"/>
                <a:cs typeface="Calibri"/>
              </a:rPr>
              <a:t>0.01,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try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50" i="1">
                <a:latin typeface="Times New Roman"/>
                <a:cs typeface="Times New Roman"/>
              </a:rPr>
              <a:t>η</a:t>
            </a:r>
            <a:r>
              <a:rPr dirty="0" sz="850" spc="50">
                <a:latin typeface="Lucida Sans Unicode"/>
                <a:cs typeface="Lucida Sans Unicode"/>
              </a:rPr>
              <a:t>=</a:t>
            </a:r>
            <a:r>
              <a:rPr dirty="0" sz="850" spc="50">
                <a:latin typeface="Calibri"/>
                <a:cs typeface="Calibri"/>
              </a:rPr>
              <a:t>0.001,0.0001,.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until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you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find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value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decreases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during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epochs.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Following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procedure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will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give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order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magnitude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estimate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threshold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value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η</a:t>
            </a:r>
            <a:r>
              <a:rPr dirty="0" sz="850" spc="80">
                <a:latin typeface="Calibri"/>
                <a:cs typeface="Calibri"/>
              </a:rPr>
              <a:t>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You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optionally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refine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your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estimate,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pick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largest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value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spc="15">
                <a:latin typeface="Calibri"/>
                <a:cs typeface="Calibri"/>
              </a:rPr>
              <a:t>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which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decreases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during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first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few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epochs,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say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55" i="1">
                <a:latin typeface="Times New Roman"/>
                <a:cs typeface="Times New Roman"/>
              </a:rPr>
              <a:t>η</a:t>
            </a:r>
            <a:r>
              <a:rPr dirty="0" sz="850" spc="55">
                <a:latin typeface="Lucida Sans Unicode"/>
                <a:cs typeface="Lucida Sans Unicode"/>
              </a:rPr>
              <a:t>=</a:t>
            </a:r>
            <a:r>
              <a:rPr dirty="0" sz="850" spc="55">
                <a:latin typeface="Calibri"/>
                <a:cs typeface="Calibri"/>
              </a:rPr>
              <a:t>0.5 </a:t>
            </a:r>
            <a:r>
              <a:rPr dirty="0" sz="850" spc="25">
                <a:latin typeface="Calibri"/>
                <a:cs typeface="Calibri"/>
              </a:rPr>
              <a:t>or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55" i="1">
                <a:latin typeface="Times New Roman"/>
                <a:cs typeface="Times New Roman"/>
              </a:rPr>
              <a:t>η</a:t>
            </a:r>
            <a:r>
              <a:rPr dirty="0" sz="850" spc="55">
                <a:latin typeface="Lucida Sans Unicode"/>
                <a:cs typeface="Lucida Sans Unicode"/>
              </a:rPr>
              <a:t>=</a:t>
            </a:r>
            <a:r>
              <a:rPr dirty="0" sz="850" spc="55">
                <a:latin typeface="Calibri"/>
                <a:cs typeface="Calibri"/>
              </a:rPr>
              <a:t>0.2 </a:t>
            </a:r>
            <a:r>
              <a:rPr dirty="0" sz="850" spc="20">
                <a:latin typeface="Calibri"/>
                <a:cs typeface="Calibri"/>
              </a:rPr>
              <a:t>(there’s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this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super-accurate).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This </a:t>
            </a:r>
            <a:r>
              <a:rPr dirty="0" sz="850" spc="20">
                <a:latin typeface="Calibri"/>
                <a:cs typeface="Calibri"/>
              </a:rPr>
              <a:t>gives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us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estimate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threshold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value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η</a:t>
            </a:r>
            <a:r>
              <a:rPr dirty="0" sz="850" spc="8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52705" marR="67310" indent="19367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Obviously,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7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threshold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8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remain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usable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endParaRPr sz="850">
              <a:latin typeface="Calibri"/>
              <a:cs typeface="Calibri"/>
            </a:endParaRPr>
          </a:p>
          <a:p>
            <a:pPr algn="just" marL="57150" marR="43180" indent="86995">
              <a:lnSpc>
                <a:spcPts val="800"/>
              </a:lnSpc>
              <a:spcBef>
                <a:spcPts val="960"/>
              </a:spcBef>
            </a:pPr>
            <a:r>
              <a:rPr dirty="0" baseline="30303" sz="825" spc="30">
                <a:latin typeface="Calibri"/>
                <a:cs typeface="Calibri"/>
              </a:rPr>
              <a:t>27</a:t>
            </a:r>
            <a:r>
              <a:rPr dirty="0" sz="750" spc="20">
                <a:latin typeface="Calibri"/>
                <a:cs typeface="Calibri"/>
              </a:rPr>
              <a:t>This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picture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is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helpful,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but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it’s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intended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as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intuition-building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illustration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what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may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go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on,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not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complete,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exhaustive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explanation.</a:t>
            </a:r>
            <a:r>
              <a:rPr dirty="0" sz="750" spc="2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Briefly,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more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complete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explanation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follows:</a:t>
            </a:r>
            <a:r>
              <a:rPr dirty="0" sz="750" spc="24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gradient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descent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uses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first-order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approximation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cost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function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guide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how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decrease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cost.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large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75" i="1">
                <a:latin typeface="Times New Roman"/>
                <a:cs typeface="Times New Roman"/>
              </a:rPr>
              <a:t>η</a:t>
            </a:r>
            <a:r>
              <a:rPr dirty="0" sz="750" spc="75">
                <a:latin typeface="Calibri"/>
                <a:cs typeface="Calibri"/>
              </a:rPr>
              <a:t>,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higher-order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terms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cost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function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become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more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important,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may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dominate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the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behaviour,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causing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gradient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descent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break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down.</a:t>
            </a:r>
            <a:r>
              <a:rPr dirty="0" sz="750" spc="2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especially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likely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approach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minima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and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quasi-minima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cost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function,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since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near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such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points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gradient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becomes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small,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making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easier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for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higher-order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terms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dominate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behaviour.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7" name="object 7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2380" y="368721"/>
            <a:ext cx="4618355" cy="76479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464945">
              <a:lnSpc>
                <a:spcPts val="525"/>
              </a:lnSpc>
              <a:spcBef>
                <a:spcPts val="110"/>
              </a:spcBef>
              <a:tabLst>
                <a:tab pos="4422775" algn="l"/>
              </a:tabLst>
            </a:pPr>
            <a:r>
              <a:rPr dirty="0" sz="850">
                <a:latin typeface="Calibri"/>
                <a:cs typeface="Calibri"/>
              </a:rPr>
              <a:t>3.5.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parameters?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113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7145" marR="27241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8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threshold.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r>
              <a:rPr dirty="0" sz="850" spc="20">
                <a:latin typeface="Calibri"/>
                <a:cs typeface="Calibri"/>
              </a:rPr>
              <a:t> typically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epochs,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causing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slowdown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learning.</a:t>
            </a:r>
            <a:endParaRPr sz="850">
              <a:latin typeface="Calibri"/>
              <a:cs typeface="Calibri"/>
            </a:endParaRPr>
          </a:p>
          <a:p>
            <a:pPr algn="just" marL="13335" marR="269240" indent="193675">
              <a:lnSpc>
                <a:spcPct val="114300"/>
              </a:lnSpc>
              <a:spcBef>
                <a:spcPts val="185"/>
              </a:spcBef>
            </a:pP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MNIST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strategy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leads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estimate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0.1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order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magnitude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threshold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value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η</a:t>
            </a:r>
            <a:r>
              <a:rPr dirty="0" sz="850" spc="80">
                <a:latin typeface="Calibri"/>
                <a:cs typeface="Calibri"/>
              </a:rPr>
              <a:t>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After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refinement,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obtain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threshold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η</a:t>
            </a:r>
            <a:r>
              <a:rPr dirty="0" sz="850" spc="10">
                <a:latin typeface="Lucida Sans Unicode"/>
                <a:cs typeface="Lucida Sans Unicode"/>
              </a:rPr>
              <a:t>=</a:t>
            </a:r>
            <a:r>
              <a:rPr dirty="0" sz="850" spc="10">
                <a:latin typeface="Calibri"/>
                <a:cs typeface="Calibri"/>
              </a:rPr>
              <a:t>0.5.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prescription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η</a:t>
            </a:r>
            <a:r>
              <a:rPr dirty="0" sz="850" spc="10">
                <a:latin typeface="Lucida Sans Unicode"/>
                <a:cs typeface="Lucida Sans Unicode"/>
              </a:rPr>
              <a:t>=</a:t>
            </a:r>
            <a:r>
              <a:rPr dirty="0" sz="850" spc="10">
                <a:latin typeface="Calibri"/>
                <a:cs typeface="Calibri"/>
              </a:rPr>
              <a:t>0.25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 i="1">
                <a:latin typeface="Times New Roman"/>
                <a:cs typeface="Times New Roman"/>
              </a:rPr>
              <a:t>η</a:t>
            </a:r>
            <a:r>
              <a:rPr dirty="0" sz="850" spc="55">
                <a:latin typeface="Lucida Sans Unicode"/>
                <a:cs typeface="Lucida Sans Unicode"/>
              </a:rPr>
              <a:t>=</a:t>
            </a:r>
            <a:r>
              <a:rPr dirty="0" sz="850" spc="55">
                <a:latin typeface="Calibri"/>
                <a:cs typeface="Calibri"/>
              </a:rPr>
              <a:t>0.5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30 </a:t>
            </a:r>
            <a:r>
              <a:rPr dirty="0" sz="850">
                <a:latin typeface="Calibri"/>
                <a:cs typeface="Calibri"/>
              </a:rPr>
              <a:t>epochs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didn’t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lower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 i="1">
                <a:latin typeface="Times New Roman"/>
                <a:cs typeface="Times New Roman"/>
              </a:rPr>
              <a:t>η</a:t>
            </a:r>
            <a:r>
              <a:rPr dirty="0" sz="850" spc="5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17145" marR="245110" indent="189230">
              <a:lnSpc>
                <a:spcPct val="114300"/>
              </a:lnSpc>
              <a:spcBef>
                <a:spcPts val="190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straightforward.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25" i="1">
                <a:latin typeface="Times New Roman"/>
                <a:cs typeface="Times New Roman"/>
              </a:rPr>
              <a:t> </a:t>
            </a:r>
            <a:r>
              <a:rPr dirty="0" sz="850" spc="-10">
                <a:latin typeface="Calibri"/>
                <a:cs typeface="Calibri"/>
              </a:rPr>
              <a:t>appears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contradict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section,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namely,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evaluating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held-out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validation</a:t>
            </a:r>
            <a:r>
              <a:rPr dirty="0" sz="850" spc="20">
                <a:latin typeface="Calibri"/>
                <a:cs typeface="Calibri"/>
              </a:rPr>
              <a:t> accuracy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pick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hyper-parameter,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mini-batch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size,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things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rate?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Frankly,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personal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aesthetic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preference,</a:t>
            </a:r>
            <a:r>
              <a:rPr dirty="0" sz="850" spc="20">
                <a:latin typeface="Calibri"/>
                <a:cs typeface="Calibri"/>
              </a:rPr>
              <a:t> 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perhaps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somewhat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idiosyncratic.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reasoning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intended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makes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sense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select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only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incidentally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impact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primary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purpose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control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step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size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monitoring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detect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big.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said,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personal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aesthetic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preference.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during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accuracy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unlikely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criterion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use.</a:t>
            </a:r>
            <a:endParaRPr sz="850">
              <a:latin typeface="Calibri"/>
              <a:cs typeface="Calibri"/>
            </a:endParaRPr>
          </a:p>
          <a:p>
            <a:pPr algn="just" marL="12700" marR="245110" indent="194310">
              <a:lnSpc>
                <a:spcPct val="114300"/>
              </a:lnSpc>
              <a:spcBef>
                <a:spcPts val="190"/>
              </a:spcBef>
            </a:pPr>
            <a:r>
              <a:rPr dirty="0" sz="850" spc="20" b="1">
                <a:latin typeface="Calibri"/>
                <a:cs typeface="Calibri"/>
              </a:rPr>
              <a:t>Use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early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stopping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to</a:t>
            </a:r>
            <a:r>
              <a:rPr dirty="0" sz="850" spc="18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determine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number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of</a:t>
            </a:r>
            <a:r>
              <a:rPr dirty="0" sz="850" spc="18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training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epochs:</a:t>
            </a:r>
            <a:r>
              <a:rPr dirty="0" sz="850" spc="315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discussed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stopping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classification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accuracy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validation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stops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improving,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terminate.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setting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worry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depends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automatically.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Furthermore,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stopping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automatically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prevents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although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stages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experimentation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helpful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turn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stopping,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regularization.</a:t>
            </a:r>
            <a:endParaRPr sz="850">
              <a:latin typeface="Calibri"/>
              <a:cs typeface="Calibri"/>
            </a:endParaRPr>
          </a:p>
          <a:p>
            <a:pPr algn="just" marL="17145" marR="267335" indent="189230">
              <a:lnSpc>
                <a:spcPct val="114300"/>
              </a:lnSpc>
              <a:spcBef>
                <a:spcPts val="190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stopping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precisely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stopped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improving.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seen,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jump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around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trend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accuracy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almost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certainly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had.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terminate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MNIST.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elect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terminate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during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ensures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don’t</a:t>
            </a:r>
            <a:r>
              <a:rPr dirty="0" sz="850" spc="20">
                <a:latin typeface="Calibri"/>
                <a:cs typeface="Calibri"/>
              </a:rPr>
              <a:t> stop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response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luck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waiting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around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forever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never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comes.</a:t>
            </a:r>
            <a:endParaRPr sz="850">
              <a:latin typeface="Calibri"/>
              <a:cs typeface="Calibri"/>
            </a:endParaRPr>
          </a:p>
          <a:p>
            <a:pPr algn="just" marL="17145" marR="246379" indent="189230">
              <a:lnSpc>
                <a:spcPct val="114300"/>
              </a:lnSpc>
              <a:spcBef>
                <a:spcPts val="185"/>
              </a:spcBef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no-improvement-in-ten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exploration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MNIST.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However,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plateau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time,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 to then begin improving again.</a:t>
            </a:r>
            <a:r>
              <a:rPr dirty="0" sz="850" spc="10">
                <a:latin typeface="Calibri"/>
                <a:cs typeface="Calibri"/>
              </a:rPr>
              <a:t> If you’re trying to get really good performance, the </a:t>
            </a:r>
            <a:r>
              <a:rPr dirty="0" sz="850" spc="-25">
                <a:latin typeface="Calibri"/>
                <a:cs typeface="Calibri"/>
              </a:rPr>
              <a:t>no-</a:t>
            </a:r>
            <a:r>
              <a:rPr dirty="0" sz="850">
                <a:latin typeface="Calibri"/>
                <a:cs typeface="Calibri"/>
              </a:rPr>
              <a:t>improvement-in-ten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aggressive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stopping.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no-improvement-in-ten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experimentation,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gradually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adopting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lenient rules, as you better understand the way your network trains: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no-improvement-</a:t>
            </a:r>
            <a:r>
              <a:rPr dirty="0" sz="850" spc="-25">
                <a:latin typeface="Calibri"/>
                <a:cs typeface="Calibri"/>
              </a:rPr>
              <a:t>in-</a:t>
            </a:r>
            <a:r>
              <a:rPr dirty="0" sz="850">
                <a:latin typeface="Calibri"/>
                <a:cs typeface="Calibri"/>
              </a:rPr>
              <a:t>twenty,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no-improvement-in-fifty,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introduces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4" name="object 4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43755" cy="20802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114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06070" marR="50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optimize!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pretty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Similarly,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MNIST,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no-improvement-in-ten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rule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aggressive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aggressive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depending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However,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little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experimentation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usually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pretty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good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strategy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stopping.</a:t>
            </a:r>
            <a:endParaRPr sz="850">
              <a:latin typeface="Calibri"/>
              <a:cs typeface="Calibri"/>
            </a:endParaRPr>
          </a:p>
          <a:p>
            <a:pPr algn="just" marL="299720" marR="6350" indent="196215">
              <a:lnSpc>
                <a:spcPct val="112599"/>
              </a:lnSpc>
              <a:spcBef>
                <a:spcPts val="25"/>
              </a:spcBef>
            </a:pP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stopping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date.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comparisons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such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comparisons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helpful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well</a:t>
            </a:r>
            <a:r>
              <a:rPr dirty="0" sz="850" spc="30">
                <a:latin typeface="Calibri"/>
                <a:cs typeface="Calibri"/>
              </a:rPr>
              <a:t> worth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modifying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network2.py</a:t>
            </a:r>
            <a:r>
              <a:rPr dirty="0" sz="90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implement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early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stopping:</a:t>
            </a:r>
            <a:endParaRPr sz="850">
              <a:latin typeface="Calibri"/>
              <a:cs typeface="Calibri"/>
            </a:endParaRPr>
          </a:p>
          <a:p>
            <a:pPr marL="306070">
              <a:lnSpc>
                <a:spcPct val="100000"/>
              </a:lnSpc>
              <a:spcBef>
                <a:spcPts val="120"/>
              </a:spcBef>
            </a:pP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01" y="7434313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24652" y="2415337"/>
            <a:ext cx="4531995" cy="55994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411480" marR="81915" indent="-118745">
              <a:lnSpc>
                <a:spcPct val="112599"/>
              </a:lnSpc>
              <a:spcBef>
                <a:spcPts val="90"/>
              </a:spcBef>
              <a:buFont typeface="Cambria"/>
              <a:buChar char="•"/>
              <a:tabLst>
                <a:tab pos="411480" algn="l"/>
              </a:tabLst>
            </a:pPr>
            <a:r>
              <a:rPr dirty="0" sz="850" spc="30">
                <a:latin typeface="Calibri"/>
                <a:cs typeface="Calibri"/>
              </a:rPr>
              <a:t>Modify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network2.py</a:t>
            </a:r>
            <a:r>
              <a:rPr dirty="0" sz="90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implements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early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stopping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no-</a:t>
            </a:r>
            <a:r>
              <a:rPr dirty="0" sz="850" spc="-10">
                <a:latin typeface="Calibri"/>
                <a:cs typeface="Calibri"/>
              </a:rPr>
              <a:t>improvement-</a:t>
            </a:r>
            <a:r>
              <a:rPr dirty="0" sz="850">
                <a:latin typeface="Calibri"/>
                <a:cs typeface="Calibri"/>
              </a:rPr>
              <a:t>in-</a:t>
            </a:r>
            <a:r>
              <a:rPr dirty="0" sz="850" i="1">
                <a:latin typeface="Calibri"/>
                <a:cs typeface="Calibri"/>
              </a:rPr>
              <a:t>n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strategy,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set.</a:t>
            </a:r>
            <a:endParaRPr sz="850">
              <a:latin typeface="Calibri"/>
              <a:cs typeface="Calibri"/>
            </a:endParaRPr>
          </a:p>
          <a:p>
            <a:pPr algn="just" marL="407034" marR="108585" indent="-114935">
              <a:lnSpc>
                <a:spcPct val="112100"/>
              </a:lnSpc>
              <a:spcBef>
                <a:spcPts val="20"/>
              </a:spcBef>
              <a:buFont typeface="Cambria"/>
              <a:buChar char="•"/>
              <a:tabLst>
                <a:tab pos="407034" algn="l"/>
                <a:tab pos="410209" algn="l"/>
              </a:tabLst>
            </a:pPr>
            <a:r>
              <a:rPr dirty="0" sz="850">
                <a:latin typeface="Calibri"/>
                <a:cs typeface="Calibri"/>
              </a:rPr>
              <a:t>	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stopping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no-improvement-in-</a:t>
            </a:r>
            <a:r>
              <a:rPr dirty="0" sz="850" i="1">
                <a:latin typeface="Calibri"/>
                <a:cs typeface="Calibri"/>
              </a:rPr>
              <a:t>n</a:t>
            </a:r>
            <a:r>
              <a:rPr dirty="0" sz="850">
                <a:latin typeface="Calibri"/>
                <a:cs typeface="Calibri"/>
              </a:rPr>
              <a:t>?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Ideally,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compromise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accuracies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30">
                <a:latin typeface="Calibri"/>
                <a:cs typeface="Calibri"/>
              </a:rPr>
              <a:t> too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long.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Add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your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rule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network2.py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run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three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experiments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comparing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accuracies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no-improvement-in-</a:t>
            </a:r>
            <a:r>
              <a:rPr dirty="0" sz="850" spc="-25">
                <a:latin typeface="Calibri"/>
                <a:cs typeface="Calibri"/>
              </a:rPr>
              <a:t>10.</a:t>
            </a:r>
            <a:endParaRPr sz="850">
              <a:latin typeface="Calibri"/>
              <a:cs typeface="Calibri"/>
            </a:endParaRPr>
          </a:p>
          <a:p>
            <a:pPr algn="just" marL="95250" marR="104139">
              <a:lnSpc>
                <a:spcPct val="114300"/>
              </a:lnSpc>
              <a:spcBef>
                <a:spcPts val="10"/>
              </a:spcBef>
            </a:pPr>
            <a:r>
              <a:rPr dirty="0" sz="850" spc="60" b="1">
                <a:latin typeface="Calibri"/>
                <a:cs typeface="Calibri"/>
              </a:rPr>
              <a:t>Learning</a:t>
            </a:r>
            <a:r>
              <a:rPr dirty="0" sz="850" spc="18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rate</a:t>
            </a:r>
            <a:r>
              <a:rPr dirty="0" sz="850" spc="19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schedule:</a:t>
            </a:r>
            <a:r>
              <a:rPr dirty="0" sz="850" spc="310" b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holding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5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constant.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advantageous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during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likely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badly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wrong.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causes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quickly.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fine-tuned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adjustments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weights.</a:t>
            </a:r>
            <a:endParaRPr sz="850">
              <a:latin typeface="Calibri"/>
              <a:cs typeface="Calibri"/>
            </a:endParaRPr>
          </a:p>
          <a:p>
            <a:pPr algn="just" marL="88900" marR="85725" indent="196215">
              <a:lnSpc>
                <a:spcPct val="114300"/>
              </a:lnSpc>
              <a:spcBef>
                <a:spcPts val="10"/>
              </a:spcBef>
            </a:pPr>
            <a:r>
              <a:rPr dirty="0" sz="850" spc="65">
                <a:latin typeface="Calibri"/>
                <a:cs typeface="Calibri"/>
              </a:rPr>
              <a:t>How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schedule?</a:t>
            </a:r>
            <a:r>
              <a:rPr dirty="0" sz="850" spc="3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possible.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natural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basic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stopping.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hold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constant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until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worse.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amount,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repeat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until,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1,024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1,000)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lower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initial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terminate.</a:t>
            </a:r>
            <a:endParaRPr sz="850">
              <a:latin typeface="Calibri"/>
              <a:cs typeface="Calibri"/>
            </a:endParaRPr>
          </a:p>
          <a:p>
            <a:pPr algn="just" marL="88900" marR="81280" indent="196215">
              <a:lnSpc>
                <a:spcPct val="114300"/>
              </a:lnSpc>
              <a:spcBef>
                <a:spcPts val="10"/>
              </a:spcBef>
            </a:pPr>
            <a:r>
              <a:rPr dirty="0" sz="850" spc="6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schedule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opens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schedule.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headache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spend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forever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optimize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schedule.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constant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approximation.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experimenting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schedule,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described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28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95250">
              <a:lnSpc>
                <a:spcPct val="100000"/>
              </a:lnSpc>
              <a:spcBef>
                <a:spcPts val="130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  <a:p>
            <a:pPr algn="just" marL="411480" marR="81280" indent="-118745">
              <a:lnSpc>
                <a:spcPts val="1170"/>
              </a:lnSpc>
              <a:spcBef>
                <a:spcPts val="25"/>
              </a:spcBef>
              <a:buFont typeface="Cambria"/>
              <a:buChar char="•"/>
              <a:tabLst>
                <a:tab pos="411480" algn="l"/>
              </a:tabLst>
            </a:pPr>
            <a:r>
              <a:rPr dirty="0" sz="850" spc="20">
                <a:latin typeface="Calibri"/>
                <a:cs typeface="Calibri"/>
              </a:rPr>
              <a:t>Modify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network2.py</a:t>
            </a:r>
            <a:r>
              <a:rPr dirty="0" sz="90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schedule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that:</a:t>
            </a:r>
            <a:r>
              <a:rPr dirty="0" sz="850" spc="4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halves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time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validation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accuracy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satisfies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no-improvement-in-</a:t>
            </a:r>
            <a:r>
              <a:rPr dirty="0" sz="850" spc="-25">
                <a:latin typeface="Calibri"/>
                <a:cs typeface="Calibri"/>
              </a:rPr>
              <a:t>10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rule;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terminates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dropped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>
                <a:latin typeface="Lucida Sans Unicode"/>
                <a:cs typeface="Lucida Sans Unicode"/>
              </a:rPr>
              <a:t>/</a:t>
            </a:r>
            <a:r>
              <a:rPr dirty="0" sz="850">
                <a:latin typeface="Calibri"/>
                <a:cs typeface="Calibri"/>
              </a:rPr>
              <a:t>128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original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value.</a:t>
            </a:r>
            <a:endParaRPr sz="850">
              <a:latin typeface="Calibri"/>
              <a:cs typeface="Calibri"/>
            </a:endParaRPr>
          </a:p>
          <a:p>
            <a:pPr algn="just" marL="90170">
              <a:lnSpc>
                <a:spcPct val="100000"/>
              </a:lnSpc>
              <a:spcBef>
                <a:spcPts val="85"/>
              </a:spcBef>
            </a:pPr>
            <a:r>
              <a:rPr dirty="0" sz="850" spc="60" b="1">
                <a:latin typeface="Calibri"/>
                <a:cs typeface="Calibri"/>
              </a:rPr>
              <a:t>The</a:t>
            </a:r>
            <a:r>
              <a:rPr dirty="0" sz="850" spc="70" b="1">
                <a:latin typeface="Calibri"/>
                <a:cs typeface="Calibri"/>
              </a:rPr>
              <a:t> </a:t>
            </a:r>
            <a:r>
              <a:rPr dirty="0" sz="850" spc="40" b="1">
                <a:latin typeface="Calibri"/>
                <a:cs typeface="Calibri"/>
              </a:rPr>
              <a:t>regularization</a:t>
            </a:r>
            <a:r>
              <a:rPr dirty="0" sz="850" spc="75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parameter,</a:t>
            </a:r>
            <a:r>
              <a:rPr dirty="0" sz="850" spc="65" b="1">
                <a:latin typeface="Calibri"/>
                <a:cs typeface="Calibri"/>
              </a:rPr>
              <a:t> </a:t>
            </a:r>
            <a:r>
              <a:rPr dirty="0" sz="850" spc="120" i="1">
                <a:latin typeface="Times New Roman"/>
                <a:cs typeface="Times New Roman"/>
              </a:rPr>
              <a:t>λ</a:t>
            </a:r>
            <a:r>
              <a:rPr dirty="0" sz="850" spc="120">
                <a:latin typeface="Calibri"/>
                <a:cs typeface="Calibri"/>
              </a:rPr>
              <a:t>: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suggest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starting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initially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with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no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regularization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40">
                <a:latin typeface="Calibri"/>
                <a:cs typeface="Calibri"/>
              </a:rPr>
              <a:t>(</a:t>
            </a:r>
            <a:r>
              <a:rPr dirty="0" sz="850" spc="140" i="1">
                <a:latin typeface="Times New Roman"/>
                <a:cs typeface="Times New Roman"/>
              </a:rPr>
              <a:t>λ</a:t>
            </a:r>
            <a:r>
              <a:rPr dirty="0" sz="850" spc="15" i="1">
                <a:latin typeface="Times New Roman"/>
                <a:cs typeface="Times New Roman"/>
              </a:rPr>
              <a:t> </a:t>
            </a:r>
            <a:r>
              <a:rPr dirty="0" sz="850" spc="2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  <a:p>
            <a:pPr algn="just" marL="90805" marR="105410" indent="3810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0.0),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determining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η</a:t>
            </a:r>
            <a:r>
              <a:rPr dirty="0" sz="850" spc="80">
                <a:latin typeface="Calibri"/>
                <a:cs typeface="Calibri"/>
              </a:rPr>
              <a:t>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η</a:t>
            </a:r>
            <a:r>
              <a:rPr dirty="0" sz="850" spc="80">
                <a:latin typeface="Calibri"/>
                <a:cs typeface="Calibri"/>
              </a:rPr>
              <a:t>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select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5" i="1">
                <a:latin typeface="Times New Roman"/>
                <a:cs typeface="Times New Roman"/>
              </a:rPr>
              <a:t>λ</a:t>
            </a:r>
            <a:r>
              <a:rPr dirty="0" sz="850" spc="105">
                <a:latin typeface="Calibri"/>
                <a:cs typeface="Calibri"/>
              </a:rPr>
              <a:t>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trialling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1.0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29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10,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magnitude,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tune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5" i="1">
                <a:latin typeface="Times New Roman"/>
                <a:cs typeface="Times New Roman"/>
              </a:rPr>
              <a:t>λ</a:t>
            </a:r>
            <a:r>
              <a:rPr dirty="0" sz="850" spc="105">
                <a:latin typeface="Calibri"/>
                <a:cs typeface="Calibri"/>
              </a:rPr>
              <a:t>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return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re-optimize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65" i="1">
                <a:latin typeface="Times New Roman"/>
                <a:cs typeface="Times New Roman"/>
              </a:rPr>
              <a:t> </a:t>
            </a:r>
            <a:r>
              <a:rPr dirty="0" sz="850" spc="-10">
                <a:latin typeface="Calibri"/>
                <a:cs typeface="Calibri"/>
              </a:rPr>
              <a:t>again.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 algn="just" marL="95250" marR="88265" indent="86995">
              <a:lnSpc>
                <a:spcPts val="800"/>
              </a:lnSpc>
            </a:pPr>
            <a:r>
              <a:rPr dirty="0" baseline="30303" sz="825" spc="89">
                <a:latin typeface="Calibri"/>
                <a:cs typeface="Calibri"/>
              </a:rPr>
              <a:t>28</a:t>
            </a:r>
            <a:r>
              <a:rPr dirty="0" sz="750" spc="60">
                <a:latin typeface="Calibri"/>
                <a:cs typeface="Calibri"/>
              </a:rPr>
              <a:t>A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readable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recent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paper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which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demonstrates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benefits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variable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learning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rates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attacking</a:t>
            </a:r>
            <a:r>
              <a:rPr dirty="0" sz="750" spc="50">
                <a:latin typeface="Calibri"/>
                <a:cs typeface="Calibri"/>
              </a:rPr>
              <a:t> MNIST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Deep,</a:t>
            </a:r>
            <a:r>
              <a:rPr dirty="0" sz="750" spc="85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Big,</a:t>
            </a:r>
            <a:r>
              <a:rPr dirty="0" sz="750" spc="85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Simple</a:t>
            </a:r>
            <a:r>
              <a:rPr dirty="0" sz="750" spc="8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Neural</a:t>
            </a:r>
            <a:r>
              <a:rPr dirty="0" sz="750" spc="75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Nets</a:t>
            </a:r>
            <a:r>
              <a:rPr dirty="0" sz="750" spc="7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Excel</a:t>
            </a:r>
            <a:r>
              <a:rPr dirty="0" sz="750" spc="8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on</a:t>
            </a:r>
            <a:r>
              <a:rPr dirty="0" sz="750" spc="7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Handwritten</a:t>
            </a:r>
            <a:r>
              <a:rPr dirty="0" sz="750" spc="75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Digit</a:t>
            </a:r>
            <a:r>
              <a:rPr dirty="0" sz="750" spc="7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Recognition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Dan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Claudiu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Cire¸san,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Ueli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Meier,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Luca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Maria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Gambardella,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Jürgen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Schmidhuber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(2010).</a:t>
            </a:r>
            <a:endParaRPr sz="750">
              <a:latin typeface="Calibri"/>
              <a:cs typeface="Calibri"/>
            </a:endParaRPr>
          </a:p>
          <a:p>
            <a:pPr algn="just" marL="95250" marR="108585" indent="86995">
              <a:lnSpc>
                <a:spcPts val="800"/>
              </a:lnSpc>
              <a:spcBef>
                <a:spcPts val="130"/>
              </a:spcBef>
            </a:pPr>
            <a:r>
              <a:rPr dirty="0" baseline="30303" sz="825" spc="97">
                <a:latin typeface="Calibri"/>
                <a:cs typeface="Calibri"/>
              </a:rPr>
              <a:t>29</a:t>
            </a:r>
            <a:r>
              <a:rPr dirty="0" sz="750" spc="65">
                <a:latin typeface="Calibri"/>
                <a:cs typeface="Calibri"/>
              </a:rPr>
              <a:t>I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don’t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have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good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principled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justification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using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starting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value.</a:t>
            </a:r>
            <a:r>
              <a:rPr dirty="0" sz="750" spc="21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If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anyone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knows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-50">
                <a:latin typeface="Calibri"/>
                <a:cs typeface="Calibri"/>
              </a:rPr>
              <a:t>a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good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principled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discussion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where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start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with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90" i="1">
                <a:latin typeface="Times New Roman"/>
                <a:cs typeface="Times New Roman"/>
              </a:rPr>
              <a:t>λ</a:t>
            </a:r>
            <a:r>
              <a:rPr dirty="0" sz="750" spc="90">
                <a:latin typeface="Calibri"/>
                <a:cs typeface="Calibri"/>
              </a:rPr>
              <a:t>,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I’d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appreciate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hearing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(</a:t>
            </a:r>
            <a:r>
              <a:rPr dirty="0" sz="750" spc="-10">
                <a:latin typeface="Calibri"/>
                <a:cs typeface="Calibri"/>
                <a:hlinkClick r:id="rId4"/>
              </a:rPr>
              <a:t>mn@michaelnielsen.org</a:t>
            </a:r>
            <a:r>
              <a:rPr dirty="0" sz="750" spc="-10">
                <a:latin typeface="Calibri"/>
                <a:cs typeface="Calibri"/>
              </a:rPr>
              <a:t>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6" name="object 6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4942" y="368721"/>
            <a:ext cx="316611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969895" algn="l"/>
              </a:tabLst>
            </a:pPr>
            <a:r>
              <a:rPr dirty="0" sz="850">
                <a:latin typeface="Calibri"/>
                <a:cs typeface="Calibri"/>
              </a:rPr>
              <a:t>3.5.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parameters?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115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7298" y="906273"/>
            <a:ext cx="4345940" cy="709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  <a:p>
            <a:pPr algn="just" marL="328930" marR="5080" indent="-118745">
              <a:lnSpc>
                <a:spcPct val="114300"/>
              </a:lnSpc>
              <a:spcBef>
                <a:spcPts val="620"/>
              </a:spcBef>
              <a:buFont typeface="Cambria"/>
              <a:buChar char="•"/>
              <a:tabLst>
                <a:tab pos="328930" algn="l"/>
              </a:tabLst>
            </a:pP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tempting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8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η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obstacle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determine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λ</a:t>
            </a:r>
            <a:r>
              <a:rPr dirty="0" sz="850" spc="100">
                <a:latin typeface="Calibri"/>
                <a:cs typeface="Calibri"/>
              </a:rPr>
              <a:t>?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obstacle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determine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0" i="1">
                <a:latin typeface="Times New Roman"/>
                <a:cs typeface="Times New Roman"/>
              </a:rPr>
              <a:t>η</a:t>
            </a:r>
            <a:r>
              <a:rPr dirty="0" sz="850" spc="50">
                <a:latin typeface="Calibri"/>
                <a:cs typeface="Calibri"/>
              </a:rPr>
              <a:t>?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3628" y="1673295"/>
            <a:ext cx="4385945" cy="16541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3335">
              <a:lnSpc>
                <a:spcPct val="114300"/>
              </a:lnSpc>
              <a:spcBef>
                <a:spcPts val="95"/>
              </a:spcBef>
            </a:pPr>
            <a:r>
              <a:rPr dirty="0" sz="850" spc="65" b="1">
                <a:latin typeface="Calibri"/>
                <a:cs typeface="Calibri"/>
              </a:rPr>
              <a:t>How</a:t>
            </a:r>
            <a:r>
              <a:rPr dirty="0" sz="850" spc="140" b="1">
                <a:latin typeface="Calibri"/>
                <a:cs typeface="Calibri"/>
              </a:rPr>
              <a:t> </a:t>
            </a:r>
            <a:r>
              <a:rPr dirty="0" sz="850" spc="75" b="1">
                <a:latin typeface="Calibri"/>
                <a:cs typeface="Calibri"/>
              </a:rPr>
              <a:t>I</a:t>
            </a:r>
            <a:r>
              <a:rPr dirty="0" sz="850" spc="14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selected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hyper-parameters</a:t>
            </a:r>
            <a:r>
              <a:rPr dirty="0" sz="850" spc="14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earlier</a:t>
            </a:r>
            <a:r>
              <a:rPr dirty="0" sz="850" spc="14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in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this</a:t>
            </a:r>
            <a:r>
              <a:rPr dirty="0" sz="850" spc="14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book:</a:t>
            </a:r>
            <a:r>
              <a:rPr dirty="0" sz="850" spc="229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recommendations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2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12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narrative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constraints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made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impractical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comparisons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made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e.g.,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quadratic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cross-entropy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old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initialization,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comparisons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meaningful,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keep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constant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across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compared</a:t>
            </a:r>
            <a:r>
              <a:rPr dirty="0" sz="850" spc="50">
                <a:latin typeface="Calibri"/>
                <a:cs typeface="Calibri"/>
              </a:rPr>
              <a:t> (or </a:t>
            </a:r>
            <a:r>
              <a:rPr dirty="0" sz="850" spc="10">
                <a:latin typeface="Calibri"/>
                <a:cs typeface="Calibri"/>
              </a:rPr>
              <a:t>to scale them in an appropriate </a:t>
            </a:r>
            <a:r>
              <a:rPr dirty="0" sz="850" spc="50">
                <a:latin typeface="Calibri"/>
                <a:cs typeface="Calibri"/>
              </a:rPr>
              <a:t>way).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 course, there’s no reason for the same </a:t>
            </a:r>
            <a:r>
              <a:rPr dirty="0" sz="850" spc="-10">
                <a:latin typeface="Calibri"/>
                <a:cs typeface="Calibri"/>
              </a:rPr>
              <a:t>hyper-</a:t>
            </a:r>
            <a:r>
              <a:rPr dirty="0" sz="850" spc="10">
                <a:latin typeface="Calibri"/>
                <a:cs typeface="Calibri"/>
              </a:rPr>
              <a:t>parameters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 optimal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 all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 approaches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 learning,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 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something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compromise.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7296" y="3385382"/>
            <a:ext cx="4349750" cy="42094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8923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alternative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compromise,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optimize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heck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principle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fairer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made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dozens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comparisons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along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computationally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expensive.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adopted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compromise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necessarily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optimal)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parameters.</a:t>
            </a:r>
            <a:endParaRPr sz="850">
              <a:latin typeface="Calibri"/>
              <a:cs typeface="Calibri"/>
            </a:endParaRPr>
          </a:p>
          <a:p>
            <a:pPr algn="just" marL="12700" marR="8890" indent="189230">
              <a:lnSpc>
                <a:spcPct val="114300"/>
              </a:lnSpc>
              <a:spcBef>
                <a:spcPts val="660"/>
              </a:spcBef>
            </a:pPr>
            <a:r>
              <a:rPr dirty="0" sz="850" b="1">
                <a:latin typeface="Calibri"/>
                <a:cs typeface="Calibri"/>
              </a:rPr>
              <a:t>Mini-batch</a:t>
            </a:r>
            <a:r>
              <a:rPr dirty="0" sz="850" spc="15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size:</a:t>
            </a:r>
            <a:r>
              <a:rPr dirty="0" sz="850" spc="240" b="1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size?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online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i.e.,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1.</a:t>
            </a:r>
            <a:endParaRPr sz="850">
              <a:latin typeface="Calibri"/>
              <a:cs typeface="Calibri"/>
            </a:endParaRPr>
          </a:p>
          <a:p>
            <a:pPr algn="just" marL="12700" marR="6350" indent="189230">
              <a:lnSpc>
                <a:spcPct val="114300"/>
              </a:lnSpc>
              <a:spcBef>
                <a:spcPts val="660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worry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online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just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significant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estimate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individual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estimates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super-accurate.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All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estimate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tends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decreasing.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get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North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Magnetic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Pole,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wonky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compass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10–20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degrees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time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check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compass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frequently,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compass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average,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North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Magnetic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fine.</a:t>
            </a:r>
            <a:endParaRPr sz="850">
              <a:latin typeface="Calibri"/>
              <a:cs typeface="Calibri"/>
            </a:endParaRPr>
          </a:p>
          <a:p>
            <a:pPr algn="just" marL="12700" marR="5715" indent="189230">
              <a:lnSpc>
                <a:spcPct val="114300"/>
              </a:lnSpc>
              <a:spcBef>
                <a:spcPts val="660"/>
              </a:spcBef>
            </a:pPr>
            <a:r>
              <a:rPr dirty="0" sz="850">
                <a:latin typeface="Calibri"/>
                <a:cs typeface="Calibri"/>
              </a:rPr>
              <a:t>Based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sounds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online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situation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complicated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that.</a:t>
            </a:r>
            <a:r>
              <a:rPr dirty="0" sz="850" spc="3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2" action="ppaction://hlinksldjump"/>
              </a:rPr>
              <a:t>last</a:t>
            </a:r>
            <a:r>
              <a:rPr dirty="0" sz="850" spc="160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850" spc="10">
                <a:latin typeface="Calibri"/>
                <a:cs typeface="Calibri"/>
                <a:hlinkClick r:id="rId2" action="ppaction://hlinksldjump"/>
              </a:rPr>
              <a:t>chapter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 </a:t>
            </a:r>
            <a:r>
              <a:rPr dirty="0" sz="850" spc="10">
                <a:latin typeface="Calibri"/>
                <a:cs typeface="Calibri"/>
              </a:rPr>
              <a:t>pointed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simultaneously,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looping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Depending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hardware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algebra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library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faster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estimate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mini-batch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example)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size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100,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rather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estimate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looping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separately.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(say)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50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long.</a:t>
            </a:r>
            <a:endParaRPr sz="850">
              <a:latin typeface="Calibri"/>
              <a:cs typeface="Calibri"/>
            </a:endParaRPr>
          </a:p>
          <a:p>
            <a:pPr algn="just" marL="12700" marR="8890" indent="189230">
              <a:lnSpc>
                <a:spcPct val="114300"/>
              </a:lnSpc>
              <a:spcBef>
                <a:spcPts val="655"/>
              </a:spcBef>
            </a:pP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like: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721266" y="7781828"/>
            <a:ext cx="495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>
                <a:latin typeface="Cambria"/>
                <a:cs typeface="Cambria"/>
              </a:rPr>
              <a:t>’</a:t>
            </a:r>
            <a:endParaRPr sz="550">
              <a:latin typeface="Cambria"/>
              <a:cs typeface="Cambri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401177" y="7791847"/>
            <a:ext cx="7861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4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3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η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177133" y="7688203"/>
            <a:ext cx="208279" cy="3416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1900"/>
              </a:lnSpc>
              <a:spcBef>
                <a:spcPts val="95"/>
              </a:spcBef>
            </a:pPr>
            <a:r>
              <a:rPr dirty="0" u="sng" sz="850" spc="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50" spc="19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100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89908" y="7671768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48596" y="7950992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724910" y="7852998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558525" y="7791848"/>
            <a:ext cx="2705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22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083449" y="7791848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(3.45)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15" name="object 15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75300" y="368721"/>
            <a:ext cx="4728210" cy="17881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ts val="525"/>
              </a:lnSpc>
              <a:spcBef>
                <a:spcPts val="110"/>
              </a:spcBef>
              <a:tabLst>
                <a:tab pos="407034" algn="l"/>
              </a:tabLst>
            </a:pPr>
            <a:r>
              <a:rPr dirty="0" sz="850" spc="25">
                <a:latin typeface="Calibri"/>
                <a:cs typeface="Calibri"/>
              </a:rPr>
              <a:t>116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940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algn="just" marL="337820">
              <a:lnSpc>
                <a:spcPct val="100000"/>
              </a:lnSpc>
            </a:pP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versus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50">
              <a:latin typeface="Calibri"/>
              <a:cs typeface="Calibri"/>
            </a:endParaRPr>
          </a:p>
          <a:p>
            <a:pPr marL="1891664">
              <a:lnSpc>
                <a:spcPct val="100000"/>
              </a:lnSpc>
              <a:tabLst>
                <a:tab pos="4360545" algn="l"/>
              </a:tabLst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4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>
                <a:latin typeface="Cambria"/>
                <a:cs typeface="Cambria"/>
              </a:rPr>
              <a:t>’</a:t>
            </a:r>
            <a:r>
              <a:rPr dirty="0" baseline="35353" sz="825" spc="225">
                <a:latin typeface="Cambria"/>
                <a:cs typeface="Cambri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2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15">
                <a:latin typeface="Cambria"/>
                <a:cs typeface="Cambri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η</a:t>
            </a:r>
            <a:r>
              <a:rPr dirty="0" sz="850" spc="95">
                <a:latin typeface="Cambria"/>
                <a:cs typeface="Cambria"/>
              </a:rPr>
              <a:t>𝝯</a:t>
            </a:r>
            <a:r>
              <a:rPr dirty="0" sz="850" spc="95" i="1">
                <a:latin typeface="Calibri"/>
                <a:cs typeface="Calibri"/>
              </a:rPr>
              <a:t>C</a:t>
            </a:r>
            <a:r>
              <a:rPr dirty="0" baseline="-20202" sz="825" spc="142" i="1">
                <a:latin typeface="Calibri"/>
                <a:cs typeface="Calibri"/>
              </a:rPr>
              <a:t>x</a:t>
            </a:r>
            <a:r>
              <a:rPr dirty="0" baseline="-20202" sz="825" i="1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(3.46)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850">
              <a:latin typeface="Calibri"/>
              <a:cs typeface="Calibri"/>
            </a:endParaRPr>
          </a:p>
          <a:p>
            <a:pPr algn="just" marL="344170" marR="5270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online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50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update,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online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frequently.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increase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100,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becomes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467627" y="2302211"/>
            <a:ext cx="495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>
                <a:latin typeface="Cambria"/>
                <a:cs typeface="Cambria"/>
              </a:rPr>
              <a:t>’</a:t>
            </a:r>
            <a:endParaRPr sz="550">
              <a:latin typeface="Cambria"/>
              <a:cs typeface="Cambr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923557" y="2192136"/>
            <a:ext cx="1784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982240" y="2471375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258554" y="2373371"/>
            <a:ext cx="603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x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47531" y="2312230"/>
            <a:ext cx="12147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956944" algn="l"/>
              </a:tabLst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4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3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η</a:t>
            </a:r>
            <a:r>
              <a:rPr dirty="0" sz="850" i="1">
                <a:latin typeface="Times New Roman"/>
                <a:cs typeface="Times New Roman"/>
              </a:rPr>
              <a:t>	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22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723351" y="2312231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(3.47)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20001" y="785681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643801" y="2686069"/>
            <a:ext cx="4487545" cy="5328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558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separate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online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5" i="1">
                <a:latin typeface="Times New Roman"/>
                <a:cs typeface="Times New Roman"/>
              </a:rPr>
              <a:t>η</a:t>
            </a:r>
            <a:r>
              <a:rPr dirty="0" sz="850" spc="55">
                <a:latin typeface="Calibri"/>
                <a:cs typeface="Calibri"/>
              </a:rPr>
              <a:t>.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50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online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online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10">
                <a:latin typeface="Cambria"/>
                <a:cs typeface="Cambria"/>
              </a:rPr>
              <a:t>𝝯</a:t>
            </a:r>
            <a:r>
              <a:rPr dirty="0" sz="850" spc="110" i="1">
                <a:latin typeface="Calibri"/>
                <a:cs typeface="Calibri"/>
              </a:rPr>
              <a:t>C</a:t>
            </a:r>
            <a:r>
              <a:rPr dirty="0" baseline="-20202" sz="825" spc="165" i="1">
                <a:latin typeface="Calibri"/>
                <a:cs typeface="Calibri"/>
              </a:rPr>
              <a:t>x</a:t>
            </a:r>
            <a:r>
              <a:rPr dirty="0" baseline="-20202" sz="82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evaluated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opposed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cumulative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occurs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online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distinctly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would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up.</a:t>
            </a:r>
            <a:endParaRPr sz="850">
              <a:latin typeface="Calibri"/>
              <a:cs typeface="Calibri"/>
            </a:endParaRPr>
          </a:p>
          <a:p>
            <a:pPr algn="just" marL="69215" marR="55880" indent="196215">
              <a:lnSpc>
                <a:spcPct val="114300"/>
              </a:lnSpc>
              <a:spcBef>
                <a:spcPts val="50"/>
              </a:spcBef>
            </a:pP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mind,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compromise.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small,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advantage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benefits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matrix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libraries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optimized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hardware.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 need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compromise value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maximizes 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 learning.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Fortunately,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choice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mini-batch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size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maximized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relatively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independent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hyper-parameters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(apart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architecture),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optimized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therefore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acceptable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necessarily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optimal)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scaling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4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above.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Plot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versus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elapsed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epoch!),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choose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whichever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rapid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chosen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optimize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parameters.</a:t>
            </a:r>
            <a:endParaRPr sz="850">
              <a:latin typeface="Calibri"/>
              <a:cs typeface="Calibri"/>
            </a:endParaRPr>
          </a:p>
          <a:p>
            <a:pPr algn="just" marL="76200" marR="55880" indent="189230">
              <a:lnSpc>
                <a:spcPct val="114300"/>
              </a:lnSpc>
              <a:spcBef>
                <a:spcPts val="45"/>
              </a:spcBef>
            </a:pP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course,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you’ve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doubt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realized,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optimization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implementation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updates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haven’t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illustrate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beyond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preliminary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speedup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modest.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implementations,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certainly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faster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approach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updates,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effort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optimize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order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maximize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speed.</a:t>
            </a:r>
            <a:endParaRPr sz="850">
              <a:latin typeface="Calibri"/>
              <a:cs typeface="Calibri"/>
            </a:endParaRPr>
          </a:p>
          <a:p>
            <a:pPr algn="just" marL="76200" marR="56515" indent="189230">
              <a:lnSpc>
                <a:spcPct val="114300"/>
              </a:lnSpc>
              <a:spcBef>
                <a:spcPts val="50"/>
              </a:spcBef>
            </a:pPr>
            <a:r>
              <a:rPr dirty="0" sz="850" spc="20" b="1">
                <a:latin typeface="Calibri"/>
                <a:cs typeface="Calibri"/>
              </a:rPr>
              <a:t>Automated</a:t>
            </a:r>
            <a:r>
              <a:rPr dirty="0" sz="850" spc="8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techniques:</a:t>
            </a:r>
            <a:r>
              <a:rPr dirty="0" sz="850" spc="150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describing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heuristics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though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you’re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optimiz-</a:t>
            </a:r>
            <a:r>
              <a:rPr dirty="0" sz="850" spc="10">
                <a:latin typeface="Calibri"/>
                <a:cs typeface="Calibri"/>
              </a:rPr>
              <a:t>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Hand-optimization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20">
                <a:latin typeface="Calibri"/>
                <a:cs typeface="Calibri"/>
              </a:rPr>
              <a:t> how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behave.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However,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unsurprisingly,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great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been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automating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process.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grid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search,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systematically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searches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grid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space.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review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achievements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limitations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grid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search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easily-implemented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alternatives)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2012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30</a:t>
            </a:r>
            <a:r>
              <a:rPr dirty="0" baseline="35353" sz="825" spc="41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James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Bergstra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Yoshua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Bengio.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sophisticated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Calibri"/>
              <a:cs typeface="Calibri"/>
            </a:endParaRPr>
          </a:p>
          <a:p>
            <a:pPr marL="163195">
              <a:lnSpc>
                <a:spcPct val="100000"/>
              </a:lnSpc>
            </a:pPr>
            <a:r>
              <a:rPr dirty="0" baseline="30303" sz="825" spc="30">
                <a:latin typeface="Calibri"/>
                <a:cs typeface="Calibri"/>
              </a:rPr>
              <a:t>30</a:t>
            </a:r>
            <a:r>
              <a:rPr dirty="0" sz="750" spc="20">
                <a:latin typeface="Calibri"/>
                <a:cs typeface="Calibri"/>
                <a:hlinkClick r:id="rId3"/>
              </a:rPr>
              <a:t>Random</a:t>
            </a:r>
            <a:r>
              <a:rPr dirty="0" sz="750" spc="8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search</a:t>
            </a:r>
            <a:r>
              <a:rPr dirty="0" sz="750" spc="8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for</a:t>
            </a:r>
            <a:r>
              <a:rPr dirty="0" sz="750" spc="8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hyper-parameter</a:t>
            </a:r>
            <a:r>
              <a:rPr dirty="0" sz="750" spc="8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optimization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James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Bergstra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Yoshua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Bengio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(2012).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12" name="object 12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28229" y="368721"/>
            <a:ext cx="4678045" cy="66992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499235">
              <a:lnSpc>
                <a:spcPts val="525"/>
              </a:lnSpc>
              <a:spcBef>
                <a:spcPts val="110"/>
              </a:spcBef>
              <a:tabLst>
                <a:tab pos="4457065" algn="l"/>
              </a:tabLst>
            </a:pPr>
            <a:r>
              <a:rPr dirty="0" sz="850">
                <a:latin typeface="Calibri"/>
                <a:cs typeface="Calibri"/>
              </a:rPr>
              <a:t>3.5.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parameters?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117</a:t>
            </a:r>
            <a:endParaRPr sz="850">
              <a:latin typeface="Calibri"/>
              <a:cs typeface="Calibri"/>
            </a:endParaRPr>
          </a:p>
          <a:p>
            <a:pPr algn="r" marR="2889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51435" marR="2717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approaches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proposed.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review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men-</a:t>
            </a:r>
            <a:r>
              <a:rPr dirty="0" sz="850" spc="20">
                <a:latin typeface="Calibri"/>
                <a:cs typeface="Calibri"/>
              </a:rPr>
              <a:t>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promising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2012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paper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Bayesian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automatically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optimize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31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/>
              </a:rPr>
              <a:t>publicly</a:t>
            </a:r>
            <a:r>
              <a:rPr dirty="0" sz="850" spc="160">
                <a:latin typeface="Calibri"/>
                <a:cs typeface="Calibri"/>
                <a:hlinkClick r:id="rId3"/>
              </a:rPr>
              <a:t> </a:t>
            </a:r>
            <a:r>
              <a:rPr dirty="0" sz="850" spc="10">
                <a:latin typeface="Calibri"/>
                <a:cs typeface="Calibri"/>
                <a:hlinkClick r:id="rId3"/>
              </a:rPr>
              <a:t>available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been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success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researchers.</a:t>
            </a:r>
            <a:endParaRPr sz="850">
              <a:latin typeface="Calibri"/>
              <a:cs typeface="Calibri"/>
            </a:endParaRPr>
          </a:p>
          <a:p>
            <a:pPr algn="just" marL="51435" marR="294005" indent="189230">
              <a:lnSpc>
                <a:spcPct val="114300"/>
              </a:lnSpc>
              <a:spcBef>
                <a:spcPts val="114"/>
              </a:spcBef>
            </a:pPr>
            <a:r>
              <a:rPr dirty="0" sz="850" spc="70" b="1">
                <a:latin typeface="Calibri"/>
                <a:cs typeface="Calibri"/>
              </a:rPr>
              <a:t>Summing</a:t>
            </a:r>
            <a:r>
              <a:rPr dirty="0" sz="850" spc="114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up:</a:t>
            </a:r>
            <a:r>
              <a:rPr dirty="0" sz="850" spc="190" b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rules-of-thumb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absolute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improvements.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largely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independently.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relationships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may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η</a:t>
            </a:r>
            <a:r>
              <a:rPr dirty="0" sz="850" spc="75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5" i="1">
                <a:latin typeface="Times New Roman"/>
                <a:cs typeface="Times New Roman"/>
              </a:rPr>
              <a:t>λ</a:t>
            </a:r>
            <a:r>
              <a:rPr dirty="0" sz="850" spc="105">
                <a:latin typeface="Calibri"/>
                <a:cs typeface="Calibri"/>
              </a:rPr>
              <a:t>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find</a:t>
            </a:r>
            <a:r>
              <a:rPr dirty="0" sz="850" spc="20">
                <a:latin typeface="Calibri"/>
                <a:cs typeface="Calibri"/>
              </a:rPr>
              <a:t> 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messing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optimization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η</a:t>
            </a:r>
            <a:r>
              <a:rPr dirty="0" sz="850" spc="8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practice,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bounce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backward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forward,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gradually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closing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values.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heuristics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thumb,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stone.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signs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working,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carefully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monitoring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behaviour,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especially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accuracy.</a:t>
            </a:r>
            <a:endParaRPr sz="850">
              <a:latin typeface="Calibri"/>
              <a:cs typeface="Calibri"/>
            </a:endParaRPr>
          </a:p>
          <a:p>
            <a:pPr algn="just" marL="38100" marR="270510" indent="203200">
              <a:lnSpc>
                <a:spcPct val="114300"/>
              </a:lnSpc>
              <a:spcBef>
                <a:spcPts val="114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exacerbated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widely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spread,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across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research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software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often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available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inside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heads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individual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practitioners.</a:t>
            </a:r>
            <a:r>
              <a:rPr dirty="0" sz="850" spc="20">
                <a:latin typeface="Calibri"/>
                <a:cs typeface="Calibri"/>
              </a:rPr>
              <a:t> There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papers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(sometimes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contradictory)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recommendations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20">
                <a:latin typeface="Calibri"/>
                <a:cs typeface="Calibri"/>
              </a:rPr>
              <a:t> 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proceed.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However,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useful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papers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synthesize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distill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lore.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Yoshua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Bengio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2012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32</a:t>
            </a:r>
            <a:r>
              <a:rPr dirty="0" baseline="35353" sz="825" spc="49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practical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recommendations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networks,</a:t>
            </a:r>
            <a:r>
              <a:rPr dirty="0" sz="850" spc="20">
                <a:latin typeface="Calibri"/>
                <a:cs typeface="Calibri"/>
              </a:rPr>
              <a:t> including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Bengio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discusses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issues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detail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have,</a:t>
            </a:r>
            <a:r>
              <a:rPr dirty="0" sz="850" spc="20">
                <a:latin typeface="Calibri"/>
                <a:cs typeface="Calibri"/>
              </a:rPr>
              <a:t> including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systematic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hyper-parameter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searches.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Another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paper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1998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33</a:t>
            </a:r>
            <a:r>
              <a:rPr dirty="0" baseline="35353" sz="825" spc="4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Yann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LeCun,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Léon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Bottou,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Genevieve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Klaus-Robert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Müller.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Both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appear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useful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2012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collects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tricks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commonly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34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expensive,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articles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placed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online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authors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presumes,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blessing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publisher,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may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search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engine.</a:t>
            </a:r>
            <a:endParaRPr sz="850">
              <a:latin typeface="Calibri"/>
              <a:cs typeface="Calibri"/>
            </a:endParaRPr>
          </a:p>
          <a:p>
            <a:pPr algn="just" marL="51435" marR="294640" indent="189230">
              <a:lnSpc>
                <a:spcPct val="114300"/>
              </a:lnSpc>
              <a:spcBef>
                <a:spcPts val="114"/>
              </a:spcBef>
            </a:pP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becomes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clear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articles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especially,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engage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20">
                <a:latin typeface="Calibri"/>
                <a:cs typeface="Calibri"/>
              </a:rPr>
              <a:t> your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own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experiments,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hyper-parameter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optimization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ever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completely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solved.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trick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common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among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writers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never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finished,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abandoned.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same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optimization: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space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one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never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finishes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optimizing,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abandons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posterity.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your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workflow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enables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job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optimization,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leaving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flexibility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optimizations,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that’s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important.</a:t>
            </a:r>
            <a:endParaRPr sz="850">
              <a:latin typeface="Calibri"/>
              <a:cs typeface="Calibri"/>
            </a:endParaRPr>
          </a:p>
          <a:p>
            <a:pPr algn="just" marL="51435" marR="294005" indent="189230">
              <a:lnSpc>
                <a:spcPct val="114300"/>
              </a:lnSpc>
              <a:spcBef>
                <a:spcPts val="12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challenge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complain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require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complaint: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“Yes,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well-tuned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may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random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forest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Lucida Sans Unicode"/>
                <a:cs typeface="Lucida Sans Unicode"/>
              </a:rPr>
              <a:t>[</a:t>
            </a:r>
            <a:r>
              <a:rPr dirty="0" sz="850" spc="-25">
                <a:latin typeface="Calibri"/>
                <a:cs typeface="Calibri"/>
              </a:rPr>
              <a:t>or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79996" y="7196632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29751" y="7212007"/>
            <a:ext cx="4429125" cy="8026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50165" marR="30480" indent="8699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30">
                <a:latin typeface="Calibri"/>
                <a:cs typeface="Calibri"/>
              </a:rPr>
              <a:t>31</a:t>
            </a:r>
            <a:r>
              <a:rPr dirty="0" sz="750" spc="20">
                <a:latin typeface="Calibri"/>
                <a:cs typeface="Calibri"/>
                <a:hlinkClick r:id="rId4"/>
              </a:rPr>
              <a:t>Practical</a:t>
            </a:r>
            <a:r>
              <a:rPr dirty="0" sz="750" spc="9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Bayesian</a:t>
            </a:r>
            <a:r>
              <a:rPr dirty="0" sz="750" spc="9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optimization</a:t>
            </a:r>
            <a:r>
              <a:rPr dirty="0" sz="750" spc="9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of</a:t>
            </a:r>
            <a:r>
              <a:rPr dirty="0" sz="750" spc="9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machine</a:t>
            </a:r>
            <a:r>
              <a:rPr dirty="0" sz="750" spc="9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learning</a:t>
            </a:r>
            <a:r>
              <a:rPr dirty="0" sz="750" spc="9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algorithms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Jasper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Snoek,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Hugo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Larochelle,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Ryan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Adams.</a:t>
            </a:r>
            <a:endParaRPr sz="750">
              <a:latin typeface="Calibri"/>
              <a:cs typeface="Calibri"/>
            </a:endParaRPr>
          </a:p>
          <a:p>
            <a:pPr marL="38100" marR="50800" indent="99060">
              <a:lnSpc>
                <a:spcPts val="800"/>
              </a:lnSpc>
              <a:spcBef>
                <a:spcPts val="130"/>
              </a:spcBef>
            </a:pPr>
            <a:r>
              <a:rPr dirty="0" baseline="30303" sz="825" spc="30">
                <a:latin typeface="Calibri"/>
                <a:cs typeface="Calibri"/>
              </a:rPr>
              <a:t>32</a:t>
            </a:r>
            <a:r>
              <a:rPr dirty="0" sz="750" spc="20">
                <a:latin typeface="Calibri"/>
                <a:cs typeface="Calibri"/>
                <a:hlinkClick r:id="rId5"/>
              </a:rPr>
              <a:t>Practical</a:t>
            </a:r>
            <a:r>
              <a:rPr dirty="0" sz="750" spc="160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recommendations</a:t>
            </a:r>
            <a:r>
              <a:rPr dirty="0" sz="750" spc="160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for</a:t>
            </a:r>
            <a:r>
              <a:rPr dirty="0" sz="750" spc="160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gradient-based</a:t>
            </a:r>
            <a:r>
              <a:rPr dirty="0" sz="750" spc="160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training</a:t>
            </a:r>
            <a:r>
              <a:rPr dirty="0" sz="750" spc="165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of</a:t>
            </a:r>
            <a:r>
              <a:rPr dirty="0" sz="750" spc="160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deep</a:t>
            </a:r>
            <a:r>
              <a:rPr dirty="0" sz="750" spc="160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architectures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Yoshua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Bengio</a:t>
            </a:r>
            <a:r>
              <a:rPr dirty="0" sz="750" spc="45">
                <a:latin typeface="Calibri"/>
                <a:cs typeface="Calibri"/>
              </a:rPr>
              <a:t> (2012).</a:t>
            </a:r>
            <a:endParaRPr sz="750">
              <a:latin typeface="Calibri"/>
              <a:cs typeface="Calibri"/>
            </a:endParaRPr>
          </a:p>
          <a:p>
            <a:pPr marL="137160">
              <a:lnSpc>
                <a:spcPct val="100000"/>
              </a:lnSpc>
              <a:spcBef>
                <a:spcPts val="25"/>
              </a:spcBef>
            </a:pPr>
            <a:r>
              <a:rPr dirty="0" baseline="30303" sz="825" spc="30">
                <a:latin typeface="Calibri"/>
                <a:cs typeface="Calibri"/>
              </a:rPr>
              <a:t>33</a:t>
            </a:r>
            <a:r>
              <a:rPr dirty="0" sz="750" spc="20">
                <a:latin typeface="Calibri"/>
                <a:cs typeface="Calibri"/>
                <a:hlinkClick r:id="rId6"/>
              </a:rPr>
              <a:t>Efficient</a:t>
            </a:r>
            <a:r>
              <a:rPr dirty="0" sz="750" spc="85">
                <a:latin typeface="Calibri"/>
                <a:cs typeface="Calibri"/>
                <a:hlinkClick r:id="rId6"/>
              </a:rPr>
              <a:t> </a:t>
            </a:r>
            <a:r>
              <a:rPr dirty="0" sz="750" spc="20">
                <a:latin typeface="Calibri"/>
                <a:cs typeface="Calibri"/>
                <a:hlinkClick r:id="rId6"/>
              </a:rPr>
              <a:t>BackProp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Yann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LeCun,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LÃl’on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Bottou,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Genevieve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Orr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Klaus-Robert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Müller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(1998)</a:t>
            </a:r>
            <a:endParaRPr sz="750">
              <a:latin typeface="Calibri"/>
              <a:cs typeface="Calibri"/>
            </a:endParaRPr>
          </a:p>
          <a:p>
            <a:pPr marL="50165" marR="48260" indent="86995">
              <a:lnSpc>
                <a:spcPts val="800"/>
              </a:lnSpc>
              <a:spcBef>
                <a:spcPts val="145"/>
              </a:spcBef>
            </a:pPr>
            <a:r>
              <a:rPr dirty="0" baseline="30303" sz="825" spc="30">
                <a:latin typeface="Calibri"/>
                <a:cs typeface="Calibri"/>
              </a:rPr>
              <a:t>34</a:t>
            </a:r>
            <a:r>
              <a:rPr dirty="0" sz="750" spc="20">
                <a:latin typeface="Calibri"/>
                <a:cs typeface="Calibri"/>
                <a:hlinkClick r:id="rId7"/>
              </a:rPr>
              <a:t>Neural</a:t>
            </a:r>
            <a:r>
              <a:rPr dirty="0" sz="750" spc="5">
                <a:latin typeface="Calibri"/>
                <a:cs typeface="Calibri"/>
                <a:hlinkClick r:id="rId7"/>
              </a:rPr>
              <a:t> </a:t>
            </a:r>
            <a:r>
              <a:rPr dirty="0" sz="750" spc="20">
                <a:latin typeface="Calibri"/>
                <a:cs typeface="Calibri"/>
                <a:hlinkClick r:id="rId7"/>
              </a:rPr>
              <a:t>Networks:</a:t>
            </a:r>
            <a:r>
              <a:rPr dirty="0" sz="750" spc="120">
                <a:latin typeface="Calibri"/>
                <a:cs typeface="Calibri"/>
                <a:hlinkClick r:id="rId7"/>
              </a:rPr>
              <a:t> </a:t>
            </a:r>
            <a:r>
              <a:rPr dirty="0" sz="750" spc="20">
                <a:latin typeface="Calibri"/>
                <a:cs typeface="Calibri"/>
                <a:hlinkClick r:id="rId7"/>
              </a:rPr>
              <a:t>Tricks</a:t>
            </a:r>
            <a:r>
              <a:rPr dirty="0" sz="750" spc="10">
                <a:latin typeface="Calibri"/>
                <a:cs typeface="Calibri"/>
                <a:hlinkClick r:id="rId7"/>
              </a:rPr>
              <a:t> </a:t>
            </a:r>
            <a:r>
              <a:rPr dirty="0" sz="750" spc="20">
                <a:latin typeface="Calibri"/>
                <a:cs typeface="Calibri"/>
                <a:hlinkClick r:id="rId7"/>
              </a:rPr>
              <a:t>of</a:t>
            </a:r>
            <a:r>
              <a:rPr dirty="0" sz="750" spc="5">
                <a:latin typeface="Calibri"/>
                <a:cs typeface="Calibri"/>
                <a:hlinkClick r:id="rId7"/>
              </a:rPr>
              <a:t> </a:t>
            </a:r>
            <a:r>
              <a:rPr dirty="0" sz="750" spc="10">
                <a:latin typeface="Calibri"/>
                <a:cs typeface="Calibri"/>
                <a:hlinkClick r:id="rId7"/>
              </a:rPr>
              <a:t>the </a:t>
            </a:r>
            <a:r>
              <a:rPr dirty="0" sz="750" spc="20">
                <a:latin typeface="Calibri"/>
                <a:cs typeface="Calibri"/>
                <a:hlinkClick r:id="rId7"/>
              </a:rPr>
              <a:t>Trade</a:t>
            </a:r>
            <a:r>
              <a:rPr dirty="0" sz="750" spc="20">
                <a:latin typeface="Calibri"/>
                <a:cs typeface="Calibri"/>
              </a:rPr>
              <a:t>, </a:t>
            </a:r>
            <a:r>
              <a:rPr dirty="0" sz="750" spc="10">
                <a:latin typeface="Calibri"/>
                <a:cs typeface="Calibri"/>
              </a:rPr>
              <a:t>edited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Grégoire</a:t>
            </a:r>
            <a:r>
              <a:rPr dirty="0" sz="750" spc="10">
                <a:latin typeface="Calibri"/>
                <a:cs typeface="Calibri"/>
              </a:rPr>
              <a:t> Montavon,</a:t>
            </a:r>
            <a:r>
              <a:rPr dirty="0" sz="750" spc="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Geneviève Orr,</a:t>
            </a:r>
            <a:r>
              <a:rPr dirty="0" sz="750" spc="20">
                <a:latin typeface="Calibri"/>
                <a:cs typeface="Calibri"/>
              </a:rPr>
              <a:t> and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Klaus-</a:t>
            </a:r>
            <a:r>
              <a:rPr dirty="0" sz="750" spc="-10">
                <a:latin typeface="Calibri"/>
                <a:cs typeface="Calibri"/>
              </a:rPr>
              <a:t>Robert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Müller.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6" name="object 6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42485" cy="1607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118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06070" marR="50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SVM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...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insert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own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favorite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</a:t>
            </a:r>
            <a:r>
              <a:rPr dirty="0" sz="850">
                <a:latin typeface="Lucida Sans Unicode"/>
                <a:cs typeface="Lucida Sans Unicode"/>
              </a:rPr>
              <a:t>]</a:t>
            </a:r>
            <a:r>
              <a:rPr dirty="0" sz="850" spc="55">
                <a:latin typeface="Lucida Sans Unicode"/>
                <a:cs typeface="Lucida Sans Unicode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figure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network.”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practical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easy-to-apply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getting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important,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require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specialist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knowledge.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nice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machine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always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priori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trivially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simple.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01" y="2379439"/>
            <a:ext cx="4349115" cy="1419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9725" algn="l"/>
              </a:tabLst>
            </a:pPr>
            <a:r>
              <a:rPr dirty="0" sz="1050" spc="30" b="1">
                <a:latin typeface="Calibri"/>
                <a:cs typeface="Calibri"/>
              </a:rPr>
              <a:t>3.6</a:t>
            </a:r>
            <a:r>
              <a:rPr dirty="0" sz="1050" b="1">
                <a:latin typeface="Calibri"/>
                <a:cs typeface="Calibri"/>
              </a:rPr>
              <a:t>	Other</a:t>
            </a:r>
            <a:r>
              <a:rPr dirty="0" sz="1050" spc="290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techniques</a:t>
            </a:r>
            <a:endParaRPr sz="10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1050">
              <a:latin typeface="Calibri"/>
              <a:cs typeface="Calibri"/>
            </a:endParaRPr>
          </a:p>
          <a:p>
            <a:pPr algn="just" marL="12700" marR="508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developed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valuable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own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that’s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familiarize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style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analysis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overcome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sense,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remainder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briefly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sketch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handful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sketches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in-depth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discussions,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feeling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diversity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available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201" y="4184420"/>
            <a:ext cx="4445000" cy="16929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5"/>
              </a:spcBef>
            </a:pPr>
            <a:r>
              <a:rPr dirty="0" sz="950" spc="50" b="1">
                <a:latin typeface="Calibri"/>
                <a:cs typeface="Calibri"/>
              </a:rPr>
              <a:t>3.6.1</a:t>
            </a:r>
            <a:r>
              <a:rPr dirty="0" sz="950" spc="405" b="1">
                <a:latin typeface="Calibri"/>
                <a:cs typeface="Calibri"/>
              </a:rPr>
              <a:t>  </a:t>
            </a:r>
            <a:r>
              <a:rPr dirty="0" sz="950" spc="20" b="1">
                <a:latin typeface="Calibri"/>
                <a:cs typeface="Calibri"/>
              </a:rPr>
              <a:t>Variations</a:t>
            </a:r>
            <a:r>
              <a:rPr dirty="0" sz="950" spc="150" b="1">
                <a:latin typeface="Calibri"/>
                <a:cs typeface="Calibri"/>
              </a:rPr>
              <a:t> </a:t>
            </a:r>
            <a:r>
              <a:rPr dirty="0" sz="950" spc="50" b="1">
                <a:latin typeface="Calibri"/>
                <a:cs typeface="Calibri"/>
              </a:rPr>
              <a:t>on</a:t>
            </a:r>
            <a:r>
              <a:rPr dirty="0" sz="950" spc="145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stochastic</a:t>
            </a:r>
            <a:r>
              <a:rPr dirty="0" sz="950" spc="145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gradient</a:t>
            </a:r>
            <a:r>
              <a:rPr dirty="0" sz="950" spc="150" b="1">
                <a:latin typeface="Calibri"/>
                <a:cs typeface="Calibri"/>
              </a:rPr>
              <a:t> </a:t>
            </a:r>
            <a:r>
              <a:rPr dirty="0" sz="950" spc="-10" b="1">
                <a:latin typeface="Calibri"/>
                <a:cs typeface="Calibri"/>
              </a:rPr>
              <a:t>descent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algn="just" marL="50800" marR="60960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Stochastic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served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attacking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MNIST </a:t>
            </a:r>
            <a:r>
              <a:rPr dirty="0" sz="850" spc="10">
                <a:latin typeface="Calibri"/>
                <a:cs typeface="Calibri"/>
              </a:rPr>
              <a:t>digit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optimizing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offer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superior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</a:t>
            </a:r>
            <a:r>
              <a:rPr dirty="0" sz="850" spc="-10">
                <a:latin typeface="Calibri"/>
                <a:cs typeface="Calibri"/>
              </a:rPr>
              <a:t>batch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sketch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Hessian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momentum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techniques.</a:t>
            </a:r>
            <a:endParaRPr sz="850">
              <a:latin typeface="Calibri"/>
              <a:cs typeface="Calibri"/>
            </a:endParaRPr>
          </a:p>
          <a:p>
            <a:pPr algn="just" marL="50800" marR="43180" indent="189230">
              <a:lnSpc>
                <a:spcPct val="114300"/>
              </a:lnSpc>
              <a:spcBef>
                <a:spcPts val="275"/>
              </a:spcBef>
            </a:pPr>
            <a:r>
              <a:rPr dirty="0" sz="850" spc="50" b="1">
                <a:latin typeface="Calibri"/>
                <a:cs typeface="Calibri"/>
              </a:rPr>
              <a:t>Hessian</a:t>
            </a:r>
            <a:r>
              <a:rPr dirty="0" sz="850" spc="55" b="1">
                <a:latin typeface="Calibri"/>
                <a:cs typeface="Calibri"/>
              </a:rPr>
              <a:t> </a:t>
            </a:r>
            <a:r>
              <a:rPr dirty="0" sz="850" spc="45" b="1">
                <a:latin typeface="Calibri"/>
                <a:cs typeface="Calibri"/>
              </a:rPr>
              <a:t>technique:</a:t>
            </a:r>
            <a:r>
              <a:rPr dirty="0" sz="850" spc="114" b="1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begin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discussion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helps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neural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aside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bit.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Instead,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going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consider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abstract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problem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minimizing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which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function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many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variables,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>
                <a:latin typeface="Calibri"/>
                <a:cs typeface="Calibri"/>
              </a:rPr>
              <a:t>1</a:t>
            </a:r>
            <a:r>
              <a:rPr dirty="0" sz="850" spc="40">
                <a:latin typeface="Calibri"/>
                <a:cs typeface="Calibri"/>
              </a:rPr>
              <a:t>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>
                <a:latin typeface="Calibri"/>
                <a:cs typeface="Calibri"/>
              </a:rPr>
              <a:t>2</a:t>
            </a:r>
            <a:r>
              <a:rPr dirty="0" sz="850" spc="40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40" i="1">
                <a:latin typeface="Calibri"/>
                <a:cs typeface="Calibri"/>
              </a:rPr>
              <a:t>C</a:t>
            </a:r>
            <a:r>
              <a:rPr dirty="0" sz="850" spc="40">
                <a:latin typeface="Tahoma"/>
                <a:cs typeface="Tahoma"/>
              </a:rPr>
              <a:t>(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sz="850" spc="40">
                <a:latin typeface="Tahoma"/>
                <a:cs typeface="Tahoma"/>
              </a:rPr>
              <a:t>)</a:t>
            </a:r>
            <a:r>
              <a:rPr dirty="0" sz="850" spc="40">
                <a:latin typeface="Calibri"/>
                <a:cs typeface="Calibri"/>
              </a:rPr>
              <a:t>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By </a:t>
            </a:r>
            <a:r>
              <a:rPr dirty="0" sz="850" spc="15">
                <a:latin typeface="Calibri"/>
                <a:cs typeface="Calibri"/>
              </a:rPr>
              <a:t>Taylor’s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theorem,</a:t>
            </a:r>
            <a:r>
              <a:rPr dirty="0" sz="850" spc="5">
                <a:latin typeface="Calibri"/>
                <a:cs typeface="Calibri"/>
              </a:rPr>
              <a:t> 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function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near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point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60412" y="6092802"/>
            <a:ext cx="1043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5" i="1">
                <a:latin typeface="Calibri"/>
                <a:cs typeface="Calibri"/>
              </a:rPr>
              <a:t>C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 i="1">
                <a:latin typeface="Calibri"/>
                <a:cs typeface="Calibri"/>
              </a:rPr>
              <a:t>w</a:t>
            </a:r>
            <a:r>
              <a:rPr dirty="0" sz="850" spc="-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75">
                <a:latin typeface="Tahoma"/>
                <a:cs typeface="Tahoma"/>
              </a:rPr>
              <a:t> </a:t>
            </a:r>
            <a:r>
              <a:rPr dirty="0" sz="850" spc="70" i="1">
                <a:latin typeface="Arial"/>
                <a:cs typeface="Arial"/>
              </a:rPr>
              <a:t>∆</a:t>
            </a:r>
            <a:r>
              <a:rPr dirty="0" sz="850" spc="70" i="1">
                <a:latin typeface="Calibri"/>
                <a:cs typeface="Calibri"/>
              </a:rPr>
              <a:t>w</a:t>
            </a:r>
            <a:r>
              <a:rPr dirty="0" sz="850" spc="70">
                <a:latin typeface="Tahoma"/>
                <a:cs typeface="Tahoma"/>
              </a:rPr>
              <a:t>)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 spc="10" i="1">
                <a:latin typeface="Calibri"/>
                <a:cs typeface="Calibri"/>
              </a:rPr>
              <a:t>C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-80">
                <a:latin typeface="Tahoma"/>
                <a:cs typeface="Tahoma"/>
              </a:rPr>
              <a:t> </a:t>
            </a:r>
            <a:r>
              <a:rPr dirty="0" sz="850" spc="-50">
                <a:latin typeface="Tahoma"/>
                <a:cs typeface="Tahoma"/>
              </a:rPr>
              <a:t>+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69212" y="6255711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83396" y="6015837"/>
            <a:ext cx="2247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r>
              <a:rPr dirty="0" u="sng" sz="85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83396" y="6173701"/>
            <a:ext cx="1835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552762" y="6234846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782201" y="6153958"/>
            <a:ext cx="450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947530" y="6173701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199590" y="5972722"/>
            <a:ext cx="10179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851535" algn="l"/>
              </a:tabLst>
            </a:pPr>
            <a:r>
              <a:rPr dirty="0" sz="850" spc="585">
                <a:latin typeface="Arial MT"/>
                <a:cs typeface="Arial MT"/>
              </a:rPr>
              <a:t>X</a:t>
            </a:r>
            <a:r>
              <a:rPr dirty="0" sz="850">
                <a:latin typeface="Arial MT"/>
                <a:cs typeface="Arial MT"/>
              </a:rPr>
              <a:t>	</a:t>
            </a:r>
            <a:r>
              <a:rPr dirty="0" sz="850" spc="585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597530" y="6092803"/>
            <a:ext cx="8083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22300" algn="l"/>
              </a:tabLst>
            </a:pP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sz="850" spc="280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+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80" i="1">
                <a:latin typeface="Arial"/>
                <a:cs typeface="Arial"/>
              </a:rPr>
              <a:t>∆</a:t>
            </a:r>
            <a:r>
              <a:rPr dirty="0" sz="850" spc="8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922129" y="6015844"/>
            <a:ext cx="8731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629285" algn="l"/>
              </a:tabLst>
            </a:pP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15" i="1">
                <a:latin typeface="Times New Roman"/>
                <a:cs typeface="Times New Roman"/>
              </a:rPr>
              <a:t> </a:t>
            </a:r>
            <a:r>
              <a:rPr dirty="0" baseline="35353" sz="825">
                <a:latin typeface="Calibri"/>
                <a:cs typeface="Calibri"/>
              </a:rPr>
              <a:t>2</a:t>
            </a:r>
            <a:r>
              <a:rPr dirty="0" baseline="35353" sz="825" spc="-60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87815" y="6258008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449510" y="6183236"/>
            <a:ext cx="407034" cy="0"/>
          </a:xfrm>
          <a:custGeom>
            <a:avLst/>
            <a:gdLst/>
            <a:ahLst/>
            <a:cxnLst/>
            <a:rect l="l" t="t" r="r" b="b"/>
            <a:pathLst>
              <a:path w="407035" h="0">
                <a:moveTo>
                  <a:pt x="0" y="0"/>
                </a:moveTo>
                <a:lnTo>
                  <a:pt x="406641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3366640" y="6173701"/>
            <a:ext cx="4775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45454" sz="825" i="1">
                <a:latin typeface="Calibri"/>
                <a:cs typeface="Calibri"/>
              </a:rPr>
              <a:t>j</a:t>
            </a:r>
            <a:r>
              <a:rPr dirty="0" baseline="45454" sz="825" spc="112" i="1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1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1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606181" y="6234846"/>
            <a:ext cx="2546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0383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036012" y="6153958"/>
            <a:ext cx="628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Calibri"/>
                <a:cs typeface="Calibri"/>
              </a:rPr>
              <a:t>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858629" y="6092803"/>
            <a:ext cx="4908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sz="850" spc="38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9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723434" y="6092803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(3.48)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99759" y="6501678"/>
            <a:ext cx="18669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rewrite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compactly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107963" y="6778568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3120656" y="6945960"/>
            <a:ext cx="60960" cy="0"/>
          </a:xfrm>
          <a:custGeom>
            <a:avLst/>
            <a:gdLst/>
            <a:ahLst/>
            <a:cxnLst/>
            <a:rect l="l" t="t" r="r" b="b"/>
            <a:pathLst>
              <a:path w="60960" h="0">
                <a:moveTo>
                  <a:pt x="0" y="0"/>
                </a:moveTo>
                <a:lnTo>
                  <a:pt x="60782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3107956" y="6936425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360394" y="6845513"/>
            <a:ext cx="6667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T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517719" y="6855527"/>
            <a:ext cx="24745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5" i="1">
                <a:latin typeface="Calibri"/>
                <a:cs typeface="Calibri"/>
              </a:rPr>
              <a:t>C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 i="1">
                <a:latin typeface="Calibri"/>
                <a:cs typeface="Calibri"/>
              </a:rPr>
              <a:t>w</a:t>
            </a:r>
            <a:r>
              <a:rPr dirty="0" sz="850" spc="-2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95">
                <a:latin typeface="Tahoma"/>
                <a:cs typeface="Tahoma"/>
              </a:rPr>
              <a:t> </a:t>
            </a:r>
            <a:r>
              <a:rPr dirty="0" sz="850" spc="70" i="1">
                <a:latin typeface="Arial"/>
                <a:cs typeface="Arial"/>
              </a:rPr>
              <a:t>∆</a:t>
            </a:r>
            <a:r>
              <a:rPr dirty="0" sz="850" spc="70" i="1">
                <a:latin typeface="Calibri"/>
                <a:cs typeface="Calibri"/>
              </a:rPr>
              <a:t>w</a:t>
            </a:r>
            <a:r>
              <a:rPr dirty="0" sz="850" spc="70">
                <a:latin typeface="Tahoma"/>
                <a:cs typeface="Tahoma"/>
              </a:rPr>
              <a:t>)</a:t>
            </a:r>
            <a:r>
              <a:rPr dirty="0" sz="850" spc="-55">
                <a:latin typeface="Tahoma"/>
                <a:cs typeface="Tahom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 i="1">
                <a:latin typeface="Calibri"/>
                <a:cs typeface="Calibri"/>
              </a:rPr>
              <a:t>C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-100">
                <a:latin typeface="Tahoma"/>
                <a:cs typeface="Tahoma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90">
                <a:latin typeface="Tahoma"/>
                <a:cs typeface="Tahoma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60" i="1">
                <a:latin typeface="Calibri"/>
                <a:cs typeface="Calibri"/>
              </a:rPr>
              <a:t> </a:t>
            </a:r>
            <a:r>
              <a:rPr dirty="0" sz="850" spc="10">
                <a:latin typeface="Cambria"/>
                <a:cs typeface="Cambria"/>
              </a:rPr>
              <a:t>·</a:t>
            </a:r>
            <a:r>
              <a:rPr dirty="0" sz="850" spc="-20">
                <a:latin typeface="Cambria"/>
                <a:cs typeface="Cambria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sz="850" spc="-2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200">
                <a:latin typeface="Tahoma"/>
                <a:cs typeface="Tahoma"/>
              </a:rPr>
              <a:t> 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sz="850" spc="325" i="1">
                <a:latin typeface="Calibri"/>
                <a:cs typeface="Calibri"/>
              </a:rPr>
              <a:t> </a:t>
            </a:r>
            <a:r>
              <a:rPr dirty="0" sz="850" spc="120" i="1">
                <a:latin typeface="Calibri"/>
                <a:cs typeface="Calibri"/>
              </a:rPr>
              <a:t>H</a:t>
            </a:r>
            <a:r>
              <a:rPr dirty="0" sz="850" spc="120" i="1">
                <a:latin typeface="Arial"/>
                <a:cs typeface="Arial"/>
              </a:rPr>
              <a:t>∆</a:t>
            </a:r>
            <a:r>
              <a:rPr dirty="0" sz="850" spc="120" i="1">
                <a:latin typeface="Calibri"/>
                <a:cs typeface="Calibri"/>
              </a:rPr>
              <a:t>w</a:t>
            </a:r>
            <a:r>
              <a:rPr dirty="0" sz="850" spc="-2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9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7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723436" y="6855527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(3.49)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69201" y="7175621"/>
            <a:ext cx="4425315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-698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H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matrix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Hessian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matrix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whose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jk</a:t>
            </a:r>
            <a:r>
              <a:rPr dirty="0" sz="850" spc="60">
                <a:latin typeface="Calibri"/>
                <a:cs typeface="Calibri"/>
              </a:rPr>
              <a:t>-</a:t>
            </a:r>
            <a:r>
              <a:rPr dirty="0" sz="850" spc="20">
                <a:latin typeface="Calibri"/>
                <a:cs typeface="Calibri"/>
              </a:rPr>
              <a:t>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entry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-15" i="1">
                <a:latin typeface="Times New Roman"/>
                <a:cs typeface="Times New Roman"/>
              </a:rPr>
              <a:t> </a:t>
            </a:r>
            <a:r>
              <a:rPr dirty="0" baseline="35353" sz="825" spc="30">
                <a:latin typeface="Calibri"/>
                <a:cs typeface="Calibri"/>
              </a:rPr>
              <a:t>2</a:t>
            </a:r>
            <a:r>
              <a:rPr dirty="0" baseline="35353" sz="825" spc="-52">
                <a:latin typeface="Calibri"/>
                <a:cs typeface="Calibri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15" i="1">
                <a:latin typeface="Times New Roman"/>
                <a:cs typeface="Times New Roman"/>
              </a:rPr>
              <a:t> </a:t>
            </a:r>
            <a:r>
              <a:rPr dirty="0" sz="850" spc="60" i="1">
                <a:latin typeface="Calibri"/>
                <a:cs typeface="Calibri"/>
              </a:rPr>
              <a:t>w</a:t>
            </a:r>
            <a:r>
              <a:rPr dirty="0" baseline="-20202" sz="825" spc="89" i="1">
                <a:latin typeface="Calibri"/>
                <a:cs typeface="Calibri"/>
              </a:rPr>
              <a:t>j</a:t>
            </a:r>
            <a:r>
              <a:rPr dirty="0" sz="850" spc="60" i="1">
                <a:latin typeface="Times New Roman"/>
                <a:cs typeface="Times New Roman"/>
              </a:rPr>
              <a:t>∂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baseline="-20202" sz="825" spc="30" i="1">
                <a:latin typeface="Calibri"/>
                <a:cs typeface="Calibri"/>
              </a:rPr>
              <a:t>k</a:t>
            </a:r>
            <a:r>
              <a:rPr dirty="0" baseline="-20202" sz="825" spc="-44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29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discarding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higher-</a:t>
            </a:r>
            <a:r>
              <a:rPr dirty="0" sz="850" spc="-10">
                <a:latin typeface="Calibri"/>
                <a:cs typeface="Calibri"/>
              </a:rPr>
              <a:t>order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represented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above,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239755" y="7765440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3252457" y="7932838"/>
            <a:ext cx="60960" cy="0"/>
          </a:xfrm>
          <a:custGeom>
            <a:avLst/>
            <a:gdLst/>
            <a:ahLst/>
            <a:cxnLst/>
            <a:rect l="l" t="t" r="r" b="b"/>
            <a:pathLst>
              <a:path w="60960" h="0">
                <a:moveTo>
                  <a:pt x="0" y="0"/>
                </a:moveTo>
                <a:lnTo>
                  <a:pt x="60782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3239757" y="7923302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492209" y="7832390"/>
            <a:ext cx="6667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latin typeface="Calibri"/>
                <a:cs typeface="Calibri"/>
              </a:rPr>
              <a:t>T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649526" y="7842405"/>
            <a:ext cx="22110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5" i="1">
                <a:latin typeface="Calibri"/>
                <a:cs typeface="Calibri"/>
              </a:rPr>
              <a:t>C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 i="1">
                <a:latin typeface="Calibri"/>
                <a:cs typeface="Calibri"/>
              </a:rPr>
              <a:t>w</a:t>
            </a:r>
            <a:r>
              <a:rPr dirty="0" sz="850" spc="-3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95">
                <a:latin typeface="Tahoma"/>
                <a:cs typeface="Tahoma"/>
              </a:rPr>
              <a:t> </a:t>
            </a:r>
            <a:r>
              <a:rPr dirty="0" sz="850" spc="70" i="1">
                <a:latin typeface="Arial"/>
                <a:cs typeface="Arial"/>
              </a:rPr>
              <a:t>∆</a:t>
            </a:r>
            <a:r>
              <a:rPr dirty="0" sz="850" spc="70" i="1">
                <a:latin typeface="Calibri"/>
                <a:cs typeface="Calibri"/>
              </a:rPr>
              <a:t>w</a:t>
            </a:r>
            <a:r>
              <a:rPr dirty="0" sz="850" spc="70">
                <a:latin typeface="Tahoma"/>
                <a:cs typeface="Tahoma"/>
              </a:rPr>
              <a:t>)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10" i="1">
                <a:latin typeface="Calibri"/>
                <a:cs typeface="Calibri"/>
              </a:rPr>
              <a:t>C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-100">
                <a:latin typeface="Tahoma"/>
                <a:cs typeface="Tahoma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95">
                <a:latin typeface="Tahoma"/>
                <a:cs typeface="Tahoma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60" i="1">
                <a:latin typeface="Calibri"/>
                <a:cs typeface="Calibri"/>
              </a:rPr>
              <a:t> </a:t>
            </a:r>
            <a:r>
              <a:rPr dirty="0" sz="850" spc="10">
                <a:latin typeface="Cambria"/>
                <a:cs typeface="Cambria"/>
              </a:rPr>
              <a:t>·</a:t>
            </a:r>
            <a:r>
              <a:rPr dirty="0" sz="850" spc="-20">
                <a:latin typeface="Cambria"/>
                <a:cs typeface="Cambria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sz="850" spc="-2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195">
                <a:latin typeface="Tahoma"/>
                <a:cs typeface="Tahoma"/>
              </a:rPr>
              <a:t> 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sz="850" spc="325" i="1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H</a:t>
            </a:r>
            <a:r>
              <a:rPr dirty="0" sz="850" spc="60" i="1">
                <a:latin typeface="Arial"/>
                <a:cs typeface="Arial"/>
              </a:rPr>
              <a:t>∆</a:t>
            </a:r>
            <a:r>
              <a:rPr dirty="0" sz="850" spc="60" i="1">
                <a:latin typeface="Calibri"/>
                <a:cs typeface="Calibri"/>
              </a:rPr>
              <a:t>w</a:t>
            </a:r>
            <a:r>
              <a:rPr dirty="0" sz="850" spc="6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723419" y="7842405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(3.50)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37" name="object 37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6495" y="368721"/>
            <a:ext cx="4714875" cy="149161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55880">
              <a:lnSpc>
                <a:spcPts val="525"/>
              </a:lnSpc>
              <a:spcBef>
                <a:spcPts val="110"/>
              </a:spcBef>
              <a:tabLst>
                <a:tab pos="1229995" algn="l"/>
              </a:tabLst>
            </a:pPr>
            <a:r>
              <a:rPr dirty="0" sz="850">
                <a:latin typeface="Calibri"/>
                <a:cs typeface="Calibri"/>
              </a:rPr>
              <a:t>3.6.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119</a:t>
            </a:r>
            <a:endParaRPr sz="850">
              <a:latin typeface="Calibri"/>
              <a:cs typeface="Calibri"/>
            </a:endParaRPr>
          </a:p>
          <a:p>
            <a:pPr algn="r" marR="3143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63500" marR="32956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calculus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right-hand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side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minimized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35</a:t>
            </a:r>
            <a:r>
              <a:rPr dirty="0" baseline="35353" sz="825" spc="7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choosing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50">
              <a:latin typeface="Calibri"/>
              <a:cs typeface="Calibri"/>
            </a:endParaRPr>
          </a:p>
          <a:p>
            <a:pPr marL="1706245">
              <a:lnSpc>
                <a:spcPct val="100000"/>
              </a:lnSpc>
              <a:tabLst>
                <a:tab pos="4079240" algn="l"/>
              </a:tabLst>
            </a:pP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0">
                <a:latin typeface="Tahoma"/>
                <a:cs typeface="Tahoma"/>
              </a:rPr>
              <a:t> </a:t>
            </a:r>
            <a:r>
              <a:rPr dirty="0" sz="850" spc="114">
                <a:latin typeface="Cambria"/>
                <a:cs typeface="Cambria"/>
              </a:rPr>
              <a:t>−</a:t>
            </a:r>
            <a:r>
              <a:rPr dirty="0" sz="850" spc="114" i="1">
                <a:latin typeface="Calibri"/>
                <a:cs typeface="Calibri"/>
              </a:rPr>
              <a:t>H</a:t>
            </a:r>
            <a:r>
              <a:rPr dirty="0" baseline="35353" sz="825" spc="172">
                <a:latin typeface="Cambria"/>
                <a:cs typeface="Cambria"/>
              </a:rPr>
              <a:t>−</a:t>
            </a:r>
            <a:r>
              <a:rPr dirty="0" baseline="35353" sz="825" spc="172">
                <a:latin typeface="Calibri"/>
                <a:cs typeface="Calibri"/>
              </a:rPr>
              <a:t>1</a:t>
            </a:r>
            <a:r>
              <a:rPr dirty="0" sz="850" spc="114">
                <a:latin typeface="Cambria"/>
                <a:cs typeface="Cambria"/>
              </a:rPr>
              <a:t>𝝯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(3.51)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85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</a:pPr>
            <a:r>
              <a:rPr dirty="0" sz="850" spc="20">
                <a:latin typeface="Calibri"/>
                <a:cs typeface="Calibri"/>
              </a:rPr>
              <a:t>Provided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  <a:hlinkClick r:id="rId3" action="ppaction://hlinksldjump"/>
              </a:rPr>
              <a:t>(3.50)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expression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expect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41896" y="1851675"/>
            <a:ext cx="43992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3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7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135">
                <a:latin typeface="Tahoma"/>
                <a:cs typeface="Tahoma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7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35">
                <a:latin typeface="Cambria"/>
                <a:cs typeface="Cambria"/>
              </a:rPr>
              <a:t> </a:t>
            </a:r>
            <a:r>
              <a:rPr dirty="0" sz="850" spc="120" i="1">
                <a:latin typeface="Calibri"/>
                <a:cs typeface="Calibri"/>
              </a:rPr>
              <a:t>H</a:t>
            </a:r>
            <a:r>
              <a:rPr dirty="0" baseline="35353" sz="825" spc="179">
                <a:latin typeface="Cambria"/>
                <a:cs typeface="Cambria"/>
              </a:rPr>
              <a:t>−</a:t>
            </a:r>
            <a:r>
              <a:rPr dirty="0" baseline="35353" sz="825" spc="179">
                <a:latin typeface="Calibri"/>
                <a:cs typeface="Calibri"/>
              </a:rPr>
              <a:t>1</a:t>
            </a:r>
            <a:r>
              <a:rPr dirty="0" sz="850" spc="120">
                <a:latin typeface="Cambria"/>
                <a:cs typeface="Cambria"/>
              </a:rPr>
              <a:t>𝝯</a:t>
            </a:r>
            <a:r>
              <a:rPr dirty="0" sz="850" spc="120" i="1">
                <a:latin typeface="Calibri"/>
                <a:cs typeface="Calibri"/>
              </a:rPr>
              <a:t>C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significantly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cost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7296" y="1971861"/>
            <a:ext cx="3304540" cy="343535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850" spc="30">
                <a:latin typeface="Calibri"/>
                <a:cs typeface="Calibri"/>
              </a:rPr>
              <a:t>function.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suggests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possible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algorithm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minimizing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cost:</a:t>
            </a:r>
            <a:endParaRPr sz="850">
              <a:latin typeface="Calibri"/>
              <a:cs typeface="Calibri"/>
            </a:endParaRPr>
          </a:p>
          <a:p>
            <a:pPr marL="328295" indent="-118110">
              <a:lnSpc>
                <a:spcPct val="100000"/>
              </a:lnSpc>
              <a:spcBef>
                <a:spcPts val="229"/>
              </a:spcBef>
              <a:buFont typeface="Cambria"/>
              <a:buChar char="•"/>
              <a:tabLst>
                <a:tab pos="328295" algn="l"/>
              </a:tabLst>
            </a:pP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079996" y="765438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965696" y="2289923"/>
            <a:ext cx="4574540" cy="5724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30530" marR="132080" indent="-118745">
              <a:lnSpc>
                <a:spcPct val="114300"/>
              </a:lnSpc>
              <a:spcBef>
                <a:spcPts val="95"/>
              </a:spcBef>
              <a:buFont typeface="Cambria"/>
              <a:buChar char="•"/>
              <a:tabLst>
                <a:tab pos="430530" algn="l"/>
              </a:tabLst>
            </a:pPr>
            <a:r>
              <a:rPr dirty="0" sz="850">
                <a:latin typeface="Calibri"/>
                <a:cs typeface="Calibri"/>
              </a:rPr>
              <a:t>Update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>
                <a:latin typeface="Cambria"/>
                <a:cs typeface="Cambria"/>
              </a:rPr>
              <a:t>’</a:t>
            </a:r>
            <a:r>
              <a:rPr dirty="0" baseline="35353" sz="825" spc="270">
                <a:latin typeface="Cambria"/>
                <a:cs typeface="Cambria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120" i="1">
                <a:latin typeface="Calibri"/>
                <a:cs typeface="Calibri"/>
              </a:rPr>
              <a:t>w</a:t>
            </a:r>
            <a:r>
              <a:rPr dirty="0" sz="850" spc="120">
                <a:latin typeface="Cambria"/>
                <a:cs typeface="Cambria"/>
              </a:rPr>
              <a:t>−</a:t>
            </a:r>
            <a:r>
              <a:rPr dirty="0" sz="850" spc="120" i="1">
                <a:latin typeface="Calibri"/>
                <a:cs typeface="Calibri"/>
              </a:rPr>
              <a:t>H</a:t>
            </a:r>
            <a:r>
              <a:rPr dirty="0" baseline="35353" sz="825" spc="179">
                <a:latin typeface="Cambria"/>
                <a:cs typeface="Cambria"/>
              </a:rPr>
              <a:t>−</a:t>
            </a:r>
            <a:r>
              <a:rPr dirty="0" baseline="35353" sz="825" spc="179">
                <a:latin typeface="Calibri"/>
                <a:cs typeface="Calibri"/>
              </a:rPr>
              <a:t>1</a:t>
            </a:r>
            <a:r>
              <a:rPr dirty="0" sz="850" spc="120">
                <a:latin typeface="Cambria"/>
                <a:cs typeface="Cambria"/>
              </a:rPr>
              <a:t>𝝯</a:t>
            </a:r>
            <a:r>
              <a:rPr dirty="0" sz="850" spc="120" i="1">
                <a:latin typeface="Calibri"/>
                <a:cs typeface="Calibri"/>
              </a:rPr>
              <a:t>C</a:t>
            </a:r>
            <a:r>
              <a:rPr dirty="0" sz="850" spc="12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Hessian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H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430530" marR="132080" indent="-118745">
              <a:lnSpc>
                <a:spcPct val="114300"/>
              </a:lnSpc>
              <a:buFont typeface="Cambria"/>
              <a:buChar char="•"/>
              <a:tabLst>
                <a:tab pos="430530" algn="l"/>
              </a:tabLst>
            </a:pPr>
            <a:r>
              <a:rPr dirty="0" sz="850">
                <a:latin typeface="Calibri"/>
                <a:cs typeface="Calibri"/>
              </a:rPr>
              <a:t>Update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>
                <a:latin typeface="Cambria"/>
                <a:cs typeface="Cambria"/>
              </a:rPr>
              <a:t>’</a:t>
            </a:r>
            <a:r>
              <a:rPr dirty="0" baseline="35353" sz="825" spc="46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>
                <a:latin typeface="Cambria"/>
                <a:cs typeface="Cambria"/>
              </a:rPr>
              <a:t>’’</a:t>
            </a:r>
            <a:r>
              <a:rPr dirty="0" baseline="35353" sz="825" spc="427">
                <a:latin typeface="Cambria"/>
                <a:cs typeface="Cambria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10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>
                <a:latin typeface="Cambria"/>
                <a:cs typeface="Cambria"/>
              </a:rPr>
              <a:t>’</a:t>
            </a:r>
            <a:r>
              <a:rPr dirty="0" baseline="35353" sz="825" spc="270">
                <a:latin typeface="Cambria"/>
                <a:cs typeface="Cambria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spc="105" i="1">
                <a:latin typeface="Calibri"/>
                <a:cs typeface="Calibri"/>
              </a:rPr>
              <a:t>H</a:t>
            </a:r>
            <a:r>
              <a:rPr dirty="0" baseline="35353" sz="825" spc="157">
                <a:latin typeface="Cambria"/>
                <a:cs typeface="Cambria"/>
              </a:rPr>
              <a:t>’−</a:t>
            </a:r>
            <a:r>
              <a:rPr dirty="0" baseline="35353" sz="825" spc="157">
                <a:latin typeface="Calibri"/>
                <a:cs typeface="Calibri"/>
              </a:rPr>
              <a:t>1</a:t>
            </a:r>
            <a:r>
              <a:rPr dirty="0" sz="850" spc="105">
                <a:latin typeface="Cambria"/>
                <a:cs typeface="Cambria"/>
              </a:rPr>
              <a:t>𝝯</a:t>
            </a:r>
            <a:r>
              <a:rPr dirty="0" baseline="35353" sz="825" spc="157">
                <a:latin typeface="Cambria"/>
                <a:cs typeface="Cambria"/>
              </a:rPr>
              <a:t>’</a:t>
            </a:r>
            <a:r>
              <a:rPr dirty="0" baseline="35353" sz="825" spc="-44">
                <a:latin typeface="Cambria"/>
                <a:cs typeface="Cambria"/>
              </a:rPr>
              <a:t> </a:t>
            </a:r>
            <a:r>
              <a:rPr dirty="0" sz="850" spc="85" i="1">
                <a:latin typeface="Calibri"/>
                <a:cs typeface="Calibri"/>
              </a:rPr>
              <a:t>C</a:t>
            </a:r>
            <a:r>
              <a:rPr dirty="0" sz="850" spc="85">
                <a:latin typeface="Calibri"/>
                <a:cs typeface="Calibri"/>
              </a:rPr>
              <a:t>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Hessian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5" i="1">
                <a:latin typeface="Calibri"/>
                <a:cs typeface="Calibri"/>
              </a:rPr>
              <a:t>H</a:t>
            </a:r>
            <a:r>
              <a:rPr dirty="0" baseline="35353" sz="825" spc="157">
                <a:latin typeface="Cambria"/>
                <a:cs typeface="Cambria"/>
              </a:rPr>
              <a:t>’</a:t>
            </a:r>
            <a:r>
              <a:rPr dirty="0" baseline="35353" sz="825" spc="46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14">
                <a:latin typeface="Cambria"/>
                <a:cs typeface="Cambria"/>
              </a:rPr>
              <a:t>𝝯</a:t>
            </a:r>
            <a:r>
              <a:rPr dirty="0" baseline="35353" sz="825" spc="172">
                <a:latin typeface="Cambria"/>
                <a:cs typeface="Cambria"/>
              </a:rPr>
              <a:t>’</a:t>
            </a:r>
            <a:r>
              <a:rPr dirty="0" baseline="35353" sz="825" spc="-44">
                <a:latin typeface="Cambria"/>
                <a:cs typeface="Cambria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54" i="1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35353" sz="825" spc="-37">
                <a:latin typeface="Cambria"/>
                <a:cs typeface="Cambria"/>
              </a:rPr>
              <a:t>’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429895" indent="-118110">
              <a:lnSpc>
                <a:spcPct val="100000"/>
              </a:lnSpc>
              <a:spcBef>
                <a:spcPts val="145"/>
              </a:spcBef>
              <a:buFont typeface="Cambria"/>
              <a:buChar char="•"/>
              <a:tabLst>
                <a:tab pos="429895" algn="l"/>
              </a:tabLst>
            </a:pP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.</a:t>
            </a:r>
            <a:endParaRPr sz="850">
              <a:latin typeface="Calibri"/>
              <a:cs typeface="Calibri"/>
            </a:endParaRPr>
          </a:p>
          <a:p>
            <a:pPr algn="just" marL="114300" marR="132080">
              <a:lnSpc>
                <a:spcPct val="114300"/>
              </a:lnSpc>
              <a:spcBef>
                <a:spcPts val="90"/>
              </a:spcBef>
            </a:pP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3" action="ppaction://hlinksldjump"/>
              </a:rPr>
              <a:t>(3.50)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steps.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repeatedly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amount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w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125">
                <a:latin typeface="Cambria"/>
                <a:cs typeface="Cambria"/>
              </a:rPr>
              <a:t>−</a:t>
            </a:r>
            <a:r>
              <a:rPr dirty="0" sz="850" spc="125" i="1">
                <a:latin typeface="Times New Roman"/>
                <a:cs typeface="Times New Roman"/>
              </a:rPr>
              <a:t>η</a:t>
            </a:r>
            <a:r>
              <a:rPr dirty="0" sz="850" spc="125" i="1">
                <a:latin typeface="Calibri"/>
                <a:cs typeface="Calibri"/>
              </a:rPr>
              <a:t>H</a:t>
            </a:r>
            <a:r>
              <a:rPr dirty="0" baseline="35353" sz="825" spc="187">
                <a:latin typeface="Cambria"/>
                <a:cs typeface="Cambria"/>
              </a:rPr>
              <a:t>−</a:t>
            </a:r>
            <a:r>
              <a:rPr dirty="0" baseline="35353" sz="825" spc="187">
                <a:latin typeface="Calibri"/>
                <a:cs typeface="Calibri"/>
              </a:rPr>
              <a:t>1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125">
                <a:latin typeface="Calibri"/>
                <a:cs typeface="Calibri"/>
              </a:rPr>
              <a:t>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rate.</a:t>
            </a:r>
            <a:endParaRPr sz="850">
              <a:latin typeface="Calibri"/>
              <a:cs typeface="Calibri"/>
            </a:endParaRPr>
          </a:p>
          <a:p>
            <a:pPr algn="just" marL="109855" marR="104139" indent="193675">
              <a:lnSpc>
                <a:spcPct val="114300"/>
              </a:lnSpc>
              <a:spcBef>
                <a:spcPts val="85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minimizing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Hessian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technique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Hessian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optimization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4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theoretical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empirical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showing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Hessian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methods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converge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minimum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fewer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standard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incorporating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information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second-order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possible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Hessian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pathologies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descent.</a:t>
            </a:r>
            <a:r>
              <a:rPr dirty="0" sz="850" spc="20">
                <a:latin typeface="Calibri"/>
                <a:cs typeface="Calibri"/>
              </a:rPr>
              <a:t> Furthermore,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versions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Hessian.</a:t>
            </a:r>
            <a:endParaRPr sz="850">
              <a:latin typeface="Calibri"/>
              <a:cs typeface="Calibri"/>
            </a:endParaRPr>
          </a:p>
          <a:p>
            <a:pPr algn="just" marL="114300" marR="104139" indent="189230">
              <a:lnSpc>
                <a:spcPct val="114300"/>
              </a:lnSpc>
              <a:spcBef>
                <a:spcPts val="85"/>
              </a:spcBef>
            </a:pP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Hessian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optimization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great,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aren’t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networks?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Unfortunately,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desirable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properties,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undesirable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property: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sheer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Hessian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matrix.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</a:t>
            </a:r>
            <a:r>
              <a:rPr dirty="0" baseline="35353" sz="825" spc="75">
                <a:latin typeface="Calibri"/>
                <a:cs typeface="Calibri"/>
              </a:rPr>
              <a:t>7</a:t>
            </a:r>
            <a:r>
              <a:rPr dirty="0" baseline="35353" sz="825" spc="4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corresponding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Hessian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matrix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</a:t>
            </a:r>
            <a:r>
              <a:rPr dirty="0" baseline="35353" sz="825">
                <a:latin typeface="Calibri"/>
                <a:cs typeface="Calibri"/>
              </a:rPr>
              <a:t>7</a:t>
            </a:r>
            <a:r>
              <a:rPr dirty="0" baseline="35353" sz="825" spc="24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10</a:t>
            </a:r>
            <a:r>
              <a:rPr dirty="0" baseline="35353" sz="825">
                <a:latin typeface="Calibri"/>
                <a:cs typeface="Calibri"/>
              </a:rPr>
              <a:t>7</a:t>
            </a:r>
            <a:r>
              <a:rPr dirty="0" baseline="35353" sz="825" spc="322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10</a:t>
            </a:r>
            <a:r>
              <a:rPr dirty="0" baseline="35353" sz="825">
                <a:latin typeface="Calibri"/>
                <a:cs typeface="Calibri"/>
              </a:rPr>
              <a:t>14</a:t>
            </a:r>
            <a:r>
              <a:rPr dirty="0" baseline="35353" sz="825" spc="4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entries.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entries!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makes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20" i="1">
                <a:latin typeface="Calibri"/>
                <a:cs typeface="Calibri"/>
              </a:rPr>
              <a:t>H</a:t>
            </a:r>
            <a:r>
              <a:rPr dirty="0" baseline="35353" sz="825" spc="179">
                <a:latin typeface="Cambria"/>
                <a:cs typeface="Cambria"/>
              </a:rPr>
              <a:t>−</a:t>
            </a:r>
            <a:r>
              <a:rPr dirty="0" baseline="35353" sz="825" spc="179">
                <a:latin typeface="Calibri"/>
                <a:cs typeface="Calibri"/>
              </a:rPr>
              <a:t>1</a:t>
            </a:r>
            <a:r>
              <a:rPr dirty="0" sz="850" spc="120">
                <a:latin typeface="Cambria"/>
                <a:cs typeface="Cambria"/>
              </a:rPr>
              <a:t>𝝯</a:t>
            </a:r>
            <a:r>
              <a:rPr dirty="0" sz="850" spc="120" i="1">
                <a:latin typeface="Calibri"/>
                <a:cs typeface="Calibri"/>
              </a:rPr>
              <a:t>C</a:t>
            </a:r>
            <a:r>
              <a:rPr dirty="0" sz="850" spc="204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useful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understand.</a:t>
            </a:r>
            <a:r>
              <a:rPr dirty="0" sz="850" spc="48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20">
                <a:latin typeface="Calibri"/>
                <a:cs typeface="Calibri"/>
              </a:rPr>
              <a:t> inspired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Hessian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optimization,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avoid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overly-large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matrices.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momentum-based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descent.</a:t>
            </a:r>
            <a:endParaRPr sz="850">
              <a:latin typeface="Calibri"/>
              <a:cs typeface="Calibri"/>
            </a:endParaRPr>
          </a:p>
          <a:p>
            <a:pPr algn="just" marL="107314" marR="104139" indent="196215">
              <a:lnSpc>
                <a:spcPct val="114300"/>
              </a:lnSpc>
              <a:spcBef>
                <a:spcPts val="85"/>
              </a:spcBef>
            </a:pPr>
            <a:r>
              <a:rPr dirty="0" sz="850" spc="20" b="1">
                <a:latin typeface="Calibri"/>
                <a:cs typeface="Calibri"/>
              </a:rPr>
              <a:t>Momentum-based</a:t>
            </a:r>
            <a:r>
              <a:rPr dirty="0" sz="850" spc="18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gradient</a:t>
            </a:r>
            <a:r>
              <a:rPr dirty="0" sz="850" spc="18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descent:</a:t>
            </a:r>
            <a:r>
              <a:rPr dirty="0" sz="850" spc="270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Intuitively,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advantage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Hessian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optimization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incorporates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changing.</a:t>
            </a:r>
            <a:r>
              <a:rPr dirty="0" sz="850" spc="18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Momentum-based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based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similar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intuition,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matrices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derivatives.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momentum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original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picture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4" action="ppaction://hlinksldjump"/>
              </a:rPr>
              <a:t>descent1.5,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considered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rolling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valley.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observed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despite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loosely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falling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bottom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valley.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momentum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modifies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physical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picture.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introduces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“velocity”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optimize.</a:t>
            </a:r>
            <a:r>
              <a:rPr dirty="0" sz="850" spc="50">
                <a:latin typeface="Calibri"/>
                <a:cs typeface="Calibri"/>
              </a:rPr>
              <a:t> 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velocity,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(directly)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“position”,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same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physical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forces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velocity,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indirectly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affect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position.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10"/>
              </a:spcBef>
            </a:pPr>
            <a:endParaRPr sz="850">
              <a:latin typeface="Calibri"/>
              <a:cs typeface="Calibri"/>
            </a:endParaRPr>
          </a:p>
          <a:p>
            <a:pPr algn="just" marL="114300" marR="128270" indent="86995">
              <a:lnSpc>
                <a:spcPts val="800"/>
              </a:lnSpc>
            </a:pPr>
            <a:r>
              <a:rPr dirty="0" baseline="30303" sz="825" spc="30">
                <a:latin typeface="Calibri"/>
                <a:cs typeface="Calibri"/>
              </a:rPr>
              <a:t>35</a:t>
            </a:r>
            <a:r>
              <a:rPr dirty="0" sz="750" spc="20">
                <a:latin typeface="Calibri"/>
                <a:cs typeface="Calibri"/>
              </a:rPr>
              <a:t>Strictly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speaking,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for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this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minimum,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not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merely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extremum,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need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assume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that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Hessian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matrix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positive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definite.</a:t>
            </a:r>
            <a:r>
              <a:rPr dirty="0" sz="750" spc="3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Intuitively,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means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function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 spc="70" i="1">
                <a:latin typeface="Calibri"/>
                <a:cs typeface="Calibri"/>
              </a:rPr>
              <a:t>C</a:t>
            </a:r>
            <a:r>
              <a:rPr dirty="0" sz="750" spc="265" i="1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looks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like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valley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locally,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not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mountain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or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saddle.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8" name="object 8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693285" cy="13144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120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327660" marR="33020" indent="381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momentum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introduces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kind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friction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tends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gradually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velocity.</a:t>
            </a:r>
            <a:endParaRPr sz="850">
              <a:latin typeface="Calibri"/>
              <a:cs typeface="Calibri"/>
            </a:endParaRPr>
          </a:p>
          <a:p>
            <a:pPr algn="just" marL="331470" marR="30480" indent="189230">
              <a:lnSpc>
                <a:spcPct val="114300"/>
              </a:lnSpc>
              <a:spcBef>
                <a:spcPts val="25"/>
              </a:spcBef>
            </a:pPr>
            <a:r>
              <a:rPr dirty="0" sz="850" spc="15">
                <a:latin typeface="Calibri"/>
                <a:cs typeface="Calibri"/>
              </a:rPr>
              <a:t>Let’s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give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precise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mathematical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description.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introduce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velocity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variables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v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110">
                <a:latin typeface="Tahoma"/>
                <a:cs typeface="Tahoma"/>
              </a:rPr>
              <a:t> </a:t>
            </a:r>
            <a:r>
              <a:rPr dirty="0" sz="850" spc="30" i="1">
                <a:latin typeface="Calibri"/>
                <a:cs typeface="Calibri"/>
              </a:rPr>
              <a:t>v</a:t>
            </a:r>
            <a:r>
              <a:rPr dirty="0" baseline="-20202" sz="825" spc="44">
                <a:latin typeface="Calibri"/>
                <a:cs typeface="Calibri"/>
              </a:rPr>
              <a:t>1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v</a:t>
            </a:r>
            <a:r>
              <a:rPr dirty="0" baseline="-20202" sz="825" spc="44">
                <a:latin typeface="Calibri"/>
                <a:cs typeface="Calibri"/>
              </a:rPr>
              <a:t>2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corresponding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412" i="1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variable</a:t>
            </a:r>
            <a:r>
              <a:rPr dirty="0" baseline="35353" sz="825" spc="52">
                <a:latin typeface="Calibri"/>
                <a:cs typeface="Calibri"/>
                <a:hlinkClick r:id="rId2" action="ppaction://hlinksldjump"/>
              </a:rPr>
              <a:t>36</a:t>
            </a:r>
            <a:r>
              <a:rPr dirty="0" sz="850" spc="35">
                <a:latin typeface="Calibri"/>
                <a:cs typeface="Calibri"/>
              </a:rPr>
              <a:t>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replace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gradient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update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rule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25" i="1">
                <a:latin typeface="Calibri"/>
                <a:cs typeface="Calibri"/>
              </a:rPr>
              <a:t>w</a:t>
            </a:r>
            <a:r>
              <a:rPr dirty="0" baseline="35353" sz="825" spc="37">
                <a:latin typeface="Cambria"/>
                <a:cs typeface="Cambria"/>
              </a:rPr>
              <a:t>’</a:t>
            </a:r>
            <a:r>
              <a:rPr dirty="0" baseline="35353" sz="825" spc="195">
                <a:latin typeface="Cambria"/>
                <a:cs typeface="Cambri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3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130" i="1">
                <a:latin typeface="Times New Roman"/>
                <a:cs typeface="Times New Roman"/>
              </a:rPr>
              <a:t>η</a:t>
            </a:r>
            <a:r>
              <a:rPr dirty="0" sz="850" spc="130">
                <a:latin typeface="Cambria"/>
                <a:cs typeface="Cambria"/>
              </a:rPr>
              <a:t>𝝯</a:t>
            </a:r>
            <a:r>
              <a:rPr dirty="0" sz="850" spc="130" i="1">
                <a:latin typeface="Calibri"/>
                <a:cs typeface="Calibri"/>
              </a:rPr>
              <a:t>C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51926" y="1783974"/>
            <a:ext cx="1049020" cy="397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42545">
              <a:lnSpc>
                <a:spcPct val="143600"/>
              </a:lnSpc>
              <a:spcBef>
                <a:spcPts val="95"/>
              </a:spcBef>
            </a:pPr>
            <a:r>
              <a:rPr dirty="0" sz="850" i="1">
                <a:latin typeface="Calibri"/>
                <a:cs typeface="Calibri"/>
              </a:rPr>
              <a:t>v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60">
                <a:latin typeface="Cambria"/>
                <a:cs typeface="Cambria"/>
              </a:rPr>
              <a:t> </a:t>
            </a:r>
            <a:r>
              <a:rPr dirty="0" sz="850" spc="55" i="1">
                <a:latin typeface="Calibri"/>
                <a:cs typeface="Calibri"/>
              </a:rPr>
              <a:t>v</a:t>
            </a:r>
            <a:r>
              <a:rPr dirty="0" baseline="35353" sz="825" spc="82">
                <a:latin typeface="Cambria"/>
                <a:cs typeface="Cambria"/>
              </a:rPr>
              <a:t>’</a:t>
            </a:r>
            <a:r>
              <a:rPr dirty="0" baseline="35353" sz="825" spc="209">
                <a:latin typeface="Cambria"/>
                <a:cs typeface="Cambri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0">
                <a:latin typeface="Tahoma"/>
                <a:cs typeface="Tahoma"/>
              </a:rPr>
              <a:t> </a:t>
            </a:r>
            <a:r>
              <a:rPr dirty="0" sz="850" spc="60" i="1">
                <a:latin typeface="Times New Roman"/>
                <a:cs typeface="Times New Roman"/>
              </a:rPr>
              <a:t>µ</a:t>
            </a:r>
            <a:r>
              <a:rPr dirty="0" sz="850" spc="60" i="1">
                <a:latin typeface="Calibri"/>
                <a:cs typeface="Calibri"/>
              </a:rPr>
              <a:t>v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0">
                <a:latin typeface="Cambria"/>
                <a:cs typeface="Cambria"/>
              </a:rPr>
              <a:t> </a:t>
            </a:r>
            <a:r>
              <a:rPr dirty="0" sz="850" spc="105" i="1">
                <a:latin typeface="Times New Roman"/>
                <a:cs typeface="Times New Roman"/>
              </a:rPr>
              <a:t>η</a:t>
            </a:r>
            <a:r>
              <a:rPr dirty="0" sz="850" spc="105">
                <a:latin typeface="Cambria"/>
                <a:cs typeface="Cambria"/>
              </a:rPr>
              <a:t>𝝯</a:t>
            </a:r>
            <a:r>
              <a:rPr dirty="0" sz="850" spc="105" i="1">
                <a:latin typeface="Calibri"/>
                <a:cs typeface="Calibri"/>
              </a:rPr>
              <a:t>C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>
                <a:latin typeface="Cambria"/>
                <a:cs typeface="Cambria"/>
              </a:rPr>
              <a:t>’</a:t>
            </a:r>
            <a:r>
              <a:rPr dirty="0" baseline="35353" sz="825" spc="217">
                <a:latin typeface="Cambria"/>
                <a:cs typeface="Cambri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2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35" i="1">
                <a:latin typeface="Calibri"/>
                <a:cs typeface="Calibri"/>
              </a:rPr>
              <a:t>v</a:t>
            </a:r>
            <a:r>
              <a:rPr dirty="0" baseline="35353" sz="825" spc="52">
                <a:latin typeface="Cambria"/>
                <a:cs typeface="Cambria"/>
              </a:rPr>
              <a:t>’</a:t>
            </a:r>
            <a:r>
              <a:rPr dirty="0" sz="850" spc="3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723345" y="1783974"/>
            <a:ext cx="329565" cy="397510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850" spc="50">
                <a:latin typeface="Calibri"/>
                <a:cs typeface="Calibri"/>
              </a:rPr>
              <a:t>(3.52)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50" spc="50">
                <a:latin typeface="Calibri"/>
                <a:cs typeface="Calibri"/>
              </a:rPr>
              <a:t>(3.53)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301" y="2320423"/>
            <a:ext cx="4349750" cy="1210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9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controls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amount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damping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friction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system.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helpful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125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 </a:t>
            </a:r>
            <a:r>
              <a:rPr dirty="0" sz="850" spc="10">
                <a:latin typeface="Calibri"/>
                <a:cs typeface="Calibri"/>
              </a:rPr>
              <a:t>1,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friction.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inspection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equations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shows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“force”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𝝯</a:t>
            </a:r>
            <a:r>
              <a:rPr dirty="0" sz="850" spc="125" i="1">
                <a:latin typeface="Calibri"/>
                <a:cs typeface="Calibri"/>
              </a:rPr>
              <a:t>C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modifying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velocity,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v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velocity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controlling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Intuitively,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build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velocity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repeatedly</a:t>
            </a:r>
            <a:r>
              <a:rPr dirty="0" sz="850" spc="20">
                <a:latin typeface="Calibri"/>
                <a:cs typeface="Calibri"/>
              </a:rPr>
              <a:t> adding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0">
                <a:latin typeface="Calibri"/>
                <a:cs typeface="Calibri"/>
              </a:rPr>
              <a:t> terms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0">
                <a:latin typeface="Calibri"/>
                <a:cs typeface="Calibri"/>
              </a:rPr>
              <a:t> the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(roughly)</a:t>
            </a:r>
            <a:r>
              <a:rPr dirty="0" sz="850" spc="10">
                <a:latin typeface="Calibri"/>
                <a:cs typeface="Calibri"/>
              </a:rPr>
              <a:t> the </a:t>
            </a:r>
            <a:r>
              <a:rPr dirty="0" sz="850" spc="20">
                <a:latin typeface="Calibri"/>
                <a:cs typeface="Calibri"/>
              </a:rPr>
              <a:t>same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direction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several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rounds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steam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direction.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example,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happens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moving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straight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down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slope: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05704" y="3888073"/>
            <a:ext cx="1609620" cy="1369895"/>
          </a:xfrm>
          <a:prstGeom prst="rect">
            <a:avLst/>
          </a:prstGeom>
        </p:spPr>
      </p:pic>
      <p:sp>
        <p:nvSpPr>
          <p:cNvPr id="7" name="object 7"/>
          <p:cNvSpPr/>
          <p:nvPr/>
        </p:nvSpPr>
        <p:spPr>
          <a:xfrm>
            <a:off x="720001" y="7853895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630138" y="5520290"/>
            <a:ext cx="4488180" cy="24942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43180" indent="571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velocity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slope,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quickly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bottom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valley.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enable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momentum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faster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bottom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valley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overshoot.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rapidly,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find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ourselves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direction.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150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4" action="ppaction://hlinksldjump"/>
              </a:rPr>
              <a:t>(3.52).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said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9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controls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amount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friction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system;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precise,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114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amount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friction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1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seen,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friction,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velocity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driven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𝝯</a:t>
            </a:r>
            <a:r>
              <a:rPr dirty="0" sz="850" spc="95" i="1">
                <a:latin typeface="Calibri"/>
                <a:cs typeface="Calibri"/>
              </a:rPr>
              <a:t>C</a:t>
            </a:r>
            <a:r>
              <a:rPr dirty="0" sz="850" spc="95">
                <a:latin typeface="Calibri"/>
                <a:cs typeface="Calibri"/>
              </a:rPr>
              <a:t>. </a:t>
            </a:r>
            <a:r>
              <a:rPr dirty="0" sz="850" spc="5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contrast,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friction,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velocity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Equations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4" action="ppaction://hlinksldjump"/>
              </a:rPr>
              <a:t>(3.52)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4" action="ppaction://hlinksldjump"/>
              </a:rPr>
              <a:t>(3.53)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>
                <a:latin typeface="Cambria"/>
                <a:cs typeface="Cambria"/>
              </a:rPr>
              <a:t>’</a:t>
            </a:r>
            <a:r>
              <a:rPr dirty="0" baseline="35353" sz="825" spc="262">
                <a:latin typeface="Cambria"/>
                <a:cs typeface="Cambria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>
                <a:latin typeface="Cambria"/>
                <a:cs typeface="Cambria"/>
              </a:rPr>
              <a:t> </a:t>
            </a:r>
            <a:r>
              <a:rPr dirty="0" sz="850" spc="120" i="1">
                <a:latin typeface="Times New Roman"/>
                <a:cs typeface="Times New Roman"/>
              </a:rPr>
              <a:t>η</a:t>
            </a:r>
            <a:r>
              <a:rPr dirty="0" sz="850" spc="120">
                <a:latin typeface="Cambria"/>
                <a:cs typeface="Cambria"/>
              </a:rPr>
              <a:t>𝝯</a:t>
            </a:r>
            <a:r>
              <a:rPr dirty="0" sz="850" spc="120" i="1">
                <a:latin typeface="Calibri"/>
                <a:cs typeface="Calibri"/>
              </a:rPr>
              <a:t>C</a:t>
            </a:r>
            <a:r>
              <a:rPr dirty="0" sz="850" spc="1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8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intermediate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benefit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overshooting.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value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70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held-out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select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80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λ</a:t>
            </a:r>
            <a:r>
              <a:rPr dirty="0" sz="850" spc="8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89535" marR="66040" indent="189230">
              <a:lnSpc>
                <a:spcPct val="114300"/>
              </a:lnSpc>
              <a:spcBef>
                <a:spcPts val="30"/>
              </a:spcBef>
            </a:pP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avoided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naming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12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standard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name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24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badly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chosen:</a:t>
            </a:r>
            <a:r>
              <a:rPr dirty="0" sz="850" spc="15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momentum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co-efficient.</a:t>
            </a:r>
            <a:r>
              <a:rPr dirty="0" sz="850" spc="225">
                <a:latin typeface="Calibri"/>
                <a:cs typeface="Calibri"/>
              </a:rPr>
              <a:t> 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potentially</a:t>
            </a:r>
            <a:endParaRPr sz="850">
              <a:latin typeface="Calibri"/>
              <a:cs typeface="Calibri"/>
            </a:endParaRPr>
          </a:p>
          <a:p>
            <a:pPr marL="177165">
              <a:lnSpc>
                <a:spcPct val="100000"/>
              </a:lnSpc>
              <a:spcBef>
                <a:spcPts val="1025"/>
              </a:spcBef>
            </a:pPr>
            <a:r>
              <a:rPr dirty="0" baseline="30303" sz="825" spc="82">
                <a:latin typeface="Calibri"/>
                <a:cs typeface="Calibri"/>
              </a:rPr>
              <a:t>36</a:t>
            </a:r>
            <a:r>
              <a:rPr dirty="0" sz="750" spc="55">
                <a:latin typeface="Calibri"/>
                <a:cs typeface="Calibri"/>
              </a:rPr>
              <a:t>In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neural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55" i="1">
                <a:latin typeface="Calibri"/>
                <a:cs typeface="Calibri"/>
              </a:rPr>
              <a:t>w</a:t>
            </a:r>
            <a:r>
              <a:rPr dirty="0" baseline="-15151" sz="825" spc="82" i="1">
                <a:latin typeface="Calibri"/>
                <a:cs typeface="Calibri"/>
              </a:rPr>
              <a:t>j</a:t>
            </a:r>
            <a:r>
              <a:rPr dirty="0" baseline="-15151" sz="825" spc="367" i="1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variables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would,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course,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include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all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weights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biases.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10" name="object 10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56042"/>
                  </a:ln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2"/>
                  </a:move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456" y="368721"/>
            <a:ext cx="4670425" cy="4572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30480">
              <a:lnSpc>
                <a:spcPts val="525"/>
              </a:lnSpc>
              <a:spcBef>
                <a:spcPts val="110"/>
              </a:spcBef>
              <a:tabLst>
                <a:tab pos="1229995" algn="l"/>
              </a:tabLst>
            </a:pPr>
            <a:r>
              <a:rPr dirty="0" sz="850">
                <a:latin typeface="Calibri"/>
                <a:cs typeface="Calibri"/>
              </a:rPr>
              <a:t>3.6.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121</a:t>
            </a:r>
            <a:endParaRPr sz="850">
              <a:latin typeface="Calibri"/>
              <a:cs typeface="Calibri"/>
            </a:endParaRPr>
          </a:p>
          <a:p>
            <a:pPr algn="r" marR="2889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44450" marR="29400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confusing,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9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momentum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physics.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friction.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momentum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co-efficient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widely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continue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it.</a:t>
            </a:r>
            <a:endParaRPr sz="850">
              <a:latin typeface="Calibri"/>
              <a:cs typeface="Calibri"/>
            </a:endParaRPr>
          </a:p>
          <a:p>
            <a:pPr algn="just" marL="38100" marR="271780" indent="196215">
              <a:lnSpc>
                <a:spcPct val="114300"/>
              </a:lnSpc>
              <a:spcBef>
                <a:spcPts val="140"/>
              </a:spcBef>
            </a:pPr>
            <a:r>
              <a:rPr dirty="0" sz="850" spc="7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nice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momentum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almost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mod-</a:t>
            </a:r>
            <a:r>
              <a:rPr dirty="0" sz="850" spc="10">
                <a:latin typeface="Calibri"/>
                <a:cs typeface="Calibri"/>
              </a:rPr>
              <a:t>ify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implementation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incorporate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momentum.</a:t>
            </a:r>
            <a:r>
              <a:rPr dirty="0" sz="850" spc="185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use</a:t>
            </a:r>
            <a:r>
              <a:rPr dirty="0" sz="850" spc="20">
                <a:latin typeface="Calibri"/>
                <a:cs typeface="Calibri"/>
              </a:rPr>
              <a:t> backpropagation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before,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sampling</a:t>
            </a:r>
            <a:r>
              <a:rPr dirty="0" sz="850" spc="20">
                <a:latin typeface="Calibri"/>
                <a:cs typeface="Calibri"/>
              </a:rPr>
              <a:t> stochastically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chosen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mini-batches.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advantages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Hessian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information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done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disadvantages,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modifications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momentum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learning.</a:t>
            </a:r>
            <a:endParaRPr sz="850">
              <a:latin typeface="Calibri"/>
              <a:cs typeface="Calibri"/>
            </a:endParaRPr>
          </a:p>
          <a:p>
            <a:pPr marL="44450">
              <a:lnSpc>
                <a:spcPct val="100000"/>
              </a:lnSpc>
              <a:spcBef>
                <a:spcPts val="260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  <a:p>
            <a:pPr marL="360045" indent="-118110">
              <a:lnSpc>
                <a:spcPct val="100000"/>
              </a:lnSpc>
              <a:spcBef>
                <a:spcPts val="250"/>
              </a:spcBef>
              <a:buFont typeface="Cambria"/>
              <a:buChar char="•"/>
              <a:tabLst>
                <a:tab pos="360045" algn="l"/>
              </a:tabLst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&gt;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momentum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technique?</a:t>
            </a:r>
            <a:endParaRPr sz="850">
              <a:latin typeface="Calibri"/>
              <a:cs typeface="Calibri"/>
            </a:endParaRPr>
          </a:p>
          <a:p>
            <a:pPr marL="360045" indent="-118110">
              <a:lnSpc>
                <a:spcPct val="100000"/>
              </a:lnSpc>
              <a:spcBef>
                <a:spcPts val="145"/>
              </a:spcBef>
              <a:buFont typeface="Cambria"/>
              <a:buChar char="•"/>
              <a:tabLst>
                <a:tab pos="360045" algn="l"/>
              </a:tabLst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 i="1">
                <a:latin typeface="Times New Roman"/>
                <a:cs typeface="Times New Roman"/>
              </a:rPr>
              <a:t>µ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&lt;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 spc="50">
                <a:latin typeface="Calibri"/>
                <a:cs typeface="Calibri"/>
              </a:rPr>
              <a:t>0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momentum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technique?</a:t>
            </a:r>
            <a:endParaRPr sz="850">
              <a:latin typeface="Calibri"/>
              <a:cs typeface="Calibri"/>
            </a:endParaRPr>
          </a:p>
          <a:p>
            <a:pPr marL="44450">
              <a:lnSpc>
                <a:spcPct val="100000"/>
              </a:lnSpc>
              <a:spcBef>
                <a:spcPts val="260"/>
              </a:spcBef>
            </a:pP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  <a:p>
            <a:pPr marL="360045" indent="-118110">
              <a:lnSpc>
                <a:spcPct val="100000"/>
              </a:lnSpc>
              <a:spcBef>
                <a:spcPts val="200"/>
              </a:spcBef>
              <a:buFont typeface="Cambria"/>
              <a:buChar char="•"/>
              <a:tabLst>
                <a:tab pos="360045" algn="l"/>
              </a:tabLst>
            </a:pP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momentum-based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900" spc="-10">
                <a:latin typeface="Calibri"/>
                <a:cs typeface="Calibri"/>
              </a:rPr>
              <a:t>network2.py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38100" marR="274955">
              <a:lnSpc>
                <a:spcPct val="114300"/>
              </a:lnSpc>
              <a:spcBef>
                <a:spcPts val="130"/>
              </a:spcBef>
            </a:pP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minimizing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function: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minimizing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developed,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universal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agreement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best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worth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digging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techniques,</a:t>
            </a:r>
            <a:r>
              <a:rPr dirty="0" sz="850" spc="20">
                <a:latin typeface="Calibri"/>
                <a:cs typeface="Calibri"/>
              </a:rPr>
              <a:t> understanding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their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strengths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weaknesses,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mentioned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37</a:t>
            </a:r>
            <a:r>
              <a:rPr dirty="0" baseline="35353" sz="825" spc="38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introduces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techniques,</a:t>
            </a:r>
            <a:r>
              <a:rPr dirty="0" sz="850" spc="20">
                <a:latin typeface="Calibri"/>
                <a:cs typeface="Calibri"/>
              </a:rPr>
              <a:t> including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conjugate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BFGS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method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(see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closely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related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limited-memory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BFGS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L-</a:t>
            </a:r>
            <a:r>
              <a:rPr dirty="0" sz="850" spc="70">
                <a:latin typeface="Calibri"/>
                <a:cs typeface="Calibri"/>
              </a:rPr>
              <a:t>BFGS).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recently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promising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38</a:t>
            </a:r>
            <a:r>
              <a:rPr dirty="0" baseline="35353" sz="825" spc="397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Nesterov’s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accelerated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momentum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especially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momentum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stick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remainder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book.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79996" y="7636748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29196" y="5227750"/>
            <a:ext cx="4422140" cy="27870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105"/>
              </a:spcBef>
            </a:pPr>
            <a:r>
              <a:rPr dirty="0" sz="950" spc="20" b="1">
                <a:latin typeface="Calibri"/>
                <a:cs typeface="Calibri"/>
              </a:rPr>
              <a:t>Other</a:t>
            </a:r>
            <a:r>
              <a:rPr dirty="0" sz="950" spc="195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models</a:t>
            </a:r>
            <a:r>
              <a:rPr dirty="0" sz="950" spc="195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of</a:t>
            </a:r>
            <a:r>
              <a:rPr dirty="0" sz="950" spc="200" b="1">
                <a:latin typeface="Calibri"/>
                <a:cs typeface="Calibri"/>
              </a:rPr>
              <a:t> </a:t>
            </a:r>
            <a:r>
              <a:rPr dirty="0" sz="950" spc="20" b="1">
                <a:latin typeface="Calibri"/>
                <a:cs typeface="Calibri"/>
              </a:rPr>
              <a:t>artificial</a:t>
            </a:r>
            <a:r>
              <a:rPr dirty="0" sz="950" spc="195" b="1">
                <a:latin typeface="Calibri"/>
                <a:cs typeface="Calibri"/>
              </a:rPr>
              <a:t> </a:t>
            </a:r>
            <a:r>
              <a:rPr dirty="0" sz="950" spc="40" b="1">
                <a:latin typeface="Calibri"/>
                <a:cs typeface="Calibri"/>
              </a:rPr>
              <a:t>neuron</a:t>
            </a:r>
            <a:endParaRPr sz="950">
              <a:latin typeface="Calibri"/>
              <a:cs typeface="Calibri"/>
            </a:endParaRPr>
          </a:p>
          <a:p>
            <a:pPr algn="just" marL="50800" marR="38735">
              <a:lnSpc>
                <a:spcPct val="114300"/>
              </a:lnSpc>
              <a:spcBef>
                <a:spcPts val="944"/>
              </a:spcBef>
            </a:pP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built</a:t>
            </a:r>
            <a:r>
              <a:rPr dirty="0" sz="850" spc="20">
                <a:latin typeface="Calibri"/>
                <a:cs typeface="Calibri"/>
              </a:rPr>
              <a:t> using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sometimes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outperform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Depending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application,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alternate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faster,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mention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couple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alternate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give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flavor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use.</a:t>
            </a:r>
            <a:endParaRPr sz="850">
              <a:latin typeface="Calibri"/>
              <a:cs typeface="Calibri"/>
            </a:endParaRPr>
          </a:p>
          <a:p>
            <a:pPr algn="just" marL="50800" marR="42545" indent="189230">
              <a:lnSpc>
                <a:spcPct val="114300"/>
              </a:lnSpc>
              <a:spcBef>
                <a:spcPts val="140"/>
              </a:spcBef>
            </a:pP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(pronounced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“tanch”)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replaces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hyperbolic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tangent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850">
              <a:latin typeface="Calibri"/>
              <a:cs typeface="Calibri"/>
            </a:endParaRPr>
          </a:p>
          <a:p>
            <a:pPr marL="1713230">
              <a:lnSpc>
                <a:spcPct val="100000"/>
              </a:lnSpc>
              <a:tabLst>
                <a:tab pos="4066540" algn="l"/>
              </a:tabLst>
            </a:pP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-5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·</a:t>
            </a:r>
            <a:r>
              <a:rPr dirty="0" sz="850" spc="8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10">
                <a:latin typeface="Tahoma"/>
                <a:cs typeface="Tahom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b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(3.54)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50">
              <a:latin typeface="Calibri"/>
              <a:cs typeface="Calibri"/>
            </a:endParaRPr>
          </a:p>
          <a:p>
            <a:pPr algn="just" marL="43815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hyperbolic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tangent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closely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850">
              <a:latin typeface="Calibri"/>
              <a:cs typeface="Calibri"/>
            </a:endParaRPr>
          </a:p>
          <a:p>
            <a:pPr marL="137795">
              <a:lnSpc>
                <a:spcPct val="100000"/>
              </a:lnSpc>
            </a:pPr>
            <a:r>
              <a:rPr dirty="0" baseline="30303" sz="825" spc="30">
                <a:latin typeface="Calibri"/>
                <a:cs typeface="Calibri"/>
              </a:rPr>
              <a:t>37</a:t>
            </a:r>
            <a:r>
              <a:rPr dirty="0" sz="750" spc="20">
                <a:latin typeface="Calibri"/>
                <a:cs typeface="Calibri"/>
                <a:hlinkClick r:id="rId3"/>
              </a:rPr>
              <a:t>Efficient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BackProp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Yann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LeCun,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Léon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Bottou,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Genevieve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Orr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Klaus-Robert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Müller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(1998).</a:t>
            </a:r>
            <a:endParaRPr sz="750">
              <a:latin typeface="Calibri"/>
              <a:cs typeface="Calibri"/>
            </a:endParaRPr>
          </a:p>
          <a:p>
            <a:pPr marL="50800" marR="43180" indent="86995">
              <a:lnSpc>
                <a:spcPts val="800"/>
              </a:lnSpc>
              <a:spcBef>
                <a:spcPts val="145"/>
              </a:spcBef>
            </a:pPr>
            <a:r>
              <a:rPr dirty="0" baseline="30303" sz="825" spc="30">
                <a:latin typeface="Calibri"/>
                <a:cs typeface="Calibri"/>
              </a:rPr>
              <a:t>38</a:t>
            </a:r>
            <a:r>
              <a:rPr dirty="0" sz="750" spc="20">
                <a:latin typeface="Calibri"/>
                <a:cs typeface="Calibri"/>
              </a:rPr>
              <a:t>See,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for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example,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  <a:hlinkClick r:id="rId4"/>
              </a:rPr>
              <a:t>On</a:t>
            </a:r>
            <a:r>
              <a:rPr dirty="0" sz="750" spc="16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the</a:t>
            </a:r>
            <a:r>
              <a:rPr dirty="0" sz="750" spc="16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importance</a:t>
            </a:r>
            <a:r>
              <a:rPr dirty="0" sz="750" spc="16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of</a:t>
            </a:r>
            <a:r>
              <a:rPr dirty="0" sz="750" spc="16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initialization</a:t>
            </a:r>
            <a:r>
              <a:rPr dirty="0" sz="750" spc="16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and</a:t>
            </a:r>
            <a:r>
              <a:rPr dirty="0" sz="750" spc="16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momentum</a:t>
            </a:r>
            <a:r>
              <a:rPr dirty="0" sz="750" spc="16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in</a:t>
            </a:r>
            <a:r>
              <a:rPr dirty="0" sz="750" spc="16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deep</a:t>
            </a:r>
            <a:r>
              <a:rPr dirty="0" sz="750" spc="16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learning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Ilya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Sutskever,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James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Martens,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George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Dahl,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Geoffrey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Hinton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(2012).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6" name="object 6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00700" y="368721"/>
            <a:ext cx="4365625" cy="9639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400">
              <a:lnSpc>
                <a:spcPts val="525"/>
              </a:lnSpc>
              <a:spcBef>
                <a:spcPts val="110"/>
              </a:spcBef>
              <a:tabLst>
                <a:tab pos="381635" algn="l"/>
              </a:tabLst>
            </a:pPr>
            <a:r>
              <a:rPr dirty="0" sz="850" spc="25">
                <a:latin typeface="Calibri"/>
                <a:cs typeface="Calibri"/>
              </a:rPr>
              <a:t>122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686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marL="318770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related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recall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  <a:p>
            <a:pPr algn="ctr" marL="794385">
              <a:lnSpc>
                <a:spcPct val="100000"/>
              </a:lnSpc>
              <a:spcBef>
                <a:spcPts val="910"/>
              </a:spcBef>
            </a:pPr>
            <a:r>
              <a:rPr dirty="0" baseline="-22875" sz="1275" i="1">
                <a:latin typeface="Calibri"/>
                <a:cs typeface="Calibri"/>
              </a:rPr>
              <a:t>e</a:t>
            </a:r>
            <a:r>
              <a:rPr dirty="0" sz="550" i="1">
                <a:latin typeface="Calibri"/>
                <a:cs typeface="Calibri"/>
              </a:rPr>
              <a:t>z</a:t>
            </a:r>
            <a:r>
              <a:rPr dirty="0" sz="550" spc="120" i="1">
                <a:latin typeface="Calibri"/>
                <a:cs typeface="Calibri"/>
              </a:rPr>
              <a:t> </a:t>
            </a:r>
            <a:r>
              <a:rPr dirty="0" baseline="-22875" sz="1275" spc="217">
                <a:latin typeface="Cambria"/>
                <a:cs typeface="Cambria"/>
              </a:rPr>
              <a:t>−</a:t>
            </a:r>
            <a:r>
              <a:rPr dirty="0" baseline="-22875" sz="1275" spc="7">
                <a:latin typeface="Cambria"/>
                <a:cs typeface="Cambria"/>
              </a:rPr>
              <a:t> </a:t>
            </a:r>
            <a:r>
              <a:rPr dirty="0" baseline="-22875" sz="1275" spc="-37" i="1">
                <a:latin typeface="Calibri"/>
                <a:cs typeface="Calibri"/>
              </a:rPr>
              <a:t>e</a:t>
            </a:r>
            <a:r>
              <a:rPr dirty="0" sz="550" spc="-25">
                <a:latin typeface="Cambria"/>
                <a:cs typeface="Cambria"/>
              </a:rPr>
              <a:t>−</a:t>
            </a:r>
            <a:r>
              <a:rPr dirty="0" sz="550" spc="-25" i="1">
                <a:latin typeface="Calibri"/>
                <a:cs typeface="Calibri"/>
              </a:rPr>
              <a:t>z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803525" y="1386776"/>
            <a:ext cx="361950" cy="0"/>
          </a:xfrm>
          <a:custGeom>
            <a:avLst/>
            <a:gdLst/>
            <a:ahLst/>
            <a:cxnLst/>
            <a:rect l="l" t="t" r="r" b="b"/>
            <a:pathLst>
              <a:path w="361950" h="0">
                <a:moveTo>
                  <a:pt x="0" y="0"/>
                </a:moveTo>
                <a:lnTo>
                  <a:pt x="361556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2258199" y="1296351"/>
            <a:ext cx="990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>
                <a:latin typeface="Tahoma"/>
                <a:cs typeface="Tahoma"/>
              </a:rPr>
              <a:t>) </a:t>
            </a:r>
            <a:r>
              <a:rPr dirty="0" sz="850">
                <a:latin typeface="Cambria"/>
                <a:cs typeface="Cambria"/>
              </a:rPr>
              <a:t>≡</a:t>
            </a:r>
            <a:r>
              <a:rPr dirty="0" sz="850" spc="270">
                <a:latin typeface="Cambria"/>
                <a:cs typeface="Cambria"/>
              </a:rPr>
              <a:t> </a:t>
            </a:r>
            <a:r>
              <a:rPr dirty="0" baseline="-42483" sz="1275" i="1">
                <a:latin typeface="Calibri"/>
                <a:cs typeface="Calibri"/>
              </a:rPr>
              <a:t>e</a:t>
            </a:r>
            <a:r>
              <a:rPr dirty="0" baseline="-40404" sz="825" i="1">
                <a:latin typeface="Calibri"/>
                <a:cs typeface="Calibri"/>
              </a:rPr>
              <a:t>z</a:t>
            </a:r>
            <a:r>
              <a:rPr dirty="0" baseline="-40404" sz="825" spc="292" i="1">
                <a:latin typeface="Calibri"/>
                <a:cs typeface="Calibri"/>
              </a:rPr>
              <a:t> </a:t>
            </a:r>
            <a:r>
              <a:rPr dirty="0" baseline="-42483" sz="1275">
                <a:latin typeface="Tahoma"/>
                <a:cs typeface="Tahoma"/>
              </a:rPr>
              <a:t>+</a:t>
            </a:r>
            <a:r>
              <a:rPr dirty="0" baseline="-42483" sz="1275" spc="-37">
                <a:latin typeface="Tahoma"/>
                <a:cs typeface="Tahoma"/>
              </a:rPr>
              <a:t> </a:t>
            </a:r>
            <a:r>
              <a:rPr dirty="0" baseline="-42483" sz="1275" i="1">
                <a:latin typeface="Calibri"/>
                <a:cs typeface="Calibri"/>
              </a:rPr>
              <a:t>e</a:t>
            </a:r>
            <a:r>
              <a:rPr dirty="0" baseline="-40404" sz="825">
                <a:latin typeface="Cambria"/>
                <a:cs typeface="Cambria"/>
              </a:rPr>
              <a:t>−</a:t>
            </a:r>
            <a:r>
              <a:rPr dirty="0" baseline="-40404" sz="825" i="1">
                <a:latin typeface="Calibri"/>
                <a:cs typeface="Calibri"/>
              </a:rPr>
              <a:t>z</a:t>
            </a:r>
            <a:r>
              <a:rPr dirty="0" baseline="-40404" sz="825" spc="209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723389" y="1296353"/>
            <a:ext cx="3295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(3.55)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99759" y="1638608"/>
            <a:ext cx="23183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algebra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verified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204366" y="2001267"/>
            <a:ext cx="3594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z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-60">
                <a:latin typeface="Tahoma"/>
                <a:cs typeface="Tahoma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endParaRPr sz="85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578992" y="1897636"/>
            <a:ext cx="678180" cy="34163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20"/>
              </a:spcBef>
            </a:pPr>
            <a:r>
              <a:rPr dirty="0" u="sng" sz="85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50" spc="-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+</a:t>
            </a:r>
            <a:r>
              <a:rPr dirty="0" sz="850" spc="-100">
                <a:latin typeface="Tahoma"/>
                <a:cs typeface="Tahoma"/>
              </a:rPr>
              <a:t> </a:t>
            </a:r>
            <a:r>
              <a:rPr dirty="0" u="sng" sz="850" spc="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tanh</a:t>
            </a:r>
            <a:r>
              <a:rPr dirty="0" u="sng" sz="850" spc="3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(</a:t>
            </a:r>
            <a:r>
              <a:rPr dirty="0" u="sng" sz="850" spc="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r>
              <a:rPr dirty="0" u="sng" sz="850" spc="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850" spc="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r>
              <a:rPr dirty="0" u="sng" sz="850" spc="3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  <a:p>
            <a:pPr algn="ctr">
              <a:lnSpc>
                <a:spcPct val="100000"/>
              </a:lnSpc>
              <a:spcBef>
                <a:spcPts val="22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46793" y="2001266"/>
            <a:ext cx="180593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489075" algn="l"/>
              </a:tabLst>
            </a:pPr>
            <a:r>
              <a:rPr dirty="0" sz="850" spc="-50">
                <a:latin typeface="Calibri"/>
                <a:cs typeface="Calibri"/>
              </a:rPr>
              <a:t>,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(3.56)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326210" y="2971431"/>
            <a:ext cx="3105150" cy="1593215"/>
            <a:chOff x="1326210" y="2971431"/>
            <a:chExt cx="3105150" cy="1593215"/>
          </a:xfrm>
        </p:grpSpPr>
        <p:sp>
          <p:nvSpPr>
            <p:cNvPr id="11" name="object 11"/>
            <p:cNvSpPr/>
            <p:nvPr/>
          </p:nvSpPr>
          <p:spPr>
            <a:xfrm>
              <a:off x="1751825" y="3739743"/>
              <a:ext cx="2256790" cy="54610"/>
            </a:xfrm>
            <a:custGeom>
              <a:avLst/>
              <a:gdLst/>
              <a:ahLst/>
              <a:cxnLst/>
              <a:rect l="l" t="t" r="r" b="b"/>
              <a:pathLst>
                <a:path w="2256790" h="54610">
                  <a:moveTo>
                    <a:pt x="0" y="54000"/>
                  </a:moveTo>
                  <a:lnTo>
                    <a:pt x="0" y="0"/>
                  </a:lnTo>
                </a:path>
                <a:path w="2256790" h="54610">
                  <a:moveTo>
                    <a:pt x="564095" y="54000"/>
                  </a:moveTo>
                  <a:lnTo>
                    <a:pt x="564095" y="0"/>
                  </a:lnTo>
                </a:path>
                <a:path w="2256790" h="54610">
                  <a:moveTo>
                    <a:pt x="1692287" y="54000"/>
                  </a:moveTo>
                  <a:lnTo>
                    <a:pt x="1692287" y="0"/>
                  </a:lnTo>
                </a:path>
                <a:path w="2256790" h="54610">
                  <a:moveTo>
                    <a:pt x="2256383" y="54000"/>
                  </a:moveTo>
                  <a:lnTo>
                    <a:pt x="2256383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853016" y="3043732"/>
              <a:ext cx="54610" cy="1446530"/>
            </a:xfrm>
            <a:custGeom>
              <a:avLst/>
              <a:gdLst/>
              <a:ahLst/>
              <a:cxnLst/>
              <a:rect l="l" t="t" r="r" b="b"/>
              <a:pathLst>
                <a:path w="54610" h="1446529">
                  <a:moveTo>
                    <a:pt x="0" y="1446022"/>
                  </a:moveTo>
                  <a:lnTo>
                    <a:pt x="54000" y="1446022"/>
                  </a:lnTo>
                </a:path>
                <a:path w="54610" h="1446529">
                  <a:moveTo>
                    <a:pt x="0" y="1084516"/>
                  </a:moveTo>
                  <a:lnTo>
                    <a:pt x="54000" y="1084516"/>
                  </a:lnTo>
                </a:path>
                <a:path w="54610" h="1446529">
                  <a:moveTo>
                    <a:pt x="0" y="361505"/>
                  </a:moveTo>
                  <a:lnTo>
                    <a:pt x="54000" y="361505"/>
                  </a:lnTo>
                </a:path>
                <a:path w="54610" h="1446529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328750" y="3766743"/>
              <a:ext cx="3077845" cy="0"/>
            </a:xfrm>
            <a:custGeom>
              <a:avLst/>
              <a:gdLst/>
              <a:ahLst/>
              <a:cxnLst/>
              <a:rect l="l" t="t" r="r" b="b"/>
              <a:pathLst>
                <a:path w="3077845" h="0">
                  <a:moveTo>
                    <a:pt x="0" y="0"/>
                  </a:moveTo>
                  <a:lnTo>
                    <a:pt x="3077235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390796" y="374650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89" y="20243"/>
                  </a:lnTo>
                  <a:lnTo>
                    <a:pt x="0" y="40487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880017" y="2996742"/>
              <a:ext cx="0" cy="1565910"/>
            </a:xfrm>
            <a:custGeom>
              <a:avLst/>
              <a:gdLst/>
              <a:ahLst/>
              <a:cxnLst/>
              <a:rect l="l" t="t" r="r" b="b"/>
              <a:pathLst>
                <a:path w="0" h="1565910">
                  <a:moveTo>
                    <a:pt x="0" y="1565313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859773" y="2971431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0" y="40487"/>
                  </a:lnTo>
                  <a:lnTo>
                    <a:pt x="20243" y="25311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1668767" y="3784336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232865" y="3785760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400997" y="3785760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965096" y="3784336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1469771" y="3043808"/>
            <a:ext cx="2820670" cy="1445895"/>
          </a:xfrm>
          <a:custGeom>
            <a:avLst/>
            <a:gdLst/>
            <a:ahLst/>
            <a:cxnLst/>
            <a:rect l="l" t="t" r="r" b="b"/>
            <a:pathLst>
              <a:path w="2820670" h="1445895">
                <a:moveTo>
                  <a:pt x="0" y="1445869"/>
                </a:moveTo>
                <a:lnTo>
                  <a:pt x="28206" y="1445856"/>
                </a:lnTo>
                <a:lnTo>
                  <a:pt x="56413" y="1445844"/>
                </a:lnTo>
                <a:lnTo>
                  <a:pt x="84620" y="1445818"/>
                </a:lnTo>
                <a:lnTo>
                  <a:pt x="112826" y="1445806"/>
                </a:lnTo>
                <a:lnTo>
                  <a:pt x="141020" y="1445768"/>
                </a:lnTo>
                <a:lnTo>
                  <a:pt x="169227" y="1445729"/>
                </a:lnTo>
                <a:lnTo>
                  <a:pt x="225640" y="1445615"/>
                </a:lnTo>
                <a:lnTo>
                  <a:pt x="282054" y="1445463"/>
                </a:lnTo>
                <a:lnTo>
                  <a:pt x="338455" y="1445234"/>
                </a:lnTo>
                <a:lnTo>
                  <a:pt x="394868" y="1444879"/>
                </a:lnTo>
                <a:lnTo>
                  <a:pt x="451281" y="1444332"/>
                </a:lnTo>
                <a:lnTo>
                  <a:pt x="507695" y="1443558"/>
                </a:lnTo>
                <a:lnTo>
                  <a:pt x="564095" y="1442377"/>
                </a:lnTo>
                <a:lnTo>
                  <a:pt x="620509" y="1440611"/>
                </a:lnTo>
                <a:lnTo>
                  <a:pt x="676922" y="1438008"/>
                </a:lnTo>
                <a:lnTo>
                  <a:pt x="733336" y="1434134"/>
                </a:lnTo>
                <a:lnTo>
                  <a:pt x="789736" y="1428407"/>
                </a:lnTo>
                <a:lnTo>
                  <a:pt x="846150" y="1419948"/>
                </a:lnTo>
                <a:lnTo>
                  <a:pt x="902563" y="1407477"/>
                </a:lnTo>
                <a:lnTo>
                  <a:pt x="958964" y="1389291"/>
                </a:lnTo>
                <a:lnTo>
                  <a:pt x="1015377" y="1363027"/>
                </a:lnTo>
                <a:lnTo>
                  <a:pt x="1071791" y="1325638"/>
                </a:lnTo>
                <a:lnTo>
                  <a:pt x="1128191" y="1273581"/>
                </a:lnTo>
                <a:lnTo>
                  <a:pt x="1156411" y="1240815"/>
                </a:lnTo>
                <a:lnTo>
                  <a:pt x="1184605" y="1203007"/>
                </a:lnTo>
                <a:lnTo>
                  <a:pt x="1212811" y="1159840"/>
                </a:lnTo>
                <a:lnTo>
                  <a:pt x="1241018" y="1111173"/>
                </a:lnTo>
                <a:lnTo>
                  <a:pt x="1269225" y="1056995"/>
                </a:lnTo>
                <a:lnTo>
                  <a:pt x="1297432" y="997559"/>
                </a:lnTo>
                <a:lnTo>
                  <a:pt x="1325638" y="933475"/>
                </a:lnTo>
                <a:lnTo>
                  <a:pt x="1353832" y="865555"/>
                </a:lnTo>
                <a:lnTo>
                  <a:pt x="1382039" y="794918"/>
                </a:lnTo>
                <a:lnTo>
                  <a:pt x="1410246" y="722934"/>
                </a:lnTo>
                <a:lnTo>
                  <a:pt x="1438452" y="650951"/>
                </a:lnTo>
                <a:lnTo>
                  <a:pt x="1466659" y="580313"/>
                </a:lnTo>
                <a:lnTo>
                  <a:pt x="1494866" y="512394"/>
                </a:lnTo>
                <a:lnTo>
                  <a:pt x="1523072" y="448310"/>
                </a:lnTo>
                <a:lnTo>
                  <a:pt x="1551266" y="388874"/>
                </a:lnTo>
                <a:lnTo>
                  <a:pt x="1579473" y="334695"/>
                </a:lnTo>
                <a:lnTo>
                  <a:pt x="1607680" y="286042"/>
                </a:lnTo>
                <a:lnTo>
                  <a:pt x="1635887" y="242862"/>
                </a:lnTo>
                <a:lnTo>
                  <a:pt x="1664093" y="205054"/>
                </a:lnTo>
                <a:lnTo>
                  <a:pt x="1692300" y="172288"/>
                </a:lnTo>
                <a:lnTo>
                  <a:pt x="1720507" y="144170"/>
                </a:lnTo>
                <a:lnTo>
                  <a:pt x="1776907" y="99910"/>
                </a:lnTo>
                <a:lnTo>
                  <a:pt x="1833321" y="68516"/>
                </a:lnTo>
                <a:lnTo>
                  <a:pt x="1889734" y="46621"/>
                </a:lnTo>
                <a:lnTo>
                  <a:pt x="1946148" y="31559"/>
                </a:lnTo>
                <a:lnTo>
                  <a:pt x="2002548" y="21285"/>
                </a:lnTo>
                <a:lnTo>
                  <a:pt x="2058962" y="14312"/>
                </a:lnTo>
                <a:lnTo>
                  <a:pt x="2115375" y="9613"/>
                </a:lnTo>
                <a:lnTo>
                  <a:pt x="2171776" y="6426"/>
                </a:lnTo>
                <a:lnTo>
                  <a:pt x="2228189" y="4292"/>
                </a:lnTo>
                <a:lnTo>
                  <a:pt x="2284603" y="2857"/>
                </a:lnTo>
                <a:lnTo>
                  <a:pt x="2341003" y="1892"/>
                </a:lnTo>
                <a:lnTo>
                  <a:pt x="2397417" y="1244"/>
                </a:lnTo>
                <a:lnTo>
                  <a:pt x="2453830" y="812"/>
                </a:lnTo>
                <a:lnTo>
                  <a:pt x="2510243" y="520"/>
                </a:lnTo>
                <a:lnTo>
                  <a:pt x="2538437" y="406"/>
                </a:lnTo>
                <a:lnTo>
                  <a:pt x="2594851" y="254"/>
                </a:lnTo>
                <a:lnTo>
                  <a:pt x="2651264" y="139"/>
                </a:lnTo>
                <a:lnTo>
                  <a:pt x="2679471" y="101"/>
                </a:lnTo>
                <a:lnTo>
                  <a:pt x="2707665" y="63"/>
                </a:lnTo>
                <a:lnTo>
                  <a:pt x="2735884" y="50"/>
                </a:lnTo>
                <a:lnTo>
                  <a:pt x="2764078" y="25"/>
                </a:lnTo>
                <a:lnTo>
                  <a:pt x="2792285" y="12"/>
                </a:lnTo>
                <a:lnTo>
                  <a:pt x="2820492" y="0"/>
                </a:lnTo>
              </a:path>
            </a:pathLst>
          </a:custGeom>
          <a:ln w="10122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707301" y="2324525"/>
            <a:ext cx="4349750" cy="1152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rescaled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version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graphically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shape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function,</a:t>
            </a:r>
            <a:endParaRPr sz="85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900"/>
              </a:spcBef>
            </a:pP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algn="r" marR="2234565">
              <a:lnSpc>
                <a:spcPct val="100000"/>
              </a:lnSpc>
              <a:spcBef>
                <a:spcPts val="76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85"/>
              </a:spcBef>
            </a:pPr>
            <a:endParaRPr sz="850">
              <a:latin typeface="Calibri"/>
              <a:cs typeface="Calibri"/>
            </a:endParaRPr>
          </a:p>
          <a:p>
            <a:pPr algn="r" marR="2234565">
              <a:lnSpc>
                <a:spcPct val="100000"/>
              </a:lnSpc>
            </a:pPr>
            <a:r>
              <a:rPr dirty="0" sz="850" spc="-25">
                <a:latin typeface="Calibri"/>
                <a:cs typeface="Calibri"/>
              </a:rPr>
              <a:t>0.5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31101" y="4042999"/>
            <a:ext cx="4499610" cy="28867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950720">
              <a:lnSpc>
                <a:spcPct val="100000"/>
              </a:lnSpc>
              <a:spcBef>
                <a:spcPts val="110"/>
              </a:spcBef>
            </a:pPr>
            <a:r>
              <a:rPr dirty="0" sz="850" spc="45">
                <a:latin typeface="Cambria"/>
                <a:cs typeface="Cambria"/>
              </a:rPr>
              <a:t>−</a:t>
            </a:r>
            <a:r>
              <a:rPr dirty="0" sz="850" spc="45">
                <a:latin typeface="Calibri"/>
                <a:cs typeface="Calibri"/>
              </a:rPr>
              <a:t>0.5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85"/>
              </a:spcBef>
            </a:pPr>
            <a:endParaRPr sz="850">
              <a:latin typeface="Calibri"/>
              <a:cs typeface="Calibri"/>
            </a:endParaRPr>
          </a:p>
          <a:p>
            <a:pPr marL="2042160">
              <a:lnSpc>
                <a:spcPct val="100000"/>
              </a:lnSpc>
              <a:spcBef>
                <a:spcPts val="5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 algn="r" marL="88900" marR="55880" indent="-6350">
              <a:lnSpc>
                <a:spcPct val="114300"/>
              </a:lnSpc>
              <a:spcBef>
                <a:spcPts val="990"/>
              </a:spcBef>
            </a:pP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difference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tanh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ranges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95">
                <a:latin typeface="Cambria"/>
                <a:cs typeface="Cambria"/>
              </a:rPr>
              <a:t>−</a:t>
            </a:r>
            <a:r>
              <a:rPr dirty="0" sz="850" spc="95">
                <a:latin typeface="Calibri"/>
                <a:cs typeface="Calibri"/>
              </a:rPr>
              <a:t>1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20">
                <a:latin typeface="Calibri"/>
                <a:cs typeface="Calibri"/>
              </a:rPr>
              <a:t> based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tanh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normalize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(and,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depending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application,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inputs)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r>
              <a:rPr dirty="0" sz="850" spc="20">
                <a:latin typeface="Calibri"/>
                <a:cs typeface="Calibri"/>
              </a:rPr>
              <a:t> Similar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tanh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principle,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39</a:t>
            </a:r>
            <a:r>
              <a:rPr dirty="0" baseline="35353" sz="825" spc="3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mapping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range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90">
                <a:latin typeface="Cambria"/>
                <a:cs typeface="Cambria"/>
              </a:rPr>
              <a:t>−</a:t>
            </a:r>
            <a:r>
              <a:rPr dirty="0" sz="850" spc="90">
                <a:latin typeface="Calibri"/>
                <a:cs typeface="Calibri"/>
              </a:rPr>
              <a:t>1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Furthermore,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  <a:p>
            <a:pPr algn="just" marL="88900">
              <a:lnSpc>
                <a:spcPct val="100000"/>
              </a:lnSpc>
              <a:spcBef>
                <a:spcPts val="145"/>
              </a:spcBef>
            </a:pP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  <a:spcBef>
                <a:spcPts val="114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  <a:p>
            <a:pPr marL="404495" indent="-118110">
              <a:lnSpc>
                <a:spcPct val="100000"/>
              </a:lnSpc>
              <a:spcBef>
                <a:spcPts val="105"/>
              </a:spcBef>
              <a:buFont typeface="Cambria"/>
              <a:buChar char="•"/>
              <a:tabLst>
                <a:tab pos="404495" algn="l"/>
              </a:tabLst>
            </a:pPr>
            <a:r>
              <a:rPr dirty="0" sz="850">
                <a:latin typeface="Calibri"/>
                <a:cs typeface="Calibri"/>
              </a:rPr>
              <a:t>Prove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identity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  <a:hlinkClick r:id="rId3" action="ppaction://hlinksldjump"/>
              </a:rPr>
              <a:t>(3.56).</a:t>
            </a:r>
            <a:endParaRPr sz="850">
              <a:latin typeface="Calibri"/>
              <a:cs typeface="Calibri"/>
            </a:endParaRPr>
          </a:p>
          <a:p>
            <a:pPr algn="just" marL="88265" marR="78105" indent="-762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sigmoid?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priori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mildly!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theoretical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empirical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40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briefly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flavor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theoretical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positive.</a:t>
            </a:r>
            <a:r>
              <a:rPr dirty="0" sz="850" spc="4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92236" y="6995079"/>
            <a:ext cx="882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75452" y="6920702"/>
            <a:ext cx="44030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>
                <a:latin typeface="Tahoma"/>
                <a:cs typeface="Tahoma"/>
              </a:rPr>
              <a:t>+</a:t>
            </a:r>
            <a:r>
              <a:rPr dirty="0" baseline="35353" sz="825">
                <a:latin typeface="Calibri"/>
                <a:cs typeface="Calibri"/>
              </a:rPr>
              <a:t>1</a:t>
            </a:r>
            <a:r>
              <a:rPr dirty="0" baseline="35353" sz="825" spc="4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l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815321" y="7158624"/>
            <a:ext cx="1695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k</a:t>
            </a:r>
            <a:r>
              <a:rPr dirty="0" sz="550" spc="235" i="1">
                <a:latin typeface="Calibri"/>
                <a:cs typeface="Calibri"/>
              </a:rPr>
              <a:t>  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81901" y="7084252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tell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associated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165" i="1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δ</a:t>
            </a:r>
            <a:r>
              <a:rPr dirty="0" baseline="35353" sz="825" spc="112" i="1">
                <a:latin typeface="Calibri"/>
                <a:cs typeface="Calibri"/>
              </a:rPr>
              <a:t>l</a:t>
            </a:r>
            <a:r>
              <a:rPr dirty="0" baseline="35353" sz="825" spc="112">
                <a:latin typeface="Tahoma"/>
                <a:cs typeface="Tahoma"/>
              </a:rPr>
              <a:t>+</a:t>
            </a:r>
            <a:r>
              <a:rPr dirty="0" baseline="35353" sz="825" spc="112">
                <a:latin typeface="Calibri"/>
                <a:cs typeface="Calibri"/>
              </a:rPr>
              <a:t>1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720001" y="7333094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681901" y="7348471"/>
            <a:ext cx="4399280" cy="66611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just" marL="38100" marR="33020" indent="8699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30">
                <a:latin typeface="Calibri"/>
                <a:cs typeface="Calibri"/>
              </a:rPr>
              <a:t>39</a:t>
            </a:r>
            <a:r>
              <a:rPr dirty="0" sz="750" spc="20">
                <a:latin typeface="Calibri"/>
                <a:cs typeface="Calibri"/>
              </a:rPr>
              <a:t>There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are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some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technical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caveats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this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statement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for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both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tanh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sigmoid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neurons,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as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well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as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rectified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linear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neurons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discussed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below.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However,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informally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it’s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usually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fine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think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neural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being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able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approximate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any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function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arbitrary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accuracy.</a:t>
            </a:r>
            <a:endParaRPr sz="750">
              <a:latin typeface="Calibri"/>
              <a:cs typeface="Calibri"/>
            </a:endParaRPr>
          </a:p>
          <a:p>
            <a:pPr algn="just" marL="38100" marR="30480" indent="86995">
              <a:lnSpc>
                <a:spcPts val="800"/>
              </a:lnSpc>
              <a:spcBef>
                <a:spcPts val="130"/>
              </a:spcBef>
            </a:pPr>
            <a:r>
              <a:rPr dirty="0" baseline="30303" sz="825" spc="15">
                <a:latin typeface="Calibri"/>
                <a:cs typeface="Calibri"/>
              </a:rPr>
              <a:t>40</a:t>
            </a:r>
            <a:r>
              <a:rPr dirty="0" sz="750" spc="10">
                <a:latin typeface="Calibri"/>
                <a:cs typeface="Calibri"/>
              </a:rPr>
              <a:t>See,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example,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Efficient</a:t>
            </a:r>
            <a:r>
              <a:rPr dirty="0" sz="750" spc="120">
                <a:latin typeface="Calibri"/>
                <a:cs typeface="Calibri"/>
                <a:hlinkClick r:id="rId4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BackProp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Yann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LeCun,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Léon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Bottou,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Genevieve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Orr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Klaus-</a:t>
            </a:r>
            <a:r>
              <a:rPr dirty="0" sz="750" spc="-10">
                <a:latin typeface="Calibri"/>
                <a:cs typeface="Calibri"/>
              </a:rPr>
              <a:t>Robert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Müller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(1998),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Understanding</a:t>
            </a:r>
            <a:r>
              <a:rPr dirty="0" sz="750" spc="6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the</a:t>
            </a:r>
            <a:r>
              <a:rPr dirty="0" sz="750" spc="60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difficulty</a:t>
            </a:r>
            <a:r>
              <a:rPr dirty="0" sz="750" spc="6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of</a:t>
            </a:r>
            <a:r>
              <a:rPr dirty="0" sz="750" spc="6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training</a:t>
            </a:r>
            <a:r>
              <a:rPr dirty="0" sz="750" spc="6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deep</a:t>
            </a:r>
            <a:r>
              <a:rPr dirty="0" sz="750" spc="6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feedforward</a:t>
            </a:r>
            <a:r>
              <a:rPr dirty="0" sz="750" spc="6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networks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Xavier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Glorot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Yoshua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Bengio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(2010).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31" name="object 31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56042"/>
                  </a:ln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2"/>
                  </a:move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242612" y="368721"/>
            <a:ext cx="143827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242695" algn="l"/>
              </a:tabLst>
            </a:pPr>
            <a:r>
              <a:rPr dirty="0" sz="850">
                <a:latin typeface="Calibri"/>
                <a:cs typeface="Calibri"/>
              </a:rPr>
              <a:t>3.6.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123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16496" y="930569"/>
            <a:ext cx="4447540" cy="3511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63500">
              <a:lnSpc>
                <a:spcPts val="81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sign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δ</a:t>
            </a:r>
            <a:r>
              <a:rPr dirty="0" baseline="35353" sz="825" spc="112" i="1">
                <a:latin typeface="Calibri"/>
                <a:cs typeface="Calibri"/>
              </a:rPr>
              <a:t>l</a:t>
            </a:r>
            <a:r>
              <a:rPr dirty="0" baseline="35353" sz="825" spc="112">
                <a:latin typeface="Tahoma"/>
                <a:cs typeface="Tahoma"/>
              </a:rPr>
              <a:t>+</a:t>
            </a:r>
            <a:r>
              <a:rPr dirty="0" baseline="35353" sz="825" spc="112">
                <a:latin typeface="Calibri"/>
                <a:cs typeface="Calibri"/>
              </a:rPr>
              <a:t>1</a:t>
            </a:r>
            <a:r>
              <a:rPr dirty="0" sz="850" spc="75">
                <a:latin typeface="Calibri"/>
                <a:cs typeface="Calibri"/>
              </a:rPr>
              <a:t>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5" i="1">
                <a:latin typeface="Times New Roman"/>
                <a:cs typeface="Times New Roman"/>
              </a:rPr>
              <a:t>δ</a:t>
            </a:r>
            <a:r>
              <a:rPr dirty="0" baseline="35353" sz="825" spc="82" i="1">
                <a:latin typeface="Calibri"/>
                <a:cs typeface="Calibri"/>
              </a:rPr>
              <a:t>l</a:t>
            </a:r>
            <a:r>
              <a:rPr dirty="0" baseline="35353" sz="825" spc="82">
                <a:latin typeface="Tahoma"/>
                <a:cs typeface="Tahoma"/>
              </a:rPr>
              <a:t>+</a:t>
            </a:r>
            <a:r>
              <a:rPr dirty="0" baseline="35353" sz="825" spc="82">
                <a:latin typeface="Calibri"/>
                <a:cs typeface="Calibri"/>
              </a:rPr>
              <a:t>1</a:t>
            </a:r>
            <a:endParaRPr baseline="35353" sz="825">
              <a:latin typeface="Calibri"/>
              <a:cs typeface="Calibri"/>
            </a:endParaRPr>
          </a:p>
          <a:p>
            <a:pPr marL="2684780">
              <a:lnSpc>
                <a:spcPts val="450"/>
              </a:lnSpc>
              <a:tabLst>
                <a:tab pos="426275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  <a:p>
            <a:pPr marL="63500">
              <a:lnSpc>
                <a:spcPts val="810"/>
              </a:lnSpc>
              <a:spcBef>
                <a:spcPts val="30"/>
              </a:spcBef>
            </a:pP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15">
                <a:latin typeface="Tahoma"/>
                <a:cs typeface="Tahoma"/>
              </a:rPr>
              <a:t>+</a:t>
            </a:r>
            <a:r>
              <a:rPr dirty="0" baseline="35353" sz="825" spc="15">
                <a:latin typeface="Calibri"/>
                <a:cs typeface="Calibri"/>
              </a:rPr>
              <a:t>1</a:t>
            </a:r>
            <a:r>
              <a:rPr dirty="0" baseline="35353" sz="825" spc="43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during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δ</a:t>
            </a:r>
            <a:r>
              <a:rPr dirty="0" baseline="35353" sz="825" spc="112" i="1">
                <a:latin typeface="Calibri"/>
                <a:cs typeface="Calibri"/>
              </a:rPr>
              <a:t>l</a:t>
            </a:r>
            <a:r>
              <a:rPr dirty="0" baseline="35353" sz="825" spc="112">
                <a:latin typeface="Tahoma"/>
                <a:cs typeface="Tahoma"/>
              </a:rPr>
              <a:t>+</a:t>
            </a:r>
            <a:r>
              <a:rPr dirty="0" baseline="35353" sz="825" spc="112">
                <a:latin typeface="Calibri"/>
                <a:cs typeface="Calibri"/>
              </a:rPr>
              <a:t>1</a:t>
            </a:r>
            <a:r>
              <a:rPr dirty="0" baseline="35353" sz="825" spc="427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  <a:p>
            <a:pPr marL="1657350">
              <a:lnSpc>
                <a:spcPts val="450"/>
              </a:lnSpc>
              <a:tabLst>
                <a:tab pos="4156710" algn="l"/>
              </a:tabLst>
            </a:pPr>
            <a:r>
              <a:rPr dirty="0" sz="550" spc="-25" i="1">
                <a:latin typeface="Calibri"/>
                <a:cs typeface="Calibri"/>
              </a:rPr>
              <a:t>jk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41899" y="1257657"/>
            <a:ext cx="4419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negative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35353" sz="825" spc="15" i="1">
                <a:latin typeface="Calibri"/>
                <a:cs typeface="Calibri"/>
              </a:rPr>
              <a:t>l</a:t>
            </a:r>
            <a:r>
              <a:rPr dirty="0" baseline="35353" sz="825" spc="15">
                <a:latin typeface="Tahoma"/>
                <a:cs typeface="Tahoma"/>
              </a:rPr>
              <a:t>+</a:t>
            </a:r>
            <a:r>
              <a:rPr dirty="0" baseline="35353" sz="825" spc="15">
                <a:latin typeface="Calibri"/>
                <a:cs typeface="Calibri"/>
              </a:rPr>
              <a:t>1</a:t>
            </a:r>
            <a:r>
              <a:rPr dirty="0" baseline="35353" sz="825" spc="4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during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descent.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words,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2380" y="1332034"/>
            <a:ext cx="4378325" cy="6743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1184275">
              <a:lnSpc>
                <a:spcPts val="615"/>
              </a:lnSpc>
              <a:spcBef>
                <a:spcPts val="120"/>
              </a:spcBef>
            </a:pPr>
            <a:r>
              <a:rPr dirty="0" sz="550" spc="-25" i="1">
                <a:latin typeface="Calibri"/>
                <a:cs typeface="Calibri"/>
              </a:rPr>
              <a:t>jk</a:t>
            </a:r>
            <a:endParaRPr sz="550">
              <a:latin typeface="Calibri"/>
              <a:cs typeface="Calibri"/>
            </a:endParaRPr>
          </a:p>
          <a:p>
            <a:pPr algn="just" marL="17145">
              <a:lnSpc>
                <a:spcPts val="975"/>
              </a:lnSpc>
            </a:pP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either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increase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together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decrease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together.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That’s</a:t>
            </a:r>
            <a:endParaRPr sz="850">
              <a:latin typeface="Calibri"/>
              <a:cs typeface="Calibri"/>
            </a:endParaRPr>
          </a:p>
          <a:p>
            <a:pPr algn="just" marL="12700" marR="5080" indent="444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increase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decrease.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signs.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suggests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replacing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allows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7296" y="1997839"/>
            <a:ext cx="4368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negative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activations.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Indeed,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because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tanh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symmetric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zero,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tanh</a:t>
            </a:r>
            <a:r>
              <a:rPr dirty="0" sz="850" spc="20">
                <a:latin typeface="Tahoma"/>
                <a:cs typeface="Tahoma"/>
              </a:rPr>
              <a:t>(</a:t>
            </a:r>
            <a:r>
              <a:rPr dirty="0" sz="850" spc="20">
                <a:latin typeface="Cambria"/>
                <a:cs typeface="Cambria"/>
              </a:rPr>
              <a:t>−</a:t>
            </a:r>
            <a:r>
              <a:rPr dirty="0" sz="850" spc="20" i="1">
                <a:latin typeface="Calibri"/>
                <a:cs typeface="Calibri"/>
              </a:rPr>
              <a:t>z</a:t>
            </a:r>
            <a:r>
              <a:rPr dirty="0" sz="850" spc="20">
                <a:latin typeface="Tahoma"/>
                <a:cs typeface="Tahoma"/>
              </a:rPr>
              <a:t>)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45">
                <a:latin typeface="Cambria"/>
                <a:cs typeface="Cambria"/>
              </a:rPr>
              <a:t>−</a:t>
            </a:r>
            <a:r>
              <a:rPr dirty="0" sz="850" spc="45">
                <a:latin typeface="Calibri"/>
                <a:cs typeface="Calibri"/>
              </a:rPr>
              <a:t>tanh</a:t>
            </a:r>
            <a:r>
              <a:rPr dirty="0" sz="850" spc="45">
                <a:latin typeface="Tahoma"/>
                <a:cs typeface="Tahoma"/>
              </a:rPr>
              <a:t>(</a:t>
            </a:r>
            <a:r>
              <a:rPr dirty="0" sz="850" spc="45" i="1">
                <a:latin typeface="Calibri"/>
                <a:cs typeface="Calibri"/>
              </a:rPr>
              <a:t>z</a:t>
            </a:r>
            <a:r>
              <a:rPr dirty="0" sz="850" spc="45">
                <a:latin typeface="Tahoma"/>
                <a:cs typeface="Tahoma"/>
              </a:rPr>
              <a:t>)</a:t>
            </a:r>
            <a:r>
              <a:rPr dirty="0" sz="850" spc="45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0856" y="2129009"/>
            <a:ext cx="4375150" cy="1569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27305" indent="-698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expect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roughly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speaking,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equally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balanced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negative.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ensure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systematic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other.</a:t>
            </a:r>
            <a:endParaRPr sz="850">
              <a:latin typeface="Calibri"/>
              <a:cs typeface="Calibri"/>
            </a:endParaRPr>
          </a:p>
          <a:p>
            <a:pPr algn="just" marL="19050" marR="5080" indent="189230">
              <a:lnSpc>
                <a:spcPct val="114300"/>
              </a:lnSpc>
              <a:spcBef>
                <a:spcPts val="500"/>
              </a:spcBef>
            </a:pPr>
            <a:r>
              <a:rPr dirty="0" sz="850" spc="6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seriously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argument?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suggestive,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heuristic,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rigorous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outperform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properties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compensate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problem?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Indeed,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tasks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empirically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Unfortunately,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hard-and-fast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fastest,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application.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1505" y="3735775"/>
            <a:ext cx="4351655" cy="10947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8415" marR="5080" indent="18923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rectified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linear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neuron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rectified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linear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rectified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given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850">
              <a:latin typeface="Calibri"/>
              <a:cs typeface="Calibri"/>
            </a:endParaRPr>
          </a:p>
          <a:p>
            <a:pPr marL="1634489">
              <a:lnSpc>
                <a:spcPct val="100000"/>
              </a:lnSpc>
              <a:tabLst>
                <a:tab pos="4034154" algn="l"/>
              </a:tabLst>
            </a:pPr>
            <a:r>
              <a:rPr dirty="0" sz="850" spc="20">
                <a:latin typeface="Calibri"/>
                <a:cs typeface="Calibri"/>
              </a:rPr>
              <a:t>max</a:t>
            </a:r>
            <a:r>
              <a:rPr dirty="0" sz="850" spc="20">
                <a:latin typeface="Tahoma"/>
                <a:cs typeface="Tahoma"/>
              </a:rPr>
              <a:t>(</a:t>
            </a:r>
            <a:r>
              <a:rPr dirty="0" sz="850" spc="20">
                <a:latin typeface="Calibri"/>
                <a:cs typeface="Calibri"/>
              </a:rPr>
              <a:t>0,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-15" i="1">
                <a:latin typeface="Calibri"/>
                <a:cs typeface="Calibri"/>
              </a:rPr>
              <a:t> </a:t>
            </a:r>
            <a:r>
              <a:rPr dirty="0" sz="850" spc="20">
                <a:latin typeface="Cambria"/>
                <a:cs typeface="Cambria"/>
              </a:rPr>
              <a:t>·</a:t>
            </a:r>
            <a:r>
              <a:rPr dirty="0" sz="850" spc="55">
                <a:latin typeface="Cambria"/>
                <a:cs typeface="Cambria"/>
              </a:rPr>
              <a:t> </a:t>
            </a:r>
            <a:r>
              <a:rPr dirty="0" sz="850" spc="20" i="1">
                <a:latin typeface="Calibri"/>
                <a:cs typeface="Calibri"/>
              </a:rPr>
              <a:t>x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+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b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(3.57)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850" spc="20">
                <a:latin typeface="Calibri"/>
                <a:cs typeface="Calibri"/>
              </a:rPr>
              <a:t>Graphically,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rectifying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max</a:t>
            </a:r>
            <a:r>
              <a:rPr dirty="0" sz="850" spc="20">
                <a:latin typeface="Tahoma"/>
                <a:cs typeface="Tahoma"/>
              </a:rPr>
              <a:t>(</a:t>
            </a:r>
            <a:r>
              <a:rPr dirty="0" sz="850" spc="20">
                <a:latin typeface="Calibri"/>
                <a:cs typeface="Calibri"/>
              </a:rPr>
              <a:t>0,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z</a:t>
            </a:r>
            <a:r>
              <a:rPr dirty="0" sz="850" spc="20">
                <a:latin typeface="Tahoma"/>
                <a:cs typeface="Tahoma"/>
              </a:rPr>
              <a:t>) </a:t>
            </a:r>
            <a:r>
              <a:rPr dirty="0" sz="850" spc="20">
                <a:latin typeface="Calibri"/>
                <a:cs typeface="Calibri"/>
              </a:rPr>
              <a:t>looks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this: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1780768" y="5442915"/>
            <a:ext cx="3131185" cy="1593215"/>
            <a:chOff x="1780768" y="5442915"/>
            <a:chExt cx="3131185" cy="1593215"/>
          </a:xfrm>
        </p:grpSpPr>
        <p:sp>
          <p:nvSpPr>
            <p:cNvPr id="10" name="object 10"/>
            <p:cNvSpPr/>
            <p:nvPr/>
          </p:nvSpPr>
          <p:spPr>
            <a:xfrm>
              <a:off x="2232113" y="6211150"/>
              <a:ext cx="2256790" cy="54610"/>
            </a:xfrm>
            <a:custGeom>
              <a:avLst/>
              <a:gdLst/>
              <a:ahLst/>
              <a:cxnLst/>
              <a:rect l="l" t="t" r="r" b="b"/>
              <a:pathLst>
                <a:path w="2256790" h="54610">
                  <a:moveTo>
                    <a:pt x="0" y="54000"/>
                  </a:moveTo>
                  <a:lnTo>
                    <a:pt x="0" y="0"/>
                  </a:lnTo>
                </a:path>
                <a:path w="2256790" h="54610">
                  <a:moveTo>
                    <a:pt x="564095" y="54000"/>
                  </a:moveTo>
                  <a:lnTo>
                    <a:pt x="564095" y="0"/>
                  </a:lnTo>
                </a:path>
                <a:path w="2256790" h="54610">
                  <a:moveTo>
                    <a:pt x="1128191" y="54000"/>
                  </a:moveTo>
                  <a:lnTo>
                    <a:pt x="1128191" y="0"/>
                  </a:lnTo>
                </a:path>
                <a:path w="2256790" h="54610">
                  <a:moveTo>
                    <a:pt x="1692287" y="54000"/>
                  </a:moveTo>
                  <a:lnTo>
                    <a:pt x="1692287" y="0"/>
                  </a:lnTo>
                </a:path>
                <a:path w="2256790" h="54610">
                  <a:moveTo>
                    <a:pt x="2256383" y="54000"/>
                  </a:moveTo>
                  <a:lnTo>
                    <a:pt x="2256383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782038" y="5601957"/>
              <a:ext cx="54610" cy="1272540"/>
            </a:xfrm>
            <a:custGeom>
              <a:avLst/>
              <a:gdLst/>
              <a:ahLst/>
              <a:cxnLst/>
              <a:rect l="l" t="t" r="r" b="b"/>
              <a:pathLst>
                <a:path w="54610" h="1272540">
                  <a:moveTo>
                    <a:pt x="0" y="1272387"/>
                  </a:moveTo>
                  <a:lnTo>
                    <a:pt x="54000" y="1272387"/>
                  </a:lnTo>
                </a:path>
                <a:path w="54610" h="1272540">
                  <a:moveTo>
                    <a:pt x="0" y="954290"/>
                  </a:moveTo>
                  <a:lnTo>
                    <a:pt x="54000" y="954290"/>
                  </a:lnTo>
                </a:path>
                <a:path w="54610" h="1272540">
                  <a:moveTo>
                    <a:pt x="0" y="636193"/>
                  </a:moveTo>
                  <a:lnTo>
                    <a:pt x="54000" y="636193"/>
                  </a:lnTo>
                </a:path>
                <a:path w="54610" h="1272540">
                  <a:moveTo>
                    <a:pt x="0" y="318096"/>
                  </a:moveTo>
                  <a:lnTo>
                    <a:pt x="54000" y="318096"/>
                  </a:lnTo>
                </a:path>
                <a:path w="54610" h="127254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809038" y="6238150"/>
              <a:ext cx="3077845" cy="0"/>
            </a:xfrm>
            <a:custGeom>
              <a:avLst/>
              <a:gdLst/>
              <a:ahLst/>
              <a:cxnLst/>
              <a:rect l="l" t="t" r="r" b="b"/>
              <a:pathLst>
                <a:path w="3077845" h="0">
                  <a:moveTo>
                    <a:pt x="0" y="0"/>
                  </a:moveTo>
                  <a:lnTo>
                    <a:pt x="3077235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871085" y="621790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89" y="20243"/>
                  </a:lnTo>
                  <a:lnTo>
                    <a:pt x="0" y="40487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809038" y="5468213"/>
              <a:ext cx="0" cy="1565275"/>
            </a:xfrm>
            <a:custGeom>
              <a:avLst/>
              <a:gdLst/>
              <a:ahLst/>
              <a:cxnLst/>
              <a:rect l="l" t="t" r="r" b="b"/>
              <a:pathLst>
                <a:path w="0" h="1565275">
                  <a:moveTo>
                    <a:pt x="0" y="1565173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788795" y="5442915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0" y="40487"/>
                  </a:lnTo>
                  <a:lnTo>
                    <a:pt x="20243" y="25298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2149055" y="6255730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713139" y="6257154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317187" y="6257154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81280" y="6257154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445367" y="6255730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589671" y="6470995"/>
            <a:ext cx="166370" cy="4730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30"/>
              </a:spcBef>
            </a:pP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669592" y="6153282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69592" y="5514750"/>
            <a:ext cx="86360" cy="4775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1950059" y="5442915"/>
            <a:ext cx="2820670" cy="795655"/>
          </a:xfrm>
          <a:custGeom>
            <a:avLst/>
            <a:gdLst/>
            <a:ahLst/>
            <a:cxnLst/>
            <a:rect l="l" t="t" r="r" b="b"/>
            <a:pathLst>
              <a:path w="2820670" h="795654">
                <a:moveTo>
                  <a:pt x="0" y="795235"/>
                </a:moveTo>
                <a:lnTo>
                  <a:pt x="1410246" y="795235"/>
                </a:lnTo>
                <a:lnTo>
                  <a:pt x="1438452" y="779335"/>
                </a:lnTo>
                <a:lnTo>
                  <a:pt x="1466659" y="763422"/>
                </a:lnTo>
                <a:lnTo>
                  <a:pt x="1494866" y="747522"/>
                </a:lnTo>
                <a:lnTo>
                  <a:pt x="1523072" y="731621"/>
                </a:lnTo>
                <a:lnTo>
                  <a:pt x="1551266" y="715708"/>
                </a:lnTo>
                <a:lnTo>
                  <a:pt x="1579473" y="699808"/>
                </a:lnTo>
                <a:lnTo>
                  <a:pt x="1607680" y="683907"/>
                </a:lnTo>
                <a:lnTo>
                  <a:pt x="1635887" y="667994"/>
                </a:lnTo>
                <a:lnTo>
                  <a:pt x="1664093" y="652094"/>
                </a:lnTo>
                <a:lnTo>
                  <a:pt x="1692300" y="636193"/>
                </a:lnTo>
                <a:lnTo>
                  <a:pt x="1720507" y="620280"/>
                </a:lnTo>
                <a:lnTo>
                  <a:pt x="1748701" y="604380"/>
                </a:lnTo>
                <a:lnTo>
                  <a:pt x="1776907" y="588479"/>
                </a:lnTo>
                <a:lnTo>
                  <a:pt x="1805114" y="572566"/>
                </a:lnTo>
                <a:lnTo>
                  <a:pt x="1833321" y="556666"/>
                </a:lnTo>
                <a:lnTo>
                  <a:pt x="1861527" y="540766"/>
                </a:lnTo>
                <a:lnTo>
                  <a:pt x="1889734" y="524852"/>
                </a:lnTo>
                <a:lnTo>
                  <a:pt x="1917928" y="508952"/>
                </a:lnTo>
                <a:lnTo>
                  <a:pt x="1946148" y="493052"/>
                </a:lnTo>
                <a:lnTo>
                  <a:pt x="1974342" y="477139"/>
                </a:lnTo>
                <a:lnTo>
                  <a:pt x="2002548" y="461238"/>
                </a:lnTo>
                <a:lnTo>
                  <a:pt x="2030755" y="445325"/>
                </a:lnTo>
                <a:lnTo>
                  <a:pt x="2058962" y="429425"/>
                </a:lnTo>
                <a:lnTo>
                  <a:pt x="2087168" y="413524"/>
                </a:lnTo>
                <a:lnTo>
                  <a:pt x="2115375" y="397611"/>
                </a:lnTo>
                <a:lnTo>
                  <a:pt x="2143582" y="381711"/>
                </a:lnTo>
                <a:lnTo>
                  <a:pt x="2171776" y="365810"/>
                </a:lnTo>
                <a:lnTo>
                  <a:pt x="2199982" y="349897"/>
                </a:lnTo>
                <a:lnTo>
                  <a:pt x="2228189" y="333997"/>
                </a:lnTo>
                <a:lnTo>
                  <a:pt x="2256396" y="318096"/>
                </a:lnTo>
                <a:lnTo>
                  <a:pt x="2284603" y="302183"/>
                </a:lnTo>
                <a:lnTo>
                  <a:pt x="2312809" y="286283"/>
                </a:lnTo>
                <a:lnTo>
                  <a:pt x="2341003" y="270383"/>
                </a:lnTo>
                <a:lnTo>
                  <a:pt x="2369210" y="254469"/>
                </a:lnTo>
                <a:lnTo>
                  <a:pt x="2397417" y="238569"/>
                </a:lnTo>
                <a:lnTo>
                  <a:pt x="2425623" y="222669"/>
                </a:lnTo>
                <a:lnTo>
                  <a:pt x="2453830" y="206756"/>
                </a:lnTo>
                <a:lnTo>
                  <a:pt x="2482037" y="190855"/>
                </a:lnTo>
                <a:lnTo>
                  <a:pt x="2510243" y="174955"/>
                </a:lnTo>
                <a:lnTo>
                  <a:pt x="2538437" y="159042"/>
                </a:lnTo>
                <a:lnTo>
                  <a:pt x="2566644" y="143141"/>
                </a:lnTo>
                <a:lnTo>
                  <a:pt x="2594851" y="127241"/>
                </a:lnTo>
                <a:lnTo>
                  <a:pt x="2623058" y="111340"/>
                </a:lnTo>
                <a:lnTo>
                  <a:pt x="2651264" y="95427"/>
                </a:lnTo>
                <a:lnTo>
                  <a:pt x="2679471" y="79527"/>
                </a:lnTo>
                <a:lnTo>
                  <a:pt x="2707665" y="63627"/>
                </a:lnTo>
                <a:lnTo>
                  <a:pt x="2735872" y="47713"/>
                </a:lnTo>
                <a:lnTo>
                  <a:pt x="2764078" y="31813"/>
                </a:lnTo>
                <a:lnTo>
                  <a:pt x="2792285" y="15913"/>
                </a:lnTo>
                <a:lnTo>
                  <a:pt x="2820492" y="0"/>
                </a:lnTo>
              </a:path>
            </a:pathLst>
          </a:custGeom>
          <a:ln w="10122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4806721" y="6075809"/>
            <a:ext cx="736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z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123336" y="5185376"/>
            <a:ext cx="4743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max</a:t>
            </a:r>
            <a:r>
              <a:rPr dirty="0" sz="850" spc="20">
                <a:latin typeface="Tahoma"/>
                <a:cs typeface="Tahoma"/>
              </a:rPr>
              <a:t>(</a:t>
            </a:r>
            <a:r>
              <a:rPr dirty="0" sz="850" spc="20">
                <a:latin typeface="Calibri"/>
                <a:cs typeface="Calibri"/>
              </a:rPr>
              <a:t>0,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z</a:t>
            </a:r>
            <a:r>
              <a:rPr dirty="0" sz="850" spc="-25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061173" y="7335897"/>
            <a:ext cx="4379595" cy="6813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8415" marR="5080" indent="-635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Obviously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However,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rectified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descent.</a:t>
            </a:r>
            <a:endParaRPr sz="850">
              <a:latin typeface="Calibri"/>
              <a:cs typeface="Calibri"/>
            </a:endParaRPr>
          </a:p>
          <a:p>
            <a:pPr marL="208279">
              <a:lnSpc>
                <a:spcPct val="100000"/>
              </a:lnSpc>
              <a:spcBef>
                <a:spcPts val="645"/>
              </a:spcBef>
            </a:pP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rectified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neurons?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29" name="object 29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8050" cy="42716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124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27025" marR="30480" indent="444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recent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41</a:t>
            </a:r>
            <a:r>
              <a:rPr dirty="0" baseline="35353" sz="825" spc="3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considerable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benefit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rectified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linear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exactly,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rectified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preferable,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flavor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issues,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recall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0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repeatedly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45" i="1">
                <a:latin typeface="Times New Roman"/>
                <a:cs typeface="Times New Roman"/>
              </a:rPr>
              <a:t>σ</a:t>
            </a:r>
            <a:r>
              <a:rPr dirty="0" baseline="35353" sz="825" spc="217">
                <a:latin typeface="Cambria"/>
                <a:cs typeface="Cambria"/>
              </a:rPr>
              <a:t>’</a:t>
            </a:r>
            <a:r>
              <a:rPr dirty="0" baseline="35353" sz="825" spc="434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suffer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saturate.</a:t>
            </a:r>
            <a:r>
              <a:rPr dirty="0" sz="850" spc="3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By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contrast,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increasing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rectified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never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slowdown.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rectified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negative,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vanishes,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entirely.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issues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non-trivial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rectified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  <a:p>
            <a:pPr algn="just" marL="325120" marR="53340" indent="19621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painted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picture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uncertainty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stressing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solid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theory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chosen.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harder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described,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infinitely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best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problem?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fastest?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highest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accuracies?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surprised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systematic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investigation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Ideally,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modify-on-the-fly)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lack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us!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powerful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tools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already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progress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tools.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remainder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book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continue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go-to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provide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concrete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illustrations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mind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types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sometimes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advantages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01" y="6945833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64542" y="4823785"/>
            <a:ext cx="4446905" cy="31908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just" marL="55244">
              <a:lnSpc>
                <a:spcPct val="100000"/>
              </a:lnSpc>
              <a:spcBef>
                <a:spcPts val="105"/>
              </a:spcBef>
            </a:pPr>
            <a:r>
              <a:rPr dirty="0" sz="950" spc="65" b="1">
                <a:latin typeface="Calibri"/>
                <a:cs typeface="Calibri"/>
              </a:rPr>
              <a:t>On</a:t>
            </a:r>
            <a:r>
              <a:rPr dirty="0" sz="950" spc="114" b="1">
                <a:latin typeface="Calibri"/>
                <a:cs typeface="Calibri"/>
              </a:rPr>
              <a:t> </a:t>
            </a:r>
            <a:r>
              <a:rPr dirty="0" sz="950" spc="10" b="1">
                <a:latin typeface="Calibri"/>
                <a:cs typeface="Calibri"/>
              </a:rPr>
              <a:t>stories</a:t>
            </a:r>
            <a:r>
              <a:rPr dirty="0" sz="950" spc="120" b="1">
                <a:latin typeface="Calibri"/>
                <a:cs typeface="Calibri"/>
              </a:rPr>
              <a:t> </a:t>
            </a:r>
            <a:r>
              <a:rPr dirty="0" sz="950" spc="60" b="1">
                <a:latin typeface="Calibri"/>
                <a:cs typeface="Calibri"/>
              </a:rPr>
              <a:t>in</a:t>
            </a:r>
            <a:r>
              <a:rPr dirty="0" sz="950" spc="120" b="1">
                <a:latin typeface="Calibri"/>
                <a:cs typeface="Calibri"/>
              </a:rPr>
              <a:t> </a:t>
            </a:r>
            <a:r>
              <a:rPr dirty="0" sz="950" spc="50" b="1">
                <a:latin typeface="Calibri"/>
                <a:cs typeface="Calibri"/>
              </a:rPr>
              <a:t>neural</a:t>
            </a:r>
            <a:r>
              <a:rPr dirty="0" sz="950" spc="114" b="1">
                <a:latin typeface="Calibri"/>
                <a:cs typeface="Calibri"/>
              </a:rPr>
              <a:t> </a:t>
            </a:r>
            <a:r>
              <a:rPr dirty="0" sz="950" spc="-10" b="1">
                <a:latin typeface="Calibri"/>
                <a:cs typeface="Calibri"/>
              </a:rPr>
              <a:t>networks</a:t>
            </a:r>
            <a:endParaRPr sz="950">
              <a:latin typeface="Calibri"/>
              <a:cs typeface="Calibri"/>
            </a:endParaRPr>
          </a:p>
          <a:p>
            <a:pPr algn="just" marL="594995" marR="419100">
              <a:lnSpc>
                <a:spcPct val="114300"/>
              </a:lnSpc>
              <a:spcBef>
                <a:spcPts val="670"/>
              </a:spcBef>
            </a:pPr>
            <a:r>
              <a:rPr dirty="0" sz="850" b="1">
                <a:latin typeface="Calibri"/>
                <a:cs typeface="Calibri"/>
              </a:rPr>
              <a:t>Question:</a:t>
            </a:r>
            <a:r>
              <a:rPr dirty="0" sz="850" spc="235" b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How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do</a:t>
            </a:r>
            <a:r>
              <a:rPr dirty="0" sz="850" spc="6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you</a:t>
            </a:r>
            <a:r>
              <a:rPr dirty="0" sz="850" spc="6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approach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utilizing</a:t>
            </a:r>
            <a:r>
              <a:rPr dirty="0" sz="850" spc="6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and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researching</a:t>
            </a:r>
            <a:r>
              <a:rPr dirty="0" sz="850" spc="6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machine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learning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techniques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that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are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supported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almost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entirely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empirically,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as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opposed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to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mathematically?</a:t>
            </a:r>
            <a:r>
              <a:rPr dirty="0" sz="850" spc="35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Also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in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what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situations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have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you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noticed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some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of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spc="-20" i="1">
                <a:latin typeface="Calibri"/>
                <a:cs typeface="Calibri"/>
              </a:rPr>
              <a:t>these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techniques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fail?</a:t>
            </a:r>
            <a:endParaRPr sz="850">
              <a:latin typeface="Calibri"/>
              <a:cs typeface="Calibri"/>
            </a:endParaRPr>
          </a:p>
          <a:p>
            <a:pPr algn="just" marL="589915" marR="395605" indent="-635">
              <a:lnSpc>
                <a:spcPct val="114300"/>
              </a:lnSpc>
            </a:pPr>
            <a:r>
              <a:rPr dirty="0" sz="850" b="1">
                <a:latin typeface="Calibri"/>
                <a:cs typeface="Calibri"/>
              </a:rPr>
              <a:t>Answer:</a:t>
            </a:r>
            <a:r>
              <a:rPr dirty="0" sz="850" spc="45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realize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theoretical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tools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weak.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intuitions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particular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intuition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Lucida Sans Unicode"/>
                <a:cs typeface="Lucida Sans Unicode"/>
              </a:rPr>
              <a:t>[</a:t>
            </a:r>
            <a:r>
              <a:rPr dirty="0" sz="850" spc="-10">
                <a:latin typeface="Calibri"/>
                <a:cs typeface="Calibri"/>
              </a:rPr>
              <a:t>...</a:t>
            </a:r>
            <a:r>
              <a:rPr dirty="0" sz="850" spc="-10">
                <a:latin typeface="Lucida Sans Unicode"/>
                <a:cs typeface="Lucida Sans Unicode"/>
              </a:rPr>
              <a:t>]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become: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particular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well.</a:t>
            </a:r>
            <a:endParaRPr sz="850">
              <a:latin typeface="Calibri"/>
              <a:cs typeface="Calibri"/>
            </a:endParaRPr>
          </a:p>
          <a:p>
            <a:pPr algn="just" marL="784860">
              <a:lnSpc>
                <a:spcPct val="100000"/>
              </a:lnSpc>
              <a:spcBef>
                <a:spcPts val="145"/>
              </a:spcBef>
            </a:pPr>
            <a:r>
              <a:rPr dirty="0" sz="850" spc="85">
                <a:latin typeface="Calibri"/>
                <a:cs typeface="Calibri"/>
              </a:rPr>
              <a:t>—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Question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and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answer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with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neural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networks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researcher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Yann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LeCun</a:t>
            </a:r>
            <a:endParaRPr sz="850">
              <a:latin typeface="Calibri"/>
              <a:cs typeface="Calibri"/>
            </a:endParaRPr>
          </a:p>
          <a:p>
            <a:pPr algn="just" marL="55244" marR="60325" indent="-6350">
              <a:lnSpc>
                <a:spcPct val="114300"/>
              </a:lnSpc>
              <a:spcBef>
                <a:spcPts val="185"/>
              </a:spcBef>
            </a:pPr>
            <a:r>
              <a:rPr dirty="0" sz="850" spc="10">
                <a:latin typeface="Calibri"/>
                <a:cs typeface="Calibri"/>
              </a:rPr>
              <a:t>Once,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attending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conference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foundations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quantum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mechanics,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noticed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curious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verbal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habit: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talks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finished,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audience</a:t>
            </a:r>
            <a:endParaRPr sz="850">
              <a:latin typeface="Calibri"/>
              <a:cs typeface="Calibri"/>
            </a:endParaRPr>
          </a:p>
          <a:p>
            <a:pPr algn="just" marL="50800" marR="43180" indent="92075">
              <a:lnSpc>
                <a:spcPts val="800"/>
              </a:lnSpc>
              <a:spcBef>
                <a:spcPts val="965"/>
              </a:spcBef>
            </a:pPr>
            <a:r>
              <a:rPr dirty="0" baseline="30303" sz="825" spc="15">
                <a:latin typeface="Calibri"/>
                <a:cs typeface="Calibri"/>
              </a:rPr>
              <a:t>41</a:t>
            </a:r>
            <a:r>
              <a:rPr dirty="0" sz="750" spc="10">
                <a:latin typeface="Calibri"/>
                <a:cs typeface="Calibri"/>
              </a:rPr>
              <a:t>See,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example,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What</a:t>
            </a:r>
            <a:r>
              <a:rPr dirty="0" sz="750" spc="65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is</a:t>
            </a:r>
            <a:r>
              <a:rPr dirty="0" sz="750" spc="6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the</a:t>
            </a:r>
            <a:r>
              <a:rPr dirty="0" sz="750" spc="6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Best</a:t>
            </a:r>
            <a:r>
              <a:rPr dirty="0" sz="750" spc="6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Multi-Stage</a:t>
            </a:r>
            <a:r>
              <a:rPr dirty="0" sz="750" spc="6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Architecture</a:t>
            </a:r>
            <a:r>
              <a:rPr dirty="0" sz="750" spc="6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for</a:t>
            </a:r>
            <a:r>
              <a:rPr dirty="0" sz="750" spc="65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Object</a:t>
            </a:r>
            <a:r>
              <a:rPr dirty="0" sz="750" spc="6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Recognition?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Kevin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Jarrett,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Koray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Kavukcuoglu,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Marc’Aurelio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Ranzato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Yann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LeCun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(2009),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Xavier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Glorot,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Antoine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Bordes,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Yoshua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Bengio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(2011),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ImageNet</a:t>
            </a:r>
            <a:r>
              <a:rPr dirty="0" sz="750" spc="7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Classification</a:t>
            </a:r>
            <a:r>
              <a:rPr dirty="0" sz="750" spc="7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with</a:t>
            </a:r>
            <a:r>
              <a:rPr dirty="0" sz="750" spc="8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Deep</a:t>
            </a:r>
            <a:r>
              <a:rPr dirty="0" sz="750" spc="7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Convolutional</a:t>
            </a:r>
            <a:r>
              <a:rPr dirty="0" sz="750" spc="8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Neural</a:t>
            </a:r>
            <a:r>
              <a:rPr dirty="0" sz="750" spc="8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Networks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by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Alex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Krizhevsky,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Ilya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Sutskever,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Geoffrey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Hinton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(2012).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Note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that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these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papers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fill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important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details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about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how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set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up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output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layer,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cost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function,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regularization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networks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using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rectified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linear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units.</a:t>
            </a:r>
            <a:r>
              <a:rPr dirty="0" sz="750" spc="3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I’ve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glossed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over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all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these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details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brief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account.</a:t>
            </a:r>
            <a:r>
              <a:rPr dirty="0" sz="750" spc="3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papers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also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discuss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more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detail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benefits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drawbacks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using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rectified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linear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units.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Another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informative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paper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  <a:hlinkClick r:id="rId5"/>
              </a:rPr>
              <a:t>Rectified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Linear</a:t>
            </a:r>
            <a:r>
              <a:rPr dirty="0" sz="750" spc="80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Units</a:t>
            </a:r>
            <a:r>
              <a:rPr dirty="0" sz="750" spc="8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Improve</a:t>
            </a:r>
            <a:r>
              <a:rPr dirty="0" sz="750" spc="8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Restricted</a:t>
            </a:r>
            <a:r>
              <a:rPr dirty="0" sz="750" spc="8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Boltzmann</a:t>
            </a:r>
            <a:r>
              <a:rPr dirty="0" sz="750" spc="8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Machines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Vinod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Nair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Geoffrey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Hinton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(2010),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which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demonstrates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benefits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using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rectified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linear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units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somewhat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different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approach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neural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networks.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6" name="object 6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22007" y="368721"/>
            <a:ext cx="4684395" cy="727455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30480">
              <a:lnSpc>
                <a:spcPts val="525"/>
              </a:lnSpc>
              <a:spcBef>
                <a:spcPts val="110"/>
              </a:spcBef>
              <a:tabLst>
                <a:tab pos="1229995" algn="l"/>
              </a:tabLst>
            </a:pPr>
            <a:r>
              <a:rPr dirty="0" sz="850">
                <a:latin typeface="Calibri"/>
                <a:cs typeface="Calibri"/>
              </a:rPr>
              <a:t>3.6.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125</a:t>
            </a:r>
            <a:endParaRPr sz="850">
              <a:latin typeface="Calibri"/>
              <a:cs typeface="Calibri"/>
            </a:endParaRPr>
          </a:p>
          <a:p>
            <a:pPr algn="r" marR="2889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51435" marR="274955" indent="635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began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“I’m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sympathetic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Lucida Sans Unicode"/>
                <a:cs typeface="Lucida Sans Unicode"/>
              </a:rPr>
              <a:t>[</a:t>
            </a:r>
            <a:r>
              <a:rPr dirty="0" sz="850">
                <a:latin typeface="Calibri"/>
                <a:cs typeface="Calibri"/>
              </a:rPr>
              <a:t>...</a:t>
            </a:r>
            <a:r>
              <a:rPr dirty="0" sz="850">
                <a:latin typeface="Lucida Sans Unicode"/>
                <a:cs typeface="Lucida Sans Unicode"/>
              </a:rPr>
              <a:t>]</a:t>
            </a:r>
            <a:r>
              <a:rPr dirty="0" sz="850">
                <a:latin typeface="Calibri"/>
                <a:cs typeface="Calibri"/>
              </a:rPr>
              <a:t>”.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Quantum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foundations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field,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noticed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style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scientific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conferences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rarely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never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heard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sympathy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speaker.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prevalence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genuine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progress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made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quantum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foundations,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merely</a:t>
            </a:r>
            <a:r>
              <a:rPr dirty="0" sz="850" spc="20">
                <a:latin typeface="Calibri"/>
                <a:cs typeface="Calibri"/>
              </a:rPr>
              <a:t> spinning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their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wheels.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Later,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realized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assessment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harsh.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speakers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wrestling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hardest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minds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confronted.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course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progress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slow!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hearing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thinking,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didn’t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always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unarguable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progress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report.</a:t>
            </a:r>
            <a:endParaRPr sz="850">
              <a:latin typeface="Calibri"/>
              <a:cs typeface="Calibri"/>
            </a:endParaRPr>
          </a:p>
          <a:p>
            <a:pPr algn="just" marL="38100" marR="270510" indent="209550">
              <a:lnSpc>
                <a:spcPct val="114300"/>
              </a:lnSpc>
              <a:spcBef>
                <a:spcPts val="80"/>
              </a:spcBef>
            </a:pP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noticed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verbal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“I’m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sympathetic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Lucida Sans Unicode"/>
                <a:cs typeface="Lucida Sans Unicode"/>
              </a:rPr>
              <a:t>[</a:t>
            </a:r>
            <a:r>
              <a:rPr dirty="0" sz="850" spc="10">
                <a:latin typeface="Calibri"/>
                <a:cs typeface="Calibri"/>
              </a:rPr>
              <a:t>...</a:t>
            </a:r>
            <a:r>
              <a:rPr dirty="0" sz="850" spc="10">
                <a:latin typeface="Lucida Sans Unicode"/>
                <a:cs typeface="Lucida Sans Unicode"/>
              </a:rPr>
              <a:t>]</a:t>
            </a:r>
            <a:r>
              <a:rPr dirty="0" sz="850" spc="10">
                <a:latin typeface="Calibri"/>
                <a:cs typeface="Calibri"/>
              </a:rPr>
              <a:t>”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current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fallen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“Heuristically,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Lucida Sans Unicode"/>
                <a:cs typeface="Lucida Sans Unicode"/>
              </a:rPr>
              <a:t>[</a:t>
            </a:r>
            <a:r>
              <a:rPr dirty="0" sz="850" spc="10">
                <a:latin typeface="Calibri"/>
                <a:cs typeface="Calibri"/>
              </a:rPr>
              <a:t>...</a:t>
            </a:r>
            <a:r>
              <a:rPr dirty="0" sz="850" spc="10">
                <a:latin typeface="Lucida Sans Unicode"/>
                <a:cs typeface="Lucida Sans Unicode"/>
              </a:rPr>
              <a:t>]</a:t>
            </a:r>
            <a:r>
              <a:rPr dirty="0" sz="850" spc="10">
                <a:latin typeface="Calibri"/>
                <a:cs typeface="Calibri"/>
              </a:rPr>
              <a:t>”,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or</a:t>
            </a:r>
            <a:r>
              <a:rPr dirty="0" sz="850" spc="20">
                <a:latin typeface="Calibri"/>
                <a:cs typeface="Calibri"/>
              </a:rPr>
              <a:t> “Roughly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speaking,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Lucida Sans Unicode"/>
                <a:cs typeface="Lucida Sans Unicode"/>
              </a:rPr>
              <a:t>[</a:t>
            </a:r>
            <a:r>
              <a:rPr dirty="0" sz="850" spc="20">
                <a:latin typeface="Calibri"/>
                <a:cs typeface="Calibri"/>
              </a:rPr>
              <a:t>...</a:t>
            </a:r>
            <a:r>
              <a:rPr dirty="0" sz="850" spc="20">
                <a:latin typeface="Lucida Sans Unicode"/>
                <a:cs typeface="Lucida Sans Unicode"/>
              </a:rPr>
              <a:t>]</a:t>
            </a:r>
            <a:r>
              <a:rPr dirty="0" sz="850" spc="20">
                <a:latin typeface="Calibri"/>
                <a:cs typeface="Calibri"/>
              </a:rPr>
              <a:t>”,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following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story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explain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phenomenon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stories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plausible,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empirical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presented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pretty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research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literature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stories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style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appear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research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supporting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should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stories?</a:t>
            </a:r>
            <a:endParaRPr sz="850">
              <a:latin typeface="Calibri"/>
              <a:cs typeface="Calibri"/>
            </a:endParaRPr>
          </a:p>
          <a:p>
            <a:pPr algn="just" marL="51435" marR="270510" indent="196215">
              <a:lnSpc>
                <a:spcPct val="114300"/>
              </a:lnSpc>
              <a:spcBef>
                <a:spcPts val="85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science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especially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phenomena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solid,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reliable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hypotheses.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extremely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interactions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extraordinarily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systems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exceedingly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establish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reliable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statements.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full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quantum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foundations,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limits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mind.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against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specific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general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statement.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statements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modified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abandoned,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light.</a:t>
            </a:r>
            <a:endParaRPr sz="850">
              <a:latin typeface="Calibri"/>
              <a:cs typeface="Calibri"/>
            </a:endParaRPr>
          </a:p>
          <a:p>
            <a:pPr algn="just" marL="51435" marR="270510" indent="196215">
              <a:lnSpc>
                <a:spcPct val="114300"/>
              </a:lnSpc>
              <a:spcBef>
                <a:spcPts val="85"/>
              </a:spcBef>
            </a:pP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situation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heuristic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story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carries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implied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challenge.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statement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quoted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explaining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works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42</a:t>
            </a:r>
            <a:r>
              <a:rPr dirty="0" sz="850" spc="10">
                <a:latin typeface="Calibri"/>
                <a:cs typeface="Calibri"/>
              </a:rPr>
              <a:t>: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co-adaptations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cannot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presence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therefore,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forced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robust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useful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conjunction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random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subsets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neurons.”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rich,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provocative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statement,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fruitful</a:t>
            </a:r>
            <a:r>
              <a:rPr dirty="0" sz="850" spc="20">
                <a:latin typeface="Calibri"/>
                <a:cs typeface="Calibri"/>
              </a:rPr>
              <a:t> research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entirely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around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unpacking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statement,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figuring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true,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false,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refinement.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Indeed,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industry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researchers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investigating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variations),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limits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heuristics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discussed.</a:t>
            </a:r>
            <a:r>
              <a:rPr dirty="0" sz="850" spc="20">
                <a:latin typeface="Calibri"/>
                <a:cs typeface="Calibri"/>
              </a:rPr>
              <a:t> Each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heuristic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(potential)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explanation,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challenge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investigate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detail.</a:t>
            </a:r>
            <a:endParaRPr sz="850">
              <a:latin typeface="Calibri"/>
              <a:cs typeface="Calibri"/>
            </a:endParaRPr>
          </a:p>
          <a:p>
            <a:pPr algn="just" marL="43815" marR="270510" indent="203200">
              <a:lnSpc>
                <a:spcPct val="114300"/>
              </a:lnSpc>
              <a:spcBef>
                <a:spcPts val="80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person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investigate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heuristic</a:t>
            </a:r>
            <a:r>
              <a:rPr dirty="0" sz="850" spc="20">
                <a:latin typeface="Calibri"/>
                <a:cs typeface="Calibri"/>
              </a:rPr>
              <a:t> explanations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depth.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decades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longer)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community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researchers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powerful,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evidence-based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reject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unrigorous,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sufficiently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evidence-based?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No!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inspire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guide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thinking.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exploration: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explorers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sometimes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explored</a:t>
            </a:r>
            <a:r>
              <a:rPr dirty="0" sz="850" spc="55">
                <a:latin typeface="Calibri"/>
                <a:cs typeface="Calibri"/>
              </a:rPr>
              <a:t> (and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discoveries)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basis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beliefs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wrong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important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ways.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mistakes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filled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knowledge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geography.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79996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41896" y="7770973"/>
            <a:ext cx="4396740" cy="2438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 marR="30480" indent="8699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30">
                <a:latin typeface="Calibri"/>
                <a:cs typeface="Calibri"/>
              </a:rPr>
              <a:t>42</a:t>
            </a:r>
            <a:r>
              <a:rPr dirty="0" sz="750" spc="20">
                <a:latin typeface="Calibri"/>
                <a:cs typeface="Calibri"/>
                <a:hlinkClick r:id="rId3"/>
              </a:rPr>
              <a:t>From</a:t>
            </a:r>
            <a:r>
              <a:rPr dirty="0" sz="750" spc="12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ImageNet</a:t>
            </a:r>
            <a:r>
              <a:rPr dirty="0" sz="750" spc="12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Classification</a:t>
            </a:r>
            <a:r>
              <a:rPr dirty="0" sz="750" spc="12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with</a:t>
            </a:r>
            <a:r>
              <a:rPr dirty="0" sz="750" spc="12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Deep</a:t>
            </a:r>
            <a:r>
              <a:rPr dirty="0" sz="750" spc="13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Convolutional</a:t>
            </a:r>
            <a:r>
              <a:rPr dirty="0" sz="750" spc="12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Neural</a:t>
            </a:r>
            <a:r>
              <a:rPr dirty="0" sz="750" spc="12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Networks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Alex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Krizhevsky,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Ilya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Sutskever,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Geoffrey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Hinton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(2012).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5778788" y="1799981"/>
            <a:ext cx="344170" cy="461645"/>
            <a:chOff x="5778788" y="1799981"/>
            <a:chExt cx="344170" cy="461645"/>
          </a:xfrm>
        </p:grpSpPr>
        <p:sp>
          <p:nvSpPr>
            <p:cNvPr id="6" name="object 6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781318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5876620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42485" cy="1607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126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06070" marR="50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something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poorly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explorers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understood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geography,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today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important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boldly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rigorously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correct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thinking.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stories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useful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guide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retaining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healthy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awareness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limitations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stories,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carefully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keeping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track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strong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line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reasoning.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stories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motivate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inspire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rigorous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in-depth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investigation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uncover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matter.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-2530" y="1799981"/>
            <a:ext cx="344170" cy="461645"/>
            <a:chOff x="-2530" y="1799981"/>
            <a:chExt cx="344170" cy="461645"/>
          </a:xfrm>
        </p:grpSpPr>
        <p:sp>
          <p:nvSpPr>
            <p:cNvPr id="4" name="object 4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0" y="1802511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25831" y="1787997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3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59704" y="368724"/>
            <a:ext cx="32131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5095">
              <a:lnSpc>
                <a:spcPts val="525"/>
              </a:lnSpc>
              <a:spcBef>
                <a:spcPts val="110"/>
              </a:spcBef>
            </a:pPr>
            <a:r>
              <a:rPr dirty="0" sz="850" spc="25">
                <a:latin typeface="Calibri"/>
                <a:cs typeface="Calibri"/>
              </a:rPr>
              <a:t>127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xfrm>
            <a:off x="3942511" y="1197165"/>
            <a:ext cx="1456690" cy="292862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-3309" sz="17625" spc="-8159">
                <a:solidFill>
                  <a:srgbClr val="B2B2B2"/>
                </a:solidFill>
              </a:rPr>
              <a:t>4</a:t>
            </a:r>
            <a:r>
              <a:rPr dirty="0" sz="19050" spc="-9225">
                <a:solidFill>
                  <a:srgbClr val="7F7F7F"/>
                </a:solidFill>
              </a:rPr>
              <a:t>4</a:t>
            </a:r>
            <a:r>
              <a:rPr dirty="0" sz="18650" spc="-9025">
                <a:solidFill>
                  <a:srgbClr val="A5A5A5"/>
                </a:solidFill>
              </a:rPr>
              <a:t>4</a:t>
            </a:r>
            <a:r>
              <a:rPr dirty="0" sz="18250" spc="345">
                <a:solidFill>
                  <a:srgbClr val="CCCCCC"/>
                </a:solidFill>
              </a:rPr>
              <a:t>4</a:t>
            </a:r>
            <a:endParaRPr sz="18250"/>
          </a:p>
        </p:txBody>
      </p:sp>
      <p:sp>
        <p:nvSpPr>
          <p:cNvPr id="4" name="object 4"/>
          <p:cNvSpPr txBox="1"/>
          <p:nvPr/>
        </p:nvSpPr>
        <p:spPr>
          <a:xfrm>
            <a:off x="1271092" y="2442043"/>
            <a:ext cx="4142104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95" b="1">
                <a:latin typeface="Calibri"/>
                <a:cs typeface="Calibri"/>
              </a:rPr>
              <a:t>A</a:t>
            </a:r>
            <a:r>
              <a:rPr dirty="0" sz="2300" spc="165" b="1">
                <a:latin typeface="Calibri"/>
                <a:cs typeface="Calibri"/>
              </a:rPr>
              <a:t> </a:t>
            </a:r>
            <a:r>
              <a:rPr dirty="0" sz="2300" spc="114" b="1">
                <a:latin typeface="Calibri"/>
                <a:cs typeface="Calibri"/>
              </a:rPr>
              <a:t>visual</a:t>
            </a:r>
            <a:r>
              <a:rPr dirty="0" sz="2300" spc="165" b="1">
                <a:latin typeface="Calibri"/>
                <a:cs typeface="Calibri"/>
              </a:rPr>
              <a:t> </a:t>
            </a:r>
            <a:r>
              <a:rPr dirty="0" sz="2300" spc="90" b="1">
                <a:latin typeface="Calibri"/>
                <a:cs typeface="Calibri"/>
              </a:rPr>
              <a:t>proof</a:t>
            </a:r>
            <a:r>
              <a:rPr dirty="0" sz="2300" spc="170" b="1">
                <a:latin typeface="Calibri"/>
                <a:cs typeface="Calibri"/>
              </a:rPr>
              <a:t> </a:t>
            </a:r>
            <a:r>
              <a:rPr dirty="0" sz="2300" spc="65" b="1">
                <a:latin typeface="Calibri"/>
                <a:cs typeface="Calibri"/>
              </a:rPr>
              <a:t>that</a:t>
            </a:r>
            <a:r>
              <a:rPr dirty="0" sz="2300" spc="165" b="1">
                <a:latin typeface="Calibri"/>
                <a:cs typeface="Calibri"/>
              </a:rPr>
              <a:t> </a:t>
            </a:r>
            <a:r>
              <a:rPr dirty="0" sz="2300" spc="110" b="1">
                <a:latin typeface="Calibri"/>
                <a:cs typeface="Calibri"/>
              </a:rPr>
              <a:t>neural</a:t>
            </a:r>
            <a:r>
              <a:rPr dirty="0" sz="2300" spc="165" b="1">
                <a:latin typeface="Calibri"/>
                <a:cs typeface="Calibri"/>
              </a:rPr>
              <a:t> </a:t>
            </a:r>
            <a:r>
              <a:rPr dirty="0" sz="2300" spc="50" b="1">
                <a:latin typeface="Calibri"/>
                <a:cs typeface="Calibri"/>
              </a:rPr>
              <a:t>nets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874521" y="2836810"/>
            <a:ext cx="3538220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120" b="1">
                <a:latin typeface="Calibri"/>
                <a:cs typeface="Calibri"/>
              </a:rPr>
              <a:t>can</a:t>
            </a:r>
            <a:r>
              <a:rPr dirty="0" sz="2300" spc="155" b="1">
                <a:latin typeface="Calibri"/>
                <a:cs typeface="Calibri"/>
              </a:rPr>
              <a:t> </a:t>
            </a:r>
            <a:r>
              <a:rPr dirty="0" sz="2300" spc="95" b="1">
                <a:latin typeface="Calibri"/>
                <a:cs typeface="Calibri"/>
              </a:rPr>
              <a:t>compute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114" b="1">
                <a:latin typeface="Calibri"/>
                <a:cs typeface="Calibri"/>
              </a:rPr>
              <a:t>any</a:t>
            </a:r>
            <a:r>
              <a:rPr dirty="0" sz="2300" spc="155" b="1">
                <a:latin typeface="Calibri"/>
                <a:cs typeface="Calibri"/>
              </a:rPr>
              <a:t> </a:t>
            </a:r>
            <a:r>
              <a:rPr dirty="0" sz="2300" spc="90" b="1">
                <a:latin typeface="Calibri"/>
                <a:cs typeface="Calibri"/>
              </a:rPr>
              <a:t>function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1173" y="4647674"/>
            <a:ext cx="435165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415" marR="5080" indent="-635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striking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someone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complicated,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wiggly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f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spc="40">
                <a:latin typeface="Tahoma"/>
                <a:cs typeface="Tahoma"/>
              </a:rPr>
              <a:t>(</a:t>
            </a:r>
            <a:r>
              <a:rPr dirty="0" sz="850" spc="40" i="1">
                <a:latin typeface="Calibri"/>
                <a:cs typeface="Calibri"/>
              </a:rPr>
              <a:t>x</a:t>
            </a:r>
            <a:r>
              <a:rPr dirty="0" sz="850" spc="40">
                <a:latin typeface="Tahoma"/>
                <a:cs typeface="Tahoma"/>
              </a:rPr>
              <a:t>)</a:t>
            </a:r>
            <a:r>
              <a:rPr dirty="0" sz="850" spc="4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904682" y="5624360"/>
            <a:ext cx="2670810" cy="1590675"/>
            <a:chOff x="1904682" y="5624360"/>
            <a:chExt cx="2670810" cy="1590675"/>
          </a:xfrm>
        </p:grpSpPr>
        <p:sp>
          <p:nvSpPr>
            <p:cNvPr id="8" name="object 8"/>
            <p:cNvSpPr/>
            <p:nvPr/>
          </p:nvSpPr>
          <p:spPr>
            <a:xfrm>
              <a:off x="1904682" y="7139267"/>
              <a:ext cx="2645410" cy="0"/>
            </a:xfrm>
            <a:custGeom>
              <a:avLst/>
              <a:gdLst/>
              <a:ahLst/>
              <a:cxnLst/>
              <a:rect l="l" t="t" r="r" b="b"/>
              <a:pathLst>
                <a:path w="2645410" h="0">
                  <a:moveTo>
                    <a:pt x="0" y="0"/>
                  </a:moveTo>
                  <a:lnTo>
                    <a:pt x="2645359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534852" y="711902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0" y="0"/>
                  </a:moveTo>
                  <a:lnTo>
                    <a:pt x="15189" y="20243"/>
                  </a:lnTo>
                  <a:lnTo>
                    <a:pt x="0" y="40487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026081" y="5649671"/>
              <a:ext cx="0" cy="1565910"/>
            </a:xfrm>
            <a:custGeom>
              <a:avLst/>
              <a:gdLst/>
              <a:ahLst/>
              <a:cxnLst/>
              <a:rect l="l" t="t" r="r" b="b"/>
              <a:pathLst>
                <a:path w="0" h="1565909">
                  <a:moveTo>
                    <a:pt x="0" y="1565338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005825" y="562436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56" y="0"/>
                  </a:moveTo>
                  <a:lnTo>
                    <a:pt x="0" y="40487"/>
                  </a:lnTo>
                  <a:lnTo>
                    <a:pt x="20256" y="25311"/>
                  </a:lnTo>
                  <a:lnTo>
                    <a:pt x="40500" y="40487"/>
                  </a:lnTo>
                  <a:lnTo>
                    <a:pt x="202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026081" y="5847397"/>
              <a:ext cx="2428240" cy="1145540"/>
            </a:xfrm>
            <a:custGeom>
              <a:avLst/>
              <a:gdLst/>
              <a:ahLst/>
              <a:cxnLst/>
              <a:rect l="l" t="t" r="r" b="b"/>
              <a:pathLst>
                <a:path w="2428240" h="1145540">
                  <a:moveTo>
                    <a:pt x="0" y="913142"/>
                  </a:moveTo>
                  <a:lnTo>
                    <a:pt x="24269" y="921677"/>
                  </a:lnTo>
                  <a:lnTo>
                    <a:pt x="48552" y="945032"/>
                  </a:lnTo>
                  <a:lnTo>
                    <a:pt x="72834" y="977049"/>
                  </a:lnTo>
                  <a:lnTo>
                    <a:pt x="97104" y="1009167"/>
                  </a:lnTo>
                  <a:lnTo>
                    <a:pt x="121386" y="1032560"/>
                  </a:lnTo>
                  <a:lnTo>
                    <a:pt x="169951" y="1029246"/>
                  </a:lnTo>
                  <a:lnTo>
                    <a:pt x="218503" y="960031"/>
                  </a:lnTo>
                  <a:lnTo>
                    <a:pt x="242785" y="916012"/>
                  </a:lnTo>
                  <a:lnTo>
                    <a:pt x="267068" y="878052"/>
                  </a:lnTo>
                  <a:lnTo>
                    <a:pt x="291338" y="854329"/>
                  </a:lnTo>
                  <a:lnTo>
                    <a:pt x="315620" y="849795"/>
                  </a:lnTo>
                  <a:lnTo>
                    <a:pt x="339902" y="864984"/>
                  </a:lnTo>
                  <a:lnTo>
                    <a:pt x="364172" y="895959"/>
                  </a:lnTo>
                  <a:lnTo>
                    <a:pt x="388454" y="935278"/>
                  </a:lnTo>
                  <a:lnTo>
                    <a:pt x="412724" y="973886"/>
                  </a:lnTo>
                  <a:lnTo>
                    <a:pt x="437007" y="1003300"/>
                  </a:lnTo>
                  <a:lnTo>
                    <a:pt x="461289" y="1017714"/>
                  </a:lnTo>
                  <a:lnTo>
                    <a:pt x="485571" y="1015377"/>
                  </a:lnTo>
                  <a:lnTo>
                    <a:pt x="509841" y="998982"/>
                  </a:lnTo>
                  <a:lnTo>
                    <a:pt x="534123" y="974991"/>
                  </a:lnTo>
                  <a:lnTo>
                    <a:pt x="558406" y="951953"/>
                  </a:lnTo>
                  <a:lnTo>
                    <a:pt x="582676" y="938326"/>
                  </a:lnTo>
                  <a:lnTo>
                    <a:pt x="606958" y="940371"/>
                  </a:lnTo>
                  <a:lnTo>
                    <a:pt x="631240" y="960450"/>
                  </a:lnTo>
                  <a:lnTo>
                    <a:pt x="655523" y="996403"/>
                  </a:lnTo>
                  <a:lnTo>
                    <a:pt x="679792" y="1041920"/>
                  </a:lnTo>
                  <a:lnTo>
                    <a:pt x="704075" y="1088034"/>
                  </a:lnTo>
                  <a:lnTo>
                    <a:pt x="728357" y="1125156"/>
                  </a:lnTo>
                  <a:lnTo>
                    <a:pt x="752627" y="1145362"/>
                  </a:lnTo>
                  <a:lnTo>
                    <a:pt x="776909" y="1144231"/>
                  </a:lnTo>
                  <a:lnTo>
                    <a:pt x="801192" y="1121854"/>
                  </a:lnTo>
                  <a:lnTo>
                    <a:pt x="825474" y="1082725"/>
                  </a:lnTo>
                  <a:lnTo>
                    <a:pt x="849744" y="1034656"/>
                  </a:lnTo>
                  <a:lnTo>
                    <a:pt x="874026" y="986764"/>
                  </a:lnTo>
                  <a:lnTo>
                    <a:pt x="898309" y="947293"/>
                  </a:lnTo>
                  <a:lnTo>
                    <a:pt x="922591" y="921588"/>
                  </a:lnTo>
                  <a:lnTo>
                    <a:pt x="946861" y="910844"/>
                  </a:lnTo>
                  <a:lnTo>
                    <a:pt x="971143" y="911809"/>
                  </a:lnTo>
                  <a:lnTo>
                    <a:pt x="995426" y="917790"/>
                  </a:lnTo>
                  <a:lnTo>
                    <a:pt x="1019695" y="920267"/>
                  </a:lnTo>
                  <a:lnTo>
                    <a:pt x="1068260" y="885012"/>
                  </a:lnTo>
                  <a:lnTo>
                    <a:pt x="1092542" y="840295"/>
                  </a:lnTo>
                  <a:lnTo>
                    <a:pt x="1116812" y="780097"/>
                  </a:lnTo>
                  <a:lnTo>
                    <a:pt x="1141095" y="711517"/>
                  </a:lnTo>
                  <a:lnTo>
                    <a:pt x="1165377" y="644017"/>
                  </a:lnTo>
                  <a:lnTo>
                    <a:pt x="1189647" y="587311"/>
                  </a:lnTo>
                  <a:lnTo>
                    <a:pt x="1213929" y="549186"/>
                  </a:lnTo>
                  <a:lnTo>
                    <a:pt x="1238211" y="533615"/>
                  </a:lnTo>
                  <a:lnTo>
                    <a:pt x="1262494" y="540054"/>
                  </a:lnTo>
                  <a:lnTo>
                    <a:pt x="1286764" y="563613"/>
                  </a:lnTo>
                  <a:lnTo>
                    <a:pt x="1311046" y="596290"/>
                  </a:lnTo>
                  <a:lnTo>
                    <a:pt x="1335328" y="629132"/>
                  </a:lnTo>
                  <a:lnTo>
                    <a:pt x="1359598" y="654278"/>
                  </a:lnTo>
                  <a:lnTo>
                    <a:pt x="1383880" y="667054"/>
                  </a:lnTo>
                  <a:lnTo>
                    <a:pt x="1408163" y="666953"/>
                  </a:lnTo>
                  <a:lnTo>
                    <a:pt x="1432445" y="657809"/>
                  </a:lnTo>
                  <a:lnTo>
                    <a:pt x="1456715" y="646684"/>
                  </a:lnTo>
                  <a:lnTo>
                    <a:pt x="1480997" y="642061"/>
                  </a:lnTo>
                  <a:lnTo>
                    <a:pt x="1529549" y="680123"/>
                  </a:lnTo>
                  <a:lnTo>
                    <a:pt x="1553832" y="728205"/>
                  </a:lnTo>
                  <a:lnTo>
                    <a:pt x="1578114" y="791819"/>
                  </a:lnTo>
                  <a:lnTo>
                    <a:pt x="1602384" y="863168"/>
                  </a:lnTo>
                  <a:lnTo>
                    <a:pt x="1626666" y="932268"/>
                  </a:lnTo>
                  <a:lnTo>
                    <a:pt x="1650949" y="989241"/>
                  </a:lnTo>
                  <a:lnTo>
                    <a:pt x="1675218" y="1026477"/>
                  </a:lnTo>
                  <a:lnTo>
                    <a:pt x="1699501" y="1040257"/>
                  </a:lnTo>
                  <a:lnTo>
                    <a:pt x="1723783" y="1031519"/>
                  </a:lnTo>
                  <a:lnTo>
                    <a:pt x="1748066" y="1005408"/>
                  </a:lnTo>
                  <a:lnTo>
                    <a:pt x="1772335" y="969860"/>
                  </a:lnTo>
                  <a:lnTo>
                    <a:pt x="1796618" y="933564"/>
                  </a:lnTo>
                  <a:lnTo>
                    <a:pt x="1820900" y="903655"/>
                  </a:lnTo>
                  <a:lnTo>
                    <a:pt x="1845170" y="884059"/>
                  </a:lnTo>
                  <a:lnTo>
                    <a:pt x="1869452" y="874395"/>
                  </a:lnTo>
                  <a:lnTo>
                    <a:pt x="1893735" y="870115"/>
                  </a:lnTo>
                  <a:lnTo>
                    <a:pt x="1918017" y="863727"/>
                  </a:lnTo>
                  <a:lnTo>
                    <a:pt x="1966569" y="811580"/>
                  </a:lnTo>
                  <a:lnTo>
                    <a:pt x="1990852" y="754303"/>
                  </a:lnTo>
                  <a:lnTo>
                    <a:pt x="2015121" y="675093"/>
                  </a:lnTo>
                  <a:lnTo>
                    <a:pt x="2039404" y="578789"/>
                  </a:lnTo>
                  <a:lnTo>
                    <a:pt x="2063686" y="473849"/>
                  </a:lnTo>
                  <a:lnTo>
                    <a:pt x="2087968" y="370687"/>
                  </a:lnTo>
                  <a:lnTo>
                    <a:pt x="2112238" y="279285"/>
                  </a:lnTo>
                  <a:lnTo>
                    <a:pt x="2136521" y="207124"/>
                  </a:lnTo>
                  <a:lnTo>
                    <a:pt x="2160803" y="157594"/>
                  </a:lnTo>
                  <a:lnTo>
                    <a:pt x="2209355" y="117627"/>
                  </a:lnTo>
                  <a:lnTo>
                    <a:pt x="2257920" y="110998"/>
                  </a:lnTo>
                  <a:lnTo>
                    <a:pt x="2282190" y="101727"/>
                  </a:lnTo>
                  <a:lnTo>
                    <a:pt x="2306472" y="83477"/>
                  </a:lnTo>
                  <a:lnTo>
                    <a:pt x="2330754" y="57607"/>
                  </a:lnTo>
                  <a:lnTo>
                    <a:pt x="2355037" y="29603"/>
                  </a:lnTo>
                  <a:lnTo>
                    <a:pt x="2379306" y="7493"/>
                  </a:lnTo>
                  <a:lnTo>
                    <a:pt x="2403589" y="0"/>
                  </a:lnTo>
                  <a:lnTo>
                    <a:pt x="2427871" y="14312"/>
                  </a:lnTo>
                </a:path>
              </a:pathLst>
            </a:custGeom>
            <a:ln w="506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3127108" y="5363695"/>
            <a:ext cx="2393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-5" i="1">
                <a:latin typeface="Calibri"/>
                <a:cs typeface="Calibri"/>
              </a:rPr>
              <a:t> </a:t>
            </a:r>
            <a:r>
              <a:rPr dirty="0" sz="850" spc="40">
                <a:latin typeface="Tahoma"/>
                <a:cs typeface="Tahoma"/>
              </a:rPr>
              <a:t>(</a:t>
            </a:r>
            <a:r>
              <a:rPr dirty="0" sz="850" spc="40" i="1">
                <a:latin typeface="Calibri"/>
                <a:cs typeface="Calibri"/>
              </a:rPr>
              <a:t>x</a:t>
            </a:r>
            <a:r>
              <a:rPr dirty="0" sz="850" spc="40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67296" y="7547126"/>
            <a:ext cx="436880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guaranteed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every</a:t>
            </a:r>
            <a:r>
              <a:rPr dirty="0" sz="850" spc="20">
                <a:latin typeface="Calibri"/>
                <a:cs typeface="Calibri"/>
              </a:rPr>
              <a:t> possible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value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f</a:t>
            </a:r>
            <a:r>
              <a:rPr dirty="0" sz="850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(or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close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approximation)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e.g.: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309689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128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51215" y="926056"/>
            <a:ext cx="1857616" cy="116764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76984" y="2213667"/>
            <a:ext cx="442912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2545" marR="30480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holds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30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13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baseline="-20202" sz="825" i="1">
                <a:latin typeface="Calibri"/>
                <a:cs typeface="Calibri"/>
              </a:rPr>
              <a:t>m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m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3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2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908009" y="2651950"/>
            <a:ext cx="1944014" cy="1598409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720001" y="7451929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661654" y="4370318"/>
            <a:ext cx="4457065" cy="3644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1435" marR="70485" indent="127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universality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job.</a:t>
            </a:r>
            <a:endParaRPr sz="850">
              <a:latin typeface="Calibri"/>
              <a:cs typeface="Calibri"/>
            </a:endParaRPr>
          </a:p>
          <a:p>
            <a:pPr algn="just" marL="57785" marR="70485" indent="189230">
              <a:lnSpc>
                <a:spcPct val="114300"/>
              </a:lnSpc>
              <a:spcBef>
                <a:spcPts val="25"/>
              </a:spcBef>
            </a:pPr>
            <a:r>
              <a:rPr dirty="0" sz="850" spc="20">
                <a:latin typeface="Calibri"/>
                <a:cs typeface="Calibri"/>
              </a:rPr>
              <a:t>What’s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universality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theorem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holds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restrict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intermediate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so-called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single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extremely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powerful.</a:t>
            </a:r>
            <a:endParaRPr sz="850">
              <a:latin typeface="Calibri"/>
              <a:cs typeface="Calibri"/>
            </a:endParaRPr>
          </a:p>
          <a:p>
            <a:pPr algn="just" marL="57785" marR="47625" indent="189230">
              <a:lnSpc>
                <a:spcPct val="114300"/>
              </a:lnSpc>
              <a:spcBef>
                <a:spcPts val="2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theorem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widely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understood.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explanations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available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technical.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original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baseline="35353" sz="825" spc="15">
                <a:latin typeface="Calibri"/>
                <a:cs typeface="Calibri"/>
                <a:hlinkClick r:id="rId4" action="ppaction://hlinksldjump"/>
              </a:rPr>
              <a:t>1</a:t>
            </a:r>
            <a:r>
              <a:rPr dirty="0" baseline="35353" sz="825" spc="217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Hahn-Banach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theorem,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Riesz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Representation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theorem,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Fourier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analysis.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mathematician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difficult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pity,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since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underlying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reasons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universality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beautiful.</a:t>
            </a:r>
            <a:endParaRPr sz="850">
              <a:latin typeface="Calibri"/>
              <a:cs typeface="Calibri"/>
            </a:endParaRPr>
          </a:p>
          <a:p>
            <a:pPr algn="just" marL="50800" marR="43180" indent="196850">
              <a:lnSpc>
                <a:spcPct val="114300"/>
              </a:lnSpc>
              <a:spcBef>
                <a:spcPts val="25"/>
              </a:spcBef>
            </a:pP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theorem.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underlying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limitations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  <a:p>
            <a:pPr algn="just" marL="57785" marR="43180" indent="189230">
              <a:lnSpc>
                <a:spcPct val="114300"/>
              </a:lnSpc>
              <a:spcBef>
                <a:spcPts val="25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follow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material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chapters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enjoyable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self-contained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essay.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familiarity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follow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explanation.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occasional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links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material,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help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gaps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knowledge.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50">
              <a:latin typeface="Calibri"/>
              <a:cs typeface="Calibri"/>
            </a:endParaRPr>
          </a:p>
          <a:p>
            <a:pPr algn="just" marL="51435" marR="67310" indent="134620">
              <a:lnSpc>
                <a:spcPts val="800"/>
              </a:lnSpc>
              <a:spcBef>
                <a:spcPts val="5"/>
              </a:spcBef>
            </a:pPr>
            <a:r>
              <a:rPr dirty="0" baseline="30303" sz="825" spc="44">
                <a:latin typeface="Calibri"/>
                <a:cs typeface="Calibri"/>
              </a:rPr>
              <a:t>1</a:t>
            </a:r>
            <a:r>
              <a:rPr dirty="0" sz="750" spc="30">
                <a:latin typeface="Calibri"/>
                <a:cs typeface="Calibri"/>
                <a:hlinkClick r:id="rId5"/>
              </a:rPr>
              <a:t>Approximation</a:t>
            </a:r>
            <a:r>
              <a:rPr dirty="0" sz="750" spc="55">
                <a:latin typeface="Calibri"/>
                <a:cs typeface="Calibri"/>
                <a:hlinkClick r:id="rId5"/>
              </a:rPr>
              <a:t> </a:t>
            </a:r>
            <a:r>
              <a:rPr dirty="0" sz="750" spc="30">
                <a:latin typeface="Calibri"/>
                <a:cs typeface="Calibri"/>
                <a:hlinkClick r:id="rId5"/>
              </a:rPr>
              <a:t>by</a:t>
            </a:r>
            <a:r>
              <a:rPr dirty="0" sz="750" spc="60">
                <a:latin typeface="Calibri"/>
                <a:cs typeface="Calibri"/>
                <a:hlinkClick r:id="rId5"/>
              </a:rPr>
              <a:t> </a:t>
            </a:r>
            <a:r>
              <a:rPr dirty="0" sz="750" spc="30">
                <a:latin typeface="Calibri"/>
                <a:cs typeface="Calibri"/>
                <a:hlinkClick r:id="rId5"/>
              </a:rPr>
              <a:t>superpositions</a:t>
            </a:r>
            <a:r>
              <a:rPr dirty="0" sz="750" spc="55">
                <a:latin typeface="Calibri"/>
                <a:cs typeface="Calibri"/>
                <a:hlinkClick r:id="rId5"/>
              </a:rPr>
              <a:t> </a:t>
            </a:r>
            <a:r>
              <a:rPr dirty="0" sz="750" spc="30">
                <a:latin typeface="Calibri"/>
                <a:cs typeface="Calibri"/>
                <a:hlinkClick r:id="rId5"/>
              </a:rPr>
              <a:t>of</a:t>
            </a:r>
            <a:r>
              <a:rPr dirty="0" sz="750" spc="60">
                <a:latin typeface="Calibri"/>
                <a:cs typeface="Calibri"/>
                <a:hlinkClick r:id="rId5"/>
              </a:rPr>
              <a:t> </a:t>
            </a:r>
            <a:r>
              <a:rPr dirty="0" sz="750" spc="30">
                <a:latin typeface="Calibri"/>
                <a:cs typeface="Calibri"/>
                <a:hlinkClick r:id="rId5"/>
              </a:rPr>
              <a:t>a</a:t>
            </a:r>
            <a:r>
              <a:rPr dirty="0" sz="750" spc="55">
                <a:latin typeface="Calibri"/>
                <a:cs typeface="Calibri"/>
                <a:hlinkClick r:id="rId5"/>
              </a:rPr>
              <a:t> </a:t>
            </a:r>
            <a:r>
              <a:rPr dirty="0" sz="750" spc="30">
                <a:latin typeface="Calibri"/>
                <a:cs typeface="Calibri"/>
                <a:hlinkClick r:id="rId5"/>
              </a:rPr>
              <a:t>sigmoidal</a:t>
            </a:r>
            <a:r>
              <a:rPr dirty="0" sz="750" spc="60">
                <a:latin typeface="Calibri"/>
                <a:cs typeface="Calibri"/>
                <a:hlinkClick r:id="rId5"/>
              </a:rPr>
              <a:t> </a:t>
            </a:r>
            <a:r>
              <a:rPr dirty="0" sz="750" spc="30">
                <a:latin typeface="Calibri"/>
                <a:cs typeface="Calibri"/>
                <a:hlinkClick r:id="rId5"/>
              </a:rPr>
              <a:t>function</a:t>
            </a:r>
            <a:r>
              <a:rPr dirty="0" sz="750" spc="30">
                <a:latin typeface="Calibri"/>
                <a:cs typeface="Calibri"/>
              </a:rPr>
              <a:t>,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by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George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Cybenko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(1989).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The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result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was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very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much</a:t>
            </a:r>
            <a:r>
              <a:rPr dirty="0" sz="750" spc="229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air</a:t>
            </a:r>
            <a:r>
              <a:rPr dirty="0" sz="750" spc="229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at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229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time,</a:t>
            </a:r>
            <a:r>
              <a:rPr dirty="0" sz="750" spc="2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several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groups</a:t>
            </a:r>
            <a:r>
              <a:rPr dirty="0" sz="750" spc="229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proved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closely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related</a:t>
            </a:r>
            <a:r>
              <a:rPr dirty="0" sz="750" spc="229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results.</a:t>
            </a:r>
            <a:r>
              <a:rPr dirty="0" sz="750" spc="49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Cybenko’s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paper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contains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useful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discussion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much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work.</a:t>
            </a:r>
            <a:r>
              <a:rPr dirty="0" sz="750" spc="2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Another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important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early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paper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  <a:hlinkClick r:id="rId6"/>
              </a:rPr>
              <a:t>Multilayer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feedforward</a:t>
            </a:r>
            <a:r>
              <a:rPr dirty="0" sz="750" spc="125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networks</a:t>
            </a:r>
            <a:r>
              <a:rPr dirty="0" sz="750" spc="130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are</a:t>
            </a:r>
            <a:r>
              <a:rPr dirty="0" sz="750" spc="130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universal</a:t>
            </a:r>
            <a:r>
              <a:rPr dirty="0" sz="750" spc="130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approximators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Kurt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Hornik,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Maxwell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Stinchcombe,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Halbert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White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(1989).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paper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uses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Stone-Weierstrass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theorem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arrive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similar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results.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-2530" y="2267988"/>
            <a:ext cx="344170" cy="472440"/>
            <a:chOff x="-2530" y="2267988"/>
            <a:chExt cx="344170" cy="472440"/>
          </a:xfrm>
        </p:grpSpPr>
        <p:sp>
          <p:nvSpPr>
            <p:cNvPr id="9" name="object 9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66570"/>
                  </a:lnTo>
                  <a:lnTo>
                    <a:pt x="2525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0" y="466570"/>
                  </a:moveTo>
                  <a:lnTo>
                    <a:pt x="2525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25831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6652" y="368721"/>
            <a:ext cx="4669790" cy="30873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30480">
              <a:lnSpc>
                <a:spcPts val="525"/>
              </a:lnSpc>
              <a:spcBef>
                <a:spcPts val="110"/>
              </a:spcBef>
              <a:tabLst>
                <a:tab pos="993140" algn="l"/>
              </a:tabLst>
            </a:pPr>
            <a:r>
              <a:rPr dirty="0" sz="850">
                <a:latin typeface="Calibri"/>
                <a:cs typeface="Calibri"/>
              </a:rPr>
              <a:t>4.1.</a:t>
            </a:r>
            <a:r>
              <a:rPr dirty="0" sz="850" spc="4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caveats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129</a:t>
            </a:r>
            <a:endParaRPr sz="850">
              <a:latin typeface="Calibri"/>
              <a:cs typeface="Calibri"/>
            </a:endParaRPr>
          </a:p>
          <a:p>
            <a:pPr algn="r" marR="2889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100" marR="270510" indent="194945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Universality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theorems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commonplace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science,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forget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astonishing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reminding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ourselves: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ability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arbitrary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remarkable.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Almost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imagine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computation.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piece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music</a:t>
            </a:r>
            <a:r>
              <a:rPr dirty="0" sz="850" spc="20">
                <a:latin typeface="Calibri"/>
                <a:cs typeface="Calibri"/>
              </a:rPr>
              <a:t> based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short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sample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piece.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thought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Or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translating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Chinese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text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English.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thought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2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Or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mp4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movie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file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generating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description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plot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movie,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quality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acting.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kind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computation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3</a:t>
            </a:r>
            <a:r>
              <a:rPr dirty="0" baseline="35353" sz="825" spc="3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more.</a:t>
            </a:r>
            <a:endParaRPr sz="850">
              <a:latin typeface="Calibri"/>
              <a:cs typeface="Calibri"/>
            </a:endParaRPr>
          </a:p>
          <a:p>
            <a:pPr algn="just" marL="43180" marR="26797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exists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(say)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translate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Chinese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text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English,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constructing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even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limitation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traditional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theorems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Boolean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circuits.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combination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50">
                <a:latin typeface="Lucida Sans Unicode"/>
                <a:cs typeface="Lucida Sans Unicode"/>
              </a:rPr>
              <a:t>+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attractive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mix.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focused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algorithms.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focus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universality,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means.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7296" y="3661018"/>
            <a:ext cx="4373245" cy="14998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9725" algn="l"/>
              </a:tabLst>
            </a:pPr>
            <a:r>
              <a:rPr dirty="0" sz="1050" spc="30" b="1">
                <a:latin typeface="Calibri"/>
                <a:cs typeface="Calibri"/>
              </a:rPr>
              <a:t>4.1</a:t>
            </a:r>
            <a:r>
              <a:rPr dirty="0" sz="1050" b="1">
                <a:latin typeface="Calibri"/>
                <a:cs typeface="Calibri"/>
              </a:rPr>
              <a:t>	Two</a:t>
            </a:r>
            <a:r>
              <a:rPr dirty="0" sz="1050" spc="180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caveats</a:t>
            </a:r>
            <a:endParaRPr sz="1050">
              <a:latin typeface="Calibri"/>
              <a:cs typeface="Calibri"/>
            </a:endParaRPr>
          </a:p>
          <a:p>
            <a:pPr algn="just" marL="12700" marR="32384">
              <a:lnSpc>
                <a:spcPct val="114300"/>
              </a:lnSpc>
              <a:spcBef>
                <a:spcPts val="1019"/>
              </a:spcBef>
            </a:pPr>
            <a:r>
              <a:rPr dirty="0" sz="850" spc="10">
                <a:latin typeface="Calibri"/>
                <a:cs typeface="Calibri"/>
              </a:rPr>
              <a:t>Before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theorem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true,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mention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caveats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statement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function”.</a:t>
            </a:r>
            <a:endParaRPr sz="850">
              <a:latin typeface="Calibri"/>
              <a:cs typeface="Calibri"/>
            </a:endParaRPr>
          </a:p>
          <a:p>
            <a:pPr algn="just" marL="12700" marR="508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First,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exactly</a:t>
            </a:r>
            <a:r>
              <a:rPr dirty="0" sz="850" spc="20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approximation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increasing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approximation.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(see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  <a:hlinkClick r:id="rId3" action="ppaction://hlinksldjump"/>
              </a:rPr>
              <a:t>4)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illustrated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f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Tahoma"/>
                <a:cs typeface="Tahoma"/>
              </a:rPr>
              <a:t>)</a:t>
            </a:r>
            <a:r>
              <a:rPr dirty="0" sz="850" spc="4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low-quality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increasing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(say,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five)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typically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approximation: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311209" y="5265356"/>
            <a:ext cx="1857616" cy="2016836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1079996" y="7636748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029196" y="7409781"/>
            <a:ext cx="4422140" cy="6045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  <a:p>
            <a:pPr marL="50800" marR="43180" indent="127635">
              <a:lnSpc>
                <a:spcPts val="800"/>
              </a:lnSpc>
              <a:spcBef>
                <a:spcPts val="1000"/>
              </a:spcBef>
            </a:pPr>
            <a:r>
              <a:rPr dirty="0" baseline="30303" sz="825" spc="15">
                <a:latin typeface="Calibri"/>
                <a:cs typeface="Calibri"/>
              </a:rPr>
              <a:t>2</a:t>
            </a:r>
            <a:r>
              <a:rPr dirty="0" sz="750" spc="10">
                <a:latin typeface="Calibri"/>
                <a:cs typeface="Calibri"/>
              </a:rPr>
              <a:t>Actually,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computing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many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functions,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since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there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often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many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acceptable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translations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-50">
                <a:latin typeface="Calibri"/>
                <a:cs typeface="Calibri"/>
              </a:rPr>
              <a:t>a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given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piece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text.</a:t>
            </a:r>
            <a:endParaRPr sz="750">
              <a:latin typeface="Calibri"/>
              <a:cs typeface="Calibri"/>
            </a:endParaRPr>
          </a:p>
          <a:p>
            <a:pPr marL="178435">
              <a:lnSpc>
                <a:spcPct val="100000"/>
              </a:lnSpc>
              <a:spcBef>
                <a:spcPts val="25"/>
              </a:spcBef>
            </a:pPr>
            <a:r>
              <a:rPr dirty="0" baseline="30303" sz="825" spc="15">
                <a:latin typeface="Calibri"/>
                <a:cs typeface="Calibri"/>
              </a:rPr>
              <a:t>3</a:t>
            </a:r>
            <a:r>
              <a:rPr dirty="0" sz="750" spc="10">
                <a:latin typeface="Calibri"/>
                <a:cs typeface="Calibri"/>
              </a:rPr>
              <a:t>Ditto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remark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about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translation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there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being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many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possible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functions..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2267988"/>
            <a:ext cx="344170" cy="472440"/>
            <a:chOff x="5778788" y="2267988"/>
            <a:chExt cx="344170" cy="472440"/>
          </a:xfrm>
        </p:grpSpPr>
        <p:sp>
          <p:nvSpPr>
            <p:cNvPr id="8" name="object 8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39310" cy="11626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130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06070" marR="5080" indent="18923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statement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precise,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Tahoma"/>
                <a:cs typeface="Tahoma"/>
              </a:rPr>
              <a:t>)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we’d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20" i="1">
                <a:latin typeface="Times New Roman"/>
                <a:cs typeface="Times New Roman"/>
              </a:rPr>
              <a:t>ε</a:t>
            </a:r>
            <a:r>
              <a:rPr dirty="0" sz="850" spc="195" i="1">
                <a:latin typeface="Times New Roman"/>
                <a:cs typeface="Times New Roman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&gt;</a:t>
            </a:r>
            <a:r>
              <a:rPr dirty="0" sz="850" spc="195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4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guarantee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whose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g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x</a:t>
            </a:r>
            <a:r>
              <a:rPr dirty="0" sz="850" spc="60">
                <a:latin typeface="Tahoma"/>
                <a:cs typeface="Tahoma"/>
              </a:rPr>
              <a:t>)</a:t>
            </a:r>
            <a:r>
              <a:rPr dirty="0" sz="850" spc="114">
                <a:latin typeface="Tahoma"/>
                <a:cs typeface="Tahoma"/>
              </a:rPr>
              <a:t> </a:t>
            </a:r>
            <a:r>
              <a:rPr dirty="0" sz="850" spc="-10">
                <a:latin typeface="Calibri"/>
                <a:cs typeface="Calibri"/>
              </a:rPr>
              <a:t>satisfies</a:t>
            </a:r>
            <a:endParaRPr sz="850">
              <a:latin typeface="Calibri"/>
              <a:cs typeface="Calibri"/>
            </a:endParaRPr>
          </a:p>
          <a:p>
            <a:pPr marL="306070">
              <a:lnSpc>
                <a:spcPct val="100000"/>
              </a:lnSpc>
              <a:spcBef>
                <a:spcPts val="145"/>
              </a:spcBef>
            </a:pPr>
            <a:r>
              <a:rPr dirty="0" sz="850" spc="50">
                <a:latin typeface="Cambria"/>
                <a:cs typeface="Cambria"/>
              </a:rPr>
              <a:t>|</a:t>
            </a:r>
            <a:r>
              <a:rPr dirty="0" sz="850" spc="50" i="1">
                <a:latin typeface="Calibri"/>
                <a:cs typeface="Calibri"/>
              </a:rPr>
              <a:t>g</a:t>
            </a:r>
            <a:r>
              <a:rPr dirty="0" sz="850" spc="50">
                <a:latin typeface="Tahoma"/>
                <a:cs typeface="Tahoma"/>
              </a:rPr>
              <a:t>(</a:t>
            </a:r>
            <a:r>
              <a:rPr dirty="0" sz="850" spc="50" i="1">
                <a:latin typeface="Calibri"/>
                <a:cs typeface="Calibri"/>
              </a:rPr>
              <a:t>x</a:t>
            </a:r>
            <a:r>
              <a:rPr dirty="0" sz="850" spc="50">
                <a:latin typeface="Tahoma"/>
                <a:cs typeface="Tahoma"/>
              </a:rPr>
              <a:t>)</a:t>
            </a:r>
            <a:r>
              <a:rPr dirty="0" sz="850" spc="-100">
                <a:latin typeface="Tahoma"/>
                <a:cs typeface="Tahoma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95">
                <a:latin typeface="Cambria"/>
                <a:cs typeface="Cambria"/>
              </a:rPr>
              <a:t> </a:t>
            </a:r>
            <a:r>
              <a:rPr dirty="0" sz="850" spc="10" i="1">
                <a:latin typeface="Calibri"/>
                <a:cs typeface="Calibri"/>
              </a:rPr>
              <a:t>f</a:t>
            </a:r>
            <a:r>
              <a:rPr dirty="0" sz="850" spc="3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mbria"/>
                <a:cs typeface="Cambria"/>
              </a:rPr>
              <a:t>|</a:t>
            </a:r>
            <a:r>
              <a:rPr dirty="0" sz="850" spc="30">
                <a:latin typeface="Cambria"/>
                <a:cs typeface="Cambri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&lt;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70" i="1">
                <a:latin typeface="Times New Roman"/>
                <a:cs typeface="Times New Roman"/>
              </a:rPr>
              <a:t>ε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within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0851" y="1470679"/>
            <a:ext cx="4379595" cy="2055495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algn="just" marL="19050">
              <a:lnSpc>
                <a:spcPct val="100000"/>
              </a:lnSpc>
              <a:spcBef>
                <a:spcPts val="52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input.</a:t>
            </a:r>
            <a:endParaRPr sz="850">
              <a:latin typeface="Calibri"/>
              <a:cs typeface="Calibri"/>
            </a:endParaRPr>
          </a:p>
          <a:p>
            <a:pPr algn="just" marL="19050" marR="5080" indent="189230">
              <a:lnSpc>
                <a:spcPct val="114300"/>
              </a:lnSpc>
              <a:spcBef>
                <a:spcPts val="27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caveat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way</a:t>
            </a:r>
            <a:r>
              <a:rPr dirty="0" sz="850" spc="20">
                <a:latin typeface="Calibri"/>
                <a:cs typeface="Calibri"/>
              </a:rPr>
              <a:t> described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continuous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discontinuous,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i.e.,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sudden,</a:t>
            </a:r>
            <a:r>
              <a:rPr dirty="0" sz="850" spc="20">
                <a:latin typeface="Calibri"/>
                <a:cs typeface="Calibri"/>
              </a:rPr>
              <a:t> sharp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jumps,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possible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surprising,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continuous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their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input.</a:t>
            </a:r>
            <a:r>
              <a:rPr dirty="0" sz="850" spc="20">
                <a:latin typeface="Calibri"/>
                <a:cs typeface="Calibri"/>
              </a:rPr>
              <a:t> However,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discontinuous,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often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continuous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important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limitation.</a:t>
            </a:r>
            <a:endParaRPr sz="850">
              <a:latin typeface="Calibri"/>
              <a:cs typeface="Calibri"/>
            </a:endParaRPr>
          </a:p>
          <a:p>
            <a:pPr algn="just" marL="12700" marR="32384" indent="196215">
              <a:lnSpc>
                <a:spcPct val="114300"/>
              </a:lnSpc>
              <a:spcBef>
                <a:spcPts val="275"/>
              </a:spcBef>
            </a:pPr>
            <a:r>
              <a:rPr dirty="0" sz="850">
                <a:latin typeface="Calibri"/>
                <a:cs typeface="Calibri"/>
              </a:rPr>
              <a:t>Summing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precise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statement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universality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theorem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approximate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continuous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desired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precision.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slightly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weaker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version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briefly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outline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explanation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tweaks,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adapted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2384" y="3928152"/>
            <a:ext cx="4350385" cy="1226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145">
              <a:lnSpc>
                <a:spcPct val="100000"/>
              </a:lnSpc>
              <a:spcBef>
                <a:spcPts val="100"/>
              </a:spcBef>
              <a:tabLst>
                <a:tab pos="344805" algn="l"/>
              </a:tabLst>
            </a:pPr>
            <a:r>
              <a:rPr dirty="0" sz="1050" spc="30" b="1">
                <a:latin typeface="Calibri"/>
                <a:cs typeface="Calibri"/>
              </a:rPr>
              <a:t>4.2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30" b="1">
                <a:latin typeface="Calibri"/>
                <a:cs typeface="Calibri"/>
              </a:rPr>
              <a:t>Universality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30" b="1">
                <a:latin typeface="Calibri"/>
                <a:cs typeface="Calibri"/>
              </a:rPr>
              <a:t>with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30" b="1">
                <a:latin typeface="Calibri"/>
                <a:cs typeface="Calibri"/>
              </a:rPr>
              <a:t>one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input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65" b="1">
                <a:latin typeface="Calibri"/>
                <a:cs typeface="Calibri"/>
              </a:rPr>
              <a:t>and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30" b="1">
                <a:latin typeface="Calibri"/>
                <a:cs typeface="Calibri"/>
              </a:rPr>
              <a:t>one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output</a:t>
            </a:r>
            <a:endParaRPr sz="10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0"/>
              </a:spcBef>
            </a:pPr>
            <a:endParaRPr sz="1050">
              <a:latin typeface="Calibri"/>
              <a:cs typeface="Calibri"/>
            </a:endParaRPr>
          </a:p>
          <a:p>
            <a:pPr algn="just" marL="17145" marR="5080" indent="-508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universality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theorem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true,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start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construct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approximates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Calibri"/>
              <a:cs typeface="Calibri"/>
            </a:endParaRPr>
          </a:p>
          <a:p>
            <a:pPr algn="ctr" marL="17780">
              <a:lnSpc>
                <a:spcPct val="100000"/>
              </a:lnSpc>
            </a:pP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-5" i="1">
                <a:latin typeface="Calibri"/>
                <a:cs typeface="Calibri"/>
              </a:rPr>
              <a:t> </a:t>
            </a:r>
            <a:r>
              <a:rPr dirty="0" sz="850" spc="40">
                <a:latin typeface="Tahoma"/>
                <a:cs typeface="Tahoma"/>
              </a:rPr>
              <a:t>(</a:t>
            </a:r>
            <a:r>
              <a:rPr dirty="0" sz="850" spc="40" i="1">
                <a:latin typeface="Calibri"/>
                <a:cs typeface="Calibri"/>
              </a:rPr>
              <a:t>x</a:t>
            </a:r>
            <a:r>
              <a:rPr dirty="0" sz="850" spc="40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544688" y="5258777"/>
            <a:ext cx="2670810" cy="1590675"/>
            <a:chOff x="1544688" y="5258777"/>
            <a:chExt cx="2670810" cy="1590675"/>
          </a:xfrm>
        </p:grpSpPr>
        <p:sp>
          <p:nvSpPr>
            <p:cNvPr id="6" name="object 6"/>
            <p:cNvSpPr/>
            <p:nvPr/>
          </p:nvSpPr>
          <p:spPr>
            <a:xfrm>
              <a:off x="1544688" y="6773684"/>
              <a:ext cx="2645410" cy="0"/>
            </a:xfrm>
            <a:custGeom>
              <a:avLst/>
              <a:gdLst/>
              <a:ahLst/>
              <a:cxnLst/>
              <a:rect l="l" t="t" r="r" b="b"/>
              <a:pathLst>
                <a:path w="2645410" h="0">
                  <a:moveTo>
                    <a:pt x="0" y="0"/>
                  </a:moveTo>
                  <a:lnTo>
                    <a:pt x="2645359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174858" y="675344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0" y="0"/>
                  </a:moveTo>
                  <a:lnTo>
                    <a:pt x="15189" y="20243"/>
                  </a:lnTo>
                  <a:lnTo>
                    <a:pt x="0" y="40487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666087" y="5284088"/>
              <a:ext cx="0" cy="1565910"/>
            </a:xfrm>
            <a:custGeom>
              <a:avLst/>
              <a:gdLst/>
              <a:ahLst/>
              <a:cxnLst/>
              <a:rect l="l" t="t" r="r" b="b"/>
              <a:pathLst>
                <a:path w="0" h="1565909">
                  <a:moveTo>
                    <a:pt x="0" y="1565338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645831" y="525877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56" y="0"/>
                  </a:moveTo>
                  <a:lnTo>
                    <a:pt x="0" y="40487"/>
                  </a:lnTo>
                  <a:lnTo>
                    <a:pt x="20256" y="25311"/>
                  </a:lnTo>
                  <a:lnTo>
                    <a:pt x="40500" y="40487"/>
                  </a:lnTo>
                  <a:lnTo>
                    <a:pt x="202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666087" y="5481827"/>
              <a:ext cx="2428240" cy="1145540"/>
            </a:xfrm>
            <a:custGeom>
              <a:avLst/>
              <a:gdLst/>
              <a:ahLst/>
              <a:cxnLst/>
              <a:rect l="l" t="t" r="r" b="b"/>
              <a:pathLst>
                <a:path w="2428240" h="1145540">
                  <a:moveTo>
                    <a:pt x="0" y="913130"/>
                  </a:moveTo>
                  <a:lnTo>
                    <a:pt x="24269" y="921664"/>
                  </a:lnTo>
                  <a:lnTo>
                    <a:pt x="48552" y="945019"/>
                  </a:lnTo>
                  <a:lnTo>
                    <a:pt x="72834" y="977036"/>
                  </a:lnTo>
                  <a:lnTo>
                    <a:pt x="97104" y="1009154"/>
                  </a:lnTo>
                  <a:lnTo>
                    <a:pt x="121386" y="1032548"/>
                  </a:lnTo>
                  <a:lnTo>
                    <a:pt x="169951" y="1029233"/>
                  </a:lnTo>
                  <a:lnTo>
                    <a:pt x="218503" y="960018"/>
                  </a:lnTo>
                  <a:lnTo>
                    <a:pt x="242785" y="916000"/>
                  </a:lnTo>
                  <a:lnTo>
                    <a:pt x="267055" y="878039"/>
                  </a:lnTo>
                  <a:lnTo>
                    <a:pt x="291338" y="854316"/>
                  </a:lnTo>
                  <a:lnTo>
                    <a:pt x="315620" y="849782"/>
                  </a:lnTo>
                  <a:lnTo>
                    <a:pt x="339902" y="864971"/>
                  </a:lnTo>
                  <a:lnTo>
                    <a:pt x="364172" y="895946"/>
                  </a:lnTo>
                  <a:lnTo>
                    <a:pt x="388454" y="935266"/>
                  </a:lnTo>
                  <a:lnTo>
                    <a:pt x="412737" y="973874"/>
                  </a:lnTo>
                  <a:lnTo>
                    <a:pt x="437007" y="1003300"/>
                  </a:lnTo>
                  <a:lnTo>
                    <a:pt x="461289" y="1017701"/>
                  </a:lnTo>
                  <a:lnTo>
                    <a:pt x="485571" y="1015365"/>
                  </a:lnTo>
                  <a:lnTo>
                    <a:pt x="509854" y="998969"/>
                  </a:lnTo>
                  <a:lnTo>
                    <a:pt x="534123" y="974979"/>
                  </a:lnTo>
                  <a:lnTo>
                    <a:pt x="558406" y="951941"/>
                  </a:lnTo>
                  <a:lnTo>
                    <a:pt x="582688" y="938326"/>
                  </a:lnTo>
                  <a:lnTo>
                    <a:pt x="606958" y="940358"/>
                  </a:lnTo>
                  <a:lnTo>
                    <a:pt x="631240" y="960437"/>
                  </a:lnTo>
                  <a:lnTo>
                    <a:pt x="655523" y="996391"/>
                  </a:lnTo>
                  <a:lnTo>
                    <a:pt x="679792" y="1041920"/>
                  </a:lnTo>
                  <a:lnTo>
                    <a:pt x="704075" y="1088021"/>
                  </a:lnTo>
                  <a:lnTo>
                    <a:pt x="728357" y="1125143"/>
                  </a:lnTo>
                  <a:lnTo>
                    <a:pt x="752627" y="1145349"/>
                  </a:lnTo>
                  <a:lnTo>
                    <a:pt x="776909" y="1144219"/>
                  </a:lnTo>
                  <a:lnTo>
                    <a:pt x="801192" y="1121841"/>
                  </a:lnTo>
                  <a:lnTo>
                    <a:pt x="825474" y="1082713"/>
                  </a:lnTo>
                  <a:lnTo>
                    <a:pt x="849744" y="1034643"/>
                  </a:lnTo>
                  <a:lnTo>
                    <a:pt x="874026" y="986751"/>
                  </a:lnTo>
                  <a:lnTo>
                    <a:pt x="898309" y="947280"/>
                  </a:lnTo>
                  <a:lnTo>
                    <a:pt x="922578" y="921588"/>
                  </a:lnTo>
                  <a:lnTo>
                    <a:pt x="946861" y="910831"/>
                  </a:lnTo>
                  <a:lnTo>
                    <a:pt x="971143" y="911796"/>
                  </a:lnTo>
                  <a:lnTo>
                    <a:pt x="995426" y="917778"/>
                  </a:lnTo>
                  <a:lnTo>
                    <a:pt x="1019695" y="920254"/>
                  </a:lnTo>
                  <a:lnTo>
                    <a:pt x="1068260" y="884999"/>
                  </a:lnTo>
                  <a:lnTo>
                    <a:pt x="1092530" y="840282"/>
                  </a:lnTo>
                  <a:lnTo>
                    <a:pt x="1116812" y="780084"/>
                  </a:lnTo>
                  <a:lnTo>
                    <a:pt x="1141095" y="711504"/>
                  </a:lnTo>
                  <a:lnTo>
                    <a:pt x="1165377" y="644004"/>
                  </a:lnTo>
                  <a:lnTo>
                    <a:pt x="1189647" y="587298"/>
                  </a:lnTo>
                  <a:lnTo>
                    <a:pt x="1213929" y="549173"/>
                  </a:lnTo>
                  <a:lnTo>
                    <a:pt x="1238211" y="533603"/>
                  </a:lnTo>
                  <a:lnTo>
                    <a:pt x="1262481" y="540042"/>
                  </a:lnTo>
                  <a:lnTo>
                    <a:pt x="1286764" y="563600"/>
                  </a:lnTo>
                  <a:lnTo>
                    <a:pt x="1311046" y="596277"/>
                  </a:lnTo>
                  <a:lnTo>
                    <a:pt x="1335328" y="629119"/>
                  </a:lnTo>
                  <a:lnTo>
                    <a:pt x="1359598" y="654265"/>
                  </a:lnTo>
                  <a:lnTo>
                    <a:pt x="1383880" y="667042"/>
                  </a:lnTo>
                  <a:lnTo>
                    <a:pt x="1408163" y="666940"/>
                  </a:lnTo>
                  <a:lnTo>
                    <a:pt x="1432445" y="657796"/>
                  </a:lnTo>
                  <a:lnTo>
                    <a:pt x="1456715" y="646671"/>
                  </a:lnTo>
                  <a:lnTo>
                    <a:pt x="1480997" y="642048"/>
                  </a:lnTo>
                  <a:lnTo>
                    <a:pt x="1529549" y="680110"/>
                  </a:lnTo>
                  <a:lnTo>
                    <a:pt x="1553832" y="728192"/>
                  </a:lnTo>
                  <a:lnTo>
                    <a:pt x="1578114" y="791806"/>
                  </a:lnTo>
                  <a:lnTo>
                    <a:pt x="1602397" y="863155"/>
                  </a:lnTo>
                  <a:lnTo>
                    <a:pt x="1626666" y="932256"/>
                  </a:lnTo>
                  <a:lnTo>
                    <a:pt x="1650949" y="989228"/>
                  </a:lnTo>
                  <a:lnTo>
                    <a:pt x="1675231" y="1026464"/>
                  </a:lnTo>
                  <a:lnTo>
                    <a:pt x="1699501" y="1040244"/>
                  </a:lnTo>
                  <a:lnTo>
                    <a:pt x="1723783" y="1031506"/>
                  </a:lnTo>
                  <a:lnTo>
                    <a:pt x="1748053" y="1005408"/>
                  </a:lnTo>
                  <a:lnTo>
                    <a:pt x="1772335" y="969848"/>
                  </a:lnTo>
                  <a:lnTo>
                    <a:pt x="1796618" y="933551"/>
                  </a:lnTo>
                  <a:lnTo>
                    <a:pt x="1820900" y="903643"/>
                  </a:lnTo>
                  <a:lnTo>
                    <a:pt x="1845170" y="884047"/>
                  </a:lnTo>
                  <a:lnTo>
                    <a:pt x="1869452" y="874395"/>
                  </a:lnTo>
                  <a:lnTo>
                    <a:pt x="1893735" y="870102"/>
                  </a:lnTo>
                  <a:lnTo>
                    <a:pt x="1918017" y="863714"/>
                  </a:lnTo>
                  <a:lnTo>
                    <a:pt x="1966569" y="811568"/>
                  </a:lnTo>
                  <a:lnTo>
                    <a:pt x="1990852" y="754291"/>
                  </a:lnTo>
                  <a:lnTo>
                    <a:pt x="2015121" y="675081"/>
                  </a:lnTo>
                  <a:lnTo>
                    <a:pt x="2039404" y="578777"/>
                  </a:lnTo>
                  <a:lnTo>
                    <a:pt x="2063686" y="473837"/>
                  </a:lnTo>
                  <a:lnTo>
                    <a:pt x="2087968" y="370674"/>
                  </a:lnTo>
                  <a:lnTo>
                    <a:pt x="2112238" y="279273"/>
                  </a:lnTo>
                  <a:lnTo>
                    <a:pt x="2136521" y="207111"/>
                  </a:lnTo>
                  <a:lnTo>
                    <a:pt x="2160803" y="157581"/>
                  </a:lnTo>
                  <a:lnTo>
                    <a:pt x="2209355" y="117614"/>
                  </a:lnTo>
                  <a:lnTo>
                    <a:pt x="2257920" y="110985"/>
                  </a:lnTo>
                  <a:lnTo>
                    <a:pt x="2282190" y="101714"/>
                  </a:lnTo>
                  <a:lnTo>
                    <a:pt x="2306472" y="83451"/>
                  </a:lnTo>
                  <a:lnTo>
                    <a:pt x="2330754" y="57594"/>
                  </a:lnTo>
                  <a:lnTo>
                    <a:pt x="2355024" y="29591"/>
                  </a:lnTo>
                  <a:lnTo>
                    <a:pt x="2379306" y="7467"/>
                  </a:lnTo>
                  <a:lnTo>
                    <a:pt x="2403589" y="0"/>
                  </a:lnTo>
                  <a:lnTo>
                    <a:pt x="2427871" y="14300"/>
                  </a:lnTo>
                </a:path>
              </a:pathLst>
            </a:custGeom>
            <a:ln w="506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7299" y="7067849"/>
            <a:ext cx="4349750" cy="949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universality.</a:t>
            </a:r>
            <a:r>
              <a:rPr dirty="0" sz="850" spc="4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Once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understood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special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extend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many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outputs.</a:t>
            </a:r>
            <a:endParaRPr sz="850">
              <a:latin typeface="Calibri"/>
              <a:cs typeface="Calibri"/>
            </a:endParaRPr>
          </a:p>
          <a:p>
            <a:pPr algn="just" marL="12700" marR="5080" indent="189230">
              <a:lnSpc>
                <a:spcPct val="114300"/>
              </a:lnSpc>
              <a:spcBef>
                <a:spcPts val="280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insight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construct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containing just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containing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-2530" y="2267988"/>
            <a:ext cx="344170" cy="472440"/>
            <a:chOff x="-2530" y="2267988"/>
            <a:chExt cx="344170" cy="472440"/>
          </a:xfrm>
        </p:grpSpPr>
        <p:sp>
          <p:nvSpPr>
            <p:cNvPr id="13" name="object 13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66570"/>
                  </a:lnTo>
                  <a:lnTo>
                    <a:pt x="2525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0" y="466570"/>
                  </a:moveTo>
                  <a:lnTo>
                    <a:pt x="2525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25831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95396" y="368721"/>
            <a:ext cx="268541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489835" algn="l"/>
              </a:tabLst>
            </a:pPr>
            <a:r>
              <a:rPr dirty="0" sz="850" spc="10">
                <a:latin typeface="Calibri"/>
                <a:cs typeface="Calibri"/>
              </a:rPr>
              <a:t>4.2.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131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68004" y="926058"/>
            <a:ext cx="1944103" cy="139443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62380" y="2496484"/>
            <a:ext cx="4378325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components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focus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diagram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below,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click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drag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immediately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changes: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407693" y="3563594"/>
            <a:ext cx="2699385" cy="1403350"/>
            <a:chOff x="1407693" y="3563594"/>
            <a:chExt cx="2699385" cy="1403350"/>
          </a:xfrm>
        </p:grpSpPr>
        <p:sp>
          <p:nvSpPr>
            <p:cNvPr id="6" name="object 6"/>
            <p:cNvSpPr/>
            <p:nvPr/>
          </p:nvSpPr>
          <p:spPr>
            <a:xfrm>
              <a:off x="1435963" y="4911229"/>
              <a:ext cx="2543810" cy="54610"/>
            </a:xfrm>
            <a:custGeom>
              <a:avLst/>
              <a:gdLst/>
              <a:ahLst/>
              <a:cxnLst/>
              <a:rect l="l" t="t" r="r" b="b"/>
              <a:pathLst>
                <a:path w="2543810" h="54610">
                  <a:moveTo>
                    <a:pt x="0" y="54000"/>
                  </a:moveTo>
                  <a:lnTo>
                    <a:pt x="0" y="0"/>
                  </a:lnTo>
                </a:path>
                <a:path w="2543810" h="54610">
                  <a:moveTo>
                    <a:pt x="2543479" y="54000"/>
                  </a:moveTo>
                  <a:lnTo>
                    <a:pt x="254347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408963" y="3629215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09" h="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435963" y="4938229"/>
              <a:ext cx="2645410" cy="0"/>
            </a:xfrm>
            <a:custGeom>
              <a:avLst/>
              <a:gdLst/>
              <a:ahLst/>
              <a:cxnLst/>
              <a:rect l="l" t="t" r="r" b="b"/>
              <a:pathLst>
                <a:path w="2645410" h="0">
                  <a:moveTo>
                    <a:pt x="0" y="0"/>
                  </a:moveTo>
                  <a:lnTo>
                    <a:pt x="2645346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066133" y="491798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76" y="20243"/>
                  </a:lnTo>
                  <a:lnTo>
                    <a:pt x="0" y="40487"/>
                  </a:lnTo>
                  <a:lnTo>
                    <a:pt x="40474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435963" y="3588905"/>
              <a:ext cx="0" cy="1349375"/>
            </a:xfrm>
            <a:custGeom>
              <a:avLst/>
              <a:gdLst/>
              <a:ahLst/>
              <a:cxnLst/>
              <a:rect l="l" t="t" r="r" b="b"/>
              <a:pathLst>
                <a:path w="0" h="1349375">
                  <a:moveTo>
                    <a:pt x="0" y="1349324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415719" y="356359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20243" y="0"/>
                  </a:moveTo>
                  <a:lnTo>
                    <a:pt x="0" y="40487"/>
                  </a:lnTo>
                  <a:lnTo>
                    <a:pt x="20243" y="25311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1392872" y="4957231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936311" y="4957231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96516" y="3544356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33433" y="3635486"/>
            <a:ext cx="2548890" cy="1305560"/>
            <a:chOff x="1433433" y="3635486"/>
            <a:chExt cx="2548890" cy="1305560"/>
          </a:xfrm>
        </p:grpSpPr>
        <p:sp>
          <p:nvSpPr>
            <p:cNvPr id="16" name="object 16"/>
            <p:cNvSpPr/>
            <p:nvPr/>
          </p:nvSpPr>
          <p:spPr>
            <a:xfrm>
              <a:off x="1435963" y="3638016"/>
              <a:ext cx="2543810" cy="1147445"/>
            </a:xfrm>
            <a:custGeom>
              <a:avLst/>
              <a:gdLst/>
              <a:ahLst/>
              <a:cxnLst/>
              <a:rect l="l" t="t" r="r" b="b"/>
              <a:pathLst>
                <a:path w="2543810" h="1147445">
                  <a:moveTo>
                    <a:pt x="0" y="1147038"/>
                  </a:moveTo>
                  <a:lnTo>
                    <a:pt x="50863" y="1126693"/>
                  </a:lnTo>
                  <a:lnTo>
                    <a:pt x="101739" y="1104163"/>
                  </a:lnTo>
                  <a:lnTo>
                    <a:pt x="152603" y="1079322"/>
                  </a:lnTo>
                  <a:lnTo>
                    <a:pt x="203479" y="1052080"/>
                  </a:lnTo>
                  <a:lnTo>
                    <a:pt x="254342" y="1022413"/>
                  </a:lnTo>
                  <a:lnTo>
                    <a:pt x="305219" y="990244"/>
                  </a:lnTo>
                  <a:lnTo>
                    <a:pt x="356082" y="955662"/>
                  </a:lnTo>
                  <a:lnTo>
                    <a:pt x="406958" y="918730"/>
                  </a:lnTo>
                  <a:lnTo>
                    <a:pt x="457822" y="879576"/>
                  </a:lnTo>
                  <a:lnTo>
                    <a:pt x="508698" y="838454"/>
                  </a:lnTo>
                  <a:lnTo>
                    <a:pt x="559562" y="795616"/>
                  </a:lnTo>
                  <a:lnTo>
                    <a:pt x="610438" y="751420"/>
                  </a:lnTo>
                  <a:lnTo>
                    <a:pt x="661301" y="706221"/>
                  </a:lnTo>
                  <a:lnTo>
                    <a:pt x="712177" y="660450"/>
                  </a:lnTo>
                  <a:lnTo>
                    <a:pt x="737603" y="637552"/>
                  </a:lnTo>
                  <a:lnTo>
                    <a:pt x="788479" y="591769"/>
                  </a:lnTo>
                  <a:lnTo>
                    <a:pt x="839343" y="546493"/>
                  </a:lnTo>
                  <a:lnTo>
                    <a:pt x="890219" y="502183"/>
                  </a:lnTo>
                  <a:lnTo>
                    <a:pt x="941095" y="459232"/>
                  </a:lnTo>
                  <a:lnTo>
                    <a:pt x="991958" y="418020"/>
                  </a:lnTo>
                  <a:lnTo>
                    <a:pt x="1042822" y="378663"/>
                  </a:lnTo>
                  <a:lnTo>
                    <a:pt x="1093698" y="341579"/>
                  </a:lnTo>
                  <a:lnTo>
                    <a:pt x="1144562" y="306806"/>
                  </a:lnTo>
                  <a:lnTo>
                    <a:pt x="1195438" y="274434"/>
                  </a:lnTo>
                  <a:lnTo>
                    <a:pt x="1246301" y="244614"/>
                  </a:lnTo>
                  <a:lnTo>
                    <a:pt x="1297178" y="217208"/>
                  </a:lnTo>
                  <a:lnTo>
                    <a:pt x="1348041" y="192151"/>
                  </a:lnTo>
                  <a:lnTo>
                    <a:pt x="1398917" y="169481"/>
                  </a:lnTo>
                  <a:lnTo>
                    <a:pt x="1449781" y="149047"/>
                  </a:lnTo>
                  <a:lnTo>
                    <a:pt x="1500657" y="130556"/>
                  </a:lnTo>
                  <a:lnTo>
                    <a:pt x="1551520" y="114071"/>
                  </a:lnTo>
                  <a:lnTo>
                    <a:pt x="1602397" y="99339"/>
                  </a:lnTo>
                  <a:lnTo>
                    <a:pt x="1653260" y="86233"/>
                  </a:lnTo>
                  <a:lnTo>
                    <a:pt x="1704136" y="74625"/>
                  </a:lnTo>
                  <a:lnTo>
                    <a:pt x="1755000" y="64325"/>
                  </a:lnTo>
                  <a:lnTo>
                    <a:pt x="1805876" y="55232"/>
                  </a:lnTo>
                  <a:lnTo>
                    <a:pt x="1856740" y="47231"/>
                  </a:lnTo>
                  <a:lnTo>
                    <a:pt x="1907603" y="40170"/>
                  </a:lnTo>
                  <a:lnTo>
                    <a:pt x="1958479" y="33972"/>
                  </a:lnTo>
                  <a:lnTo>
                    <a:pt x="2009343" y="28575"/>
                  </a:lnTo>
                  <a:lnTo>
                    <a:pt x="2060219" y="23812"/>
                  </a:lnTo>
                  <a:lnTo>
                    <a:pt x="2111082" y="19634"/>
                  </a:lnTo>
                  <a:lnTo>
                    <a:pt x="2161959" y="16002"/>
                  </a:lnTo>
                  <a:lnTo>
                    <a:pt x="2212822" y="12788"/>
                  </a:lnTo>
                  <a:lnTo>
                    <a:pt x="2263698" y="10045"/>
                  </a:lnTo>
                  <a:lnTo>
                    <a:pt x="2314562" y="7594"/>
                  </a:lnTo>
                  <a:lnTo>
                    <a:pt x="2365438" y="5499"/>
                  </a:lnTo>
                  <a:lnTo>
                    <a:pt x="2416302" y="3632"/>
                  </a:lnTo>
                  <a:lnTo>
                    <a:pt x="2467178" y="2032"/>
                  </a:lnTo>
                  <a:lnTo>
                    <a:pt x="2492603" y="1282"/>
                  </a:lnTo>
                  <a:lnTo>
                    <a:pt x="2518041" y="622"/>
                  </a:lnTo>
                  <a:lnTo>
                    <a:pt x="2543479" y="0"/>
                  </a:lnTo>
                </a:path>
              </a:pathLst>
            </a:custGeom>
            <a:ln w="5060">
              <a:solidFill>
                <a:srgbClr val="E5001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1435963" y="3652824"/>
              <a:ext cx="2543810" cy="1226820"/>
            </a:xfrm>
            <a:custGeom>
              <a:avLst/>
              <a:gdLst/>
              <a:ahLst/>
              <a:cxnLst/>
              <a:rect l="l" t="t" r="r" b="b"/>
              <a:pathLst>
                <a:path w="2543810" h="1226820">
                  <a:moveTo>
                    <a:pt x="0" y="1226413"/>
                  </a:moveTo>
                  <a:lnTo>
                    <a:pt x="50863" y="1217561"/>
                  </a:lnTo>
                  <a:lnTo>
                    <a:pt x="101739" y="1207541"/>
                  </a:lnTo>
                  <a:lnTo>
                    <a:pt x="152603" y="1196213"/>
                  </a:lnTo>
                  <a:lnTo>
                    <a:pt x="203479" y="1183436"/>
                  </a:lnTo>
                  <a:lnTo>
                    <a:pt x="254342" y="1169073"/>
                  </a:lnTo>
                  <a:lnTo>
                    <a:pt x="305219" y="1152944"/>
                  </a:lnTo>
                  <a:lnTo>
                    <a:pt x="356082" y="1134948"/>
                  </a:lnTo>
                  <a:lnTo>
                    <a:pt x="406958" y="1114907"/>
                  </a:lnTo>
                  <a:lnTo>
                    <a:pt x="457822" y="1092708"/>
                  </a:lnTo>
                  <a:lnTo>
                    <a:pt x="508698" y="1068222"/>
                  </a:lnTo>
                  <a:lnTo>
                    <a:pt x="559562" y="1041311"/>
                  </a:lnTo>
                  <a:lnTo>
                    <a:pt x="610438" y="1011986"/>
                  </a:lnTo>
                  <a:lnTo>
                    <a:pt x="661301" y="980186"/>
                  </a:lnTo>
                  <a:lnTo>
                    <a:pt x="712177" y="945946"/>
                  </a:lnTo>
                  <a:lnTo>
                    <a:pt x="763041" y="909332"/>
                  </a:lnTo>
                  <a:lnTo>
                    <a:pt x="813904" y="870496"/>
                  </a:lnTo>
                  <a:lnTo>
                    <a:pt x="864781" y="829627"/>
                  </a:lnTo>
                  <a:lnTo>
                    <a:pt x="915657" y="787019"/>
                  </a:lnTo>
                  <a:lnTo>
                    <a:pt x="966520" y="742988"/>
                  </a:lnTo>
                  <a:lnTo>
                    <a:pt x="1017397" y="697928"/>
                  </a:lnTo>
                  <a:lnTo>
                    <a:pt x="1068260" y="652170"/>
                  </a:lnTo>
                  <a:lnTo>
                    <a:pt x="1093698" y="629285"/>
                  </a:lnTo>
                  <a:lnTo>
                    <a:pt x="1144562" y="583476"/>
                  </a:lnTo>
                  <a:lnTo>
                    <a:pt x="1195438" y="538086"/>
                  </a:lnTo>
                  <a:lnTo>
                    <a:pt x="1246301" y="493661"/>
                  </a:lnTo>
                  <a:lnTo>
                    <a:pt x="1297178" y="450507"/>
                  </a:lnTo>
                  <a:lnTo>
                    <a:pt x="1348041" y="408952"/>
                  </a:lnTo>
                  <a:lnTo>
                    <a:pt x="1398917" y="369379"/>
                  </a:lnTo>
                  <a:lnTo>
                    <a:pt x="1449781" y="331901"/>
                  </a:lnTo>
                  <a:lnTo>
                    <a:pt x="1500657" y="296824"/>
                  </a:lnTo>
                  <a:lnTo>
                    <a:pt x="1551520" y="264121"/>
                  </a:lnTo>
                  <a:lnTo>
                    <a:pt x="1602397" y="233908"/>
                  </a:lnTo>
                  <a:lnTo>
                    <a:pt x="1653260" y="206159"/>
                  </a:lnTo>
                  <a:lnTo>
                    <a:pt x="1704136" y="180822"/>
                  </a:lnTo>
                  <a:lnTo>
                    <a:pt x="1755000" y="157822"/>
                  </a:lnTo>
                  <a:lnTo>
                    <a:pt x="1805876" y="136956"/>
                  </a:lnTo>
                  <a:lnTo>
                    <a:pt x="1856740" y="118262"/>
                  </a:lnTo>
                  <a:lnTo>
                    <a:pt x="1907603" y="101536"/>
                  </a:lnTo>
                  <a:lnTo>
                    <a:pt x="1958479" y="86537"/>
                  </a:lnTo>
                  <a:lnTo>
                    <a:pt x="2009343" y="73202"/>
                  </a:lnTo>
                  <a:lnTo>
                    <a:pt x="2060219" y="61366"/>
                  </a:lnTo>
                  <a:lnTo>
                    <a:pt x="2111082" y="50927"/>
                  </a:lnTo>
                  <a:lnTo>
                    <a:pt x="2161959" y="41656"/>
                  </a:lnTo>
                  <a:lnTo>
                    <a:pt x="2212822" y="33489"/>
                  </a:lnTo>
                  <a:lnTo>
                    <a:pt x="2263698" y="26327"/>
                  </a:lnTo>
                  <a:lnTo>
                    <a:pt x="2314562" y="20027"/>
                  </a:lnTo>
                  <a:lnTo>
                    <a:pt x="2365438" y="14490"/>
                  </a:lnTo>
                  <a:lnTo>
                    <a:pt x="2416302" y="9626"/>
                  </a:lnTo>
                  <a:lnTo>
                    <a:pt x="2467178" y="5384"/>
                  </a:lnTo>
                  <a:lnTo>
                    <a:pt x="2518041" y="1663"/>
                  </a:lnTo>
                  <a:lnTo>
                    <a:pt x="2543479" y="0"/>
                  </a:lnTo>
                </a:path>
              </a:pathLst>
            </a:custGeom>
            <a:ln w="5060">
              <a:solidFill>
                <a:srgbClr val="BF003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435963" y="3691458"/>
              <a:ext cx="2543810" cy="1226820"/>
            </a:xfrm>
            <a:custGeom>
              <a:avLst/>
              <a:gdLst/>
              <a:ahLst/>
              <a:cxnLst/>
              <a:rect l="l" t="t" r="r" b="b"/>
              <a:pathLst>
                <a:path w="2543810" h="1226820">
                  <a:moveTo>
                    <a:pt x="0" y="1226413"/>
                  </a:moveTo>
                  <a:lnTo>
                    <a:pt x="50863" y="1222933"/>
                  </a:lnTo>
                  <a:lnTo>
                    <a:pt x="101739" y="1218971"/>
                  </a:lnTo>
                  <a:lnTo>
                    <a:pt x="152603" y="1214424"/>
                  </a:lnTo>
                  <a:lnTo>
                    <a:pt x="203479" y="1209243"/>
                  </a:lnTo>
                  <a:lnTo>
                    <a:pt x="254342" y="1203337"/>
                  </a:lnTo>
                  <a:lnTo>
                    <a:pt x="305219" y="1196606"/>
                  </a:lnTo>
                  <a:lnTo>
                    <a:pt x="356082" y="1188948"/>
                  </a:lnTo>
                  <a:lnTo>
                    <a:pt x="406958" y="1180261"/>
                  </a:lnTo>
                  <a:lnTo>
                    <a:pt x="457822" y="1170419"/>
                  </a:lnTo>
                  <a:lnTo>
                    <a:pt x="508698" y="1159294"/>
                  </a:lnTo>
                  <a:lnTo>
                    <a:pt x="559562" y="1146721"/>
                  </a:lnTo>
                  <a:lnTo>
                    <a:pt x="610438" y="1132598"/>
                  </a:lnTo>
                  <a:lnTo>
                    <a:pt x="661301" y="1116749"/>
                  </a:lnTo>
                  <a:lnTo>
                    <a:pt x="712177" y="1099007"/>
                  </a:lnTo>
                  <a:lnTo>
                    <a:pt x="763041" y="1079284"/>
                  </a:lnTo>
                  <a:lnTo>
                    <a:pt x="813904" y="1057389"/>
                  </a:lnTo>
                  <a:lnTo>
                    <a:pt x="864781" y="1033233"/>
                  </a:lnTo>
                  <a:lnTo>
                    <a:pt x="915657" y="1006665"/>
                  </a:lnTo>
                  <a:lnTo>
                    <a:pt x="966520" y="977696"/>
                  </a:lnTo>
                  <a:lnTo>
                    <a:pt x="1017397" y="946238"/>
                  </a:lnTo>
                  <a:lnTo>
                    <a:pt x="1068260" y="912342"/>
                  </a:lnTo>
                  <a:lnTo>
                    <a:pt x="1119136" y="876058"/>
                  </a:lnTo>
                  <a:lnTo>
                    <a:pt x="1170000" y="837526"/>
                  </a:lnTo>
                  <a:lnTo>
                    <a:pt x="1220876" y="796950"/>
                  </a:lnTo>
                  <a:lnTo>
                    <a:pt x="1271739" y="754570"/>
                  </a:lnTo>
                  <a:lnTo>
                    <a:pt x="1322616" y="710730"/>
                  </a:lnTo>
                  <a:lnTo>
                    <a:pt x="1373479" y="665772"/>
                  </a:lnTo>
                  <a:lnTo>
                    <a:pt x="1424343" y="620115"/>
                  </a:lnTo>
                  <a:lnTo>
                    <a:pt x="1449781" y="597166"/>
                  </a:lnTo>
                  <a:lnTo>
                    <a:pt x="1475219" y="574268"/>
                  </a:lnTo>
                  <a:lnTo>
                    <a:pt x="1526082" y="528574"/>
                  </a:lnTo>
                  <a:lnTo>
                    <a:pt x="1576959" y="483463"/>
                  </a:lnTo>
                  <a:lnTo>
                    <a:pt x="1627822" y="439458"/>
                  </a:lnTo>
                  <a:lnTo>
                    <a:pt x="1678698" y="396811"/>
                  </a:lnTo>
                  <a:lnTo>
                    <a:pt x="1729562" y="355917"/>
                  </a:lnTo>
                  <a:lnTo>
                    <a:pt x="1780438" y="317068"/>
                  </a:lnTo>
                  <a:lnTo>
                    <a:pt x="1831301" y="280479"/>
                  </a:lnTo>
                  <a:lnTo>
                    <a:pt x="1882178" y="246202"/>
                  </a:lnTo>
                  <a:lnTo>
                    <a:pt x="1933041" y="214401"/>
                  </a:lnTo>
                  <a:lnTo>
                    <a:pt x="1983917" y="185102"/>
                  </a:lnTo>
                  <a:lnTo>
                    <a:pt x="2034781" y="158229"/>
                  </a:lnTo>
                  <a:lnTo>
                    <a:pt x="2085657" y="133692"/>
                  </a:lnTo>
                  <a:lnTo>
                    <a:pt x="2136521" y="111391"/>
                  </a:lnTo>
                  <a:lnTo>
                    <a:pt x="2187397" y="91427"/>
                  </a:lnTo>
                  <a:lnTo>
                    <a:pt x="2238260" y="73444"/>
                  </a:lnTo>
                  <a:lnTo>
                    <a:pt x="2289124" y="57302"/>
                  </a:lnTo>
                  <a:lnTo>
                    <a:pt x="2340000" y="42964"/>
                  </a:lnTo>
                  <a:lnTo>
                    <a:pt x="2390863" y="30175"/>
                  </a:lnTo>
                  <a:lnTo>
                    <a:pt x="2441740" y="18846"/>
                  </a:lnTo>
                  <a:lnTo>
                    <a:pt x="2492603" y="8839"/>
                  </a:lnTo>
                  <a:lnTo>
                    <a:pt x="2518041" y="4241"/>
                  </a:lnTo>
                  <a:lnTo>
                    <a:pt x="2543479" y="0"/>
                  </a:lnTo>
                </a:path>
              </a:pathLst>
            </a:custGeom>
            <a:ln w="5060">
              <a:solidFill>
                <a:srgbClr val="7F00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1435963" y="3785616"/>
              <a:ext cx="2543810" cy="1147445"/>
            </a:xfrm>
            <a:custGeom>
              <a:avLst/>
              <a:gdLst/>
              <a:ahLst/>
              <a:cxnLst/>
              <a:rect l="l" t="t" r="r" b="b"/>
              <a:pathLst>
                <a:path w="2543810" h="1147445">
                  <a:moveTo>
                    <a:pt x="0" y="1147076"/>
                  </a:moveTo>
                  <a:lnTo>
                    <a:pt x="50863" y="1145768"/>
                  </a:lnTo>
                  <a:lnTo>
                    <a:pt x="101739" y="1144257"/>
                  </a:lnTo>
                  <a:lnTo>
                    <a:pt x="152603" y="1142530"/>
                  </a:lnTo>
                  <a:lnTo>
                    <a:pt x="203479" y="1140561"/>
                  </a:lnTo>
                  <a:lnTo>
                    <a:pt x="254342" y="1138288"/>
                  </a:lnTo>
                  <a:lnTo>
                    <a:pt x="305219" y="1135684"/>
                  </a:lnTo>
                  <a:lnTo>
                    <a:pt x="356082" y="1132713"/>
                  </a:lnTo>
                  <a:lnTo>
                    <a:pt x="406958" y="1129309"/>
                  </a:lnTo>
                  <a:lnTo>
                    <a:pt x="457822" y="1125410"/>
                  </a:lnTo>
                  <a:lnTo>
                    <a:pt x="508698" y="1120952"/>
                  </a:lnTo>
                  <a:lnTo>
                    <a:pt x="559562" y="1115872"/>
                  </a:lnTo>
                  <a:lnTo>
                    <a:pt x="610438" y="1110068"/>
                  </a:lnTo>
                  <a:lnTo>
                    <a:pt x="661301" y="1103464"/>
                  </a:lnTo>
                  <a:lnTo>
                    <a:pt x="712177" y="1095946"/>
                  </a:lnTo>
                  <a:lnTo>
                    <a:pt x="763041" y="1087424"/>
                  </a:lnTo>
                  <a:lnTo>
                    <a:pt x="813904" y="1077747"/>
                  </a:lnTo>
                  <a:lnTo>
                    <a:pt x="864781" y="1066800"/>
                  </a:lnTo>
                  <a:lnTo>
                    <a:pt x="915657" y="1054455"/>
                  </a:lnTo>
                  <a:lnTo>
                    <a:pt x="966520" y="1040561"/>
                  </a:lnTo>
                  <a:lnTo>
                    <a:pt x="1017397" y="1024953"/>
                  </a:lnTo>
                  <a:lnTo>
                    <a:pt x="1068260" y="1007503"/>
                  </a:lnTo>
                  <a:lnTo>
                    <a:pt x="1119136" y="988060"/>
                  </a:lnTo>
                  <a:lnTo>
                    <a:pt x="1170000" y="966495"/>
                  </a:lnTo>
                  <a:lnTo>
                    <a:pt x="1220876" y="942644"/>
                  </a:lnTo>
                  <a:lnTo>
                    <a:pt x="1271739" y="916457"/>
                  </a:lnTo>
                  <a:lnTo>
                    <a:pt x="1322616" y="887831"/>
                  </a:lnTo>
                  <a:lnTo>
                    <a:pt x="1373479" y="856742"/>
                  </a:lnTo>
                  <a:lnTo>
                    <a:pt x="1424343" y="823188"/>
                  </a:lnTo>
                  <a:lnTo>
                    <a:pt x="1475219" y="787222"/>
                  </a:lnTo>
                  <a:lnTo>
                    <a:pt x="1526082" y="749020"/>
                  </a:lnTo>
                  <a:lnTo>
                    <a:pt x="1576959" y="708710"/>
                  </a:lnTo>
                  <a:lnTo>
                    <a:pt x="1627822" y="666584"/>
                  </a:lnTo>
                  <a:lnTo>
                    <a:pt x="1678698" y="622909"/>
                  </a:lnTo>
                  <a:lnTo>
                    <a:pt x="1729562" y="578078"/>
                  </a:lnTo>
                  <a:lnTo>
                    <a:pt x="1780438" y="532511"/>
                  </a:lnTo>
                  <a:lnTo>
                    <a:pt x="1805876" y="509574"/>
                  </a:lnTo>
                  <a:lnTo>
                    <a:pt x="1831301" y="486689"/>
                  </a:lnTo>
                  <a:lnTo>
                    <a:pt x="1882178" y="440905"/>
                  </a:lnTo>
                  <a:lnTo>
                    <a:pt x="1933041" y="395693"/>
                  </a:lnTo>
                  <a:lnTo>
                    <a:pt x="1983917" y="351497"/>
                  </a:lnTo>
                  <a:lnTo>
                    <a:pt x="2034781" y="308660"/>
                  </a:lnTo>
                  <a:lnTo>
                    <a:pt x="2085657" y="267512"/>
                  </a:lnTo>
                  <a:lnTo>
                    <a:pt x="2136521" y="228384"/>
                  </a:lnTo>
                  <a:lnTo>
                    <a:pt x="2187397" y="191452"/>
                  </a:lnTo>
                  <a:lnTo>
                    <a:pt x="2238260" y="156781"/>
                  </a:lnTo>
                  <a:lnTo>
                    <a:pt x="2289124" y="124675"/>
                  </a:lnTo>
                  <a:lnTo>
                    <a:pt x="2340000" y="94983"/>
                  </a:lnTo>
                  <a:lnTo>
                    <a:pt x="2390863" y="67703"/>
                  </a:lnTo>
                  <a:lnTo>
                    <a:pt x="2441740" y="42875"/>
                  </a:lnTo>
                  <a:lnTo>
                    <a:pt x="2492603" y="20320"/>
                  </a:lnTo>
                  <a:lnTo>
                    <a:pt x="2518041" y="9906"/>
                  </a:lnTo>
                  <a:lnTo>
                    <a:pt x="2543479" y="0"/>
                  </a:lnTo>
                </a:path>
              </a:pathLst>
            </a:custGeom>
            <a:ln w="5060">
              <a:solidFill>
                <a:srgbClr val="3F00B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435963" y="3982135"/>
              <a:ext cx="2543810" cy="956310"/>
            </a:xfrm>
            <a:custGeom>
              <a:avLst/>
              <a:gdLst/>
              <a:ahLst/>
              <a:cxnLst/>
              <a:rect l="l" t="t" r="r" b="b"/>
              <a:pathLst>
                <a:path w="2543810" h="956310">
                  <a:moveTo>
                    <a:pt x="0" y="956094"/>
                  </a:moveTo>
                  <a:lnTo>
                    <a:pt x="50863" y="955611"/>
                  </a:lnTo>
                  <a:lnTo>
                    <a:pt x="101739" y="955052"/>
                  </a:lnTo>
                  <a:lnTo>
                    <a:pt x="152603" y="954405"/>
                  </a:lnTo>
                  <a:lnTo>
                    <a:pt x="203479" y="953668"/>
                  </a:lnTo>
                  <a:lnTo>
                    <a:pt x="254342" y="952817"/>
                  </a:lnTo>
                  <a:lnTo>
                    <a:pt x="305219" y="951839"/>
                  </a:lnTo>
                  <a:lnTo>
                    <a:pt x="356082" y="950734"/>
                  </a:lnTo>
                  <a:lnTo>
                    <a:pt x="406958" y="949439"/>
                  </a:lnTo>
                  <a:lnTo>
                    <a:pt x="457822" y="947966"/>
                  </a:lnTo>
                  <a:lnTo>
                    <a:pt x="508698" y="946277"/>
                  </a:lnTo>
                  <a:lnTo>
                    <a:pt x="559562" y="944333"/>
                  </a:lnTo>
                  <a:lnTo>
                    <a:pt x="610438" y="942111"/>
                  </a:lnTo>
                  <a:lnTo>
                    <a:pt x="661301" y="939571"/>
                  </a:lnTo>
                  <a:lnTo>
                    <a:pt x="712177" y="936650"/>
                  </a:lnTo>
                  <a:lnTo>
                    <a:pt x="763041" y="933297"/>
                  </a:lnTo>
                  <a:lnTo>
                    <a:pt x="813904" y="929474"/>
                  </a:lnTo>
                  <a:lnTo>
                    <a:pt x="864781" y="925106"/>
                  </a:lnTo>
                  <a:lnTo>
                    <a:pt x="915657" y="920115"/>
                  </a:lnTo>
                  <a:lnTo>
                    <a:pt x="966520" y="914425"/>
                  </a:lnTo>
                  <a:lnTo>
                    <a:pt x="1017397" y="907935"/>
                  </a:lnTo>
                  <a:lnTo>
                    <a:pt x="1068260" y="900569"/>
                  </a:lnTo>
                  <a:lnTo>
                    <a:pt x="1119136" y="892187"/>
                  </a:lnTo>
                  <a:lnTo>
                    <a:pt x="1170000" y="882675"/>
                  </a:lnTo>
                  <a:lnTo>
                    <a:pt x="1220876" y="871931"/>
                  </a:lnTo>
                  <a:lnTo>
                    <a:pt x="1271739" y="859790"/>
                  </a:lnTo>
                  <a:lnTo>
                    <a:pt x="1322616" y="846124"/>
                  </a:lnTo>
                  <a:lnTo>
                    <a:pt x="1373479" y="830783"/>
                  </a:lnTo>
                  <a:lnTo>
                    <a:pt x="1424343" y="813612"/>
                  </a:lnTo>
                  <a:lnTo>
                    <a:pt x="1475219" y="794435"/>
                  </a:lnTo>
                  <a:lnTo>
                    <a:pt x="1526082" y="773176"/>
                  </a:lnTo>
                  <a:lnTo>
                    <a:pt x="1576959" y="749693"/>
                  </a:lnTo>
                  <a:lnTo>
                    <a:pt x="1627822" y="723836"/>
                  </a:lnTo>
                  <a:lnTo>
                    <a:pt x="1678698" y="695553"/>
                  </a:lnTo>
                  <a:lnTo>
                    <a:pt x="1729562" y="664819"/>
                  </a:lnTo>
                  <a:lnTo>
                    <a:pt x="1780438" y="631621"/>
                  </a:lnTo>
                  <a:lnTo>
                    <a:pt x="1831301" y="595985"/>
                  </a:lnTo>
                  <a:lnTo>
                    <a:pt x="1882178" y="558088"/>
                  </a:lnTo>
                  <a:lnTo>
                    <a:pt x="1933041" y="518071"/>
                  </a:lnTo>
                  <a:lnTo>
                    <a:pt x="1983917" y="476161"/>
                  </a:lnTo>
                  <a:lnTo>
                    <a:pt x="2034781" y="432701"/>
                  </a:lnTo>
                  <a:lnTo>
                    <a:pt x="2085657" y="388010"/>
                  </a:lnTo>
                  <a:lnTo>
                    <a:pt x="2136521" y="342506"/>
                  </a:lnTo>
                  <a:lnTo>
                    <a:pt x="2187397" y="296697"/>
                  </a:lnTo>
                  <a:lnTo>
                    <a:pt x="2212822" y="273748"/>
                  </a:lnTo>
                  <a:lnTo>
                    <a:pt x="2238260" y="250888"/>
                  </a:lnTo>
                  <a:lnTo>
                    <a:pt x="2289124" y="205587"/>
                  </a:lnTo>
                  <a:lnTo>
                    <a:pt x="2340000" y="161201"/>
                  </a:lnTo>
                  <a:lnTo>
                    <a:pt x="2390863" y="118173"/>
                  </a:lnTo>
                  <a:lnTo>
                    <a:pt x="2441740" y="76733"/>
                  </a:lnTo>
                  <a:lnTo>
                    <a:pt x="2492603" y="37274"/>
                  </a:lnTo>
                  <a:lnTo>
                    <a:pt x="2518041" y="18364"/>
                  </a:lnTo>
                  <a:lnTo>
                    <a:pt x="2543479" y="0"/>
                  </a:lnTo>
                </a:path>
              </a:pathLst>
            </a:custGeom>
            <a:ln w="5060">
              <a:solidFill>
                <a:srgbClr val="1900E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2274951" y="3302015"/>
            <a:ext cx="9931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4229709" y="3665080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E5001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4229709" y="3812324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BF003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4229709" y="3959568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7F0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4229709" y="4106824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3F00B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4229709" y="4254068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1900E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 txBox="1"/>
          <p:nvPr/>
        </p:nvSpPr>
        <p:spPr>
          <a:xfrm>
            <a:off x="4189260" y="3566129"/>
            <a:ext cx="1016000" cy="787400"/>
          </a:xfrm>
          <a:prstGeom prst="rect">
            <a:avLst/>
          </a:prstGeom>
          <a:ln w="5060">
            <a:solidFill>
              <a:srgbClr val="000000"/>
            </a:solidFill>
          </a:ln>
        </p:spPr>
        <p:txBody>
          <a:bodyPr wrap="square" lIns="0" tIns="22860" rIns="0" bIns="0" rtlCol="0" vert="horz">
            <a:spAutoFit/>
          </a:bodyPr>
          <a:lstStyle/>
          <a:p>
            <a:pPr marL="286385">
              <a:lnSpc>
                <a:spcPct val="100000"/>
              </a:lnSpc>
              <a:spcBef>
                <a:spcPts val="18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7,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  <a:p>
            <a:pPr marL="286385">
              <a:lnSpc>
                <a:spcPct val="100000"/>
              </a:lnSpc>
              <a:spcBef>
                <a:spcPts val="14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7,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3</a:t>
            </a:r>
            <a:endParaRPr sz="850">
              <a:latin typeface="Calibri"/>
              <a:cs typeface="Calibri"/>
            </a:endParaRPr>
          </a:p>
          <a:p>
            <a:pPr marL="286385">
              <a:lnSpc>
                <a:spcPct val="100000"/>
              </a:lnSpc>
              <a:spcBef>
                <a:spcPts val="14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7,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  <a:p>
            <a:pPr marL="286385">
              <a:lnSpc>
                <a:spcPct val="100000"/>
              </a:lnSpc>
              <a:spcBef>
                <a:spcPts val="135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7,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5</a:t>
            </a:r>
            <a:endParaRPr sz="850">
              <a:latin typeface="Calibri"/>
              <a:cs typeface="Calibri"/>
            </a:endParaRPr>
          </a:p>
          <a:p>
            <a:pPr marL="286385">
              <a:lnSpc>
                <a:spcPct val="100000"/>
              </a:lnSpc>
              <a:spcBef>
                <a:spcPts val="14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7,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6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1407693" y="5623064"/>
            <a:ext cx="2699385" cy="1403350"/>
            <a:chOff x="1407693" y="5623064"/>
            <a:chExt cx="2699385" cy="1403350"/>
          </a:xfrm>
        </p:grpSpPr>
        <p:sp>
          <p:nvSpPr>
            <p:cNvPr id="29" name="object 29"/>
            <p:cNvSpPr/>
            <p:nvPr/>
          </p:nvSpPr>
          <p:spPr>
            <a:xfrm>
              <a:off x="1435963" y="6970700"/>
              <a:ext cx="2543810" cy="54610"/>
            </a:xfrm>
            <a:custGeom>
              <a:avLst/>
              <a:gdLst/>
              <a:ahLst/>
              <a:cxnLst/>
              <a:rect l="l" t="t" r="r" b="b"/>
              <a:pathLst>
                <a:path w="2543810" h="54609">
                  <a:moveTo>
                    <a:pt x="0" y="54000"/>
                  </a:moveTo>
                  <a:lnTo>
                    <a:pt x="0" y="0"/>
                  </a:lnTo>
                </a:path>
                <a:path w="2543810" h="54609">
                  <a:moveTo>
                    <a:pt x="2543479" y="54000"/>
                  </a:moveTo>
                  <a:lnTo>
                    <a:pt x="254347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408963" y="5689663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09" h="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435963" y="6997700"/>
              <a:ext cx="2645410" cy="0"/>
            </a:xfrm>
            <a:custGeom>
              <a:avLst/>
              <a:gdLst/>
              <a:ahLst/>
              <a:cxnLst/>
              <a:rect l="l" t="t" r="r" b="b"/>
              <a:pathLst>
                <a:path w="2645410" h="0">
                  <a:moveTo>
                    <a:pt x="0" y="0"/>
                  </a:moveTo>
                  <a:lnTo>
                    <a:pt x="2645346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066133" y="697745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0" y="0"/>
                  </a:moveTo>
                  <a:lnTo>
                    <a:pt x="15176" y="20243"/>
                  </a:lnTo>
                  <a:lnTo>
                    <a:pt x="0" y="40487"/>
                  </a:lnTo>
                  <a:lnTo>
                    <a:pt x="40474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1435963" y="5648376"/>
              <a:ext cx="0" cy="1349375"/>
            </a:xfrm>
            <a:custGeom>
              <a:avLst/>
              <a:gdLst/>
              <a:ahLst/>
              <a:cxnLst/>
              <a:rect l="l" t="t" r="r" b="b"/>
              <a:pathLst>
                <a:path w="0" h="1349375">
                  <a:moveTo>
                    <a:pt x="0" y="1349324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415719" y="562306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20243" y="0"/>
                  </a:moveTo>
                  <a:lnTo>
                    <a:pt x="0" y="40487"/>
                  </a:lnTo>
                  <a:lnTo>
                    <a:pt x="20243" y="25311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/>
          <p:cNvSpPr txBox="1"/>
          <p:nvPr/>
        </p:nvSpPr>
        <p:spPr>
          <a:xfrm>
            <a:off x="1392872" y="7016701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936311" y="7016701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296516" y="5604804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1433433" y="5696074"/>
            <a:ext cx="2548890" cy="1304290"/>
            <a:chOff x="1433433" y="5696074"/>
            <a:chExt cx="2548890" cy="1304290"/>
          </a:xfrm>
        </p:grpSpPr>
        <p:sp>
          <p:nvSpPr>
            <p:cNvPr id="39" name="object 39"/>
            <p:cNvSpPr/>
            <p:nvPr/>
          </p:nvSpPr>
          <p:spPr>
            <a:xfrm>
              <a:off x="1435963" y="5698604"/>
              <a:ext cx="2543810" cy="1299210"/>
            </a:xfrm>
            <a:custGeom>
              <a:avLst/>
              <a:gdLst/>
              <a:ahLst/>
              <a:cxnLst/>
              <a:rect l="l" t="t" r="r" b="b"/>
              <a:pathLst>
                <a:path w="2543810" h="1299209">
                  <a:moveTo>
                    <a:pt x="0" y="1299095"/>
                  </a:moveTo>
                  <a:lnTo>
                    <a:pt x="50863" y="1294472"/>
                  </a:lnTo>
                  <a:lnTo>
                    <a:pt x="101739" y="1288986"/>
                  </a:lnTo>
                  <a:lnTo>
                    <a:pt x="152603" y="1282458"/>
                  </a:lnTo>
                  <a:lnTo>
                    <a:pt x="203479" y="1274749"/>
                  </a:lnTo>
                  <a:lnTo>
                    <a:pt x="254342" y="1265631"/>
                  </a:lnTo>
                  <a:lnTo>
                    <a:pt x="305219" y="1254887"/>
                  </a:lnTo>
                  <a:lnTo>
                    <a:pt x="356082" y="1242263"/>
                  </a:lnTo>
                  <a:lnTo>
                    <a:pt x="406958" y="1227467"/>
                  </a:lnTo>
                  <a:lnTo>
                    <a:pt x="457822" y="1210221"/>
                  </a:lnTo>
                  <a:lnTo>
                    <a:pt x="508698" y="1190180"/>
                  </a:lnTo>
                  <a:lnTo>
                    <a:pt x="559562" y="1167041"/>
                  </a:lnTo>
                  <a:lnTo>
                    <a:pt x="610438" y="1140510"/>
                  </a:lnTo>
                  <a:lnTo>
                    <a:pt x="661301" y="1110259"/>
                  </a:lnTo>
                  <a:lnTo>
                    <a:pt x="712177" y="1076045"/>
                  </a:lnTo>
                  <a:lnTo>
                    <a:pt x="763041" y="1037780"/>
                  </a:lnTo>
                  <a:lnTo>
                    <a:pt x="813904" y="995362"/>
                  </a:lnTo>
                  <a:lnTo>
                    <a:pt x="864781" y="948880"/>
                  </a:lnTo>
                  <a:lnTo>
                    <a:pt x="915657" y="898613"/>
                  </a:lnTo>
                  <a:lnTo>
                    <a:pt x="966520" y="844931"/>
                  </a:lnTo>
                  <a:lnTo>
                    <a:pt x="1017397" y="788492"/>
                  </a:lnTo>
                  <a:lnTo>
                    <a:pt x="1042822" y="759447"/>
                  </a:lnTo>
                  <a:lnTo>
                    <a:pt x="1068260" y="730021"/>
                  </a:lnTo>
                  <a:lnTo>
                    <a:pt x="1093698" y="700290"/>
                  </a:lnTo>
                  <a:lnTo>
                    <a:pt x="1119136" y="670382"/>
                  </a:lnTo>
                  <a:lnTo>
                    <a:pt x="1144562" y="640486"/>
                  </a:lnTo>
                  <a:lnTo>
                    <a:pt x="1170000" y="610565"/>
                  </a:lnTo>
                  <a:lnTo>
                    <a:pt x="1195438" y="580872"/>
                  </a:lnTo>
                  <a:lnTo>
                    <a:pt x="1220876" y="551459"/>
                  </a:lnTo>
                  <a:lnTo>
                    <a:pt x="1246301" y="522478"/>
                  </a:lnTo>
                  <a:lnTo>
                    <a:pt x="1271739" y="494017"/>
                  </a:lnTo>
                  <a:lnTo>
                    <a:pt x="1322616" y="439013"/>
                  </a:lnTo>
                  <a:lnTo>
                    <a:pt x="1373479" y="387121"/>
                  </a:lnTo>
                  <a:lnTo>
                    <a:pt x="1424343" y="338937"/>
                  </a:lnTo>
                  <a:lnTo>
                    <a:pt x="1475219" y="294716"/>
                  </a:lnTo>
                  <a:lnTo>
                    <a:pt x="1526082" y="254609"/>
                  </a:lnTo>
                  <a:lnTo>
                    <a:pt x="1576959" y="218528"/>
                  </a:lnTo>
                  <a:lnTo>
                    <a:pt x="1627822" y="186563"/>
                  </a:lnTo>
                  <a:lnTo>
                    <a:pt x="1678698" y="158432"/>
                  </a:lnTo>
                  <a:lnTo>
                    <a:pt x="1729562" y="133794"/>
                  </a:lnTo>
                  <a:lnTo>
                    <a:pt x="1780438" y="112407"/>
                  </a:lnTo>
                  <a:lnTo>
                    <a:pt x="1831301" y="93980"/>
                  </a:lnTo>
                  <a:lnTo>
                    <a:pt x="1882178" y="78143"/>
                  </a:lnTo>
                  <a:lnTo>
                    <a:pt x="1933041" y="64592"/>
                  </a:lnTo>
                  <a:lnTo>
                    <a:pt x="1983917" y="53022"/>
                  </a:lnTo>
                  <a:lnTo>
                    <a:pt x="2034781" y="43230"/>
                  </a:lnTo>
                  <a:lnTo>
                    <a:pt x="2085657" y="34925"/>
                  </a:lnTo>
                  <a:lnTo>
                    <a:pt x="2136521" y="27901"/>
                  </a:lnTo>
                  <a:lnTo>
                    <a:pt x="2187397" y="21971"/>
                  </a:lnTo>
                  <a:lnTo>
                    <a:pt x="2238260" y="16967"/>
                  </a:lnTo>
                  <a:lnTo>
                    <a:pt x="2289124" y="12788"/>
                  </a:lnTo>
                  <a:lnTo>
                    <a:pt x="2340000" y="9258"/>
                  </a:lnTo>
                  <a:lnTo>
                    <a:pt x="2390863" y="6299"/>
                  </a:lnTo>
                  <a:lnTo>
                    <a:pt x="2441740" y="3810"/>
                  </a:lnTo>
                  <a:lnTo>
                    <a:pt x="2492603" y="1714"/>
                  </a:lnTo>
                  <a:lnTo>
                    <a:pt x="2518041" y="812"/>
                  </a:lnTo>
                  <a:lnTo>
                    <a:pt x="2543479" y="0"/>
                  </a:lnTo>
                </a:path>
              </a:pathLst>
            </a:custGeom>
            <a:ln w="5060">
              <a:solidFill>
                <a:srgbClr val="1900E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1435963" y="5713628"/>
              <a:ext cx="2543810" cy="1284605"/>
            </a:xfrm>
            <a:custGeom>
              <a:avLst/>
              <a:gdLst/>
              <a:ahLst/>
              <a:cxnLst/>
              <a:rect l="l" t="t" r="r" b="b"/>
              <a:pathLst>
                <a:path w="2543810" h="1284604">
                  <a:moveTo>
                    <a:pt x="0" y="1284071"/>
                  </a:moveTo>
                  <a:lnTo>
                    <a:pt x="50863" y="1280007"/>
                  </a:lnTo>
                  <a:lnTo>
                    <a:pt x="101739" y="1275257"/>
                  </a:lnTo>
                  <a:lnTo>
                    <a:pt x="152603" y="1269733"/>
                  </a:lnTo>
                  <a:lnTo>
                    <a:pt x="203479" y="1263319"/>
                  </a:lnTo>
                  <a:lnTo>
                    <a:pt x="254342" y="1255864"/>
                  </a:lnTo>
                  <a:lnTo>
                    <a:pt x="305219" y="1247228"/>
                  </a:lnTo>
                  <a:lnTo>
                    <a:pt x="356082" y="1237234"/>
                  </a:lnTo>
                  <a:lnTo>
                    <a:pt x="406958" y="1225702"/>
                  </a:lnTo>
                  <a:lnTo>
                    <a:pt x="457822" y="1212443"/>
                  </a:lnTo>
                  <a:lnTo>
                    <a:pt x="508698" y="1197241"/>
                  </a:lnTo>
                  <a:lnTo>
                    <a:pt x="559562" y="1179868"/>
                  </a:lnTo>
                  <a:lnTo>
                    <a:pt x="610438" y="1160119"/>
                  </a:lnTo>
                  <a:lnTo>
                    <a:pt x="661301" y="1137704"/>
                  </a:lnTo>
                  <a:lnTo>
                    <a:pt x="712177" y="1112507"/>
                  </a:lnTo>
                  <a:lnTo>
                    <a:pt x="763041" y="1084275"/>
                  </a:lnTo>
                  <a:lnTo>
                    <a:pt x="813904" y="1052868"/>
                  </a:lnTo>
                  <a:lnTo>
                    <a:pt x="864781" y="1018235"/>
                  </a:lnTo>
                  <a:lnTo>
                    <a:pt x="915657" y="980338"/>
                  </a:lnTo>
                  <a:lnTo>
                    <a:pt x="966520" y="939215"/>
                  </a:lnTo>
                  <a:lnTo>
                    <a:pt x="1017397" y="895070"/>
                  </a:lnTo>
                  <a:lnTo>
                    <a:pt x="1068260" y="848144"/>
                  </a:lnTo>
                  <a:lnTo>
                    <a:pt x="1119136" y="798868"/>
                  </a:lnTo>
                  <a:lnTo>
                    <a:pt x="1170000" y="747687"/>
                  </a:lnTo>
                  <a:lnTo>
                    <a:pt x="1220876" y="695198"/>
                  </a:lnTo>
                  <a:lnTo>
                    <a:pt x="1271739" y="642035"/>
                  </a:lnTo>
                  <a:lnTo>
                    <a:pt x="1297178" y="615492"/>
                  </a:lnTo>
                  <a:lnTo>
                    <a:pt x="1348041" y="562559"/>
                  </a:lnTo>
                  <a:lnTo>
                    <a:pt x="1398917" y="510654"/>
                  </a:lnTo>
                  <a:lnTo>
                    <a:pt x="1449781" y="460349"/>
                  </a:lnTo>
                  <a:lnTo>
                    <a:pt x="1500657" y="412153"/>
                  </a:lnTo>
                  <a:lnTo>
                    <a:pt x="1551520" y="366610"/>
                  </a:lnTo>
                  <a:lnTo>
                    <a:pt x="1602397" y="323913"/>
                  </a:lnTo>
                  <a:lnTo>
                    <a:pt x="1653260" y="284441"/>
                  </a:lnTo>
                  <a:lnTo>
                    <a:pt x="1704136" y="248081"/>
                  </a:lnTo>
                  <a:lnTo>
                    <a:pt x="1755000" y="215112"/>
                  </a:lnTo>
                  <a:lnTo>
                    <a:pt x="1805876" y="185254"/>
                  </a:lnTo>
                  <a:lnTo>
                    <a:pt x="1856740" y="158610"/>
                  </a:lnTo>
                  <a:lnTo>
                    <a:pt x="1907603" y="134797"/>
                  </a:lnTo>
                  <a:lnTo>
                    <a:pt x="1958479" y="113766"/>
                  </a:lnTo>
                  <a:lnTo>
                    <a:pt x="2009343" y="95224"/>
                  </a:lnTo>
                  <a:lnTo>
                    <a:pt x="2060219" y="78955"/>
                  </a:lnTo>
                  <a:lnTo>
                    <a:pt x="2111082" y="64744"/>
                  </a:lnTo>
                  <a:lnTo>
                    <a:pt x="2161959" y="52400"/>
                  </a:lnTo>
                  <a:lnTo>
                    <a:pt x="2212822" y="41656"/>
                  </a:lnTo>
                  <a:lnTo>
                    <a:pt x="2263698" y="32372"/>
                  </a:lnTo>
                  <a:lnTo>
                    <a:pt x="2314562" y="24345"/>
                  </a:lnTo>
                  <a:lnTo>
                    <a:pt x="2365438" y="17424"/>
                  </a:lnTo>
                  <a:lnTo>
                    <a:pt x="2416302" y="11480"/>
                  </a:lnTo>
                  <a:lnTo>
                    <a:pt x="2467178" y="6362"/>
                  </a:lnTo>
                  <a:lnTo>
                    <a:pt x="2518041" y="1943"/>
                  </a:lnTo>
                  <a:lnTo>
                    <a:pt x="2543479" y="0"/>
                  </a:lnTo>
                </a:path>
              </a:pathLst>
            </a:custGeom>
            <a:ln w="5060">
              <a:solidFill>
                <a:srgbClr val="3F00B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1435963" y="5752858"/>
              <a:ext cx="2543810" cy="1245235"/>
            </a:xfrm>
            <a:custGeom>
              <a:avLst/>
              <a:gdLst/>
              <a:ahLst/>
              <a:cxnLst/>
              <a:rect l="l" t="t" r="r" b="b"/>
              <a:pathLst>
                <a:path w="2543810" h="1245234">
                  <a:moveTo>
                    <a:pt x="0" y="1244841"/>
                  </a:moveTo>
                  <a:lnTo>
                    <a:pt x="50863" y="1241310"/>
                  </a:lnTo>
                  <a:lnTo>
                    <a:pt x="101739" y="1237284"/>
                  </a:lnTo>
                  <a:lnTo>
                    <a:pt x="152603" y="1232674"/>
                  </a:lnTo>
                  <a:lnTo>
                    <a:pt x="203479" y="1227416"/>
                  </a:lnTo>
                  <a:lnTo>
                    <a:pt x="254342" y="1221422"/>
                  </a:lnTo>
                  <a:lnTo>
                    <a:pt x="305219" y="1214589"/>
                  </a:lnTo>
                  <a:lnTo>
                    <a:pt x="356082" y="1206817"/>
                  </a:lnTo>
                  <a:lnTo>
                    <a:pt x="406958" y="1198003"/>
                  </a:lnTo>
                  <a:lnTo>
                    <a:pt x="457822" y="1188008"/>
                  </a:lnTo>
                  <a:lnTo>
                    <a:pt x="508698" y="1176705"/>
                  </a:lnTo>
                  <a:lnTo>
                    <a:pt x="559562" y="1163955"/>
                  </a:lnTo>
                  <a:lnTo>
                    <a:pt x="610438" y="1149616"/>
                  </a:lnTo>
                  <a:lnTo>
                    <a:pt x="661301" y="1133525"/>
                  </a:lnTo>
                  <a:lnTo>
                    <a:pt x="712177" y="1115529"/>
                  </a:lnTo>
                  <a:lnTo>
                    <a:pt x="763041" y="1095489"/>
                  </a:lnTo>
                  <a:lnTo>
                    <a:pt x="813904" y="1073277"/>
                  </a:lnTo>
                  <a:lnTo>
                    <a:pt x="864781" y="1048753"/>
                  </a:lnTo>
                  <a:lnTo>
                    <a:pt x="915657" y="1021791"/>
                  </a:lnTo>
                  <a:lnTo>
                    <a:pt x="966520" y="992390"/>
                  </a:lnTo>
                  <a:lnTo>
                    <a:pt x="1017397" y="960450"/>
                  </a:lnTo>
                  <a:lnTo>
                    <a:pt x="1068260" y="926058"/>
                  </a:lnTo>
                  <a:lnTo>
                    <a:pt x="1119136" y="889228"/>
                  </a:lnTo>
                  <a:lnTo>
                    <a:pt x="1170000" y="850112"/>
                  </a:lnTo>
                  <a:lnTo>
                    <a:pt x="1220876" y="808913"/>
                  </a:lnTo>
                  <a:lnTo>
                    <a:pt x="1271739" y="765898"/>
                  </a:lnTo>
                  <a:lnTo>
                    <a:pt x="1322616" y="721398"/>
                  </a:lnTo>
                  <a:lnTo>
                    <a:pt x="1373479" y="675767"/>
                  </a:lnTo>
                  <a:lnTo>
                    <a:pt x="1424343" y="629424"/>
                  </a:lnTo>
                  <a:lnTo>
                    <a:pt x="1449781" y="606132"/>
                  </a:lnTo>
                  <a:lnTo>
                    <a:pt x="1475219" y="582891"/>
                  </a:lnTo>
                  <a:lnTo>
                    <a:pt x="1526082" y="536511"/>
                  </a:lnTo>
                  <a:lnTo>
                    <a:pt x="1576959" y="490715"/>
                  </a:lnTo>
                  <a:lnTo>
                    <a:pt x="1627822" y="446049"/>
                  </a:lnTo>
                  <a:lnTo>
                    <a:pt x="1678698" y="402767"/>
                  </a:lnTo>
                  <a:lnTo>
                    <a:pt x="1729562" y="361264"/>
                  </a:lnTo>
                  <a:lnTo>
                    <a:pt x="1780438" y="321830"/>
                  </a:lnTo>
                  <a:lnTo>
                    <a:pt x="1831301" y="284683"/>
                  </a:lnTo>
                  <a:lnTo>
                    <a:pt x="1882178" y="249885"/>
                  </a:lnTo>
                  <a:lnTo>
                    <a:pt x="1933041" y="217614"/>
                  </a:lnTo>
                  <a:lnTo>
                    <a:pt x="1983917" y="187871"/>
                  </a:lnTo>
                  <a:lnTo>
                    <a:pt x="2034781" y="160591"/>
                  </a:lnTo>
                  <a:lnTo>
                    <a:pt x="2085657" y="135699"/>
                  </a:lnTo>
                  <a:lnTo>
                    <a:pt x="2136521" y="113055"/>
                  </a:lnTo>
                  <a:lnTo>
                    <a:pt x="2187397" y="92786"/>
                  </a:lnTo>
                  <a:lnTo>
                    <a:pt x="2238260" y="74536"/>
                  </a:lnTo>
                  <a:lnTo>
                    <a:pt x="2289124" y="58153"/>
                  </a:lnTo>
                  <a:lnTo>
                    <a:pt x="2340000" y="43611"/>
                  </a:lnTo>
                  <a:lnTo>
                    <a:pt x="2390863" y="30619"/>
                  </a:lnTo>
                  <a:lnTo>
                    <a:pt x="2441740" y="19126"/>
                  </a:lnTo>
                  <a:lnTo>
                    <a:pt x="2492603" y="8953"/>
                  </a:lnTo>
                  <a:lnTo>
                    <a:pt x="2518041" y="4292"/>
                  </a:lnTo>
                  <a:lnTo>
                    <a:pt x="2543479" y="0"/>
                  </a:lnTo>
                </a:path>
              </a:pathLst>
            </a:custGeom>
            <a:ln w="5060">
              <a:solidFill>
                <a:srgbClr val="7F00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1435963" y="5848426"/>
              <a:ext cx="2543810" cy="1149350"/>
            </a:xfrm>
            <a:custGeom>
              <a:avLst/>
              <a:gdLst/>
              <a:ahLst/>
              <a:cxnLst/>
              <a:rect l="l" t="t" r="r" b="b"/>
              <a:pathLst>
                <a:path w="2543810" h="1149350">
                  <a:moveTo>
                    <a:pt x="0" y="1149273"/>
                  </a:moveTo>
                  <a:lnTo>
                    <a:pt x="50863" y="1146289"/>
                  </a:lnTo>
                  <a:lnTo>
                    <a:pt x="101739" y="1142923"/>
                  </a:lnTo>
                  <a:lnTo>
                    <a:pt x="152603" y="1139164"/>
                  </a:lnTo>
                  <a:lnTo>
                    <a:pt x="203479" y="1134935"/>
                  </a:lnTo>
                  <a:lnTo>
                    <a:pt x="254342" y="1130211"/>
                  </a:lnTo>
                  <a:lnTo>
                    <a:pt x="305219" y="1124927"/>
                  </a:lnTo>
                  <a:lnTo>
                    <a:pt x="356082" y="1119022"/>
                  </a:lnTo>
                  <a:lnTo>
                    <a:pt x="406958" y="1112431"/>
                  </a:lnTo>
                  <a:lnTo>
                    <a:pt x="457822" y="1105065"/>
                  </a:lnTo>
                  <a:lnTo>
                    <a:pt x="508698" y="1096873"/>
                  </a:lnTo>
                  <a:lnTo>
                    <a:pt x="559562" y="1087767"/>
                  </a:lnTo>
                  <a:lnTo>
                    <a:pt x="610438" y="1077645"/>
                  </a:lnTo>
                  <a:lnTo>
                    <a:pt x="661301" y="1066444"/>
                  </a:lnTo>
                  <a:lnTo>
                    <a:pt x="712177" y="1054049"/>
                  </a:lnTo>
                  <a:lnTo>
                    <a:pt x="763041" y="1040358"/>
                  </a:lnTo>
                  <a:lnTo>
                    <a:pt x="813904" y="1025321"/>
                  </a:lnTo>
                  <a:lnTo>
                    <a:pt x="864781" y="1008773"/>
                  </a:lnTo>
                  <a:lnTo>
                    <a:pt x="915657" y="990688"/>
                  </a:lnTo>
                  <a:lnTo>
                    <a:pt x="966520" y="970940"/>
                  </a:lnTo>
                  <a:lnTo>
                    <a:pt x="1017397" y="949477"/>
                  </a:lnTo>
                  <a:lnTo>
                    <a:pt x="1068260" y="926223"/>
                  </a:lnTo>
                  <a:lnTo>
                    <a:pt x="1119136" y="901179"/>
                  </a:lnTo>
                  <a:lnTo>
                    <a:pt x="1170000" y="874280"/>
                  </a:lnTo>
                  <a:lnTo>
                    <a:pt x="1220876" y="845540"/>
                  </a:lnTo>
                  <a:lnTo>
                    <a:pt x="1271739" y="815009"/>
                  </a:lnTo>
                  <a:lnTo>
                    <a:pt x="1322616" y="782713"/>
                  </a:lnTo>
                  <a:lnTo>
                    <a:pt x="1373479" y="748792"/>
                  </a:lnTo>
                  <a:lnTo>
                    <a:pt x="1424343" y="713346"/>
                  </a:lnTo>
                  <a:lnTo>
                    <a:pt x="1475219" y="676592"/>
                  </a:lnTo>
                  <a:lnTo>
                    <a:pt x="1526082" y="638670"/>
                  </a:lnTo>
                  <a:lnTo>
                    <a:pt x="1576959" y="599846"/>
                  </a:lnTo>
                  <a:lnTo>
                    <a:pt x="1627822" y="560400"/>
                  </a:lnTo>
                  <a:lnTo>
                    <a:pt x="1678698" y="520560"/>
                  </a:lnTo>
                  <a:lnTo>
                    <a:pt x="1704136" y="500621"/>
                  </a:lnTo>
                  <a:lnTo>
                    <a:pt x="1729562" y="480695"/>
                  </a:lnTo>
                  <a:lnTo>
                    <a:pt x="1755000" y="460743"/>
                  </a:lnTo>
                  <a:lnTo>
                    <a:pt x="1780438" y="440944"/>
                  </a:lnTo>
                  <a:lnTo>
                    <a:pt x="1831301" y="401637"/>
                  </a:lnTo>
                  <a:lnTo>
                    <a:pt x="1882178" y="363080"/>
                  </a:lnTo>
                  <a:lnTo>
                    <a:pt x="1933041" y="325551"/>
                  </a:lnTo>
                  <a:lnTo>
                    <a:pt x="1983917" y="289191"/>
                  </a:lnTo>
                  <a:lnTo>
                    <a:pt x="2034781" y="254241"/>
                  </a:lnTo>
                  <a:lnTo>
                    <a:pt x="2085657" y="220853"/>
                  </a:lnTo>
                  <a:lnTo>
                    <a:pt x="2136521" y="189115"/>
                  </a:lnTo>
                  <a:lnTo>
                    <a:pt x="2187397" y="159131"/>
                  </a:lnTo>
                  <a:lnTo>
                    <a:pt x="2238260" y="131051"/>
                  </a:lnTo>
                  <a:lnTo>
                    <a:pt x="2289124" y="104787"/>
                  </a:lnTo>
                  <a:lnTo>
                    <a:pt x="2340000" y="80314"/>
                  </a:lnTo>
                  <a:lnTo>
                    <a:pt x="2390863" y="57619"/>
                  </a:lnTo>
                  <a:lnTo>
                    <a:pt x="2441740" y="36741"/>
                  </a:lnTo>
                  <a:lnTo>
                    <a:pt x="2492603" y="17487"/>
                  </a:lnTo>
                  <a:lnTo>
                    <a:pt x="2518041" y="8610"/>
                  </a:lnTo>
                  <a:lnTo>
                    <a:pt x="2543479" y="0"/>
                  </a:lnTo>
                </a:path>
              </a:pathLst>
            </a:custGeom>
            <a:ln w="5060">
              <a:solidFill>
                <a:srgbClr val="BF003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435963" y="6047892"/>
              <a:ext cx="2543810" cy="949960"/>
            </a:xfrm>
            <a:custGeom>
              <a:avLst/>
              <a:gdLst/>
              <a:ahLst/>
              <a:cxnLst/>
              <a:rect l="l" t="t" r="r" b="b"/>
              <a:pathLst>
                <a:path w="2543810" h="949959">
                  <a:moveTo>
                    <a:pt x="0" y="949807"/>
                  </a:moveTo>
                  <a:lnTo>
                    <a:pt x="50863" y="947343"/>
                  </a:lnTo>
                  <a:lnTo>
                    <a:pt x="101739" y="944613"/>
                  </a:lnTo>
                  <a:lnTo>
                    <a:pt x="152603" y="941628"/>
                  </a:lnTo>
                  <a:lnTo>
                    <a:pt x="203479" y="938339"/>
                  </a:lnTo>
                  <a:lnTo>
                    <a:pt x="254342" y="934720"/>
                  </a:lnTo>
                  <a:lnTo>
                    <a:pt x="305219" y="930744"/>
                  </a:lnTo>
                  <a:lnTo>
                    <a:pt x="356082" y="926388"/>
                  </a:lnTo>
                  <a:lnTo>
                    <a:pt x="406958" y="921600"/>
                  </a:lnTo>
                  <a:lnTo>
                    <a:pt x="457822" y="916343"/>
                  </a:lnTo>
                  <a:lnTo>
                    <a:pt x="508698" y="910590"/>
                  </a:lnTo>
                  <a:lnTo>
                    <a:pt x="559562" y="904290"/>
                  </a:lnTo>
                  <a:lnTo>
                    <a:pt x="610438" y="897407"/>
                  </a:lnTo>
                  <a:lnTo>
                    <a:pt x="661301" y="889889"/>
                  </a:lnTo>
                  <a:lnTo>
                    <a:pt x="712177" y="881672"/>
                  </a:lnTo>
                  <a:lnTo>
                    <a:pt x="763041" y="872718"/>
                  </a:lnTo>
                  <a:lnTo>
                    <a:pt x="813904" y="862977"/>
                  </a:lnTo>
                  <a:lnTo>
                    <a:pt x="864781" y="852385"/>
                  </a:lnTo>
                  <a:lnTo>
                    <a:pt x="915657" y="840892"/>
                  </a:lnTo>
                  <a:lnTo>
                    <a:pt x="966520" y="828446"/>
                  </a:lnTo>
                  <a:lnTo>
                    <a:pt x="1017397" y="814984"/>
                  </a:lnTo>
                  <a:lnTo>
                    <a:pt x="1068260" y="800455"/>
                  </a:lnTo>
                  <a:lnTo>
                    <a:pt x="1119136" y="784809"/>
                  </a:lnTo>
                  <a:lnTo>
                    <a:pt x="1170000" y="768019"/>
                  </a:lnTo>
                  <a:lnTo>
                    <a:pt x="1220876" y="750011"/>
                  </a:lnTo>
                  <a:lnTo>
                    <a:pt x="1271739" y="730770"/>
                  </a:lnTo>
                  <a:lnTo>
                    <a:pt x="1322616" y="710260"/>
                  </a:lnTo>
                  <a:lnTo>
                    <a:pt x="1373479" y="688492"/>
                  </a:lnTo>
                  <a:lnTo>
                    <a:pt x="1424343" y="665416"/>
                  </a:lnTo>
                  <a:lnTo>
                    <a:pt x="1475219" y="641108"/>
                  </a:lnTo>
                  <a:lnTo>
                    <a:pt x="1526082" y="615543"/>
                  </a:lnTo>
                  <a:lnTo>
                    <a:pt x="1576959" y="588746"/>
                  </a:lnTo>
                  <a:lnTo>
                    <a:pt x="1627822" y="560806"/>
                  </a:lnTo>
                  <a:lnTo>
                    <a:pt x="1678698" y="531787"/>
                  </a:lnTo>
                  <a:lnTo>
                    <a:pt x="1729562" y="501777"/>
                  </a:lnTo>
                  <a:lnTo>
                    <a:pt x="1780438" y="470865"/>
                  </a:lnTo>
                  <a:lnTo>
                    <a:pt x="1831301" y="439204"/>
                  </a:lnTo>
                  <a:lnTo>
                    <a:pt x="1882178" y="406908"/>
                  </a:lnTo>
                  <a:lnTo>
                    <a:pt x="1933041" y="374154"/>
                  </a:lnTo>
                  <a:lnTo>
                    <a:pt x="1983917" y="341045"/>
                  </a:lnTo>
                  <a:lnTo>
                    <a:pt x="2034781" y="307771"/>
                  </a:lnTo>
                  <a:lnTo>
                    <a:pt x="2060219" y="291198"/>
                  </a:lnTo>
                  <a:lnTo>
                    <a:pt x="2111082" y="257987"/>
                  </a:lnTo>
                  <a:lnTo>
                    <a:pt x="2161959" y="225044"/>
                  </a:lnTo>
                  <a:lnTo>
                    <a:pt x="2212822" y="192481"/>
                  </a:lnTo>
                  <a:lnTo>
                    <a:pt x="2263698" y="160451"/>
                  </a:lnTo>
                  <a:lnTo>
                    <a:pt x="2314562" y="129146"/>
                  </a:lnTo>
                  <a:lnTo>
                    <a:pt x="2365438" y="98679"/>
                  </a:lnTo>
                  <a:lnTo>
                    <a:pt x="2416302" y="69138"/>
                  </a:lnTo>
                  <a:lnTo>
                    <a:pt x="2467178" y="40678"/>
                  </a:lnTo>
                  <a:lnTo>
                    <a:pt x="2518041" y="13296"/>
                  </a:lnTo>
                  <a:lnTo>
                    <a:pt x="2543479" y="0"/>
                  </a:lnTo>
                </a:path>
              </a:pathLst>
            </a:custGeom>
            <a:ln w="5060">
              <a:solidFill>
                <a:srgbClr val="E5001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/>
          <p:cNvSpPr txBox="1"/>
          <p:nvPr/>
        </p:nvSpPr>
        <p:spPr>
          <a:xfrm>
            <a:off x="2274951" y="5361485"/>
            <a:ext cx="9931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4229709" y="5724550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1900E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/>
          <p:nvPr/>
        </p:nvSpPr>
        <p:spPr>
          <a:xfrm>
            <a:off x="4229709" y="5871794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3F00B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/>
          <p:cNvSpPr/>
          <p:nvPr/>
        </p:nvSpPr>
        <p:spPr>
          <a:xfrm>
            <a:off x="4229709" y="6019038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7F0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/>
          <p:nvPr/>
        </p:nvSpPr>
        <p:spPr>
          <a:xfrm>
            <a:off x="4229709" y="6166281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BF003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4229709" y="6313538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E5001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 txBox="1"/>
          <p:nvPr/>
        </p:nvSpPr>
        <p:spPr>
          <a:xfrm>
            <a:off x="4189260" y="5625591"/>
            <a:ext cx="1016000" cy="787400"/>
          </a:xfrm>
          <a:prstGeom prst="rect">
            <a:avLst/>
          </a:prstGeom>
          <a:ln w="5060">
            <a:solidFill>
              <a:srgbClr val="000000"/>
            </a:solidFill>
          </a:ln>
        </p:spPr>
        <p:txBody>
          <a:bodyPr wrap="square" lIns="0" tIns="22860" rIns="0" bIns="0" rtlCol="0" vert="horz">
            <a:spAutoFit/>
          </a:bodyPr>
          <a:lstStyle/>
          <a:p>
            <a:pPr marL="286385">
              <a:lnSpc>
                <a:spcPct val="100000"/>
              </a:lnSpc>
              <a:spcBef>
                <a:spcPts val="18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9,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  <a:p>
            <a:pPr marL="286385">
              <a:lnSpc>
                <a:spcPct val="100000"/>
              </a:lnSpc>
              <a:spcBef>
                <a:spcPts val="14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8,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  <a:p>
            <a:pPr marL="286385">
              <a:lnSpc>
                <a:spcPct val="100000"/>
              </a:lnSpc>
              <a:spcBef>
                <a:spcPts val="14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7,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  <a:p>
            <a:pPr marL="286385">
              <a:lnSpc>
                <a:spcPct val="100000"/>
              </a:lnSpc>
              <a:spcBef>
                <a:spcPts val="135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6,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  <a:p>
            <a:pPr marL="286385">
              <a:lnSpc>
                <a:spcPct val="100000"/>
              </a:lnSpc>
              <a:spcBef>
                <a:spcPts val="14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5,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010056" y="7399085"/>
            <a:ext cx="4453890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32384" indent="635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earlier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book,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what’s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being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neuron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wx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spc="15" i="1">
                <a:latin typeface="Calibri"/>
                <a:cs typeface="Calibri"/>
              </a:rPr>
              <a:t>b</a:t>
            </a:r>
            <a:r>
              <a:rPr dirty="0" sz="850" spc="15">
                <a:latin typeface="Tahoma"/>
                <a:cs typeface="Tahoma"/>
              </a:rPr>
              <a:t>)</a:t>
            </a:r>
            <a:r>
              <a:rPr dirty="0" sz="850" spc="15">
                <a:latin typeface="Calibri"/>
                <a:cs typeface="Calibri"/>
              </a:rPr>
              <a:t>,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where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σ</a:t>
            </a:r>
            <a:r>
              <a:rPr dirty="0" sz="850" spc="75">
                <a:latin typeface="Tahoma"/>
                <a:cs typeface="Tahoma"/>
              </a:rPr>
              <a:t>(</a:t>
            </a:r>
            <a:r>
              <a:rPr dirty="0" sz="850" spc="75" i="1">
                <a:latin typeface="Calibri"/>
                <a:cs typeface="Calibri"/>
              </a:rPr>
              <a:t>z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30">
                <a:latin typeface="Cambria"/>
                <a:cs typeface="Cambria"/>
              </a:rPr>
              <a:t>≡</a:t>
            </a:r>
            <a:r>
              <a:rPr dirty="0" sz="850" spc="15">
                <a:latin typeface="Cambria"/>
                <a:cs typeface="Cambria"/>
              </a:rPr>
              <a:t> </a:t>
            </a:r>
            <a:r>
              <a:rPr dirty="0" sz="850" spc="70">
                <a:latin typeface="Calibri"/>
                <a:cs typeface="Calibri"/>
              </a:rPr>
              <a:t>1</a:t>
            </a:r>
            <a:r>
              <a:rPr dirty="0" sz="850" spc="70" i="1">
                <a:latin typeface="Times New Roman"/>
                <a:cs typeface="Times New Roman"/>
              </a:rPr>
              <a:t>/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>
                <a:latin typeface="Calibri"/>
                <a:cs typeface="Calibri"/>
              </a:rPr>
              <a:t>1</a:t>
            </a:r>
            <a:r>
              <a:rPr dirty="0" sz="850" spc="-95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145">
                <a:latin typeface="Tahoma"/>
                <a:cs typeface="Tahoma"/>
              </a:rPr>
              <a:t> </a:t>
            </a:r>
            <a:r>
              <a:rPr dirty="0" sz="850" spc="45" i="1">
                <a:latin typeface="Calibri"/>
                <a:cs typeface="Calibri"/>
              </a:rPr>
              <a:t>e</a:t>
            </a:r>
            <a:r>
              <a:rPr dirty="0" baseline="35353" sz="825" spc="67">
                <a:latin typeface="Cambria"/>
                <a:cs typeface="Cambria"/>
              </a:rPr>
              <a:t>−</a:t>
            </a:r>
            <a:r>
              <a:rPr dirty="0" baseline="35353" sz="825" spc="67" i="1">
                <a:latin typeface="Calibri"/>
                <a:cs typeface="Calibri"/>
              </a:rPr>
              <a:t>z</a:t>
            </a:r>
            <a:r>
              <a:rPr dirty="0" baseline="35353" sz="825" spc="-7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60">
                <a:latin typeface="Tahoma"/>
                <a:cs typeface="Tahoma"/>
              </a:rPr>
              <a:t> </a:t>
            </a:r>
            <a:r>
              <a:rPr dirty="0" sz="850" spc="15">
                <a:latin typeface="Calibri"/>
                <a:cs typeface="Calibri"/>
              </a:rPr>
              <a:t>is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15">
                <a:latin typeface="Calibri"/>
                <a:cs typeface="Calibri"/>
              </a:rPr>
              <a:t> function.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Up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now,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made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frequent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algebraic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form.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universality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will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obtain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insight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ignoring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 </a:t>
            </a:r>
            <a:r>
              <a:rPr dirty="0" sz="850" spc="10">
                <a:latin typeface="Calibri"/>
                <a:cs typeface="Calibri"/>
              </a:rPr>
              <a:t>algebra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entirely,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manipulating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observing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shape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shown</a:t>
            </a:r>
            <a:r>
              <a:rPr dirty="0" sz="850" spc="30">
                <a:latin typeface="Calibri"/>
                <a:cs typeface="Calibri"/>
              </a:rPr>
              <a:t> in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graph.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This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5778788" y="2267988"/>
            <a:ext cx="344170" cy="472440"/>
            <a:chOff x="5778788" y="2267988"/>
            <a:chExt cx="344170" cy="472440"/>
          </a:xfrm>
        </p:grpSpPr>
        <p:sp>
          <p:nvSpPr>
            <p:cNvPr id="53" name="object 53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/>
          <p:cNvSpPr txBox="1"/>
          <p:nvPr/>
        </p:nvSpPr>
        <p:spPr>
          <a:xfrm>
            <a:off x="5876620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2970" cy="13106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132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25120" marR="304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4</a:t>
            </a:r>
            <a:r>
              <a:rPr dirty="0" baseline="35353" sz="825" spc="3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universality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simplify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analysis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increasing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function,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approximation.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Below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plotted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999.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14564" y="2503593"/>
            <a:ext cx="1466254" cy="1136353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3044964" y="2436799"/>
            <a:ext cx="1186180" cy="1158875"/>
            <a:chOff x="3044964" y="2436799"/>
            <a:chExt cx="1186180" cy="1158875"/>
          </a:xfrm>
        </p:grpSpPr>
        <p:sp>
          <p:nvSpPr>
            <p:cNvPr id="5" name="object 5"/>
            <p:cNvSpPr/>
            <p:nvPr/>
          </p:nvSpPr>
          <p:spPr>
            <a:xfrm>
              <a:off x="4079455" y="3434740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w="0" h="54610">
                  <a:moveTo>
                    <a:pt x="0" y="540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044964" y="2570479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10" h="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071964" y="3461727"/>
              <a:ext cx="1133475" cy="0"/>
            </a:xfrm>
            <a:custGeom>
              <a:avLst/>
              <a:gdLst/>
              <a:ahLst/>
              <a:cxnLst/>
              <a:rect l="l" t="t" r="r" b="b"/>
              <a:pathLst>
                <a:path w="1133475" h="0">
                  <a:moveTo>
                    <a:pt x="0" y="0"/>
                  </a:moveTo>
                  <a:lnTo>
                    <a:pt x="1133309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190098" y="344148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76" y="20243"/>
                  </a:lnTo>
                  <a:lnTo>
                    <a:pt x="0" y="40500"/>
                  </a:lnTo>
                  <a:lnTo>
                    <a:pt x="40474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071964" y="2462098"/>
              <a:ext cx="0" cy="1133475"/>
            </a:xfrm>
            <a:custGeom>
              <a:avLst/>
              <a:gdLst/>
              <a:ahLst/>
              <a:cxnLst/>
              <a:rect l="l" t="t" r="r" b="b"/>
              <a:pathLst>
                <a:path w="0" h="1133475">
                  <a:moveTo>
                    <a:pt x="0" y="1133322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051721" y="243679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0" y="40487"/>
                  </a:lnTo>
                  <a:lnTo>
                    <a:pt x="20243" y="25298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071964" y="2570479"/>
              <a:ext cx="1007744" cy="891540"/>
            </a:xfrm>
            <a:custGeom>
              <a:avLst/>
              <a:gdLst/>
              <a:ahLst/>
              <a:cxnLst/>
              <a:rect l="l" t="t" r="r" b="b"/>
              <a:pathLst>
                <a:path w="1007745" h="891539">
                  <a:moveTo>
                    <a:pt x="0" y="891247"/>
                  </a:moveTo>
                  <a:lnTo>
                    <a:pt x="387883" y="891247"/>
                  </a:lnTo>
                  <a:lnTo>
                    <a:pt x="392925" y="891222"/>
                  </a:lnTo>
                  <a:lnTo>
                    <a:pt x="397954" y="887222"/>
                  </a:lnTo>
                  <a:lnTo>
                    <a:pt x="402996" y="533577"/>
                  </a:lnTo>
                  <a:lnTo>
                    <a:pt x="408038" y="8915"/>
                  </a:lnTo>
                  <a:lnTo>
                    <a:pt x="413080" y="76"/>
                  </a:lnTo>
                  <a:lnTo>
                    <a:pt x="418109" y="0"/>
                  </a:lnTo>
                  <a:lnTo>
                    <a:pt x="423138" y="0"/>
                  </a:lnTo>
                  <a:lnTo>
                    <a:pt x="428180" y="0"/>
                  </a:lnTo>
                  <a:lnTo>
                    <a:pt x="1002449" y="0"/>
                  </a:lnTo>
                  <a:lnTo>
                    <a:pt x="1007491" y="0"/>
                  </a:lnTo>
                </a:path>
              </a:pathLst>
            </a:custGeom>
            <a:ln w="5060">
              <a:solidFill>
                <a:srgbClr val="1900E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4036352" y="3250267"/>
            <a:ext cx="158115" cy="387350"/>
          </a:xfrm>
          <a:prstGeom prst="rect">
            <a:avLst/>
          </a:prstGeom>
        </p:spPr>
        <p:txBody>
          <a:bodyPr wrap="square" lIns="0" tIns="63500" rIns="0" bIns="0" rtlCol="0" vert="horz">
            <a:spAutoFit/>
          </a:bodyPr>
          <a:lstStyle/>
          <a:p>
            <a:pPr marL="92710">
              <a:lnSpc>
                <a:spcPct val="100000"/>
              </a:lnSpc>
              <a:spcBef>
                <a:spcPts val="500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05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932518" y="2485619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880817" y="2175207"/>
            <a:ext cx="15411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2384" y="4046874"/>
            <a:ext cx="4378325" cy="2839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444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contributions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analyze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bunch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reason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bunch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shaped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curves.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makes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assume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outputting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concretely,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fixing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setting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treating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approximation,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approximation,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now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treat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exact.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impact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deviations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approximation.</a:t>
            </a:r>
            <a:endParaRPr sz="850">
              <a:latin typeface="Calibri"/>
              <a:cs typeface="Calibri"/>
            </a:endParaRPr>
          </a:p>
          <a:p>
            <a:pPr algn="just" marL="17145" marR="32384" indent="189230">
              <a:lnSpc>
                <a:spcPct val="114300"/>
              </a:lnSpc>
              <a:spcBef>
                <a:spcPts val="780"/>
              </a:spcBef>
            </a:pP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0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occur?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depend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bias?</a:t>
            </a:r>
            <a:endParaRPr sz="850">
              <a:latin typeface="Calibri"/>
              <a:cs typeface="Calibri"/>
            </a:endParaRPr>
          </a:p>
          <a:p>
            <a:pPr algn="just" marL="17145" marR="32384" indent="189230">
              <a:lnSpc>
                <a:spcPct val="114300"/>
              </a:lnSpc>
              <a:spcBef>
                <a:spcPts val="775"/>
              </a:spcBef>
            </a:pP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answer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question,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modifying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diagram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(you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scroll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bit).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depends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0">
                <a:latin typeface="Calibri"/>
                <a:cs typeface="Calibri"/>
              </a:rPr>
              <a:t>?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convince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yourself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proportional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inversely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proportional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17145" marR="32384" indent="189230">
              <a:lnSpc>
                <a:spcPct val="114300"/>
              </a:lnSpc>
              <a:spcBef>
                <a:spcPts val="780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step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position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s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90">
                <a:latin typeface="Cambria"/>
                <a:cs typeface="Cambria"/>
              </a:rPr>
              <a:t>−</a:t>
            </a:r>
            <a:r>
              <a:rPr dirty="0" sz="850" spc="90" i="1">
                <a:latin typeface="Calibri"/>
                <a:cs typeface="Calibri"/>
              </a:rPr>
              <a:t>b</a:t>
            </a:r>
            <a:r>
              <a:rPr dirty="0" sz="850" spc="90" i="1">
                <a:latin typeface="Times New Roman"/>
                <a:cs typeface="Times New Roman"/>
              </a:rPr>
              <a:t>/</a:t>
            </a:r>
            <a:r>
              <a:rPr dirty="0" sz="850" spc="90" i="1">
                <a:latin typeface="Calibri"/>
                <a:cs typeface="Calibri"/>
              </a:rPr>
              <a:t>w</a:t>
            </a:r>
            <a:r>
              <a:rPr dirty="0" sz="850" spc="90">
                <a:latin typeface="Calibri"/>
                <a:cs typeface="Calibri"/>
              </a:rPr>
              <a:t>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modifying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diagram: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720001" y="7350709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681901" y="7366082"/>
            <a:ext cx="4420870" cy="64833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just" marL="38100" marR="30480" indent="12763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15">
                <a:latin typeface="Calibri"/>
                <a:cs typeface="Calibri"/>
              </a:rPr>
              <a:t>4</a:t>
            </a:r>
            <a:r>
              <a:rPr dirty="0" sz="750" spc="10">
                <a:latin typeface="Calibri"/>
                <a:cs typeface="Calibri"/>
              </a:rPr>
              <a:t>Strictly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speaking,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visual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approach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I’m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taking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isn’t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what’s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traditionally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thought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proof.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But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I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believe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visual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approach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gives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more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insight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into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why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result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true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than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traditional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proof.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And,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course,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kind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insight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real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purpose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behind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proof.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Occasionally,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there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will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small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gaps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in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reasoning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I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present: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places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where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I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make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visual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argument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plausible,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but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not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quite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rigorous.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If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bothers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you,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consider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challenge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fill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missing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steps.</a:t>
            </a:r>
            <a:r>
              <a:rPr dirty="0" sz="750" spc="21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don’t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lose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sight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the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real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purpose:</a:t>
            </a:r>
            <a:r>
              <a:rPr dirty="0" sz="750" spc="20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understand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why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universality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theorem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true.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-2530" y="2267988"/>
            <a:ext cx="344170" cy="472440"/>
            <a:chOff x="-2530" y="2267988"/>
            <a:chExt cx="344170" cy="472440"/>
          </a:xfrm>
        </p:grpSpPr>
        <p:sp>
          <p:nvSpPr>
            <p:cNvPr id="19" name="object 19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66570"/>
                  </a:lnTo>
                  <a:lnTo>
                    <a:pt x="2525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0" y="466570"/>
                  </a:moveTo>
                  <a:lnTo>
                    <a:pt x="2525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25831" y="225600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74558" y="1133005"/>
            <a:ext cx="1512112" cy="1283004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3403689" y="1184160"/>
            <a:ext cx="1187450" cy="1161415"/>
            <a:chOff x="3403689" y="1184160"/>
            <a:chExt cx="1187450" cy="1161415"/>
          </a:xfrm>
        </p:grpSpPr>
        <p:sp>
          <p:nvSpPr>
            <p:cNvPr id="4" name="object 4"/>
            <p:cNvSpPr/>
            <p:nvPr/>
          </p:nvSpPr>
          <p:spPr>
            <a:xfrm>
              <a:off x="3834955" y="2182088"/>
              <a:ext cx="604520" cy="54610"/>
            </a:xfrm>
            <a:custGeom>
              <a:avLst/>
              <a:gdLst/>
              <a:ahLst/>
              <a:cxnLst/>
              <a:rect l="l" t="t" r="r" b="b"/>
              <a:pathLst>
                <a:path w="604520" h="54610">
                  <a:moveTo>
                    <a:pt x="0" y="54000"/>
                  </a:moveTo>
                  <a:lnTo>
                    <a:pt x="0" y="0"/>
                  </a:lnTo>
                </a:path>
                <a:path w="604520" h="54610">
                  <a:moveTo>
                    <a:pt x="604494" y="54000"/>
                  </a:moveTo>
                  <a:lnTo>
                    <a:pt x="604494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404959" y="1317853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10" h="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431959" y="2209101"/>
              <a:ext cx="1133475" cy="0"/>
            </a:xfrm>
            <a:custGeom>
              <a:avLst/>
              <a:gdLst/>
              <a:ahLst/>
              <a:cxnLst/>
              <a:rect l="l" t="t" r="r" b="b"/>
              <a:pathLst>
                <a:path w="1133475" h="0">
                  <a:moveTo>
                    <a:pt x="0" y="0"/>
                  </a:moveTo>
                  <a:lnTo>
                    <a:pt x="1133309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550092" y="218884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76" y="20256"/>
                  </a:lnTo>
                  <a:lnTo>
                    <a:pt x="0" y="40487"/>
                  </a:lnTo>
                  <a:lnTo>
                    <a:pt x="40487" y="20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431959" y="1209471"/>
              <a:ext cx="0" cy="1133475"/>
            </a:xfrm>
            <a:custGeom>
              <a:avLst/>
              <a:gdLst/>
              <a:ahLst/>
              <a:cxnLst/>
              <a:rect l="l" t="t" r="r" b="b"/>
              <a:pathLst>
                <a:path w="0" h="1133475">
                  <a:moveTo>
                    <a:pt x="0" y="1133309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411715" y="118416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243" y="0"/>
                  </a:moveTo>
                  <a:lnTo>
                    <a:pt x="0" y="40487"/>
                  </a:lnTo>
                  <a:lnTo>
                    <a:pt x="20243" y="25311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3536721" y="2236891"/>
            <a:ext cx="5969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10">
                <a:latin typeface="Cambria"/>
                <a:cs typeface="Cambria"/>
              </a:rPr>
              <a:t>−</a:t>
            </a:r>
            <a:r>
              <a:rPr dirty="0" sz="850" spc="110" i="1">
                <a:latin typeface="Calibri"/>
                <a:cs typeface="Calibri"/>
              </a:rPr>
              <a:t>b</a:t>
            </a:r>
            <a:r>
              <a:rPr dirty="0" sz="850" spc="110" i="1">
                <a:latin typeface="Times New Roman"/>
                <a:cs typeface="Times New Roman"/>
              </a:rPr>
              <a:t>/</a:t>
            </a:r>
            <a:r>
              <a:rPr dirty="0" sz="850" spc="110" i="1">
                <a:latin typeface="Calibri"/>
                <a:cs typeface="Calibri"/>
              </a:rPr>
              <a:t>w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0.4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396348" y="2227604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431959" y="1317853"/>
            <a:ext cx="1007744" cy="891540"/>
          </a:xfrm>
          <a:custGeom>
            <a:avLst/>
            <a:gdLst/>
            <a:ahLst/>
            <a:cxnLst/>
            <a:rect l="l" t="t" r="r" b="b"/>
            <a:pathLst>
              <a:path w="1007745" h="891539">
                <a:moveTo>
                  <a:pt x="0" y="891247"/>
                </a:moveTo>
                <a:lnTo>
                  <a:pt x="246837" y="891247"/>
                </a:lnTo>
                <a:lnTo>
                  <a:pt x="251879" y="891235"/>
                </a:lnTo>
                <a:lnTo>
                  <a:pt x="277063" y="891235"/>
                </a:lnTo>
                <a:lnTo>
                  <a:pt x="282092" y="891235"/>
                </a:lnTo>
                <a:lnTo>
                  <a:pt x="287134" y="891235"/>
                </a:lnTo>
                <a:lnTo>
                  <a:pt x="292176" y="891222"/>
                </a:lnTo>
                <a:lnTo>
                  <a:pt x="297218" y="891222"/>
                </a:lnTo>
                <a:lnTo>
                  <a:pt x="302247" y="891197"/>
                </a:lnTo>
                <a:lnTo>
                  <a:pt x="307289" y="891171"/>
                </a:lnTo>
                <a:lnTo>
                  <a:pt x="347586" y="887615"/>
                </a:lnTo>
                <a:lnTo>
                  <a:pt x="372770" y="848969"/>
                </a:lnTo>
                <a:lnTo>
                  <a:pt x="382854" y="784999"/>
                </a:lnTo>
                <a:lnTo>
                  <a:pt x="387883" y="728649"/>
                </a:lnTo>
                <a:lnTo>
                  <a:pt x="392925" y="651548"/>
                </a:lnTo>
                <a:lnTo>
                  <a:pt x="397954" y="554748"/>
                </a:lnTo>
                <a:lnTo>
                  <a:pt x="402996" y="445617"/>
                </a:lnTo>
                <a:lnTo>
                  <a:pt x="408038" y="336524"/>
                </a:lnTo>
                <a:lnTo>
                  <a:pt x="413067" y="239687"/>
                </a:lnTo>
                <a:lnTo>
                  <a:pt x="418109" y="162585"/>
                </a:lnTo>
                <a:lnTo>
                  <a:pt x="423151" y="106222"/>
                </a:lnTo>
                <a:lnTo>
                  <a:pt x="428180" y="67614"/>
                </a:lnTo>
                <a:lnTo>
                  <a:pt x="438251" y="26136"/>
                </a:lnTo>
                <a:lnTo>
                  <a:pt x="468477" y="1333"/>
                </a:lnTo>
                <a:lnTo>
                  <a:pt x="503745" y="50"/>
                </a:lnTo>
                <a:lnTo>
                  <a:pt x="508787" y="38"/>
                </a:lnTo>
                <a:lnTo>
                  <a:pt x="513816" y="25"/>
                </a:lnTo>
                <a:lnTo>
                  <a:pt x="518858" y="25"/>
                </a:lnTo>
                <a:lnTo>
                  <a:pt x="523900" y="0"/>
                </a:lnTo>
                <a:lnTo>
                  <a:pt x="1002449" y="0"/>
                </a:lnTo>
                <a:lnTo>
                  <a:pt x="1007491" y="0"/>
                </a:lnTo>
              </a:path>
            </a:pathLst>
          </a:custGeom>
          <a:ln w="5060">
            <a:solidFill>
              <a:srgbClr val="1900E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4476838" y="2047280"/>
            <a:ext cx="781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995396" y="368721"/>
            <a:ext cx="2685415" cy="10210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489835" algn="l"/>
              </a:tabLst>
            </a:pPr>
            <a:r>
              <a:rPr dirty="0" sz="850" spc="10">
                <a:latin typeface="Calibri"/>
                <a:cs typeface="Calibri"/>
              </a:rPr>
              <a:t>4.2.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133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905"/>
              </a:spcBef>
            </a:pPr>
            <a:endParaRPr sz="850">
              <a:latin typeface="Arial MT"/>
              <a:cs typeface="Arial MT"/>
            </a:endParaRPr>
          </a:p>
          <a:p>
            <a:pPr marL="309245" marR="903605" indent="-52069">
              <a:lnSpc>
                <a:spcPct val="239600"/>
              </a:lnSpc>
            </a:pP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67296" y="2605674"/>
            <a:ext cx="4368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greatly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simplify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lives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s</a:t>
            </a:r>
            <a:r>
              <a:rPr dirty="0" sz="850" spc="-25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6" name="object 1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74558" y="3422561"/>
            <a:ext cx="1512112" cy="1283004"/>
          </a:xfrm>
          <a:prstGeom prst="rect">
            <a:avLst/>
          </a:prstGeom>
        </p:spPr>
      </p:pic>
      <p:grpSp>
        <p:nvGrpSpPr>
          <p:cNvPr id="17" name="object 17"/>
          <p:cNvGrpSpPr/>
          <p:nvPr/>
        </p:nvGrpSpPr>
        <p:grpSpPr>
          <a:xfrm>
            <a:off x="3403689" y="3503676"/>
            <a:ext cx="1187450" cy="1161415"/>
            <a:chOff x="3403689" y="3503676"/>
            <a:chExt cx="1187450" cy="1161415"/>
          </a:xfrm>
        </p:grpSpPr>
        <p:sp>
          <p:nvSpPr>
            <p:cNvPr id="18" name="object 18"/>
            <p:cNvSpPr/>
            <p:nvPr/>
          </p:nvSpPr>
          <p:spPr>
            <a:xfrm>
              <a:off x="3834955" y="4501604"/>
              <a:ext cx="604520" cy="54610"/>
            </a:xfrm>
            <a:custGeom>
              <a:avLst/>
              <a:gdLst/>
              <a:ahLst/>
              <a:cxnLst/>
              <a:rect l="l" t="t" r="r" b="b"/>
              <a:pathLst>
                <a:path w="604520" h="54610">
                  <a:moveTo>
                    <a:pt x="0" y="54000"/>
                  </a:moveTo>
                  <a:lnTo>
                    <a:pt x="0" y="0"/>
                  </a:lnTo>
                </a:path>
                <a:path w="604520" h="54610">
                  <a:moveTo>
                    <a:pt x="604494" y="54000"/>
                  </a:moveTo>
                  <a:lnTo>
                    <a:pt x="604494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404959" y="3637368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10" h="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431959" y="4528604"/>
              <a:ext cx="1133475" cy="0"/>
            </a:xfrm>
            <a:custGeom>
              <a:avLst/>
              <a:gdLst/>
              <a:ahLst/>
              <a:cxnLst/>
              <a:rect l="l" t="t" r="r" b="b"/>
              <a:pathLst>
                <a:path w="1133475" h="0">
                  <a:moveTo>
                    <a:pt x="0" y="0"/>
                  </a:moveTo>
                  <a:lnTo>
                    <a:pt x="1133309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550092" y="450837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76" y="20231"/>
                  </a:lnTo>
                  <a:lnTo>
                    <a:pt x="0" y="40474"/>
                  </a:lnTo>
                  <a:lnTo>
                    <a:pt x="40487" y="20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431959" y="3528974"/>
              <a:ext cx="0" cy="1133475"/>
            </a:xfrm>
            <a:custGeom>
              <a:avLst/>
              <a:gdLst/>
              <a:ahLst/>
              <a:cxnLst/>
              <a:rect l="l" t="t" r="r" b="b"/>
              <a:pathLst>
                <a:path w="0" h="1133475">
                  <a:moveTo>
                    <a:pt x="0" y="1133322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411715" y="350367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0" y="40487"/>
                  </a:lnTo>
                  <a:lnTo>
                    <a:pt x="20243" y="25298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/>
          <p:cNvSpPr txBox="1"/>
          <p:nvPr/>
        </p:nvSpPr>
        <p:spPr>
          <a:xfrm>
            <a:off x="3800665" y="4525571"/>
            <a:ext cx="660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396350" y="4547111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3431959" y="3637369"/>
            <a:ext cx="1007744" cy="891540"/>
          </a:xfrm>
          <a:custGeom>
            <a:avLst/>
            <a:gdLst/>
            <a:ahLst/>
            <a:cxnLst/>
            <a:rect l="l" t="t" r="r" b="b"/>
            <a:pathLst>
              <a:path w="1007745" h="891539">
                <a:moveTo>
                  <a:pt x="0" y="891235"/>
                </a:moveTo>
                <a:lnTo>
                  <a:pt x="397954" y="891235"/>
                </a:lnTo>
                <a:lnTo>
                  <a:pt x="402996" y="445617"/>
                </a:lnTo>
                <a:lnTo>
                  <a:pt x="408038" y="0"/>
                </a:lnTo>
                <a:lnTo>
                  <a:pt x="413067" y="0"/>
                </a:lnTo>
                <a:lnTo>
                  <a:pt x="1002449" y="0"/>
                </a:lnTo>
                <a:lnTo>
                  <a:pt x="1007491" y="0"/>
                </a:lnTo>
              </a:path>
            </a:pathLst>
          </a:custGeom>
          <a:ln w="5060">
            <a:solidFill>
              <a:srgbClr val="1900E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 txBox="1"/>
          <p:nvPr/>
        </p:nvSpPr>
        <p:spPr>
          <a:xfrm>
            <a:off x="4476838" y="4366796"/>
            <a:ext cx="781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60856" y="2736856"/>
            <a:ext cx="4352290" cy="9728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 marR="5080" indent="-698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90">
                <a:latin typeface="Cambria"/>
                <a:cs typeface="Cambria"/>
              </a:rPr>
              <a:t>−</a:t>
            </a:r>
            <a:r>
              <a:rPr dirty="0" sz="850" spc="90" i="1">
                <a:latin typeface="Calibri"/>
                <a:cs typeface="Calibri"/>
              </a:rPr>
              <a:t>b</a:t>
            </a:r>
            <a:r>
              <a:rPr dirty="0" sz="850" spc="90" i="1">
                <a:latin typeface="Times New Roman"/>
                <a:cs typeface="Times New Roman"/>
              </a:rPr>
              <a:t>/</a:t>
            </a:r>
            <a:r>
              <a:rPr dirty="0" sz="850" spc="90" i="1">
                <a:latin typeface="Calibri"/>
                <a:cs typeface="Calibri"/>
              </a:rPr>
              <a:t>w</a:t>
            </a:r>
            <a:r>
              <a:rPr dirty="0" sz="850" spc="9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diagram,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parameterization:</a:t>
            </a:r>
            <a:endParaRPr sz="850">
              <a:latin typeface="Calibri"/>
              <a:cs typeface="Calibri"/>
            </a:endParaRPr>
          </a:p>
          <a:p>
            <a:pPr marL="2244090" marR="635635" indent="-52069">
              <a:lnSpc>
                <a:spcPct val="239600"/>
              </a:lnSpc>
              <a:spcBef>
                <a:spcPts val="235"/>
              </a:spcBef>
            </a:pP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29" name="object 2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98790" y="6368440"/>
            <a:ext cx="1512074" cy="1301940"/>
          </a:xfrm>
          <a:prstGeom prst="rect">
            <a:avLst/>
          </a:prstGeom>
        </p:spPr>
      </p:pic>
      <p:grpSp>
        <p:nvGrpSpPr>
          <p:cNvPr id="30" name="object 30"/>
          <p:cNvGrpSpPr/>
          <p:nvPr/>
        </p:nvGrpSpPr>
        <p:grpSpPr>
          <a:xfrm>
            <a:off x="3496538" y="6406680"/>
            <a:ext cx="1187450" cy="1161415"/>
            <a:chOff x="3496538" y="6406680"/>
            <a:chExt cx="1187450" cy="1161415"/>
          </a:xfrm>
        </p:grpSpPr>
        <p:sp>
          <p:nvSpPr>
            <p:cNvPr id="31" name="object 31"/>
            <p:cNvSpPr/>
            <p:nvPr/>
          </p:nvSpPr>
          <p:spPr>
            <a:xfrm>
              <a:off x="3927805" y="7462739"/>
              <a:ext cx="604520" cy="54610"/>
            </a:xfrm>
            <a:custGeom>
              <a:avLst/>
              <a:gdLst/>
              <a:ahLst/>
              <a:cxnLst/>
              <a:rect l="l" t="t" r="r" b="b"/>
              <a:pathLst>
                <a:path w="604520" h="54609">
                  <a:moveTo>
                    <a:pt x="0" y="53999"/>
                  </a:moveTo>
                  <a:lnTo>
                    <a:pt x="0" y="0"/>
                  </a:lnTo>
                </a:path>
                <a:path w="604520" h="54609">
                  <a:moveTo>
                    <a:pt x="201498" y="53999"/>
                  </a:moveTo>
                  <a:lnTo>
                    <a:pt x="201498" y="0"/>
                  </a:lnTo>
                </a:path>
                <a:path w="604520" h="54609">
                  <a:moveTo>
                    <a:pt x="604494" y="53999"/>
                  </a:moveTo>
                  <a:lnTo>
                    <a:pt x="604494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497808" y="6582994"/>
              <a:ext cx="54610" cy="604520"/>
            </a:xfrm>
            <a:custGeom>
              <a:avLst/>
              <a:gdLst/>
              <a:ahLst/>
              <a:cxnLst/>
              <a:rect l="l" t="t" r="r" b="b"/>
              <a:pathLst>
                <a:path w="54610" h="604520">
                  <a:moveTo>
                    <a:pt x="0" y="604494"/>
                  </a:moveTo>
                  <a:lnTo>
                    <a:pt x="54000" y="604494"/>
                  </a:lnTo>
                </a:path>
                <a:path w="54610" h="604520">
                  <a:moveTo>
                    <a:pt x="0" y="402996"/>
                  </a:moveTo>
                  <a:lnTo>
                    <a:pt x="54000" y="402996"/>
                  </a:lnTo>
                </a:path>
                <a:path w="54610" h="60452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524808" y="7489736"/>
              <a:ext cx="1133475" cy="0"/>
            </a:xfrm>
            <a:custGeom>
              <a:avLst/>
              <a:gdLst/>
              <a:ahLst/>
              <a:cxnLst/>
              <a:rect l="l" t="t" r="r" b="b"/>
              <a:pathLst>
                <a:path w="1133475" h="0">
                  <a:moveTo>
                    <a:pt x="0" y="0"/>
                  </a:moveTo>
                  <a:lnTo>
                    <a:pt x="1133309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642942" y="746949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0" y="0"/>
                  </a:moveTo>
                  <a:lnTo>
                    <a:pt x="15176" y="20239"/>
                  </a:lnTo>
                  <a:lnTo>
                    <a:pt x="0" y="40486"/>
                  </a:lnTo>
                  <a:lnTo>
                    <a:pt x="40474" y="20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524808" y="6431991"/>
              <a:ext cx="0" cy="1133475"/>
            </a:xfrm>
            <a:custGeom>
              <a:avLst/>
              <a:gdLst/>
              <a:ahLst/>
              <a:cxnLst/>
              <a:rect l="l" t="t" r="r" b="b"/>
              <a:pathLst>
                <a:path w="0" h="1133475">
                  <a:moveTo>
                    <a:pt x="0" y="1133309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504564" y="640668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0" y="40500"/>
                  </a:lnTo>
                  <a:lnTo>
                    <a:pt x="20243" y="25311"/>
                  </a:lnTo>
                  <a:lnTo>
                    <a:pt x="40487" y="40500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 txBox="1"/>
          <p:nvPr/>
        </p:nvSpPr>
        <p:spPr>
          <a:xfrm>
            <a:off x="3846055" y="7486715"/>
            <a:ext cx="3587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547">
                <a:latin typeface="Calibri"/>
                <a:cs typeface="Calibri"/>
              </a:rPr>
              <a:t>  </a:t>
            </a:r>
            <a:r>
              <a:rPr dirty="0" sz="850" spc="-25" i="1">
                <a:latin typeface="Calibri"/>
                <a:cs typeface="Calibri"/>
              </a:rPr>
              <a:t>s</a:t>
            </a:r>
            <a:r>
              <a:rPr dirty="0" baseline="-20202" sz="825" spc="-37">
                <a:latin typeface="Calibri"/>
                <a:cs typeface="Calibri"/>
              </a:rPr>
              <a:t>2</a:t>
            </a:r>
            <a:endParaRPr baseline="-20202" sz="825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489196" y="7508241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3524808" y="6582994"/>
            <a:ext cx="1007744" cy="906780"/>
          </a:xfrm>
          <a:custGeom>
            <a:avLst/>
            <a:gdLst/>
            <a:ahLst/>
            <a:cxnLst/>
            <a:rect l="l" t="t" r="r" b="b"/>
            <a:pathLst>
              <a:path w="1007745" h="906779">
                <a:moveTo>
                  <a:pt x="0" y="906741"/>
                </a:moveTo>
                <a:lnTo>
                  <a:pt x="397954" y="906741"/>
                </a:lnTo>
                <a:lnTo>
                  <a:pt x="402996" y="755624"/>
                </a:lnTo>
                <a:lnTo>
                  <a:pt x="408038" y="604494"/>
                </a:lnTo>
                <a:lnTo>
                  <a:pt x="413067" y="604494"/>
                </a:lnTo>
                <a:lnTo>
                  <a:pt x="599452" y="604494"/>
                </a:lnTo>
                <a:lnTo>
                  <a:pt x="604494" y="302247"/>
                </a:lnTo>
                <a:lnTo>
                  <a:pt x="609536" y="0"/>
                </a:lnTo>
                <a:lnTo>
                  <a:pt x="614565" y="0"/>
                </a:lnTo>
                <a:lnTo>
                  <a:pt x="619607" y="0"/>
                </a:lnTo>
                <a:lnTo>
                  <a:pt x="1002449" y="0"/>
                </a:lnTo>
                <a:lnTo>
                  <a:pt x="1007491" y="0"/>
                </a:lnTo>
              </a:path>
            </a:pathLst>
          </a:custGeom>
          <a:ln w="5060">
            <a:solidFill>
              <a:srgbClr val="1900E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 txBox="1"/>
          <p:nvPr/>
        </p:nvSpPr>
        <p:spPr>
          <a:xfrm>
            <a:off x="985852" y="4878382"/>
            <a:ext cx="4530090" cy="2606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93980" marR="81280" indent="-571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implicitly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big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convert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parameterized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conventional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30">
                <a:latin typeface="Cambria"/>
                <a:cs typeface="Cambria"/>
              </a:rPr>
              <a:t>−</a:t>
            </a:r>
            <a:r>
              <a:rPr dirty="0" sz="850" spc="30" i="1">
                <a:latin typeface="Calibri"/>
                <a:cs typeface="Calibri"/>
              </a:rPr>
              <a:t>ws</a:t>
            </a:r>
            <a:r>
              <a:rPr dirty="0" sz="850" spc="3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93980" marR="107314" indent="189230">
              <a:lnSpc>
                <a:spcPct val="114300"/>
              </a:lnSpc>
              <a:spcBef>
                <a:spcPts val="165"/>
              </a:spcBef>
            </a:pP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focusing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take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parameterized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baseline="-20202" sz="825" spc="3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(top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-20202" sz="825" spc="15">
                <a:latin typeface="Calibri"/>
                <a:cs typeface="Calibri"/>
              </a:rPr>
              <a:t>2</a:t>
            </a:r>
            <a:r>
              <a:rPr dirty="0" baseline="-20202" sz="825" spc="3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(bottom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neuron).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4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25"/>
              </a:spcBef>
            </a:pPr>
            <a:endParaRPr sz="850">
              <a:latin typeface="Calibri"/>
              <a:cs typeface="Calibri"/>
            </a:endParaRPr>
          </a:p>
          <a:p>
            <a:pPr marL="2277110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90"/>
              </a:spcBef>
            </a:pPr>
            <a:endParaRPr sz="850">
              <a:latin typeface="Calibri"/>
              <a:cs typeface="Calibri"/>
            </a:endParaRPr>
          </a:p>
          <a:p>
            <a:pPr algn="r" marR="2054860">
              <a:lnSpc>
                <a:spcPct val="100000"/>
              </a:lnSpc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187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-20202" sz="825" spc="-37">
                <a:latin typeface="Calibri"/>
                <a:cs typeface="Calibri"/>
              </a:rPr>
              <a:t>2</a:t>
            </a:r>
            <a:endParaRPr baseline="-20202" sz="825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endParaRPr sz="850">
              <a:latin typeface="Calibri"/>
              <a:cs typeface="Calibri"/>
            </a:endParaRPr>
          </a:p>
          <a:p>
            <a:pPr algn="r" marR="2048510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 algn="r" marR="2054860">
              <a:lnSpc>
                <a:spcPct val="100000"/>
              </a:lnSpc>
              <a:spcBef>
                <a:spcPts val="385"/>
              </a:spcBef>
            </a:pP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baseline="-20202" sz="825" spc="-37">
                <a:latin typeface="Calibri"/>
                <a:cs typeface="Calibri"/>
              </a:rPr>
              <a:t>1</a:t>
            </a:r>
            <a:endParaRPr baseline="-20202" sz="825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550">
              <a:latin typeface="Calibri"/>
              <a:cs typeface="Calibri"/>
            </a:endParaRPr>
          </a:p>
          <a:p>
            <a:pPr algn="r" marR="873125">
              <a:lnSpc>
                <a:spcPct val="100000"/>
              </a:lnSpc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034350" y="7860046"/>
            <a:ext cx="44316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plotted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-52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217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-52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38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5778788" y="2267988"/>
            <a:ext cx="344170" cy="472440"/>
            <a:chOff x="5778788" y="2267988"/>
            <a:chExt cx="344170" cy="472440"/>
          </a:xfrm>
        </p:grpSpPr>
        <p:sp>
          <p:nvSpPr>
            <p:cNvPr id="43" name="object 43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/>
          <p:cNvSpPr txBox="1"/>
          <p:nvPr/>
        </p:nvSpPr>
        <p:spPr>
          <a:xfrm>
            <a:off x="5876620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8050" cy="29419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134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r" marL="327025" marR="30480" indent="444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Here,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53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53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bottom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respectively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5</a:t>
            </a:r>
            <a:r>
              <a:rPr dirty="0" sz="850" spc="-10">
                <a:latin typeface="Calibri"/>
                <a:cs typeface="Calibri"/>
              </a:rPr>
              <a:t>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neurons’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activations.</a:t>
            </a:r>
            <a:endParaRPr sz="850">
              <a:latin typeface="Calibri"/>
              <a:cs typeface="Calibri"/>
            </a:endParaRPr>
          </a:p>
          <a:p>
            <a:pPr algn="just" marL="325120" marR="57785" indent="19621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baseline="-20202" sz="825" spc="4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top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feel</a:t>
            </a:r>
            <a:r>
              <a:rPr dirty="0" sz="850" spc="20">
                <a:latin typeface="Calibri"/>
                <a:cs typeface="Calibri"/>
              </a:rPr>
              <a:t> 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baseline="-20202" sz="825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-20202" sz="825" spc="15">
                <a:latin typeface="Calibri"/>
                <a:cs typeface="Calibri"/>
              </a:rPr>
              <a:t>2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graph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shape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situation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situation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bottom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activated.</a:t>
            </a:r>
            <a:endParaRPr sz="850">
              <a:latin typeface="Calibri"/>
              <a:cs typeface="Calibri"/>
            </a:endParaRPr>
          </a:p>
          <a:p>
            <a:pPr algn="just" marL="331470" marR="57785" indent="18923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Similarly,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manipulating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-20202" sz="825" spc="15">
                <a:latin typeface="Calibri"/>
                <a:cs typeface="Calibri"/>
              </a:rPr>
              <a:t>2</a:t>
            </a:r>
            <a:r>
              <a:rPr dirty="0" baseline="-20202" sz="825" spc="292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bottom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feel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combined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  <a:p>
            <a:pPr algn="just" marL="331470" marR="57785" indent="18923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Notice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rescales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contribution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zero?</a:t>
            </a:r>
            <a:endParaRPr sz="850">
              <a:latin typeface="Calibri"/>
              <a:cs typeface="Calibri"/>
            </a:endParaRPr>
          </a:p>
          <a:p>
            <a:pPr algn="just" marL="331470" marR="54610" indent="18923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Finally,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setting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baseline="-20202" sz="825" spc="4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0.8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2</a:t>
            </a:r>
            <a:r>
              <a:rPr dirty="0" baseline="-20202" sz="825" spc="4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-0.8.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“bump”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-20202" sz="825" spc="15">
                <a:latin typeface="Calibri"/>
                <a:cs typeface="Calibri"/>
              </a:rPr>
              <a:t>2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height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0.8.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90688" y="3765664"/>
            <a:ext cx="1502910" cy="1099696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3184639" y="3674973"/>
            <a:ext cx="1187450" cy="1161415"/>
            <a:chOff x="3184639" y="3674973"/>
            <a:chExt cx="1187450" cy="1161415"/>
          </a:xfrm>
        </p:grpSpPr>
        <p:sp>
          <p:nvSpPr>
            <p:cNvPr id="5" name="object 5"/>
            <p:cNvSpPr/>
            <p:nvPr/>
          </p:nvSpPr>
          <p:spPr>
            <a:xfrm>
              <a:off x="3615905" y="4731029"/>
              <a:ext cx="604520" cy="54610"/>
            </a:xfrm>
            <a:custGeom>
              <a:avLst/>
              <a:gdLst/>
              <a:ahLst/>
              <a:cxnLst/>
              <a:rect l="l" t="t" r="r" b="b"/>
              <a:pathLst>
                <a:path w="604520" h="54610">
                  <a:moveTo>
                    <a:pt x="0" y="54000"/>
                  </a:moveTo>
                  <a:lnTo>
                    <a:pt x="0" y="0"/>
                  </a:lnTo>
                </a:path>
                <a:path w="604520" h="54610">
                  <a:moveTo>
                    <a:pt x="201498" y="54000"/>
                  </a:moveTo>
                  <a:lnTo>
                    <a:pt x="201498" y="0"/>
                  </a:lnTo>
                </a:path>
                <a:path w="604520" h="54610">
                  <a:moveTo>
                    <a:pt x="604494" y="54000"/>
                  </a:moveTo>
                  <a:lnTo>
                    <a:pt x="604494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185909" y="4254284"/>
              <a:ext cx="54610" cy="100965"/>
            </a:xfrm>
            <a:custGeom>
              <a:avLst/>
              <a:gdLst/>
              <a:ahLst/>
              <a:cxnLst/>
              <a:rect l="l" t="t" r="r" b="b"/>
              <a:pathLst>
                <a:path w="54610" h="100964">
                  <a:moveTo>
                    <a:pt x="0" y="100749"/>
                  </a:moveTo>
                  <a:lnTo>
                    <a:pt x="54000" y="100749"/>
                  </a:lnTo>
                </a:path>
                <a:path w="54610" h="100964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212909" y="4758029"/>
              <a:ext cx="1133475" cy="0"/>
            </a:xfrm>
            <a:custGeom>
              <a:avLst/>
              <a:gdLst/>
              <a:ahLst/>
              <a:cxnLst/>
              <a:rect l="l" t="t" r="r" b="b"/>
              <a:pathLst>
                <a:path w="1133475" h="0">
                  <a:moveTo>
                    <a:pt x="0" y="0"/>
                  </a:moveTo>
                  <a:lnTo>
                    <a:pt x="1133309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331042" y="473778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76" y="20243"/>
                  </a:lnTo>
                  <a:lnTo>
                    <a:pt x="0" y="40487"/>
                  </a:lnTo>
                  <a:lnTo>
                    <a:pt x="40474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212909" y="3700284"/>
              <a:ext cx="0" cy="1133475"/>
            </a:xfrm>
            <a:custGeom>
              <a:avLst/>
              <a:gdLst/>
              <a:ahLst/>
              <a:cxnLst/>
              <a:rect l="l" t="t" r="r" b="b"/>
              <a:pathLst>
                <a:path w="0" h="1133475">
                  <a:moveTo>
                    <a:pt x="0" y="1133309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192665" y="367497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0" y="40500"/>
                  </a:lnTo>
                  <a:lnTo>
                    <a:pt x="20243" y="25311"/>
                  </a:lnTo>
                  <a:lnTo>
                    <a:pt x="40487" y="40500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3534155" y="4754996"/>
            <a:ext cx="3587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547">
                <a:latin typeface="Calibri"/>
                <a:cs typeface="Calibri"/>
              </a:rPr>
              <a:t>  </a:t>
            </a:r>
            <a:r>
              <a:rPr dirty="0" sz="850" spc="-25" i="1">
                <a:latin typeface="Calibri"/>
                <a:cs typeface="Calibri"/>
              </a:rPr>
              <a:t>s</a:t>
            </a:r>
            <a:r>
              <a:rPr dirty="0" baseline="-20202" sz="825" spc="-37">
                <a:latin typeface="Calibri"/>
                <a:cs typeface="Calibri"/>
              </a:rPr>
              <a:t>2</a:t>
            </a:r>
            <a:endParaRPr baseline="-20202" sz="825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177297" y="4776537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634285" y="4169552"/>
            <a:ext cx="551180" cy="24002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30480">
              <a:lnSpc>
                <a:spcPts val="84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 marL="38100">
              <a:lnSpc>
                <a:spcPts val="840"/>
              </a:lnSpc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240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50">
                <a:latin typeface="Cambria"/>
                <a:cs typeface="Cambria"/>
              </a:rPr>
              <a:t>−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>
                <a:latin typeface="Calibri"/>
                <a:cs typeface="Calibri"/>
              </a:rPr>
              <a:t>2</a:t>
            </a:r>
            <a:endParaRPr baseline="-20202" sz="825">
              <a:latin typeface="Calibri"/>
              <a:cs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3212909" y="4355033"/>
            <a:ext cx="1007744" cy="403225"/>
          </a:xfrm>
          <a:custGeom>
            <a:avLst/>
            <a:gdLst/>
            <a:ahLst/>
            <a:cxnLst/>
            <a:rect l="l" t="t" r="r" b="b"/>
            <a:pathLst>
              <a:path w="1007745" h="403225">
                <a:moveTo>
                  <a:pt x="0" y="402996"/>
                </a:moveTo>
                <a:lnTo>
                  <a:pt x="397954" y="402996"/>
                </a:lnTo>
                <a:lnTo>
                  <a:pt x="402996" y="201498"/>
                </a:lnTo>
                <a:lnTo>
                  <a:pt x="408038" y="0"/>
                </a:lnTo>
                <a:lnTo>
                  <a:pt x="413067" y="0"/>
                </a:lnTo>
                <a:lnTo>
                  <a:pt x="599452" y="0"/>
                </a:lnTo>
                <a:lnTo>
                  <a:pt x="604494" y="201498"/>
                </a:lnTo>
                <a:lnTo>
                  <a:pt x="609536" y="402996"/>
                </a:lnTo>
                <a:lnTo>
                  <a:pt x="614565" y="402996"/>
                </a:lnTo>
                <a:lnTo>
                  <a:pt x="619607" y="402996"/>
                </a:lnTo>
                <a:lnTo>
                  <a:pt x="1002449" y="402996"/>
                </a:lnTo>
                <a:lnTo>
                  <a:pt x="1007491" y="402996"/>
                </a:lnTo>
              </a:path>
            </a:pathLst>
          </a:custGeom>
          <a:ln w="5060">
            <a:solidFill>
              <a:srgbClr val="1900E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4257916" y="4596208"/>
            <a:ext cx="781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938856" y="3413378"/>
            <a:ext cx="170688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7" name="object 1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31646" y="5600814"/>
            <a:ext cx="1512049" cy="1297990"/>
          </a:xfrm>
          <a:prstGeom prst="rect">
            <a:avLst/>
          </a:prstGeom>
        </p:spPr>
      </p:pic>
      <p:grpSp>
        <p:nvGrpSpPr>
          <p:cNvPr id="18" name="object 18"/>
          <p:cNvGrpSpPr/>
          <p:nvPr/>
        </p:nvGrpSpPr>
        <p:grpSpPr>
          <a:xfrm>
            <a:off x="3043694" y="5737695"/>
            <a:ext cx="1187450" cy="1161415"/>
            <a:chOff x="3043694" y="5737695"/>
            <a:chExt cx="1187450" cy="1161415"/>
          </a:xfrm>
        </p:grpSpPr>
        <p:sp>
          <p:nvSpPr>
            <p:cNvPr id="19" name="object 19"/>
            <p:cNvSpPr/>
            <p:nvPr/>
          </p:nvSpPr>
          <p:spPr>
            <a:xfrm>
              <a:off x="3442716" y="6289980"/>
              <a:ext cx="556260" cy="54610"/>
            </a:xfrm>
            <a:custGeom>
              <a:avLst/>
              <a:gdLst/>
              <a:ahLst/>
              <a:cxnLst/>
              <a:rect l="l" t="t" r="r" b="b"/>
              <a:pathLst>
                <a:path w="556260" h="54610">
                  <a:moveTo>
                    <a:pt x="0" y="54013"/>
                  </a:moveTo>
                  <a:lnTo>
                    <a:pt x="0" y="0"/>
                  </a:lnTo>
                </a:path>
                <a:path w="556260" h="54610">
                  <a:moveTo>
                    <a:pt x="185381" y="54013"/>
                  </a:moveTo>
                  <a:lnTo>
                    <a:pt x="185381" y="0"/>
                  </a:lnTo>
                </a:path>
                <a:path w="556260" h="54610">
                  <a:moveTo>
                    <a:pt x="556133" y="54013"/>
                  </a:moveTo>
                  <a:lnTo>
                    <a:pt x="556133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044964" y="5853544"/>
              <a:ext cx="54610" cy="927100"/>
            </a:xfrm>
            <a:custGeom>
              <a:avLst/>
              <a:gdLst/>
              <a:ahLst/>
              <a:cxnLst/>
              <a:rect l="l" t="t" r="r" b="b"/>
              <a:pathLst>
                <a:path w="54610" h="927100">
                  <a:moveTo>
                    <a:pt x="0" y="926871"/>
                  </a:moveTo>
                  <a:lnTo>
                    <a:pt x="54000" y="926871"/>
                  </a:lnTo>
                </a:path>
                <a:path w="54610" h="927100">
                  <a:moveTo>
                    <a:pt x="0" y="185381"/>
                  </a:moveTo>
                  <a:lnTo>
                    <a:pt x="54000" y="185381"/>
                  </a:lnTo>
                </a:path>
                <a:path w="54610" h="92710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071965" y="6316980"/>
              <a:ext cx="1133475" cy="0"/>
            </a:xfrm>
            <a:custGeom>
              <a:avLst/>
              <a:gdLst/>
              <a:ahLst/>
              <a:cxnLst/>
              <a:rect l="l" t="t" r="r" b="b"/>
              <a:pathLst>
                <a:path w="1133475" h="0">
                  <a:moveTo>
                    <a:pt x="0" y="0"/>
                  </a:moveTo>
                  <a:lnTo>
                    <a:pt x="1133297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190085" y="629673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76" y="20243"/>
                  </a:lnTo>
                  <a:lnTo>
                    <a:pt x="0" y="40500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071965" y="5762993"/>
              <a:ext cx="0" cy="1133475"/>
            </a:xfrm>
            <a:custGeom>
              <a:avLst/>
              <a:gdLst/>
              <a:ahLst/>
              <a:cxnLst/>
              <a:rect l="l" t="t" r="r" b="b"/>
              <a:pathLst>
                <a:path w="0" h="1133475">
                  <a:moveTo>
                    <a:pt x="0" y="1133284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051721" y="5737695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0" y="40487"/>
                  </a:lnTo>
                  <a:lnTo>
                    <a:pt x="20243" y="25298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3360966" y="6313959"/>
            <a:ext cx="3429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450">
                <a:latin typeface="Calibri"/>
                <a:cs typeface="Calibri"/>
              </a:rPr>
              <a:t>  </a:t>
            </a:r>
            <a:r>
              <a:rPr dirty="0" sz="850" spc="-25" i="1">
                <a:latin typeface="Calibri"/>
                <a:cs typeface="Calibri"/>
              </a:rPr>
              <a:t>s</a:t>
            </a:r>
            <a:r>
              <a:rPr dirty="0" baseline="-20202" sz="825" spc="-37">
                <a:latin typeface="Calibri"/>
                <a:cs typeface="Calibri"/>
              </a:rPr>
              <a:t>2</a:t>
            </a:r>
            <a:endParaRPr baseline="-20202" sz="825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955746" y="6335485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3071965" y="6038926"/>
            <a:ext cx="927100" cy="278130"/>
          </a:xfrm>
          <a:custGeom>
            <a:avLst/>
            <a:gdLst/>
            <a:ahLst/>
            <a:cxnLst/>
            <a:rect l="l" t="t" r="r" b="b"/>
            <a:pathLst>
              <a:path w="927100" h="278129">
                <a:moveTo>
                  <a:pt x="0" y="278053"/>
                </a:moveTo>
                <a:lnTo>
                  <a:pt x="366115" y="278053"/>
                </a:lnTo>
                <a:lnTo>
                  <a:pt x="370751" y="139026"/>
                </a:lnTo>
                <a:lnTo>
                  <a:pt x="375386" y="0"/>
                </a:lnTo>
                <a:lnTo>
                  <a:pt x="551497" y="0"/>
                </a:lnTo>
                <a:lnTo>
                  <a:pt x="556133" y="139026"/>
                </a:lnTo>
                <a:lnTo>
                  <a:pt x="560768" y="278053"/>
                </a:lnTo>
                <a:lnTo>
                  <a:pt x="565404" y="278053"/>
                </a:lnTo>
                <a:lnTo>
                  <a:pt x="570026" y="278053"/>
                </a:lnTo>
                <a:lnTo>
                  <a:pt x="922248" y="278053"/>
                </a:lnTo>
                <a:lnTo>
                  <a:pt x="926884" y="278053"/>
                </a:lnTo>
              </a:path>
            </a:pathLst>
          </a:custGeom>
          <a:ln w="5060">
            <a:solidFill>
              <a:srgbClr val="1900E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637678" y="5051000"/>
            <a:ext cx="4505960" cy="1261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1915" marR="68580" indent="-635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rescale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bump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h</a:t>
            </a:r>
            <a:r>
              <a:rPr dirty="0" sz="850" spc="-25">
                <a:latin typeface="Calibri"/>
                <a:cs typeface="Calibri"/>
              </a:rPr>
              <a:t>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height.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clutter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I’ll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remove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262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.”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262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.”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notations.</a:t>
            </a:r>
            <a:endParaRPr sz="850">
              <a:latin typeface="Calibri"/>
              <a:cs typeface="Calibri"/>
            </a:endParaRPr>
          </a:p>
          <a:p>
            <a:pPr marL="2172335">
              <a:lnSpc>
                <a:spcPct val="100000"/>
              </a:lnSpc>
              <a:spcBef>
                <a:spcPts val="1030"/>
              </a:spcBef>
            </a:pP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850">
              <a:latin typeface="Calibri"/>
              <a:cs typeface="Calibri"/>
            </a:endParaRPr>
          </a:p>
          <a:p>
            <a:pPr algn="ctr" marL="169545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 algn="ctr" marL="170180">
              <a:lnSpc>
                <a:spcPct val="100000"/>
              </a:lnSpc>
              <a:spcBef>
                <a:spcPts val="459"/>
              </a:spcBef>
            </a:pPr>
            <a:r>
              <a:rPr dirty="0" sz="850" spc="-50" i="1">
                <a:latin typeface="Calibri"/>
                <a:cs typeface="Calibri"/>
              </a:rPr>
              <a:t>h</a:t>
            </a:r>
            <a:endParaRPr sz="850">
              <a:latin typeface="Calibri"/>
              <a:cs typeface="Calibri"/>
            </a:endParaRPr>
          </a:p>
          <a:p>
            <a:pPr algn="r" marR="953769">
              <a:lnSpc>
                <a:spcPct val="100000"/>
              </a:lnSpc>
              <a:spcBef>
                <a:spcPts val="545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720001" y="7553172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663460" y="6695147"/>
            <a:ext cx="4448175" cy="13195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96520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endParaRPr sz="850">
              <a:latin typeface="Calibri"/>
              <a:cs typeface="Calibri"/>
            </a:endParaRPr>
          </a:p>
          <a:p>
            <a:pPr algn="just" marL="56515" marR="59055" indent="-508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bump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height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negative,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observe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step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shape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bump.</a:t>
            </a:r>
            <a:endParaRPr sz="850">
              <a:latin typeface="Calibri"/>
              <a:cs typeface="Calibri"/>
            </a:endParaRPr>
          </a:p>
          <a:p>
            <a:pPr algn="just" marL="50800" marR="43180" indent="133350">
              <a:lnSpc>
                <a:spcPts val="800"/>
              </a:lnSpc>
              <a:spcBef>
                <a:spcPts val="1019"/>
              </a:spcBef>
            </a:pPr>
            <a:r>
              <a:rPr dirty="0" baseline="30303" sz="825" spc="44">
                <a:latin typeface="Calibri"/>
                <a:cs typeface="Calibri"/>
              </a:rPr>
              <a:t>5</a:t>
            </a:r>
            <a:r>
              <a:rPr dirty="0" sz="750" spc="30">
                <a:latin typeface="Calibri"/>
                <a:cs typeface="Calibri"/>
              </a:rPr>
              <a:t>Note,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by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way,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that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output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from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whole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network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is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75" i="1">
                <a:latin typeface="Times New Roman"/>
                <a:cs typeface="Times New Roman"/>
              </a:rPr>
              <a:t>σ</a:t>
            </a:r>
            <a:r>
              <a:rPr dirty="0" sz="750" spc="75">
                <a:latin typeface="Tahoma"/>
                <a:cs typeface="Tahoma"/>
              </a:rPr>
              <a:t>(</a:t>
            </a:r>
            <a:r>
              <a:rPr dirty="0" sz="750" spc="75" i="1">
                <a:latin typeface="Calibri"/>
                <a:cs typeface="Calibri"/>
              </a:rPr>
              <a:t>w</a:t>
            </a:r>
            <a:r>
              <a:rPr dirty="0" baseline="-15151" sz="825" spc="112">
                <a:latin typeface="Calibri"/>
                <a:cs typeface="Calibri"/>
              </a:rPr>
              <a:t>1</a:t>
            </a:r>
            <a:r>
              <a:rPr dirty="0" baseline="-15151" sz="825" spc="-89">
                <a:latin typeface="Calibri"/>
                <a:cs typeface="Calibri"/>
              </a:rPr>
              <a:t> </a:t>
            </a:r>
            <a:r>
              <a:rPr dirty="0" sz="750" spc="25" i="1">
                <a:latin typeface="Calibri"/>
                <a:cs typeface="Calibri"/>
              </a:rPr>
              <a:t>a</a:t>
            </a:r>
            <a:r>
              <a:rPr dirty="0" baseline="-15151" sz="825" spc="37">
                <a:latin typeface="Calibri"/>
                <a:cs typeface="Calibri"/>
              </a:rPr>
              <a:t>1</a:t>
            </a:r>
            <a:r>
              <a:rPr dirty="0" baseline="-15151" sz="825" spc="97">
                <a:latin typeface="Calibri"/>
                <a:cs typeface="Calibri"/>
              </a:rPr>
              <a:t> </a:t>
            </a:r>
            <a:r>
              <a:rPr dirty="0" sz="750" spc="10">
                <a:latin typeface="Tahoma"/>
                <a:cs typeface="Tahoma"/>
              </a:rPr>
              <a:t>+</a:t>
            </a:r>
            <a:r>
              <a:rPr dirty="0" sz="750" spc="-75">
                <a:latin typeface="Tahoma"/>
                <a:cs typeface="Tahoma"/>
              </a:rPr>
              <a:t> </a:t>
            </a:r>
            <a:r>
              <a:rPr dirty="0" sz="750" spc="30" i="1">
                <a:latin typeface="Calibri"/>
                <a:cs typeface="Calibri"/>
              </a:rPr>
              <a:t>w</a:t>
            </a:r>
            <a:r>
              <a:rPr dirty="0" baseline="-15151" sz="825" spc="44">
                <a:latin typeface="Calibri"/>
                <a:cs typeface="Calibri"/>
              </a:rPr>
              <a:t>2</a:t>
            </a:r>
            <a:r>
              <a:rPr dirty="0" baseline="-15151" sz="825" spc="-89">
                <a:latin typeface="Calibri"/>
                <a:cs typeface="Calibri"/>
              </a:rPr>
              <a:t> </a:t>
            </a:r>
            <a:r>
              <a:rPr dirty="0" sz="750" spc="25" i="1">
                <a:latin typeface="Calibri"/>
                <a:cs typeface="Calibri"/>
              </a:rPr>
              <a:t>a</a:t>
            </a:r>
            <a:r>
              <a:rPr dirty="0" baseline="-15151" sz="825" spc="37">
                <a:latin typeface="Calibri"/>
                <a:cs typeface="Calibri"/>
              </a:rPr>
              <a:t>2</a:t>
            </a:r>
            <a:r>
              <a:rPr dirty="0" baseline="-15151" sz="825" spc="97">
                <a:latin typeface="Calibri"/>
                <a:cs typeface="Calibri"/>
              </a:rPr>
              <a:t> </a:t>
            </a:r>
            <a:r>
              <a:rPr dirty="0" sz="750" spc="10">
                <a:latin typeface="Tahoma"/>
                <a:cs typeface="Tahoma"/>
              </a:rPr>
              <a:t>+</a:t>
            </a:r>
            <a:r>
              <a:rPr dirty="0" sz="750" spc="-35">
                <a:latin typeface="Tahoma"/>
                <a:cs typeface="Tahoma"/>
              </a:rPr>
              <a:t> </a:t>
            </a:r>
            <a:r>
              <a:rPr dirty="0" sz="750" spc="20" i="1">
                <a:latin typeface="Calibri"/>
                <a:cs typeface="Calibri"/>
              </a:rPr>
              <a:t>b</a:t>
            </a:r>
            <a:r>
              <a:rPr dirty="0" sz="750" spc="20">
                <a:latin typeface="Tahoma"/>
                <a:cs typeface="Tahoma"/>
              </a:rPr>
              <a:t>)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where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i="1">
                <a:latin typeface="Calibri"/>
                <a:cs typeface="Calibri"/>
              </a:rPr>
              <a:t>b</a:t>
            </a:r>
            <a:r>
              <a:rPr dirty="0" sz="750" spc="60" i="1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is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the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bias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on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output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neuron.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Obviously,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this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isn’t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same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as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weighted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output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from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hidden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5">
                <a:latin typeface="Calibri"/>
                <a:cs typeface="Calibri"/>
              </a:rPr>
              <a:t>layer,</a:t>
            </a:r>
            <a:r>
              <a:rPr dirty="0" sz="750" spc="20">
                <a:latin typeface="Calibri"/>
                <a:cs typeface="Calibri"/>
              </a:rPr>
              <a:t> </a:t>
            </a:r>
            <a:r>
              <a:rPr dirty="0" sz="750" spc="35">
                <a:latin typeface="Calibri"/>
                <a:cs typeface="Calibri"/>
              </a:rPr>
              <a:t>which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is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what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we’re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plotting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here.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5">
                <a:latin typeface="Calibri"/>
                <a:cs typeface="Calibri"/>
              </a:rPr>
              <a:t>We’re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35">
                <a:latin typeface="Calibri"/>
                <a:cs typeface="Calibri"/>
              </a:rPr>
              <a:t>going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5">
                <a:latin typeface="Calibri"/>
                <a:cs typeface="Calibri"/>
              </a:rPr>
              <a:t>to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focus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on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weighted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output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from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hidden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layer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right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5">
                <a:latin typeface="Calibri"/>
                <a:cs typeface="Calibri"/>
              </a:rPr>
              <a:t>now,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and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only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later</a:t>
            </a:r>
            <a:r>
              <a:rPr dirty="0" sz="750" spc="40">
                <a:latin typeface="Calibri"/>
                <a:cs typeface="Calibri"/>
              </a:rPr>
              <a:t> will </a:t>
            </a:r>
            <a:r>
              <a:rPr dirty="0" sz="750" spc="20">
                <a:latin typeface="Calibri"/>
                <a:cs typeface="Calibri"/>
              </a:rPr>
              <a:t>we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think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about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how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that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relates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5">
                <a:latin typeface="Calibri"/>
                <a:cs typeface="Calibri"/>
              </a:rPr>
              <a:t>to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5">
                <a:latin typeface="Calibri"/>
                <a:cs typeface="Calibri"/>
              </a:rPr>
              <a:t>output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from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5">
                <a:latin typeface="Calibri"/>
                <a:cs typeface="Calibri"/>
              </a:rPr>
              <a:t>whole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network.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-2530" y="2268001"/>
            <a:ext cx="344170" cy="472440"/>
            <a:chOff x="-2530" y="2268001"/>
            <a:chExt cx="344170" cy="472440"/>
          </a:xfrm>
        </p:grpSpPr>
        <p:sp>
          <p:nvSpPr>
            <p:cNvPr id="32" name="object 32"/>
            <p:cNvSpPr/>
            <p:nvPr/>
          </p:nvSpPr>
          <p:spPr>
            <a:xfrm>
              <a:off x="0" y="2270531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66583"/>
                  </a:lnTo>
                  <a:lnTo>
                    <a:pt x="2525" y="467093"/>
                  </a:lnTo>
                  <a:lnTo>
                    <a:pt x="266679" y="467093"/>
                  </a:lnTo>
                  <a:lnTo>
                    <a:pt x="294707" y="461433"/>
                  </a:lnTo>
                  <a:lnTo>
                    <a:pt x="317594" y="446000"/>
                  </a:lnTo>
                  <a:lnTo>
                    <a:pt x="333025" y="423110"/>
                  </a:lnTo>
                  <a:lnTo>
                    <a:pt x="338683" y="39508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0" y="2270531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0" y="466583"/>
                  </a:moveTo>
                  <a:lnTo>
                    <a:pt x="2525" y="467093"/>
                  </a:lnTo>
                  <a:lnTo>
                    <a:pt x="266679" y="467093"/>
                  </a:lnTo>
                  <a:lnTo>
                    <a:pt x="294707" y="461433"/>
                  </a:lnTo>
                  <a:lnTo>
                    <a:pt x="317594" y="446000"/>
                  </a:lnTo>
                  <a:lnTo>
                    <a:pt x="333025" y="423110"/>
                  </a:lnTo>
                  <a:lnTo>
                    <a:pt x="338683" y="395084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/>
          <p:cNvSpPr txBox="1"/>
          <p:nvPr/>
        </p:nvSpPr>
        <p:spPr>
          <a:xfrm>
            <a:off x="25831" y="225600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96" y="368721"/>
            <a:ext cx="4613275" cy="1016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940560">
              <a:lnSpc>
                <a:spcPts val="525"/>
              </a:lnSpc>
              <a:spcBef>
                <a:spcPts val="110"/>
              </a:spcBef>
              <a:tabLst>
                <a:tab pos="4417695" algn="l"/>
              </a:tabLst>
            </a:pPr>
            <a:r>
              <a:rPr dirty="0" sz="850" spc="10">
                <a:latin typeface="Calibri"/>
                <a:cs typeface="Calibri"/>
              </a:rPr>
              <a:t>4.2.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135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850">
              <a:latin typeface="Arial MT"/>
              <a:cs typeface="Arial MT"/>
            </a:endParaRPr>
          </a:p>
          <a:p>
            <a:pPr algn="just" marL="12700" marR="269875" indent="189230">
              <a:lnSpc>
                <a:spcPct val="111800"/>
              </a:lnSpc>
            </a:pP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notice,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thought</a:t>
            </a:r>
            <a:r>
              <a:rPr dirty="0" sz="850" spc="30">
                <a:latin typeface="Calibri"/>
                <a:cs typeface="Calibri"/>
              </a:rPr>
              <a:t> 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not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just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graphical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terms,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conventional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programming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terms,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kind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if-</a:t>
            </a:r>
            <a:r>
              <a:rPr dirty="0" sz="900" spc="130">
                <a:latin typeface="Calibri"/>
                <a:cs typeface="Calibri"/>
              </a:rPr>
              <a:t>then-</a:t>
            </a:r>
            <a:r>
              <a:rPr dirty="0" sz="900" spc="120">
                <a:latin typeface="Calibri"/>
                <a:cs typeface="Calibri"/>
              </a:rPr>
              <a:t>else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statement,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e.g.: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9510" y="1728470"/>
            <a:ext cx="4401185" cy="54165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250"/>
              </a:spcBef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solidFill>
                  <a:srgbClr val="003FFF"/>
                </a:solidFill>
                <a:latin typeface="Calibri"/>
                <a:cs typeface="Calibri"/>
              </a:rPr>
              <a:t>input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&gt;=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step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point:</a:t>
            </a:r>
            <a:endParaRPr sz="700">
              <a:latin typeface="Calibri"/>
              <a:cs typeface="Calibri"/>
            </a:endParaRPr>
          </a:p>
          <a:p>
            <a:pPr marL="45720" marR="2764155" indent="105410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add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to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the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weighted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output </a:t>
            </a: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else</a:t>
            </a:r>
            <a:r>
              <a:rPr dirty="0" sz="700" spc="125">
                <a:latin typeface="Calibri"/>
                <a:cs typeface="Calibri"/>
              </a:rPr>
              <a:t>:</a:t>
            </a:r>
            <a:endParaRPr sz="7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add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0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to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the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weighted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output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7296" y="2580507"/>
            <a:ext cx="4345940" cy="47053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just" marL="12700" marR="5080">
              <a:lnSpc>
                <a:spcPct val="111800"/>
              </a:lnSpc>
              <a:spcBef>
                <a:spcPts val="120"/>
              </a:spcBef>
            </a:pP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stick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graphical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follows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helpful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switch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if-</a:t>
            </a:r>
            <a:r>
              <a:rPr dirty="0" sz="900" spc="130">
                <a:latin typeface="Calibri"/>
                <a:cs typeface="Calibri"/>
              </a:rPr>
              <a:t>then-</a:t>
            </a:r>
            <a:r>
              <a:rPr dirty="0" sz="900" spc="90">
                <a:latin typeface="Calibri"/>
                <a:cs typeface="Calibri"/>
              </a:rPr>
              <a:t>else</a:t>
            </a:r>
            <a:r>
              <a:rPr dirty="0" sz="850" spc="9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7296" y="3168987"/>
            <a:ext cx="434594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8923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bump-making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trick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bumps,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gluing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pairs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hidden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together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91640" y="4559196"/>
            <a:ext cx="1512125" cy="1263868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3403689" y="4429988"/>
            <a:ext cx="1187450" cy="1187450"/>
            <a:chOff x="3403689" y="4429988"/>
            <a:chExt cx="1187450" cy="1187450"/>
          </a:xfrm>
        </p:grpSpPr>
        <p:sp>
          <p:nvSpPr>
            <p:cNvPr id="8" name="object 8"/>
            <p:cNvSpPr/>
            <p:nvPr/>
          </p:nvSpPr>
          <p:spPr>
            <a:xfrm>
              <a:off x="3431959" y="5561571"/>
              <a:ext cx="1007744" cy="54610"/>
            </a:xfrm>
            <a:custGeom>
              <a:avLst/>
              <a:gdLst/>
              <a:ahLst/>
              <a:cxnLst/>
              <a:rect l="l" t="t" r="r" b="b"/>
              <a:pathLst>
                <a:path w="1007745" h="54610">
                  <a:moveTo>
                    <a:pt x="0" y="54000"/>
                  </a:moveTo>
                  <a:lnTo>
                    <a:pt x="0" y="0"/>
                  </a:lnTo>
                </a:path>
                <a:path w="1007745" h="54610">
                  <a:moveTo>
                    <a:pt x="402996" y="54000"/>
                  </a:moveTo>
                  <a:lnTo>
                    <a:pt x="402996" y="0"/>
                  </a:lnTo>
                </a:path>
                <a:path w="1007745" h="54610">
                  <a:moveTo>
                    <a:pt x="604494" y="54000"/>
                  </a:moveTo>
                  <a:lnTo>
                    <a:pt x="604494" y="0"/>
                  </a:lnTo>
                </a:path>
                <a:path w="1007745" h="54610">
                  <a:moveTo>
                    <a:pt x="705243" y="54000"/>
                  </a:moveTo>
                  <a:lnTo>
                    <a:pt x="705243" y="0"/>
                  </a:lnTo>
                </a:path>
                <a:path w="1007745" h="54610">
                  <a:moveTo>
                    <a:pt x="906741" y="54000"/>
                  </a:moveTo>
                  <a:lnTo>
                    <a:pt x="906741" y="0"/>
                  </a:lnTo>
                </a:path>
                <a:path w="1007745" h="54610">
                  <a:moveTo>
                    <a:pt x="1007491" y="54000"/>
                  </a:moveTo>
                  <a:lnTo>
                    <a:pt x="100749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404959" y="4545850"/>
              <a:ext cx="54610" cy="1019810"/>
            </a:xfrm>
            <a:custGeom>
              <a:avLst/>
              <a:gdLst/>
              <a:ahLst/>
              <a:cxnLst/>
              <a:rect l="l" t="t" r="r" b="b"/>
              <a:pathLst>
                <a:path w="54610" h="1019810">
                  <a:moveTo>
                    <a:pt x="0" y="1019543"/>
                  </a:moveTo>
                  <a:lnTo>
                    <a:pt x="54000" y="1019543"/>
                  </a:lnTo>
                </a:path>
                <a:path w="54610" h="1019810">
                  <a:moveTo>
                    <a:pt x="0" y="926858"/>
                  </a:moveTo>
                  <a:lnTo>
                    <a:pt x="54000" y="926858"/>
                  </a:lnTo>
                </a:path>
                <a:path w="54610" h="1019810">
                  <a:moveTo>
                    <a:pt x="0" y="463423"/>
                  </a:moveTo>
                  <a:lnTo>
                    <a:pt x="54000" y="463423"/>
                  </a:lnTo>
                </a:path>
                <a:path w="54610" h="1019810">
                  <a:moveTo>
                    <a:pt x="0" y="324396"/>
                  </a:moveTo>
                  <a:lnTo>
                    <a:pt x="54000" y="324396"/>
                  </a:lnTo>
                </a:path>
                <a:path w="54610" h="101981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431959" y="5588571"/>
              <a:ext cx="1133475" cy="0"/>
            </a:xfrm>
            <a:custGeom>
              <a:avLst/>
              <a:gdLst/>
              <a:ahLst/>
              <a:cxnLst/>
              <a:rect l="l" t="t" r="r" b="b"/>
              <a:pathLst>
                <a:path w="1133475" h="0">
                  <a:moveTo>
                    <a:pt x="0" y="0"/>
                  </a:moveTo>
                  <a:lnTo>
                    <a:pt x="1133309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550092" y="556832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76" y="20243"/>
                  </a:lnTo>
                  <a:lnTo>
                    <a:pt x="0" y="40487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431959" y="4455299"/>
              <a:ext cx="0" cy="1133475"/>
            </a:xfrm>
            <a:custGeom>
              <a:avLst/>
              <a:gdLst/>
              <a:ahLst/>
              <a:cxnLst/>
              <a:rect l="l" t="t" r="r" b="b"/>
              <a:pathLst>
                <a:path w="0" h="1133475">
                  <a:moveTo>
                    <a:pt x="0" y="1133271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411715" y="44299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0" y="40487"/>
                  </a:lnTo>
                  <a:lnTo>
                    <a:pt x="20243" y="25311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3388867" y="5607077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817686" y="5700544"/>
            <a:ext cx="570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3995" algn="l"/>
                <a:tab pos="516255" algn="l"/>
              </a:tabLst>
            </a:pP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2</a:t>
            </a:r>
            <a:r>
              <a:rPr dirty="0" sz="550" spc="390">
                <a:latin typeface="Calibri"/>
                <a:cs typeface="Calibri"/>
              </a:rPr>
              <a:t> </a:t>
            </a: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751835" y="5582556"/>
            <a:ext cx="7562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2875" sz="1275" i="1">
                <a:latin typeface="Calibri"/>
                <a:cs typeface="Calibri"/>
              </a:rPr>
              <a:t>s</a:t>
            </a:r>
            <a:r>
              <a:rPr dirty="0" sz="550">
                <a:latin typeface="Calibri"/>
                <a:cs typeface="Calibri"/>
              </a:rPr>
              <a:t>1</a:t>
            </a:r>
            <a:r>
              <a:rPr dirty="0" sz="550" spc="385">
                <a:latin typeface="Calibri"/>
                <a:cs typeface="Calibri"/>
              </a:rPr>
              <a:t>  </a:t>
            </a:r>
            <a:r>
              <a:rPr dirty="0" baseline="-22875" sz="1275" i="1">
                <a:latin typeface="Calibri"/>
                <a:cs typeface="Calibri"/>
              </a:rPr>
              <a:t>s</a:t>
            </a:r>
            <a:r>
              <a:rPr dirty="0" sz="550">
                <a:latin typeface="Calibri"/>
                <a:cs typeface="Calibri"/>
              </a:rPr>
              <a:t>1</a:t>
            </a:r>
            <a:r>
              <a:rPr dirty="0" sz="550" spc="15">
                <a:latin typeface="Calibri"/>
                <a:cs typeface="Calibri"/>
              </a:rPr>
              <a:t> </a:t>
            </a:r>
            <a:r>
              <a:rPr dirty="0" baseline="-22875" sz="1275" i="1">
                <a:latin typeface="Calibri"/>
                <a:cs typeface="Calibri"/>
              </a:rPr>
              <a:t>s</a:t>
            </a:r>
            <a:r>
              <a:rPr dirty="0" sz="550">
                <a:latin typeface="Calibri"/>
                <a:cs typeface="Calibri"/>
              </a:rPr>
              <a:t>2</a:t>
            </a:r>
            <a:r>
              <a:rPr dirty="0" sz="550" spc="385">
                <a:latin typeface="Calibri"/>
                <a:cs typeface="Calibri"/>
              </a:rPr>
              <a:t>  </a:t>
            </a:r>
            <a:r>
              <a:rPr dirty="0" baseline="-22875" sz="1275" i="1">
                <a:latin typeface="Calibri"/>
                <a:cs typeface="Calibri"/>
              </a:rPr>
              <a:t>s</a:t>
            </a:r>
            <a:r>
              <a:rPr dirty="0" sz="550">
                <a:latin typeface="Calibri"/>
                <a:cs typeface="Calibri"/>
              </a:rPr>
              <a:t>2</a:t>
            </a:r>
            <a:r>
              <a:rPr dirty="0" sz="550" spc="150">
                <a:latin typeface="Calibri"/>
                <a:cs typeface="Calibri"/>
              </a:rPr>
              <a:t> </a:t>
            </a:r>
            <a:r>
              <a:rPr dirty="0" baseline="-13071" sz="1275">
                <a:latin typeface="Calibri"/>
                <a:cs typeface="Calibri"/>
              </a:rPr>
              <a:t>1</a:t>
            </a:r>
            <a:endParaRPr baseline="-13071" sz="1275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220828" y="5470896"/>
            <a:ext cx="1771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-25" i="1">
                <a:latin typeface="Calibri"/>
                <a:cs typeface="Calibri"/>
              </a:rPr>
              <a:t>h</a:t>
            </a:r>
            <a:r>
              <a:rPr dirty="0" baseline="-20202" sz="825" spc="-37">
                <a:latin typeface="Calibri"/>
                <a:cs typeface="Calibri"/>
              </a:rPr>
              <a:t>1</a:t>
            </a:r>
            <a:endParaRPr baseline="-20202" sz="825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212607" y="5387457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3431959" y="4870246"/>
            <a:ext cx="1007744" cy="695325"/>
          </a:xfrm>
          <a:custGeom>
            <a:avLst/>
            <a:gdLst/>
            <a:ahLst/>
            <a:cxnLst/>
            <a:rect l="l" t="t" r="r" b="b"/>
            <a:pathLst>
              <a:path w="1007745" h="695325">
                <a:moveTo>
                  <a:pt x="0" y="139026"/>
                </a:moveTo>
                <a:lnTo>
                  <a:pt x="397954" y="139026"/>
                </a:lnTo>
                <a:lnTo>
                  <a:pt x="402996" y="417093"/>
                </a:lnTo>
                <a:lnTo>
                  <a:pt x="408038" y="695147"/>
                </a:lnTo>
                <a:lnTo>
                  <a:pt x="599452" y="695147"/>
                </a:lnTo>
                <a:lnTo>
                  <a:pt x="604494" y="417093"/>
                </a:lnTo>
                <a:lnTo>
                  <a:pt x="609536" y="139026"/>
                </a:lnTo>
                <a:lnTo>
                  <a:pt x="614565" y="139026"/>
                </a:lnTo>
                <a:lnTo>
                  <a:pt x="619607" y="139026"/>
                </a:lnTo>
                <a:lnTo>
                  <a:pt x="700201" y="139026"/>
                </a:lnTo>
                <a:lnTo>
                  <a:pt x="705243" y="69519"/>
                </a:lnTo>
                <a:lnTo>
                  <a:pt x="710285" y="0"/>
                </a:lnTo>
                <a:lnTo>
                  <a:pt x="715314" y="0"/>
                </a:lnTo>
                <a:lnTo>
                  <a:pt x="720356" y="0"/>
                </a:lnTo>
                <a:lnTo>
                  <a:pt x="901700" y="0"/>
                </a:lnTo>
                <a:lnTo>
                  <a:pt x="906741" y="69519"/>
                </a:lnTo>
                <a:lnTo>
                  <a:pt x="911783" y="139026"/>
                </a:lnTo>
                <a:lnTo>
                  <a:pt x="916813" y="139026"/>
                </a:lnTo>
                <a:lnTo>
                  <a:pt x="921854" y="139026"/>
                </a:lnTo>
                <a:lnTo>
                  <a:pt x="1002449" y="139026"/>
                </a:lnTo>
                <a:lnTo>
                  <a:pt x="1007491" y="139026"/>
                </a:lnTo>
              </a:path>
            </a:pathLst>
          </a:custGeom>
          <a:ln w="5060">
            <a:solidFill>
              <a:srgbClr val="1900E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3145205" y="4168396"/>
            <a:ext cx="1732280" cy="91249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850">
              <a:latin typeface="Calibri"/>
              <a:cs typeface="Calibri"/>
            </a:endParaRPr>
          </a:p>
          <a:p>
            <a:pPr marL="159385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25"/>
              </a:spcBef>
            </a:pPr>
            <a:endParaRPr sz="850">
              <a:latin typeface="Calibri"/>
              <a:cs typeface="Calibri"/>
            </a:endParaRPr>
          </a:p>
          <a:p>
            <a:pPr marL="113664">
              <a:lnSpc>
                <a:spcPct val="100000"/>
              </a:lnSpc>
            </a:pPr>
            <a:r>
              <a:rPr dirty="0" sz="850" spc="-25" i="1">
                <a:latin typeface="Calibri"/>
                <a:cs typeface="Calibri"/>
              </a:rPr>
              <a:t>h</a:t>
            </a:r>
            <a:r>
              <a:rPr dirty="0" baseline="-20202" sz="825" spc="-37">
                <a:latin typeface="Calibri"/>
                <a:cs typeface="Calibri"/>
              </a:rPr>
              <a:t>2</a:t>
            </a:r>
            <a:endParaRPr baseline="-20202" sz="825">
              <a:latin typeface="Calibri"/>
              <a:cs typeface="Calibri"/>
            </a:endParaRPr>
          </a:p>
          <a:p>
            <a:pPr marL="159385">
              <a:lnSpc>
                <a:spcPct val="100000"/>
              </a:lnSpc>
              <a:spcBef>
                <a:spcPts val="14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62380" y="6366504"/>
            <a:ext cx="4378325" cy="165036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444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suppressed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pair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observe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graph.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bumps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around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points.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850">
              <a:latin typeface="Calibri"/>
              <a:cs typeface="Calibri"/>
            </a:endParaRPr>
          </a:p>
          <a:p>
            <a:pPr algn="just" marL="17145" marR="32384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generally,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use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idea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get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many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peaks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want,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height.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In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can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divide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interval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5">
                <a:latin typeface="Lucida Sans Unicode"/>
                <a:cs typeface="Lucida Sans Unicode"/>
              </a:rPr>
              <a:t>[</a:t>
            </a:r>
            <a:r>
              <a:rPr dirty="0" sz="850" spc="55">
                <a:latin typeface="Calibri"/>
                <a:cs typeface="Calibri"/>
              </a:rPr>
              <a:t>0,1</a:t>
            </a:r>
            <a:r>
              <a:rPr dirty="0" sz="850" spc="55">
                <a:latin typeface="Lucida Sans Unicode"/>
                <a:cs typeface="Lucida Sans Unicode"/>
              </a:rPr>
              <a:t>]</a:t>
            </a:r>
            <a:r>
              <a:rPr dirty="0" sz="850" spc="-30">
                <a:latin typeface="Lucida Sans Unicode"/>
                <a:cs typeface="Lucida Sans Unicode"/>
              </a:rPr>
              <a:t> </a:t>
            </a:r>
            <a:r>
              <a:rPr dirty="0" sz="850" spc="35">
                <a:latin typeface="Calibri"/>
                <a:cs typeface="Calibri"/>
              </a:rPr>
              <a:t>up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large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number,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N</a:t>
            </a:r>
            <a:r>
              <a:rPr dirty="0" sz="850" spc="-100" i="1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subintervals,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and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N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pairs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up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peaks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height.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N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 spc="45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30">
                <a:latin typeface="Calibri"/>
                <a:cs typeface="Calibri"/>
              </a:rPr>
              <a:t>5.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neurons,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I’m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going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pack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things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Apologies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 </a:t>
            </a:r>
            <a:r>
              <a:rPr dirty="0" sz="850" spc="35">
                <a:latin typeface="Calibri"/>
                <a:cs typeface="Calibri"/>
              </a:rPr>
              <a:t>complexity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diagram: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could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hide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complexity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abstracting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away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think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it’s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worth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putting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up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with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little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complexity,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sake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getting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more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concrete</a:t>
            </a:r>
            <a:r>
              <a:rPr dirty="0" sz="850" spc="5">
                <a:latin typeface="Calibri"/>
                <a:cs typeface="Calibri"/>
              </a:rPr>
              <a:t> feel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work.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5778788" y="2267988"/>
            <a:ext cx="344170" cy="472440"/>
            <a:chOff x="5778788" y="2267988"/>
            <a:chExt cx="344170" cy="472440"/>
          </a:xfrm>
        </p:grpSpPr>
        <p:sp>
          <p:nvSpPr>
            <p:cNvPr id="23" name="object 23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5876620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309689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136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40383" y="925804"/>
            <a:ext cx="1558112" cy="2808224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3143808" y="1492897"/>
            <a:ext cx="1273810" cy="2241550"/>
            <a:chOff x="3143808" y="1492897"/>
            <a:chExt cx="1273810" cy="2241550"/>
          </a:xfrm>
        </p:grpSpPr>
        <p:sp>
          <p:nvSpPr>
            <p:cNvPr id="5" name="object 5"/>
            <p:cNvSpPr/>
            <p:nvPr/>
          </p:nvSpPr>
          <p:spPr>
            <a:xfrm>
              <a:off x="4254715" y="2796959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w="0" h="54610">
                  <a:moveTo>
                    <a:pt x="0" y="540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145078" y="2218931"/>
              <a:ext cx="54610" cy="1210310"/>
            </a:xfrm>
            <a:custGeom>
              <a:avLst/>
              <a:gdLst/>
              <a:ahLst/>
              <a:cxnLst/>
              <a:rect l="l" t="t" r="r" b="b"/>
              <a:pathLst>
                <a:path w="54610" h="1210310">
                  <a:moveTo>
                    <a:pt x="0" y="1210056"/>
                  </a:moveTo>
                  <a:lnTo>
                    <a:pt x="54000" y="1210056"/>
                  </a:lnTo>
                </a:path>
                <a:path w="54610" h="1210310">
                  <a:moveTo>
                    <a:pt x="0" y="605028"/>
                  </a:moveTo>
                  <a:lnTo>
                    <a:pt x="54000" y="605028"/>
                  </a:lnTo>
                </a:path>
                <a:path w="54610" h="121031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172079" y="2823959"/>
              <a:ext cx="1219835" cy="0"/>
            </a:xfrm>
            <a:custGeom>
              <a:avLst/>
              <a:gdLst/>
              <a:ahLst/>
              <a:cxnLst/>
              <a:rect l="l" t="t" r="r" b="b"/>
              <a:pathLst>
                <a:path w="1219835" h="0">
                  <a:moveTo>
                    <a:pt x="0" y="0"/>
                  </a:moveTo>
                  <a:lnTo>
                    <a:pt x="121972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376623" y="2803715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76" y="20243"/>
                  </a:lnTo>
                  <a:lnTo>
                    <a:pt x="0" y="40487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172079" y="1518208"/>
              <a:ext cx="0" cy="2213610"/>
            </a:xfrm>
            <a:custGeom>
              <a:avLst/>
              <a:gdLst/>
              <a:ahLst/>
              <a:cxnLst/>
              <a:rect l="l" t="t" r="r" b="b"/>
              <a:pathLst>
                <a:path w="0" h="2213610">
                  <a:moveTo>
                    <a:pt x="0" y="2213292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151835" y="149289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243" y="0"/>
                  </a:moveTo>
                  <a:lnTo>
                    <a:pt x="0" y="40487"/>
                  </a:lnTo>
                  <a:lnTo>
                    <a:pt x="20243" y="25311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4211611" y="2842961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52724" y="3343733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032630" y="2739099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32630" y="2134073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172079" y="1916417"/>
            <a:ext cx="1137285" cy="1210310"/>
          </a:xfrm>
          <a:custGeom>
            <a:avLst/>
            <a:gdLst/>
            <a:ahLst/>
            <a:cxnLst/>
            <a:rect l="l" t="t" r="r" b="b"/>
            <a:pathLst>
              <a:path w="1137285" h="1210310">
                <a:moveTo>
                  <a:pt x="0" y="605028"/>
                </a:moveTo>
                <a:lnTo>
                  <a:pt x="5689" y="302514"/>
                </a:lnTo>
                <a:lnTo>
                  <a:pt x="215988" y="302514"/>
                </a:lnTo>
                <a:lnTo>
                  <a:pt x="221665" y="907542"/>
                </a:lnTo>
                <a:lnTo>
                  <a:pt x="227355" y="907542"/>
                </a:lnTo>
                <a:lnTo>
                  <a:pt x="1131074" y="907542"/>
                </a:lnTo>
                <a:lnTo>
                  <a:pt x="1136764" y="907542"/>
                </a:lnTo>
              </a:path>
              <a:path w="1137285" h="1210310">
                <a:moveTo>
                  <a:pt x="0" y="907542"/>
                </a:moveTo>
                <a:lnTo>
                  <a:pt x="215988" y="907542"/>
                </a:lnTo>
                <a:lnTo>
                  <a:pt x="221665" y="1210056"/>
                </a:lnTo>
                <a:lnTo>
                  <a:pt x="431965" y="1210056"/>
                </a:lnTo>
                <a:lnTo>
                  <a:pt x="437654" y="907542"/>
                </a:lnTo>
                <a:lnTo>
                  <a:pt x="443344" y="907542"/>
                </a:lnTo>
                <a:lnTo>
                  <a:pt x="449021" y="907542"/>
                </a:lnTo>
                <a:lnTo>
                  <a:pt x="1131074" y="907542"/>
                </a:lnTo>
                <a:lnTo>
                  <a:pt x="1136764" y="907542"/>
                </a:lnTo>
              </a:path>
              <a:path w="1137285" h="1210310">
                <a:moveTo>
                  <a:pt x="0" y="907542"/>
                </a:moveTo>
                <a:lnTo>
                  <a:pt x="431965" y="907542"/>
                </a:lnTo>
                <a:lnTo>
                  <a:pt x="437654" y="0"/>
                </a:lnTo>
                <a:lnTo>
                  <a:pt x="647954" y="0"/>
                </a:lnTo>
                <a:lnTo>
                  <a:pt x="653643" y="907542"/>
                </a:lnTo>
                <a:lnTo>
                  <a:pt x="659320" y="907542"/>
                </a:lnTo>
                <a:lnTo>
                  <a:pt x="665010" y="907542"/>
                </a:lnTo>
                <a:lnTo>
                  <a:pt x="1131074" y="907542"/>
                </a:lnTo>
                <a:lnTo>
                  <a:pt x="1136764" y="907542"/>
                </a:lnTo>
              </a:path>
              <a:path w="1137285" h="1210310">
                <a:moveTo>
                  <a:pt x="0" y="907542"/>
                </a:moveTo>
                <a:lnTo>
                  <a:pt x="647954" y="907542"/>
                </a:lnTo>
                <a:lnTo>
                  <a:pt x="653643" y="544525"/>
                </a:lnTo>
                <a:lnTo>
                  <a:pt x="863942" y="544525"/>
                </a:lnTo>
                <a:lnTo>
                  <a:pt x="869619" y="907542"/>
                </a:lnTo>
                <a:lnTo>
                  <a:pt x="875309" y="907542"/>
                </a:lnTo>
                <a:lnTo>
                  <a:pt x="880986" y="907542"/>
                </a:lnTo>
                <a:lnTo>
                  <a:pt x="1131074" y="907542"/>
                </a:lnTo>
                <a:lnTo>
                  <a:pt x="1136764" y="907542"/>
                </a:lnTo>
              </a:path>
              <a:path w="1137285" h="1210310">
                <a:moveTo>
                  <a:pt x="0" y="907542"/>
                </a:moveTo>
                <a:lnTo>
                  <a:pt x="863942" y="907542"/>
                </a:lnTo>
                <a:lnTo>
                  <a:pt x="869619" y="1028547"/>
                </a:lnTo>
                <a:lnTo>
                  <a:pt x="1079931" y="1028547"/>
                </a:lnTo>
                <a:lnTo>
                  <a:pt x="1085608" y="907542"/>
                </a:lnTo>
                <a:lnTo>
                  <a:pt x="1091285" y="907542"/>
                </a:lnTo>
                <a:lnTo>
                  <a:pt x="1096975" y="907542"/>
                </a:lnTo>
                <a:lnTo>
                  <a:pt x="1131074" y="907542"/>
                </a:lnTo>
                <a:lnTo>
                  <a:pt x="1136764" y="907542"/>
                </a:lnTo>
              </a:path>
            </a:pathLst>
          </a:custGeom>
          <a:ln w="5060">
            <a:solidFill>
              <a:srgbClr val="1900E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3384626" y="1231318"/>
            <a:ext cx="820419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0905" y="4455751"/>
            <a:ext cx="4364990" cy="35610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7620" indent="1143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pairs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respective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pairs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1</a:t>
            </a:r>
            <a:r>
              <a:rPr dirty="0" sz="850" spc="75" i="1">
                <a:latin typeface="Times New Roman"/>
                <a:cs typeface="Times New Roman"/>
              </a:rPr>
              <a:t>/</a:t>
            </a:r>
            <a:r>
              <a:rPr dirty="0" sz="850" spc="75">
                <a:latin typeface="Calibri"/>
                <a:cs typeface="Calibri"/>
              </a:rPr>
              <a:t>5,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1</a:t>
            </a:r>
            <a:r>
              <a:rPr dirty="0" sz="850" spc="65" i="1">
                <a:latin typeface="Times New Roman"/>
                <a:cs typeface="Times New Roman"/>
              </a:rPr>
              <a:t>/</a:t>
            </a:r>
            <a:r>
              <a:rPr dirty="0" sz="850" spc="65">
                <a:latin typeface="Calibri"/>
                <a:cs typeface="Calibri"/>
              </a:rPr>
              <a:t>5,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2</a:t>
            </a:r>
            <a:r>
              <a:rPr dirty="0" sz="850" spc="75" i="1">
                <a:latin typeface="Times New Roman"/>
                <a:cs typeface="Times New Roman"/>
              </a:rPr>
              <a:t>/</a:t>
            </a:r>
            <a:r>
              <a:rPr dirty="0" sz="850" spc="75">
                <a:latin typeface="Calibri"/>
                <a:cs typeface="Calibri"/>
              </a:rPr>
              <a:t>5,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4</a:t>
            </a:r>
            <a:r>
              <a:rPr dirty="0" sz="850" spc="65" i="1">
                <a:latin typeface="Times New Roman"/>
                <a:cs typeface="Times New Roman"/>
              </a:rPr>
              <a:t>/</a:t>
            </a:r>
            <a:r>
              <a:rPr dirty="0" sz="850" spc="65">
                <a:latin typeface="Calibri"/>
                <a:cs typeface="Calibri"/>
              </a:rPr>
              <a:t>5,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5</a:t>
            </a:r>
            <a:r>
              <a:rPr dirty="0" sz="850" spc="75" i="1">
                <a:latin typeface="Times New Roman"/>
                <a:cs typeface="Times New Roman"/>
              </a:rPr>
              <a:t>/</a:t>
            </a:r>
            <a:r>
              <a:rPr dirty="0" sz="850" spc="75">
                <a:latin typeface="Calibri"/>
                <a:cs typeface="Calibri"/>
              </a:rPr>
              <a:t>5.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fixed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spaced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bumps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graph.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65"/>
              </a:spcBef>
            </a:pPr>
            <a:endParaRPr sz="850">
              <a:latin typeface="Calibri"/>
              <a:cs typeface="Calibri"/>
            </a:endParaRPr>
          </a:p>
          <a:p>
            <a:pPr algn="just" marL="28575" marR="5080" indent="18923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pair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associated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Remember,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connections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90">
                <a:latin typeface="Cambria"/>
                <a:cs typeface="Cambria"/>
              </a:rPr>
              <a:t>−</a:t>
            </a:r>
            <a:r>
              <a:rPr dirty="0" sz="850" spc="90" i="1">
                <a:latin typeface="Calibri"/>
                <a:cs typeface="Calibri"/>
              </a:rPr>
              <a:t>h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marked).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Click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drag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mouse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left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watch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designing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function!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65"/>
              </a:spcBef>
            </a:pPr>
            <a:endParaRPr sz="850">
              <a:latin typeface="Calibri"/>
              <a:cs typeface="Calibri"/>
            </a:endParaRPr>
          </a:p>
          <a:p>
            <a:pPr algn="just" marL="28575" marR="5080" indent="18923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Contrariwise,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clicking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graph,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dragging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down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height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bump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heights,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corresponding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although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shown,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corresponding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40">
                <a:latin typeface="Cambria"/>
                <a:cs typeface="Cambria"/>
              </a:rPr>
              <a:t>−</a:t>
            </a:r>
            <a:r>
              <a:rPr dirty="0" sz="850" spc="40" i="1">
                <a:latin typeface="Calibri"/>
                <a:cs typeface="Calibri"/>
              </a:rPr>
              <a:t>h</a:t>
            </a:r>
            <a:r>
              <a:rPr dirty="0" sz="850" spc="4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65"/>
              </a:spcBef>
            </a:pPr>
            <a:endParaRPr sz="850">
              <a:latin typeface="Calibri"/>
              <a:cs typeface="Calibri"/>
            </a:endParaRPr>
          </a:p>
          <a:p>
            <a:pPr algn="just" marL="28575" marR="7620" indent="189230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manipulate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appearing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graph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reflected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left.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hold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mouse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button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drag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mouse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side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draw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watch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adapt.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15"/>
              </a:spcBef>
            </a:pPr>
            <a:endParaRPr sz="850">
              <a:latin typeface="Calibri"/>
              <a:cs typeface="Calibri"/>
            </a:endParaRPr>
          </a:p>
          <a:p>
            <a:pPr marL="218440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challenge.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10"/>
              </a:spcBef>
            </a:pPr>
            <a:endParaRPr sz="850">
              <a:latin typeface="Calibri"/>
              <a:cs typeface="Calibri"/>
            </a:endParaRPr>
          </a:p>
          <a:p>
            <a:pPr marL="218440">
              <a:lnSpc>
                <a:spcPct val="100000"/>
              </a:lnSpc>
            </a:pP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plotted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chapter: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-2530" y="2267988"/>
            <a:ext cx="344170" cy="472440"/>
            <a:chOff x="-2530" y="2267988"/>
            <a:chExt cx="344170" cy="472440"/>
          </a:xfrm>
        </p:grpSpPr>
        <p:sp>
          <p:nvSpPr>
            <p:cNvPr id="19" name="object 19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6571"/>
                  </a:lnTo>
                  <a:lnTo>
                    <a:pt x="2520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0" y="466571"/>
                  </a:moveTo>
                  <a:lnTo>
                    <a:pt x="2520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25831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95396" y="368721"/>
            <a:ext cx="2685415" cy="7124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489835" algn="l"/>
              </a:tabLst>
            </a:pPr>
            <a:r>
              <a:rPr dirty="0" sz="850" spc="10">
                <a:latin typeface="Calibri"/>
                <a:cs typeface="Calibri"/>
              </a:rPr>
              <a:t>4.2.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137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850">
              <a:latin typeface="Arial MT"/>
              <a:cs typeface="Arial MT"/>
            </a:endParaRPr>
          </a:p>
          <a:p>
            <a:pPr marL="144145">
              <a:lnSpc>
                <a:spcPct val="100000"/>
              </a:lnSpc>
            </a:pP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-5" i="1">
                <a:latin typeface="Calibri"/>
                <a:cs typeface="Calibri"/>
              </a:rPr>
              <a:t> </a:t>
            </a:r>
            <a:r>
              <a:rPr dirty="0" sz="850" spc="40">
                <a:latin typeface="Tahoma"/>
                <a:cs typeface="Tahoma"/>
              </a:rPr>
              <a:t>(</a:t>
            </a:r>
            <a:r>
              <a:rPr dirty="0" sz="850" spc="40" i="1">
                <a:latin typeface="Calibri"/>
                <a:cs typeface="Calibri"/>
              </a:rPr>
              <a:t>x</a:t>
            </a:r>
            <a:r>
              <a:rPr dirty="0" sz="850" spc="40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228672" y="1184986"/>
            <a:ext cx="2023110" cy="1590675"/>
            <a:chOff x="2228672" y="1184986"/>
            <a:chExt cx="2023110" cy="1590675"/>
          </a:xfrm>
        </p:grpSpPr>
        <p:sp>
          <p:nvSpPr>
            <p:cNvPr id="4" name="object 4"/>
            <p:cNvSpPr/>
            <p:nvPr/>
          </p:nvSpPr>
          <p:spPr>
            <a:xfrm>
              <a:off x="2228672" y="2699893"/>
              <a:ext cx="1997710" cy="0"/>
            </a:xfrm>
            <a:custGeom>
              <a:avLst/>
              <a:gdLst/>
              <a:ahLst/>
              <a:cxnLst/>
              <a:rect l="l" t="t" r="r" b="b"/>
              <a:pathLst>
                <a:path w="1997710" h="0">
                  <a:moveTo>
                    <a:pt x="0" y="0"/>
                  </a:moveTo>
                  <a:lnTo>
                    <a:pt x="1997367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210850" y="267964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89" y="20243"/>
                  </a:lnTo>
                  <a:lnTo>
                    <a:pt x="0" y="40487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320607" y="1210297"/>
              <a:ext cx="0" cy="1565910"/>
            </a:xfrm>
            <a:custGeom>
              <a:avLst/>
              <a:gdLst/>
              <a:ahLst/>
              <a:cxnLst/>
              <a:rect l="l" t="t" r="r" b="b"/>
              <a:pathLst>
                <a:path w="0" h="1565910">
                  <a:moveTo>
                    <a:pt x="0" y="1565338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300363" y="118498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243" y="0"/>
                  </a:moveTo>
                  <a:lnTo>
                    <a:pt x="0" y="40487"/>
                  </a:lnTo>
                  <a:lnTo>
                    <a:pt x="20243" y="25311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320607" y="1408036"/>
              <a:ext cx="1838960" cy="1145540"/>
            </a:xfrm>
            <a:custGeom>
              <a:avLst/>
              <a:gdLst/>
              <a:ahLst/>
              <a:cxnLst/>
              <a:rect l="l" t="t" r="r" b="b"/>
              <a:pathLst>
                <a:path w="1838960" h="1145539">
                  <a:moveTo>
                    <a:pt x="0" y="913130"/>
                  </a:moveTo>
                  <a:lnTo>
                    <a:pt x="18389" y="921664"/>
                  </a:lnTo>
                  <a:lnTo>
                    <a:pt x="36779" y="945019"/>
                  </a:lnTo>
                  <a:lnTo>
                    <a:pt x="55168" y="977036"/>
                  </a:lnTo>
                  <a:lnTo>
                    <a:pt x="73558" y="1009154"/>
                  </a:lnTo>
                  <a:lnTo>
                    <a:pt x="91948" y="1032548"/>
                  </a:lnTo>
                  <a:lnTo>
                    <a:pt x="147104" y="1000620"/>
                  </a:lnTo>
                  <a:lnTo>
                    <a:pt x="165493" y="960018"/>
                  </a:lnTo>
                  <a:lnTo>
                    <a:pt x="183883" y="916000"/>
                  </a:lnTo>
                  <a:lnTo>
                    <a:pt x="202272" y="878039"/>
                  </a:lnTo>
                  <a:lnTo>
                    <a:pt x="220662" y="854316"/>
                  </a:lnTo>
                  <a:lnTo>
                    <a:pt x="239052" y="849782"/>
                  </a:lnTo>
                  <a:lnTo>
                    <a:pt x="257429" y="864971"/>
                  </a:lnTo>
                  <a:lnTo>
                    <a:pt x="275818" y="895946"/>
                  </a:lnTo>
                  <a:lnTo>
                    <a:pt x="294208" y="935266"/>
                  </a:lnTo>
                  <a:lnTo>
                    <a:pt x="312597" y="973874"/>
                  </a:lnTo>
                  <a:lnTo>
                    <a:pt x="330987" y="1003287"/>
                  </a:lnTo>
                  <a:lnTo>
                    <a:pt x="349377" y="1017701"/>
                  </a:lnTo>
                  <a:lnTo>
                    <a:pt x="367766" y="1015365"/>
                  </a:lnTo>
                  <a:lnTo>
                    <a:pt x="386143" y="998969"/>
                  </a:lnTo>
                  <a:lnTo>
                    <a:pt x="404545" y="974979"/>
                  </a:lnTo>
                  <a:lnTo>
                    <a:pt x="422922" y="951941"/>
                  </a:lnTo>
                  <a:lnTo>
                    <a:pt x="441312" y="938314"/>
                  </a:lnTo>
                  <a:lnTo>
                    <a:pt x="459701" y="940358"/>
                  </a:lnTo>
                  <a:lnTo>
                    <a:pt x="478091" y="960437"/>
                  </a:lnTo>
                  <a:lnTo>
                    <a:pt x="496481" y="996391"/>
                  </a:lnTo>
                  <a:lnTo>
                    <a:pt x="514870" y="1041908"/>
                  </a:lnTo>
                  <a:lnTo>
                    <a:pt x="533247" y="1088021"/>
                  </a:lnTo>
                  <a:lnTo>
                    <a:pt x="551637" y="1125143"/>
                  </a:lnTo>
                  <a:lnTo>
                    <a:pt x="570026" y="1145349"/>
                  </a:lnTo>
                  <a:lnTo>
                    <a:pt x="588416" y="1144219"/>
                  </a:lnTo>
                  <a:lnTo>
                    <a:pt x="606806" y="1121841"/>
                  </a:lnTo>
                  <a:lnTo>
                    <a:pt x="625195" y="1082713"/>
                  </a:lnTo>
                  <a:lnTo>
                    <a:pt x="643585" y="1034643"/>
                  </a:lnTo>
                  <a:lnTo>
                    <a:pt x="661962" y="986751"/>
                  </a:lnTo>
                  <a:lnTo>
                    <a:pt x="680351" y="947280"/>
                  </a:lnTo>
                  <a:lnTo>
                    <a:pt x="698741" y="921575"/>
                  </a:lnTo>
                  <a:lnTo>
                    <a:pt x="717130" y="910831"/>
                  </a:lnTo>
                  <a:lnTo>
                    <a:pt x="735520" y="911796"/>
                  </a:lnTo>
                  <a:lnTo>
                    <a:pt x="753910" y="917778"/>
                  </a:lnTo>
                  <a:lnTo>
                    <a:pt x="772299" y="920254"/>
                  </a:lnTo>
                  <a:lnTo>
                    <a:pt x="809078" y="884999"/>
                  </a:lnTo>
                  <a:lnTo>
                    <a:pt x="827455" y="840270"/>
                  </a:lnTo>
                  <a:lnTo>
                    <a:pt x="845845" y="780084"/>
                  </a:lnTo>
                  <a:lnTo>
                    <a:pt x="864235" y="711504"/>
                  </a:lnTo>
                  <a:lnTo>
                    <a:pt x="882624" y="644004"/>
                  </a:lnTo>
                  <a:lnTo>
                    <a:pt x="901014" y="587298"/>
                  </a:lnTo>
                  <a:lnTo>
                    <a:pt x="919403" y="549173"/>
                  </a:lnTo>
                  <a:lnTo>
                    <a:pt x="937780" y="533603"/>
                  </a:lnTo>
                  <a:lnTo>
                    <a:pt x="956170" y="540042"/>
                  </a:lnTo>
                  <a:lnTo>
                    <a:pt x="974559" y="563600"/>
                  </a:lnTo>
                  <a:lnTo>
                    <a:pt x="992949" y="596277"/>
                  </a:lnTo>
                  <a:lnTo>
                    <a:pt x="1011339" y="629119"/>
                  </a:lnTo>
                  <a:lnTo>
                    <a:pt x="1029728" y="654265"/>
                  </a:lnTo>
                  <a:lnTo>
                    <a:pt x="1048118" y="667029"/>
                  </a:lnTo>
                  <a:lnTo>
                    <a:pt x="1066507" y="666940"/>
                  </a:lnTo>
                  <a:lnTo>
                    <a:pt x="1084897" y="657796"/>
                  </a:lnTo>
                  <a:lnTo>
                    <a:pt x="1103274" y="646671"/>
                  </a:lnTo>
                  <a:lnTo>
                    <a:pt x="1121664" y="642048"/>
                  </a:lnTo>
                  <a:lnTo>
                    <a:pt x="1158443" y="680110"/>
                  </a:lnTo>
                  <a:lnTo>
                    <a:pt x="1176832" y="728192"/>
                  </a:lnTo>
                  <a:lnTo>
                    <a:pt x="1195222" y="791806"/>
                  </a:lnTo>
                  <a:lnTo>
                    <a:pt x="1213599" y="863155"/>
                  </a:lnTo>
                  <a:lnTo>
                    <a:pt x="1231988" y="932256"/>
                  </a:lnTo>
                  <a:lnTo>
                    <a:pt x="1250378" y="989228"/>
                  </a:lnTo>
                  <a:lnTo>
                    <a:pt x="1268768" y="1026464"/>
                  </a:lnTo>
                  <a:lnTo>
                    <a:pt x="1287157" y="1040244"/>
                  </a:lnTo>
                  <a:lnTo>
                    <a:pt x="1305547" y="1031506"/>
                  </a:lnTo>
                  <a:lnTo>
                    <a:pt x="1323936" y="1005395"/>
                  </a:lnTo>
                  <a:lnTo>
                    <a:pt x="1342326" y="969848"/>
                  </a:lnTo>
                  <a:lnTo>
                    <a:pt x="1360716" y="933551"/>
                  </a:lnTo>
                  <a:lnTo>
                    <a:pt x="1379093" y="903643"/>
                  </a:lnTo>
                  <a:lnTo>
                    <a:pt x="1397482" y="884047"/>
                  </a:lnTo>
                  <a:lnTo>
                    <a:pt x="1415872" y="874382"/>
                  </a:lnTo>
                  <a:lnTo>
                    <a:pt x="1434261" y="870102"/>
                  </a:lnTo>
                  <a:lnTo>
                    <a:pt x="1452651" y="863714"/>
                  </a:lnTo>
                  <a:lnTo>
                    <a:pt x="1489430" y="811568"/>
                  </a:lnTo>
                  <a:lnTo>
                    <a:pt x="1507807" y="754291"/>
                  </a:lnTo>
                  <a:lnTo>
                    <a:pt x="1526197" y="675081"/>
                  </a:lnTo>
                  <a:lnTo>
                    <a:pt x="1544586" y="578777"/>
                  </a:lnTo>
                  <a:lnTo>
                    <a:pt x="1562976" y="473837"/>
                  </a:lnTo>
                  <a:lnTo>
                    <a:pt x="1581365" y="370674"/>
                  </a:lnTo>
                  <a:lnTo>
                    <a:pt x="1599755" y="279273"/>
                  </a:lnTo>
                  <a:lnTo>
                    <a:pt x="1618145" y="207111"/>
                  </a:lnTo>
                  <a:lnTo>
                    <a:pt x="1636534" y="157581"/>
                  </a:lnTo>
                  <a:lnTo>
                    <a:pt x="1673301" y="117614"/>
                  </a:lnTo>
                  <a:lnTo>
                    <a:pt x="1710080" y="110985"/>
                  </a:lnTo>
                  <a:lnTo>
                    <a:pt x="1728470" y="101714"/>
                  </a:lnTo>
                  <a:lnTo>
                    <a:pt x="1746859" y="83464"/>
                  </a:lnTo>
                  <a:lnTo>
                    <a:pt x="1765249" y="57594"/>
                  </a:lnTo>
                  <a:lnTo>
                    <a:pt x="1783626" y="29591"/>
                  </a:lnTo>
                  <a:lnTo>
                    <a:pt x="1802015" y="7467"/>
                  </a:lnTo>
                  <a:lnTo>
                    <a:pt x="1820405" y="0"/>
                  </a:lnTo>
                  <a:lnTo>
                    <a:pt x="1838794" y="14300"/>
                  </a:lnTo>
                </a:path>
              </a:pathLst>
            </a:custGeom>
            <a:ln w="506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1067296" y="2901762"/>
            <a:ext cx="32365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plotted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972042" y="3214271"/>
            <a:ext cx="25501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20" i="1">
                <a:latin typeface="Calibri"/>
                <a:cs typeface="Calibri"/>
              </a:rPr>
              <a:t>f</a:t>
            </a:r>
            <a:r>
              <a:rPr dirty="0" sz="850" spc="25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0.2</a:t>
            </a:r>
            <a:r>
              <a:rPr dirty="0" sz="850" spc="-20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85">
                <a:latin typeface="Tahoma"/>
                <a:cs typeface="Tahoma"/>
              </a:rPr>
              <a:t> </a:t>
            </a:r>
            <a:r>
              <a:rPr dirty="0" sz="850" spc="70">
                <a:latin typeface="Calibri"/>
                <a:cs typeface="Calibri"/>
              </a:rPr>
              <a:t>0.4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baseline="35353" sz="825" spc="104">
                <a:latin typeface="Calibri"/>
                <a:cs typeface="Calibri"/>
              </a:rPr>
              <a:t>2</a:t>
            </a:r>
            <a:r>
              <a:rPr dirty="0" baseline="35353" sz="825" spc="157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90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0.3</a:t>
            </a:r>
            <a:r>
              <a:rPr dirty="0" sz="850" spc="55" i="1">
                <a:latin typeface="Calibri"/>
                <a:cs typeface="Calibri"/>
              </a:rPr>
              <a:t>x</a:t>
            </a:r>
            <a:r>
              <a:rPr dirty="0" sz="850" spc="25" i="1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sin</a:t>
            </a:r>
            <a:r>
              <a:rPr dirty="0" sz="850" spc="45">
                <a:latin typeface="Tahoma"/>
                <a:cs typeface="Tahoma"/>
              </a:rPr>
              <a:t>(</a:t>
            </a:r>
            <a:r>
              <a:rPr dirty="0" sz="850" spc="45">
                <a:latin typeface="Calibri"/>
                <a:cs typeface="Calibri"/>
              </a:rPr>
              <a:t>15</a:t>
            </a:r>
            <a:r>
              <a:rPr dirty="0" sz="850" spc="45" i="1">
                <a:latin typeface="Calibri"/>
                <a:cs typeface="Calibri"/>
              </a:rPr>
              <a:t>x</a:t>
            </a:r>
            <a:r>
              <a:rPr dirty="0" sz="850" spc="45">
                <a:latin typeface="Tahoma"/>
                <a:cs typeface="Tahoma"/>
              </a:rPr>
              <a:t>)</a:t>
            </a:r>
            <a:r>
              <a:rPr dirty="0" sz="850" spc="-90">
                <a:latin typeface="Tahoma"/>
                <a:cs typeface="Tahoma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90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0.05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cos</a:t>
            </a:r>
            <a:r>
              <a:rPr dirty="0" sz="850" spc="-10">
                <a:latin typeface="Tahoma"/>
                <a:cs typeface="Tahoma"/>
              </a:rPr>
              <a:t>(</a:t>
            </a:r>
            <a:r>
              <a:rPr dirty="0" sz="850" spc="-10">
                <a:latin typeface="Calibri"/>
                <a:cs typeface="Calibri"/>
              </a:rPr>
              <a:t>50</a:t>
            </a:r>
            <a:r>
              <a:rPr dirty="0" sz="850" spc="-10" i="1">
                <a:latin typeface="Calibri"/>
                <a:cs typeface="Calibri"/>
              </a:rPr>
              <a:t>x</a:t>
            </a:r>
            <a:r>
              <a:rPr dirty="0" sz="850" spc="-10">
                <a:latin typeface="Tahoma"/>
                <a:cs typeface="Tahoma"/>
              </a:rPr>
              <a:t>)</a:t>
            </a:r>
            <a:r>
              <a:rPr dirty="0" sz="850" spc="-10">
                <a:latin typeface="Calibri"/>
                <a:cs typeface="Calibri"/>
              </a:rPr>
              <a:t>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44225" y="3214271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(4.1)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7294" y="3509928"/>
            <a:ext cx="3514090" cy="46990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50">
                <a:latin typeface="Calibri"/>
                <a:cs typeface="Calibri"/>
              </a:rPr>
              <a:t>plotted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1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0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axis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1.</a:t>
            </a:r>
            <a:endParaRPr sz="850">
              <a:latin typeface="Calibri"/>
              <a:cs typeface="Calibri"/>
            </a:endParaRPr>
          </a:p>
          <a:p>
            <a:pPr marL="201930">
              <a:lnSpc>
                <a:spcPct val="100000"/>
              </a:lnSpc>
              <a:spcBef>
                <a:spcPts val="150"/>
              </a:spcBef>
            </a:pP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trivial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endParaRPr sz="850">
              <a:latin typeface="Calibri"/>
              <a:cs typeface="Calibri"/>
            </a:endParaRPr>
          </a:p>
          <a:p>
            <a:pPr marL="201930">
              <a:lnSpc>
                <a:spcPct val="100000"/>
              </a:lnSpc>
              <a:spcBef>
                <a:spcPts val="145"/>
              </a:spcBef>
            </a:pP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660036" y="3877376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754155" y="4041321"/>
            <a:ext cx="332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292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57081" y="3970899"/>
            <a:ext cx="41586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582670" algn="l"/>
              </a:tabLst>
            </a:pP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been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analyzing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combination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345" i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67296" y="4118943"/>
            <a:ext cx="4368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control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quantity.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But,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67296" y="4266974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quantity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896376" y="4321482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990495" y="4485428"/>
            <a:ext cx="332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292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67296" y="4415005"/>
            <a:ext cx="43497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008380" algn="l"/>
              </a:tabLst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9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32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1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way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2300452" y="5266613"/>
            <a:ext cx="2025650" cy="1593215"/>
            <a:chOff x="2300452" y="5266613"/>
            <a:chExt cx="2025650" cy="1593215"/>
          </a:xfrm>
        </p:grpSpPr>
        <p:sp>
          <p:nvSpPr>
            <p:cNvPr id="22" name="object 22"/>
            <p:cNvSpPr/>
            <p:nvPr/>
          </p:nvSpPr>
          <p:spPr>
            <a:xfrm>
              <a:off x="4233722" y="6071920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w="0" h="54610">
                  <a:moveTo>
                    <a:pt x="0" y="540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367927" y="5359082"/>
              <a:ext cx="54610" cy="1480185"/>
            </a:xfrm>
            <a:custGeom>
              <a:avLst/>
              <a:gdLst/>
              <a:ahLst/>
              <a:cxnLst/>
              <a:rect l="l" t="t" r="r" b="b"/>
              <a:pathLst>
                <a:path w="54610" h="1480184">
                  <a:moveTo>
                    <a:pt x="0" y="1479664"/>
                  </a:moveTo>
                  <a:lnTo>
                    <a:pt x="54013" y="1479664"/>
                  </a:lnTo>
                </a:path>
                <a:path w="54610" h="1480184">
                  <a:moveTo>
                    <a:pt x="0" y="1109751"/>
                  </a:moveTo>
                  <a:lnTo>
                    <a:pt x="54013" y="1109751"/>
                  </a:lnTo>
                </a:path>
                <a:path w="54610" h="1480184">
                  <a:moveTo>
                    <a:pt x="0" y="369925"/>
                  </a:moveTo>
                  <a:lnTo>
                    <a:pt x="54013" y="369925"/>
                  </a:lnTo>
                </a:path>
                <a:path w="54610" h="1480184">
                  <a:moveTo>
                    <a:pt x="0" y="0"/>
                  </a:moveTo>
                  <a:lnTo>
                    <a:pt x="54013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302992" y="6098921"/>
              <a:ext cx="1997710" cy="0"/>
            </a:xfrm>
            <a:custGeom>
              <a:avLst/>
              <a:gdLst/>
              <a:ahLst/>
              <a:cxnLst/>
              <a:rect l="l" t="t" r="r" b="b"/>
              <a:pathLst>
                <a:path w="1997710" h="0">
                  <a:moveTo>
                    <a:pt x="0" y="0"/>
                  </a:moveTo>
                  <a:lnTo>
                    <a:pt x="1997367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285170" y="607867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89" y="20243"/>
                  </a:lnTo>
                  <a:lnTo>
                    <a:pt x="0" y="40487"/>
                  </a:lnTo>
                  <a:lnTo>
                    <a:pt x="40500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394927" y="5291912"/>
              <a:ext cx="0" cy="1565910"/>
            </a:xfrm>
            <a:custGeom>
              <a:avLst/>
              <a:gdLst/>
              <a:ahLst/>
              <a:cxnLst/>
              <a:rect l="l" t="t" r="r" b="b"/>
              <a:pathLst>
                <a:path w="0" h="1565909">
                  <a:moveTo>
                    <a:pt x="0" y="1565325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374684" y="526661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0" y="40487"/>
                  </a:lnTo>
                  <a:lnTo>
                    <a:pt x="20243" y="25298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 txBox="1"/>
          <p:nvPr/>
        </p:nvSpPr>
        <p:spPr>
          <a:xfrm>
            <a:off x="4190606" y="6117923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2394927" y="5576951"/>
            <a:ext cx="1838960" cy="1118870"/>
          </a:xfrm>
          <a:custGeom>
            <a:avLst/>
            <a:gdLst/>
            <a:ahLst/>
            <a:cxnLst/>
            <a:rect l="l" t="t" r="r" b="b"/>
            <a:pathLst>
              <a:path w="1838960" h="1118870">
                <a:moveTo>
                  <a:pt x="0" y="891882"/>
                </a:moveTo>
                <a:lnTo>
                  <a:pt x="18389" y="900214"/>
                </a:lnTo>
                <a:lnTo>
                  <a:pt x="36779" y="923023"/>
                </a:lnTo>
                <a:lnTo>
                  <a:pt x="55168" y="954303"/>
                </a:lnTo>
                <a:lnTo>
                  <a:pt x="73558" y="985672"/>
                </a:lnTo>
                <a:lnTo>
                  <a:pt x="91948" y="1008519"/>
                </a:lnTo>
                <a:lnTo>
                  <a:pt x="147104" y="977328"/>
                </a:lnTo>
                <a:lnTo>
                  <a:pt x="165493" y="937679"/>
                </a:lnTo>
                <a:lnTo>
                  <a:pt x="183883" y="894676"/>
                </a:lnTo>
                <a:lnTo>
                  <a:pt x="202272" y="857592"/>
                </a:lnTo>
                <a:lnTo>
                  <a:pt x="220662" y="834428"/>
                </a:lnTo>
                <a:lnTo>
                  <a:pt x="239052" y="830008"/>
                </a:lnTo>
                <a:lnTo>
                  <a:pt x="257441" y="844842"/>
                </a:lnTo>
                <a:lnTo>
                  <a:pt x="275818" y="875093"/>
                </a:lnTo>
                <a:lnTo>
                  <a:pt x="294208" y="913498"/>
                </a:lnTo>
                <a:lnTo>
                  <a:pt x="312597" y="951217"/>
                </a:lnTo>
                <a:lnTo>
                  <a:pt x="330987" y="979944"/>
                </a:lnTo>
                <a:lnTo>
                  <a:pt x="349377" y="994016"/>
                </a:lnTo>
                <a:lnTo>
                  <a:pt x="367766" y="991730"/>
                </a:lnTo>
                <a:lnTo>
                  <a:pt x="386143" y="975715"/>
                </a:lnTo>
                <a:lnTo>
                  <a:pt x="404533" y="952284"/>
                </a:lnTo>
                <a:lnTo>
                  <a:pt x="422922" y="929779"/>
                </a:lnTo>
                <a:lnTo>
                  <a:pt x="441312" y="916482"/>
                </a:lnTo>
                <a:lnTo>
                  <a:pt x="459701" y="918476"/>
                </a:lnTo>
                <a:lnTo>
                  <a:pt x="478091" y="938085"/>
                </a:lnTo>
                <a:lnTo>
                  <a:pt x="496481" y="973213"/>
                </a:lnTo>
                <a:lnTo>
                  <a:pt x="514870" y="1017663"/>
                </a:lnTo>
                <a:lnTo>
                  <a:pt x="533260" y="1062697"/>
                </a:lnTo>
                <a:lnTo>
                  <a:pt x="551637" y="1098969"/>
                </a:lnTo>
                <a:lnTo>
                  <a:pt x="570026" y="1118704"/>
                </a:lnTo>
                <a:lnTo>
                  <a:pt x="588416" y="1117600"/>
                </a:lnTo>
                <a:lnTo>
                  <a:pt x="606806" y="1095730"/>
                </a:lnTo>
                <a:lnTo>
                  <a:pt x="625195" y="1057516"/>
                </a:lnTo>
                <a:lnTo>
                  <a:pt x="643585" y="1010564"/>
                </a:lnTo>
                <a:lnTo>
                  <a:pt x="661962" y="963790"/>
                </a:lnTo>
                <a:lnTo>
                  <a:pt x="680351" y="925245"/>
                </a:lnTo>
                <a:lnTo>
                  <a:pt x="698741" y="900137"/>
                </a:lnTo>
                <a:lnTo>
                  <a:pt x="717130" y="889622"/>
                </a:lnTo>
                <a:lnTo>
                  <a:pt x="735520" y="890574"/>
                </a:lnTo>
                <a:lnTo>
                  <a:pt x="753910" y="896416"/>
                </a:lnTo>
                <a:lnTo>
                  <a:pt x="772299" y="898842"/>
                </a:lnTo>
                <a:lnTo>
                  <a:pt x="809078" y="864412"/>
                </a:lnTo>
                <a:lnTo>
                  <a:pt x="827455" y="820724"/>
                </a:lnTo>
                <a:lnTo>
                  <a:pt x="845845" y="761936"/>
                </a:lnTo>
                <a:lnTo>
                  <a:pt x="864235" y="694944"/>
                </a:lnTo>
                <a:lnTo>
                  <a:pt x="882624" y="629018"/>
                </a:lnTo>
                <a:lnTo>
                  <a:pt x="901014" y="573646"/>
                </a:lnTo>
                <a:lnTo>
                  <a:pt x="919403" y="536384"/>
                </a:lnTo>
                <a:lnTo>
                  <a:pt x="937780" y="521182"/>
                </a:lnTo>
                <a:lnTo>
                  <a:pt x="956170" y="527481"/>
                </a:lnTo>
                <a:lnTo>
                  <a:pt x="974559" y="550481"/>
                </a:lnTo>
                <a:lnTo>
                  <a:pt x="992949" y="582396"/>
                </a:lnTo>
                <a:lnTo>
                  <a:pt x="1011339" y="614476"/>
                </a:lnTo>
                <a:lnTo>
                  <a:pt x="1029728" y="639038"/>
                </a:lnTo>
                <a:lnTo>
                  <a:pt x="1048118" y="651510"/>
                </a:lnTo>
                <a:lnTo>
                  <a:pt x="1066507" y="651421"/>
                </a:lnTo>
                <a:lnTo>
                  <a:pt x="1084897" y="642480"/>
                </a:lnTo>
                <a:lnTo>
                  <a:pt x="1103274" y="631621"/>
                </a:lnTo>
                <a:lnTo>
                  <a:pt x="1121664" y="627100"/>
                </a:lnTo>
                <a:lnTo>
                  <a:pt x="1158443" y="664286"/>
                </a:lnTo>
                <a:lnTo>
                  <a:pt x="1176832" y="711238"/>
                </a:lnTo>
                <a:lnTo>
                  <a:pt x="1195222" y="773379"/>
                </a:lnTo>
                <a:lnTo>
                  <a:pt x="1213612" y="843064"/>
                </a:lnTo>
                <a:lnTo>
                  <a:pt x="1231988" y="910551"/>
                </a:lnTo>
                <a:lnTo>
                  <a:pt x="1250378" y="966203"/>
                </a:lnTo>
                <a:lnTo>
                  <a:pt x="1268768" y="1002576"/>
                </a:lnTo>
                <a:lnTo>
                  <a:pt x="1287157" y="1016038"/>
                </a:lnTo>
                <a:lnTo>
                  <a:pt x="1305547" y="1007503"/>
                </a:lnTo>
                <a:lnTo>
                  <a:pt x="1323936" y="982002"/>
                </a:lnTo>
                <a:lnTo>
                  <a:pt x="1342313" y="947280"/>
                </a:lnTo>
                <a:lnTo>
                  <a:pt x="1360716" y="911821"/>
                </a:lnTo>
                <a:lnTo>
                  <a:pt x="1379093" y="882611"/>
                </a:lnTo>
                <a:lnTo>
                  <a:pt x="1397482" y="863473"/>
                </a:lnTo>
                <a:lnTo>
                  <a:pt x="1415872" y="854036"/>
                </a:lnTo>
                <a:lnTo>
                  <a:pt x="1434261" y="849858"/>
                </a:lnTo>
                <a:lnTo>
                  <a:pt x="1452651" y="843622"/>
                </a:lnTo>
                <a:lnTo>
                  <a:pt x="1489430" y="792683"/>
                </a:lnTo>
                <a:lnTo>
                  <a:pt x="1507807" y="736739"/>
                </a:lnTo>
                <a:lnTo>
                  <a:pt x="1526197" y="659371"/>
                </a:lnTo>
                <a:lnTo>
                  <a:pt x="1544586" y="565302"/>
                </a:lnTo>
                <a:lnTo>
                  <a:pt x="1562976" y="462813"/>
                </a:lnTo>
                <a:lnTo>
                  <a:pt x="1581365" y="362038"/>
                </a:lnTo>
                <a:lnTo>
                  <a:pt x="1599755" y="272770"/>
                </a:lnTo>
                <a:lnTo>
                  <a:pt x="1618132" y="202285"/>
                </a:lnTo>
                <a:lnTo>
                  <a:pt x="1636534" y="153911"/>
                </a:lnTo>
                <a:lnTo>
                  <a:pt x="1673301" y="114871"/>
                </a:lnTo>
                <a:lnTo>
                  <a:pt x="1710080" y="108407"/>
                </a:lnTo>
                <a:lnTo>
                  <a:pt x="1728470" y="99339"/>
                </a:lnTo>
                <a:lnTo>
                  <a:pt x="1746859" y="81521"/>
                </a:lnTo>
                <a:lnTo>
                  <a:pt x="1765249" y="56261"/>
                </a:lnTo>
                <a:lnTo>
                  <a:pt x="1783626" y="28905"/>
                </a:lnTo>
                <a:lnTo>
                  <a:pt x="1802015" y="7302"/>
                </a:lnTo>
                <a:lnTo>
                  <a:pt x="1820405" y="0"/>
                </a:lnTo>
                <a:lnTo>
                  <a:pt x="1838794" y="13970"/>
                </a:lnTo>
              </a:path>
            </a:pathLst>
          </a:custGeom>
          <a:ln w="5060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978396" y="4546175"/>
            <a:ext cx="4523740" cy="125476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40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achieve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control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network?</a:t>
            </a:r>
            <a:endParaRPr sz="850">
              <a:latin typeface="Calibri"/>
              <a:cs typeface="Calibri"/>
            </a:endParaRPr>
          </a:p>
          <a:p>
            <a:pPr algn="just" marL="94615" marR="90805" indent="196215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solution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design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neural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whose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hidden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layer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has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weighted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given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baseline="35353" sz="825" spc="187">
                <a:latin typeface="Cambria"/>
                <a:cs typeface="Cambria"/>
              </a:rPr>
              <a:t>−</a:t>
            </a:r>
            <a:r>
              <a:rPr dirty="0" baseline="35353" sz="825" spc="187">
                <a:latin typeface="Calibri"/>
                <a:cs typeface="Calibri"/>
              </a:rPr>
              <a:t>1</a:t>
            </a:r>
            <a:r>
              <a:rPr dirty="0" baseline="35353" sz="825" spc="127">
                <a:latin typeface="Calibri"/>
                <a:cs typeface="Calibri"/>
              </a:rPr>
              <a:t> </a:t>
            </a:r>
            <a:r>
              <a:rPr dirty="0" sz="850" spc="-285">
                <a:latin typeface="Cambria"/>
                <a:cs typeface="Cambria"/>
              </a:rPr>
              <a:t>◦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spc="-15" i="1">
                <a:latin typeface="Calibri"/>
                <a:cs typeface="Calibri"/>
              </a:rPr>
              <a:t>f</a:t>
            </a:r>
            <a:r>
              <a:rPr dirty="0" sz="850" spc="1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x</a:t>
            </a:r>
            <a:r>
              <a:rPr dirty="0" sz="850" spc="60">
                <a:latin typeface="Tahoma"/>
                <a:cs typeface="Tahoma"/>
              </a:rPr>
              <a:t>)</a:t>
            </a:r>
            <a:r>
              <a:rPr dirty="0" sz="850" spc="6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where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baseline="35353" sz="825" spc="187">
                <a:latin typeface="Cambria"/>
                <a:cs typeface="Cambria"/>
              </a:rPr>
              <a:t>−</a:t>
            </a:r>
            <a:r>
              <a:rPr dirty="0" baseline="35353" sz="825" spc="187">
                <a:latin typeface="Calibri"/>
                <a:cs typeface="Calibri"/>
              </a:rPr>
              <a:t>1</a:t>
            </a:r>
            <a:r>
              <a:rPr dirty="0" baseline="35353" sz="825" spc="247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inverse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40" i="1">
                <a:latin typeface="Times New Roman"/>
                <a:cs typeface="Times New Roman"/>
              </a:rPr>
              <a:t> </a:t>
            </a:r>
            <a:r>
              <a:rPr dirty="0" sz="850" spc="30">
                <a:latin typeface="Calibri"/>
                <a:cs typeface="Calibri"/>
              </a:rPr>
              <a:t>function.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That </a:t>
            </a:r>
            <a:r>
              <a:rPr dirty="0" sz="850" spc="30">
                <a:latin typeface="Calibri"/>
                <a:cs typeface="Calibri"/>
              </a:rPr>
              <a:t>is,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want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from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hidden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be: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Calibri"/>
              <a:cs typeface="Calibri"/>
            </a:endParaRPr>
          </a:p>
          <a:p>
            <a:pPr marL="1289685">
              <a:lnSpc>
                <a:spcPts val="885"/>
              </a:lnSpc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  <a:p>
            <a:pPr algn="ctr" marL="147955">
              <a:lnSpc>
                <a:spcPts val="885"/>
              </a:lnSpc>
            </a:pP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baseline="35353" sz="825" spc="187">
                <a:latin typeface="Cambria"/>
                <a:cs typeface="Cambria"/>
              </a:rPr>
              <a:t>−</a:t>
            </a:r>
            <a:r>
              <a:rPr dirty="0" baseline="35353" sz="825" spc="187">
                <a:latin typeface="Calibri"/>
                <a:cs typeface="Calibri"/>
              </a:rPr>
              <a:t>1</a:t>
            </a:r>
            <a:r>
              <a:rPr dirty="0" baseline="35353" sz="825" spc="127">
                <a:latin typeface="Calibri"/>
                <a:cs typeface="Calibri"/>
              </a:rPr>
              <a:t> </a:t>
            </a:r>
            <a:r>
              <a:rPr dirty="0" sz="850" spc="-285">
                <a:latin typeface="Cambria"/>
                <a:cs typeface="Cambria"/>
              </a:rPr>
              <a:t>◦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10" i="1">
                <a:latin typeface="Calibri"/>
                <a:cs typeface="Calibri"/>
              </a:rPr>
              <a:t> </a:t>
            </a:r>
            <a:r>
              <a:rPr dirty="0" sz="850" spc="40">
                <a:latin typeface="Tahoma"/>
                <a:cs typeface="Tahoma"/>
              </a:rPr>
              <a:t>(</a:t>
            </a:r>
            <a:r>
              <a:rPr dirty="0" sz="850" spc="40" i="1">
                <a:latin typeface="Calibri"/>
                <a:cs typeface="Calibri"/>
              </a:rPr>
              <a:t>x</a:t>
            </a:r>
            <a:r>
              <a:rPr dirty="0" sz="850" spc="40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850">
              <a:latin typeface="Tahoma"/>
              <a:cs typeface="Tahoma"/>
            </a:endParaRPr>
          </a:p>
          <a:p>
            <a:pPr marL="1289685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1079996" y="7853895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1016496" y="6383581"/>
            <a:ext cx="4447540" cy="16306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171575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55"/>
              </a:spcBef>
            </a:pPr>
            <a:endParaRPr sz="850">
              <a:latin typeface="Calibri"/>
              <a:cs typeface="Calibri"/>
            </a:endParaRPr>
          </a:p>
          <a:p>
            <a:pPr marL="1171575">
              <a:lnSpc>
                <a:spcPct val="100000"/>
              </a:lnSpc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50">
              <a:latin typeface="Calibri"/>
              <a:cs typeface="Calibri"/>
            </a:endParaRPr>
          </a:p>
          <a:p>
            <a:pPr algn="just" marL="63500" marR="5588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approximation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50">
                <a:latin typeface="Tahoma"/>
                <a:cs typeface="Tahoma"/>
              </a:rPr>
              <a:t>(</a:t>
            </a:r>
            <a:r>
              <a:rPr dirty="0" sz="850" spc="50" i="1">
                <a:latin typeface="Calibri"/>
                <a:cs typeface="Calibri"/>
              </a:rPr>
              <a:t>x</a:t>
            </a:r>
            <a:r>
              <a:rPr dirty="0" sz="850" spc="50">
                <a:latin typeface="Tahoma"/>
                <a:cs typeface="Tahoma"/>
              </a:rPr>
              <a:t>)</a:t>
            </a:r>
            <a:r>
              <a:rPr dirty="0" baseline="35353" sz="825" spc="75">
                <a:latin typeface="Calibri"/>
                <a:cs typeface="Calibri"/>
                <a:hlinkClick r:id="rId2" action="ppaction://hlinksldjump"/>
              </a:rPr>
              <a:t>6</a:t>
            </a:r>
            <a:r>
              <a:rPr dirty="0" sz="850" spc="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63500" marR="5588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challenge,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design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twice.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please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click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graph,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directly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adjusting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heights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bump</a:t>
            </a:r>
            <a:endParaRPr sz="850">
              <a:latin typeface="Calibri"/>
              <a:cs typeface="Calibri"/>
            </a:endParaRPr>
          </a:p>
          <a:p>
            <a:pPr marL="191135">
              <a:lnSpc>
                <a:spcPct val="100000"/>
              </a:lnSpc>
              <a:spcBef>
                <a:spcPts val="894"/>
              </a:spcBef>
            </a:pPr>
            <a:r>
              <a:rPr dirty="0" baseline="30303" sz="825">
                <a:latin typeface="Calibri"/>
                <a:cs typeface="Calibri"/>
              </a:rPr>
              <a:t>6</a:t>
            </a:r>
            <a:r>
              <a:rPr dirty="0" sz="750">
                <a:latin typeface="Calibri"/>
                <a:cs typeface="Calibri"/>
              </a:rPr>
              <a:t>Note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have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set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bias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output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0.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5778788" y="2267988"/>
            <a:ext cx="344170" cy="472440"/>
            <a:chOff x="5778788" y="2267988"/>
            <a:chExt cx="344170" cy="472440"/>
          </a:xfrm>
        </p:grpSpPr>
        <p:sp>
          <p:nvSpPr>
            <p:cNvPr id="34" name="object 34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/>
          <p:cNvSpPr txBox="1"/>
          <p:nvPr/>
        </p:nvSpPr>
        <p:spPr>
          <a:xfrm>
            <a:off x="5876620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697095" cy="13106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138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25120" marR="30480" indent="635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functions.</a:t>
            </a:r>
            <a:r>
              <a:rPr dirty="0" sz="850" spc="4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fairly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match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goal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48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How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measured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average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deviation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computing.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challenge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average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deviation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challenge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drive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average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deviation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0.40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below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7</a:t>
            </a:r>
            <a:endParaRPr baseline="35353" sz="825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99794" y="1814804"/>
            <a:ext cx="1553578" cy="2808224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732493" y="2335758"/>
            <a:ext cx="2025650" cy="2241550"/>
            <a:chOff x="2732493" y="2335758"/>
            <a:chExt cx="2025650" cy="2241550"/>
          </a:xfrm>
        </p:grpSpPr>
        <p:sp>
          <p:nvSpPr>
            <p:cNvPr id="5" name="object 5"/>
            <p:cNvSpPr/>
            <p:nvPr/>
          </p:nvSpPr>
          <p:spPr>
            <a:xfrm>
              <a:off x="4665764" y="3480104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w="0" h="54610">
                  <a:moveTo>
                    <a:pt x="0" y="540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799968" y="2465908"/>
              <a:ext cx="54610" cy="2082800"/>
            </a:xfrm>
            <a:custGeom>
              <a:avLst/>
              <a:gdLst/>
              <a:ahLst/>
              <a:cxnLst/>
              <a:rect l="l" t="t" r="r" b="b"/>
              <a:pathLst>
                <a:path w="54610" h="2082800">
                  <a:moveTo>
                    <a:pt x="0" y="2082393"/>
                  </a:moveTo>
                  <a:lnTo>
                    <a:pt x="54000" y="2082393"/>
                  </a:lnTo>
                </a:path>
                <a:path w="54610" h="2082800">
                  <a:moveTo>
                    <a:pt x="0" y="1561795"/>
                  </a:moveTo>
                  <a:lnTo>
                    <a:pt x="54000" y="1561795"/>
                  </a:lnTo>
                </a:path>
                <a:path w="54610" h="2082800">
                  <a:moveTo>
                    <a:pt x="0" y="520598"/>
                  </a:moveTo>
                  <a:lnTo>
                    <a:pt x="54000" y="520598"/>
                  </a:lnTo>
                </a:path>
                <a:path w="54610" h="208280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735033" y="3507105"/>
              <a:ext cx="1997710" cy="0"/>
            </a:xfrm>
            <a:custGeom>
              <a:avLst/>
              <a:gdLst/>
              <a:ahLst/>
              <a:cxnLst/>
              <a:rect l="l" t="t" r="r" b="b"/>
              <a:pathLst>
                <a:path w="1997710" h="0">
                  <a:moveTo>
                    <a:pt x="0" y="0"/>
                  </a:moveTo>
                  <a:lnTo>
                    <a:pt x="1997367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717211" y="3486861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89" y="20243"/>
                  </a:lnTo>
                  <a:lnTo>
                    <a:pt x="0" y="40487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826969" y="2361056"/>
              <a:ext cx="0" cy="2213610"/>
            </a:xfrm>
            <a:custGeom>
              <a:avLst/>
              <a:gdLst/>
              <a:ahLst/>
              <a:cxnLst/>
              <a:rect l="l" t="t" r="r" b="b"/>
              <a:pathLst>
                <a:path w="0" h="2213610">
                  <a:moveTo>
                    <a:pt x="0" y="2213279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806725" y="233575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0" y="40487"/>
                  </a:lnTo>
                  <a:lnTo>
                    <a:pt x="20243" y="25298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4622647" y="3526119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607614" y="3942446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687525" y="2901646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687525" y="2381443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732503" y="2769968"/>
            <a:ext cx="2028189" cy="1579880"/>
            <a:chOff x="2732503" y="2769968"/>
            <a:chExt cx="2028189" cy="1579880"/>
          </a:xfrm>
        </p:grpSpPr>
        <p:sp>
          <p:nvSpPr>
            <p:cNvPr id="16" name="object 16"/>
            <p:cNvSpPr/>
            <p:nvPr/>
          </p:nvSpPr>
          <p:spPr>
            <a:xfrm>
              <a:off x="2826969" y="2772498"/>
              <a:ext cx="1838960" cy="1574800"/>
            </a:xfrm>
            <a:custGeom>
              <a:avLst/>
              <a:gdLst/>
              <a:ahLst/>
              <a:cxnLst/>
              <a:rect l="l" t="t" r="r" b="b"/>
              <a:pathLst>
                <a:path w="1838960" h="1574800">
                  <a:moveTo>
                    <a:pt x="0" y="1255204"/>
                  </a:moveTo>
                  <a:lnTo>
                    <a:pt x="18389" y="1266939"/>
                  </a:lnTo>
                  <a:lnTo>
                    <a:pt x="36779" y="1299044"/>
                  </a:lnTo>
                  <a:lnTo>
                    <a:pt x="55168" y="1343063"/>
                  </a:lnTo>
                  <a:lnTo>
                    <a:pt x="73558" y="1387208"/>
                  </a:lnTo>
                  <a:lnTo>
                    <a:pt x="91948" y="1419364"/>
                  </a:lnTo>
                  <a:lnTo>
                    <a:pt x="147104" y="1375473"/>
                  </a:lnTo>
                  <a:lnTo>
                    <a:pt x="165493" y="1319669"/>
                  </a:lnTo>
                  <a:lnTo>
                    <a:pt x="183883" y="1259154"/>
                  </a:lnTo>
                  <a:lnTo>
                    <a:pt x="202272" y="1206969"/>
                  </a:lnTo>
                  <a:lnTo>
                    <a:pt x="220662" y="1174356"/>
                  </a:lnTo>
                  <a:lnTo>
                    <a:pt x="239052" y="1168133"/>
                  </a:lnTo>
                  <a:lnTo>
                    <a:pt x="257429" y="1189012"/>
                  </a:lnTo>
                  <a:lnTo>
                    <a:pt x="275818" y="1231582"/>
                  </a:lnTo>
                  <a:lnTo>
                    <a:pt x="294208" y="1285633"/>
                  </a:lnTo>
                  <a:lnTo>
                    <a:pt x="312597" y="1338707"/>
                  </a:lnTo>
                  <a:lnTo>
                    <a:pt x="330987" y="1379143"/>
                  </a:lnTo>
                  <a:lnTo>
                    <a:pt x="349377" y="1398955"/>
                  </a:lnTo>
                  <a:lnTo>
                    <a:pt x="367766" y="1395742"/>
                  </a:lnTo>
                  <a:lnTo>
                    <a:pt x="386156" y="1373200"/>
                  </a:lnTo>
                  <a:lnTo>
                    <a:pt x="404533" y="1340231"/>
                  </a:lnTo>
                  <a:lnTo>
                    <a:pt x="422922" y="1308557"/>
                  </a:lnTo>
                  <a:lnTo>
                    <a:pt x="441312" y="1289837"/>
                  </a:lnTo>
                  <a:lnTo>
                    <a:pt x="459701" y="1292644"/>
                  </a:lnTo>
                  <a:lnTo>
                    <a:pt x="478091" y="1320241"/>
                  </a:lnTo>
                  <a:lnTo>
                    <a:pt x="496481" y="1369669"/>
                  </a:lnTo>
                  <a:lnTo>
                    <a:pt x="514870" y="1432229"/>
                  </a:lnTo>
                  <a:lnTo>
                    <a:pt x="533247" y="1495615"/>
                  </a:lnTo>
                  <a:lnTo>
                    <a:pt x="551637" y="1546656"/>
                  </a:lnTo>
                  <a:lnTo>
                    <a:pt x="570026" y="1574431"/>
                  </a:lnTo>
                  <a:lnTo>
                    <a:pt x="588416" y="1572869"/>
                  </a:lnTo>
                  <a:lnTo>
                    <a:pt x="606806" y="1542097"/>
                  </a:lnTo>
                  <a:lnTo>
                    <a:pt x="625195" y="1488325"/>
                  </a:lnTo>
                  <a:lnTo>
                    <a:pt x="643572" y="1422247"/>
                  </a:lnTo>
                  <a:lnTo>
                    <a:pt x="661974" y="1356410"/>
                  </a:lnTo>
                  <a:lnTo>
                    <a:pt x="680364" y="1302169"/>
                  </a:lnTo>
                  <a:lnTo>
                    <a:pt x="698741" y="1266825"/>
                  </a:lnTo>
                  <a:lnTo>
                    <a:pt x="717130" y="1252042"/>
                  </a:lnTo>
                  <a:lnTo>
                    <a:pt x="735520" y="1253388"/>
                  </a:lnTo>
                  <a:lnTo>
                    <a:pt x="753910" y="1261592"/>
                  </a:lnTo>
                  <a:lnTo>
                    <a:pt x="772299" y="1265008"/>
                  </a:lnTo>
                  <a:lnTo>
                    <a:pt x="809066" y="1216545"/>
                  </a:lnTo>
                  <a:lnTo>
                    <a:pt x="827455" y="1155065"/>
                  </a:lnTo>
                  <a:lnTo>
                    <a:pt x="845845" y="1072324"/>
                  </a:lnTo>
                  <a:lnTo>
                    <a:pt x="864235" y="978052"/>
                  </a:lnTo>
                  <a:lnTo>
                    <a:pt x="882624" y="885266"/>
                  </a:lnTo>
                  <a:lnTo>
                    <a:pt x="901014" y="807326"/>
                  </a:lnTo>
                  <a:lnTo>
                    <a:pt x="919403" y="754913"/>
                  </a:lnTo>
                  <a:lnTo>
                    <a:pt x="937793" y="733513"/>
                  </a:lnTo>
                  <a:lnTo>
                    <a:pt x="956183" y="742365"/>
                  </a:lnTo>
                  <a:lnTo>
                    <a:pt x="974559" y="774750"/>
                  </a:lnTo>
                  <a:lnTo>
                    <a:pt x="992949" y="819658"/>
                  </a:lnTo>
                  <a:lnTo>
                    <a:pt x="1011339" y="864793"/>
                  </a:lnTo>
                  <a:lnTo>
                    <a:pt x="1029728" y="899363"/>
                  </a:lnTo>
                  <a:lnTo>
                    <a:pt x="1048118" y="916927"/>
                  </a:lnTo>
                  <a:lnTo>
                    <a:pt x="1066507" y="916800"/>
                  </a:lnTo>
                  <a:lnTo>
                    <a:pt x="1084884" y="904227"/>
                  </a:lnTo>
                  <a:lnTo>
                    <a:pt x="1103274" y="888936"/>
                  </a:lnTo>
                  <a:lnTo>
                    <a:pt x="1121664" y="882573"/>
                  </a:lnTo>
                  <a:lnTo>
                    <a:pt x="1158443" y="934897"/>
                  </a:lnTo>
                  <a:lnTo>
                    <a:pt x="1176832" y="1000988"/>
                  </a:lnTo>
                  <a:lnTo>
                    <a:pt x="1195222" y="1088440"/>
                  </a:lnTo>
                  <a:lnTo>
                    <a:pt x="1213599" y="1186510"/>
                  </a:lnTo>
                  <a:lnTo>
                    <a:pt x="1232001" y="1281506"/>
                  </a:lnTo>
                  <a:lnTo>
                    <a:pt x="1250378" y="1359814"/>
                  </a:lnTo>
                  <a:lnTo>
                    <a:pt x="1268768" y="1411008"/>
                  </a:lnTo>
                  <a:lnTo>
                    <a:pt x="1287157" y="1429943"/>
                  </a:lnTo>
                  <a:lnTo>
                    <a:pt x="1305547" y="1417942"/>
                  </a:lnTo>
                  <a:lnTo>
                    <a:pt x="1323936" y="1382052"/>
                  </a:lnTo>
                  <a:lnTo>
                    <a:pt x="1342326" y="1333182"/>
                  </a:lnTo>
                  <a:lnTo>
                    <a:pt x="1360703" y="1283271"/>
                  </a:lnTo>
                  <a:lnTo>
                    <a:pt x="1379093" y="1242161"/>
                  </a:lnTo>
                  <a:lnTo>
                    <a:pt x="1397482" y="1215237"/>
                  </a:lnTo>
                  <a:lnTo>
                    <a:pt x="1415872" y="1201953"/>
                  </a:lnTo>
                  <a:lnTo>
                    <a:pt x="1434261" y="1196073"/>
                  </a:lnTo>
                  <a:lnTo>
                    <a:pt x="1452651" y="1187284"/>
                  </a:lnTo>
                  <a:lnTo>
                    <a:pt x="1489417" y="1115593"/>
                  </a:lnTo>
                  <a:lnTo>
                    <a:pt x="1507807" y="1036866"/>
                  </a:lnTo>
                  <a:lnTo>
                    <a:pt x="1526197" y="927989"/>
                  </a:lnTo>
                  <a:lnTo>
                    <a:pt x="1544586" y="795604"/>
                  </a:lnTo>
                  <a:lnTo>
                    <a:pt x="1562976" y="651357"/>
                  </a:lnTo>
                  <a:lnTo>
                    <a:pt x="1581365" y="509536"/>
                  </a:lnTo>
                  <a:lnTo>
                    <a:pt x="1599755" y="383908"/>
                  </a:lnTo>
                  <a:lnTo>
                    <a:pt x="1618145" y="284708"/>
                  </a:lnTo>
                  <a:lnTo>
                    <a:pt x="1636534" y="216623"/>
                  </a:lnTo>
                  <a:lnTo>
                    <a:pt x="1654911" y="178028"/>
                  </a:lnTo>
                  <a:lnTo>
                    <a:pt x="1691690" y="156946"/>
                  </a:lnTo>
                  <a:lnTo>
                    <a:pt x="1710080" y="152577"/>
                  </a:lnTo>
                  <a:lnTo>
                    <a:pt x="1728470" y="139827"/>
                  </a:lnTo>
                  <a:lnTo>
                    <a:pt x="1746859" y="114731"/>
                  </a:lnTo>
                  <a:lnTo>
                    <a:pt x="1765236" y="79197"/>
                  </a:lnTo>
                  <a:lnTo>
                    <a:pt x="1783626" y="40690"/>
                  </a:lnTo>
                  <a:lnTo>
                    <a:pt x="1802015" y="10287"/>
                  </a:lnTo>
                  <a:lnTo>
                    <a:pt x="1820405" y="0"/>
                  </a:lnTo>
                  <a:lnTo>
                    <a:pt x="1838794" y="19672"/>
                  </a:lnTo>
                </a:path>
              </a:pathLst>
            </a:custGeom>
            <a:ln w="506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735034" y="2882379"/>
              <a:ext cx="2023110" cy="1353820"/>
            </a:xfrm>
            <a:custGeom>
              <a:avLst/>
              <a:gdLst/>
              <a:ahLst/>
              <a:cxnLst/>
              <a:rect l="l" t="t" r="r" b="b"/>
              <a:pathLst>
                <a:path w="2023110" h="1353820">
                  <a:moveTo>
                    <a:pt x="0" y="624725"/>
                  </a:moveTo>
                  <a:lnTo>
                    <a:pt x="89154" y="624725"/>
                  </a:lnTo>
                  <a:lnTo>
                    <a:pt x="96583" y="1197381"/>
                  </a:lnTo>
                  <a:lnTo>
                    <a:pt x="453199" y="1197381"/>
                  </a:lnTo>
                  <a:lnTo>
                    <a:pt x="460629" y="624725"/>
                  </a:lnTo>
                  <a:lnTo>
                    <a:pt x="468058" y="624725"/>
                  </a:lnTo>
                  <a:lnTo>
                    <a:pt x="475475" y="624725"/>
                  </a:lnTo>
                  <a:lnTo>
                    <a:pt x="728078" y="624725"/>
                  </a:lnTo>
                  <a:lnTo>
                    <a:pt x="735507" y="624725"/>
                  </a:lnTo>
                </a:path>
                <a:path w="2023110" h="1353820">
                  <a:moveTo>
                    <a:pt x="91935" y="624725"/>
                  </a:moveTo>
                  <a:lnTo>
                    <a:pt x="459689" y="624725"/>
                  </a:lnTo>
                  <a:lnTo>
                    <a:pt x="470827" y="1353566"/>
                  </a:lnTo>
                  <a:lnTo>
                    <a:pt x="827443" y="1353566"/>
                  </a:lnTo>
                  <a:lnTo>
                    <a:pt x="838593" y="624725"/>
                  </a:lnTo>
                  <a:lnTo>
                    <a:pt x="849731" y="624725"/>
                  </a:lnTo>
                  <a:lnTo>
                    <a:pt x="860869" y="624725"/>
                  </a:lnTo>
                  <a:lnTo>
                    <a:pt x="1184046" y="624725"/>
                  </a:lnTo>
                  <a:lnTo>
                    <a:pt x="1195197" y="624725"/>
                  </a:lnTo>
                </a:path>
                <a:path w="2023110" h="1353820">
                  <a:moveTo>
                    <a:pt x="459701" y="624725"/>
                  </a:moveTo>
                  <a:lnTo>
                    <a:pt x="827455" y="624725"/>
                  </a:lnTo>
                  <a:lnTo>
                    <a:pt x="838593" y="780910"/>
                  </a:lnTo>
                  <a:lnTo>
                    <a:pt x="1195197" y="780910"/>
                  </a:lnTo>
                  <a:lnTo>
                    <a:pt x="1206347" y="624725"/>
                  </a:lnTo>
                  <a:lnTo>
                    <a:pt x="1217485" y="624725"/>
                  </a:lnTo>
                  <a:lnTo>
                    <a:pt x="1228636" y="624725"/>
                  </a:lnTo>
                  <a:lnTo>
                    <a:pt x="1551800" y="624725"/>
                  </a:lnTo>
                  <a:lnTo>
                    <a:pt x="1562950" y="624725"/>
                  </a:lnTo>
                </a:path>
                <a:path w="2023110" h="1353820">
                  <a:moveTo>
                    <a:pt x="827455" y="624725"/>
                  </a:moveTo>
                  <a:lnTo>
                    <a:pt x="1195209" y="624725"/>
                  </a:lnTo>
                  <a:lnTo>
                    <a:pt x="1206347" y="1145324"/>
                  </a:lnTo>
                  <a:lnTo>
                    <a:pt x="1562963" y="1145324"/>
                  </a:lnTo>
                  <a:lnTo>
                    <a:pt x="1574101" y="624725"/>
                  </a:lnTo>
                  <a:lnTo>
                    <a:pt x="1585239" y="624725"/>
                  </a:lnTo>
                  <a:lnTo>
                    <a:pt x="1596390" y="624725"/>
                  </a:lnTo>
                  <a:lnTo>
                    <a:pt x="1919566" y="624725"/>
                  </a:lnTo>
                  <a:lnTo>
                    <a:pt x="1930704" y="624725"/>
                  </a:lnTo>
                </a:path>
                <a:path w="2023110" h="1353820">
                  <a:moveTo>
                    <a:pt x="1195209" y="624725"/>
                  </a:moveTo>
                  <a:lnTo>
                    <a:pt x="1562963" y="624725"/>
                  </a:lnTo>
                  <a:lnTo>
                    <a:pt x="1571320" y="0"/>
                  </a:lnTo>
                  <a:lnTo>
                    <a:pt x="1930717" y="0"/>
                  </a:lnTo>
                  <a:lnTo>
                    <a:pt x="1939074" y="624725"/>
                  </a:lnTo>
                  <a:lnTo>
                    <a:pt x="1947430" y="624725"/>
                  </a:lnTo>
                  <a:lnTo>
                    <a:pt x="1955800" y="624725"/>
                  </a:lnTo>
                  <a:lnTo>
                    <a:pt x="2014296" y="624725"/>
                  </a:lnTo>
                  <a:lnTo>
                    <a:pt x="2022652" y="624725"/>
                  </a:lnTo>
                </a:path>
              </a:pathLst>
            </a:custGeom>
            <a:ln w="5060">
              <a:solidFill>
                <a:srgbClr val="7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3336391" y="2444956"/>
            <a:ext cx="820419" cy="32194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40"/>
              </a:spcBef>
            </a:pP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50"/>
              </a:spcBef>
            </a:pP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0.38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720001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650052" y="4463046"/>
            <a:ext cx="4483735" cy="355155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R="394335">
              <a:lnSpc>
                <a:spcPct val="100000"/>
              </a:lnSpc>
              <a:spcBef>
                <a:spcPts val="110"/>
              </a:spcBef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Calibri"/>
              <a:cs typeface="Calibri"/>
            </a:endParaRPr>
          </a:p>
          <a:p>
            <a:pPr algn="just" marL="69850" marR="62230" indent="-508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You’ve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elements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necessary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approximately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f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 i="1">
                <a:latin typeface="Calibri"/>
                <a:cs typeface="Calibri"/>
              </a:rPr>
              <a:t>x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55">
                <a:latin typeface="Calibri"/>
                <a:cs typeface="Calibri"/>
              </a:rPr>
              <a:t>!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coarse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approximation,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easily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merely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pairs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allowing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bumps.</a:t>
            </a:r>
            <a:endParaRPr sz="850">
              <a:latin typeface="Calibri"/>
              <a:cs typeface="Calibri"/>
            </a:endParaRPr>
          </a:p>
          <a:p>
            <a:pPr algn="just" marL="69850" marR="85090" indent="189230">
              <a:lnSpc>
                <a:spcPct val="114300"/>
              </a:lnSpc>
              <a:spcBef>
                <a:spcPts val="45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convert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standard</a:t>
            </a:r>
            <a:r>
              <a:rPr dirty="0" sz="850" spc="20">
                <a:latin typeface="Calibri"/>
                <a:cs typeface="Calibri"/>
              </a:rPr>
              <a:t> parametrization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recap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quickly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works.</a:t>
            </a:r>
            <a:endParaRPr sz="850">
              <a:latin typeface="Calibri"/>
              <a:cs typeface="Calibri"/>
            </a:endParaRPr>
          </a:p>
          <a:p>
            <a:pPr algn="just" marL="259715">
              <a:lnSpc>
                <a:spcPct val="100000"/>
              </a:lnSpc>
              <a:spcBef>
                <a:spcPts val="19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constant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10">
                <a:latin typeface="Tahoma"/>
                <a:cs typeface="Tahoma"/>
              </a:rPr>
              <a:t> </a:t>
            </a:r>
            <a:r>
              <a:rPr dirty="0" sz="850" spc="-10">
                <a:latin typeface="Calibri"/>
                <a:cs typeface="Calibri"/>
              </a:rPr>
              <a:t>1000.</a:t>
            </a:r>
            <a:endParaRPr sz="850">
              <a:latin typeface="Calibri"/>
              <a:cs typeface="Calibri"/>
            </a:endParaRPr>
          </a:p>
          <a:p>
            <a:pPr algn="just" marL="69850" marR="85090" indent="189230">
              <a:lnSpc>
                <a:spcPct val="114300"/>
              </a:lnSpc>
              <a:spcBef>
                <a:spcPts val="50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80">
                <a:latin typeface="Tahoma"/>
                <a:cs typeface="Tahoma"/>
              </a:rPr>
              <a:t> </a:t>
            </a:r>
            <a:r>
              <a:rPr dirty="0" sz="850" spc="50">
                <a:latin typeface="Cambria"/>
                <a:cs typeface="Cambria"/>
              </a:rPr>
              <a:t>−</a:t>
            </a:r>
            <a:r>
              <a:rPr dirty="0" sz="850" spc="50" i="1">
                <a:latin typeface="Calibri"/>
                <a:cs typeface="Calibri"/>
              </a:rPr>
              <a:t>ws</a:t>
            </a:r>
            <a:r>
              <a:rPr dirty="0" sz="850" spc="50">
                <a:latin typeface="Calibri"/>
                <a:cs typeface="Calibri"/>
              </a:rPr>
              <a:t>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second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0.2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becomes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1000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0.2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55">
                <a:latin typeface="Cambria"/>
                <a:cs typeface="Cambria"/>
              </a:rPr>
              <a:t>−</a:t>
            </a:r>
            <a:r>
              <a:rPr dirty="0" sz="850" spc="55">
                <a:latin typeface="Calibri"/>
                <a:cs typeface="Calibri"/>
              </a:rPr>
              <a:t>200.</a:t>
            </a:r>
            <a:endParaRPr sz="850">
              <a:latin typeface="Calibri"/>
              <a:cs typeface="Calibri"/>
            </a:endParaRPr>
          </a:p>
          <a:p>
            <a:pPr algn="just" marL="63500" marR="82550" indent="196215">
              <a:lnSpc>
                <a:spcPct val="114300"/>
              </a:lnSpc>
              <a:spcBef>
                <a:spcPts val="4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determined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value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chosen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10">
                <a:latin typeface="Tahoma"/>
                <a:cs typeface="Tahoma"/>
              </a:rPr>
              <a:t> </a:t>
            </a:r>
            <a:r>
              <a:rPr dirty="0" sz="850" spc="60">
                <a:latin typeface="Cambria"/>
                <a:cs typeface="Cambria"/>
              </a:rPr>
              <a:t>−</a:t>
            </a:r>
            <a:r>
              <a:rPr dirty="0" sz="850" spc="60">
                <a:latin typeface="Calibri"/>
                <a:cs typeface="Calibri"/>
              </a:rPr>
              <a:t>0.6,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65">
                <a:latin typeface="Cambria"/>
                <a:cs typeface="Cambria"/>
              </a:rPr>
              <a:t>−</a:t>
            </a:r>
            <a:r>
              <a:rPr dirty="0" sz="850" spc="65">
                <a:latin typeface="Calibri"/>
                <a:cs typeface="Calibri"/>
              </a:rPr>
              <a:t>0.6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0.6,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respectively.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weights.</a:t>
            </a:r>
            <a:endParaRPr sz="850">
              <a:latin typeface="Calibri"/>
              <a:cs typeface="Calibri"/>
            </a:endParaRPr>
          </a:p>
          <a:p>
            <a:pPr algn="just" marL="259715">
              <a:lnSpc>
                <a:spcPct val="100000"/>
              </a:lnSpc>
              <a:spcBef>
                <a:spcPts val="190"/>
              </a:spcBef>
            </a:pPr>
            <a:r>
              <a:rPr dirty="0" sz="850">
                <a:latin typeface="Calibri"/>
                <a:cs typeface="Calibri"/>
              </a:rPr>
              <a:t>Finally,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0.</a:t>
            </a:r>
            <a:endParaRPr sz="850">
              <a:latin typeface="Calibri"/>
              <a:cs typeface="Calibri"/>
            </a:endParaRPr>
          </a:p>
          <a:p>
            <a:pPr algn="just" marL="69850" marR="85090" indent="189230">
              <a:lnSpc>
                <a:spcPct val="114300"/>
              </a:lnSpc>
              <a:spcBef>
                <a:spcPts val="50"/>
              </a:spcBef>
            </a:pP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everything: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description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does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job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original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improve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quality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  <a:p>
            <a:pPr algn="just" marL="69850" marR="55880" indent="189230">
              <a:lnSpc>
                <a:spcPct val="114300"/>
              </a:lnSpc>
              <a:spcBef>
                <a:spcPts val="45"/>
              </a:spcBef>
            </a:pPr>
            <a:r>
              <a:rPr dirty="0" sz="850" spc="15">
                <a:latin typeface="Calibri"/>
                <a:cs typeface="Calibri"/>
              </a:rPr>
              <a:t>What’s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more,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nothing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special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original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goal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function,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5" i="1">
                <a:latin typeface="Calibri"/>
                <a:cs typeface="Calibri"/>
              </a:rPr>
              <a:t>f</a:t>
            </a:r>
            <a:r>
              <a:rPr dirty="0" sz="850" spc="10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Tahoma"/>
                <a:cs typeface="Tahoma"/>
              </a:rPr>
              <a:t>)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45">
                <a:latin typeface="Calibri"/>
                <a:cs typeface="Calibri"/>
              </a:rPr>
              <a:t>0.2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15">
                <a:latin typeface="Tahoma"/>
                <a:cs typeface="Tahoma"/>
              </a:rPr>
              <a:t>+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 spc="65">
                <a:latin typeface="Calibri"/>
                <a:cs typeface="Calibri"/>
              </a:rPr>
              <a:t>0.4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35353" sz="825" spc="97">
                <a:latin typeface="Calibri"/>
                <a:cs typeface="Calibri"/>
              </a:rPr>
              <a:t>2</a:t>
            </a:r>
            <a:r>
              <a:rPr dirty="0" baseline="35353" sz="825" spc="97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125">
                <a:latin typeface="Tahoma"/>
                <a:cs typeface="Tahoma"/>
              </a:rPr>
              <a:t> </a:t>
            </a:r>
            <a:r>
              <a:rPr dirty="0" sz="850" spc="35">
                <a:latin typeface="Calibri"/>
                <a:cs typeface="Calibri"/>
              </a:rPr>
              <a:t>0.3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sin</a:t>
            </a:r>
            <a:r>
              <a:rPr dirty="0" sz="850" spc="40">
                <a:latin typeface="Tahoma"/>
                <a:cs typeface="Tahoma"/>
              </a:rPr>
              <a:t>(</a:t>
            </a:r>
            <a:r>
              <a:rPr dirty="0" sz="850" spc="40">
                <a:latin typeface="Calibri"/>
                <a:cs typeface="Calibri"/>
              </a:rPr>
              <a:t>15</a:t>
            </a:r>
            <a:r>
              <a:rPr dirty="0" sz="850" spc="40" i="1">
                <a:latin typeface="Calibri"/>
                <a:cs typeface="Calibri"/>
              </a:rPr>
              <a:t>x</a:t>
            </a:r>
            <a:r>
              <a:rPr dirty="0" sz="850" spc="40">
                <a:latin typeface="Tahoma"/>
                <a:cs typeface="Tahoma"/>
              </a:rPr>
              <a:t>)</a:t>
            </a:r>
            <a:r>
              <a:rPr dirty="0" sz="850" spc="-125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125">
                <a:latin typeface="Tahoma"/>
                <a:cs typeface="Tahoma"/>
              </a:rPr>
              <a:t> </a:t>
            </a:r>
            <a:r>
              <a:rPr dirty="0" sz="850" spc="35">
                <a:latin typeface="Calibri"/>
                <a:cs typeface="Calibri"/>
              </a:rPr>
              <a:t>0.05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cos</a:t>
            </a:r>
            <a:r>
              <a:rPr dirty="0" sz="850" spc="35">
                <a:latin typeface="Tahoma"/>
                <a:cs typeface="Tahoma"/>
              </a:rPr>
              <a:t>(</a:t>
            </a:r>
            <a:r>
              <a:rPr dirty="0" sz="850" spc="35">
                <a:latin typeface="Calibri"/>
                <a:cs typeface="Calibri"/>
              </a:rPr>
              <a:t>50</a:t>
            </a:r>
            <a:r>
              <a:rPr dirty="0" sz="850" spc="35" i="1">
                <a:latin typeface="Calibri"/>
                <a:cs typeface="Calibri"/>
              </a:rPr>
              <a:t>x</a:t>
            </a:r>
            <a:r>
              <a:rPr dirty="0" sz="850" spc="35">
                <a:latin typeface="Tahoma"/>
                <a:cs typeface="Tahoma"/>
              </a:rPr>
              <a:t>)</a:t>
            </a:r>
            <a:r>
              <a:rPr dirty="0" sz="850" spc="35">
                <a:latin typeface="Calibri"/>
                <a:cs typeface="Calibri"/>
              </a:rPr>
              <a:t>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30">
                <a:latin typeface="Calibri"/>
                <a:cs typeface="Calibri"/>
              </a:rPr>
              <a:t>We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could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used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procedure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continuous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function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from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5">
                <a:latin typeface="Tahoma"/>
                <a:cs typeface="Tahoma"/>
              </a:rPr>
              <a:t>[</a:t>
            </a:r>
            <a:r>
              <a:rPr dirty="0" sz="850" spc="35">
                <a:latin typeface="Calibri"/>
                <a:cs typeface="Calibri"/>
              </a:rPr>
              <a:t>0,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1</a:t>
            </a:r>
            <a:r>
              <a:rPr dirty="0" sz="850" spc="40">
                <a:latin typeface="Tahoma"/>
                <a:cs typeface="Tahoma"/>
              </a:rPr>
              <a:t>]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5">
                <a:latin typeface="Tahoma"/>
                <a:cs typeface="Tahoma"/>
              </a:rPr>
              <a:t>[</a:t>
            </a:r>
            <a:r>
              <a:rPr dirty="0" sz="850" spc="35">
                <a:latin typeface="Calibri"/>
                <a:cs typeface="Calibri"/>
              </a:rPr>
              <a:t>0,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1</a:t>
            </a:r>
            <a:r>
              <a:rPr dirty="0" sz="850" spc="35">
                <a:latin typeface="Tahoma"/>
                <a:cs typeface="Tahoma"/>
              </a:rPr>
              <a:t>]</a:t>
            </a:r>
            <a:r>
              <a:rPr dirty="0" sz="850" spc="35">
                <a:latin typeface="Calibri"/>
                <a:cs typeface="Calibri"/>
              </a:rPr>
              <a:t>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essence,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using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our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single-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neural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5"/>
              </a:spcBef>
            </a:pPr>
            <a:endParaRPr sz="850">
              <a:latin typeface="Calibri"/>
              <a:cs typeface="Calibri"/>
            </a:endParaRPr>
          </a:p>
          <a:p>
            <a:pPr algn="just" marL="69850" marR="85090" indent="127635">
              <a:lnSpc>
                <a:spcPts val="800"/>
              </a:lnSpc>
              <a:spcBef>
                <a:spcPts val="5"/>
              </a:spcBef>
            </a:pPr>
            <a:r>
              <a:rPr dirty="0" baseline="30303" sz="825" spc="75">
                <a:latin typeface="Calibri"/>
                <a:cs typeface="Calibri"/>
              </a:rPr>
              <a:t>7</a:t>
            </a:r>
            <a:r>
              <a:rPr dirty="0" sz="750" spc="50">
                <a:latin typeface="Calibri"/>
                <a:cs typeface="Calibri"/>
              </a:rPr>
              <a:t>This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paragraph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refers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interactive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element,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available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online.</a:t>
            </a:r>
            <a:r>
              <a:rPr dirty="0" sz="750" spc="2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graph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shows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final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result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of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manual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minimization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average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deviation.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-2530" y="2267988"/>
            <a:ext cx="344170" cy="472440"/>
            <a:chOff x="-2530" y="2267988"/>
            <a:chExt cx="344170" cy="472440"/>
          </a:xfrm>
        </p:grpSpPr>
        <p:sp>
          <p:nvSpPr>
            <p:cNvPr id="22" name="object 22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6571"/>
                  </a:lnTo>
                  <a:lnTo>
                    <a:pt x="2520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0" y="466571"/>
                  </a:moveTo>
                  <a:lnTo>
                    <a:pt x="2520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/>
          <p:cNvSpPr txBox="1"/>
          <p:nvPr/>
        </p:nvSpPr>
        <p:spPr>
          <a:xfrm>
            <a:off x="25831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96" y="368721"/>
            <a:ext cx="4613275" cy="13119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999105">
              <a:lnSpc>
                <a:spcPts val="525"/>
              </a:lnSpc>
              <a:spcBef>
                <a:spcPts val="110"/>
              </a:spcBef>
              <a:tabLst>
                <a:tab pos="4417695" algn="l"/>
              </a:tabLst>
            </a:pPr>
            <a:r>
              <a:rPr dirty="0" sz="850">
                <a:latin typeface="Calibri"/>
                <a:cs typeface="Calibri"/>
              </a:rPr>
              <a:t>4.3.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variables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139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12700" marR="27241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lookup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table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able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universality.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339725" algn="l"/>
              </a:tabLst>
            </a:pPr>
            <a:r>
              <a:rPr dirty="0" sz="1050" spc="30" b="1">
                <a:latin typeface="Calibri"/>
                <a:cs typeface="Calibri"/>
              </a:rPr>
              <a:t>4.3</a:t>
            </a:r>
            <a:r>
              <a:rPr dirty="0" sz="1050" b="1">
                <a:latin typeface="Calibri"/>
                <a:cs typeface="Calibri"/>
              </a:rPr>
              <a:t>	Many</a:t>
            </a:r>
            <a:r>
              <a:rPr dirty="0" sz="1050" spc="15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input</a:t>
            </a:r>
            <a:r>
              <a:rPr dirty="0" sz="1050" spc="155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variables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7296" y="1803026"/>
            <a:ext cx="4348480" cy="6273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extend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variables.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sounds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complicated,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understood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address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two-input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case.</a:t>
            </a:r>
            <a:endParaRPr sz="850">
              <a:latin typeface="Calibri"/>
              <a:cs typeface="Calibri"/>
            </a:endParaRPr>
          </a:p>
          <a:p>
            <a:pPr algn="just" marL="201930">
              <a:lnSpc>
                <a:spcPct val="100000"/>
              </a:lnSpc>
              <a:spcBef>
                <a:spcPts val="225"/>
              </a:spcBef>
            </a:pP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76017" y="2573261"/>
            <a:ext cx="1727987" cy="108616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029196" y="3799021"/>
            <a:ext cx="4422140" cy="736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Here,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y</a:t>
            </a:r>
            <a:r>
              <a:rPr dirty="0" sz="850" spc="60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baseline="-20202" sz="825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2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35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around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affect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850">
              <a:latin typeface="Calibri"/>
              <a:cs typeface="Calibri"/>
            </a:endParaRPr>
          </a:p>
          <a:p>
            <a:pPr algn="ctr" marL="59055">
              <a:lnSpc>
                <a:spcPct val="100000"/>
              </a:lnSpc>
              <a:tabLst>
                <a:tab pos="1295400" algn="l"/>
                <a:tab pos="2532380" algn="l"/>
              </a:tabLst>
            </a:pPr>
            <a:r>
              <a:rPr dirty="0" sz="650" i="1">
                <a:latin typeface="Calibri"/>
                <a:cs typeface="Calibri"/>
              </a:rPr>
              <a:t>w</a:t>
            </a:r>
            <a:r>
              <a:rPr dirty="0" baseline="-18518" sz="675">
                <a:latin typeface="Calibri"/>
                <a:cs typeface="Calibri"/>
              </a:rPr>
              <a:t>1</a:t>
            </a:r>
            <a:r>
              <a:rPr dirty="0" baseline="-18518" sz="675" spc="195">
                <a:latin typeface="Calibri"/>
                <a:cs typeface="Calibri"/>
              </a:rPr>
              <a:t> </a:t>
            </a:r>
            <a:r>
              <a:rPr dirty="0" sz="650" spc="60">
                <a:latin typeface="Tahoma"/>
                <a:cs typeface="Tahoma"/>
              </a:rPr>
              <a:t>=</a:t>
            </a:r>
            <a:r>
              <a:rPr dirty="0" sz="650" spc="-1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8,</a:t>
            </a:r>
            <a:r>
              <a:rPr dirty="0" sz="650" spc="30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65" i="1">
                <a:latin typeface="Calibri"/>
                <a:cs typeface="Calibri"/>
              </a:rPr>
              <a:t> </a:t>
            </a:r>
            <a:r>
              <a:rPr dirty="0" sz="650" spc="60">
                <a:latin typeface="Tahoma"/>
                <a:cs typeface="Tahoma"/>
              </a:rPr>
              <a:t>=</a:t>
            </a:r>
            <a:r>
              <a:rPr dirty="0" sz="650" spc="-15">
                <a:latin typeface="Tahoma"/>
                <a:cs typeface="Tahoma"/>
              </a:rPr>
              <a:t> 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Calibri"/>
                <a:cs typeface="Calibri"/>
              </a:rPr>
              <a:t>8</a:t>
            </a:r>
            <a:r>
              <a:rPr dirty="0" sz="650">
                <a:latin typeface="Calibri"/>
                <a:cs typeface="Calibri"/>
              </a:rPr>
              <a:t>	</a:t>
            </a:r>
            <a:r>
              <a:rPr dirty="0" sz="650" i="1">
                <a:latin typeface="Calibri"/>
                <a:cs typeface="Calibri"/>
              </a:rPr>
              <a:t>w</a:t>
            </a:r>
            <a:r>
              <a:rPr dirty="0" baseline="-18518" sz="675">
                <a:latin typeface="Calibri"/>
                <a:cs typeface="Calibri"/>
              </a:rPr>
              <a:t>1</a:t>
            </a:r>
            <a:r>
              <a:rPr dirty="0" baseline="-18518" sz="675" spc="195">
                <a:latin typeface="Calibri"/>
                <a:cs typeface="Calibri"/>
              </a:rPr>
              <a:t> </a:t>
            </a:r>
            <a:r>
              <a:rPr dirty="0" sz="650" spc="60">
                <a:latin typeface="Tahoma"/>
                <a:cs typeface="Tahoma"/>
              </a:rPr>
              <a:t>=</a:t>
            </a:r>
            <a:r>
              <a:rPr dirty="0" sz="650" spc="-1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8,</a:t>
            </a:r>
            <a:r>
              <a:rPr dirty="0" sz="650" spc="30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65" i="1">
                <a:latin typeface="Calibri"/>
                <a:cs typeface="Calibri"/>
              </a:rPr>
              <a:t> </a:t>
            </a:r>
            <a:r>
              <a:rPr dirty="0" sz="650" spc="60">
                <a:latin typeface="Tahoma"/>
                <a:cs typeface="Tahoma"/>
              </a:rPr>
              <a:t>=</a:t>
            </a:r>
            <a:r>
              <a:rPr dirty="0" sz="650" spc="-15">
                <a:latin typeface="Tahoma"/>
                <a:cs typeface="Tahoma"/>
              </a:rPr>
              <a:t> 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Calibri"/>
                <a:cs typeface="Calibri"/>
              </a:rPr>
              <a:t>5</a:t>
            </a:r>
            <a:r>
              <a:rPr dirty="0" sz="650">
                <a:latin typeface="Calibri"/>
                <a:cs typeface="Calibri"/>
              </a:rPr>
              <a:t>	</a:t>
            </a:r>
            <a:r>
              <a:rPr dirty="0" sz="650" i="1">
                <a:latin typeface="Calibri"/>
                <a:cs typeface="Calibri"/>
              </a:rPr>
              <a:t>w</a:t>
            </a:r>
            <a:r>
              <a:rPr dirty="0" baseline="-18518" sz="675">
                <a:latin typeface="Calibri"/>
                <a:cs typeface="Calibri"/>
              </a:rPr>
              <a:t>1</a:t>
            </a:r>
            <a:r>
              <a:rPr dirty="0" baseline="-18518" sz="675" spc="195">
                <a:latin typeface="Calibri"/>
                <a:cs typeface="Calibri"/>
              </a:rPr>
              <a:t> </a:t>
            </a:r>
            <a:r>
              <a:rPr dirty="0" sz="650" spc="60">
                <a:latin typeface="Tahoma"/>
                <a:cs typeface="Tahoma"/>
              </a:rPr>
              <a:t>=</a:t>
            </a:r>
            <a:r>
              <a:rPr dirty="0" sz="650" spc="-1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8,</a:t>
            </a:r>
            <a:r>
              <a:rPr dirty="0" sz="650" spc="30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65" i="1">
                <a:latin typeface="Calibri"/>
                <a:cs typeface="Calibri"/>
              </a:rPr>
              <a:t> </a:t>
            </a:r>
            <a:r>
              <a:rPr dirty="0" sz="650" spc="60">
                <a:latin typeface="Tahoma"/>
                <a:cs typeface="Tahoma"/>
              </a:rPr>
              <a:t>=</a:t>
            </a:r>
            <a:r>
              <a:rPr dirty="0" sz="650" spc="-15">
                <a:latin typeface="Tahoma"/>
                <a:cs typeface="Tahoma"/>
              </a:rPr>
              <a:t> 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Calibri"/>
                <a:cs typeface="Calibri"/>
              </a:rPr>
              <a:t>2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15919" y="5833658"/>
            <a:ext cx="742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54075" y="5881392"/>
            <a:ext cx="16002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5">
                <a:latin typeface="Calibri"/>
                <a:cs typeface="Calibri"/>
              </a:rPr>
              <a:t>0</a:t>
            </a:r>
            <a:r>
              <a:rPr dirty="0" sz="650" spc="145">
                <a:latin typeface="Calibri"/>
                <a:cs typeface="Calibri"/>
              </a:rPr>
              <a:t> </a:t>
            </a:r>
            <a:r>
              <a:rPr dirty="0" sz="650" spc="5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46142" y="5700531"/>
            <a:ext cx="742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37912" y="4614883"/>
            <a:ext cx="988022" cy="1275840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2187765" y="5972895"/>
            <a:ext cx="673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Calibri"/>
                <a:cs typeface="Calibri"/>
              </a:rPr>
              <a:t>x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41189" y="5893118"/>
            <a:ext cx="673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408008" y="5016122"/>
            <a:ext cx="113664" cy="29591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70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752610" y="5833658"/>
            <a:ext cx="742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890776" y="5881392"/>
            <a:ext cx="16002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5">
                <a:latin typeface="Calibri"/>
                <a:cs typeface="Calibri"/>
              </a:rPr>
              <a:t>0</a:t>
            </a:r>
            <a:r>
              <a:rPr dirty="0" sz="650" spc="145">
                <a:latin typeface="Calibri"/>
                <a:cs typeface="Calibri"/>
              </a:rPr>
              <a:t> </a:t>
            </a:r>
            <a:r>
              <a:rPr dirty="0" sz="650" spc="5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682834" y="5700531"/>
            <a:ext cx="742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16" name="object 1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774600" y="4614883"/>
            <a:ext cx="988021" cy="1275839"/>
          </a:xfrm>
          <a:prstGeom prst="rect">
            <a:avLst/>
          </a:prstGeom>
        </p:spPr>
      </p:pic>
      <p:sp>
        <p:nvSpPr>
          <p:cNvPr id="17" name="object 17"/>
          <p:cNvSpPr txBox="1"/>
          <p:nvPr/>
        </p:nvSpPr>
        <p:spPr>
          <a:xfrm>
            <a:off x="3424453" y="5972895"/>
            <a:ext cx="673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Calibri"/>
                <a:cs typeface="Calibri"/>
              </a:rPr>
              <a:t>x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677872" y="5893118"/>
            <a:ext cx="673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644696" y="5016122"/>
            <a:ext cx="113664" cy="29591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70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989307" y="5833658"/>
            <a:ext cx="742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127464" y="5881392"/>
            <a:ext cx="16002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5">
                <a:latin typeface="Calibri"/>
                <a:cs typeface="Calibri"/>
              </a:rPr>
              <a:t>0</a:t>
            </a:r>
            <a:r>
              <a:rPr dirty="0" sz="650" spc="145">
                <a:latin typeface="Calibri"/>
                <a:cs typeface="Calibri"/>
              </a:rPr>
              <a:t> </a:t>
            </a:r>
            <a:r>
              <a:rPr dirty="0" sz="650" spc="5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919531" y="5700531"/>
            <a:ext cx="742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23" name="object 2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011288" y="4614883"/>
            <a:ext cx="988021" cy="1275839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4661141" y="5972895"/>
            <a:ext cx="673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Calibri"/>
                <a:cs typeface="Calibri"/>
              </a:rPr>
              <a:t>x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914565" y="5893118"/>
            <a:ext cx="673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881384" y="5016122"/>
            <a:ext cx="113664" cy="29591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70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515919" y="7712875"/>
            <a:ext cx="742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654075" y="7760599"/>
            <a:ext cx="16002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5">
                <a:latin typeface="Calibri"/>
                <a:cs typeface="Calibri"/>
              </a:rPr>
              <a:t>0</a:t>
            </a:r>
            <a:r>
              <a:rPr dirty="0" sz="650" spc="145">
                <a:latin typeface="Calibri"/>
                <a:cs typeface="Calibri"/>
              </a:rPr>
              <a:t> </a:t>
            </a:r>
            <a:r>
              <a:rPr dirty="0" sz="650" spc="5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446142" y="7579738"/>
            <a:ext cx="742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30" name="object 3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537913" y="6494102"/>
            <a:ext cx="988019" cy="1275845"/>
          </a:xfrm>
          <a:prstGeom prst="rect">
            <a:avLst/>
          </a:prstGeom>
        </p:spPr>
      </p:pic>
      <p:sp>
        <p:nvSpPr>
          <p:cNvPr id="31" name="object 31"/>
          <p:cNvSpPr txBox="1"/>
          <p:nvPr/>
        </p:nvSpPr>
        <p:spPr>
          <a:xfrm>
            <a:off x="2187765" y="7852099"/>
            <a:ext cx="673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Calibri"/>
                <a:cs typeface="Calibri"/>
              </a:rPr>
              <a:t>x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441189" y="7772323"/>
            <a:ext cx="673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408008" y="6895341"/>
            <a:ext cx="113664" cy="29591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70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684718" y="6283906"/>
            <a:ext cx="6965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Calibri"/>
                <a:cs typeface="Calibri"/>
              </a:rPr>
              <a:t>w</a:t>
            </a:r>
            <a:r>
              <a:rPr dirty="0" baseline="-18518" sz="675">
                <a:latin typeface="Calibri"/>
                <a:cs typeface="Calibri"/>
              </a:rPr>
              <a:t>1</a:t>
            </a:r>
            <a:r>
              <a:rPr dirty="0" baseline="-18518" sz="675" spc="217">
                <a:latin typeface="Calibri"/>
                <a:cs typeface="Calibri"/>
              </a:rPr>
              <a:t> </a:t>
            </a:r>
            <a:r>
              <a:rPr dirty="0" sz="650" spc="60">
                <a:latin typeface="Tahoma"/>
                <a:cs typeface="Tahoma"/>
              </a:rPr>
              <a:t>=</a:t>
            </a:r>
            <a:r>
              <a:rPr dirty="0" sz="650" spc="-5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11,</a:t>
            </a:r>
            <a:r>
              <a:rPr dirty="0" sz="650" spc="40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80" i="1">
                <a:latin typeface="Calibri"/>
                <a:cs typeface="Calibri"/>
              </a:rPr>
              <a:t> </a:t>
            </a:r>
            <a:r>
              <a:rPr dirty="0" sz="650" spc="60">
                <a:latin typeface="Tahoma"/>
                <a:cs typeface="Tahoma"/>
              </a:rPr>
              <a:t>=</a:t>
            </a:r>
            <a:r>
              <a:rPr dirty="0" sz="650" spc="-5">
                <a:latin typeface="Tahoma"/>
                <a:cs typeface="Tahoma"/>
              </a:rPr>
              <a:t> 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Calibri"/>
                <a:cs typeface="Calibri"/>
              </a:rPr>
              <a:t>5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752610" y="7712875"/>
            <a:ext cx="742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890776" y="7760599"/>
            <a:ext cx="16002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5">
                <a:latin typeface="Calibri"/>
                <a:cs typeface="Calibri"/>
              </a:rPr>
              <a:t>0</a:t>
            </a:r>
            <a:r>
              <a:rPr dirty="0" sz="650" spc="145">
                <a:latin typeface="Calibri"/>
                <a:cs typeface="Calibri"/>
              </a:rPr>
              <a:t> </a:t>
            </a:r>
            <a:r>
              <a:rPr dirty="0" sz="650" spc="5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682834" y="7579738"/>
            <a:ext cx="742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38" name="object 3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774601" y="6494102"/>
            <a:ext cx="988020" cy="1275845"/>
          </a:xfrm>
          <a:prstGeom prst="rect">
            <a:avLst/>
          </a:prstGeom>
        </p:spPr>
      </p:pic>
      <p:sp>
        <p:nvSpPr>
          <p:cNvPr id="39" name="object 39"/>
          <p:cNvSpPr txBox="1"/>
          <p:nvPr/>
        </p:nvSpPr>
        <p:spPr>
          <a:xfrm>
            <a:off x="3424453" y="7852099"/>
            <a:ext cx="673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Calibri"/>
                <a:cs typeface="Calibri"/>
              </a:rPr>
              <a:t>x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677872" y="7772323"/>
            <a:ext cx="673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644696" y="6895341"/>
            <a:ext cx="113664" cy="29591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70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945714" y="6283906"/>
            <a:ext cx="64833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Calibri"/>
                <a:cs typeface="Calibri"/>
              </a:rPr>
              <a:t>w</a:t>
            </a:r>
            <a:r>
              <a:rPr dirty="0" baseline="-18518" sz="675">
                <a:latin typeface="Calibri"/>
                <a:cs typeface="Calibri"/>
              </a:rPr>
              <a:t>1</a:t>
            </a:r>
            <a:r>
              <a:rPr dirty="0" baseline="-18518" sz="675" spc="195">
                <a:latin typeface="Calibri"/>
                <a:cs typeface="Calibri"/>
              </a:rPr>
              <a:t> </a:t>
            </a:r>
            <a:r>
              <a:rPr dirty="0" sz="650" spc="60">
                <a:latin typeface="Tahoma"/>
                <a:cs typeface="Tahoma"/>
              </a:rPr>
              <a:t>=</a:t>
            </a:r>
            <a:r>
              <a:rPr dirty="0" sz="650" spc="-1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8,</a:t>
            </a:r>
            <a:r>
              <a:rPr dirty="0" sz="650" spc="30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65" i="1">
                <a:latin typeface="Calibri"/>
                <a:cs typeface="Calibri"/>
              </a:rPr>
              <a:t> </a:t>
            </a:r>
            <a:r>
              <a:rPr dirty="0" sz="650" spc="60">
                <a:latin typeface="Tahoma"/>
                <a:cs typeface="Tahoma"/>
              </a:rPr>
              <a:t>=</a:t>
            </a:r>
            <a:r>
              <a:rPr dirty="0" sz="650" spc="-15">
                <a:latin typeface="Tahoma"/>
                <a:cs typeface="Tahoma"/>
              </a:rPr>
              <a:t> 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Calibri"/>
                <a:cs typeface="Calibri"/>
              </a:rPr>
              <a:t>5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989307" y="7712875"/>
            <a:ext cx="742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27464" y="7760599"/>
            <a:ext cx="16002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5">
                <a:latin typeface="Calibri"/>
                <a:cs typeface="Calibri"/>
              </a:rPr>
              <a:t>0</a:t>
            </a:r>
            <a:r>
              <a:rPr dirty="0" sz="650" spc="145">
                <a:latin typeface="Calibri"/>
                <a:cs typeface="Calibri"/>
              </a:rPr>
              <a:t> </a:t>
            </a:r>
            <a:r>
              <a:rPr dirty="0" sz="650" spc="5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919531" y="7579738"/>
            <a:ext cx="742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5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46" name="object 46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011289" y="6494102"/>
            <a:ext cx="988020" cy="1275845"/>
          </a:xfrm>
          <a:prstGeom prst="rect">
            <a:avLst/>
          </a:prstGeom>
        </p:spPr>
      </p:pic>
      <p:sp>
        <p:nvSpPr>
          <p:cNvPr id="47" name="object 47"/>
          <p:cNvSpPr txBox="1"/>
          <p:nvPr/>
        </p:nvSpPr>
        <p:spPr>
          <a:xfrm>
            <a:off x="4661141" y="7852099"/>
            <a:ext cx="673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Calibri"/>
                <a:cs typeface="Calibri"/>
              </a:rPr>
              <a:t>x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914565" y="7772323"/>
            <a:ext cx="673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881384" y="6895341"/>
            <a:ext cx="113664" cy="29591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70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182402" y="6283906"/>
            <a:ext cx="64833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Calibri"/>
                <a:cs typeface="Calibri"/>
              </a:rPr>
              <a:t>w</a:t>
            </a:r>
            <a:r>
              <a:rPr dirty="0" baseline="-18518" sz="675">
                <a:latin typeface="Calibri"/>
                <a:cs typeface="Calibri"/>
              </a:rPr>
              <a:t>1</a:t>
            </a:r>
            <a:r>
              <a:rPr dirty="0" baseline="-18518" sz="675" spc="195">
                <a:latin typeface="Calibri"/>
                <a:cs typeface="Calibri"/>
              </a:rPr>
              <a:t> </a:t>
            </a:r>
            <a:r>
              <a:rPr dirty="0" sz="650" spc="60">
                <a:latin typeface="Tahoma"/>
                <a:cs typeface="Tahoma"/>
              </a:rPr>
              <a:t>=</a:t>
            </a:r>
            <a:r>
              <a:rPr dirty="0" sz="650" spc="-1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5,</a:t>
            </a:r>
            <a:r>
              <a:rPr dirty="0" sz="650" spc="30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65" i="1">
                <a:latin typeface="Calibri"/>
                <a:cs typeface="Calibri"/>
              </a:rPr>
              <a:t> </a:t>
            </a:r>
            <a:r>
              <a:rPr dirty="0" sz="650" spc="60">
                <a:latin typeface="Tahoma"/>
                <a:cs typeface="Tahoma"/>
              </a:rPr>
              <a:t>=</a:t>
            </a:r>
            <a:r>
              <a:rPr dirty="0" sz="650" spc="-15">
                <a:latin typeface="Tahoma"/>
                <a:cs typeface="Tahoma"/>
              </a:rPr>
              <a:t> 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Calibri"/>
                <a:cs typeface="Calibri"/>
              </a:rPr>
              <a:t>5</a:t>
            </a:r>
            <a:endParaRPr sz="650">
              <a:latin typeface="Calibri"/>
              <a:cs typeface="Calibri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5778788" y="2267988"/>
            <a:ext cx="344170" cy="472440"/>
            <a:chOff x="5778788" y="2267988"/>
            <a:chExt cx="344170" cy="472440"/>
          </a:xfrm>
        </p:grpSpPr>
        <p:sp>
          <p:nvSpPr>
            <p:cNvPr id="52" name="object 52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/>
          <p:cNvSpPr txBox="1"/>
          <p:nvPr/>
        </p:nvSpPr>
        <p:spPr>
          <a:xfrm>
            <a:off x="5876620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75300" y="368721"/>
            <a:ext cx="4743450" cy="24701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ts val="525"/>
              </a:lnSpc>
              <a:spcBef>
                <a:spcPts val="110"/>
              </a:spcBef>
              <a:tabLst>
                <a:tab pos="407034" algn="l"/>
              </a:tabLst>
            </a:pPr>
            <a:r>
              <a:rPr dirty="0" sz="850" spc="25">
                <a:latin typeface="Calibri"/>
                <a:cs typeface="Calibri"/>
              </a:rPr>
              <a:t>140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marL="2940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44170" marR="43180" indent="-571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277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0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input.</a:t>
            </a:r>
            <a:endParaRPr sz="850">
              <a:latin typeface="Calibri"/>
              <a:cs typeface="Calibri"/>
            </a:endParaRPr>
          </a:p>
          <a:p>
            <a:pPr algn="just" marL="337820" marR="47625" indent="196215">
              <a:lnSpc>
                <a:spcPct val="114300"/>
              </a:lnSpc>
              <a:spcBef>
                <a:spcPts val="25"/>
              </a:spcBef>
            </a:pP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increase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4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405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65">
                <a:latin typeface="Tahoma"/>
                <a:cs typeface="Tahoma"/>
              </a:rPr>
              <a:t> </a:t>
            </a:r>
            <a:r>
              <a:rPr dirty="0" sz="850" spc="30">
                <a:latin typeface="Calibri"/>
                <a:cs typeface="Calibri"/>
              </a:rPr>
              <a:t>100,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baseline="-20202" sz="825" spc="30">
                <a:latin typeface="Calibri"/>
                <a:cs typeface="Calibri"/>
              </a:rPr>
              <a:t>2</a:t>
            </a:r>
            <a:r>
              <a:rPr dirty="0" baseline="-20202" sz="825" spc="322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remaining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0?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immediately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answer,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ponder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question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movie:</a:t>
            </a:r>
            <a:endParaRPr sz="850">
              <a:latin typeface="Calibri"/>
              <a:cs typeface="Calibri"/>
            </a:endParaRPr>
          </a:p>
          <a:p>
            <a:pPr algn="just" marL="344170" marR="70485" indent="189230">
              <a:lnSpc>
                <a:spcPct val="114300"/>
              </a:lnSpc>
              <a:spcBef>
                <a:spcPts val="20"/>
              </a:spcBef>
            </a:pP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discussion,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dimensions.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before,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location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around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actual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20202" sz="825" i="1">
                <a:latin typeface="Calibri"/>
                <a:cs typeface="Calibri"/>
              </a:rPr>
              <a:t>x</a:t>
            </a:r>
            <a:r>
              <a:rPr dirty="0" baseline="-20202" sz="825" spc="375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≡</a:t>
            </a:r>
            <a:r>
              <a:rPr dirty="0" sz="850" spc="65">
                <a:latin typeface="Cambria"/>
                <a:cs typeface="Cambria"/>
              </a:rPr>
              <a:t> </a:t>
            </a:r>
            <a:r>
              <a:rPr dirty="0" sz="850" spc="85">
                <a:latin typeface="Cambria"/>
                <a:cs typeface="Cambria"/>
              </a:rPr>
              <a:t>−</a:t>
            </a:r>
            <a:r>
              <a:rPr dirty="0" sz="850" spc="85" i="1">
                <a:latin typeface="Calibri"/>
                <a:cs typeface="Calibri"/>
              </a:rPr>
              <a:t>b</a:t>
            </a:r>
            <a:r>
              <a:rPr dirty="0" sz="850" spc="85" i="1">
                <a:latin typeface="Times New Roman"/>
                <a:cs typeface="Times New Roman"/>
              </a:rPr>
              <a:t>/</a:t>
            </a:r>
            <a:r>
              <a:rPr dirty="0" sz="850" spc="85" i="1">
                <a:latin typeface="Calibri"/>
                <a:cs typeface="Calibri"/>
              </a:rPr>
              <a:t>w</a:t>
            </a:r>
            <a:r>
              <a:rPr dirty="0" baseline="-20202" sz="825" spc="127">
                <a:latin typeface="Calibri"/>
                <a:cs typeface="Calibri"/>
              </a:rPr>
              <a:t>1</a:t>
            </a:r>
            <a:r>
              <a:rPr dirty="0" sz="850" spc="8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534035">
              <a:lnSpc>
                <a:spcPct val="100000"/>
              </a:lnSpc>
              <a:spcBef>
                <a:spcPts val="170"/>
              </a:spcBef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parameter: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50">
              <a:latin typeface="Calibri"/>
              <a:cs typeface="Calibri"/>
            </a:endParaRPr>
          </a:p>
          <a:p>
            <a:pPr algn="ctr" marL="306705">
              <a:lnSpc>
                <a:spcPct val="100000"/>
              </a:lnSpc>
              <a:tabLst>
                <a:tab pos="1750060" algn="l"/>
                <a:tab pos="3162935" algn="l"/>
              </a:tabLst>
            </a:pP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18518" sz="900" i="1">
                <a:latin typeface="Calibri"/>
                <a:cs typeface="Calibri"/>
              </a:rPr>
              <a:t>x</a:t>
            </a:r>
            <a:r>
              <a:rPr dirty="0" baseline="-18518" sz="900" spc="284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0.25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18518" sz="900" i="1">
                <a:latin typeface="Calibri"/>
                <a:cs typeface="Calibri"/>
              </a:rPr>
              <a:t>x</a:t>
            </a:r>
            <a:r>
              <a:rPr dirty="0" baseline="-18518" sz="900" spc="284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0.5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18518" sz="900" i="1">
                <a:latin typeface="Calibri"/>
                <a:cs typeface="Calibri"/>
              </a:rPr>
              <a:t>x</a:t>
            </a:r>
            <a:r>
              <a:rPr dirty="0" baseline="-18518" sz="900" spc="284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0.7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049104" y="4297331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9795" y="4350978"/>
            <a:ext cx="19240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5887" y="4147311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46717" y="2932975"/>
            <a:ext cx="1111597" cy="1426541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817876" y="4375669"/>
            <a:ext cx="7747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0921" y="3363294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462028" y="4297331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248816" y="4147311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59646" y="2932975"/>
            <a:ext cx="1111593" cy="1426541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2203855" y="3363294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874967" y="4297331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482720" y="4350978"/>
            <a:ext cx="160528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425575" algn="l"/>
              </a:tabLst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661750" y="4147311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6" name="object 1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772585" y="2932975"/>
            <a:ext cx="1111593" cy="1426541"/>
          </a:xfrm>
          <a:prstGeom prst="rect">
            <a:avLst/>
          </a:prstGeom>
        </p:spPr>
      </p:pic>
      <p:sp>
        <p:nvSpPr>
          <p:cNvPr id="17" name="object 17"/>
          <p:cNvSpPr txBox="1"/>
          <p:nvPr/>
        </p:nvSpPr>
        <p:spPr>
          <a:xfrm>
            <a:off x="2230789" y="4375669"/>
            <a:ext cx="149034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425575" algn="l"/>
              </a:tabLst>
            </a:pPr>
            <a:r>
              <a:rPr dirty="0" sz="850" spc="-50" i="1">
                <a:latin typeface="Calibri"/>
                <a:cs typeface="Calibri"/>
              </a:rPr>
              <a:t>y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56501" y="4467069"/>
            <a:ext cx="4471670" cy="130556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042669">
              <a:lnSpc>
                <a:spcPct val="100000"/>
              </a:lnSpc>
              <a:spcBef>
                <a:spcPts val="105"/>
              </a:spcBef>
              <a:tabLst>
                <a:tab pos="2455545" algn="l"/>
                <a:tab pos="3868420" algn="l"/>
              </a:tabLst>
            </a:pP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50">
              <a:latin typeface="Calibri"/>
              <a:cs typeface="Calibri"/>
            </a:endParaRPr>
          </a:p>
          <a:p>
            <a:pPr algn="just" marL="63500" marR="5588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Here,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assume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5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359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1000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–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307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15" i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reminds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8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direction,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(say,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270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1000),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277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0: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50">
              <a:latin typeface="Calibri"/>
              <a:cs typeface="Calibri"/>
            </a:endParaRPr>
          </a:p>
          <a:p>
            <a:pPr algn="ctr" marL="15875">
              <a:lnSpc>
                <a:spcPct val="100000"/>
              </a:lnSpc>
              <a:spcBef>
                <a:spcPts val="5"/>
              </a:spcBef>
              <a:tabLst>
                <a:tab pos="1458595" algn="l"/>
                <a:tab pos="2871470" algn="l"/>
              </a:tabLst>
            </a:pP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18518" sz="900" i="1">
                <a:latin typeface="Calibri"/>
                <a:cs typeface="Calibri"/>
              </a:rPr>
              <a:t>y</a:t>
            </a:r>
            <a:r>
              <a:rPr dirty="0" baseline="-18518" sz="900" spc="300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0.25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18518" sz="900" i="1">
                <a:latin typeface="Calibri"/>
                <a:cs typeface="Calibri"/>
              </a:rPr>
              <a:t>y</a:t>
            </a:r>
            <a:r>
              <a:rPr dirty="0" baseline="-18518" sz="900" spc="300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0.5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18518" sz="900" i="1">
                <a:latin typeface="Calibri"/>
                <a:cs typeface="Calibri"/>
              </a:rPr>
              <a:t>y</a:t>
            </a:r>
            <a:r>
              <a:rPr dirty="0" baseline="-18518" sz="900" spc="300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0.7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616781" y="3363294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049104" y="7247529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69795" y="7301177"/>
            <a:ext cx="19240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35887" y="7097510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23" name="object 2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46717" y="5883173"/>
            <a:ext cx="1111597" cy="1426540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817876" y="7325868"/>
            <a:ext cx="7747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90921" y="6313491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462028" y="7247529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248816" y="7097510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28" name="object 2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359646" y="5883173"/>
            <a:ext cx="1111593" cy="1426540"/>
          </a:xfrm>
          <a:prstGeom prst="rect">
            <a:avLst/>
          </a:prstGeom>
        </p:spPr>
      </p:pic>
      <p:sp>
        <p:nvSpPr>
          <p:cNvPr id="29" name="object 29"/>
          <p:cNvSpPr txBox="1"/>
          <p:nvPr/>
        </p:nvSpPr>
        <p:spPr>
          <a:xfrm>
            <a:off x="2203855" y="6313491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874967" y="7247529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482720" y="7301177"/>
            <a:ext cx="160528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425575" algn="l"/>
              </a:tabLst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661750" y="7097510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3" name="object 3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772585" y="5883173"/>
            <a:ext cx="1111593" cy="1426540"/>
          </a:xfrm>
          <a:prstGeom prst="rect">
            <a:avLst/>
          </a:prstGeom>
        </p:spPr>
      </p:pic>
      <p:sp>
        <p:nvSpPr>
          <p:cNvPr id="34" name="object 34"/>
          <p:cNvSpPr txBox="1"/>
          <p:nvPr/>
        </p:nvSpPr>
        <p:spPr>
          <a:xfrm>
            <a:off x="2230789" y="7325868"/>
            <a:ext cx="149034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425575" algn="l"/>
              </a:tabLst>
            </a:pPr>
            <a:r>
              <a:rPr dirty="0" sz="850" spc="-50" i="1">
                <a:latin typeface="Calibri"/>
                <a:cs typeface="Calibri"/>
              </a:rPr>
              <a:t>y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02384" y="7417268"/>
            <a:ext cx="4350385" cy="59944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996950">
              <a:lnSpc>
                <a:spcPct val="100000"/>
              </a:lnSpc>
              <a:spcBef>
                <a:spcPts val="105"/>
              </a:spcBef>
              <a:tabLst>
                <a:tab pos="2409825" algn="l"/>
                <a:tab pos="3822700" algn="l"/>
              </a:tabLst>
            </a:pP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50">
              <a:latin typeface="Calibri"/>
              <a:cs typeface="Calibri"/>
            </a:endParaRPr>
          </a:p>
          <a:p>
            <a:pPr marL="17145" marR="5080" indent="-5080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again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25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number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reminds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y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direction.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explicitly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marked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616781" y="6313491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-2530" y="2267988"/>
            <a:ext cx="344170" cy="472440"/>
            <a:chOff x="-2530" y="2267988"/>
            <a:chExt cx="344170" cy="472440"/>
          </a:xfrm>
        </p:grpSpPr>
        <p:sp>
          <p:nvSpPr>
            <p:cNvPr id="38" name="object 38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6571"/>
                  </a:lnTo>
                  <a:lnTo>
                    <a:pt x="2520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0" y="466571"/>
                  </a:moveTo>
                  <a:lnTo>
                    <a:pt x="2520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/>
          <p:cNvSpPr txBox="1"/>
          <p:nvPr/>
        </p:nvSpPr>
        <p:spPr>
          <a:xfrm>
            <a:off x="25831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6" y="368721"/>
            <a:ext cx="4619625" cy="1607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006090">
              <a:lnSpc>
                <a:spcPts val="525"/>
              </a:lnSpc>
              <a:spcBef>
                <a:spcPts val="110"/>
              </a:spcBef>
              <a:tabLst>
                <a:tab pos="4424045" algn="l"/>
              </a:tabLst>
            </a:pPr>
            <a:r>
              <a:rPr dirty="0" sz="850">
                <a:latin typeface="Calibri"/>
                <a:cs typeface="Calibri"/>
              </a:rPr>
              <a:t>4.3.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variables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141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9050" marR="269240" indent="-698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19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decided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diagram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rather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cluttered.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marker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implicitly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tells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2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0.</a:t>
            </a:r>
            <a:endParaRPr sz="850">
              <a:latin typeface="Calibri"/>
              <a:cs typeface="Calibri"/>
            </a:endParaRPr>
          </a:p>
          <a:p>
            <a:pPr algn="just" marL="19050" marR="272415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constructed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three-</a:t>
            </a:r>
            <a:r>
              <a:rPr dirty="0" sz="850" spc="-10">
                <a:latin typeface="Calibri"/>
                <a:cs typeface="Calibri"/>
              </a:rPr>
              <a:t>dimensional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bump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combine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>
                <a:latin typeface="Cambria"/>
                <a:cs typeface="Cambria"/>
              </a:rPr>
              <a:t>−</a:t>
            </a:r>
            <a:r>
              <a:rPr dirty="0" sz="850" spc="65" i="1">
                <a:latin typeface="Calibri"/>
                <a:cs typeface="Calibri"/>
              </a:rPr>
              <a:t>h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respectively,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where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bump.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illustrated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diagram: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409097" y="3713825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29788" y="3767477"/>
            <a:ext cx="19240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95880" y="3563810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6715" y="2349461"/>
            <a:ext cx="1111593" cy="1426566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1177870" y="3792167"/>
            <a:ext cx="7747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50917" y="2779792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340885" y="2156256"/>
            <a:ext cx="48895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8784" algn="l"/>
              </a:tabLst>
            </a:pPr>
            <a:r>
              <a:rPr dirty="0" sz="600" spc="-50" i="1">
                <a:latin typeface="Calibri"/>
                <a:cs typeface="Calibri"/>
              </a:rPr>
              <a:t>x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sz="600" spc="-50" i="1">
                <a:latin typeface="Calibri"/>
                <a:cs typeface="Calibri"/>
              </a:rPr>
              <a:t>x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812336" y="3716211"/>
            <a:ext cx="857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08272" y="3567323"/>
            <a:ext cx="857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18362" y="2362229"/>
            <a:ext cx="1103215" cy="1415800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2563645" y="2789216"/>
            <a:ext cx="133350" cy="35814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5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677327" y="2170385"/>
            <a:ext cx="61594" cy="1162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00" spc="-50" i="1">
                <a:latin typeface="Calibri"/>
                <a:cs typeface="Calibri"/>
              </a:rPr>
              <a:t>x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100867" y="2170385"/>
            <a:ext cx="61594" cy="1162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00" spc="-50" i="1">
                <a:latin typeface="Calibri"/>
                <a:cs typeface="Calibri"/>
              </a:rPr>
              <a:t>x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606420" y="2100697"/>
            <a:ext cx="132715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1</a:t>
            </a:r>
            <a:r>
              <a:rPr dirty="0" baseline="32407" sz="900" spc="292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0.3,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2</a:t>
            </a:r>
            <a:r>
              <a:rPr dirty="0" baseline="32407" sz="900" spc="292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0.7,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0.75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234961" y="3713825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840414" y="3768633"/>
            <a:ext cx="160718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427480" algn="l"/>
              </a:tabLst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292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021744" y="3563810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20" name="object 2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132579" y="2349461"/>
            <a:ext cx="1111593" cy="1426566"/>
          </a:xfrm>
          <a:prstGeom prst="rect">
            <a:avLst/>
          </a:prstGeom>
        </p:spPr>
      </p:pic>
      <p:sp>
        <p:nvSpPr>
          <p:cNvPr id="21" name="object 21"/>
          <p:cNvSpPr txBox="1"/>
          <p:nvPr/>
        </p:nvSpPr>
        <p:spPr>
          <a:xfrm>
            <a:off x="2046693" y="3883847"/>
            <a:ext cx="290322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418590" algn="l"/>
                <a:tab pos="2838450" algn="l"/>
              </a:tabLst>
            </a:pP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590394" y="3793137"/>
            <a:ext cx="149034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425575" algn="l"/>
              </a:tabLst>
            </a:pPr>
            <a:r>
              <a:rPr dirty="0" sz="850" spc="-50" i="1">
                <a:latin typeface="Calibri"/>
                <a:cs typeface="Calibri"/>
              </a:rPr>
              <a:t>y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976775" y="2779792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166749" y="2156256"/>
            <a:ext cx="48895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8784" algn="l"/>
              </a:tabLst>
            </a:pPr>
            <a:r>
              <a:rPr dirty="0" sz="600" spc="-50" i="1">
                <a:latin typeface="Calibri"/>
                <a:cs typeface="Calibri"/>
              </a:rPr>
              <a:t>x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sz="600" spc="-50" i="1">
                <a:latin typeface="Calibri"/>
                <a:cs typeface="Calibri"/>
              </a:rPr>
              <a:t>x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256931" y="2086035"/>
            <a:ext cx="4037329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5"/>
              </a:spcBef>
              <a:tabLst>
                <a:tab pos="2876550" algn="l"/>
              </a:tabLst>
            </a:pP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1</a:t>
            </a:r>
            <a:r>
              <a:rPr dirty="0" baseline="32407" sz="900" spc="270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0.3,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2</a:t>
            </a:r>
            <a:r>
              <a:rPr dirty="0" baseline="32407" sz="900" spc="270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0.7,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35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50"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1</a:t>
            </a:r>
            <a:r>
              <a:rPr dirty="0" baseline="32407" sz="900" spc="270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0.4,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2</a:t>
            </a:r>
            <a:r>
              <a:rPr dirty="0" baseline="32407" sz="900" spc="270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0.7,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35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62052" y="4148411"/>
            <a:ext cx="4378325" cy="1358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height,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Observe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height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bump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right.</a:t>
            </a:r>
            <a:endParaRPr sz="850">
              <a:latin typeface="Calibri"/>
              <a:cs typeface="Calibri"/>
            </a:endParaRPr>
          </a:p>
          <a:p>
            <a:pPr algn="just" marL="17780" marR="2667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Also,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0.30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associated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Witness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shape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bump.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0.70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associated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bottom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neuron?</a:t>
            </a:r>
            <a:endParaRPr sz="850">
              <a:latin typeface="Calibri"/>
              <a:cs typeface="Calibri"/>
            </a:endParaRPr>
          </a:p>
          <a:p>
            <a:pPr marL="17780" marR="508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bump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4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bump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direction.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409097" y="7260571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429783" y="7314219"/>
            <a:ext cx="19240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195880" y="7110552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0" name="object 3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306715" y="5896216"/>
            <a:ext cx="1111593" cy="1426540"/>
          </a:xfrm>
          <a:prstGeom prst="rect">
            <a:avLst/>
          </a:prstGeom>
        </p:spPr>
      </p:pic>
      <p:sp>
        <p:nvSpPr>
          <p:cNvPr id="31" name="object 31"/>
          <p:cNvSpPr txBox="1"/>
          <p:nvPr/>
        </p:nvSpPr>
        <p:spPr>
          <a:xfrm>
            <a:off x="1177870" y="7338910"/>
            <a:ext cx="7747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150632" y="6326534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296392" y="5687047"/>
            <a:ext cx="4914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1959" algn="l"/>
              </a:tabLst>
            </a:pPr>
            <a:r>
              <a:rPr dirty="0" sz="600" spc="-50" i="1">
                <a:latin typeface="Calibri"/>
                <a:cs typeface="Calibri"/>
              </a:rPr>
              <a:t>y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sz="600" spc="-50" i="1">
                <a:latin typeface="Calibri"/>
                <a:cs typeface="Calibri"/>
              </a:rPr>
              <a:t>y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809496" y="7263644"/>
            <a:ext cx="857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608111" y="7115088"/>
            <a:ext cx="857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6" name="object 3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717986" y="5912710"/>
            <a:ext cx="1100767" cy="1412641"/>
          </a:xfrm>
          <a:prstGeom prst="rect">
            <a:avLst/>
          </a:prstGeom>
        </p:spPr>
      </p:pic>
      <p:sp>
        <p:nvSpPr>
          <p:cNvPr id="37" name="object 37"/>
          <p:cNvSpPr txBox="1"/>
          <p:nvPr/>
        </p:nvSpPr>
        <p:spPr>
          <a:xfrm>
            <a:off x="2563585" y="6338716"/>
            <a:ext cx="133350" cy="35750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5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677763" y="5705449"/>
            <a:ext cx="61594" cy="1162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00" spc="-50" i="1">
                <a:latin typeface="Calibri"/>
                <a:cs typeface="Calibri"/>
              </a:rPr>
              <a:t>y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103376" y="5705449"/>
            <a:ext cx="61594" cy="1162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00" spc="-50" i="1">
                <a:latin typeface="Calibri"/>
                <a:cs typeface="Calibri"/>
              </a:rPr>
              <a:t>y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603195" y="5635918"/>
            <a:ext cx="13303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1</a:t>
            </a:r>
            <a:r>
              <a:rPr dirty="0" baseline="32407" sz="900" spc="322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0.3,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2</a:t>
            </a:r>
            <a:r>
              <a:rPr dirty="0" baseline="32407" sz="900" spc="330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0.7,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0.75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234961" y="7260571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839737" y="7315713"/>
            <a:ext cx="160782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428115" algn="l"/>
              </a:tabLst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292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021744" y="7110552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44" name="object 4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132579" y="5896216"/>
            <a:ext cx="1111593" cy="1426540"/>
          </a:xfrm>
          <a:prstGeom prst="rect">
            <a:avLst/>
          </a:prstGeom>
        </p:spPr>
      </p:pic>
      <p:sp>
        <p:nvSpPr>
          <p:cNvPr id="45" name="object 45"/>
          <p:cNvSpPr txBox="1"/>
          <p:nvPr/>
        </p:nvSpPr>
        <p:spPr>
          <a:xfrm>
            <a:off x="2046693" y="7430672"/>
            <a:ext cx="290322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416050" algn="l"/>
                <a:tab pos="2838450" algn="l"/>
              </a:tabLst>
            </a:pP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x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590272" y="7340165"/>
            <a:ext cx="149098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425575" algn="l"/>
              </a:tabLst>
            </a:pPr>
            <a:r>
              <a:rPr dirty="0" sz="850" spc="-50" i="1">
                <a:latin typeface="Calibri"/>
                <a:cs typeface="Calibri"/>
              </a:rPr>
              <a:t>y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976775" y="6326534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167504" y="5687047"/>
            <a:ext cx="4914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1959" algn="l"/>
              </a:tabLst>
            </a:pPr>
            <a:r>
              <a:rPr dirty="0" sz="600" spc="-50" i="1">
                <a:latin typeface="Calibri"/>
                <a:cs typeface="Calibri"/>
              </a:rPr>
              <a:t>y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sz="600" spc="-50" i="1">
                <a:latin typeface="Calibri"/>
                <a:cs typeface="Calibri"/>
              </a:rPr>
              <a:t>y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208638" y="5616826"/>
            <a:ext cx="408876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5"/>
              </a:spcBef>
              <a:tabLst>
                <a:tab pos="2921635" algn="l"/>
              </a:tabLst>
            </a:pP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1</a:t>
            </a:r>
            <a:r>
              <a:rPr dirty="0" baseline="32407" sz="900" spc="307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0.4,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2</a:t>
            </a:r>
            <a:r>
              <a:rPr dirty="0" baseline="32407" sz="900" spc="315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0.6,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35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0.8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1</a:t>
            </a:r>
            <a:r>
              <a:rPr dirty="0" baseline="32407" sz="900" spc="307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0.3,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2</a:t>
            </a:r>
            <a:r>
              <a:rPr dirty="0" baseline="32407" sz="900" spc="315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0.7,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35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062380" y="7695138"/>
            <a:ext cx="435038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nearly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identical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network!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2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markers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reminds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they’re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5778775" y="2267988"/>
            <a:ext cx="344170" cy="472440"/>
            <a:chOff x="5778775" y="2267988"/>
            <a:chExt cx="344170" cy="472440"/>
          </a:xfrm>
        </p:grpSpPr>
        <p:sp>
          <p:nvSpPr>
            <p:cNvPr id="52" name="object 52"/>
            <p:cNvSpPr/>
            <p:nvPr/>
          </p:nvSpPr>
          <p:spPr>
            <a:xfrm>
              <a:off x="5781306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6168" y="0"/>
                  </a:moveTo>
                  <a:lnTo>
                    <a:pt x="72008" y="0"/>
                  </a:lnTo>
                  <a:lnTo>
                    <a:pt x="43982" y="5657"/>
                  </a:lnTo>
                  <a:lnTo>
                    <a:pt x="21093" y="21086"/>
                  </a:lnTo>
                  <a:lnTo>
                    <a:pt x="5659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9" y="423109"/>
                  </a:lnTo>
                  <a:lnTo>
                    <a:pt x="21093" y="445993"/>
                  </a:lnTo>
                  <a:lnTo>
                    <a:pt x="43982" y="461422"/>
                  </a:lnTo>
                  <a:lnTo>
                    <a:pt x="72008" y="467080"/>
                  </a:lnTo>
                  <a:lnTo>
                    <a:pt x="336168" y="467080"/>
                  </a:lnTo>
                  <a:lnTo>
                    <a:pt x="338696" y="466570"/>
                  </a:lnTo>
                  <a:lnTo>
                    <a:pt x="338696" y="510"/>
                  </a:lnTo>
                  <a:lnTo>
                    <a:pt x="336168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781306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8696" y="510"/>
                  </a:moveTo>
                  <a:lnTo>
                    <a:pt x="336168" y="0"/>
                  </a:lnTo>
                  <a:lnTo>
                    <a:pt x="72008" y="0"/>
                  </a:lnTo>
                  <a:lnTo>
                    <a:pt x="43982" y="5657"/>
                  </a:lnTo>
                  <a:lnTo>
                    <a:pt x="21093" y="21086"/>
                  </a:lnTo>
                  <a:lnTo>
                    <a:pt x="5659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9" y="423109"/>
                  </a:lnTo>
                  <a:lnTo>
                    <a:pt x="21093" y="445993"/>
                  </a:lnTo>
                  <a:lnTo>
                    <a:pt x="43982" y="461422"/>
                  </a:lnTo>
                  <a:lnTo>
                    <a:pt x="72008" y="467080"/>
                  </a:lnTo>
                  <a:lnTo>
                    <a:pt x="336168" y="467080"/>
                  </a:lnTo>
                  <a:lnTo>
                    <a:pt x="338696" y="466570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/>
          <p:cNvSpPr txBox="1"/>
          <p:nvPr/>
        </p:nvSpPr>
        <p:spPr>
          <a:xfrm>
            <a:off x="5876620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62805" cy="11626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142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06070" marR="508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producing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21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y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zero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vice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versa.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decided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explicitly,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order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avoid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clutter.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bump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direction,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direction,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height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h</a:t>
            </a:r>
            <a:r>
              <a:rPr dirty="0" sz="850" spc="-25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55565" y="3656895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76257" y="3710543"/>
            <a:ext cx="19240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42348" y="3506876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53183" y="2292540"/>
            <a:ext cx="1111593" cy="1426541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2393162" y="3826634"/>
            <a:ext cx="7747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524339" y="3735234"/>
            <a:ext cx="7747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97094" y="2722858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838027" y="1947705"/>
            <a:ext cx="48895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8784" algn="l"/>
              </a:tabLst>
            </a:pPr>
            <a:r>
              <a:rPr dirty="0" sz="600" spc="-50" i="1">
                <a:latin typeface="Calibri"/>
                <a:cs typeface="Calibri"/>
              </a:rPr>
              <a:t>x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sz="600" spc="-50" i="1">
                <a:latin typeface="Calibri"/>
                <a:cs typeface="Calibri"/>
              </a:rPr>
              <a:t>x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766773" y="1877489"/>
            <a:ext cx="88455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1</a:t>
            </a:r>
            <a:r>
              <a:rPr dirty="0" baseline="32407" sz="900" spc="254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0.4,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2</a:t>
            </a:r>
            <a:r>
              <a:rPr dirty="0" baseline="32407" sz="900" spc="254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0.6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88122" y="2083358"/>
            <a:ext cx="4914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1959" algn="l"/>
              </a:tabLst>
            </a:pPr>
            <a:r>
              <a:rPr dirty="0" sz="600" spc="-50" i="1">
                <a:latin typeface="Calibri"/>
                <a:cs typeface="Calibri"/>
              </a:rPr>
              <a:t>y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sz="600" spc="-50" i="1">
                <a:latin typeface="Calibri"/>
                <a:cs typeface="Calibri"/>
              </a:rPr>
              <a:t>y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13078" y="2013141"/>
            <a:ext cx="119189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1</a:t>
            </a:r>
            <a:r>
              <a:rPr dirty="0" baseline="32407" sz="900" spc="307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0.3,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2</a:t>
            </a:r>
            <a:r>
              <a:rPr dirty="0" baseline="32407" sz="900" spc="315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0.7,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35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68491" y="3656895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189183" y="3710543"/>
            <a:ext cx="19240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955279" y="3506876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7" name="object 1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066109" y="2292540"/>
            <a:ext cx="1111593" cy="1426541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3806075" y="3826634"/>
            <a:ext cx="7747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37252" y="3735234"/>
            <a:ext cx="7747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910033" y="2722858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250952" y="1947705"/>
            <a:ext cx="48895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8784" algn="l"/>
              </a:tabLst>
            </a:pPr>
            <a:r>
              <a:rPr dirty="0" sz="600" spc="-50" i="1">
                <a:latin typeface="Calibri"/>
                <a:cs typeface="Calibri"/>
              </a:rPr>
              <a:t>x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sz="600" spc="-50" i="1">
                <a:latin typeface="Calibri"/>
                <a:cs typeface="Calibri"/>
              </a:rPr>
              <a:t>x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179698" y="1877489"/>
            <a:ext cx="88455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1</a:t>
            </a:r>
            <a:r>
              <a:rPr dirty="0" baseline="32407" sz="900" spc="254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0.4,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2</a:t>
            </a:r>
            <a:r>
              <a:rPr dirty="0" baseline="32407" sz="900" spc="254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0.6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055794" y="2083358"/>
            <a:ext cx="4914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1959" algn="l"/>
              </a:tabLst>
            </a:pPr>
            <a:r>
              <a:rPr dirty="0" sz="600" spc="-50" i="1">
                <a:latin typeface="Calibri"/>
                <a:cs typeface="Calibri"/>
              </a:rPr>
              <a:t>y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sz="600" spc="-50" i="1">
                <a:latin typeface="Calibri"/>
                <a:cs typeface="Calibri"/>
              </a:rPr>
              <a:t>y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980740" y="2013141"/>
            <a:ext cx="128270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1</a:t>
            </a:r>
            <a:r>
              <a:rPr dirty="0" baseline="32407" sz="900" spc="307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0.3,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baseline="32407" sz="900" spc="15">
                <a:latin typeface="Calibri"/>
                <a:cs typeface="Calibri"/>
              </a:rPr>
              <a:t>2</a:t>
            </a:r>
            <a:r>
              <a:rPr dirty="0" baseline="32407" sz="900" spc="315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0.7,</a:t>
            </a:r>
            <a:r>
              <a:rPr dirty="0" sz="850" spc="-6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35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25">
                <a:latin typeface="Calibri"/>
                <a:cs typeface="Calibri"/>
              </a:rPr>
              <a:t>0.6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00852" y="4269099"/>
            <a:ext cx="4354830" cy="913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27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simplify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diagram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dropped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zero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left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markers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remind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bump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computed.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markers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they’re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implied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varying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heights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x</a:t>
            </a:r>
            <a:r>
              <a:rPr dirty="0" sz="850" spc="21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y</a:t>
            </a:r>
            <a:r>
              <a:rPr dirty="0" sz="850" spc="21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bump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tower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462028" y="7082962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482720" y="7136610"/>
            <a:ext cx="19240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248816" y="6932942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29" name="object 2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359646" y="5718606"/>
            <a:ext cx="1111593" cy="1426540"/>
          </a:xfrm>
          <a:prstGeom prst="rect">
            <a:avLst/>
          </a:prstGeom>
        </p:spPr>
      </p:pic>
      <p:sp>
        <p:nvSpPr>
          <p:cNvPr id="30" name="object 30"/>
          <p:cNvSpPr txBox="1"/>
          <p:nvPr/>
        </p:nvSpPr>
        <p:spPr>
          <a:xfrm>
            <a:off x="2230789" y="7161303"/>
            <a:ext cx="7747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07301" y="7252704"/>
            <a:ext cx="4349750" cy="76454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L="511809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850">
              <a:latin typeface="Calibri"/>
              <a:cs typeface="Calibri"/>
            </a:endParaRPr>
          </a:p>
          <a:p>
            <a:pPr marL="12700" marR="508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build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tower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arbitrary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towers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heights,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locations: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202335" y="6148925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30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545308" y="5491870"/>
            <a:ext cx="74041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>
                <a:latin typeface="Calibri"/>
                <a:cs typeface="Calibri"/>
              </a:rPr>
              <a:t>Tower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-2530" y="2267988"/>
            <a:ext cx="344170" cy="472440"/>
            <a:chOff x="-2530" y="2267988"/>
            <a:chExt cx="344170" cy="472440"/>
          </a:xfrm>
        </p:grpSpPr>
        <p:sp>
          <p:nvSpPr>
            <p:cNvPr id="35" name="object 35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6571"/>
                  </a:lnTo>
                  <a:lnTo>
                    <a:pt x="2520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0" y="466571"/>
                  </a:moveTo>
                  <a:lnTo>
                    <a:pt x="2520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 txBox="1"/>
          <p:nvPr/>
        </p:nvSpPr>
        <p:spPr>
          <a:xfrm>
            <a:off x="25831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054259" y="368721"/>
            <a:ext cx="162623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430655" algn="l"/>
              </a:tabLst>
            </a:pPr>
            <a:r>
              <a:rPr dirty="0" sz="850">
                <a:latin typeface="Calibri"/>
                <a:cs typeface="Calibri"/>
              </a:rPr>
              <a:t>4.3.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variables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143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822030" y="2529118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842722" y="2582770"/>
            <a:ext cx="19240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608818" y="2379104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9653" y="1164754"/>
            <a:ext cx="1111593" cy="1426566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3459632" y="2698861"/>
            <a:ext cx="7747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590808" y="2607460"/>
            <a:ext cx="7747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563862" y="1595086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957131" y="915032"/>
            <a:ext cx="63690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towers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61173" y="3248209"/>
            <a:ext cx="4351655" cy="711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415" marR="5080" indent="-635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haven’t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tower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constructed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central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tower,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height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surrounding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plateau,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height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h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18415" marR="5080" indent="189230">
              <a:lnSpc>
                <a:spcPct val="114300"/>
              </a:lnSpc>
              <a:spcBef>
                <a:spcPts val="740"/>
              </a:spcBef>
            </a:pP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Remember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used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implement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type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’inlineif-then-else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statement: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39510" y="4203039"/>
            <a:ext cx="4401185" cy="54165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23495" rIns="0" bIns="0" rtlCol="0" vert="horz">
            <a:spAutoFit/>
          </a:bodyPr>
          <a:lstStyle/>
          <a:p>
            <a:pPr marL="152400" marR="3186430" indent="-107950">
              <a:lnSpc>
                <a:spcPct val="107900"/>
              </a:lnSpc>
              <a:spcBef>
                <a:spcPts val="185"/>
              </a:spcBef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solidFill>
                  <a:srgbClr val="003FFF"/>
                </a:solidFill>
                <a:latin typeface="Calibri"/>
                <a:cs typeface="Calibri"/>
              </a:rPr>
              <a:t>input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&gt;=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threshold: </a:t>
            </a:r>
            <a:r>
              <a:rPr dirty="0" sz="700" spc="75">
                <a:latin typeface="Calibri"/>
                <a:cs typeface="Calibri"/>
              </a:rPr>
              <a:t>output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-50">
                <a:latin typeface="Calibri"/>
                <a:cs typeface="Calibri"/>
              </a:rPr>
              <a:t>1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else</a:t>
            </a:r>
            <a:r>
              <a:rPr dirty="0" sz="700" spc="125">
                <a:latin typeface="Calibri"/>
                <a:cs typeface="Calibri"/>
              </a:rPr>
              <a:t>:</a:t>
            </a:r>
            <a:endParaRPr sz="70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  <a:spcBef>
                <a:spcPts val="70"/>
              </a:spcBef>
            </a:pPr>
            <a:r>
              <a:rPr dirty="0" sz="700" spc="75">
                <a:latin typeface="Calibri"/>
                <a:cs typeface="Calibri"/>
              </a:rPr>
              <a:t>output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-50">
                <a:latin typeface="Calibri"/>
                <a:cs typeface="Calibri"/>
              </a:rPr>
              <a:t>0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62380" y="4953565"/>
            <a:ext cx="435038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combined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39510" y="5518734"/>
            <a:ext cx="4401185" cy="54165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23495" rIns="0" bIns="0" rtlCol="0" vert="horz">
            <a:spAutoFit/>
          </a:bodyPr>
          <a:lstStyle/>
          <a:p>
            <a:pPr marL="152400" marR="1592580" indent="-107950">
              <a:lnSpc>
                <a:spcPct val="107900"/>
              </a:lnSpc>
              <a:spcBef>
                <a:spcPts val="185"/>
              </a:spcBef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9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combined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output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from</a:t>
            </a:r>
            <a:r>
              <a:rPr dirty="0" sz="700" spc="40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hidden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neurons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&gt;=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threshold: </a:t>
            </a:r>
            <a:r>
              <a:rPr dirty="0" sz="700" spc="75">
                <a:latin typeface="Calibri"/>
                <a:cs typeface="Calibri"/>
              </a:rPr>
              <a:t>output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-50">
                <a:latin typeface="Calibri"/>
                <a:cs typeface="Calibri"/>
              </a:rPr>
              <a:t>1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else</a:t>
            </a:r>
            <a:r>
              <a:rPr dirty="0" sz="700" spc="125">
                <a:latin typeface="Calibri"/>
                <a:cs typeface="Calibri"/>
              </a:rPr>
              <a:t>:</a:t>
            </a:r>
            <a:endParaRPr sz="70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  <a:spcBef>
                <a:spcPts val="70"/>
              </a:spcBef>
            </a:pPr>
            <a:r>
              <a:rPr dirty="0" sz="700" spc="75">
                <a:latin typeface="Calibri"/>
                <a:cs typeface="Calibri"/>
              </a:rPr>
              <a:t>output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-50">
                <a:latin typeface="Calibri"/>
                <a:cs typeface="Calibri"/>
              </a:rPr>
              <a:t>0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60856" y="6269260"/>
            <a:ext cx="4375150" cy="17487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2730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threshold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appropriately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0">
                <a:latin typeface="Calibri"/>
                <a:cs typeface="Calibri"/>
              </a:rPr>
              <a:t>—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3</a:t>
            </a:r>
            <a:r>
              <a:rPr dirty="0" sz="850" spc="75" i="1">
                <a:latin typeface="Calibri"/>
                <a:cs typeface="Calibri"/>
              </a:rPr>
              <a:t>h</a:t>
            </a:r>
            <a:r>
              <a:rPr dirty="0" sz="850" spc="75" i="1">
                <a:latin typeface="Times New Roman"/>
                <a:cs typeface="Times New Roman"/>
              </a:rPr>
              <a:t>/</a:t>
            </a:r>
            <a:r>
              <a:rPr dirty="0" sz="850" spc="75">
                <a:latin typeface="Calibri"/>
                <a:cs typeface="Calibri"/>
              </a:rPr>
              <a:t>2,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sandwiched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height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plateau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height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central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squash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plateau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zero,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standing.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2599"/>
              </a:lnSpc>
              <a:spcBef>
                <a:spcPts val="755"/>
              </a:spcBef>
            </a:pPr>
            <a:r>
              <a:rPr dirty="0" sz="850" spc="5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this?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plotting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produce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tower?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tricky,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remain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stuck,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here’s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hints: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(1)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if-</a:t>
            </a:r>
            <a:r>
              <a:rPr dirty="0" sz="900" spc="130">
                <a:latin typeface="Calibri"/>
                <a:cs typeface="Calibri"/>
              </a:rPr>
              <a:t>then-</a:t>
            </a:r>
            <a:r>
              <a:rPr dirty="0" sz="900" spc="120">
                <a:latin typeface="Calibri"/>
                <a:cs typeface="Calibri"/>
              </a:rPr>
              <a:t>else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behaviour,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90">
                <a:latin typeface="Cambria"/>
                <a:cs typeface="Cambria"/>
              </a:rPr>
              <a:t>−</a:t>
            </a:r>
            <a:r>
              <a:rPr dirty="0" sz="850" spc="90" i="1">
                <a:latin typeface="Calibri"/>
                <a:cs typeface="Calibri"/>
              </a:rPr>
              <a:t>h</a:t>
            </a:r>
            <a:r>
              <a:rPr dirty="0" sz="850" spc="90">
                <a:latin typeface="Calibri"/>
                <a:cs typeface="Calibri"/>
              </a:rPr>
              <a:t>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large;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(2)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4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determines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scale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if-</a:t>
            </a:r>
            <a:r>
              <a:rPr dirty="0" sz="900" spc="130">
                <a:latin typeface="Calibri"/>
                <a:cs typeface="Calibri"/>
              </a:rPr>
              <a:t>then-</a:t>
            </a:r>
            <a:r>
              <a:rPr dirty="0" sz="900" spc="120">
                <a:latin typeface="Calibri"/>
                <a:cs typeface="Calibri"/>
              </a:rPr>
              <a:t>else</a:t>
            </a:r>
            <a:r>
              <a:rPr dirty="0" sz="90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threshold.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5778788" y="2267988"/>
            <a:ext cx="344170" cy="472440"/>
            <a:chOff x="5778788" y="2267988"/>
            <a:chExt cx="344170" cy="472440"/>
          </a:xfrm>
        </p:grpSpPr>
        <p:sp>
          <p:nvSpPr>
            <p:cNvPr id="17" name="object 17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5876620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309689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144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60602" y="1440750"/>
            <a:ext cx="1036815" cy="93313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779675" y="2124757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045199" y="2164996"/>
            <a:ext cx="15049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>
                <a:latin typeface="Calibri"/>
                <a:cs typeface="Calibri"/>
              </a:rPr>
              <a:t>0</a:t>
            </a:r>
            <a:r>
              <a:rPr dirty="0" sz="650" spc="150">
                <a:latin typeface="Calibri"/>
                <a:cs typeface="Calibri"/>
              </a:rPr>
              <a:t> </a:t>
            </a:r>
            <a:r>
              <a:rPr dirty="0" sz="650" spc="-5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869770" y="2012243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956072" y="1104664"/>
            <a:ext cx="833692" cy="1069899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1856254" y="2183509"/>
            <a:ext cx="6413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836054" y="1424233"/>
            <a:ext cx="107314" cy="2768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15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051304" y="918833"/>
            <a:ext cx="64325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Calibri"/>
                <a:cs typeface="Calibri"/>
              </a:rPr>
              <a:t>h</a:t>
            </a:r>
            <a:r>
              <a:rPr dirty="0" sz="650" spc="25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3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0.3,</a:t>
            </a:r>
            <a:r>
              <a:rPr dirty="0" sz="650" spc="15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45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25">
                <a:latin typeface="Tahoma"/>
                <a:cs typeface="Tahoma"/>
              </a:rPr>
              <a:t> </a:t>
            </a: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Calibri"/>
                <a:cs typeface="Calibri"/>
              </a:rPr>
              <a:t>0.5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846996" y="2124757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37090" y="2012243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13" name="object 1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23393" y="1104664"/>
            <a:ext cx="833692" cy="1069899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2903375" y="1424233"/>
            <a:ext cx="107314" cy="2768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15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118624" y="918833"/>
            <a:ext cx="64325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Calibri"/>
                <a:cs typeface="Calibri"/>
              </a:rPr>
              <a:t>h</a:t>
            </a:r>
            <a:r>
              <a:rPr dirty="0" sz="650" spc="25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3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1.0,</a:t>
            </a:r>
            <a:r>
              <a:rPr dirty="0" sz="650" spc="15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45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25">
                <a:latin typeface="Tahoma"/>
                <a:cs typeface="Tahoma"/>
              </a:rPr>
              <a:t> </a:t>
            </a: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Calibri"/>
                <a:cs typeface="Calibri"/>
              </a:rPr>
              <a:t>2.0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914334" y="2124757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112519" y="2164996"/>
            <a:ext cx="121793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79500" algn="l"/>
              </a:tabLst>
            </a:pPr>
            <a:r>
              <a:rPr dirty="0" sz="650">
                <a:latin typeface="Calibri"/>
                <a:cs typeface="Calibri"/>
              </a:rPr>
              <a:t>0</a:t>
            </a:r>
            <a:r>
              <a:rPr dirty="0" sz="650" spc="150">
                <a:latin typeface="Calibri"/>
                <a:cs typeface="Calibri"/>
              </a:rPr>
              <a:t> </a:t>
            </a:r>
            <a:r>
              <a:rPr dirty="0" sz="650" spc="-50">
                <a:latin typeface="Calibri"/>
                <a:cs typeface="Calibri"/>
              </a:rPr>
              <a:t>0</a:t>
            </a:r>
            <a:r>
              <a:rPr dirty="0" sz="650">
                <a:latin typeface="Calibri"/>
                <a:cs typeface="Calibri"/>
              </a:rPr>
              <a:t>	0</a:t>
            </a:r>
            <a:r>
              <a:rPr dirty="0" sz="650" spc="150">
                <a:latin typeface="Calibri"/>
                <a:cs typeface="Calibri"/>
              </a:rPr>
              <a:t> </a:t>
            </a:r>
            <a:r>
              <a:rPr dirty="0" sz="650" spc="-5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004429" y="2012243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19" name="object 1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090726" y="1104664"/>
            <a:ext cx="833692" cy="106989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2507869" y="2252054"/>
            <a:ext cx="219900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79500" algn="l"/>
                <a:tab pos="2146935" algn="l"/>
              </a:tabLst>
            </a:pPr>
            <a:r>
              <a:rPr dirty="0" sz="650" spc="-50" i="1">
                <a:latin typeface="Calibri"/>
                <a:cs typeface="Calibri"/>
              </a:rPr>
              <a:t>x</a:t>
            </a:r>
            <a:r>
              <a:rPr dirty="0" sz="650" i="1">
                <a:latin typeface="Calibri"/>
                <a:cs typeface="Calibri"/>
              </a:rPr>
              <a:t>	</a:t>
            </a:r>
            <a:r>
              <a:rPr dirty="0" sz="650" spc="-50" i="1">
                <a:latin typeface="Calibri"/>
                <a:cs typeface="Calibri"/>
              </a:rPr>
              <a:t>x</a:t>
            </a:r>
            <a:r>
              <a:rPr dirty="0" sz="650" i="1">
                <a:latin typeface="Calibri"/>
                <a:cs typeface="Calibri"/>
              </a:rPr>
              <a:t>	</a:t>
            </a:r>
            <a:r>
              <a:rPr dirty="0" sz="650" spc="-50" i="1">
                <a:latin typeface="Calibri"/>
                <a:cs typeface="Calibri"/>
              </a:rPr>
              <a:t>x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923575" y="2183509"/>
            <a:ext cx="113157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79500" algn="l"/>
              </a:tabLst>
            </a:pPr>
            <a:r>
              <a:rPr dirty="0" sz="650" spc="-50" i="1">
                <a:latin typeface="Calibri"/>
                <a:cs typeface="Calibri"/>
              </a:rPr>
              <a:t>y</a:t>
            </a:r>
            <a:r>
              <a:rPr dirty="0" sz="650" i="1">
                <a:latin typeface="Calibri"/>
                <a:cs typeface="Calibri"/>
              </a:rPr>
              <a:t>	</a:t>
            </a: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970708" y="1424233"/>
            <a:ext cx="107314" cy="2768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15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185958" y="918833"/>
            <a:ext cx="64325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Calibri"/>
                <a:cs typeface="Calibri"/>
              </a:rPr>
              <a:t>h</a:t>
            </a:r>
            <a:r>
              <a:rPr dirty="0" sz="650" spc="25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3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3.0,</a:t>
            </a:r>
            <a:r>
              <a:rPr dirty="0" sz="650" spc="15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45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25">
                <a:latin typeface="Tahoma"/>
                <a:cs typeface="Tahoma"/>
              </a:rPr>
              <a:t> </a:t>
            </a: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Calibri"/>
                <a:cs typeface="Calibri"/>
              </a:rPr>
              <a:t>5.0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99754" y="2455069"/>
            <a:ext cx="4375785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3335" marR="5080" indent="-127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initial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flattened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version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diagram,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plateau.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increase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until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becomes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if-then-else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thresholding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behaviour.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07301" y="2916011"/>
            <a:ext cx="3352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threshold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70">
                <a:latin typeface="Cambria"/>
                <a:cs typeface="Cambria"/>
              </a:rPr>
              <a:t> </a:t>
            </a:r>
            <a:r>
              <a:rPr dirty="0" sz="850" spc="80">
                <a:latin typeface="Cambria"/>
                <a:cs typeface="Cambria"/>
              </a:rPr>
              <a:t>−</a:t>
            </a:r>
            <a:r>
              <a:rPr dirty="0" sz="850" spc="80">
                <a:latin typeface="Calibri"/>
                <a:cs typeface="Calibri"/>
              </a:rPr>
              <a:t>3</a:t>
            </a:r>
            <a:r>
              <a:rPr dirty="0" sz="850" spc="80" i="1">
                <a:latin typeface="Calibri"/>
                <a:cs typeface="Calibri"/>
              </a:rPr>
              <a:t>h</a:t>
            </a:r>
            <a:r>
              <a:rPr dirty="0" sz="850" spc="80" i="1">
                <a:latin typeface="Times New Roman"/>
                <a:cs typeface="Times New Roman"/>
              </a:rPr>
              <a:t>/</a:t>
            </a:r>
            <a:r>
              <a:rPr dirty="0" sz="850" spc="80">
                <a:latin typeface="Calibri"/>
                <a:cs typeface="Calibri"/>
              </a:rPr>
              <a:t>2.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works!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7090" y="3064055"/>
            <a:ext cx="2233930" cy="3416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 spc="25">
                <a:latin typeface="Calibri"/>
                <a:cs typeface="Calibri"/>
              </a:rPr>
              <a:t>10:</a:t>
            </a:r>
            <a:endParaRPr sz="850">
              <a:latin typeface="Calibri"/>
              <a:cs typeface="Calibri"/>
            </a:endParaRPr>
          </a:p>
          <a:p>
            <a:pPr marL="144780">
              <a:lnSpc>
                <a:spcPct val="100000"/>
              </a:lnSpc>
              <a:spcBef>
                <a:spcPts val="675"/>
              </a:spcBef>
              <a:tabLst>
                <a:tab pos="1211580" algn="l"/>
              </a:tabLst>
            </a:pPr>
            <a:r>
              <a:rPr dirty="0" sz="650" i="1">
                <a:latin typeface="Calibri"/>
                <a:cs typeface="Calibri"/>
              </a:rPr>
              <a:t>h</a:t>
            </a:r>
            <a:r>
              <a:rPr dirty="0" sz="650" spc="20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3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10,</a:t>
            </a:r>
            <a:r>
              <a:rPr dirty="0" sz="650" spc="15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40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30">
                <a:latin typeface="Tahoma"/>
                <a:cs typeface="Tahoma"/>
              </a:rPr>
              <a:t> </a:t>
            </a: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Calibri"/>
                <a:cs typeface="Calibri"/>
              </a:rPr>
              <a:t>5</a:t>
            </a:r>
            <a:r>
              <a:rPr dirty="0" sz="650">
                <a:latin typeface="Calibri"/>
                <a:cs typeface="Calibri"/>
              </a:rPr>
              <a:t>	</a:t>
            </a:r>
            <a:r>
              <a:rPr dirty="0" sz="650" i="1">
                <a:latin typeface="Calibri"/>
                <a:cs typeface="Calibri"/>
              </a:rPr>
              <a:t>h</a:t>
            </a:r>
            <a:r>
              <a:rPr dirty="0" sz="650" spc="20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3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10,</a:t>
            </a:r>
            <a:r>
              <a:rPr dirty="0" sz="650" spc="15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40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30">
                <a:latin typeface="Tahoma"/>
                <a:cs typeface="Tahoma"/>
              </a:rPr>
              <a:t> </a:t>
            </a: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Calibri"/>
                <a:cs typeface="Calibri"/>
              </a:rPr>
              <a:t>7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712357" y="4488004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77880" y="4528237"/>
            <a:ext cx="15049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>
                <a:latin typeface="Calibri"/>
                <a:cs typeface="Calibri"/>
              </a:rPr>
              <a:t>0</a:t>
            </a:r>
            <a:r>
              <a:rPr dirty="0" sz="650" spc="150">
                <a:latin typeface="Calibri"/>
                <a:cs typeface="Calibri"/>
              </a:rPr>
              <a:t> </a:t>
            </a:r>
            <a:r>
              <a:rPr dirty="0" sz="650" spc="-5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02452" y="4375489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30" name="object 3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88748" y="3467918"/>
            <a:ext cx="833695" cy="1069899"/>
          </a:xfrm>
          <a:prstGeom prst="rect">
            <a:avLst/>
          </a:prstGeom>
        </p:spPr>
      </p:pic>
      <p:sp>
        <p:nvSpPr>
          <p:cNvPr id="31" name="object 31"/>
          <p:cNvSpPr txBox="1"/>
          <p:nvPr/>
        </p:nvSpPr>
        <p:spPr>
          <a:xfrm>
            <a:off x="788934" y="4546758"/>
            <a:ext cx="6413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68727" y="3787487"/>
            <a:ext cx="107314" cy="2768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15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869770" y="4375489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34" name="object 3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956072" y="3467918"/>
            <a:ext cx="833692" cy="1069899"/>
          </a:xfrm>
          <a:prstGeom prst="rect">
            <a:avLst/>
          </a:prstGeom>
        </p:spPr>
      </p:pic>
      <p:sp>
        <p:nvSpPr>
          <p:cNvPr id="35" name="object 35"/>
          <p:cNvSpPr txBox="1"/>
          <p:nvPr/>
        </p:nvSpPr>
        <p:spPr>
          <a:xfrm>
            <a:off x="2779675" y="4488004"/>
            <a:ext cx="113855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79500" algn="l"/>
              </a:tabLst>
            </a:pPr>
            <a:r>
              <a:rPr dirty="0" sz="650" spc="-50">
                <a:latin typeface="Calibri"/>
                <a:cs typeface="Calibri"/>
              </a:rPr>
              <a:t>1</a:t>
            </a:r>
            <a:r>
              <a:rPr dirty="0" sz="650">
                <a:latin typeface="Calibri"/>
                <a:cs typeface="Calibri"/>
              </a:rPr>
              <a:t>	</a:t>
            </a: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836054" y="3787487"/>
            <a:ext cx="107314" cy="2768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15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937090" y="4375489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38" name="object 3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023393" y="3467918"/>
            <a:ext cx="833692" cy="1069899"/>
          </a:xfrm>
          <a:prstGeom prst="rect">
            <a:avLst/>
          </a:prstGeom>
        </p:spPr>
      </p:pic>
      <p:sp>
        <p:nvSpPr>
          <p:cNvPr id="39" name="object 39"/>
          <p:cNvSpPr txBox="1"/>
          <p:nvPr/>
        </p:nvSpPr>
        <p:spPr>
          <a:xfrm>
            <a:off x="2903375" y="3787487"/>
            <a:ext cx="107314" cy="2768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15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141256" y="3282088"/>
            <a:ext cx="59817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Calibri"/>
                <a:cs typeface="Calibri"/>
              </a:rPr>
              <a:t>h</a:t>
            </a:r>
            <a:r>
              <a:rPr dirty="0" sz="650" spc="20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3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10,</a:t>
            </a:r>
            <a:r>
              <a:rPr dirty="0" sz="650" spc="15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40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30">
                <a:latin typeface="Tahoma"/>
                <a:cs typeface="Tahoma"/>
              </a:rPr>
              <a:t> 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Calibri"/>
                <a:cs typeface="Calibri"/>
              </a:rPr>
              <a:t>12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914329" y="4488004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045199" y="4528237"/>
            <a:ext cx="228536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79500" algn="l"/>
                <a:tab pos="2146935" algn="l"/>
              </a:tabLst>
            </a:pPr>
            <a:r>
              <a:rPr dirty="0" sz="650">
                <a:latin typeface="Calibri"/>
                <a:cs typeface="Calibri"/>
              </a:rPr>
              <a:t>0</a:t>
            </a:r>
            <a:r>
              <a:rPr dirty="0" sz="650" spc="150">
                <a:latin typeface="Calibri"/>
                <a:cs typeface="Calibri"/>
              </a:rPr>
              <a:t> </a:t>
            </a:r>
            <a:r>
              <a:rPr dirty="0" sz="650" spc="-50">
                <a:latin typeface="Calibri"/>
                <a:cs typeface="Calibri"/>
              </a:rPr>
              <a:t>0</a:t>
            </a:r>
            <a:r>
              <a:rPr dirty="0" sz="650">
                <a:latin typeface="Calibri"/>
                <a:cs typeface="Calibri"/>
              </a:rPr>
              <a:t>	0</a:t>
            </a:r>
            <a:r>
              <a:rPr dirty="0" sz="650" spc="150">
                <a:latin typeface="Calibri"/>
                <a:cs typeface="Calibri"/>
              </a:rPr>
              <a:t> </a:t>
            </a:r>
            <a:r>
              <a:rPr dirty="0" sz="650" spc="-50">
                <a:latin typeface="Calibri"/>
                <a:cs typeface="Calibri"/>
              </a:rPr>
              <a:t>0</a:t>
            </a:r>
            <a:r>
              <a:rPr dirty="0" sz="650">
                <a:latin typeface="Calibri"/>
                <a:cs typeface="Calibri"/>
              </a:rPr>
              <a:t>	0</a:t>
            </a:r>
            <a:r>
              <a:rPr dirty="0" sz="650" spc="150">
                <a:latin typeface="Calibri"/>
                <a:cs typeface="Calibri"/>
              </a:rPr>
              <a:t> </a:t>
            </a:r>
            <a:r>
              <a:rPr dirty="0" sz="650" spc="-5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004429" y="4375489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44" name="object 4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090726" y="3467918"/>
            <a:ext cx="833692" cy="1069899"/>
          </a:xfrm>
          <a:prstGeom prst="rect">
            <a:avLst/>
          </a:prstGeom>
        </p:spPr>
      </p:pic>
      <p:sp>
        <p:nvSpPr>
          <p:cNvPr id="45" name="object 45"/>
          <p:cNvSpPr txBox="1"/>
          <p:nvPr/>
        </p:nvSpPr>
        <p:spPr>
          <a:xfrm>
            <a:off x="1856254" y="4546758"/>
            <a:ext cx="219900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79500" algn="l"/>
                <a:tab pos="2146935" algn="l"/>
              </a:tabLst>
            </a:pPr>
            <a:r>
              <a:rPr dirty="0" sz="650" spc="-50" i="1">
                <a:latin typeface="Calibri"/>
                <a:cs typeface="Calibri"/>
              </a:rPr>
              <a:t>y</a:t>
            </a:r>
            <a:r>
              <a:rPr dirty="0" sz="650" i="1">
                <a:latin typeface="Calibri"/>
                <a:cs typeface="Calibri"/>
              </a:rPr>
              <a:t>	</a:t>
            </a:r>
            <a:r>
              <a:rPr dirty="0" sz="650" spc="-50" i="1">
                <a:latin typeface="Calibri"/>
                <a:cs typeface="Calibri"/>
              </a:rPr>
              <a:t>y</a:t>
            </a:r>
            <a:r>
              <a:rPr dirty="0" sz="650" i="1">
                <a:latin typeface="Calibri"/>
                <a:cs typeface="Calibri"/>
              </a:rPr>
              <a:t>	</a:t>
            </a: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707300" y="4615308"/>
            <a:ext cx="4349115" cy="14128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745490">
              <a:lnSpc>
                <a:spcPct val="100000"/>
              </a:lnSpc>
              <a:spcBef>
                <a:spcPts val="90"/>
              </a:spcBef>
              <a:tabLst>
                <a:tab pos="1812925" algn="l"/>
                <a:tab pos="2880360" algn="l"/>
                <a:tab pos="3947795" algn="l"/>
              </a:tabLst>
            </a:pPr>
            <a:r>
              <a:rPr dirty="0" sz="650" spc="-50" i="1">
                <a:latin typeface="Calibri"/>
                <a:cs typeface="Calibri"/>
              </a:rPr>
              <a:t>x</a:t>
            </a:r>
            <a:r>
              <a:rPr dirty="0" sz="650" i="1">
                <a:latin typeface="Calibri"/>
                <a:cs typeface="Calibri"/>
              </a:rPr>
              <a:t>	</a:t>
            </a:r>
            <a:r>
              <a:rPr dirty="0" sz="650" spc="-50" i="1">
                <a:latin typeface="Calibri"/>
                <a:cs typeface="Calibri"/>
              </a:rPr>
              <a:t>x</a:t>
            </a:r>
            <a:r>
              <a:rPr dirty="0" sz="650" i="1">
                <a:latin typeface="Calibri"/>
                <a:cs typeface="Calibri"/>
              </a:rPr>
              <a:t>	</a:t>
            </a:r>
            <a:r>
              <a:rPr dirty="0" sz="650" spc="-50" i="1">
                <a:latin typeface="Calibri"/>
                <a:cs typeface="Calibri"/>
              </a:rPr>
              <a:t>x</a:t>
            </a:r>
            <a:r>
              <a:rPr dirty="0" sz="650" i="1">
                <a:latin typeface="Calibri"/>
                <a:cs typeface="Calibri"/>
              </a:rPr>
              <a:t>	</a:t>
            </a:r>
            <a:r>
              <a:rPr dirty="0" sz="650" spc="-50" i="1">
                <a:latin typeface="Calibri"/>
                <a:cs typeface="Calibri"/>
              </a:rPr>
              <a:t>x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50">
              <a:latin typeface="Calibri"/>
              <a:cs typeface="Calibri"/>
            </a:endParaRPr>
          </a:p>
          <a:p>
            <a:pPr algn="just" marL="12700" marR="762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relatively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tower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increasing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keeping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bias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3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5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3</a:t>
            </a:r>
            <a:r>
              <a:rPr dirty="0" sz="850" spc="70" i="1">
                <a:latin typeface="Calibri"/>
                <a:cs typeface="Calibri"/>
              </a:rPr>
              <a:t>h</a:t>
            </a:r>
            <a:r>
              <a:rPr dirty="0" sz="850" spc="70" i="1">
                <a:latin typeface="Times New Roman"/>
                <a:cs typeface="Times New Roman"/>
              </a:rPr>
              <a:t>/</a:t>
            </a:r>
            <a:r>
              <a:rPr dirty="0" sz="850" spc="70">
                <a:latin typeface="Calibri"/>
                <a:cs typeface="Calibri"/>
              </a:rPr>
              <a:t>2.</a:t>
            </a:r>
            <a:endParaRPr sz="850">
              <a:latin typeface="Calibri"/>
              <a:cs typeface="Calibri"/>
            </a:endParaRPr>
          </a:p>
          <a:p>
            <a:pPr algn="just" marL="12700" marR="508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gluing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together,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tower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functions.</a:t>
            </a:r>
            <a:r>
              <a:rPr dirty="0" sz="850" spc="18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roles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sub-networks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clear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put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them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separate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boxes,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below: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box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described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combination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tower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970708" y="3787487"/>
            <a:ext cx="107314" cy="2768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15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208589" y="3282088"/>
            <a:ext cx="59817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Calibri"/>
                <a:cs typeface="Calibri"/>
              </a:rPr>
              <a:t>h</a:t>
            </a:r>
            <a:r>
              <a:rPr dirty="0" sz="650" spc="20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3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10,</a:t>
            </a:r>
            <a:r>
              <a:rPr dirty="0" sz="650" spc="15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b</a:t>
            </a:r>
            <a:r>
              <a:rPr dirty="0" sz="650" spc="40" i="1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30">
                <a:latin typeface="Tahoma"/>
                <a:cs typeface="Tahoma"/>
              </a:rPr>
              <a:t> 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Calibri"/>
                <a:cs typeface="Calibri"/>
              </a:rPr>
              <a:t>15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49" name="object 49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760602" y="6102781"/>
            <a:ext cx="1036848" cy="1879282"/>
          </a:xfrm>
          <a:prstGeom prst="rect">
            <a:avLst/>
          </a:prstGeom>
        </p:spPr>
      </p:pic>
      <p:sp>
        <p:nvSpPr>
          <p:cNvPr id="50" name="object 50"/>
          <p:cNvSpPr txBox="1"/>
          <p:nvPr/>
        </p:nvSpPr>
        <p:spPr>
          <a:xfrm>
            <a:off x="2779675" y="7732933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045199" y="7773171"/>
            <a:ext cx="15049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>
                <a:latin typeface="Calibri"/>
                <a:cs typeface="Calibri"/>
              </a:rPr>
              <a:t>0</a:t>
            </a:r>
            <a:r>
              <a:rPr dirty="0" sz="650" spc="150">
                <a:latin typeface="Calibri"/>
                <a:cs typeface="Calibri"/>
              </a:rPr>
              <a:t> </a:t>
            </a:r>
            <a:r>
              <a:rPr dirty="0" sz="650" spc="-5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869770" y="7620418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53" name="object 53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956072" y="6712845"/>
            <a:ext cx="833692" cy="1069903"/>
          </a:xfrm>
          <a:prstGeom prst="rect">
            <a:avLst/>
          </a:prstGeom>
        </p:spPr>
      </p:pic>
      <p:sp>
        <p:nvSpPr>
          <p:cNvPr id="54" name="object 54"/>
          <p:cNvSpPr txBox="1"/>
          <p:nvPr/>
        </p:nvSpPr>
        <p:spPr>
          <a:xfrm>
            <a:off x="2507869" y="7860235"/>
            <a:ext cx="64769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 i="1">
                <a:latin typeface="Calibri"/>
                <a:cs typeface="Calibri"/>
              </a:rPr>
              <a:t>x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856254" y="7791685"/>
            <a:ext cx="6413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836054" y="7032414"/>
            <a:ext cx="107314" cy="2768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15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006790" y="6521972"/>
            <a:ext cx="73469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Calibri"/>
                <a:cs typeface="Calibri"/>
              </a:rPr>
              <a:t>w</a:t>
            </a:r>
            <a:r>
              <a:rPr dirty="0" baseline="-18518" sz="675">
                <a:latin typeface="Calibri"/>
                <a:cs typeface="Calibri"/>
              </a:rPr>
              <a:t>1</a:t>
            </a:r>
            <a:r>
              <a:rPr dirty="0" baseline="-18518" sz="675" spc="179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2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0.8,</a:t>
            </a:r>
            <a:r>
              <a:rPr dirty="0" sz="650" spc="-20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w</a:t>
            </a:r>
            <a:r>
              <a:rPr dirty="0" baseline="-18518" sz="675">
                <a:latin typeface="Calibri"/>
                <a:cs typeface="Calibri"/>
              </a:rPr>
              <a:t>2</a:t>
            </a:r>
            <a:r>
              <a:rPr dirty="0" baseline="-18518" sz="675" spc="179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15">
                <a:latin typeface="Tahoma"/>
                <a:cs typeface="Tahoma"/>
              </a:rPr>
              <a:t> </a:t>
            </a:r>
            <a:r>
              <a:rPr dirty="0" sz="650" spc="-25">
                <a:latin typeface="Calibri"/>
                <a:cs typeface="Calibri"/>
              </a:rPr>
              <a:t>0.5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846996" y="7732933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112519" y="7773171"/>
            <a:ext cx="15049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>
                <a:latin typeface="Calibri"/>
                <a:cs typeface="Calibri"/>
              </a:rPr>
              <a:t>0</a:t>
            </a:r>
            <a:r>
              <a:rPr dirty="0" sz="650" spc="150">
                <a:latin typeface="Calibri"/>
                <a:cs typeface="Calibri"/>
              </a:rPr>
              <a:t> </a:t>
            </a:r>
            <a:r>
              <a:rPr dirty="0" sz="650" spc="-5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937090" y="7620418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61" name="object 61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3023393" y="6712845"/>
            <a:ext cx="833692" cy="1069903"/>
          </a:xfrm>
          <a:prstGeom prst="rect">
            <a:avLst/>
          </a:prstGeom>
        </p:spPr>
      </p:pic>
      <p:sp>
        <p:nvSpPr>
          <p:cNvPr id="62" name="object 62"/>
          <p:cNvSpPr txBox="1"/>
          <p:nvPr/>
        </p:nvSpPr>
        <p:spPr>
          <a:xfrm>
            <a:off x="3575189" y="7860235"/>
            <a:ext cx="64769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 i="1">
                <a:latin typeface="Calibri"/>
                <a:cs typeface="Calibri"/>
              </a:rPr>
              <a:t>x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923575" y="7791685"/>
            <a:ext cx="6413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903375" y="7032414"/>
            <a:ext cx="107314" cy="2768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15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074111" y="6521972"/>
            <a:ext cx="73469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Calibri"/>
                <a:cs typeface="Calibri"/>
              </a:rPr>
              <a:t>w</a:t>
            </a:r>
            <a:r>
              <a:rPr dirty="0" baseline="-18518" sz="675">
                <a:latin typeface="Calibri"/>
                <a:cs typeface="Calibri"/>
              </a:rPr>
              <a:t>1</a:t>
            </a:r>
            <a:r>
              <a:rPr dirty="0" baseline="-18518" sz="675" spc="179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2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0.2,</a:t>
            </a:r>
            <a:r>
              <a:rPr dirty="0" sz="650" spc="-20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w</a:t>
            </a:r>
            <a:r>
              <a:rPr dirty="0" baseline="-18518" sz="675">
                <a:latin typeface="Calibri"/>
                <a:cs typeface="Calibri"/>
              </a:rPr>
              <a:t>2</a:t>
            </a:r>
            <a:r>
              <a:rPr dirty="0" baseline="-18518" sz="675" spc="179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15">
                <a:latin typeface="Tahoma"/>
                <a:cs typeface="Tahoma"/>
              </a:rPr>
              <a:t> </a:t>
            </a:r>
            <a:r>
              <a:rPr dirty="0" sz="650" spc="-25">
                <a:latin typeface="Calibri"/>
                <a:cs typeface="Calibri"/>
              </a:rPr>
              <a:t>0.5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914329" y="7732933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179853" y="7773171"/>
            <a:ext cx="15049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>
                <a:latin typeface="Calibri"/>
                <a:cs typeface="Calibri"/>
              </a:rPr>
              <a:t>0</a:t>
            </a:r>
            <a:r>
              <a:rPr dirty="0" sz="650" spc="150">
                <a:latin typeface="Calibri"/>
                <a:cs typeface="Calibri"/>
              </a:rPr>
              <a:t> </a:t>
            </a:r>
            <a:r>
              <a:rPr dirty="0" sz="650" spc="-5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004429" y="7620418"/>
            <a:ext cx="7112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>
                <a:latin typeface="Calibri"/>
                <a:cs typeface="Calibri"/>
              </a:rPr>
              <a:t>1</a:t>
            </a:r>
            <a:endParaRPr sz="650">
              <a:latin typeface="Calibri"/>
              <a:cs typeface="Calibri"/>
            </a:endParaRPr>
          </a:p>
        </p:txBody>
      </p:sp>
      <p:pic>
        <p:nvPicPr>
          <p:cNvPr id="69" name="object 6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090726" y="6712845"/>
            <a:ext cx="833692" cy="1069903"/>
          </a:xfrm>
          <a:prstGeom prst="rect">
            <a:avLst/>
          </a:prstGeom>
        </p:spPr>
      </p:pic>
      <p:sp>
        <p:nvSpPr>
          <p:cNvPr id="70" name="object 70"/>
          <p:cNvSpPr txBox="1"/>
          <p:nvPr/>
        </p:nvSpPr>
        <p:spPr>
          <a:xfrm>
            <a:off x="4642523" y="7860235"/>
            <a:ext cx="64769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 i="1">
                <a:latin typeface="Calibri"/>
                <a:cs typeface="Calibri"/>
              </a:rPr>
              <a:t>x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990914" y="7791685"/>
            <a:ext cx="6413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0" i="1">
                <a:latin typeface="Calibri"/>
                <a:cs typeface="Calibri"/>
              </a:rPr>
              <a:t>y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970708" y="7032414"/>
            <a:ext cx="107314" cy="2768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715"/>
              </a:lnSpc>
            </a:pPr>
            <a:r>
              <a:rPr dirty="0" sz="650" spc="-10">
                <a:latin typeface="Calibri"/>
                <a:cs typeface="Calibri"/>
              </a:rPr>
              <a:t>Output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141444" y="6521972"/>
            <a:ext cx="73469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Calibri"/>
                <a:cs typeface="Calibri"/>
              </a:rPr>
              <a:t>w</a:t>
            </a:r>
            <a:r>
              <a:rPr dirty="0" baseline="-18518" sz="675">
                <a:latin typeface="Calibri"/>
                <a:cs typeface="Calibri"/>
              </a:rPr>
              <a:t>1</a:t>
            </a:r>
            <a:r>
              <a:rPr dirty="0" baseline="-18518" sz="675" spc="179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20">
                <a:latin typeface="Tahoma"/>
                <a:cs typeface="Tahoma"/>
              </a:rPr>
              <a:t> </a:t>
            </a:r>
            <a:r>
              <a:rPr dirty="0" sz="650">
                <a:latin typeface="Calibri"/>
                <a:cs typeface="Calibri"/>
              </a:rPr>
              <a:t>0.2,</a:t>
            </a:r>
            <a:r>
              <a:rPr dirty="0" sz="650" spc="-20">
                <a:latin typeface="Calibri"/>
                <a:cs typeface="Calibri"/>
              </a:rPr>
              <a:t> </a:t>
            </a:r>
            <a:r>
              <a:rPr dirty="0" sz="650" i="1">
                <a:latin typeface="Calibri"/>
                <a:cs typeface="Calibri"/>
              </a:rPr>
              <a:t>w</a:t>
            </a:r>
            <a:r>
              <a:rPr dirty="0" baseline="-18518" sz="675">
                <a:latin typeface="Calibri"/>
                <a:cs typeface="Calibri"/>
              </a:rPr>
              <a:t>2</a:t>
            </a:r>
            <a:r>
              <a:rPr dirty="0" baseline="-18518" sz="675" spc="179">
                <a:latin typeface="Calibri"/>
                <a:cs typeface="Calibri"/>
              </a:rPr>
              <a:t> </a:t>
            </a:r>
            <a:r>
              <a:rPr dirty="0" sz="650">
                <a:latin typeface="Tahoma"/>
                <a:cs typeface="Tahoma"/>
              </a:rPr>
              <a:t>=</a:t>
            </a:r>
            <a:r>
              <a:rPr dirty="0" sz="650" spc="-15">
                <a:latin typeface="Tahoma"/>
                <a:cs typeface="Tahoma"/>
              </a:rPr>
              <a:t> </a:t>
            </a:r>
            <a:r>
              <a:rPr dirty="0" sz="650" spc="-25">
                <a:latin typeface="Calibri"/>
                <a:cs typeface="Calibri"/>
              </a:rPr>
              <a:t>0.9</a:t>
            </a:r>
            <a:endParaRPr sz="650">
              <a:latin typeface="Calibri"/>
              <a:cs typeface="Calibri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-2530" y="2267988"/>
            <a:ext cx="344170" cy="472440"/>
            <a:chOff x="-2530" y="2267988"/>
            <a:chExt cx="344170" cy="472440"/>
          </a:xfrm>
        </p:grpSpPr>
        <p:sp>
          <p:nvSpPr>
            <p:cNvPr id="75" name="object 75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6571"/>
                  </a:lnTo>
                  <a:lnTo>
                    <a:pt x="2520" y="467080"/>
                  </a:lnTo>
                  <a:lnTo>
                    <a:pt x="266679" y="467080"/>
                  </a:lnTo>
                  <a:lnTo>
                    <a:pt x="294706" y="461422"/>
                  </a:lnTo>
                  <a:lnTo>
                    <a:pt x="317591" y="445993"/>
                  </a:lnTo>
                  <a:lnTo>
                    <a:pt x="333020" y="423109"/>
                  </a:lnTo>
                  <a:lnTo>
                    <a:pt x="338678" y="395084"/>
                  </a:lnTo>
                  <a:lnTo>
                    <a:pt x="338678" y="71996"/>
                  </a:lnTo>
                  <a:lnTo>
                    <a:pt x="333020" y="43971"/>
                  </a:lnTo>
                  <a:lnTo>
                    <a:pt x="317591" y="21086"/>
                  </a:lnTo>
                  <a:lnTo>
                    <a:pt x="294706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0" y="466571"/>
                  </a:moveTo>
                  <a:lnTo>
                    <a:pt x="2520" y="467080"/>
                  </a:lnTo>
                  <a:lnTo>
                    <a:pt x="266679" y="467080"/>
                  </a:lnTo>
                  <a:lnTo>
                    <a:pt x="294706" y="461422"/>
                  </a:lnTo>
                  <a:lnTo>
                    <a:pt x="317591" y="445993"/>
                  </a:lnTo>
                  <a:lnTo>
                    <a:pt x="333020" y="423109"/>
                  </a:lnTo>
                  <a:lnTo>
                    <a:pt x="338678" y="395084"/>
                  </a:lnTo>
                  <a:lnTo>
                    <a:pt x="338678" y="71996"/>
                  </a:lnTo>
                  <a:lnTo>
                    <a:pt x="333020" y="43971"/>
                  </a:lnTo>
                  <a:lnTo>
                    <a:pt x="317591" y="21086"/>
                  </a:lnTo>
                  <a:lnTo>
                    <a:pt x="294706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7" name="object 77"/>
          <p:cNvSpPr txBox="1"/>
          <p:nvPr/>
        </p:nvSpPr>
        <p:spPr>
          <a:xfrm>
            <a:off x="25831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7" y="368721"/>
            <a:ext cx="4619625" cy="16795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006090">
              <a:lnSpc>
                <a:spcPts val="525"/>
              </a:lnSpc>
              <a:spcBef>
                <a:spcPts val="110"/>
              </a:spcBef>
              <a:tabLst>
                <a:tab pos="4424045" algn="l"/>
              </a:tabLst>
            </a:pPr>
            <a:r>
              <a:rPr dirty="0" sz="850">
                <a:latin typeface="Calibri"/>
                <a:cs typeface="Calibri"/>
              </a:rPr>
              <a:t>4.3.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variables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145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9050" marR="27241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towers.</a:t>
            </a:r>
            <a:endParaRPr sz="850">
              <a:latin typeface="Calibri"/>
              <a:cs typeface="Calibri"/>
            </a:endParaRPr>
          </a:p>
          <a:p>
            <a:pPr algn="just" marL="12700" marR="272415" indent="196215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towers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make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whatever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height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ensure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weighted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second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desired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two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variables:</a:t>
            </a:r>
            <a:endParaRPr sz="850">
              <a:latin typeface="Calibri"/>
              <a:cs typeface="Calibri"/>
            </a:endParaRPr>
          </a:p>
          <a:p>
            <a:pPr algn="ctr" marR="182245">
              <a:lnSpc>
                <a:spcPct val="100000"/>
              </a:lnSpc>
              <a:spcBef>
                <a:spcPts val="720"/>
              </a:spcBef>
            </a:pP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towers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822030" y="3506753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842712" y="3560391"/>
            <a:ext cx="192405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baseline="3267" sz="1275">
                <a:latin typeface="Calibri"/>
                <a:cs typeface="Calibri"/>
              </a:rPr>
              <a:t>0</a:t>
            </a:r>
            <a:r>
              <a:rPr dirty="0" baseline="3267" sz="1275" spc="307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608818" y="3356734"/>
            <a:ext cx="8636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9653" y="2142400"/>
            <a:ext cx="1111593" cy="1426541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2590793" y="3585094"/>
            <a:ext cx="7747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6496" y="3676494"/>
            <a:ext cx="4448175" cy="11779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L="514984">
              <a:lnSpc>
                <a:spcPct val="100000"/>
              </a:lnSpc>
              <a:spcBef>
                <a:spcPts val="105"/>
              </a:spcBef>
            </a:pPr>
            <a:r>
              <a:rPr dirty="0" sz="850" spc="-50" i="1">
                <a:latin typeface="Calibri"/>
                <a:cs typeface="Calibri"/>
              </a:rPr>
              <a:t>x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Calibri"/>
              <a:cs typeface="Calibri"/>
            </a:endParaRPr>
          </a:p>
          <a:p>
            <a:pPr algn="just" marL="63500" marR="30480">
              <a:lnSpc>
                <a:spcPct val="114300"/>
              </a:lnSpc>
              <a:spcBef>
                <a:spcPts val="5"/>
              </a:spcBef>
            </a:pPr>
            <a:r>
              <a:rPr dirty="0" sz="850" spc="45">
                <a:latin typeface="Calibri"/>
                <a:cs typeface="Calibri"/>
              </a:rPr>
              <a:t>In </a:t>
            </a:r>
            <a:r>
              <a:rPr dirty="0" sz="850" spc="15">
                <a:latin typeface="Calibri"/>
                <a:cs typeface="Calibri"/>
              </a:rPr>
              <a:t>particular,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making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from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second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hidden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good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approxi-</a:t>
            </a:r>
            <a:r>
              <a:rPr dirty="0" sz="850" spc="20">
                <a:latin typeface="Calibri"/>
                <a:cs typeface="Calibri"/>
              </a:rPr>
              <a:t>mation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baseline="35353" sz="825" spc="187">
                <a:latin typeface="Cambria"/>
                <a:cs typeface="Cambria"/>
              </a:rPr>
              <a:t>−</a:t>
            </a:r>
            <a:r>
              <a:rPr dirty="0" baseline="35353" sz="825" spc="187">
                <a:latin typeface="Calibri"/>
                <a:cs typeface="Calibri"/>
              </a:rPr>
              <a:t>1</a:t>
            </a:r>
            <a:r>
              <a:rPr dirty="0" baseline="35353" sz="825" spc="127">
                <a:latin typeface="Calibri"/>
                <a:cs typeface="Calibri"/>
              </a:rPr>
              <a:t> </a:t>
            </a:r>
            <a:r>
              <a:rPr dirty="0" sz="850" spc="-285">
                <a:latin typeface="Cambria"/>
                <a:cs typeface="Cambria"/>
              </a:rPr>
              <a:t>◦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spc="-15" i="1">
                <a:latin typeface="Calibri"/>
                <a:cs typeface="Calibri"/>
              </a:rPr>
              <a:t>f</a:t>
            </a:r>
            <a:r>
              <a:rPr dirty="0" sz="850" spc="1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ensure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from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will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 </a:t>
            </a:r>
            <a:r>
              <a:rPr dirty="0" sz="850" spc="30">
                <a:latin typeface="Calibri"/>
                <a:cs typeface="Calibri"/>
              </a:rPr>
              <a:t>any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desired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5" i="1">
                <a:latin typeface="Calibri"/>
                <a:cs typeface="Calibri"/>
              </a:rPr>
              <a:t>f</a:t>
            </a:r>
            <a:r>
              <a:rPr dirty="0" sz="850" spc="10" i="1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252729">
              <a:lnSpc>
                <a:spcPct val="100000"/>
              </a:lnSpc>
              <a:spcBef>
                <a:spcPts val="145"/>
              </a:spcBef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variables?</a:t>
            </a:r>
            <a:endParaRPr sz="850">
              <a:latin typeface="Calibri"/>
              <a:cs typeface="Calibri"/>
            </a:endParaRPr>
          </a:p>
          <a:p>
            <a:pPr marL="63500" marR="56515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3</a:t>
            </a:r>
            <a:r>
              <a:rPr dirty="0" sz="850" spc="65">
                <a:latin typeface="Calibri"/>
                <a:cs typeface="Calibri"/>
              </a:rPr>
              <a:t>.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dimensions: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563862" y="2572732"/>
            <a:ext cx="133985" cy="3606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19"/>
              </a:lnSpc>
            </a:pPr>
            <a:r>
              <a:rPr dirty="0" sz="850" spc="-10">
                <a:latin typeface="Calibri"/>
                <a:cs typeface="Calibri"/>
              </a:rPr>
              <a:t>Output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83992" y="4930584"/>
            <a:ext cx="1512074" cy="2066505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1037743" y="7103016"/>
            <a:ext cx="4403725" cy="913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3810">
              <a:lnSpc>
                <a:spcPct val="114300"/>
              </a:lnSpc>
              <a:spcBef>
                <a:spcPts val="95"/>
              </a:spcBef>
            </a:pPr>
            <a:r>
              <a:rPr dirty="0" sz="850" spc="35">
                <a:latin typeface="Calibri"/>
                <a:cs typeface="Calibri"/>
              </a:rPr>
              <a:t>Here,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3</a:t>
            </a:r>
            <a:r>
              <a:rPr dirty="0" baseline="-20202" sz="825" spc="277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denote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inputs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network.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s</a:t>
            </a:r>
            <a:r>
              <a:rPr dirty="0" baseline="-20202" sz="825" spc="44">
                <a:latin typeface="Calibri"/>
                <a:cs typeface="Calibri"/>
              </a:rPr>
              <a:t>1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t</a:t>
            </a:r>
            <a:r>
              <a:rPr dirty="0" baseline="-20202" sz="825" spc="60">
                <a:latin typeface="Calibri"/>
                <a:cs typeface="Calibri"/>
              </a:rPr>
              <a:t>1</a:t>
            </a:r>
            <a:r>
              <a:rPr dirty="0" baseline="-20202" sz="825" spc="277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points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0">
                <a:latin typeface="Calibri"/>
                <a:cs typeface="Calibri"/>
              </a:rPr>
              <a:t> neurons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–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all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weights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first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layer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are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large,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biases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are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give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points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s</a:t>
            </a:r>
            <a:r>
              <a:rPr dirty="0" baseline="-20202" sz="825" spc="44">
                <a:latin typeface="Calibri"/>
                <a:cs typeface="Calibri"/>
              </a:rPr>
              <a:t>1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t</a:t>
            </a:r>
            <a:r>
              <a:rPr dirty="0" baseline="-20202" sz="825" spc="75">
                <a:latin typeface="Calibri"/>
                <a:cs typeface="Calibri"/>
              </a:rPr>
              <a:t>1</a:t>
            </a:r>
            <a:r>
              <a:rPr dirty="0" sz="850" spc="50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s</a:t>
            </a:r>
            <a:r>
              <a:rPr dirty="0" baseline="-20202" sz="825" spc="44">
                <a:latin typeface="Calibri"/>
                <a:cs typeface="Calibri"/>
              </a:rPr>
              <a:t>2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The </a:t>
            </a:r>
            <a:r>
              <a:rPr dirty="0" sz="850" spc="30">
                <a:latin typeface="Calibri"/>
                <a:cs typeface="Calibri"/>
              </a:rPr>
              <a:t>weights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second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layer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alternate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5">
                <a:latin typeface="Tahoma"/>
                <a:cs typeface="Tahoma"/>
              </a:rPr>
              <a:t>+</a:t>
            </a:r>
            <a:r>
              <a:rPr dirty="0" sz="850" spc="45" i="1">
                <a:latin typeface="Calibri"/>
                <a:cs typeface="Calibri"/>
              </a:rPr>
              <a:t>h</a:t>
            </a:r>
            <a:r>
              <a:rPr dirty="0" sz="850" spc="45">
                <a:latin typeface="Calibri"/>
                <a:cs typeface="Calibri"/>
              </a:rPr>
              <a:t>,</a:t>
            </a:r>
            <a:r>
              <a:rPr dirty="0" sz="850" spc="45">
                <a:latin typeface="Cambria"/>
                <a:cs typeface="Cambria"/>
              </a:rPr>
              <a:t>−</a:t>
            </a:r>
            <a:r>
              <a:rPr dirty="0" sz="850" spc="45" i="1">
                <a:latin typeface="Calibri"/>
                <a:cs typeface="Calibri"/>
              </a:rPr>
              <a:t>h</a:t>
            </a:r>
            <a:r>
              <a:rPr dirty="0" sz="850" spc="45">
                <a:latin typeface="Calibri"/>
                <a:cs typeface="Calibri"/>
              </a:rPr>
              <a:t>, </a:t>
            </a:r>
            <a:r>
              <a:rPr dirty="0" sz="850" spc="25">
                <a:latin typeface="Calibri"/>
                <a:cs typeface="Calibri"/>
              </a:rPr>
              <a:t>where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 i="1">
                <a:latin typeface="Calibri"/>
                <a:cs typeface="Calibri"/>
              </a:rPr>
              <a:t>h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some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large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80">
                <a:latin typeface="Cambria"/>
                <a:cs typeface="Cambria"/>
              </a:rPr>
              <a:t>−</a:t>
            </a:r>
            <a:r>
              <a:rPr dirty="0" sz="850" spc="80">
                <a:latin typeface="Calibri"/>
                <a:cs typeface="Calibri"/>
              </a:rPr>
              <a:t>5</a:t>
            </a:r>
            <a:r>
              <a:rPr dirty="0" sz="850" spc="80" i="1">
                <a:latin typeface="Calibri"/>
                <a:cs typeface="Calibri"/>
              </a:rPr>
              <a:t>h</a:t>
            </a:r>
            <a:r>
              <a:rPr dirty="0" sz="850" spc="80" i="1">
                <a:latin typeface="Times New Roman"/>
                <a:cs typeface="Times New Roman"/>
              </a:rPr>
              <a:t>/</a:t>
            </a:r>
            <a:r>
              <a:rPr dirty="0" sz="850" spc="80">
                <a:latin typeface="Calibri"/>
                <a:cs typeface="Calibri"/>
              </a:rPr>
              <a:t>2.</a:t>
            </a:r>
            <a:endParaRPr sz="850">
              <a:latin typeface="Calibri"/>
              <a:cs typeface="Calibri"/>
            </a:endParaRPr>
          </a:p>
          <a:p>
            <a:pPr algn="just" marL="41910" marR="3302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conditions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met: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baseline="-20202" sz="825" spc="4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3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t</a:t>
            </a:r>
            <a:r>
              <a:rPr dirty="0" baseline="-20202" sz="825" spc="82">
                <a:latin typeface="Calibri"/>
                <a:cs typeface="Calibri"/>
              </a:rPr>
              <a:t>1</a:t>
            </a:r>
            <a:r>
              <a:rPr dirty="0" sz="850" spc="55">
                <a:latin typeface="Calibri"/>
                <a:cs typeface="Calibri"/>
              </a:rPr>
              <a:t>;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baseline="-20202" sz="825" spc="3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367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t</a:t>
            </a:r>
            <a:r>
              <a:rPr dirty="0" baseline="-20202" sz="825" spc="82">
                <a:latin typeface="Calibri"/>
                <a:cs typeface="Calibri"/>
              </a:rPr>
              <a:t>2</a:t>
            </a:r>
            <a:r>
              <a:rPr dirty="0" sz="850" spc="55">
                <a:latin typeface="Calibri"/>
                <a:cs typeface="Calibri"/>
              </a:rPr>
              <a:t>;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3</a:t>
            </a:r>
            <a:r>
              <a:rPr dirty="0" baseline="-20202" sz="825" spc="367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baseline="-20202" sz="825">
                <a:latin typeface="Calibri"/>
                <a:cs typeface="Calibri"/>
              </a:rPr>
              <a:t>3</a:t>
            </a:r>
            <a:r>
              <a:rPr dirty="0" baseline="-20202" sz="825" spc="3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t</a:t>
            </a:r>
            <a:r>
              <a:rPr dirty="0" baseline="-20202" sz="825" spc="75">
                <a:latin typeface="Calibri"/>
                <a:cs typeface="Calibri"/>
              </a:rPr>
              <a:t>3</a:t>
            </a:r>
            <a:r>
              <a:rPr dirty="0" sz="850" spc="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5778788" y="2267988"/>
            <a:ext cx="344170" cy="472440"/>
            <a:chOff x="5778788" y="2267988"/>
            <a:chExt cx="344170" cy="472440"/>
          </a:xfrm>
        </p:grpSpPr>
        <p:sp>
          <p:nvSpPr>
            <p:cNvPr id="13" name="object 13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5876620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00700" y="368721"/>
            <a:ext cx="4690110" cy="17589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400">
              <a:lnSpc>
                <a:spcPts val="525"/>
              </a:lnSpc>
              <a:spcBef>
                <a:spcPts val="110"/>
              </a:spcBef>
              <a:tabLst>
                <a:tab pos="381635" algn="l"/>
              </a:tabLst>
            </a:pPr>
            <a:r>
              <a:rPr dirty="0" sz="850" spc="25">
                <a:latin typeface="Calibri"/>
                <a:cs typeface="Calibri"/>
              </a:rPr>
              <a:t>146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marL="2686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18770" marR="4254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everywhere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else.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tower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space,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">
                <a:latin typeface="Calibri"/>
                <a:cs typeface="Calibri"/>
              </a:rPr>
              <a:t> 0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everywhere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else.</a:t>
            </a:r>
            <a:endParaRPr sz="850">
              <a:latin typeface="Calibri"/>
              <a:cs typeface="Calibri"/>
            </a:endParaRPr>
          </a:p>
          <a:p>
            <a:pPr algn="just" marL="318770" marR="42545" indent="189230">
              <a:lnSpc>
                <a:spcPct val="114300"/>
              </a:lnSpc>
              <a:spcBef>
                <a:spcPts val="15"/>
              </a:spcBef>
            </a:pPr>
            <a:r>
              <a:rPr dirty="0" sz="850" spc="55">
                <a:latin typeface="Calibri"/>
                <a:cs typeface="Calibri"/>
              </a:rPr>
              <a:t>By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gluing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together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many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many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towers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want,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and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approximate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arbitrary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function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three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variables.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Exactly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idea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m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dimensions.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only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change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make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bias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>
                <a:latin typeface="Cambria"/>
                <a:cs typeface="Cambria"/>
              </a:rPr>
              <a:t>−</a:t>
            </a:r>
            <a:r>
              <a:rPr dirty="0" sz="850" spc="65" i="1">
                <a:latin typeface="Calibri"/>
                <a:cs typeface="Calibri"/>
              </a:rPr>
              <a:t>m</a:t>
            </a:r>
            <a:r>
              <a:rPr dirty="0" sz="850" spc="-35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+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65">
                <a:latin typeface="Calibri"/>
                <a:cs typeface="Calibri"/>
              </a:rPr>
              <a:t>1</a:t>
            </a:r>
            <a:r>
              <a:rPr dirty="0" sz="850" spc="65" i="1">
                <a:latin typeface="Times New Roman"/>
                <a:cs typeface="Times New Roman"/>
              </a:rPr>
              <a:t>/</a:t>
            </a:r>
            <a:r>
              <a:rPr dirty="0" sz="850" spc="65">
                <a:latin typeface="Calibri"/>
                <a:cs typeface="Calibri"/>
              </a:rPr>
              <a:t>2</a:t>
            </a:r>
            <a:r>
              <a:rPr dirty="0" sz="850" spc="65">
                <a:latin typeface="Tahoma"/>
                <a:cs typeface="Tahoma"/>
              </a:rPr>
              <a:t>)</a:t>
            </a:r>
            <a:r>
              <a:rPr dirty="0" sz="850" spc="65" i="1">
                <a:latin typeface="Calibri"/>
                <a:cs typeface="Calibri"/>
              </a:rPr>
              <a:t>h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in </a:t>
            </a:r>
            <a:r>
              <a:rPr dirty="0" sz="850" spc="25">
                <a:latin typeface="Calibri"/>
                <a:cs typeface="Calibri"/>
              </a:rPr>
              <a:t>order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right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kind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sandwiching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behavior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level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plateau.</a:t>
            </a:r>
            <a:endParaRPr sz="850">
              <a:latin typeface="Calibri"/>
              <a:cs typeface="Calibri"/>
            </a:endParaRPr>
          </a:p>
          <a:p>
            <a:pPr algn="just" marL="318770" marR="42545" indent="189230">
              <a:lnSpc>
                <a:spcPct val="114300"/>
              </a:lnSpc>
              <a:spcBef>
                <a:spcPts val="10"/>
              </a:spcBef>
            </a:pPr>
            <a:r>
              <a:rPr dirty="0" sz="850">
                <a:latin typeface="Calibri"/>
                <a:cs typeface="Calibri"/>
              </a:rPr>
              <a:t>Okay,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approximate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real-valued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vector-valued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x</a:t>
            </a:r>
            <a:r>
              <a:rPr dirty="0" baseline="-20202" sz="825" spc="82" i="1">
                <a:latin typeface="Calibri"/>
                <a:cs typeface="Calibri"/>
              </a:rPr>
              <a:t>m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 spc="50">
                <a:latin typeface="Cambria"/>
                <a:cs typeface="Cambria"/>
              </a:rPr>
              <a:t>∈</a:t>
            </a:r>
            <a:r>
              <a:rPr dirty="0" sz="850" spc="7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R</a:t>
            </a:r>
            <a:r>
              <a:rPr dirty="0" baseline="35353" sz="825" i="1">
                <a:latin typeface="Calibri"/>
                <a:cs typeface="Calibri"/>
              </a:rPr>
              <a:t>n</a:t>
            </a:r>
            <a:r>
              <a:rPr dirty="0" sz="850">
                <a:latin typeface="Calibri"/>
                <a:cs typeface="Calibri"/>
              </a:rPr>
              <a:t>?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81898" y="2101689"/>
            <a:ext cx="448183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regarded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separate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real-valued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baseline="35353" sz="825" spc="104">
                <a:latin typeface="Calibri"/>
                <a:cs typeface="Calibri"/>
              </a:rPr>
              <a:t>1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baseline="-20202" sz="825" spc="104">
                <a:latin typeface="Calibri"/>
                <a:cs typeface="Calibri"/>
              </a:rPr>
              <a:t>1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baseline="-20202" sz="825" i="1">
                <a:latin typeface="Calibri"/>
                <a:cs typeface="Calibri"/>
              </a:rPr>
              <a:t>m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baseline="35353" sz="825" spc="104">
                <a:latin typeface="Calibri"/>
                <a:cs typeface="Calibri"/>
              </a:rPr>
              <a:t>2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baseline="-20202" sz="825" spc="104">
                <a:latin typeface="Calibri"/>
                <a:cs typeface="Calibri"/>
              </a:rPr>
              <a:t>1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0" i="1">
                <a:latin typeface="Calibri"/>
                <a:cs typeface="Calibri"/>
              </a:rPr>
              <a:t>x</a:t>
            </a:r>
            <a:r>
              <a:rPr dirty="0" baseline="-20202" sz="825" spc="-30" i="1">
                <a:latin typeface="Calibri"/>
                <a:cs typeface="Calibri"/>
              </a:rPr>
              <a:t>m</a:t>
            </a:r>
            <a:r>
              <a:rPr dirty="0" sz="850" spc="-20">
                <a:latin typeface="Tahoma"/>
                <a:cs typeface="Tahoma"/>
              </a:rPr>
              <a:t>)</a:t>
            </a:r>
            <a:r>
              <a:rPr dirty="0" sz="850" spc="-20">
                <a:latin typeface="Calibri"/>
                <a:cs typeface="Calibri"/>
              </a:rPr>
              <a:t>,</a:t>
            </a:r>
            <a:r>
              <a:rPr dirty="0" sz="850" spc="20">
                <a:latin typeface="Calibri"/>
                <a:cs typeface="Calibri"/>
              </a:rPr>
              <a:t> 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create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f</a:t>
            </a:r>
            <a:r>
              <a:rPr dirty="0" sz="850" spc="35" i="1">
                <a:latin typeface="Calibri"/>
                <a:cs typeface="Calibri"/>
              </a:rPr>
              <a:t> </a:t>
            </a:r>
            <a:r>
              <a:rPr dirty="0" baseline="35353" sz="825" spc="82">
                <a:latin typeface="Calibri"/>
                <a:cs typeface="Calibri"/>
              </a:rPr>
              <a:t>1</a:t>
            </a:r>
            <a:r>
              <a:rPr dirty="0" sz="850" spc="55">
                <a:latin typeface="Calibri"/>
                <a:cs typeface="Calibri"/>
              </a:rPr>
              <a:t>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another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f</a:t>
            </a:r>
            <a:r>
              <a:rPr dirty="0" sz="850" spc="35" i="1">
                <a:latin typeface="Calibri"/>
                <a:cs typeface="Calibri"/>
              </a:rPr>
              <a:t> </a:t>
            </a:r>
            <a:r>
              <a:rPr dirty="0" baseline="35353" sz="825" spc="82">
                <a:latin typeface="Calibri"/>
                <a:cs typeface="Calibri"/>
              </a:rPr>
              <a:t>2</a:t>
            </a:r>
            <a:r>
              <a:rPr dirty="0" sz="850" spc="55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2057" y="2401280"/>
            <a:ext cx="4010660" cy="34671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glue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together.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cope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with.</a:t>
            </a:r>
            <a:endParaRPr sz="850">
              <a:latin typeface="Calibri"/>
              <a:cs typeface="Calibri"/>
            </a:endParaRPr>
          </a:p>
          <a:p>
            <a:pPr marL="17780">
              <a:lnSpc>
                <a:spcPct val="100000"/>
              </a:lnSpc>
              <a:spcBef>
                <a:spcPts val="130"/>
              </a:spcBef>
            </a:pP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301" y="2719361"/>
            <a:ext cx="4366895" cy="1610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28930" marR="5080" indent="-118745">
              <a:lnSpc>
                <a:spcPct val="114300"/>
              </a:lnSpc>
              <a:spcBef>
                <a:spcPts val="95"/>
              </a:spcBef>
              <a:buFont typeface="Cambria"/>
              <a:buChar char="•"/>
              <a:tabLst>
                <a:tab pos="328930" algn="l"/>
              </a:tabLst>
            </a:pP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arbitrary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Can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hidden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layer?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hint,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that:</a:t>
            </a:r>
            <a:endParaRPr sz="850">
              <a:latin typeface="Calibri"/>
              <a:cs typeface="Calibri"/>
            </a:endParaRPr>
          </a:p>
          <a:p>
            <a:pPr algn="just" marL="328930" marR="10160" indent="-13970">
              <a:lnSpc>
                <a:spcPct val="114300"/>
              </a:lnSpc>
            </a:pPr>
            <a:r>
              <a:rPr dirty="0" sz="850" spc="60">
                <a:latin typeface="Calibri"/>
                <a:cs typeface="Calibri"/>
              </a:rPr>
              <a:t>(a)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arbitrary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direction;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(b)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constructions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(a)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tower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circular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shape,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rectangular;</a:t>
            </a:r>
            <a:endParaRPr sz="850">
              <a:latin typeface="Calibri"/>
              <a:cs typeface="Calibri"/>
            </a:endParaRPr>
          </a:p>
          <a:p>
            <a:pPr algn="just" marL="328930" marR="26034" indent="-13970">
              <a:lnSpc>
                <a:spcPct val="114300"/>
              </a:lnSpc>
            </a:pPr>
            <a:r>
              <a:rPr dirty="0" sz="850" spc="70">
                <a:latin typeface="Calibri"/>
                <a:cs typeface="Calibri"/>
              </a:rPr>
              <a:t>(c)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circular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towers,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arbitrary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(c)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chapter.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60"/>
              </a:spcBef>
            </a:pP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339725" algn="l"/>
              </a:tabLst>
            </a:pPr>
            <a:r>
              <a:rPr dirty="0" sz="1050" spc="30" b="1">
                <a:latin typeface="Calibri"/>
                <a:cs typeface="Calibri"/>
              </a:rPr>
              <a:t>4.4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55" b="1">
                <a:latin typeface="Calibri"/>
                <a:cs typeface="Calibri"/>
              </a:rPr>
              <a:t>Extension</a:t>
            </a:r>
            <a:r>
              <a:rPr dirty="0" sz="1050" spc="17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beyond</a:t>
            </a:r>
            <a:r>
              <a:rPr dirty="0" sz="1050" spc="175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sigmoid</a:t>
            </a:r>
            <a:r>
              <a:rPr dirty="0" sz="1050" spc="180" b="1">
                <a:latin typeface="Calibri"/>
                <a:cs typeface="Calibri"/>
              </a:rPr>
              <a:t> </a:t>
            </a:r>
            <a:r>
              <a:rPr dirty="0" sz="1050" spc="45" b="1">
                <a:latin typeface="Calibri"/>
                <a:cs typeface="Calibri"/>
              </a:rPr>
              <a:t>neurons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99754" y="4454133"/>
            <a:ext cx="435292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made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Recall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910672" y="4508642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301" y="4602165"/>
            <a:ext cx="43040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382645" algn="l"/>
              </a:tabLst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2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30" i="1">
                <a:latin typeface="Times New Roman"/>
                <a:cs typeface="Times New Roman"/>
              </a:rPr>
              <a:t>σ</a:t>
            </a:r>
            <a:r>
              <a:rPr dirty="0" sz="850" spc="130">
                <a:latin typeface="Calibri"/>
                <a:cs typeface="Calibri"/>
              </a:rPr>
              <a:t>(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4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35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>
                <a:latin typeface="Calibri"/>
                <a:cs typeface="Calibri"/>
              </a:rPr>
              <a:t>),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50" i="1">
                <a:latin typeface="Calibri"/>
                <a:cs typeface="Calibri"/>
              </a:rPr>
              <a:t>w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9200" y="4672593"/>
            <a:ext cx="4399280" cy="2343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793239">
              <a:lnSpc>
                <a:spcPts val="630"/>
              </a:lnSpc>
              <a:spcBef>
                <a:spcPts val="120"/>
              </a:spcBef>
              <a:tabLst>
                <a:tab pos="3373120" algn="l"/>
                <a:tab pos="4340860" algn="l"/>
              </a:tabLst>
            </a:pPr>
            <a:r>
              <a:rPr dirty="0" baseline="5050" sz="825">
                <a:latin typeface="Calibri"/>
                <a:cs typeface="Calibri"/>
              </a:rPr>
              <a:t>1</a:t>
            </a:r>
            <a:r>
              <a:rPr dirty="0" baseline="5050" sz="825" spc="540">
                <a:latin typeface="Calibri"/>
                <a:cs typeface="Calibri"/>
              </a:rPr>
              <a:t>  </a:t>
            </a:r>
            <a:r>
              <a:rPr dirty="0" baseline="5050" sz="825" spc="-75">
                <a:latin typeface="Calibri"/>
                <a:cs typeface="Calibri"/>
              </a:rPr>
              <a:t>2</a:t>
            </a:r>
            <a:r>
              <a:rPr dirty="0" baseline="5050" sz="825">
                <a:latin typeface="Calibri"/>
                <a:cs typeface="Calibri"/>
              </a:rPr>
              <a:t>	</a:t>
            </a: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3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r>
              <a:rPr dirty="0" baseline="5050" sz="825" i="1">
                <a:latin typeface="Calibri"/>
                <a:cs typeface="Calibri"/>
              </a:rPr>
              <a:t>	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  <a:p>
            <a:pPr marL="50800">
              <a:lnSpc>
                <a:spcPts val="990"/>
              </a:lnSpc>
            </a:pP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1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8005" y="5018138"/>
            <a:ext cx="3024060" cy="1209624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699754" y="6343644"/>
            <a:ext cx="437578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685" marR="5080" indent="-762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20" i="1">
                <a:latin typeface="Calibri"/>
                <a:cs typeface="Calibri"/>
              </a:rPr>
              <a:t>s</a:t>
            </a:r>
            <a:r>
              <a:rPr dirty="0" sz="850" spc="-20">
                <a:latin typeface="Tahoma"/>
                <a:cs typeface="Tahoma"/>
              </a:rPr>
              <a:t>(</a:t>
            </a:r>
            <a:r>
              <a:rPr dirty="0" sz="850" spc="-20" i="1">
                <a:latin typeface="Calibri"/>
                <a:cs typeface="Calibri"/>
              </a:rPr>
              <a:t>z</a:t>
            </a:r>
            <a:r>
              <a:rPr dirty="0" sz="850" spc="-20">
                <a:latin typeface="Tahoma"/>
                <a:cs typeface="Tahoma"/>
              </a:rPr>
              <a:t>)</a:t>
            </a:r>
            <a:r>
              <a:rPr dirty="0" sz="850" spc="-2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68005" y="6772440"/>
            <a:ext cx="3024060" cy="1209624"/>
          </a:xfrm>
          <a:prstGeom prst="rect">
            <a:avLst/>
          </a:prstGeom>
        </p:spPr>
      </p:pic>
      <p:grpSp>
        <p:nvGrpSpPr>
          <p:cNvPr id="13" name="object 13"/>
          <p:cNvGrpSpPr/>
          <p:nvPr/>
        </p:nvGrpSpPr>
        <p:grpSpPr>
          <a:xfrm>
            <a:off x="-2530" y="2267988"/>
            <a:ext cx="344170" cy="472440"/>
            <a:chOff x="-2530" y="2267988"/>
            <a:chExt cx="344170" cy="472440"/>
          </a:xfrm>
        </p:grpSpPr>
        <p:sp>
          <p:nvSpPr>
            <p:cNvPr id="14" name="object 14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66570"/>
                  </a:lnTo>
                  <a:lnTo>
                    <a:pt x="2525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0" y="466570"/>
                  </a:moveTo>
                  <a:lnTo>
                    <a:pt x="2525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25831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391560" y="368721"/>
            <a:ext cx="228917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093595" algn="l"/>
              </a:tabLst>
            </a:pPr>
            <a:r>
              <a:rPr dirty="0" sz="850" spc="10">
                <a:latin typeface="Calibri"/>
                <a:cs typeface="Calibri"/>
              </a:rPr>
              <a:t>4.4.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Extension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beyond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147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6983" y="930566"/>
            <a:ext cx="44011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assume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x</a:t>
            </a:r>
            <a:r>
              <a:rPr dirty="0" baseline="-20202" sz="825" spc="97">
                <a:latin typeface="Calibri"/>
                <a:cs typeface="Calibri"/>
              </a:rPr>
              <a:t>2</a:t>
            </a:r>
            <a:r>
              <a:rPr dirty="0" sz="850" spc="65">
                <a:latin typeface="Calibri"/>
                <a:cs typeface="Calibri"/>
              </a:rPr>
              <a:t>,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-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2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bias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159399" y="985077"/>
            <a:ext cx="13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250">
                <a:latin typeface="Arial MT"/>
                <a:cs typeface="Arial MT"/>
              </a:rPr>
              <a:t>P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53518" y="1149023"/>
            <a:ext cx="3378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j</a:t>
            </a:r>
            <a:r>
              <a:rPr dirty="0" sz="550" spc="345" i="1">
                <a:latin typeface="Calibri"/>
                <a:cs typeface="Calibri"/>
              </a:rPr>
              <a:t>  </a:t>
            </a:r>
            <a:r>
              <a:rPr dirty="0" baseline="5050" sz="825" i="1">
                <a:latin typeface="Calibri"/>
                <a:cs typeface="Calibri"/>
              </a:rPr>
              <a:t>j</a:t>
            </a:r>
            <a:r>
              <a:rPr dirty="0" baseline="5050" sz="825" spc="330" i="1">
                <a:latin typeface="Calibri"/>
                <a:cs typeface="Calibri"/>
              </a:rPr>
              <a:t>  </a:t>
            </a:r>
            <a:r>
              <a:rPr dirty="0" baseline="5050" sz="825" spc="-75" i="1">
                <a:latin typeface="Calibri"/>
                <a:cs typeface="Calibri"/>
              </a:rPr>
              <a:t>j</a:t>
            </a:r>
            <a:endParaRPr baseline="5050" sz="825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75504" y="1078596"/>
            <a:ext cx="176085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263015" algn="l"/>
              </a:tabLst>
            </a:pP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s</a:t>
            </a:r>
            <a:r>
              <a:rPr dirty="0" sz="850" spc="-25">
                <a:latin typeface="Tahoma"/>
                <a:cs typeface="Tahoma"/>
              </a:rPr>
              <a:t>(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1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x</a:t>
            </a:r>
            <a:r>
              <a:rPr dirty="0" sz="850" spc="33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-25" i="1">
                <a:latin typeface="Calibri"/>
                <a:cs typeface="Calibri"/>
              </a:rPr>
              <a:t>b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2380" y="1281196"/>
            <a:ext cx="4377690" cy="54927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207010">
              <a:lnSpc>
                <a:spcPct val="100000"/>
              </a:lnSpc>
              <a:spcBef>
                <a:spcPts val="240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sigmoid.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ramping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30">
                <a:latin typeface="Calibri"/>
                <a:cs typeface="Calibri"/>
              </a:rPr>
              <a:t>100:</a:t>
            </a:r>
            <a:endParaRPr sz="850">
              <a:latin typeface="Calibri"/>
              <a:cs typeface="Calibri"/>
            </a:endParaRPr>
          </a:p>
          <a:p>
            <a:pPr marL="1221740">
              <a:lnSpc>
                <a:spcPct val="100000"/>
              </a:lnSpc>
              <a:spcBef>
                <a:spcPts val="770"/>
              </a:spcBef>
            </a:pP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404696" y="2002472"/>
            <a:ext cx="2699385" cy="1336040"/>
            <a:chOff x="1404696" y="2002472"/>
            <a:chExt cx="2699385" cy="1336040"/>
          </a:xfrm>
        </p:grpSpPr>
        <p:sp>
          <p:nvSpPr>
            <p:cNvPr id="9" name="object 9"/>
            <p:cNvSpPr/>
            <p:nvPr/>
          </p:nvSpPr>
          <p:spPr>
            <a:xfrm>
              <a:off x="1432966" y="3282632"/>
              <a:ext cx="2543810" cy="54610"/>
            </a:xfrm>
            <a:custGeom>
              <a:avLst/>
              <a:gdLst/>
              <a:ahLst/>
              <a:cxnLst/>
              <a:rect l="l" t="t" r="r" b="b"/>
              <a:pathLst>
                <a:path w="2543810" h="54610">
                  <a:moveTo>
                    <a:pt x="0" y="54000"/>
                  </a:moveTo>
                  <a:lnTo>
                    <a:pt x="0" y="0"/>
                  </a:lnTo>
                </a:path>
                <a:path w="2543810" h="54610">
                  <a:moveTo>
                    <a:pt x="2543479" y="54000"/>
                  </a:moveTo>
                  <a:lnTo>
                    <a:pt x="254347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405966" y="2003742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09" h="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432966" y="3309632"/>
              <a:ext cx="2645410" cy="0"/>
            </a:xfrm>
            <a:custGeom>
              <a:avLst/>
              <a:gdLst/>
              <a:ahLst/>
              <a:cxnLst/>
              <a:rect l="l" t="t" r="r" b="b"/>
              <a:pathLst>
                <a:path w="2645410" h="0">
                  <a:moveTo>
                    <a:pt x="0" y="0"/>
                  </a:moveTo>
                  <a:lnTo>
                    <a:pt x="2645346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063136" y="32893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76" y="20243"/>
                  </a:lnTo>
                  <a:lnTo>
                    <a:pt x="0" y="40487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1389875" y="3328622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933325" y="3328622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93519" y="1918883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12722" y="1934997"/>
            <a:ext cx="2566670" cy="1377315"/>
            <a:chOff x="1412722" y="1934997"/>
            <a:chExt cx="2566670" cy="1377315"/>
          </a:xfrm>
        </p:grpSpPr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12722" y="1934997"/>
              <a:ext cx="2566190" cy="1377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1941664" y="2003742"/>
              <a:ext cx="2035175" cy="0"/>
            </a:xfrm>
            <a:custGeom>
              <a:avLst/>
              <a:gdLst/>
              <a:ahLst/>
              <a:cxnLst/>
              <a:rect l="l" t="t" r="r" b="b"/>
              <a:pathLst>
                <a:path w="2035175" h="0">
                  <a:moveTo>
                    <a:pt x="0" y="0"/>
                  </a:moveTo>
                  <a:lnTo>
                    <a:pt x="2034768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/>
          <p:nvPr/>
        </p:nvSpPr>
        <p:spPr>
          <a:xfrm>
            <a:off x="4226725" y="2036483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4226725" y="2183726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1900E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4226725" y="2330970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3F00B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4226725" y="2478214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7F0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4226725" y="2625470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BF003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4186263" y="1937524"/>
            <a:ext cx="1137285" cy="787400"/>
          </a:xfrm>
          <a:prstGeom prst="rect">
            <a:avLst/>
          </a:prstGeom>
          <a:ln w="5060">
            <a:solidFill>
              <a:srgbClr val="000000"/>
            </a:solidFill>
          </a:ln>
        </p:spPr>
        <p:txBody>
          <a:bodyPr wrap="square" lIns="0" tIns="22860" rIns="0" bIns="0" rtlCol="0" vert="horz">
            <a:spAutoFit/>
          </a:bodyPr>
          <a:lstStyle/>
          <a:p>
            <a:pPr marL="287020">
              <a:lnSpc>
                <a:spcPct val="100000"/>
              </a:lnSpc>
              <a:spcBef>
                <a:spcPts val="18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3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100,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3</a:t>
            </a:r>
            <a:endParaRPr sz="850">
              <a:latin typeface="Calibri"/>
              <a:cs typeface="Calibri"/>
            </a:endParaRPr>
          </a:p>
          <a:p>
            <a:pPr marL="316865">
              <a:lnSpc>
                <a:spcPct val="100000"/>
              </a:lnSpc>
              <a:spcBef>
                <a:spcPts val="14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3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15,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3</a:t>
            </a:r>
            <a:endParaRPr sz="850">
              <a:latin typeface="Calibri"/>
              <a:cs typeface="Calibri"/>
            </a:endParaRPr>
          </a:p>
          <a:p>
            <a:pPr marL="347345">
              <a:lnSpc>
                <a:spcPct val="100000"/>
              </a:lnSpc>
              <a:spcBef>
                <a:spcPts val="14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8,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3</a:t>
            </a:r>
            <a:endParaRPr sz="850">
              <a:latin typeface="Calibri"/>
              <a:cs typeface="Calibri"/>
            </a:endParaRPr>
          </a:p>
          <a:p>
            <a:pPr marL="347345">
              <a:lnSpc>
                <a:spcPct val="100000"/>
              </a:lnSpc>
              <a:spcBef>
                <a:spcPts val="135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6,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3</a:t>
            </a:r>
            <a:endParaRPr sz="850">
              <a:latin typeface="Calibri"/>
              <a:cs typeface="Calibri"/>
            </a:endParaRPr>
          </a:p>
          <a:p>
            <a:pPr marL="347345">
              <a:lnSpc>
                <a:spcPct val="100000"/>
              </a:lnSpc>
              <a:spcBef>
                <a:spcPts val="14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4,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3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1405966" y="3580345"/>
            <a:ext cx="2698115" cy="1402080"/>
            <a:chOff x="1405966" y="3580345"/>
            <a:chExt cx="2698115" cy="1402080"/>
          </a:xfrm>
        </p:grpSpPr>
        <p:sp>
          <p:nvSpPr>
            <p:cNvPr id="26" name="object 26"/>
            <p:cNvSpPr/>
            <p:nvPr/>
          </p:nvSpPr>
          <p:spPr>
            <a:xfrm>
              <a:off x="1432966" y="4927980"/>
              <a:ext cx="2543810" cy="54610"/>
            </a:xfrm>
            <a:custGeom>
              <a:avLst/>
              <a:gdLst/>
              <a:ahLst/>
              <a:cxnLst/>
              <a:rect l="l" t="t" r="r" b="b"/>
              <a:pathLst>
                <a:path w="2543810" h="54610">
                  <a:moveTo>
                    <a:pt x="0" y="54000"/>
                  </a:moveTo>
                  <a:lnTo>
                    <a:pt x="0" y="0"/>
                  </a:lnTo>
                </a:path>
                <a:path w="2543810" h="54610">
                  <a:moveTo>
                    <a:pt x="2543479" y="54000"/>
                  </a:moveTo>
                  <a:lnTo>
                    <a:pt x="254347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1405966" y="3646246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09" h="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1432966" y="4954981"/>
              <a:ext cx="2645410" cy="0"/>
            </a:xfrm>
            <a:custGeom>
              <a:avLst/>
              <a:gdLst/>
              <a:ahLst/>
              <a:cxnLst/>
              <a:rect l="l" t="t" r="r" b="b"/>
              <a:pathLst>
                <a:path w="2645410" h="0">
                  <a:moveTo>
                    <a:pt x="0" y="0"/>
                  </a:moveTo>
                  <a:lnTo>
                    <a:pt x="2645346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063136" y="493473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76" y="20243"/>
                  </a:lnTo>
                  <a:lnTo>
                    <a:pt x="0" y="40487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432966" y="3605656"/>
              <a:ext cx="0" cy="1349375"/>
            </a:xfrm>
            <a:custGeom>
              <a:avLst/>
              <a:gdLst/>
              <a:ahLst/>
              <a:cxnLst/>
              <a:rect l="l" t="t" r="r" b="b"/>
              <a:pathLst>
                <a:path w="0" h="1349375">
                  <a:moveTo>
                    <a:pt x="0" y="1349324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412722" y="3580345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20243" y="0"/>
                  </a:moveTo>
                  <a:lnTo>
                    <a:pt x="0" y="40500"/>
                  </a:lnTo>
                  <a:lnTo>
                    <a:pt x="20243" y="25311"/>
                  </a:lnTo>
                  <a:lnTo>
                    <a:pt x="40487" y="40500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1432966" y="3940073"/>
              <a:ext cx="2543810" cy="1015365"/>
            </a:xfrm>
            <a:custGeom>
              <a:avLst/>
              <a:gdLst/>
              <a:ahLst/>
              <a:cxnLst/>
              <a:rect l="l" t="t" r="r" b="b"/>
              <a:pathLst>
                <a:path w="2543810" h="1015364">
                  <a:moveTo>
                    <a:pt x="0" y="1014907"/>
                  </a:moveTo>
                  <a:lnTo>
                    <a:pt x="25438" y="1013396"/>
                  </a:lnTo>
                  <a:lnTo>
                    <a:pt x="50876" y="1012266"/>
                  </a:lnTo>
                  <a:lnTo>
                    <a:pt x="76301" y="1011770"/>
                  </a:lnTo>
                  <a:lnTo>
                    <a:pt x="101739" y="1011961"/>
                  </a:lnTo>
                  <a:lnTo>
                    <a:pt x="127177" y="1012609"/>
                  </a:lnTo>
                  <a:lnTo>
                    <a:pt x="152603" y="1013269"/>
                  </a:lnTo>
                  <a:lnTo>
                    <a:pt x="178041" y="1013434"/>
                  </a:lnTo>
                  <a:lnTo>
                    <a:pt x="203479" y="1012685"/>
                  </a:lnTo>
                  <a:lnTo>
                    <a:pt x="228917" y="1010894"/>
                  </a:lnTo>
                  <a:lnTo>
                    <a:pt x="254342" y="1008265"/>
                  </a:lnTo>
                  <a:lnTo>
                    <a:pt x="279781" y="1005344"/>
                  </a:lnTo>
                  <a:lnTo>
                    <a:pt x="305219" y="1002817"/>
                  </a:lnTo>
                  <a:lnTo>
                    <a:pt x="330657" y="1001318"/>
                  </a:lnTo>
                  <a:lnTo>
                    <a:pt x="356082" y="1001102"/>
                  </a:lnTo>
                  <a:lnTo>
                    <a:pt x="381520" y="1002017"/>
                  </a:lnTo>
                  <a:lnTo>
                    <a:pt x="406958" y="1003376"/>
                  </a:lnTo>
                  <a:lnTo>
                    <a:pt x="432396" y="1004265"/>
                  </a:lnTo>
                  <a:lnTo>
                    <a:pt x="457822" y="1003769"/>
                  </a:lnTo>
                  <a:lnTo>
                    <a:pt x="483260" y="1001356"/>
                  </a:lnTo>
                  <a:lnTo>
                    <a:pt x="508698" y="997102"/>
                  </a:lnTo>
                  <a:lnTo>
                    <a:pt x="534123" y="991768"/>
                  </a:lnTo>
                  <a:lnTo>
                    <a:pt x="559562" y="986561"/>
                  </a:lnTo>
                  <a:lnTo>
                    <a:pt x="585000" y="982776"/>
                  </a:lnTo>
                  <a:lnTo>
                    <a:pt x="610438" y="981265"/>
                  </a:lnTo>
                  <a:lnTo>
                    <a:pt x="635863" y="982154"/>
                  </a:lnTo>
                  <a:lnTo>
                    <a:pt x="661301" y="984567"/>
                  </a:lnTo>
                  <a:lnTo>
                    <a:pt x="686739" y="986967"/>
                  </a:lnTo>
                  <a:lnTo>
                    <a:pt x="737603" y="984834"/>
                  </a:lnTo>
                  <a:lnTo>
                    <a:pt x="788479" y="969327"/>
                  </a:lnTo>
                  <a:lnTo>
                    <a:pt x="813917" y="959281"/>
                  </a:lnTo>
                  <a:lnTo>
                    <a:pt x="839343" y="950798"/>
                  </a:lnTo>
                  <a:lnTo>
                    <a:pt x="864781" y="946010"/>
                  </a:lnTo>
                  <a:lnTo>
                    <a:pt x="890219" y="945832"/>
                  </a:lnTo>
                  <a:lnTo>
                    <a:pt x="915644" y="949502"/>
                  </a:lnTo>
                  <a:lnTo>
                    <a:pt x="941082" y="954671"/>
                  </a:lnTo>
                  <a:lnTo>
                    <a:pt x="966520" y="957999"/>
                  </a:lnTo>
                  <a:lnTo>
                    <a:pt x="991958" y="956373"/>
                  </a:lnTo>
                  <a:lnTo>
                    <a:pt x="1017384" y="948004"/>
                  </a:lnTo>
                  <a:lnTo>
                    <a:pt x="1042822" y="933335"/>
                  </a:lnTo>
                  <a:lnTo>
                    <a:pt x="1068260" y="915136"/>
                  </a:lnTo>
                  <a:lnTo>
                    <a:pt x="1093698" y="897737"/>
                  </a:lnTo>
                  <a:lnTo>
                    <a:pt x="1119124" y="885609"/>
                  </a:lnTo>
                  <a:lnTo>
                    <a:pt x="1144562" y="881735"/>
                  </a:lnTo>
                  <a:lnTo>
                    <a:pt x="1170000" y="886231"/>
                  </a:lnTo>
                  <a:lnTo>
                    <a:pt x="1195438" y="895997"/>
                  </a:lnTo>
                  <a:lnTo>
                    <a:pt x="1220876" y="905433"/>
                  </a:lnTo>
                  <a:lnTo>
                    <a:pt x="1271739" y="899655"/>
                  </a:lnTo>
                  <a:lnTo>
                    <a:pt x="1322616" y="847699"/>
                  </a:lnTo>
                  <a:lnTo>
                    <a:pt x="1348041" y="814590"/>
                  </a:lnTo>
                  <a:lnTo>
                    <a:pt x="1373479" y="787692"/>
                  </a:lnTo>
                  <a:lnTo>
                    <a:pt x="1398917" y="774331"/>
                  </a:lnTo>
                  <a:lnTo>
                    <a:pt x="1424355" y="777417"/>
                  </a:lnTo>
                  <a:lnTo>
                    <a:pt x="1449781" y="794092"/>
                  </a:lnTo>
                  <a:lnTo>
                    <a:pt x="1475219" y="815708"/>
                  </a:lnTo>
                  <a:lnTo>
                    <a:pt x="1500657" y="830554"/>
                  </a:lnTo>
                  <a:lnTo>
                    <a:pt x="1526082" y="827862"/>
                  </a:lnTo>
                  <a:lnTo>
                    <a:pt x="1551520" y="801789"/>
                  </a:lnTo>
                  <a:lnTo>
                    <a:pt x="1576959" y="754418"/>
                  </a:lnTo>
                  <a:lnTo>
                    <a:pt x="1602397" y="695883"/>
                  </a:lnTo>
                  <a:lnTo>
                    <a:pt x="1627822" y="641629"/>
                  </a:lnTo>
                  <a:lnTo>
                    <a:pt x="1653260" y="607288"/>
                  </a:lnTo>
                  <a:lnTo>
                    <a:pt x="1678698" y="602856"/>
                  </a:lnTo>
                  <a:lnTo>
                    <a:pt x="1704136" y="628243"/>
                  </a:lnTo>
                  <a:lnTo>
                    <a:pt x="1729562" y="672020"/>
                  </a:lnTo>
                  <a:lnTo>
                    <a:pt x="1755000" y="714209"/>
                  </a:lnTo>
                  <a:lnTo>
                    <a:pt x="1805876" y="711504"/>
                  </a:lnTo>
                  <a:lnTo>
                    <a:pt x="1831301" y="646988"/>
                  </a:lnTo>
                  <a:lnTo>
                    <a:pt x="1856740" y="551370"/>
                  </a:lnTo>
                  <a:lnTo>
                    <a:pt x="1882178" y="449948"/>
                  </a:lnTo>
                  <a:lnTo>
                    <a:pt x="1907616" y="373240"/>
                  </a:lnTo>
                  <a:lnTo>
                    <a:pt x="1933041" y="346278"/>
                  </a:lnTo>
                  <a:lnTo>
                    <a:pt x="1958479" y="378599"/>
                  </a:lnTo>
                  <a:lnTo>
                    <a:pt x="1983917" y="458558"/>
                  </a:lnTo>
                  <a:lnTo>
                    <a:pt x="2009343" y="555142"/>
                  </a:lnTo>
                  <a:lnTo>
                    <a:pt x="2034781" y="627151"/>
                  </a:lnTo>
                  <a:lnTo>
                    <a:pt x="2060219" y="637095"/>
                  </a:lnTo>
                  <a:lnTo>
                    <a:pt x="2085657" y="566115"/>
                  </a:lnTo>
                  <a:lnTo>
                    <a:pt x="2111082" y="423100"/>
                  </a:lnTo>
                  <a:lnTo>
                    <a:pt x="2136521" y="253453"/>
                  </a:lnTo>
                  <a:lnTo>
                    <a:pt x="2161959" y="131597"/>
                  </a:lnTo>
                  <a:lnTo>
                    <a:pt x="2187397" y="88074"/>
                  </a:lnTo>
                  <a:lnTo>
                    <a:pt x="2212822" y="121996"/>
                  </a:lnTo>
                  <a:lnTo>
                    <a:pt x="2238260" y="206870"/>
                  </a:lnTo>
                  <a:lnTo>
                    <a:pt x="2263698" y="302221"/>
                  </a:lnTo>
                  <a:lnTo>
                    <a:pt x="2289136" y="368935"/>
                  </a:lnTo>
                  <a:lnTo>
                    <a:pt x="2314562" y="381711"/>
                  </a:lnTo>
                  <a:lnTo>
                    <a:pt x="2340000" y="336143"/>
                  </a:lnTo>
                  <a:lnTo>
                    <a:pt x="2365438" y="247929"/>
                  </a:lnTo>
                  <a:lnTo>
                    <a:pt x="2390863" y="145084"/>
                  </a:lnTo>
                  <a:lnTo>
                    <a:pt x="2416302" y="57581"/>
                  </a:lnTo>
                  <a:lnTo>
                    <a:pt x="2441740" y="6845"/>
                  </a:lnTo>
                  <a:lnTo>
                    <a:pt x="2467178" y="0"/>
                  </a:lnTo>
                  <a:lnTo>
                    <a:pt x="2492603" y="28689"/>
                  </a:lnTo>
                  <a:lnTo>
                    <a:pt x="2518041" y="73901"/>
                  </a:lnTo>
                  <a:lnTo>
                    <a:pt x="2543479" y="113398"/>
                  </a:lnTo>
                </a:path>
              </a:pathLst>
            </a:custGeom>
            <a:ln w="5060">
              <a:solidFill>
                <a:srgbClr val="1900E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1432966" y="3712298"/>
              <a:ext cx="2543810" cy="1186180"/>
            </a:xfrm>
            <a:custGeom>
              <a:avLst/>
              <a:gdLst/>
              <a:ahLst/>
              <a:cxnLst/>
              <a:rect l="l" t="t" r="r" b="b"/>
              <a:pathLst>
                <a:path w="2543810" h="1186179">
                  <a:moveTo>
                    <a:pt x="0" y="1176489"/>
                  </a:moveTo>
                  <a:lnTo>
                    <a:pt x="25438" y="1173213"/>
                  </a:lnTo>
                  <a:lnTo>
                    <a:pt x="50876" y="1174483"/>
                  </a:lnTo>
                  <a:lnTo>
                    <a:pt x="76301" y="1178991"/>
                  </a:lnTo>
                  <a:lnTo>
                    <a:pt x="101739" y="1183932"/>
                  </a:lnTo>
                  <a:lnTo>
                    <a:pt x="127177" y="1185913"/>
                  </a:lnTo>
                  <a:lnTo>
                    <a:pt x="152603" y="1182128"/>
                  </a:lnTo>
                  <a:lnTo>
                    <a:pt x="178041" y="1171486"/>
                  </a:lnTo>
                  <a:lnTo>
                    <a:pt x="203479" y="1155242"/>
                  </a:lnTo>
                  <a:lnTo>
                    <a:pt x="228917" y="1136789"/>
                  </a:lnTo>
                  <a:lnTo>
                    <a:pt x="254342" y="1120686"/>
                  </a:lnTo>
                  <a:lnTo>
                    <a:pt x="279781" y="1111097"/>
                  </a:lnTo>
                  <a:lnTo>
                    <a:pt x="305219" y="1110170"/>
                  </a:lnTo>
                  <a:lnTo>
                    <a:pt x="330657" y="1116901"/>
                  </a:lnTo>
                  <a:lnTo>
                    <a:pt x="356082" y="1127264"/>
                  </a:lnTo>
                  <a:lnTo>
                    <a:pt x="381520" y="1135176"/>
                  </a:lnTo>
                  <a:lnTo>
                    <a:pt x="406958" y="1134567"/>
                  </a:lnTo>
                  <a:lnTo>
                    <a:pt x="432396" y="1121664"/>
                  </a:lnTo>
                  <a:lnTo>
                    <a:pt x="457822" y="1096695"/>
                  </a:lnTo>
                  <a:lnTo>
                    <a:pt x="483260" y="1064298"/>
                  </a:lnTo>
                  <a:lnTo>
                    <a:pt x="508698" y="1032268"/>
                  </a:lnTo>
                  <a:lnTo>
                    <a:pt x="534123" y="1009230"/>
                  </a:lnTo>
                  <a:lnTo>
                    <a:pt x="559562" y="1001306"/>
                  </a:lnTo>
                  <a:lnTo>
                    <a:pt x="585000" y="1009586"/>
                  </a:lnTo>
                  <a:lnTo>
                    <a:pt x="610438" y="1029068"/>
                  </a:lnTo>
                  <a:lnTo>
                    <a:pt x="635863" y="1049769"/>
                  </a:lnTo>
                  <a:lnTo>
                    <a:pt x="661301" y="1059802"/>
                  </a:lnTo>
                  <a:lnTo>
                    <a:pt x="686739" y="1049591"/>
                  </a:lnTo>
                  <a:lnTo>
                    <a:pt x="712177" y="1015784"/>
                  </a:lnTo>
                  <a:lnTo>
                    <a:pt x="737603" y="963231"/>
                  </a:lnTo>
                  <a:lnTo>
                    <a:pt x="763041" y="904252"/>
                  </a:lnTo>
                  <a:lnTo>
                    <a:pt x="788479" y="855078"/>
                  </a:lnTo>
                  <a:lnTo>
                    <a:pt x="813917" y="830008"/>
                  </a:lnTo>
                  <a:lnTo>
                    <a:pt x="839343" y="836117"/>
                  </a:lnTo>
                  <a:lnTo>
                    <a:pt x="864781" y="869429"/>
                  </a:lnTo>
                  <a:lnTo>
                    <a:pt x="890219" y="915149"/>
                  </a:lnTo>
                  <a:lnTo>
                    <a:pt x="915644" y="951801"/>
                  </a:lnTo>
                  <a:lnTo>
                    <a:pt x="941082" y="958354"/>
                  </a:lnTo>
                  <a:lnTo>
                    <a:pt x="966520" y="922274"/>
                  </a:lnTo>
                  <a:lnTo>
                    <a:pt x="991958" y="845312"/>
                  </a:lnTo>
                  <a:lnTo>
                    <a:pt x="1017384" y="744499"/>
                  </a:lnTo>
                  <a:lnTo>
                    <a:pt x="1042822" y="647954"/>
                  </a:lnTo>
                  <a:lnTo>
                    <a:pt x="1068260" y="585622"/>
                  </a:lnTo>
                  <a:lnTo>
                    <a:pt x="1093698" y="578370"/>
                  </a:lnTo>
                  <a:lnTo>
                    <a:pt x="1119124" y="628929"/>
                  </a:lnTo>
                  <a:lnTo>
                    <a:pt x="1144562" y="718616"/>
                  </a:lnTo>
                  <a:lnTo>
                    <a:pt x="1170000" y="811745"/>
                  </a:lnTo>
                  <a:lnTo>
                    <a:pt x="1195438" y="866584"/>
                  </a:lnTo>
                  <a:lnTo>
                    <a:pt x="1220876" y="850379"/>
                  </a:lnTo>
                  <a:lnTo>
                    <a:pt x="1246301" y="752894"/>
                  </a:lnTo>
                  <a:lnTo>
                    <a:pt x="1271739" y="592963"/>
                  </a:lnTo>
                  <a:lnTo>
                    <a:pt x="1297178" y="433070"/>
                  </a:lnTo>
                  <a:lnTo>
                    <a:pt x="1322616" y="335610"/>
                  </a:lnTo>
                  <a:lnTo>
                    <a:pt x="1348041" y="319405"/>
                  </a:lnTo>
                  <a:lnTo>
                    <a:pt x="1373479" y="374243"/>
                  </a:lnTo>
                  <a:lnTo>
                    <a:pt x="1398917" y="467347"/>
                  </a:lnTo>
                  <a:lnTo>
                    <a:pt x="1424355" y="557047"/>
                  </a:lnTo>
                  <a:lnTo>
                    <a:pt x="1449781" y="607593"/>
                  </a:lnTo>
                  <a:lnTo>
                    <a:pt x="1475219" y="600379"/>
                  </a:lnTo>
                  <a:lnTo>
                    <a:pt x="1500657" y="538010"/>
                  </a:lnTo>
                  <a:lnTo>
                    <a:pt x="1526082" y="441490"/>
                  </a:lnTo>
                  <a:lnTo>
                    <a:pt x="1551520" y="340639"/>
                  </a:lnTo>
                  <a:lnTo>
                    <a:pt x="1576959" y="263652"/>
                  </a:lnTo>
                  <a:lnTo>
                    <a:pt x="1602397" y="227634"/>
                  </a:lnTo>
                  <a:lnTo>
                    <a:pt x="1627822" y="234162"/>
                  </a:lnTo>
                  <a:lnTo>
                    <a:pt x="1653260" y="270764"/>
                  </a:lnTo>
                  <a:lnTo>
                    <a:pt x="1678698" y="316547"/>
                  </a:lnTo>
                  <a:lnTo>
                    <a:pt x="1704136" y="349872"/>
                  </a:lnTo>
                  <a:lnTo>
                    <a:pt x="1729562" y="355981"/>
                  </a:lnTo>
                  <a:lnTo>
                    <a:pt x="1755000" y="330898"/>
                  </a:lnTo>
                  <a:lnTo>
                    <a:pt x="1780438" y="281736"/>
                  </a:lnTo>
                  <a:lnTo>
                    <a:pt x="1805876" y="222694"/>
                  </a:lnTo>
                  <a:lnTo>
                    <a:pt x="1831301" y="170129"/>
                  </a:lnTo>
                  <a:lnTo>
                    <a:pt x="1856740" y="136283"/>
                  </a:lnTo>
                  <a:lnTo>
                    <a:pt x="1882178" y="126123"/>
                  </a:lnTo>
                  <a:lnTo>
                    <a:pt x="1907616" y="136144"/>
                  </a:lnTo>
                  <a:lnTo>
                    <a:pt x="1933041" y="156870"/>
                  </a:lnTo>
                  <a:lnTo>
                    <a:pt x="1958479" y="176390"/>
                  </a:lnTo>
                  <a:lnTo>
                    <a:pt x="1983917" y="184569"/>
                  </a:lnTo>
                  <a:lnTo>
                    <a:pt x="2009343" y="176695"/>
                  </a:lnTo>
                  <a:lnTo>
                    <a:pt x="2034781" y="153682"/>
                  </a:lnTo>
                  <a:lnTo>
                    <a:pt x="2060219" y="121577"/>
                  </a:lnTo>
                  <a:lnTo>
                    <a:pt x="2085657" y="89217"/>
                  </a:lnTo>
                  <a:lnTo>
                    <a:pt x="2111082" y="64223"/>
                  </a:lnTo>
                  <a:lnTo>
                    <a:pt x="2136521" y="51346"/>
                  </a:lnTo>
                  <a:lnTo>
                    <a:pt x="2161959" y="50736"/>
                  </a:lnTo>
                  <a:lnTo>
                    <a:pt x="2187397" y="58648"/>
                  </a:lnTo>
                  <a:lnTo>
                    <a:pt x="2212822" y="69024"/>
                  </a:lnTo>
                  <a:lnTo>
                    <a:pt x="2238260" y="75679"/>
                  </a:lnTo>
                  <a:lnTo>
                    <a:pt x="2263698" y="74841"/>
                  </a:lnTo>
                  <a:lnTo>
                    <a:pt x="2289136" y="65239"/>
                  </a:lnTo>
                  <a:lnTo>
                    <a:pt x="2314562" y="49123"/>
                  </a:lnTo>
                  <a:lnTo>
                    <a:pt x="2340000" y="30670"/>
                  </a:lnTo>
                  <a:lnTo>
                    <a:pt x="2365438" y="14427"/>
                  </a:lnTo>
                  <a:lnTo>
                    <a:pt x="2390863" y="3784"/>
                  </a:lnTo>
                  <a:lnTo>
                    <a:pt x="2416302" y="0"/>
                  </a:lnTo>
                  <a:lnTo>
                    <a:pt x="2441740" y="1981"/>
                  </a:lnTo>
                  <a:lnTo>
                    <a:pt x="2467178" y="6908"/>
                  </a:lnTo>
                  <a:lnTo>
                    <a:pt x="2492603" y="11442"/>
                  </a:lnTo>
                  <a:lnTo>
                    <a:pt x="2518041" y="12725"/>
                  </a:lnTo>
                  <a:lnTo>
                    <a:pt x="2543479" y="9448"/>
                  </a:lnTo>
                </a:path>
              </a:pathLst>
            </a:custGeom>
            <a:ln w="5060">
              <a:solidFill>
                <a:srgbClr val="7F00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432966" y="3655567"/>
              <a:ext cx="2543810" cy="1015365"/>
            </a:xfrm>
            <a:custGeom>
              <a:avLst/>
              <a:gdLst/>
              <a:ahLst/>
              <a:cxnLst/>
              <a:rect l="l" t="t" r="r" b="b"/>
              <a:pathLst>
                <a:path w="2543810" h="1015364">
                  <a:moveTo>
                    <a:pt x="0" y="901484"/>
                  </a:moveTo>
                  <a:lnTo>
                    <a:pt x="25438" y="941006"/>
                  </a:lnTo>
                  <a:lnTo>
                    <a:pt x="50876" y="986243"/>
                  </a:lnTo>
                  <a:lnTo>
                    <a:pt x="76301" y="1014920"/>
                  </a:lnTo>
                  <a:lnTo>
                    <a:pt x="101739" y="1008037"/>
                  </a:lnTo>
                  <a:lnTo>
                    <a:pt x="127177" y="957376"/>
                  </a:lnTo>
                  <a:lnTo>
                    <a:pt x="152603" y="869848"/>
                  </a:lnTo>
                  <a:lnTo>
                    <a:pt x="178041" y="767016"/>
                  </a:lnTo>
                  <a:lnTo>
                    <a:pt x="203479" y="678802"/>
                  </a:lnTo>
                  <a:lnTo>
                    <a:pt x="228917" y="633234"/>
                  </a:lnTo>
                  <a:lnTo>
                    <a:pt x="254342" y="646010"/>
                  </a:lnTo>
                  <a:lnTo>
                    <a:pt x="279781" y="712698"/>
                  </a:lnTo>
                  <a:lnTo>
                    <a:pt x="305219" y="808088"/>
                  </a:lnTo>
                  <a:lnTo>
                    <a:pt x="330657" y="892962"/>
                  </a:lnTo>
                  <a:lnTo>
                    <a:pt x="356082" y="926871"/>
                  </a:lnTo>
                  <a:lnTo>
                    <a:pt x="381520" y="883348"/>
                  </a:lnTo>
                  <a:lnTo>
                    <a:pt x="406958" y="761517"/>
                  </a:lnTo>
                  <a:lnTo>
                    <a:pt x="432396" y="591820"/>
                  </a:lnTo>
                  <a:lnTo>
                    <a:pt x="457822" y="448830"/>
                  </a:lnTo>
                  <a:lnTo>
                    <a:pt x="483260" y="377825"/>
                  </a:lnTo>
                  <a:lnTo>
                    <a:pt x="508698" y="387819"/>
                  </a:lnTo>
                  <a:lnTo>
                    <a:pt x="534123" y="459765"/>
                  </a:lnTo>
                  <a:lnTo>
                    <a:pt x="559562" y="556374"/>
                  </a:lnTo>
                  <a:lnTo>
                    <a:pt x="585000" y="636320"/>
                  </a:lnTo>
                  <a:lnTo>
                    <a:pt x="610438" y="668629"/>
                  </a:lnTo>
                  <a:lnTo>
                    <a:pt x="635863" y="641705"/>
                  </a:lnTo>
                  <a:lnTo>
                    <a:pt x="661301" y="564984"/>
                  </a:lnTo>
                  <a:lnTo>
                    <a:pt x="686739" y="463537"/>
                  </a:lnTo>
                  <a:lnTo>
                    <a:pt x="712177" y="367931"/>
                  </a:lnTo>
                  <a:lnTo>
                    <a:pt x="737603" y="303415"/>
                  </a:lnTo>
                  <a:lnTo>
                    <a:pt x="763041" y="282168"/>
                  </a:lnTo>
                  <a:lnTo>
                    <a:pt x="788479" y="300672"/>
                  </a:lnTo>
                  <a:lnTo>
                    <a:pt x="813917" y="342900"/>
                  </a:lnTo>
                  <a:lnTo>
                    <a:pt x="839343" y="386664"/>
                  </a:lnTo>
                  <a:lnTo>
                    <a:pt x="864781" y="412038"/>
                  </a:lnTo>
                  <a:lnTo>
                    <a:pt x="890219" y="407581"/>
                  </a:lnTo>
                  <a:lnTo>
                    <a:pt x="915644" y="373227"/>
                  </a:lnTo>
                  <a:lnTo>
                    <a:pt x="941082" y="319036"/>
                  </a:lnTo>
                  <a:lnTo>
                    <a:pt x="966520" y="260489"/>
                  </a:lnTo>
                  <a:lnTo>
                    <a:pt x="991958" y="213093"/>
                  </a:lnTo>
                  <a:lnTo>
                    <a:pt x="1017384" y="187058"/>
                  </a:lnTo>
                  <a:lnTo>
                    <a:pt x="1042822" y="184340"/>
                  </a:lnTo>
                  <a:lnTo>
                    <a:pt x="1068260" y="199199"/>
                  </a:lnTo>
                  <a:lnTo>
                    <a:pt x="1093698" y="220764"/>
                  </a:lnTo>
                  <a:lnTo>
                    <a:pt x="1119124" y="237413"/>
                  </a:lnTo>
                  <a:lnTo>
                    <a:pt x="1144562" y="240499"/>
                  </a:lnTo>
                  <a:lnTo>
                    <a:pt x="1170000" y="227152"/>
                  </a:lnTo>
                  <a:lnTo>
                    <a:pt x="1195438" y="200291"/>
                  </a:lnTo>
                  <a:lnTo>
                    <a:pt x="1220876" y="167068"/>
                  </a:lnTo>
                  <a:lnTo>
                    <a:pt x="1246301" y="136486"/>
                  </a:lnTo>
                  <a:lnTo>
                    <a:pt x="1271739" y="115214"/>
                  </a:lnTo>
                  <a:lnTo>
                    <a:pt x="1297178" y="106629"/>
                  </a:lnTo>
                  <a:lnTo>
                    <a:pt x="1322616" y="109423"/>
                  </a:lnTo>
                  <a:lnTo>
                    <a:pt x="1348041" y="118872"/>
                  </a:lnTo>
                  <a:lnTo>
                    <a:pt x="1373479" y="128600"/>
                  </a:lnTo>
                  <a:lnTo>
                    <a:pt x="1398917" y="133108"/>
                  </a:lnTo>
                  <a:lnTo>
                    <a:pt x="1424355" y="129260"/>
                  </a:lnTo>
                  <a:lnTo>
                    <a:pt x="1449781" y="117157"/>
                  </a:lnTo>
                  <a:lnTo>
                    <a:pt x="1475219" y="99733"/>
                  </a:lnTo>
                  <a:lnTo>
                    <a:pt x="1500657" y="81546"/>
                  </a:lnTo>
                  <a:lnTo>
                    <a:pt x="1526082" y="66878"/>
                  </a:lnTo>
                  <a:lnTo>
                    <a:pt x="1551520" y="58521"/>
                  </a:lnTo>
                  <a:lnTo>
                    <a:pt x="1576959" y="56870"/>
                  </a:lnTo>
                  <a:lnTo>
                    <a:pt x="1602397" y="60223"/>
                  </a:lnTo>
                  <a:lnTo>
                    <a:pt x="1627822" y="65366"/>
                  </a:lnTo>
                  <a:lnTo>
                    <a:pt x="1653260" y="69037"/>
                  </a:lnTo>
                  <a:lnTo>
                    <a:pt x="1678698" y="68872"/>
                  </a:lnTo>
                  <a:lnTo>
                    <a:pt x="1704136" y="64058"/>
                  </a:lnTo>
                  <a:lnTo>
                    <a:pt x="1729562" y="55613"/>
                  </a:lnTo>
                  <a:lnTo>
                    <a:pt x="1755000" y="45554"/>
                  </a:lnTo>
                  <a:lnTo>
                    <a:pt x="1780438" y="36385"/>
                  </a:lnTo>
                  <a:lnTo>
                    <a:pt x="1805876" y="30060"/>
                  </a:lnTo>
                  <a:lnTo>
                    <a:pt x="1831301" y="27368"/>
                  </a:lnTo>
                  <a:lnTo>
                    <a:pt x="1856740" y="27914"/>
                  </a:lnTo>
                  <a:lnTo>
                    <a:pt x="1882178" y="30314"/>
                  </a:lnTo>
                  <a:lnTo>
                    <a:pt x="1907616" y="32740"/>
                  </a:lnTo>
                  <a:lnTo>
                    <a:pt x="1933041" y="33616"/>
                  </a:lnTo>
                  <a:lnTo>
                    <a:pt x="1958479" y="32092"/>
                  </a:lnTo>
                  <a:lnTo>
                    <a:pt x="1983917" y="28321"/>
                  </a:lnTo>
                  <a:lnTo>
                    <a:pt x="2009343" y="23126"/>
                  </a:lnTo>
                  <a:lnTo>
                    <a:pt x="2034781" y="17780"/>
                  </a:lnTo>
                  <a:lnTo>
                    <a:pt x="2060219" y="13550"/>
                  </a:lnTo>
                  <a:lnTo>
                    <a:pt x="2085657" y="11099"/>
                  </a:lnTo>
                  <a:lnTo>
                    <a:pt x="2111082" y="10604"/>
                  </a:lnTo>
                  <a:lnTo>
                    <a:pt x="2136521" y="11506"/>
                  </a:lnTo>
                  <a:lnTo>
                    <a:pt x="2161959" y="12877"/>
                  </a:lnTo>
                  <a:lnTo>
                    <a:pt x="2187397" y="13779"/>
                  </a:lnTo>
                  <a:lnTo>
                    <a:pt x="2212822" y="13576"/>
                  </a:lnTo>
                  <a:lnTo>
                    <a:pt x="2238260" y="12065"/>
                  </a:lnTo>
                  <a:lnTo>
                    <a:pt x="2263698" y="9525"/>
                  </a:lnTo>
                  <a:lnTo>
                    <a:pt x="2289136" y="6616"/>
                  </a:lnTo>
                  <a:lnTo>
                    <a:pt x="2314562" y="4000"/>
                  </a:lnTo>
                  <a:lnTo>
                    <a:pt x="2340000" y="2209"/>
                  </a:lnTo>
                  <a:lnTo>
                    <a:pt x="2365438" y="1447"/>
                  </a:lnTo>
                  <a:lnTo>
                    <a:pt x="2390863" y="1612"/>
                  </a:lnTo>
                  <a:lnTo>
                    <a:pt x="2416302" y="2273"/>
                  </a:lnTo>
                  <a:lnTo>
                    <a:pt x="2441740" y="2921"/>
                  </a:lnTo>
                  <a:lnTo>
                    <a:pt x="2467178" y="3098"/>
                  </a:lnTo>
                  <a:lnTo>
                    <a:pt x="2492603" y="2616"/>
                  </a:lnTo>
                  <a:lnTo>
                    <a:pt x="2518041" y="1511"/>
                  </a:lnTo>
                  <a:lnTo>
                    <a:pt x="2543479" y="0"/>
                  </a:lnTo>
                </a:path>
              </a:pathLst>
            </a:custGeom>
            <a:ln w="5060">
              <a:solidFill>
                <a:srgbClr val="E5001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/>
          <p:cNvSpPr txBox="1"/>
          <p:nvPr/>
        </p:nvSpPr>
        <p:spPr>
          <a:xfrm>
            <a:off x="1060082" y="4973970"/>
            <a:ext cx="4380230" cy="30181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42265">
              <a:lnSpc>
                <a:spcPct val="100000"/>
              </a:lnSpc>
              <a:spcBef>
                <a:spcPts val="110"/>
              </a:spcBef>
              <a:tabLst>
                <a:tab pos="2885440" algn="l"/>
              </a:tabLst>
            </a:pPr>
            <a:r>
              <a:rPr dirty="0" sz="850">
                <a:latin typeface="Calibri"/>
                <a:cs typeface="Calibri"/>
              </a:rPr>
              <a:t>0	1</a:t>
            </a:r>
            <a:endParaRPr sz="850">
              <a:latin typeface="Calibri"/>
              <a:cs typeface="Calibri"/>
            </a:endParaRPr>
          </a:p>
          <a:p>
            <a:pPr algn="just" marL="19685" marR="29209" indent="-7620">
              <a:lnSpc>
                <a:spcPct val="114300"/>
              </a:lnSpc>
              <a:spcBef>
                <a:spcPts val="855"/>
              </a:spcBef>
            </a:pP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causes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activation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contract,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ultimately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becomes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see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position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wherever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choose.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tricks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endParaRPr sz="850">
              <a:latin typeface="Calibri"/>
              <a:cs typeface="Calibri"/>
            </a:endParaRPr>
          </a:p>
          <a:p>
            <a:pPr algn="just" marL="19685" marR="32384" indent="189230">
              <a:lnSpc>
                <a:spcPct val="114300"/>
              </a:lnSpc>
              <a:spcBef>
                <a:spcPts val="560"/>
              </a:spcBef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properties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satisfy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order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work?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assume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5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well-defined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85">
                <a:latin typeface="Cambria"/>
                <a:cs typeface="Cambria"/>
              </a:rPr>
              <a:t> </a:t>
            </a:r>
            <a:r>
              <a:rPr dirty="0" sz="850" spc="405">
                <a:latin typeface="Cambria"/>
                <a:cs typeface="Cambria"/>
              </a:rPr>
              <a:t>∞</a:t>
            </a:r>
            <a:r>
              <a:rPr dirty="0" sz="850" spc="13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→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spc="215">
                <a:latin typeface="Cambria"/>
                <a:cs typeface="Cambria"/>
              </a:rPr>
              <a:t>∞</a:t>
            </a:r>
            <a:r>
              <a:rPr dirty="0" sz="850" spc="215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limits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taken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assume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limits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weren’t,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graph!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satisfies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properties,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computation.</a:t>
            </a:r>
            <a:endParaRPr sz="850">
              <a:latin typeface="Calibri"/>
              <a:cs typeface="Calibri"/>
            </a:endParaRPr>
          </a:p>
          <a:p>
            <a:pPr marL="19685">
              <a:lnSpc>
                <a:spcPct val="100000"/>
              </a:lnSpc>
              <a:spcBef>
                <a:spcPts val="680"/>
              </a:spcBef>
            </a:pPr>
            <a:r>
              <a:rPr dirty="0" sz="1050" spc="40" b="1">
                <a:latin typeface="Calibri"/>
                <a:cs typeface="Calibri"/>
              </a:rPr>
              <a:t>Problems</a:t>
            </a:r>
            <a:endParaRPr sz="1050">
              <a:latin typeface="Calibri"/>
              <a:cs typeface="Calibri"/>
            </a:endParaRPr>
          </a:p>
          <a:p>
            <a:pPr algn="just" marL="335915" marR="5080" indent="-118745">
              <a:lnSpc>
                <a:spcPct val="114300"/>
              </a:lnSpc>
              <a:spcBef>
                <a:spcPts val="525"/>
              </a:spcBef>
              <a:buFont typeface="Cambria"/>
              <a:buChar char="•"/>
              <a:tabLst>
                <a:tab pos="335915" algn="l"/>
              </a:tabLst>
            </a:pP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rectified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unit.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satisfy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conditions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rectified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computation.</a:t>
            </a:r>
            <a:endParaRPr sz="850">
              <a:latin typeface="Calibri"/>
              <a:cs typeface="Calibri"/>
            </a:endParaRPr>
          </a:p>
          <a:p>
            <a:pPr algn="just" marL="335915" marR="5080" indent="-118745">
              <a:lnSpc>
                <a:spcPct val="114300"/>
              </a:lnSpc>
              <a:buFont typeface="Cambria"/>
              <a:buChar char="•"/>
              <a:tabLst>
                <a:tab pos="335915" algn="l"/>
              </a:tabLst>
            </a:pP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25">
                <a:latin typeface="Tahoma"/>
                <a:cs typeface="Tahoma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25">
                <a:latin typeface="Tahoma"/>
                <a:cs typeface="Tahoma"/>
              </a:rPr>
              <a:t> </a:t>
            </a:r>
            <a:r>
              <a:rPr dirty="0" sz="850" spc="25" i="1">
                <a:latin typeface="Calibri"/>
                <a:cs typeface="Calibri"/>
              </a:rPr>
              <a:t>z</a:t>
            </a:r>
            <a:r>
              <a:rPr dirty="0" sz="850" spc="25">
                <a:latin typeface="Calibri"/>
                <a:cs typeface="Calibri"/>
              </a:rPr>
              <a:t>. </a:t>
            </a:r>
            <a:r>
              <a:rPr dirty="0" sz="850">
                <a:latin typeface="Calibri"/>
                <a:cs typeface="Calibri"/>
              </a:rPr>
              <a:t>Explain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satisfy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conditions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universality.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Show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can’t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computation.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293519" y="3561387"/>
            <a:ext cx="863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4226725" y="3681819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1900E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4226725" y="3829075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7F0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4226725" y="3976319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5060">
            <a:solidFill>
              <a:srgbClr val="E5001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 txBox="1"/>
          <p:nvPr/>
        </p:nvSpPr>
        <p:spPr>
          <a:xfrm>
            <a:off x="4186263" y="3582880"/>
            <a:ext cx="1016000" cy="492759"/>
          </a:xfrm>
          <a:prstGeom prst="rect">
            <a:avLst/>
          </a:prstGeom>
          <a:ln w="5060">
            <a:solidFill>
              <a:srgbClr val="000000"/>
            </a:solidFill>
          </a:ln>
        </p:spPr>
        <p:txBody>
          <a:bodyPr wrap="square" lIns="0" tIns="22860" rIns="0" bIns="0" rtlCol="0" vert="horz">
            <a:spAutoFit/>
          </a:bodyPr>
          <a:lstStyle/>
          <a:p>
            <a:pPr marL="287020">
              <a:lnSpc>
                <a:spcPct val="100000"/>
              </a:lnSpc>
              <a:spcBef>
                <a:spcPts val="18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6,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5</a:t>
            </a:r>
            <a:endParaRPr sz="850">
              <a:latin typeface="Calibri"/>
              <a:cs typeface="Calibri"/>
            </a:endParaRPr>
          </a:p>
          <a:p>
            <a:pPr marL="287020">
              <a:lnSpc>
                <a:spcPct val="100000"/>
              </a:lnSpc>
              <a:spcBef>
                <a:spcPts val="14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6,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3</a:t>
            </a:r>
            <a:endParaRPr sz="850">
              <a:latin typeface="Calibri"/>
              <a:cs typeface="Calibri"/>
            </a:endParaRPr>
          </a:p>
          <a:p>
            <a:pPr marL="287020">
              <a:lnSpc>
                <a:spcPct val="100000"/>
              </a:lnSpc>
              <a:spcBef>
                <a:spcPts val="140"/>
              </a:spcBef>
            </a:pP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6,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1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5778788" y="2267988"/>
            <a:ext cx="344170" cy="472440"/>
            <a:chOff x="5778788" y="2267988"/>
            <a:chExt cx="344170" cy="472440"/>
          </a:xfrm>
        </p:grpSpPr>
        <p:sp>
          <p:nvSpPr>
            <p:cNvPr id="42" name="object 42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/>
          <p:cNvSpPr txBox="1"/>
          <p:nvPr/>
        </p:nvSpPr>
        <p:spPr>
          <a:xfrm>
            <a:off x="5876620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46295" cy="14668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148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850">
              <a:latin typeface="Arial MT"/>
              <a:cs typeface="Arial MT"/>
            </a:endParaRPr>
          </a:p>
          <a:p>
            <a:pPr marL="306070">
              <a:lnSpc>
                <a:spcPct val="100000"/>
              </a:lnSpc>
              <a:tabLst>
                <a:tab pos="633730" algn="l"/>
              </a:tabLst>
            </a:pPr>
            <a:r>
              <a:rPr dirty="0" sz="1050" spc="30" b="1">
                <a:latin typeface="Calibri"/>
                <a:cs typeface="Calibri"/>
              </a:rPr>
              <a:t>4.5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65" b="1">
                <a:latin typeface="Calibri"/>
                <a:cs typeface="Calibri"/>
              </a:rPr>
              <a:t>Fixing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60" b="1">
                <a:latin typeface="Calibri"/>
                <a:cs typeface="Calibri"/>
              </a:rPr>
              <a:t>up</a:t>
            </a:r>
            <a:r>
              <a:rPr dirty="0" sz="1050" spc="13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the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step</a:t>
            </a:r>
            <a:r>
              <a:rPr dirty="0" sz="1050" spc="130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functions</a:t>
            </a:r>
            <a:endParaRPr sz="1050">
              <a:latin typeface="Calibri"/>
              <a:cs typeface="Calibri"/>
            </a:endParaRPr>
          </a:p>
          <a:p>
            <a:pPr algn="just" marL="299720" marR="5080" indent="6350">
              <a:lnSpc>
                <a:spcPct val="114300"/>
              </a:lnSpc>
              <a:spcBef>
                <a:spcPts val="1190"/>
              </a:spcBef>
            </a:pP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assuming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exactly.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That’s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narrow</a:t>
            </a:r>
            <a:r>
              <a:rPr dirty="0" sz="850" spc="20">
                <a:latin typeface="Calibri"/>
                <a:cs typeface="Calibri"/>
              </a:rPr>
              <a:t> window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failure,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illustrated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following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graph,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behaves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very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16010" y="1984629"/>
            <a:ext cx="1728038" cy="157093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75452" y="3688506"/>
            <a:ext cx="4430395" cy="1858645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algn="just" marL="44450">
              <a:lnSpc>
                <a:spcPct val="100000"/>
              </a:lnSpc>
              <a:spcBef>
                <a:spcPts val="330"/>
              </a:spcBef>
            </a:pP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windows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failure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fail.</a:t>
            </a:r>
            <a:endParaRPr sz="850">
              <a:latin typeface="Calibri"/>
              <a:cs typeface="Calibri"/>
            </a:endParaRPr>
          </a:p>
          <a:p>
            <a:pPr algn="just" marL="38100" marR="30480" indent="196215">
              <a:lnSpc>
                <a:spcPct val="114300"/>
              </a:lnSpc>
              <a:spcBef>
                <a:spcPts val="90"/>
              </a:spcBef>
            </a:pPr>
            <a:r>
              <a:rPr dirty="0" sz="850" spc="10">
                <a:latin typeface="Calibri"/>
                <a:cs typeface="Calibri"/>
              </a:rPr>
              <a:t>Now,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terrible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failure.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enough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windows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failure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like.</a:t>
            </a:r>
            <a:r>
              <a:rPr dirty="0" sz="850" spc="17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Certainly,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window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narrower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narrower,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indeed,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eye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see.</a:t>
            </a:r>
            <a:r>
              <a:rPr dirty="0" sz="850" spc="50">
                <a:latin typeface="Calibri"/>
                <a:cs typeface="Calibri"/>
              </a:rPr>
              <a:t> 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worry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problem.</a:t>
            </a:r>
            <a:endParaRPr sz="850">
              <a:latin typeface="Calibri"/>
              <a:cs typeface="Calibri"/>
            </a:endParaRPr>
          </a:p>
          <a:p>
            <a:pPr algn="just" marL="234315">
              <a:lnSpc>
                <a:spcPct val="100000"/>
              </a:lnSpc>
              <a:spcBef>
                <a:spcPts val="235"/>
              </a:spcBef>
            </a:pPr>
            <a:r>
              <a:rPr dirty="0" sz="850" spc="10">
                <a:latin typeface="Calibri"/>
                <a:cs typeface="Calibri"/>
              </a:rPr>
              <a:t>Nonetheless,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nice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addressing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problem.</a:t>
            </a:r>
            <a:endParaRPr sz="850">
              <a:latin typeface="Calibri"/>
              <a:cs typeface="Calibri"/>
            </a:endParaRPr>
          </a:p>
          <a:p>
            <a:pPr algn="just" marL="44450" marR="57785" indent="189230">
              <a:lnSpc>
                <a:spcPct val="114300"/>
              </a:lnSpc>
              <a:spcBef>
                <a:spcPts val="85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fix.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fix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address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outputs.</a:t>
            </a:r>
            <a:endParaRPr sz="850">
              <a:latin typeface="Calibri"/>
              <a:cs typeface="Calibri"/>
            </a:endParaRPr>
          </a:p>
          <a:p>
            <a:pPr algn="just" marL="44450" marR="57785" indent="189230">
              <a:lnSpc>
                <a:spcPct val="114300"/>
              </a:lnSpc>
              <a:spcBef>
                <a:spcPts val="90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5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baseline="35353" sz="825" spc="187">
                <a:latin typeface="Cambria"/>
                <a:cs typeface="Cambria"/>
              </a:rPr>
              <a:t>−</a:t>
            </a:r>
            <a:r>
              <a:rPr dirty="0" baseline="35353" sz="825" spc="187">
                <a:latin typeface="Calibri"/>
                <a:cs typeface="Calibri"/>
              </a:rPr>
              <a:t>1</a:t>
            </a:r>
            <a:r>
              <a:rPr dirty="0" baseline="35353" sz="825" spc="179">
                <a:latin typeface="Calibri"/>
                <a:cs typeface="Calibri"/>
              </a:rPr>
              <a:t> </a:t>
            </a:r>
            <a:r>
              <a:rPr dirty="0" sz="850" spc="-285">
                <a:latin typeface="Cambria"/>
                <a:cs typeface="Cambria"/>
              </a:rPr>
              <a:t>◦</a:t>
            </a:r>
            <a:r>
              <a:rPr dirty="0" sz="850" spc="12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40">
                <a:latin typeface="Tahoma"/>
                <a:cs typeface="Tahoma"/>
              </a:rPr>
              <a:t>(</a:t>
            </a:r>
            <a:r>
              <a:rPr dirty="0" sz="850" spc="40" i="1">
                <a:latin typeface="Calibri"/>
                <a:cs typeface="Calibri"/>
              </a:rPr>
              <a:t>x</a:t>
            </a:r>
            <a:r>
              <a:rPr dirty="0" sz="850" spc="40">
                <a:latin typeface="Tahoma"/>
                <a:cs typeface="Tahoma"/>
              </a:rPr>
              <a:t>)</a:t>
            </a:r>
            <a:r>
              <a:rPr dirty="0" sz="850" spc="4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83982" y="5694921"/>
            <a:ext cx="2592095" cy="2287143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-2530" y="2267988"/>
            <a:ext cx="344170" cy="472440"/>
            <a:chOff x="-2530" y="2267988"/>
            <a:chExt cx="344170" cy="472440"/>
          </a:xfrm>
        </p:grpSpPr>
        <p:sp>
          <p:nvSpPr>
            <p:cNvPr id="7" name="object 7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6571"/>
                  </a:lnTo>
                  <a:lnTo>
                    <a:pt x="2520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0" y="466571"/>
                  </a:moveTo>
                  <a:lnTo>
                    <a:pt x="2520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25831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98" y="368721"/>
            <a:ext cx="4613275" cy="8667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677795">
              <a:lnSpc>
                <a:spcPts val="525"/>
              </a:lnSpc>
              <a:spcBef>
                <a:spcPts val="110"/>
              </a:spcBef>
              <a:tabLst>
                <a:tab pos="4417695" algn="l"/>
              </a:tabLst>
            </a:pPr>
            <a:r>
              <a:rPr dirty="0" sz="850">
                <a:latin typeface="Calibri"/>
                <a:cs typeface="Calibri"/>
              </a:rPr>
              <a:t>4.5.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Fixing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step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149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12700" marR="27241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sequence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bump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76017" y="1340586"/>
            <a:ext cx="1727974" cy="152468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91096" y="2976683"/>
            <a:ext cx="4500245" cy="914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88900" marR="83185" indent="-571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Again,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exaggerated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windows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failure,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pretty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clear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bump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reasonable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approximation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baseline="35353" sz="825" spc="187">
                <a:latin typeface="Cambria"/>
                <a:cs typeface="Cambria"/>
              </a:rPr>
              <a:t>−</a:t>
            </a:r>
            <a:r>
              <a:rPr dirty="0" baseline="35353" sz="825" spc="187">
                <a:latin typeface="Calibri"/>
                <a:cs typeface="Calibri"/>
              </a:rPr>
              <a:t>1</a:t>
            </a:r>
            <a:r>
              <a:rPr dirty="0" baseline="35353" sz="825" spc="254">
                <a:latin typeface="Calibri"/>
                <a:cs typeface="Calibri"/>
              </a:rPr>
              <a:t> </a:t>
            </a:r>
            <a:r>
              <a:rPr dirty="0" sz="850" spc="-285">
                <a:latin typeface="Cambria"/>
                <a:cs typeface="Cambria"/>
              </a:rPr>
              <a:t>◦</a:t>
            </a:r>
            <a:r>
              <a:rPr dirty="0" sz="850" spc="18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 i="1">
                <a:latin typeface="Calibri"/>
                <a:cs typeface="Calibri"/>
              </a:rPr>
              <a:t>x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sz="850" spc="55">
                <a:latin typeface="Calibri"/>
                <a:cs typeface="Calibri"/>
              </a:rPr>
              <a:t>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except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windows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failure.</a:t>
            </a:r>
            <a:endParaRPr sz="850">
              <a:latin typeface="Calibri"/>
              <a:cs typeface="Calibri"/>
            </a:endParaRPr>
          </a:p>
          <a:p>
            <a:pPr algn="just" marL="82550" marR="55880" indent="195580">
              <a:lnSpc>
                <a:spcPct val="114300"/>
              </a:lnSpc>
              <a:spcBef>
                <a:spcPts val="5"/>
              </a:spcBef>
            </a:pPr>
            <a:r>
              <a:rPr dirty="0" sz="850" spc="25">
                <a:latin typeface="Calibri"/>
                <a:cs typeface="Calibri"/>
              </a:rPr>
              <a:t>Suppose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instead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approximation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described,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hidden</a:t>
            </a:r>
            <a:r>
              <a:rPr dirty="0" sz="850" spc="10">
                <a:latin typeface="Calibri"/>
                <a:cs typeface="Calibri"/>
              </a:rPr>
              <a:t> neurons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compute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approximation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half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our</a:t>
            </a:r>
            <a:r>
              <a:rPr dirty="0" sz="850" spc="25">
                <a:latin typeface="Calibri"/>
                <a:cs typeface="Calibri"/>
              </a:rPr>
              <a:t> original </a:t>
            </a:r>
            <a:r>
              <a:rPr dirty="0" sz="850" spc="20">
                <a:latin typeface="Calibri"/>
                <a:cs typeface="Calibri"/>
              </a:rPr>
              <a:t>goal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function,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i.e.,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baseline="35353" sz="825" spc="187">
                <a:latin typeface="Cambria"/>
                <a:cs typeface="Cambria"/>
              </a:rPr>
              <a:t>−</a:t>
            </a:r>
            <a:r>
              <a:rPr dirty="0" baseline="35353" sz="825" spc="187">
                <a:latin typeface="Calibri"/>
                <a:cs typeface="Calibri"/>
              </a:rPr>
              <a:t>1</a:t>
            </a:r>
            <a:r>
              <a:rPr dirty="0" baseline="35353" sz="825" spc="60">
                <a:latin typeface="Calibri"/>
                <a:cs typeface="Calibri"/>
              </a:rPr>
              <a:t> </a:t>
            </a:r>
            <a:r>
              <a:rPr dirty="0" sz="850" spc="-285">
                <a:latin typeface="Cambria"/>
                <a:cs typeface="Cambria"/>
              </a:rPr>
              <a:t>◦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-15" i="1">
                <a:latin typeface="Calibri"/>
                <a:cs typeface="Calibri"/>
              </a:rPr>
              <a:t>f</a:t>
            </a:r>
            <a:r>
              <a:rPr dirty="0" sz="850" spc="10" i="1">
                <a:latin typeface="Calibri"/>
                <a:cs typeface="Calibri"/>
              </a:rPr>
              <a:t> </a:t>
            </a:r>
            <a:r>
              <a:rPr dirty="0" sz="850" spc="75">
                <a:latin typeface="Tahoma"/>
                <a:cs typeface="Tahoma"/>
              </a:rPr>
              <a:t>(</a:t>
            </a:r>
            <a:r>
              <a:rPr dirty="0" sz="850" spc="75" i="1">
                <a:latin typeface="Calibri"/>
                <a:cs typeface="Calibri"/>
              </a:rPr>
              <a:t>x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75" i="1">
                <a:latin typeface="Times New Roman"/>
                <a:cs typeface="Times New Roman"/>
              </a:rPr>
              <a:t>/</a:t>
            </a:r>
            <a:r>
              <a:rPr dirty="0" sz="850" spc="75">
                <a:latin typeface="Calibri"/>
                <a:cs typeface="Calibri"/>
              </a:rPr>
              <a:t>2.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course,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looks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like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scaled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down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version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last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graph: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76017" y="3996054"/>
            <a:ext cx="1727974" cy="1524685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023952" y="5632179"/>
            <a:ext cx="4427220" cy="32194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240"/>
              </a:spcBef>
            </a:pP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another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baseline="35353" sz="825" spc="187">
                <a:latin typeface="Cambria"/>
                <a:cs typeface="Cambria"/>
              </a:rPr>
              <a:t>−</a:t>
            </a:r>
            <a:r>
              <a:rPr dirty="0" baseline="35353" sz="825" spc="187">
                <a:latin typeface="Calibri"/>
                <a:cs typeface="Calibri"/>
              </a:rPr>
              <a:t>1</a:t>
            </a:r>
            <a:r>
              <a:rPr dirty="0" baseline="35353" sz="825" spc="150">
                <a:latin typeface="Calibri"/>
                <a:cs typeface="Calibri"/>
              </a:rPr>
              <a:t> </a:t>
            </a:r>
            <a:r>
              <a:rPr dirty="0" sz="850" spc="-335">
                <a:latin typeface="Cambria"/>
                <a:cs typeface="Cambria"/>
              </a:rPr>
              <a:t>◦</a:t>
            </a:r>
            <a:endParaRPr sz="850">
              <a:latin typeface="Cambria"/>
              <a:cs typeface="Cambria"/>
            </a:endParaRPr>
          </a:p>
          <a:p>
            <a:pPr marL="69215">
              <a:lnSpc>
                <a:spcPct val="100000"/>
              </a:lnSpc>
              <a:spcBef>
                <a:spcPts val="150"/>
              </a:spcBef>
            </a:pP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75">
                <a:latin typeface="Tahoma"/>
                <a:cs typeface="Tahoma"/>
              </a:rPr>
              <a:t>(</a:t>
            </a:r>
            <a:r>
              <a:rPr dirty="0" sz="850" spc="75" i="1">
                <a:latin typeface="Calibri"/>
                <a:cs typeface="Calibri"/>
              </a:rPr>
              <a:t>x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75" i="1">
                <a:latin typeface="Times New Roman"/>
                <a:cs typeface="Times New Roman"/>
              </a:rPr>
              <a:t>/</a:t>
            </a:r>
            <a:r>
              <a:rPr dirty="0" sz="850" spc="75">
                <a:latin typeface="Calibri"/>
                <a:cs typeface="Calibri"/>
              </a:rPr>
              <a:t>2,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bumps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shifted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half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width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bump: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376017" y="6059042"/>
            <a:ext cx="1727974" cy="1524685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1041896" y="7695138"/>
            <a:ext cx="442277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approximations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baseline="35353" sz="825" spc="187">
                <a:latin typeface="Cambria"/>
                <a:cs typeface="Cambria"/>
              </a:rPr>
              <a:t>−</a:t>
            </a:r>
            <a:r>
              <a:rPr dirty="0" baseline="35353" sz="825" spc="187">
                <a:latin typeface="Calibri"/>
                <a:cs typeface="Calibri"/>
              </a:rPr>
              <a:t>1</a:t>
            </a:r>
            <a:r>
              <a:rPr dirty="0" baseline="35353" sz="825" spc="187">
                <a:latin typeface="Calibri"/>
                <a:cs typeface="Calibri"/>
              </a:rPr>
              <a:t> </a:t>
            </a:r>
            <a:r>
              <a:rPr dirty="0" sz="850" spc="-285">
                <a:latin typeface="Cambria"/>
                <a:cs typeface="Cambria"/>
              </a:rPr>
              <a:t>◦</a:t>
            </a:r>
            <a:r>
              <a:rPr dirty="0" sz="850" spc="16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75">
                <a:latin typeface="Tahoma"/>
                <a:cs typeface="Tahoma"/>
              </a:rPr>
              <a:t>(</a:t>
            </a:r>
            <a:r>
              <a:rPr dirty="0" sz="850" spc="75" i="1">
                <a:latin typeface="Calibri"/>
                <a:cs typeface="Calibri"/>
              </a:rPr>
              <a:t>x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75" i="1">
                <a:latin typeface="Times New Roman"/>
                <a:cs typeface="Times New Roman"/>
              </a:rPr>
              <a:t>/</a:t>
            </a:r>
            <a:r>
              <a:rPr dirty="0" sz="850" spc="75">
                <a:latin typeface="Calibri"/>
                <a:cs typeface="Calibri"/>
              </a:rPr>
              <a:t>2.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approxi-</a:t>
            </a:r>
            <a:r>
              <a:rPr dirty="0" sz="850">
                <a:latin typeface="Calibri"/>
                <a:cs typeface="Calibri"/>
              </a:rPr>
              <a:t>mations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overall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approximation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baseline="35353" sz="825" spc="187">
                <a:latin typeface="Cambria"/>
                <a:cs typeface="Cambria"/>
              </a:rPr>
              <a:t>−</a:t>
            </a:r>
            <a:r>
              <a:rPr dirty="0" baseline="35353" sz="825" spc="187">
                <a:latin typeface="Calibri"/>
                <a:cs typeface="Calibri"/>
              </a:rPr>
              <a:t>1</a:t>
            </a:r>
            <a:r>
              <a:rPr dirty="0" baseline="35353" sz="825" spc="284">
                <a:latin typeface="Calibri"/>
                <a:cs typeface="Calibri"/>
              </a:rPr>
              <a:t> </a:t>
            </a:r>
            <a:r>
              <a:rPr dirty="0" sz="850" spc="-285">
                <a:latin typeface="Cambria"/>
                <a:cs typeface="Cambria"/>
              </a:rPr>
              <a:t>◦</a:t>
            </a:r>
            <a:r>
              <a:rPr dirty="0" sz="850" spc="225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(</a:t>
            </a:r>
            <a:r>
              <a:rPr dirty="0" sz="850" spc="60" i="1">
                <a:latin typeface="Calibri"/>
                <a:cs typeface="Calibri"/>
              </a:rPr>
              <a:t>x</a:t>
            </a:r>
            <a:r>
              <a:rPr dirty="0" sz="850" spc="60">
                <a:latin typeface="Tahoma"/>
                <a:cs typeface="Tahoma"/>
              </a:rPr>
              <a:t>)</a:t>
            </a:r>
            <a:r>
              <a:rPr dirty="0" sz="850" spc="60">
                <a:latin typeface="Calibri"/>
                <a:cs typeface="Calibri"/>
              </a:rPr>
              <a:t>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overall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approximation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5778788" y="2267988"/>
            <a:ext cx="344170" cy="472440"/>
            <a:chOff x="5778788" y="2267988"/>
            <a:chExt cx="344170" cy="472440"/>
          </a:xfrm>
        </p:grpSpPr>
        <p:sp>
          <p:nvSpPr>
            <p:cNvPr id="10" name="object 10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781318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89" h="467360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5084"/>
                  </a:lnTo>
                  <a:lnTo>
                    <a:pt x="5657" y="423109"/>
                  </a:lnTo>
                  <a:lnTo>
                    <a:pt x="21086" y="445993"/>
                  </a:lnTo>
                  <a:lnTo>
                    <a:pt x="43971" y="461422"/>
                  </a:lnTo>
                  <a:lnTo>
                    <a:pt x="71996" y="467080"/>
                  </a:lnTo>
                  <a:lnTo>
                    <a:pt x="336156" y="467080"/>
                  </a:lnTo>
                  <a:lnTo>
                    <a:pt x="338683" y="466570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5876620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8685" cy="1607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150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r" marL="331470" marR="431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failures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windows.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before.</a:t>
            </a:r>
            <a:r>
              <a:rPr dirty="0" sz="850" spc="38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The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failure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window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failure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window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approximation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roughly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windows.</a:t>
            </a:r>
            <a:endParaRPr sz="850">
              <a:latin typeface="Calibri"/>
              <a:cs typeface="Calibri"/>
            </a:endParaRPr>
          </a:p>
          <a:p>
            <a:pPr algn="just" marL="325120" marR="55244" indent="196215">
              <a:lnSpc>
                <a:spcPct val="114300"/>
              </a:lnSpc>
            </a:pPr>
            <a:r>
              <a:rPr dirty="0" sz="850" spc="-30">
                <a:latin typeface="Calibri"/>
                <a:cs typeface="Calibri"/>
              </a:rPr>
              <a:t>We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could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even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better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adding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up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large </a:t>
            </a:r>
            <a:r>
              <a:rPr dirty="0" sz="850">
                <a:latin typeface="Calibri"/>
                <a:cs typeface="Calibri"/>
              </a:rPr>
              <a:t>number,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M</a:t>
            </a:r>
            <a:r>
              <a:rPr dirty="0" sz="850" spc="-10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overlapping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approximations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25" i="1">
                <a:latin typeface="Times New Roman"/>
                <a:cs typeface="Times New Roman"/>
              </a:rPr>
              <a:t>σ</a:t>
            </a:r>
            <a:r>
              <a:rPr dirty="0" baseline="35353" sz="825" spc="187">
                <a:latin typeface="Cambria"/>
                <a:cs typeface="Cambria"/>
              </a:rPr>
              <a:t>−</a:t>
            </a:r>
            <a:r>
              <a:rPr dirty="0" baseline="35353" sz="825" spc="187">
                <a:latin typeface="Calibri"/>
                <a:cs typeface="Calibri"/>
              </a:rPr>
              <a:t>1</a:t>
            </a:r>
            <a:r>
              <a:rPr dirty="0" baseline="35353" sz="825" spc="127">
                <a:latin typeface="Calibri"/>
                <a:cs typeface="Calibri"/>
              </a:rPr>
              <a:t> </a:t>
            </a:r>
            <a:r>
              <a:rPr dirty="0" sz="850" spc="-285">
                <a:latin typeface="Cambria"/>
                <a:cs typeface="Cambria"/>
              </a:rPr>
              <a:t>◦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spc="-15" i="1">
                <a:latin typeface="Calibri"/>
                <a:cs typeface="Calibri"/>
              </a:rPr>
              <a:t>f</a:t>
            </a:r>
            <a:r>
              <a:rPr dirty="0" sz="850" spc="10" i="1">
                <a:latin typeface="Calibri"/>
                <a:cs typeface="Calibri"/>
              </a:rPr>
              <a:t> 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x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85" i="1">
                <a:latin typeface="Times New Roman"/>
                <a:cs typeface="Times New Roman"/>
              </a:rPr>
              <a:t>/</a:t>
            </a:r>
            <a:r>
              <a:rPr dirty="0" sz="850" spc="85" i="1">
                <a:latin typeface="Calibri"/>
                <a:cs typeface="Calibri"/>
              </a:rPr>
              <a:t>M</a:t>
            </a:r>
            <a:r>
              <a:rPr dirty="0" sz="850" spc="-105" i="1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Provided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windows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failure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narrow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enough,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point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will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be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window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failure.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provided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we’re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using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enough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number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M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overlapping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approximations,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result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will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excellent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overall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approximation.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01" y="2179909"/>
            <a:ext cx="71183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50" b="1">
                <a:latin typeface="Calibri"/>
                <a:cs typeface="Calibri"/>
              </a:rPr>
              <a:t>Conclusion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2057" y="2469763"/>
            <a:ext cx="4378325" cy="3874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780" marR="2667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certainly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prescription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networks!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proofs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NAND </a:t>
            </a:r>
            <a:r>
              <a:rPr dirty="0" sz="850">
                <a:latin typeface="Calibri"/>
                <a:cs typeface="Calibri"/>
              </a:rPr>
              <a:t>gates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focused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construction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clear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optimizing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construction.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instructive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exercise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construction.</a:t>
            </a:r>
            <a:endParaRPr sz="850">
              <a:latin typeface="Calibri"/>
              <a:cs typeface="Calibri"/>
            </a:endParaRPr>
          </a:p>
          <a:p>
            <a:pPr algn="just" marL="17780" marR="32384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Although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useful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constructing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important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because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table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computable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“yes”.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computable,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endParaRPr sz="850">
              <a:latin typeface="Calibri"/>
              <a:cs typeface="Calibri"/>
            </a:endParaRPr>
          </a:p>
          <a:p>
            <a:pPr algn="just" marL="17780" marR="32384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construction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arbitrary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Furthermore,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discussed,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wonder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interested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i.e.,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Can’t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replace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those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shallow,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networks?</a:t>
            </a:r>
            <a:endParaRPr sz="850">
              <a:latin typeface="Calibri"/>
              <a:cs typeface="Calibri"/>
            </a:endParaRPr>
          </a:p>
          <a:p>
            <a:pPr algn="just" marL="12700" marR="5080" indent="19494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principle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r>
              <a:rPr dirty="0" sz="850" spc="20">
                <a:latin typeface="Calibri"/>
                <a:cs typeface="Calibri"/>
              </a:rPr>
              <a:t> 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argued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Chapter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hierarchical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structure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them</a:t>
            </a:r>
            <a:r>
              <a:rPr dirty="0" sz="850" spc="20">
                <a:latin typeface="Calibri"/>
                <a:cs typeface="Calibri"/>
              </a:rPr>
              <a:t> particularly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adapted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hierarchies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knowledge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useful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real-world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concretely,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attacking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</a:t>
            </a:r>
            <a:r>
              <a:rPr dirty="0" sz="850" spc="20">
                <a:latin typeface="Calibri"/>
                <a:cs typeface="Calibri"/>
              </a:rPr>
              <a:t> recognition,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system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individual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pixels,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also</a:t>
            </a:r>
            <a:r>
              <a:rPr dirty="0" sz="850" spc="20">
                <a:latin typeface="Calibri"/>
                <a:cs typeface="Calibri"/>
              </a:rPr>
              <a:t> increasingly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complex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concepts: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edges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geometric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shapes,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multi-object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scenes.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suggesting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job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shallow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hierarchies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knowledge.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up: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universality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tells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function;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empirical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adapted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useful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real-world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20001" y="7553162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81901" y="7568523"/>
            <a:ext cx="4419600" cy="44577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just" marL="38100" marR="30480" indent="12763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15">
                <a:latin typeface="Calibri"/>
                <a:cs typeface="Calibri"/>
              </a:rPr>
              <a:t>7</a:t>
            </a:r>
            <a:r>
              <a:rPr dirty="0" sz="750" spc="10">
                <a:latin typeface="Calibri"/>
                <a:cs typeface="Calibri"/>
              </a:rPr>
              <a:t>Chapter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acknowledgments:</a:t>
            </a:r>
            <a:r>
              <a:rPr dirty="0" sz="750" spc="2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Thanks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2"/>
              </a:rPr>
              <a:t>Jen</a:t>
            </a:r>
            <a:r>
              <a:rPr dirty="0" sz="750" spc="130">
                <a:latin typeface="Calibri"/>
                <a:cs typeface="Calibri"/>
                <a:hlinkClick r:id="rId2"/>
              </a:rPr>
              <a:t> </a:t>
            </a:r>
            <a:r>
              <a:rPr dirty="0" sz="750" spc="10">
                <a:latin typeface="Calibri"/>
                <a:cs typeface="Calibri"/>
                <a:hlinkClick r:id="rId2"/>
              </a:rPr>
              <a:t>Dodd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Chris</a:t>
            </a:r>
            <a:r>
              <a:rPr dirty="0" sz="750" spc="13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Olah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many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discussions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about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univer-</a:t>
            </a:r>
            <a:r>
              <a:rPr dirty="0" sz="750" spc="10">
                <a:latin typeface="Calibri"/>
                <a:cs typeface="Calibri"/>
              </a:rPr>
              <a:t>sality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neural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networks.</a:t>
            </a:r>
            <a:r>
              <a:rPr dirty="0" sz="750" spc="2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My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thanks,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particular,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Chris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suggesting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lookup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table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to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prove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universality.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interactive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visual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form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chapter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inspired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work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people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such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as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  <a:hlinkClick r:id="rId4"/>
              </a:rPr>
              <a:t>Mike</a:t>
            </a:r>
            <a:r>
              <a:rPr dirty="0" sz="750" spc="160">
                <a:latin typeface="Calibri"/>
                <a:cs typeface="Calibri"/>
                <a:hlinkClick r:id="rId4"/>
              </a:rPr>
              <a:t> </a:t>
            </a:r>
            <a:r>
              <a:rPr dirty="0" sz="750">
                <a:latin typeface="Calibri"/>
                <a:cs typeface="Calibri"/>
                <a:hlinkClick r:id="rId4"/>
              </a:rPr>
              <a:t>Bostock</a:t>
            </a:r>
            <a:r>
              <a:rPr dirty="0" sz="750">
                <a:latin typeface="Calibri"/>
                <a:cs typeface="Calibri"/>
              </a:rPr>
              <a:t>,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  <a:hlinkClick r:id="rId5"/>
              </a:rPr>
              <a:t>Amit</a:t>
            </a:r>
            <a:r>
              <a:rPr dirty="0" sz="750" spc="165">
                <a:latin typeface="Calibri"/>
                <a:cs typeface="Calibri"/>
                <a:hlinkClick r:id="rId5"/>
              </a:rPr>
              <a:t> </a:t>
            </a:r>
            <a:r>
              <a:rPr dirty="0" sz="750">
                <a:latin typeface="Calibri"/>
                <a:cs typeface="Calibri"/>
                <a:hlinkClick r:id="rId5"/>
              </a:rPr>
              <a:t>Patel</a:t>
            </a:r>
            <a:r>
              <a:rPr dirty="0" sz="750">
                <a:latin typeface="Calibri"/>
                <a:cs typeface="Calibri"/>
              </a:rPr>
              <a:t>,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  <a:hlinkClick r:id="rId6"/>
              </a:rPr>
              <a:t>Bret</a:t>
            </a:r>
            <a:r>
              <a:rPr dirty="0" sz="750" spc="165">
                <a:latin typeface="Calibri"/>
                <a:cs typeface="Calibri"/>
                <a:hlinkClick r:id="rId6"/>
              </a:rPr>
              <a:t> </a:t>
            </a:r>
            <a:r>
              <a:rPr dirty="0" sz="750">
                <a:latin typeface="Calibri"/>
                <a:cs typeface="Calibri"/>
                <a:hlinkClick r:id="rId6"/>
              </a:rPr>
              <a:t>Victor</a:t>
            </a:r>
            <a:r>
              <a:rPr dirty="0" sz="750">
                <a:latin typeface="Calibri"/>
                <a:cs typeface="Calibri"/>
              </a:rPr>
              <a:t>,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  <a:hlinkClick r:id="rId7"/>
              </a:rPr>
              <a:t>Steven</a:t>
            </a:r>
            <a:r>
              <a:rPr dirty="0" sz="750" spc="165">
                <a:latin typeface="Calibri"/>
                <a:cs typeface="Calibri"/>
                <a:hlinkClick r:id="rId7"/>
              </a:rPr>
              <a:t> </a:t>
            </a:r>
            <a:r>
              <a:rPr dirty="0" sz="750" spc="-10">
                <a:latin typeface="Calibri"/>
                <a:cs typeface="Calibri"/>
                <a:hlinkClick r:id="rId7"/>
              </a:rPr>
              <a:t>Wittens</a:t>
            </a:r>
            <a:r>
              <a:rPr dirty="0" sz="750" spc="-10">
                <a:latin typeface="Calibri"/>
                <a:cs typeface="Calibri"/>
              </a:rPr>
              <a:t>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-2530" y="2267988"/>
            <a:ext cx="344170" cy="472440"/>
            <a:chOff x="-2530" y="2267988"/>
            <a:chExt cx="344170" cy="472440"/>
          </a:xfrm>
        </p:grpSpPr>
        <p:sp>
          <p:nvSpPr>
            <p:cNvPr id="8" name="object 8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6571"/>
                  </a:lnTo>
                  <a:lnTo>
                    <a:pt x="2520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0" y="2270519"/>
              <a:ext cx="339090" cy="467359"/>
            </a:xfrm>
            <a:custGeom>
              <a:avLst/>
              <a:gdLst/>
              <a:ahLst/>
              <a:cxnLst/>
              <a:rect l="l" t="t" r="r" b="b"/>
              <a:pathLst>
                <a:path w="339090" h="467360">
                  <a:moveTo>
                    <a:pt x="0" y="466571"/>
                  </a:moveTo>
                  <a:lnTo>
                    <a:pt x="2520" y="467080"/>
                  </a:lnTo>
                  <a:lnTo>
                    <a:pt x="266679" y="467080"/>
                  </a:lnTo>
                  <a:lnTo>
                    <a:pt x="294707" y="461422"/>
                  </a:lnTo>
                  <a:lnTo>
                    <a:pt x="317594" y="445993"/>
                  </a:lnTo>
                  <a:lnTo>
                    <a:pt x="333025" y="423109"/>
                  </a:lnTo>
                  <a:lnTo>
                    <a:pt x="338683" y="395084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25831" y="2255992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4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59704" y="368724"/>
            <a:ext cx="32131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5095">
              <a:lnSpc>
                <a:spcPts val="525"/>
              </a:lnSpc>
              <a:spcBef>
                <a:spcPts val="110"/>
              </a:spcBef>
            </a:pPr>
            <a:r>
              <a:rPr dirty="0" sz="850" spc="25">
                <a:latin typeface="Calibri"/>
                <a:cs typeface="Calibri"/>
              </a:rPr>
              <a:t>151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xfrm>
            <a:off x="3970820" y="817575"/>
            <a:ext cx="1428750" cy="292862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-1891" sz="17625" spc="-8385">
                <a:solidFill>
                  <a:srgbClr val="B2B2B2"/>
                </a:solidFill>
              </a:rPr>
              <a:t>5</a:t>
            </a:r>
            <a:r>
              <a:rPr dirty="0" sz="19050" spc="-9250">
                <a:solidFill>
                  <a:srgbClr val="7F7F7F"/>
                </a:solidFill>
              </a:rPr>
              <a:t>5</a:t>
            </a:r>
            <a:r>
              <a:rPr dirty="0" sz="18650" spc="-9050">
                <a:solidFill>
                  <a:srgbClr val="A5A5A5"/>
                </a:solidFill>
              </a:rPr>
              <a:t>5</a:t>
            </a:r>
            <a:r>
              <a:rPr dirty="0" sz="18250" spc="320">
                <a:solidFill>
                  <a:srgbClr val="CCCCCC"/>
                </a:solidFill>
              </a:rPr>
              <a:t>5</a:t>
            </a:r>
            <a:endParaRPr sz="18250"/>
          </a:p>
        </p:txBody>
      </p:sp>
      <p:sp>
        <p:nvSpPr>
          <p:cNvPr id="4" name="object 4"/>
          <p:cNvSpPr txBox="1"/>
          <p:nvPr/>
        </p:nvSpPr>
        <p:spPr>
          <a:xfrm>
            <a:off x="1238437" y="2069400"/>
            <a:ext cx="4174490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100" b="1">
                <a:latin typeface="Calibri"/>
                <a:cs typeface="Calibri"/>
              </a:rPr>
              <a:t>Why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90" b="1">
                <a:latin typeface="Calibri"/>
                <a:cs typeface="Calibri"/>
              </a:rPr>
              <a:t>are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70" b="1">
                <a:latin typeface="Calibri"/>
                <a:cs typeface="Calibri"/>
              </a:rPr>
              <a:t>deep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110" b="1">
                <a:latin typeface="Calibri"/>
                <a:cs typeface="Calibri"/>
              </a:rPr>
              <a:t>neural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90" b="1">
                <a:latin typeface="Calibri"/>
                <a:cs typeface="Calibri"/>
              </a:rPr>
              <a:t>networks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565026" y="2464156"/>
            <a:ext cx="1890395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120" b="1">
                <a:latin typeface="Calibri"/>
                <a:cs typeface="Calibri"/>
              </a:rPr>
              <a:t>hard</a:t>
            </a:r>
            <a:r>
              <a:rPr dirty="0" sz="2300" spc="150" b="1">
                <a:latin typeface="Calibri"/>
                <a:cs typeface="Calibri"/>
              </a:rPr>
              <a:t> </a:t>
            </a:r>
            <a:r>
              <a:rPr dirty="0" sz="2300" spc="50" b="1">
                <a:latin typeface="Calibri"/>
                <a:cs typeface="Calibri"/>
              </a:rPr>
              <a:t>to</a:t>
            </a:r>
            <a:r>
              <a:rPr dirty="0" sz="2300" spc="155" b="1">
                <a:latin typeface="Calibri"/>
                <a:cs typeface="Calibri"/>
              </a:rPr>
              <a:t> </a:t>
            </a:r>
            <a:r>
              <a:rPr dirty="0" sz="2300" spc="90" b="1">
                <a:latin typeface="Calibri"/>
                <a:cs typeface="Calibri"/>
              </a:rPr>
              <a:t>train?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7290" y="4153825"/>
            <a:ext cx="4368800" cy="61277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12700" marR="5080">
              <a:lnSpc>
                <a:spcPct val="112100"/>
              </a:lnSpc>
              <a:spcBef>
                <a:spcPts val="80"/>
              </a:spcBef>
            </a:pPr>
            <a:r>
              <a:rPr dirty="0" sz="850">
                <a:latin typeface="Calibri"/>
                <a:cs typeface="Calibri"/>
              </a:rPr>
              <a:t>Imagine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engineer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asked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scratch.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day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away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office,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logical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circuits,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900" spc="-95">
                <a:latin typeface="Calibri"/>
                <a:cs typeface="Calibri"/>
              </a:rPr>
              <a:t>AND</a:t>
            </a:r>
            <a:r>
              <a:rPr dirty="0" sz="90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gates,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900" spc="-85">
                <a:latin typeface="Calibri"/>
                <a:cs typeface="Calibri"/>
              </a:rPr>
              <a:t>OR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gates,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boss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walks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customer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surprising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requirement: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circuit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deep: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28000" y="4857013"/>
            <a:ext cx="3023984" cy="1704835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1062493" y="6658896"/>
            <a:ext cx="4353560" cy="135826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240"/>
              </a:spcBef>
            </a:pP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dumbfounded,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boss: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customer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crazy!”</a:t>
            </a:r>
            <a:endParaRPr sz="850">
              <a:latin typeface="Calibri"/>
              <a:cs typeface="Calibri"/>
            </a:endParaRPr>
          </a:p>
          <a:p>
            <a:pPr algn="just" marL="207010">
              <a:lnSpc>
                <a:spcPct val="100000"/>
              </a:lnSpc>
              <a:spcBef>
                <a:spcPts val="150"/>
              </a:spcBef>
            </a:pP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boss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replies: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“I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crazy,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customer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get.”</a:t>
            </a:r>
            <a:endParaRPr sz="850">
              <a:latin typeface="Calibri"/>
              <a:cs typeface="Calibri"/>
            </a:endParaRPr>
          </a:p>
          <a:p>
            <a:pPr algn="just" marL="17145" marR="7620" indent="189230">
              <a:lnSpc>
                <a:spcPct val="111000"/>
              </a:lnSpc>
              <a:spcBef>
                <a:spcPts val="30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limited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customer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crazy.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allowed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special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logical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900" spc="-90">
                <a:latin typeface="Calibri"/>
                <a:cs typeface="Calibri"/>
              </a:rPr>
              <a:t>AND</a:t>
            </a:r>
            <a:r>
              <a:rPr dirty="0" sz="90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together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And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allowed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many-input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900" spc="-100">
                <a:latin typeface="Calibri"/>
                <a:cs typeface="Calibri"/>
              </a:rPr>
              <a:t>NAND</a:t>
            </a:r>
            <a:r>
              <a:rPr dirty="0" sz="90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gate,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gate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900" spc="-90">
                <a:latin typeface="Calibri"/>
                <a:cs typeface="Calibri"/>
              </a:rPr>
              <a:t>AND</a:t>
            </a:r>
            <a:r>
              <a:rPr dirty="0" sz="90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multiple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negate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special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gates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circuit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deep.</a:t>
            </a:r>
            <a:endParaRPr sz="850">
              <a:latin typeface="Calibri"/>
              <a:cs typeface="Calibri"/>
            </a:endParaRPr>
          </a:p>
          <a:p>
            <a:pPr algn="just" marL="17145" marR="508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circuit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design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kind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algorithmic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problem),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start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67250" cy="1561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152</a:t>
            </a:r>
            <a:r>
              <a:rPr dirty="0" sz="850">
                <a:latin typeface="Calibri"/>
                <a:cs typeface="Calibri"/>
              </a:rPr>
              <a:t>	Why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train?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306070" marR="32384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figuring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solve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sub-problems,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gradually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integrate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solutions.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words,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solution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multiple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abstraction.</a:t>
            </a:r>
            <a:endParaRPr sz="850">
              <a:latin typeface="Calibri"/>
              <a:cs typeface="Calibri"/>
            </a:endParaRPr>
          </a:p>
          <a:p>
            <a:pPr algn="just" marL="301625" marR="5080" indent="194310">
              <a:lnSpc>
                <a:spcPct val="114300"/>
              </a:lnSpc>
              <a:spcBef>
                <a:spcPts val="805"/>
              </a:spcBef>
            </a:pP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logical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circuit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multiply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Chances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sub-circuits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operations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adding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numbers.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sub-circuits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sub-sub-circuits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roughly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speaking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circuit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like: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8005" y="2444203"/>
            <a:ext cx="3023984" cy="196195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51584" y="4824279"/>
            <a:ext cx="4479925" cy="24511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7945" marR="78740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circuit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circuit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elements.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probably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break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sub-tasks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described.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idea.</a:t>
            </a:r>
            <a:endParaRPr sz="850">
              <a:latin typeface="Calibri"/>
              <a:cs typeface="Calibri"/>
            </a:endParaRPr>
          </a:p>
          <a:p>
            <a:pPr algn="just" marL="63500" marR="55880" indent="194310">
              <a:lnSpc>
                <a:spcPct val="114300"/>
              </a:lnSpc>
              <a:spcBef>
                <a:spcPts val="810"/>
              </a:spcBef>
            </a:pP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circuits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easier.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helpful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design.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mathematical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proofs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shallow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circuits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require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exponentially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circuit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elements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circuits.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instance,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famous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series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1980s</a:t>
            </a:r>
            <a:r>
              <a:rPr dirty="0" baseline="35353" sz="825" spc="15">
                <a:latin typeface="Calibri"/>
                <a:cs typeface="Calibri"/>
                <a:hlinkClick r:id="rId3" action="ppaction://hlinksldjump"/>
              </a:rPr>
              <a:t>1</a:t>
            </a:r>
            <a:r>
              <a:rPr dirty="0" baseline="35353" sz="825" spc="352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parity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requires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exponentially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gates,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shallow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circuit.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circuits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parity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circuit: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parity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pairs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parity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pairs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pairs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bits,</a:t>
            </a:r>
            <a:r>
              <a:rPr dirty="0" sz="850" spc="20">
                <a:latin typeface="Calibri"/>
                <a:cs typeface="Calibri"/>
              </a:rPr>
              <a:t> 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building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quickly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overall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parity.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circuits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thus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intrinsically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shallow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circuits.</a:t>
            </a:r>
            <a:endParaRPr sz="850">
              <a:latin typeface="Calibri"/>
              <a:cs typeface="Calibri"/>
            </a:endParaRPr>
          </a:p>
          <a:p>
            <a:pPr algn="just" marL="67945" marR="80010" indent="189230">
              <a:lnSpc>
                <a:spcPct val="114300"/>
              </a:lnSpc>
              <a:spcBef>
                <a:spcPts val="805"/>
              </a:spcBef>
            </a:pP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crazy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customer.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Almost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(plus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layers):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20001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76454" y="7770973"/>
            <a:ext cx="4404995" cy="2438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 marR="30480" indent="133350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15">
                <a:latin typeface="Calibri"/>
                <a:cs typeface="Calibri"/>
              </a:rPr>
              <a:t>1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history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somewhat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complex,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I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won’t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give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detailed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references.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Johan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Håstad’s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2012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paper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  <a:hlinkClick r:id="rId4"/>
              </a:rPr>
              <a:t>On</a:t>
            </a:r>
            <a:r>
              <a:rPr dirty="0" sz="750" spc="145">
                <a:latin typeface="Calibri"/>
                <a:cs typeface="Calibri"/>
                <a:hlinkClick r:id="rId4"/>
              </a:rPr>
              <a:t> </a:t>
            </a:r>
            <a:r>
              <a:rPr dirty="0" sz="750">
                <a:latin typeface="Calibri"/>
                <a:cs typeface="Calibri"/>
                <a:hlinkClick r:id="rId4"/>
              </a:rPr>
              <a:t>the</a:t>
            </a:r>
            <a:r>
              <a:rPr dirty="0" sz="750" spc="145">
                <a:latin typeface="Calibri"/>
                <a:cs typeface="Calibri"/>
                <a:hlinkClick r:id="rId4"/>
              </a:rPr>
              <a:t> </a:t>
            </a:r>
            <a:r>
              <a:rPr dirty="0" sz="750">
                <a:latin typeface="Calibri"/>
                <a:cs typeface="Calibri"/>
                <a:hlinkClick r:id="rId4"/>
              </a:rPr>
              <a:t>correlation</a:t>
            </a:r>
            <a:r>
              <a:rPr dirty="0" sz="750" spc="145">
                <a:latin typeface="Calibri"/>
                <a:cs typeface="Calibri"/>
                <a:hlinkClick r:id="rId4"/>
              </a:rPr>
              <a:t> </a:t>
            </a:r>
            <a:r>
              <a:rPr dirty="0" sz="750">
                <a:latin typeface="Calibri"/>
                <a:cs typeface="Calibri"/>
                <a:hlinkClick r:id="rId4"/>
              </a:rPr>
              <a:t>of</a:t>
            </a:r>
            <a:r>
              <a:rPr dirty="0" sz="750" spc="145">
                <a:latin typeface="Calibri"/>
                <a:cs typeface="Calibri"/>
                <a:hlinkClick r:id="rId4"/>
              </a:rPr>
              <a:t> </a:t>
            </a:r>
            <a:r>
              <a:rPr dirty="0" sz="750">
                <a:latin typeface="Calibri"/>
                <a:cs typeface="Calibri"/>
                <a:hlinkClick r:id="rId4"/>
              </a:rPr>
              <a:t>parity</a:t>
            </a:r>
            <a:r>
              <a:rPr dirty="0" sz="750" spc="145">
                <a:latin typeface="Calibri"/>
                <a:cs typeface="Calibri"/>
                <a:hlinkClick r:id="rId4"/>
              </a:rPr>
              <a:t> </a:t>
            </a:r>
            <a:r>
              <a:rPr dirty="0" sz="750">
                <a:latin typeface="Calibri"/>
                <a:cs typeface="Calibri"/>
                <a:hlinkClick r:id="rId4"/>
              </a:rPr>
              <a:t>and</a:t>
            </a:r>
            <a:r>
              <a:rPr dirty="0" sz="750" spc="145">
                <a:latin typeface="Calibri"/>
                <a:cs typeface="Calibri"/>
                <a:hlinkClick r:id="rId4"/>
              </a:rPr>
              <a:t> </a:t>
            </a:r>
            <a:r>
              <a:rPr dirty="0" sz="750">
                <a:latin typeface="Calibri"/>
                <a:cs typeface="Calibri"/>
                <a:hlinkClick r:id="rId4"/>
              </a:rPr>
              <a:t>small-depth</a:t>
            </a:r>
            <a:r>
              <a:rPr dirty="0" sz="750" spc="145">
                <a:latin typeface="Calibri"/>
                <a:cs typeface="Calibri"/>
                <a:hlinkClick r:id="rId4"/>
              </a:rPr>
              <a:t> </a:t>
            </a:r>
            <a:r>
              <a:rPr dirty="0" sz="750">
                <a:latin typeface="Calibri"/>
                <a:cs typeface="Calibri"/>
                <a:hlinkClick r:id="rId4"/>
              </a:rPr>
              <a:t>circuits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for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account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early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history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references.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-2530" y="2735996"/>
            <a:ext cx="344170" cy="461645"/>
            <a:chOff x="-2530" y="2735996"/>
            <a:chExt cx="344170" cy="461645"/>
          </a:xfrm>
        </p:grpSpPr>
        <p:sp>
          <p:nvSpPr>
            <p:cNvPr id="8" name="object 8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56042"/>
                  </a:ln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2"/>
                  </a:move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25831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59704" y="368724"/>
            <a:ext cx="32131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5095">
              <a:lnSpc>
                <a:spcPts val="525"/>
              </a:lnSpc>
              <a:spcBef>
                <a:spcPts val="110"/>
              </a:spcBef>
            </a:pPr>
            <a:r>
              <a:rPr dirty="0" sz="850" spc="25">
                <a:latin typeface="Calibri"/>
                <a:cs typeface="Calibri"/>
              </a:rPr>
              <a:t>153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82909" y="964953"/>
            <a:ext cx="2451982" cy="209391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62380" y="3194996"/>
            <a:ext cx="4373245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remarkably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useful: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98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accuracy!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Nonetheless,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intuitively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expect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powerful: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18566" y="3841395"/>
            <a:ext cx="4181112" cy="2113697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1079996" y="7553162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1024929" y="6091206"/>
            <a:ext cx="4448810" cy="192341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4610" marR="431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intermediate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abstraction,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Boolean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circuits.</a:t>
            </a:r>
            <a:r>
              <a:rPr dirty="0" sz="850" spc="4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pattern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recognition,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recognize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edges,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second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recognize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shapes,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triangle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rectangles,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edges.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third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shapes.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abstraction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compelling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advantage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pattern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Moreover,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circuits,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theoretical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suggesting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intrinsically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shallow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baseline="35353" sz="825" spc="-15">
                <a:latin typeface="Calibri"/>
                <a:cs typeface="Calibri"/>
                <a:hlinkClick r:id="rId4" action="ppaction://hlinksldjump"/>
              </a:rPr>
              <a:t>2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850">
              <a:latin typeface="Calibri"/>
              <a:cs typeface="Calibri"/>
            </a:endParaRPr>
          </a:p>
          <a:p>
            <a:pPr algn="just" marL="50800" marR="65405" indent="132080">
              <a:lnSpc>
                <a:spcPts val="800"/>
              </a:lnSpc>
              <a:spcBef>
                <a:spcPts val="5"/>
              </a:spcBef>
            </a:pPr>
            <a:r>
              <a:rPr dirty="0" baseline="30303" sz="825" spc="15">
                <a:latin typeface="Calibri"/>
                <a:cs typeface="Calibri"/>
              </a:rPr>
              <a:t>2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certain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problems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architectures</a:t>
            </a:r>
            <a:r>
              <a:rPr dirty="0" sz="750" spc="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proved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On</a:t>
            </a:r>
            <a:r>
              <a:rPr dirty="0" sz="750" spc="1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the</a:t>
            </a:r>
            <a:r>
              <a:rPr dirty="0" sz="750" spc="2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number</a:t>
            </a:r>
            <a:r>
              <a:rPr dirty="0" sz="750" spc="1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of</a:t>
            </a:r>
            <a:r>
              <a:rPr dirty="0" sz="750" spc="15">
                <a:latin typeface="Calibri"/>
                <a:cs typeface="Calibri"/>
                <a:hlinkClick r:id="rId5"/>
              </a:rPr>
              <a:t> </a:t>
            </a:r>
            <a:r>
              <a:rPr dirty="0" sz="750">
                <a:latin typeface="Calibri"/>
                <a:cs typeface="Calibri"/>
                <a:hlinkClick r:id="rId5"/>
              </a:rPr>
              <a:t>response</a:t>
            </a:r>
            <a:r>
              <a:rPr dirty="0" sz="750" spc="1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regions</a:t>
            </a:r>
            <a:r>
              <a:rPr dirty="0" sz="750" spc="20">
                <a:latin typeface="Calibri"/>
                <a:cs typeface="Calibri"/>
                <a:hlinkClick r:id="rId5"/>
              </a:rPr>
              <a:t> </a:t>
            </a:r>
            <a:r>
              <a:rPr dirty="0" sz="750" spc="-25">
                <a:latin typeface="Calibri"/>
                <a:cs typeface="Calibri"/>
                <a:hlinkClick r:id="rId5"/>
              </a:rPr>
              <a:t>of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deep</a:t>
            </a:r>
            <a:r>
              <a:rPr dirty="0" sz="750" spc="6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feed</a:t>
            </a:r>
            <a:r>
              <a:rPr dirty="0" sz="750" spc="70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forward</a:t>
            </a:r>
            <a:r>
              <a:rPr dirty="0" sz="750" spc="70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networks</a:t>
            </a:r>
            <a:r>
              <a:rPr dirty="0" sz="750" spc="6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with</a:t>
            </a:r>
            <a:r>
              <a:rPr dirty="0" sz="750" spc="70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piece-wise</a:t>
            </a:r>
            <a:r>
              <a:rPr dirty="0" sz="750" spc="70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linear</a:t>
            </a:r>
            <a:r>
              <a:rPr dirty="0" sz="750" spc="70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activations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Razvan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Pascanu,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Guido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Montúfar,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and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Yoshua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Bengio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(2014).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also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more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informal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discussion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section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2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Learning</a:t>
            </a:r>
            <a:r>
              <a:rPr dirty="0" sz="750" spc="60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deep</a:t>
            </a:r>
            <a:r>
              <a:rPr dirty="0" sz="750" spc="60">
                <a:latin typeface="Calibri"/>
                <a:cs typeface="Calibri"/>
                <a:hlinkClick r:id="rId6"/>
              </a:rPr>
              <a:t> </a:t>
            </a:r>
            <a:r>
              <a:rPr dirty="0" sz="750" spc="-10">
                <a:latin typeface="Calibri"/>
                <a:cs typeface="Calibri"/>
                <a:hlinkClick r:id="rId6"/>
              </a:rPr>
              <a:t>architectures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  <a:hlinkClick r:id="rId6"/>
              </a:rPr>
              <a:t>for</a:t>
            </a:r>
            <a:r>
              <a:rPr dirty="0" sz="750" spc="145">
                <a:latin typeface="Calibri"/>
                <a:cs typeface="Calibri"/>
                <a:hlinkClick r:id="rId6"/>
              </a:rPr>
              <a:t> </a:t>
            </a:r>
            <a:r>
              <a:rPr dirty="0" sz="750">
                <a:latin typeface="Calibri"/>
                <a:cs typeface="Calibri"/>
                <a:hlinkClick r:id="rId6"/>
              </a:rPr>
              <a:t>AI</a:t>
            </a:r>
            <a:r>
              <a:rPr dirty="0" sz="750">
                <a:latin typeface="Calibri"/>
                <a:cs typeface="Calibri"/>
              </a:rPr>
              <a:t>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by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Yoshua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Bengio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(2009).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778788" y="2735996"/>
            <a:ext cx="344170" cy="461645"/>
            <a:chOff x="5778788" y="2735996"/>
            <a:chExt cx="344170" cy="461645"/>
          </a:xfrm>
        </p:grpSpPr>
        <p:sp>
          <p:nvSpPr>
            <p:cNvPr id="9" name="object 9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5876620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67250" cy="23469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154</a:t>
            </a:r>
            <a:r>
              <a:rPr dirty="0" sz="850">
                <a:latin typeface="Calibri"/>
                <a:cs typeface="Calibri"/>
              </a:rPr>
              <a:t>	Why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train?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06070" marR="5080" indent="18923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networks?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workhorse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trouble,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(if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all)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shallow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  <a:p>
            <a:pPr algn="r" marL="306070" marR="1143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failure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surprising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hard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closely,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vastly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speeds.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stuck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during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almost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nothing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stuckness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due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luck.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fundamental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reasons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slowdown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gradient-based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delve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deeply,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opposite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phenomenon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01" y="2690147"/>
            <a:ext cx="4349115" cy="1209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occur: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become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stuck.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intrinsic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instability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associated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many-layer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instability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tends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either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getting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stuck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during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training.</a:t>
            </a:r>
            <a:endParaRPr sz="850">
              <a:latin typeface="Calibri"/>
              <a:cs typeface="Calibri"/>
            </a:endParaRPr>
          </a:p>
          <a:p>
            <a:pPr algn="just" marL="12700" marR="762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sounds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delving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difficulties,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begin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gain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required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effectively.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investigations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preparation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next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attack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201" y="4097575"/>
            <a:ext cx="4445000" cy="14998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377825" algn="l"/>
              </a:tabLst>
            </a:pPr>
            <a:r>
              <a:rPr dirty="0" sz="1050" spc="30" b="1">
                <a:latin typeface="Calibri"/>
                <a:cs typeface="Calibri"/>
              </a:rPr>
              <a:t>5.1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60" b="1">
                <a:latin typeface="Calibri"/>
                <a:cs typeface="Calibri"/>
              </a:rPr>
              <a:t>The</a:t>
            </a:r>
            <a:r>
              <a:rPr dirty="0" sz="1050" spc="95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vanishing</a:t>
            </a:r>
            <a:r>
              <a:rPr dirty="0" sz="1050" spc="10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gradient</a:t>
            </a:r>
            <a:r>
              <a:rPr dirty="0" sz="1050" spc="95" b="1">
                <a:latin typeface="Calibri"/>
                <a:cs typeface="Calibri"/>
              </a:rPr>
              <a:t> </a:t>
            </a: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  <a:p>
            <a:pPr algn="just" marL="50800">
              <a:lnSpc>
                <a:spcPct val="100000"/>
              </a:lnSpc>
              <a:spcBef>
                <a:spcPts val="1165"/>
              </a:spcBef>
            </a:pP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network?</a:t>
            </a:r>
            <a:endParaRPr sz="850">
              <a:latin typeface="Calibri"/>
              <a:cs typeface="Calibri"/>
            </a:endParaRPr>
          </a:p>
          <a:p>
            <a:pPr algn="just" marL="50800" marR="62865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revisit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hidden</a:t>
            </a:r>
            <a:r>
              <a:rPr dirty="0" sz="850" spc="20">
                <a:latin typeface="Calibri"/>
                <a:cs typeface="Calibri"/>
              </a:rPr>
              <a:t> layer.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usual,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MNIST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classification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playground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experimentation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3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50800" marR="4318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wish,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computer.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along.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wish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follow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live,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Python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2.7,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Numpy,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copy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relevant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repository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command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line: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9514" y="5786983"/>
            <a:ext cx="4401185" cy="19621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250"/>
              </a:spcBef>
            </a:pPr>
            <a:r>
              <a:rPr dirty="0" sz="700" spc="145">
                <a:latin typeface="Calibri"/>
                <a:cs typeface="Calibri"/>
              </a:rPr>
              <a:t>git</a:t>
            </a:r>
            <a:r>
              <a:rPr dirty="0" sz="700" spc="42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clone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  <a:hlinkClick r:id="rId3"/>
              </a:rPr>
              <a:t>https://github.com/mnielsen/neural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215">
                <a:latin typeface="Calibri"/>
                <a:cs typeface="Calibri"/>
              </a:rPr>
              <a:t>-</a:t>
            </a:r>
            <a:r>
              <a:rPr dirty="0" sz="700" spc="65">
                <a:latin typeface="Calibri"/>
                <a:cs typeface="Calibri"/>
              </a:rPr>
              <a:t>networks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204">
                <a:latin typeface="Calibri"/>
                <a:cs typeface="Calibri"/>
              </a:rPr>
              <a:t>-</a:t>
            </a:r>
            <a:r>
              <a:rPr dirty="0" sz="700" spc="10">
                <a:solidFill>
                  <a:srgbClr val="003FFF"/>
                </a:solidFill>
                <a:latin typeface="Calibri"/>
                <a:cs typeface="Calibri"/>
              </a:rPr>
              <a:t>and</a:t>
            </a:r>
            <a:r>
              <a:rPr dirty="0" sz="700" spc="-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10">
                <a:latin typeface="Calibri"/>
                <a:cs typeface="Calibri"/>
              </a:rPr>
              <a:t>-</a:t>
            </a:r>
            <a:r>
              <a:rPr dirty="0" sz="700" spc="10">
                <a:latin typeface="Calibri"/>
                <a:cs typeface="Calibri"/>
              </a:rPr>
              <a:t>deep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-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learning.git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01" y="6002603"/>
            <a:ext cx="4345940" cy="31750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 marR="5080">
              <a:lnSpc>
                <a:spcPct val="109400"/>
              </a:lnSpc>
              <a:spcBef>
                <a:spcPts val="105"/>
              </a:spcBef>
            </a:pP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download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here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900" spc="120">
                <a:latin typeface="Calibri"/>
                <a:cs typeface="Calibri"/>
              </a:rPr>
              <a:t>src</a:t>
            </a:r>
            <a:r>
              <a:rPr dirty="0" sz="90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subdirectory.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Python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shell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load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MNIST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data: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9514" y="6508915"/>
            <a:ext cx="4401185" cy="42672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mnist_loader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\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mnist_loader.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load_data_wrapper()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99754" y="6966625"/>
            <a:ext cx="11417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9514" y="7313079"/>
            <a:ext cx="4401185" cy="31178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network2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720001" y="785681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809967" y="7872192"/>
            <a:ext cx="2820035" cy="1422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30303" sz="825" spc="104">
                <a:latin typeface="Calibri"/>
                <a:cs typeface="Calibri"/>
              </a:rPr>
              <a:t>3</a:t>
            </a:r>
            <a:r>
              <a:rPr dirty="0" sz="750" spc="70">
                <a:latin typeface="Calibri"/>
                <a:cs typeface="Calibri"/>
              </a:rPr>
              <a:t>I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introduced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MNIST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problem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data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5" action="ppaction://hlinksldjump"/>
              </a:rPr>
              <a:t>here1.5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  <a:hlinkClick r:id="rId6" action="ppaction://hlinksldjump"/>
              </a:rPr>
              <a:t>here1.6.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-2530" y="2735996"/>
            <a:ext cx="344170" cy="461645"/>
            <a:chOff x="-2530" y="2735996"/>
            <a:chExt cx="344170" cy="461645"/>
          </a:xfrm>
        </p:grpSpPr>
        <p:sp>
          <p:nvSpPr>
            <p:cNvPr id="13" name="object 13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25831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532581" y="368721"/>
            <a:ext cx="214820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1952625" algn="l"/>
              </a:tabLst>
            </a:pPr>
            <a:r>
              <a:rPr dirty="0" sz="850" spc="10">
                <a:latin typeface="Calibri"/>
                <a:cs typeface="Calibri"/>
              </a:rPr>
              <a:t>5.1.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155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29196" y="913720"/>
            <a:ext cx="4422140" cy="9175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784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28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10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28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784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pixels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corresponding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MNIST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(‘0’,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‘1’,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‘2’,...,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‘9’).</a:t>
            </a:r>
            <a:endParaRPr sz="850">
              <a:latin typeface="Calibri"/>
              <a:cs typeface="Calibri"/>
            </a:endParaRPr>
          </a:p>
          <a:p>
            <a:pPr algn="just" marL="50800" marR="43180" indent="189230">
              <a:lnSpc>
                <a:spcPct val="111800"/>
              </a:lnSpc>
              <a:spcBef>
                <a:spcPts val="50"/>
              </a:spcBef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30">
                <a:latin typeface="Calibri"/>
                <a:cs typeface="Calibri"/>
              </a:rPr>
              <a:t> examples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time,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learning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rate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5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55">
                <a:latin typeface="Tahoma"/>
                <a:cs typeface="Tahoma"/>
              </a:rPr>
              <a:t> </a:t>
            </a:r>
            <a:r>
              <a:rPr dirty="0" sz="850" spc="30">
                <a:latin typeface="Calibri"/>
                <a:cs typeface="Calibri"/>
              </a:rPr>
              <a:t>0.1,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regularization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parameter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5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55">
                <a:latin typeface="Tahoma"/>
                <a:cs typeface="Tahoma"/>
              </a:rPr>
              <a:t> </a:t>
            </a:r>
            <a:r>
              <a:rPr dirty="0" sz="850" spc="30">
                <a:latin typeface="Calibri"/>
                <a:cs typeface="Calibri"/>
              </a:rPr>
              <a:t>5.0.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monitor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validation_data</a:t>
            </a:r>
            <a:r>
              <a:rPr dirty="0" baseline="35353" sz="825" spc="112">
                <a:latin typeface="Calibri"/>
                <a:cs typeface="Calibri"/>
                <a:hlinkClick r:id="rId2" action="ppaction://hlinksldjump"/>
              </a:rPr>
              <a:t>4</a:t>
            </a:r>
            <a:r>
              <a:rPr dirty="0" sz="850" spc="75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39510" y="1892426"/>
            <a:ext cx="4401185" cy="31178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0.1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lmbda=5.0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70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evaluation_data=validation_data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monitor_evaluation_accuracy=True)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59750" y="2231219"/>
            <a:ext cx="4353560" cy="6203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685" marR="5080" indent="-762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96.48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thereabouts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run),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comparable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configuration.</a:t>
            </a:r>
            <a:endParaRPr sz="850">
              <a:latin typeface="Calibri"/>
              <a:cs typeface="Calibri"/>
            </a:endParaRPr>
          </a:p>
          <a:p>
            <a:pPr marL="19685" marR="5080" indent="189230">
              <a:lnSpc>
                <a:spcPct val="114300"/>
              </a:lnSpc>
              <a:spcBef>
                <a:spcPts val="25"/>
              </a:spcBef>
            </a:pP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</a:t>
            </a:r>
            <a:r>
              <a:rPr dirty="0" sz="850" spc="-10">
                <a:latin typeface="Calibri"/>
                <a:cs typeface="Calibri"/>
              </a:rPr>
              <a:t>parameters: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39510" y="3064751"/>
            <a:ext cx="4401185" cy="42672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0.1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lmbda=5.0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evaluation_data=validation_data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monitor_evaluation_accuracy=True)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2380" y="3518681"/>
            <a:ext cx="435038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gives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classification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accuracy,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96.90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encouraging: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little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depth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helping.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30-neuron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39510" y="4053294"/>
            <a:ext cx="4401185" cy="42672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0.1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lmbda=5.0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evaluation_data=validation_data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monitor_evaluation_accuracy=True)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2380" y="4507198"/>
            <a:ext cx="4353560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96.57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shallow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insert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39510" y="5041823"/>
            <a:ext cx="4401185" cy="42672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10])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30,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0.1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lmbda=5.0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</a:t>
            </a:r>
            <a:endParaRPr sz="7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65"/>
              </a:spcBef>
            </a:pPr>
            <a:r>
              <a:rPr dirty="0" sz="700" spc="210">
                <a:latin typeface="Calibri"/>
                <a:cs typeface="Calibri"/>
              </a:rPr>
              <a:t>...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evaluation_data=validation_data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monitor_evaluation_accuracy=True)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079996" y="753553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1023952" y="5495754"/>
            <a:ext cx="4454525" cy="2519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5880" marR="6604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96.53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statistically</a:t>
            </a:r>
            <a:r>
              <a:rPr dirty="0" sz="850" spc="20">
                <a:latin typeface="Calibri"/>
                <a:cs typeface="Calibri"/>
              </a:rPr>
              <a:t> significant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drop,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encouraging,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either.</a:t>
            </a:r>
            <a:endParaRPr sz="850">
              <a:latin typeface="Calibri"/>
              <a:cs typeface="Calibri"/>
            </a:endParaRPr>
          </a:p>
          <a:p>
            <a:pPr algn="just" marL="50800" marR="43180" indent="194945">
              <a:lnSpc>
                <a:spcPct val="114300"/>
              </a:lnSpc>
              <a:spcBef>
                <a:spcPts val="25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strange.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Intuitively,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ought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able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thus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job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classifying.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Certainly,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worse,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do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nothing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5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on.</a:t>
            </a:r>
            <a:endParaRPr sz="850">
              <a:latin typeface="Calibri"/>
              <a:cs typeface="Calibri"/>
            </a:endParaRPr>
          </a:p>
          <a:p>
            <a:pPr algn="just" marL="55880" marR="70485" indent="189230">
              <a:lnSpc>
                <a:spcPct val="114300"/>
              </a:lnSpc>
              <a:spcBef>
                <a:spcPts val="20"/>
              </a:spcBef>
            </a:pP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on?</a:t>
            </a:r>
            <a:r>
              <a:rPr dirty="0" sz="850" spc="16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assume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extra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do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better.</a:t>
            </a:r>
            <a:endParaRPr sz="850">
              <a:latin typeface="Calibri"/>
              <a:cs typeface="Calibri"/>
            </a:endParaRPr>
          </a:p>
          <a:p>
            <a:pPr algn="just" marL="55880" marR="43180" indent="189230">
              <a:lnSpc>
                <a:spcPct val="114300"/>
              </a:lnSpc>
              <a:spcBef>
                <a:spcPts val="25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insight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wrong,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visualize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learns.</a:t>
            </a:r>
            <a:r>
              <a:rPr dirty="0" sz="850" spc="20">
                <a:latin typeface="Calibri"/>
                <a:cs typeface="Calibri"/>
              </a:rPr>
              <a:t> Below,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I’ve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plotted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part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Lucida Sans Unicode"/>
                <a:cs typeface="Lucida Sans Unicode"/>
              </a:rPr>
              <a:t>[</a:t>
            </a:r>
            <a:r>
              <a:rPr dirty="0" sz="850" spc="30">
                <a:latin typeface="Calibri"/>
                <a:cs typeface="Calibri"/>
              </a:rPr>
              <a:t>784,30,30,10</a:t>
            </a:r>
            <a:r>
              <a:rPr dirty="0" sz="850" spc="30">
                <a:latin typeface="Lucida Sans Unicode"/>
                <a:cs typeface="Lucida Sans Unicode"/>
              </a:rPr>
              <a:t>]</a:t>
            </a:r>
            <a:r>
              <a:rPr dirty="0" sz="850" spc="-70">
                <a:latin typeface="Lucida Sans Unicode"/>
                <a:cs typeface="Lucida Sans Unicode"/>
              </a:rPr>
              <a:t> </a:t>
            </a:r>
            <a:r>
              <a:rPr dirty="0" sz="850" spc="30">
                <a:latin typeface="Calibri"/>
                <a:cs typeface="Calibri"/>
              </a:rPr>
              <a:t>network,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i.e.,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with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two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hidden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containing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185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diagram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it,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Calibri"/>
              <a:cs typeface="Calibri"/>
            </a:endParaRPr>
          </a:p>
          <a:p>
            <a:pPr algn="just" marL="55880" marR="67310" indent="127635">
              <a:lnSpc>
                <a:spcPts val="800"/>
              </a:lnSpc>
            </a:pPr>
            <a:r>
              <a:rPr dirty="0" baseline="30303" sz="825" spc="15">
                <a:latin typeface="Calibri"/>
                <a:cs typeface="Calibri"/>
              </a:rPr>
              <a:t>4</a:t>
            </a:r>
            <a:r>
              <a:rPr dirty="0" sz="750" spc="10">
                <a:latin typeface="Calibri"/>
                <a:cs typeface="Calibri"/>
              </a:rPr>
              <a:t>Note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networks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likely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take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some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minutes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train,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depending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speed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your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machine.</a:t>
            </a:r>
            <a:r>
              <a:rPr dirty="0" sz="750" spc="229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So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if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you’re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running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code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you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wish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continue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reading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return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later,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not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wait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for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code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finish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executing.</a:t>
            </a:r>
            <a:endParaRPr sz="750">
              <a:latin typeface="Calibri"/>
              <a:cs typeface="Calibri"/>
            </a:endParaRPr>
          </a:p>
          <a:p>
            <a:pPr algn="just" marL="183515">
              <a:lnSpc>
                <a:spcPct val="100000"/>
              </a:lnSpc>
              <a:spcBef>
                <a:spcPts val="20"/>
              </a:spcBef>
            </a:pPr>
            <a:r>
              <a:rPr dirty="0" baseline="30303" sz="825" spc="15">
                <a:latin typeface="Calibri"/>
                <a:cs typeface="Calibri"/>
              </a:rPr>
              <a:t>5</a:t>
            </a:r>
            <a:r>
              <a:rPr dirty="0" sz="750" spc="10">
                <a:latin typeface="Calibri"/>
                <a:cs typeface="Calibri"/>
              </a:rPr>
              <a:t>See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later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3" action="ppaction://hlinksldjump"/>
              </a:rPr>
              <a:t>problem5.2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understand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how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build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hidden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layer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does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nothing.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5778788" y="2735996"/>
            <a:ext cx="344170" cy="461645"/>
            <a:chOff x="5778788" y="2735996"/>
            <a:chExt cx="344170" cy="461645"/>
          </a:xfrm>
        </p:grpSpPr>
        <p:sp>
          <p:nvSpPr>
            <p:cNvPr id="14" name="object 14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5876620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67250" cy="23520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156</a:t>
            </a:r>
            <a:r>
              <a:rPr dirty="0" sz="850">
                <a:latin typeface="Calibri"/>
                <a:cs typeface="Calibri"/>
              </a:rPr>
              <a:t>	Why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train?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01625" marR="26034" indent="4445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representing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quickly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means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rapidly,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slowly.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precisely,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bars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denote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each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Chapter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quantity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controlled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rapidly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during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rapidly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worry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details: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learns.</a:t>
            </a:r>
            <a:endParaRPr sz="850">
              <a:latin typeface="Calibri"/>
              <a:cs typeface="Calibri"/>
            </a:endParaRPr>
          </a:p>
          <a:p>
            <a:pPr algn="just" marL="306070" marR="5080" indent="189230">
              <a:lnSpc>
                <a:spcPct val="114300"/>
              </a:lnSpc>
              <a:spcBef>
                <a:spcPts val="40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keep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diagram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six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omitted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they’ve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learn.</a:t>
            </a:r>
            <a:r>
              <a:rPr dirty="0" sz="850" spc="4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also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omitted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layer-wise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comparisons,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plotted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7748" y="2712011"/>
            <a:ext cx="442023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i.e.,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immediately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initialized.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are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6</a:t>
            </a:r>
            <a:r>
              <a:rPr dirty="0" sz="850" spc="-1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908009" y="2992716"/>
            <a:ext cx="1943989" cy="256440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702384" y="5682558"/>
            <a:ext cx="4353560" cy="1214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randomly,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surprising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rapidly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jumps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bars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second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first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merely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coincidence,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general?</a:t>
            </a:r>
            <a:endParaRPr sz="850">
              <a:latin typeface="Calibri"/>
              <a:cs typeface="Calibri"/>
            </a:endParaRPr>
          </a:p>
          <a:p>
            <a:pPr algn="just" marL="17145" marR="5080" indent="189230">
              <a:lnSpc>
                <a:spcPct val="114300"/>
              </a:lnSpc>
              <a:spcBef>
                <a:spcPts val="40"/>
              </a:spcBef>
            </a:pP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determine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case,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global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comparing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denote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5173" y="6963100"/>
            <a:ext cx="5721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39115" algn="l"/>
              </a:tabLst>
            </a:pPr>
            <a:r>
              <a:rPr dirty="0" sz="550" spc="-50" i="1">
                <a:latin typeface="Calibri"/>
                <a:cs typeface="Calibri"/>
              </a:rPr>
              <a:t>j</a:t>
            </a:r>
            <a:r>
              <a:rPr dirty="0" sz="550" i="1">
                <a:latin typeface="Calibri"/>
                <a:cs typeface="Calibri"/>
              </a:rPr>
              <a:t>	</a:t>
            </a:r>
            <a:r>
              <a:rPr dirty="0" sz="550" spc="-50" i="1">
                <a:latin typeface="Calibri"/>
                <a:cs typeface="Calibri"/>
              </a:rPr>
              <a:t>j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81901" y="6888723"/>
            <a:ext cx="43967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405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8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2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i.e.,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l</a:t>
            </a:r>
            <a:r>
              <a:rPr dirty="0" sz="850" spc="50">
                <a:latin typeface="Calibri"/>
                <a:cs typeface="Calibri"/>
              </a:rPr>
              <a:t>-</a:t>
            </a:r>
            <a:r>
              <a:rPr dirty="0" sz="850">
                <a:latin typeface="Calibri"/>
                <a:cs typeface="Calibri"/>
              </a:rPr>
              <a:t>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7</a:t>
            </a:r>
            <a:r>
              <a:rPr dirty="0" baseline="35353" sz="825" spc="35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720001" y="7431391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669201" y="7019919"/>
            <a:ext cx="4449445" cy="9944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>
                <a:latin typeface="Calibri"/>
                <a:cs typeface="Calibri"/>
              </a:rPr>
              <a:t>1</a:t>
            </a:r>
            <a:r>
              <a:rPr dirty="0" baseline="35353" sz="825" spc="412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entries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determine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>
                <a:latin typeface="Calibri"/>
                <a:cs typeface="Calibri"/>
              </a:rPr>
              <a:t>2</a:t>
            </a:r>
            <a:r>
              <a:rPr dirty="0" baseline="35353" sz="825" spc="4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entries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determine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learns.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5"/>
              </a:spcBef>
            </a:pPr>
            <a:endParaRPr sz="850">
              <a:latin typeface="Calibri"/>
              <a:cs typeface="Calibri"/>
            </a:endParaRPr>
          </a:p>
          <a:p>
            <a:pPr algn="just" marL="50800" marR="70485" indent="127635">
              <a:lnSpc>
                <a:spcPts val="800"/>
              </a:lnSpc>
            </a:pPr>
            <a:r>
              <a:rPr dirty="0" baseline="30303" sz="825" spc="82">
                <a:latin typeface="Calibri"/>
                <a:cs typeface="Calibri"/>
              </a:rPr>
              <a:t>6</a:t>
            </a:r>
            <a:r>
              <a:rPr dirty="0" sz="750" spc="55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data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plotted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generated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using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program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800" spc="60">
                <a:latin typeface="Calibri"/>
                <a:cs typeface="Calibri"/>
              </a:rPr>
              <a:t>generate_gradient.py</a:t>
            </a:r>
            <a:r>
              <a:rPr dirty="0" sz="750" spc="60">
                <a:latin typeface="Calibri"/>
                <a:cs typeface="Calibri"/>
              </a:rPr>
              <a:t>.</a:t>
            </a:r>
            <a:r>
              <a:rPr dirty="0" sz="750" spc="2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same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program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is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also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generate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results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quoted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later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section.</a:t>
            </a:r>
            <a:endParaRPr sz="750">
              <a:latin typeface="Calibri"/>
              <a:cs typeface="Calibri"/>
            </a:endParaRPr>
          </a:p>
          <a:p>
            <a:pPr algn="just" marL="50800" marR="45720" indent="127635">
              <a:lnSpc>
                <a:spcPts val="800"/>
              </a:lnSpc>
              <a:spcBef>
                <a:spcPts val="130"/>
              </a:spcBef>
            </a:pPr>
            <a:r>
              <a:rPr dirty="0" baseline="30303" sz="825" spc="15">
                <a:latin typeface="Calibri"/>
                <a:cs typeface="Calibri"/>
              </a:rPr>
              <a:t>7</a:t>
            </a:r>
            <a:r>
              <a:rPr dirty="0" sz="750" spc="10">
                <a:latin typeface="Calibri"/>
                <a:cs typeface="Calibri"/>
              </a:rPr>
              <a:t>Back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Chapter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2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referred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error,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but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here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we’ll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adopt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informal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term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“gradient”.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I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say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“informal”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because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course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doesn’t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explicitly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include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partial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derivatives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cost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with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respect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weights,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i="1">
                <a:latin typeface="Times New Roman"/>
                <a:cs typeface="Times New Roman"/>
              </a:rPr>
              <a:t>∂</a:t>
            </a:r>
            <a:r>
              <a:rPr dirty="0" sz="750" spc="30" i="1">
                <a:latin typeface="Times New Roman"/>
                <a:cs typeface="Times New Roman"/>
              </a:rPr>
              <a:t> </a:t>
            </a:r>
            <a:r>
              <a:rPr dirty="0" sz="750" spc="105" i="1">
                <a:latin typeface="Calibri"/>
                <a:cs typeface="Calibri"/>
              </a:rPr>
              <a:t>C</a:t>
            </a:r>
            <a:r>
              <a:rPr dirty="0" sz="750" spc="105" i="1">
                <a:latin typeface="Times New Roman"/>
                <a:cs typeface="Times New Roman"/>
              </a:rPr>
              <a:t>/∂</a:t>
            </a:r>
            <a:r>
              <a:rPr dirty="0" sz="750" spc="30" i="1">
                <a:latin typeface="Times New Roman"/>
                <a:cs typeface="Times New Roman"/>
              </a:rPr>
              <a:t> </a:t>
            </a:r>
            <a:r>
              <a:rPr dirty="0" sz="750" spc="-25" i="1">
                <a:latin typeface="Calibri"/>
                <a:cs typeface="Calibri"/>
              </a:rPr>
              <a:t>w</a:t>
            </a:r>
            <a:r>
              <a:rPr dirty="0" sz="750" spc="-25">
                <a:latin typeface="Calibri"/>
                <a:cs typeface="Calibri"/>
              </a:rPr>
              <a:t>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-2530" y="2735996"/>
            <a:ext cx="344170" cy="461645"/>
            <a:chOff x="-2530" y="2735996"/>
            <a:chExt cx="344170" cy="461645"/>
          </a:xfrm>
        </p:grpSpPr>
        <p:sp>
          <p:nvSpPr>
            <p:cNvPr id="11" name="object 11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25831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4350" y="368721"/>
            <a:ext cx="4671695" cy="1323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10790">
              <a:lnSpc>
                <a:spcPts val="525"/>
              </a:lnSpc>
              <a:spcBef>
                <a:spcPts val="110"/>
              </a:spcBef>
              <a:tabLst>
                <a:tab pos="4450715" algn="l"/>
              </a:tabLst>
            </a:pPr>
            <a:r>
              <a:rPr dirty="0" sz="850" spc="10">
                <a:latin typeface="Calibri"/>
                <a:cs typeface="Calibri"/>
              </a:rPr>
              <a:t>5.1.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157</a:t>
            </a:r>
            <a:endParaRPr sz="850">
              <a:latin typeface="Calibri"/>
              <a:cs typeface="Calibri"/>
            </a:endParaRPr>
          </a:p>
          <a:p>
            <a:pPr algn="r" marR="2889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algn="r" marR="297815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(rough!)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global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measures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endParaRPr sz="850">
              <a:latin typeface="Calibri"/>
              <a:cs typeface="Calibri"/>
            </a:endParaRPr>
          </a:p>
          <a:p>
            <a:pPr algn="ctr" marL="661035">
              <a:lnSpc>
                <a:spcPts val="350"/>
              </a:lnSpc>
              <a:spcBef>
                <a:spcPts val="100"/>
              </a:spcBef>
            </a:pP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  <a:p>
            <a:pPr marL="45085">
              <a:lnSpc>
                <a:spcPts val="710"/>
              </a:lnSpc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So,for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length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10">
                <a:latin typeface="Cambria"/>
                <a:cs typeface="Cambria"/>
              </a:rPr>
              <a:t>ǁ</a:t>
            </a:r>
            <a:r>
              <a:rPr dirty="0" sz="850" spc="110" i="1">
                <a:latin typeface="Times New Roman"/>
                <a:cs typeface="Times New Roman"/>
              </a:rPr>
              <a:t>δ</a:t>
            </a:r>
            <a:r>
              <a:rPr dirty="0" sz="850" spc="300" i="1">
                <a:latin typeface="Times New Roman"/>
                <a:cs typeface="Times New Roman"/>
              </a:rPr>
              <a:t> </a:t>
            </a:r>
            <a:r>
              <a:rPr dirty="0" sz="850" spc="80">
                <a:latin typeface="Cambria"/>
                <a:cs typeface="Cambria"/>
              </a:rPr>
              <a:t>ǁ</a:t>
            </a:r>
            <a:r>
              <a:rPr dirty="0" sz="850" spc="14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measures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  <a:p>
            <a:pPr marL="45085" marR="29781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0">
                <a:latin typeface="Cambria"/>
                <a:cs typeface="Cambria"/>
              </a:rPr>
              <a:t>ǁ</a:t>
            </a: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>
                <a:latin typeface="Calibri"/>
                <a:cs typeface="Calibri"/>
              </a:rPr>
              <a:t>2</a:t>
            </a:r>
            <a:r>
              <a:rPr dirty="0" sz="850" spc="100">
                <a:latin typeface="Cambria"/>
                <a:cs typeface="Cambria"/>
              </a:rPr>
              <a:t>ǁ</a:t>
            </a:r>
            <a:r>
              <a:rPr dirty="0" sz="850" spc="12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measures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second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learning.</a:t>
            </a:r>
            <a:endParaRPr sz="850">
              <a:latin typeface="Calibri"/>
              <a:cs typeface="Calibri"/>
            </a:endParaRPr>
          </a:p>
          <a:p>
            <a:pPr algn="r" marR="297815">
              <a:lnSpc>
                <a:spcPct val="100000"/>
              </a:lnSpc>
              <a:spcBef>
                <a:spcPts val="245"/>
              </a:spcBef>
            </a:pP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definitions,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configuration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plotted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find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193889" y="1676229"/>
            <a:ext cx="10052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951230" algn="l"/>
              </a:tabLst>
            </a:pP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7296" y="1683400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10">
                <a:latin typeface="Cambria"/>
                <a:cs typeface="Cambria"/>
              </a:rPr>
              <a:t>ǁ</a:t>
            </a:r>
            <a:r>
              <a:rPr dirty="0" sz="850" spc="110" i="1">
                <a:latin typeface="Times New Roman"/>
                <a:cs typeface="Times New Roman"/>
              </a:rPr>
              <a:t>δ</a:t>
            </a:r>
            <a:r>
              <a:rPr dirty="0" sz="850" spc="275" i="1">
                <a:latin typeface="Times New Roman"/>
                <a:cs typeface="Times New Roman"/>
              </a:rPr>
              <a:t> </a:t>
            </a:r>
            <a:r>
              <a:rPr dirty="0" sz="850" spc="80">
                <a:latin typeface="Cambria"/>
                <a:cs typeface="Cambria"/>
              </a:rPr>
              <a:t>ǁ</a:t>
            </a:r>
            <a:r>
              <a:rPr dirty="0" sz="850" spc="130">
                <a:latin typeface="Cambria"/>
                <a:cs typeface="Cambria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5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0.07...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10">
                <a:latin typeface="Cambria"/>
                <a:cs typeface="Cambria"/>
              </a:rPr>
              <a:t>ǁ</a:t>
            </a:r>
            <a:r>
              <a:rPr dirty="0" sz="850" spc="110" i="1">
                <a:latin typeface="Times New Roman"/>
                <a:cs typeface="Times New Roman"/>
              </a:rPr>
              <a:t>δ</a:t>
            </a:r>
            <a:r>
              <a:rPr dirty="0" sz="850" spc="275" i="1">
                <a:latin typeface="Times New Roman"/>
                <a:cs typeface="Times New Roman"/>
              </a:rPr>
              <a:t> </a:t>
            </a:r>
            <a:r>
              <a:rPr dirty="0" sz="850" spc="80">
                <a:latin typeface="Cambria"/>
                <a:cs typeface="Cambria"/>
              </a:rPr>
              <a:t>ǁ</a:t>
            </a:r>
            <a:r>
              <a:rPr dirty="0" sz="850" spc="130">
                <a:latin typeface="Cambria"/>
                <a:cs typeface="Cambria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5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0.31....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confirms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suspicion: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0524" y="1814570"/>
            <a:ext cx="4375150" cy="1827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2730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hidden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layer.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  <a:spcBef>
                <a:spcPts val="100"/>
              </a:spcBef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layers?</a:t>
            </a:r>
            <a:r>
              <a:rPr dirty="0" sz="850" spc="20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layers,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50">
                <a:latin typeface="Lucida Sans Unicode"/>
                <a:cs typeface="Lucida Sans Unicode"/>
              </a:rPr>
              <a:t>[</a:t>
            </a:r>
            <a:r>
              <a:rPr dirty="0" sz="850" spc="50">
                <a:latin typeface="Calibri"/>
                <a:cs typeface="Calibri"/>
              </a:rPr>
              <a:t>784,30,30,30,10</a:t>
            </a:r>
            <a:r>
              <a:rPr dirty="0" sz="850" spc="50">
                <a:latin typeface="Lucida Sans Unicode"/>
                <a:cs typeface="Lucida Sans Unicode"/>
              </a:rPr>
              <a:t>]</a:t>
            </a:r>
            <a:r>
              <a:rPr dirty="0" sz="850" spc="100">
                <a:latin typeface="Lucida Sans Unicode"/>
                <a:cs typeface="Lucida Sans Unicode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respective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0.012,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0.060,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0.283.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hidden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respective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0.003,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0.017,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0.070,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0.285.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pattern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holds: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layers.</a:t>
            </a:r>
            <a:endParaRPr sz="850">
              <a:latin typeface="Calibri"/>
              <a:cs typeface="Calibri"/>
            </a:endParaRPr>
          </a:p>
          <a:p>
            <a:pPr algn="just" marL="19050" marR="11430" indent="189230">
              <a:lnSpc>
                <a:spcPct val="114300"/>
              </a:lnSpc>
              <a:spcBef>
                <a:spcPts val="100"/>
              </a:spcBef>
            </a:pP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initialized.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networks?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return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follows: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65783" y="3913393"/>
            <a:ext cx="2542320" cy="2085065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1060856" y="6189491"/>
            <a:ext cx="4379595" cy="1827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batch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1,000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500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mini-batches,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1,000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50,000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set.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anything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sneaky,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wool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eyes,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noisier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(albeit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average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away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noise)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chosen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smoothing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on.</a:t>
            </a:r>
            <a:endParaRPr sz="850">
              <a:latin typeface="Calibri"/>
              <a:cs typeface="Calibri"/>
            </a:endParaRPr>
          </a:p>
          <a:p>
            <a:pPr algn="r" marL="12700" marR="12700" indent="196215">
              <a:lnSpc>
                <a:spcPct val="114300"/>
              </a:lnSpc>
              <a:spcBef>
                <a:spcPts val="100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(as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already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know).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quickly,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rebounding.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layer.</a:t>
            </a:r>
            <a:endParaRPr sz="850">
              <a:latin typeface="Calibri"/>
              <a:cs typeface="Calibri"/>
            </a:endParaRPr>
          </a:p>
          <a:p>
            <a:pPr marL="19050" marR="32384" indent="189230">
              <a:lnSpc>
                <a:spcPct val="114300"/>
              </a:lnSpc>
              <a:spcBef>
                <a:spcPts val="100"/>
              </a:spcBef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networks?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(a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Lucida Sans Unicode"/>
                <a:cs typeface="Lucida Sans Unicode"/>
              </a:rPr>
              <a:t>[</a:t>
            </a:r>
            <a:r>
              <a:rPr dirty="0" sz="850">
                <a:latin typeface="Calibri"/>
                <a:cs typeface="Calibri"/>
              </a:rPr>
              <a:t>784,30,30,30,10</a:t>
            </a:r>
            <a:r>
              <a:rPr dirty="0" sz="850">
                <a:latin typeface="Lucida Sans Unicode"/>
                <a:cs typeface="Lucida Sans Unicode"/>
              </a:rPr>
              <a:t>]</a:t>
            </a:r>
            <a:r>
              <a:rPr dirty="0" sz="850" spc="170">
                <a:latin typeface="Lucida Sans Unicode"/>
                <a:cs typeface="Lucida Sans Unicode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network):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778788" y="2735996"/>
            <a:ext cx="344170" cy="461645"/>
            <a:chOff x="5778788" y="2735996"/>
            <a:chExt cx="344170" cy="461645"/>
          </a:xfrm>
        </p:grpSpPr>
        <p:sp>
          <p:nvSpPr>
            <p:cNvPr id="9" name="object 9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5876620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253238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158</a:t>
            </a:r>
            <a:r>
              <a:rPr dirty="0" sz="850">
                <a:latin typeface="Calibri"/>
                <a:cs typeface="Calibri"/>
              </a:rPr>
              <a:t>	Why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train?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5776" y="1066257"/>
            <a:ext cx="2542320" cy="208506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702057" y="3460910"/>
            <a:ext cx="435102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780" marR="5080" indent="-571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Again,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Finally,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add</a:t>
            </a:r>
            <a:r>
              <a:rPr dirty="0" sz="850" spc="20">
                <a:latin typeface="Calibri"/>
                <a:cs typeface="Calibri"/>
              </a:rPr>
              <a:t> 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fourth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(a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Lucida Sans Unicode"/>
                <a:cs typeface="Lucida Sans Unicode"/>
              </a:rPr>
              <a:t>[</a:t>
            </a:r>
            <a:r>
              <a:rPr dirty="0" sz="850" spc="50">
                <a:latin typeface="Calibri"/>
                <a:cs typeface="Calibri"/>
              </a:rPr>
              <a:t>784,30,30,30,30,10</a:t>
            </a:r>
            <a:r>
              <a:rPr dirty="0" sz="850" spc="50">
                <a:latin typeface="Lucida Sans Unicode"/>
                <a:cs typeface="Lucida Sans Unicode"/>
              </a:rPr>
              <a:t>]</a:t>
            </a:r>
            <a:r>
              <a:rPr dirty="0" sz="850" spc="30">
                <a:latin typeface="Lucida Sans Unicode"/>
                <a:cs typeface="Lucida Sans Unicode"/>
              </a:rPr>
              <a:t> </a:t>
            </a:r>
            <a:r>
              <a:rPr dirty="0" sz="850" spc="20">
                <a:latin typeface="Calibri"/>
                <a:cs typeface="Calibri"/>
              </a:rPr>
              <a:t>network),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happens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05776" y="4360128"/>
            <a:ext cx="2542320" cy="2085065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700852" y="6754781"/>
            <a:ext cx="4375150" cy="12623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63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Again,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slowly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case,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roughly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wonder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trouble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earlier!</a:t>
            </a:r>
            <a:endParaRPr sz="850">
              <a:latin typeface="Calibri"/>
              <a:cs typeface="Calibri"/>
            </a:endParaRPr>
          </a:p>
          <a:p>
            <a:pPr algn="just" marL="12700" marR="24765" indent="196215">
              <a:lnSpc>
                <a:spcPct val="114300"/>
              </a:lnSpc>
              <a:spcBef>
                <a:spcPts val="409"/>
              </a:spcBef>
            </a:pP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important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observation: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tends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backward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means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20">
                <a:latin typeface="Calibri"/>
                <a:cs typeface="Calibri"/>
              </a:rPr>
              <a:t> happens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phenomenon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vanishing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-2530" y="2735996"/>
            <a:ext cx="344170" cy="461645"/>
            <a:chOff x="-2530" y="2735996"/>
            <a:chExt cx="344170" cy="461645"/>
          </a:xfrm>
        </p:grpSpPr>
        <p:sp>
          <p:nvSpPr>
            <p:cNvPr id="8" name="object 8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56042"/>
                  </a:ln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2"/>
                  </a:move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25831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64185" y="368721"/>
            <a:ext cx="4841875" cy="43008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4620895" algn="l"/>
              </a:tabLst>
            </a:pPr>
            <a:r>
              <a:rPr dirty="0" sz="850" spc="10">
                <a:latin typeface="Calibri"/>
                <a:cs typeface="Calibri"/>
              </a:rPr>
              <a:t>5.2.</a:t>
            </a:r>
            <a:r>
              <a:rPr dirty="0" sz="850" spc="4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problem?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Unstable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nets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159</a:t>
            </a:r>
            <a:endParaRPr sz="850">
              <a:latin typeface="Calibri"/>
              <a:cs typeface="Calibri"/>
            </a:endParaRPr>
          </a:p>
          <a:p>
            <a:pPr algn="r" marR="2889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algn="just" marL="215265">
              <a:lnSpc>
                <a:spcPct val="100000"/>
              </a:lnSpc>
            </a:pPr>
            <a:r>
              <a:rPr dirty="0" sz="850" spc="-10">
                <a:latin typeface="Calibri"/>
                <a:cs typeface="Calibri"/>
              </a:rPr>
              <a:t>problem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8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215265" marR="294005" indent="189230">
              <a:lnSpc>
                <a:spcPct val="114300"/>
              </a:lnSpc>
              <a:spcBef>
                <a:spcPts val="75"/>
              </a:spcBef>
            </a:pP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occur?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it?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networks?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shortly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inevitable,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although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alternative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attractive,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either: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layers!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exploding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20">
                <a:latin typeface="Calibri"/>
                <a:cs typeface="Calibri"/>
              </a:rPr>
              <a:t> 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news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vanishing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generally,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turns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unstable,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tending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either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explode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vanish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instability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gradient-based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address.</a:t>
            </a:r>
            <a:endParaRPr sz="850">
              <a:latin typeface="Calibri"/>
              <a:cs typeface="Calibri"/>
            </a:endParaRPr>
          </a:p>
          <a:p>
            <a:pPr algn="just" marL="215265" marR="271780" indent="189230">
              <a:lnSpc>
                <a:spcPct val="114300"/>
              </a:lnSpc>
              <a:spcBef>
                <a:spcPts val="75"/>
              </a:spcBef>
            </a:pPr>
            <a:r>
              <a:rPr dirty="0" sz="850" spc="20">
                <a:latin typeface="Calibri"/>
                <a:cs typeface="Calibri"/>
              </a:rPr>
              <a:t>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response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vanishing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unstable)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wonder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they’re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such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 problem.</a:t>
            </a:r>
            <a:r>
              <a:rPr dirty="0" sz="850" spc="3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Momentarily stepping away from neural nets, imagine we were trying to </a:t>
            </a:r>
            <a:r>
              <a:rPr dirty="0" sz="850" spc="-25">
                <a:latin typeface="Calibri"/>
                <a:cs typeface="Calibri"/>
              </a:rPr>
              <a:t>nu-</a:t>
            </a:r>
            <a:r>
              <a:rPr dirty="0" sz="850" spc="20">
                <a:latin typeface="Calibri"/>
                <a:cs typeface="Calibri"/>
              </a:rPr>
              <a:t>merically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minimize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f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Tahoma"/>
                <a:cs typeface="Tahoma"/>
              </a:rPr>
              <a:t>)</a:t>
            </a:r>
            <a:r>
              <a:rPr dirty="0" sz="850" spc="60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single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variable.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Wouldn’t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news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baseline="35353" sz="825" spc="120">
                <a:latin typeface="Cambria"/>
                <a:cs typeface="Cambria"/>
              </a:rPr>
              <a:t>’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x</a:t>
            </a:r>
            <a:r>
              <a:rPr dirty="0" sz="850" spc="80">
                <a:latin typeface="Tahoma"/>
                <a:cs typeface="Tahoma"/>
              </a:rPr>
              <a:t>)</a:t>
            </a:r>
            <a:r>
              <a:rPr dirty="0" sz="850" spc="7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small?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already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extremum?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adjustment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biases?</a:t>
            </a:r>
            <a:endParaRPr sz="850">
              <a:latin typeface="Calibri"/>
              <a:cs typeface="Calibri"/>
            </a:endParaRPr>
          </a:p>
          <a:p>
            <a:pPr algn="just" marL="208915" marR="274955" indent="196215">
              <a:lnSpc>
                <a:spcPct val="114300"/>
              </a:lnSpc>
              <a:spcBef>
                <a:spcPts val="75"/>
              </a:spcBef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biases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unlikely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job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whatever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concrete,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r>
              <a:rPr dirty="0" sz="850" spc="20">
                <a:latin typeface="Calibri"/>
                <a:cs typeface="Calibri"/>
              </a:rPr>
              <a:t> 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Lucida Sans Unicode"/>
                <a:cs typeface="Lucida Sans Unicode"/>
              </a:rPr>
              <a:t>[</a:t>
            </a:r>
            <a:r>
              <a:rPr dirty="0" sz="850" spc="50">
                <a:latin typeface="Calibri"/>
                <a:cs typeface="Calibri"/>
              </a:rPr>
              <a:t>784,30,30,30,10</a:t>
            </a:r>
            <a:r>
              <a:rPr dirty="0" sz="850" spc="50">
                <a:latin typeface="Lucida Sans Unicode"/>
                <a:cs typeface="Lucida Sans Unicode"/>
              </a:rPr>
              <a:t>]</a:t>
            </a:r>
            <a:r>
              <a:rPr dirty="0" sz="850" spc="20">
                <a:latin typeface="Lucida Sans Unicode"/>
                <a:cs typeface="Lucida Sans Unicode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MNIST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random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means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throws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away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extensively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trained,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extremely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identify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information.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address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2380" y="4907290"/>
            <a:ext cx="4353560" cy="9798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44805" marR="417195" indent="-327660">
              <a:lnSpc>
                <a:spcPct val="113100"/>
              </a:lnSpc>
              <a:spcBef>
                <a:spcPts val="100"/>
              </a:spcBef>
              <a:tabLst>
                <a:tab pos="344805" algn="l"/>
              </a:tabLst>
            </a:pPr>
            <a:r>
              <a:rPr dirty="0" sz="1050" spc="30" b="1">
                <a:latin typeface="Calibri"/>
                <a:cs typeface="Calibri"/>
              </a:rPr>
              <a:t>5.2</a:t>
            </a:r>
            <a:r>
              <a:rPr dirty="0" sz="1050" b="1">
                <a:latin typeface="Calibri"/>
                <a:cs typeface="Calibri"/>
              </a:rPr>
              <a:t>	What’s</a:t>
            </a:r>
            <a:r>
              <a:rPr dirty="0" sz="1050" spc="185" b="1">
                <a:latin typeface="Calibri"/>
                <a:cs typeface="Calibri"/>
              </a:rPr>
              <a:t> </a:t>
            </a:r>
            <a:r>
              <a:rPr dirty="0" sz="1050" spc="60" b="1">
                <a:latin typeface="Calibri"/>
                <a:cs typeface="Calibri"/>
              </a:rPr>
              <a:t>causing</a:t>
            </a:r>
            <a:r>
              <a:rPr dirty="0" sz="1050" spc="19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the</a:t>
            </a:r>
            <a:r>
              <a:rPr dirty="0" sz="1050" spc="190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vanishing</a:t>
            </a:r>
            <a:r>
              <a:rPr dirty="0" sz="1050" spc="185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gradient</a:t>
            </a:r>
            <a:r>
              <a:rPr dirty="0" sz="1050" spc="19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problem?</a:t>
            </a:r>
            <a:r>
              <a:rPr dirty="0" sz="1050" spc="330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Unstable </a:t>
            </a:r>
            <a:r>
              <a:rPr dirty="0" sz="1050" spc="50" b="1">
                <a:latin typeface="Calibri"/>
                <a:cs typeface="Calibri"/>
              </a:rPr>
              <a:t>gradients</a:t>
            </a:r>
            <a:r>
              <a:rPr dirty="0" sz="1050" spc="110" b="1">
                <a:latin typeface="Calibri"/>
                <a:cs typeface="Calibri"/>
              </a:rPr>
              <a:t> </a:t>
            </a:r>
            <a:r>
              <a:rPr dirty="0" sz="1050" spc="65" b="1">
                <a:latin typeface="Calibri"/>
                <a:cs typeface="Calibri"/>
              </a:rPr>
              <a:t>in</a:t>
            </a:r>
            <a:r>
              <a:rPr dirty="0" sz="1050" spc="11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deep</a:t>
            </a:r>
            <a:r>
              <a:rPr dirty="0" sz="1050" spc="110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neural</a:t>
            </a:r>
            <a:r>
              <a:rPr dirty="0" sz="1050" spc="110" b="1">
                <a:latin typeface="Calibri"/>
                <a:cs typeface="Calibri"/>
              </a:rPr>
              <a:t> </a:t>
            </a:r>
            <a:r>
              <a:rPr dirty="0" sz="1050" spc="-20" b="1">
                <a:latin typeface="Calibri"/>
                <a:cs typeface="Calibri"/>
              </a:rPr>
              <a:t>nets</a:t>
            </a:r>
            <a:endParaRPr sz="1050">
              <a:latin typeface="Calibri"/>
              <a:cs typeface="Calibri"/>
            </a:endParaRPr>
          </a:p>
          <a:p>
            <a:pPr algn="just" marL="17145" marR="5080" indent="-5080">
              <a:lnSpc>
                <a:spcPct val="114300"/>
              </a:lnSpc>
              <a:spcBef>
                <a:spcPts val="1160"/>
              </a:spcBef>
            </a:pP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vanishing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occurs,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consider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simplest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network: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28012" y="6046157"/>
            <a:ext cx="2985156" cy="244139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1079996" y="7451929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017051" y="6429686"/>
            <a:ext cx="4461510" cy="15849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5880" marR="43180" indent="6350">
              <a:lnSpc>
                <a:spcPct val="114300"/>
              </a:lnSpc>
              <a:spcBef>
                <a:spcPts val="95"/>
              </a:spcBef>
            </a:pPr>
            <a:r>
              <a:rPr dirty="0" sz="850" spc="25">
                <a:latin typeface="Calibri"/>
                <a:cs typeface="Calibri"/>
              </a:rPr>
              <a:t>Here,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>
                <a:latin typeface="Calibri"/>
                <a:cs typeface="Calibri"/>
              </a:rPr>
              <a:t>1</a:t>
            </a:r>
            <a:r>
              <a:rPr dirty="0" sz="850" spc="40">
                <a:latin typeface="Calibri"/>
                <a:cs typeface="Calibri"/>
              </a:rPr>
              <a:t>,</a:t>
            </a:r>
            <a:r>
              <a:rPr dirty="0" sz="850" spc="-5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>
                <a:latin typeface="Calibri"/>
                <a:cs typeface="Calibri"/>
              </a:rPr>
              <a:t>2</a:t>
            </a:r>
            <a:r>
              <a:rPr dirty="0" sz="850" spc="40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35" i="1">
                <a:latin typeface="Calibri"/>
                <a:cs typeface="Calibri"/>
              </a:rPr>
              <a:t>b</a:t>
            </a:r>
            <a:r>
              <a:rPr dirty="0" baseline="-20202" sz="825" spc="52">
                <a:latin typeface="Calibri"/>
                <a:cs typeface="Calibri"/>
              </a:rPr>
              <a:t>1</a:t>
            </a:r>
            <a:r>
              <a:rPr dirty="0" sz="850" spc="35">
                <a:latin typeface="Calibri"/>
                <a:cs typeface="Calibri"/>
              </a:rPr>
              <a:t>,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35" i="1">
                <a:latin typeface="Calibri"/>
                <a:cs typeface="Calibri"/>
              </a:rPr>
              <a:t>b</a:t>
            </a:r>
            <a:r>
              <a:rPr dirty="0" baseline="-20202" sz="825" spc="52">
                <a:latin typeface="Calibri"/>
                <a:cs typeface="Calibri"/>
              </a:rPr>
              <a:t>2</a:t>
            </a:r>
            <a:r>
              <a:rPr dirty="0" sz="850" spc="35">
                <a:latin typeface="Calibri"/>
                <a:cs typeface="Calibri"/>
              </a:rPr>
              <a:t>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some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Just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remind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you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how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works,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output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45" i="1">
                <a:latin typeface="Calibri"/>
                <a:cs typeface="Calibri"/>
              </a:rPr>
              <a:t>a</a:t>
            </a:r>
            <a:r>
              <a:rPr dirty="0" baseline="-20202" sz="825" spc="67" i="1">
                <a:latin typeface="Calibri"/>
                <a:cs typeface="Calibri"/>
              </a:rPr>
              <a:t>j</a:t>
            </a:r>
            <a:r>
              <a:rPr dirty="0" baseline="-20202" sz="825" spc="292" i="1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from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j</a:t>
            </a:r>
            <a:r>
              <a:rPr dirty="0" sz="850" spc="40">
                <a:latin typeface="Calibri"/>
                <a:cs typeface="Calibri"/>
              </a:rPr>
              <a:t>-</a:t>
            </a:r>
            <a:r>
              <a:rPr dirty="0" sz="850" spc="15">
                <a:latin typeface="Calibri"/>
                <a:cs typeface="Calibri"/>
              </a:rPr>
              <a:t>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neuron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baseline="-20202" sz="825" spc="135" i="1">
                <a:latin typeface="Calibri"/>
                <a:cs typeface="Calibri"/>
              </a:rPr>
              <a:t>j</a:t>
            </a:r>
            <a:r>
              <a:rPr dirty="0" baseline="-20202" sz="825" spc="-75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)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40" i="1">
                <a:latin typeface="Times New Roman"/>
                <a:cs typeface="Times New Roman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usual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sigmoid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activation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-20202" sz="825" spc="89" i="1">
                <a:latin typeface="Calibri"/>
                <a:cs typeface="Calibri"/>
              </a:rPr>
              <a:t>j</a:t>
            </a:r>
            <a:r>
              <a:rPr dirty="0" baseline="-20202" sz="825" spc="232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-37" i="1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a</a:t>
            </a:r>
            <a:r>
              <a:rPr dirty="0" baseline="-20202" sz="825" spc="104" i="1">
                <a:latin typeface="Calibri"/>
                <a:cs typeface="Calibri"/>
              </a:rPr>
              <a:t>j</a:t>
            </a:r>
            <a:r>
              <a:rPr dirty="0" baseline="-20202" sz="825" spc="104">
                <a:latin typeface="Cambria"/>
                <a:cs typeface="Cambria"/>
              </a:rPr>
              <a:t>−</a:t>
            </a:r>
            <a:r>
              <a:rPr dirty="0" baseline="-20202" sz="825" spc="104">
                <a:latin typeface="Calibri"/>
                <a:cs typeface="Calibri"/>
              </a:rPr>
              <a:t>1</a:t>
            </a:r>
            <a:r>
              <a:rPr dirty="0" baseline="-20202" sz="825" spc="127">
                <a:latin typeface="Calibri"/>
                <a:cs typeface="Calibri"/>
              </a:rPr>
              <a:t> </a:t>
            </a:r>
            <a:r>
              <a:rPr dirty="0" sz="850" spc="5">
                <a:latin typeface="Tahoma"/>
                <a:cs typeface="Tahoma"/>
              </a:rPr>
              <a:t>+</a:t>
            </a:r>
            <a:r>
              <a:rPr dirty="0" sz="850" spc="-40">
                <a:latin typeface="Tahoma"/>
                <a:cs typeface="Tahoma"/>
              </a:rPr>
              <a:t> </a:t>
            </a:r>
            <a:r>
              <a:rPr dirty="0" sz="850" spc="40" i="1">
                <a:latin typeface="Calibri"/>
                <a:cs typeface="Calibri"/>
              </a:rPr>
              <a:t>b</a:t>
            </a:r>
            <a:r>
              <a:rPr dirty="0" baseline="-20202" sz="825" spc="60" i="1">
                <a:latin typeface="Calibri"/>
                <a:cs typeface="Calibri"/>
              </a:rPr>
              <a:t>j</a:t>
            </a:r>
            <a:r>
              <a:rPr dirty="0" baseline="-20202" sz="825" spc="292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input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neuron.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drawn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emphasize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function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network’s</a:t>
            </a:r>
            <a:r>
              <a:rPr dirty="0" sz="850" spc="10">
                <a:latin typeface="Calibri"/>
                <a:cs typeface="Calibri"/>
              </a:rPr>
              <a:t> output,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45" i="1">
                <a:latin typeface="Calibri"/>
                <a:cs typeface="Calibri"/>
              </a:rPr>
              <a:t>a</a:t>
            </a:r>
            <a:r>
              <a:rPr dirty="0" baseline="-20202" sz="825" spc="67">
                <a:latin typeface="Calibri"/>
                <a:cs typeface="Calibri"/>
              </a:rPr>
              <a:t>4</a:t>
            </a:r>
            <a:r>
              <a:rPr dirty="0" sz="850" spc="45">
                <a:latin typeface="Calibri"/>
                <a:cs typeface="Calibri"/>
              </a:rPr>
              <a:t>: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output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from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network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close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desired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 </a:t>
            </a:r>
            <a:r>
              <a:rPr dirty="0" sz="850" spc="40">
                <a:latin typeface="Calibri"/>
                <a:cs typeface="Calibri"/>
              </a:rPr>
              <a:t>will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low,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while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far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away,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cost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will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high.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850">
              <a:latin typeface="Calibri"/>
              <a:cs typeface="Calibri"/>
            </a:endParaRPr>
          </a:p>
          <a:p>
            <a:pPr algn="just" marL="50800" marR="45720" indent="139700">
              <a:lnSpc>
                <a:spcPts val="800"/>
              </a:lnSpc>
            </a:pPr>
            <a:r>
              <a:rPr dirty="0" baseline="30303" sz="825" spc="15">
                <a:latin typeface="Calibri"/>
                <a:cs typeface="Calibri"/>
              </a:rPr>
              <a:t>8</a:t>
            </a:r>
            <a:r>
              <a:rPr dirty="0" sz="750" spc="10">
                <a:latin typeface="Calibri"/>
                <a:cs typeface="Calibri"/>
              </a:rPr>
              <a:t>See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Gradient</a:t>
            </a:r>
            <a:r>
              <a:rPr dirty="0" sz="750" spc="190">
                <a:latin typeface="Calibri"/>
                <a:cs typeface="Calibri"/>
                <a:hlinkClick r:id="rId4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flow</a:t>
            </a:r>
            <a:r>
              <a:rPr dirty="0" sz="750" spc="190">
                <a:latin typeface="Calibri"/>
                <a:cs typeface="Calibri"/>
                <a:hlinkClick r:id="rId4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in</a:t>
            </a:r>
            <a:r>
              <a:rPr dirty="0" sz="750" spc="190">
                <a:latin typeface="Calibri"/>
                <a:cs typeface="Calibri"/>
                <a:hlinkClick r:id="rId4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recurrent</a:t>
            </a:r>
            <a:r>
              <a:rPr dirty="0" sz="750" spc="190">
                <a:latin typeface="Calibri"/>
                <a:cs typeface="Calibri"/>
                <a:hlinkClick r:id="rId4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nets:</a:t>
            </a:r>
            <a:r>
              <a:rPr dirty="0" sz="750" spc="355">
                <a:latin typeface="Calibri"/>
                <a:cs typeface="Calibri"/>
                <a:hlinkClick r:id="rId4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the</a:t>
            </a:r>
            <a:r>
              <a:rPr dirty="0" sz="750" spc="190">
                <a:latin typeface="Calibri"/>
                <a:cs typeface="Calibri"/>
                <a:hlinkClick r:id="rId4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difficulty</a:t>
            </a:r>
            <a:r>
              <a:rPr dirty="0" sz="750" spc="190">
                <a:latin typeface="Calibri"/>
                <a:cs typeface="Calibri"/>
                <a:hlinkClick r:id="rId4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of</a:t>
            </a:r>
            <a:r>
              <a:rPr dirty="0" sz="750" spc="190">
                <a:latin typeface="Calibri"/>
                <a:cs typeface="Calibri"/>
                <a:hlinkClick r:id="rId4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learning</a:t>
            </a:r>
            <a:r>
              <a:rPr dirty="0" sz="750" spc="190">
                <a:latin typeface="Calibri"/>
                <a:cs typeface="Calibri"/>
                <a:hlinkClick r:id="rId4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long-term</a:t>
            </a:r>
            <a:r>
              <a:rPr dirty="0" sz="750" spc="190">
                <a:latin typeface="Calibri"/>
                <a:cs typeface="Calibri"/>
                <a:hlinkClick r:id="rId4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dependencies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20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Sepp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Hochreiter,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Yoshua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Bengio,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Paolo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Frasconi,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Jürgen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Schmidhuber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(2001).</a:t>
            </a:r>
            <a:r>
              <a:rPr dirty="0" sz="750" spc="1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paper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studied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recurrent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neural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nets,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but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essential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phenomenon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same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feedforward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networks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are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studying.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also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Sepp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Hochreiter’s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earlier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Diploma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Thesis,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Untersuchungen</a:t>
            </a:r>
            <a:r>
              <a:rPr dirty="0" sz="750" spc="110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zu</a:t>
            </a:r>
            <a:r>
              <a:rPr dirty="0" sz="750" spc="110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dynamischen</a:t>
            </a:r>
            <a:r>
              <a:rPr dirty="0" sz="750" spc="114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neuronalen</a:t>
            </a:r>
            <a:r>
              <a:rPr dirty="0" sz="750" spc="110">
                <a:latin typeface="Calibri"/>
                <a:cs typeface="Calibri"/>
                <a:hlinkClick r:id="rId5"/>
              </a:rPr>
              <a:t> </a:t>
            </a:r>
            <a:r>
              <a:rPr dirty="0" sz="750" spc="-10">
                <a:latin typeface="Calibri"/>
                <a:cs typeface="Calibri"/>
                <a:hlinkClick r:id="rId5"/>
              </a:rPr>
              <a:t>Netzen</a:t>
            </a:r>
            <a:r>
              <a:rPr dirty="0" sz="750" spc="50">
                <a:latin typeface="Calibri"/>
                <a:cs typeface="Calibri"/>
              </a:rPr>
              <a:t> (1991,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German).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2735996"/>
            <a:ext cx="344170" cy="461645"/>
            <a:chOff x="5778788" y="2735996"/>
            <a:chExt cx="344170" cy="461645"/>
          </a:xfrm>
        </p:grpSpPr>
        <p:sp>
          <p:nvSpPr>
            <p:cNvPr id="8" name="object 8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694555" cy="146939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160</a:t>
            </a:r>
            <a:r>
              <a:rPr dirty="0" sz="850">
                <a:latin typeface="Calibri"/>
                <a:cs typeface="Calibri"/>
              </a:rPr>
              <a:t>	Why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train?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31470" marR="30480" indent="18923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study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baseline="-20202" sz="825" spc="337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associated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10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studying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why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occurs.</a:t>
            </a:r>
            <a:endParaRPr sz="850">
              <a:latin typeface="Calibri"/>
              <a:cs typeface="Calibri"/>
            </a:endParaRPr>
          </a:p>
          <a:p>
            <a:pPr algn="just" marL="318135" marR="31750" indent="203200">
              <a:lnSpc>
                <a:spcPct val="114300"/>
              </a:lnSpc>
              <a:spcBef>
                <a:spcPts val="80"/>
              </a:spcBef>
            </a:pPr>
            <a:r>
              <a:rPr dirty="0" sz="850" spc="20">
                <a:latin typeface="Calibri"/>
                <a:cs typeface="Calibri"/>
              </a:rPr>
              <a:t>I’ll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start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showing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expression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 i="1">
                <a:latin typeface="Times New Roman"/>
                <a:cs typeface="Times New Roman"/>
              </a:rPr>
              <a:t>∂</a:t>
            </a:r>
            <a:r>
              <a:rPr dirty="0" sz="850" spc="1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65" i="1">
                <a:latin typeface="Times New Roman"/>
                <a:cs typeface="Times New Roman"/>
              </a:rPr>
              <a:t>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baseline="-20202" sz="825" spc="30">
                <a:latin typeface="Calibri"/>
                <a:cs typeface="Calibri"/>
              </a:rPr>
              <a:t>1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forbidding,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moment.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expression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(ignore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45" i="1">
                <a:latin typeface="Times New Roman"/>
                <a:cs typeface="Times New Roman"/>
              </a:rPr>
              <a:t>σ</a:t>
            </a:r>
            <a:r>
              <a:rPr dirty="0" baseline="35353" sz="825" spc="217">
                <a:latin typeface="Cambria"/>
                <a:cs typeface="Cambria"/>
              </a:rPr>
              <a:t>’</a:t>
            </a:r>
            <a:r>
              <a:rPr dirty="0" baseline="35353" sz="825" spc="31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70" i="1">
                <a:latin typeface="Times New Roman"/>
                <a:cs typeface="Times New Roman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function):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8005" y="2015979"/>
            <a:ext cx="2974630" cy="49303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76657" y="2650459"/>
            <a:ext cx="4429125" cy="22669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43180" marR="57785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follows: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baseline="-20202" sz="825" spc="127" i="1">
                <a:latin typeface="Calibri"/>
                <a:cs typeface="Calibri"/>
              </a:rPr>
              <a:t>j</a:t>
            </a:r>
            <a:r>
              <a:rPr dirty="0" baseline="-20202" sz="825" spc="-44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each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network;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367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network;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3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-25" i="1">
                <a:latin typeface="Calibri"/>
                <a:cs typeface="Calibri"/>
              </a:rPr>
              <a:t>a</a:t>
            </a:r>
            <a:r>
              <a:rPr dirty="0" baseline="-20202" sz="825" spc="-37">
                <a:latin typeface="Calibri"/>
                <a:cs typeface="Calibri"/>
              </a:rPr>
              <a:t>4</a:t>
            </a:r>
            <a:r>
              <a:rPr dirty="0" baseline="-20202" sz="825" spc="7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Notice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placed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itself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mnemonic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expression.</a:t>
            </a:r>
            <a:endParaRPr sz="850">
              <a:latin typeface="Calibri"/>
              <a:cs typeface="Calibri"/>
            </a:endParaRPr>
          </a:p>
          <a:p>
            <a:pPr algn="just" marL="43180" marR="54610" indent="189230">
              <a:lnSpc>
                <a:spcPct val="114300"/>
              </a:lnSpc>
              <a:spcBef>
                <a:spcPts val="80"/>
              </a:spcBef>
            </a:pP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welcome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granted,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skip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relates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There’s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harm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expression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discussion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backpropagation.</a:t>
            </a:r>
            <a:r>
              <a:rPr dirty="0" sz="850" spc="48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there’s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simple</a:t>
            </a:r>
            <a:r>
              <a:rPr dirty="0" sz="850" spc="20">
                <a:latin typeface="Calibri"/>
                <a:cs typeface="Calibri"/>
              </a:rPr>
              <a:t> explanation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expression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true,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perhaps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enlightening)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take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explanation.</a:t>
            </a:r>
            <a:endParaRPr sz="850">
              <a:latin typeface="Calibri"/>
              <a:cs typeface="Calibri"/>
            </a:endParaRPr>
          </a:p>
          <a:p>
            <a:pPr algn="just" marL="38100" marR="30480" indent="194945">
              <a:lnSpc>
                <a:spcPct val="114300"/>
              </a:lnSpc>
              <a:spcBef>
                <a:spcPts val="85"/>
              </a:spcBef>
            </a:pPr>
            <a:r>
              <a:rPr dirty="0" sz="850">
                <a:latin typeface="Calibri"/>
                <a:cs typeface="Calibri"/>
              </a:rPr>
              <a:t>Imagine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95" i="1">
                <a:latin typeface="Arial"/>
                <a:cs typeface="Arial"/>
              </a:rPr>
              <a:t>∆</a:t>
            </a:r>
            <a:r>
              <a:rPr dirty="0" sz="850" spc="95" i="1">
                <a:latin typeface="Calibri"/>
                <a:cs typeface="Calibri"/>
              </a:rPr>
              <a:t>b</a:t>
            </a:r>
            <a:r>
              <a:rPr dirty="0" baseline="-20202" sz="825" spc="142">
                <a:latin typeface="Calibri"/>
                <a:cs typeface="Calibri"/>
              </a:rPr>
              <a:t>1</a:t>
            </a:r>
            <a:r>
              <a:rPr dirty="0" baseline="-20202" sz="825" spc="3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cascading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series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90" i="1">
                <a:latin typeface="Arial"/>
                <a:cs typeface="Arial"/>
              </a:rPr>
              <a:t>∆</a:t>
            </a:r>
            <a:r>
              <a:rPr dirty="0" sz="850" spc="90" i="1">
                <a:latin typeface="Calibri"/>
                <a:cs typeface="Calibri"/>
              </a:rPr>
              <a:t>a</a:t>
            </a:r>
            <a:r>
              <a:rPr dirty="0" baseline="-20202" sz="825" spc="135">
                <a:latin typeface="Calibri"/>
                <a:cs typeface="Calibri"/>
              </a:rPr>
              <a:t>1</a:t>
            </a:r>
            <a:r>
              <a:rPr dirty="0" baseline="-20202" sz="825" spc="41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90" i="1">
                <a:latin typeface="Arial"/>
                <a:cs typeface="Arial"/>
              </a:rPr>
              <a:t>∆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baseline="-20202" sz="825" spc="135">
                <a:latin typeface="Calibri"/>
                <a:cs typeface="Calibri"/>
              </a:rPr>
              <a:t>2</a:t>
            </a:r>
            <a:r>
              <a:rPr dirty="0" baseline="-20202" sz="825" spc="53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90" i="1">
                <a:latin typeface="Arial"/>
                <a:cs typeface="Arial"/>
              </a:rPr>
              <a:t>∆</a:t>
            </a:r>
            <a:r>
              <a:rPr dirty="0" sz="850" spc="90" i="1">
                <a:latin typeface="Calibri"/>
                <a:cs typeface="Calibri"/>
              </a:rPr>
              <a:t>a</a:t>
            </a:r>
            <a:r>
              <a:rPr dirty="0" baseline="-20202" sz="825" spc="135">
                <a:latin typeface="Calibri"/>
                <a:cs typeface="Calibri"/>
              </a:rPr>
              <a:t>2</a:t>
            </a:r>
            <a:r>
              <a:rPr dirty="0" baseline="-20202" sz="825" spc="457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462760" y="5043138"/>
            <a:ext cx="5410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67030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114" i="1">
                <a:latin typeface="Arial"/>
                <a:cs typeface="Arial"/>
              </a:rPr>
              <a:t>∆</a:t>
            </a:r>
            <a:r>
              <a:rPr dirty="0" sz="850" spc="114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459685" y="5210518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 h="0">
                <a:moveTo>
                  <a:pt x="0" y="0"/>
                </a:moveTo>
                <a:lnTo>
                  <a:pt x="18732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2814243" y="5210518"/>
            <a:ext cx="203200" cy="0"/>
          </a:xfrm>
          <a:custGeom>
            <a:avLst/>
            <a:gdLst/>
            <a:ahLst/>
            <a:cxnLst/>
            <a:rect l="l" t="t" r="r" b="b"/>
            <a:pathLst>
              <a:path w="203200" h="0">
                <a:moveTo>
                  <a:pt x="0" y="0"/>
                </a:moveTo>
                <a:lnTo>
                  <a:pt x="202628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2408885" y="5200982"/>
            <a:ext cx="704850" cy="1746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ts val="755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475" i="1">
                <a:latin typeface="Calibri"/>
                <a:cs typeface="Calibri"/>
              </a:rPr>
              <a:t> </a:t>
            </a:r>
            <a:r>
              <a:rPr dirty="0" baseline="42483" sz="1275" spc="517">
                <a:latin typeface="Cambria"/>
                <a:cs typeface="Cambria"/>
              </a:rPr>
              <a:t>”</a:t>
            </a:r>
            <a:r>
              <a:rPr dirty="0" baseline="42483" sz="1275" spc="202">
                <a:latin typeface="Cambria"/>
                <a:cs typeface="Cambria"/>
              </a:rPr>
              <a:t> 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b</a:t>
            </a:r>
            <a:r>
              <a:rPr dirty="0" sz="850" spc="285" i="1">
                <a:latin typeface="Calibri"/>
                <a:cs typeface="Calibri"/>
              </a:rPr>
              <a:t> </a:t>
            </a:r>
            <a:r>
              <a:rPr dirty="0" baseline="42483" sz="1275" spc="-75">
                <a:latin typeface="Calibri"/>
                <a:cs typeface="Calibri"/>
              </a:rPr>
              <a:t>.</a:t>
            </a:r>
            <a:endParaRPr baseline="42483" sz="1275">
              <a:latin typeface="Calibri"/>
              <a:cs typeface="Calibri"/>
            </a:endParaRPr>
          </a:p>
          <a:p>
            <a:pPr marL="191135">
              <a:lnSpc>
                <a:spcPts val="395"/>
              </a:lnSpc>
              <a:tabLst>
                <a:tab pos="560705" algn="l"/>
              </a:tabLst>
            </a:pP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784195" y="5120094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(5.1)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6984" y="5470342"/>
            <a:ext cx="4405630" cy="6280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2545" marR="3048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baseline="-20202" sz="825" spc="427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carefully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tracking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cascade.</a:t>
            </a:r>
            <a:endParaRPr sz="850">
              <a:latin typeface="Calibri"/>
              <a:cs typeface="Calibri"/>
            </a:endParaRPr>
          </a:p>
          <a:p>
            <a:pPr marL="42545" marR="34290" indent="189230">
              <a:lnSpc>
                <a:spcPct val="114300"/>
              </a:lnSpc>
              <a:spcBef>
                <a:spcPts val="80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95" i="1">
                <a:latin typeface="Arial"/>
                <a:cs typeface="Arial"/>
              </a:rPr>
              <a:t>∆</a:t>
            </a:r>
            <a:r>
              <a:rPr dirty="0" sz="850" spc="95" i="1">
                <a:latin typeface="Calibri"/>
                <a:cs typeface="Calibri"/>
              </a:rPr>
              <a:t>b</a:t>
            </a:r>
            <a:r>
              <a:rPr dirty="0" baseline="-20202" sz="825" spc="142">
                <a:latin typeface="Calibri"/>
                <a:cs typeface="Calibri"/>
              </a:rPr>
              <a:t>1</a:t>
            </a:r>
            <a:r>
              <a:rPr dirty="0" baseline="-20202" sz="825" spc="35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35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254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σ</a:t>
            </a:r>
            <a:r>
              <a:rPr dirty="0" sz="850" spc="75">
                <a:latin typeface="Tahoma"/>
                <a:cs typeface="Tahoma"/>
              </a:rPr>
              <a:t>(</a:t>
            </a:r>
            <a:r>
              <a:rPr dirty="0" sz="850" spc="75" i="1">
                <a:latin typeface="Calibri"/>
                <a:cs typeface="Calibri"/>
              </a:rPr>
              <a:t>z</a:t>
            </a:r>
            <a:r>
              <a:rPr dirty="0" baseline="-20202" sz="825" spc="112">
                <a:latin typeface="Calibri"/>
                <a:cs typeface="Calibri"/>
              </a:rPr>
              <a:t>1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w</a:t>
            </a:r>
            <a:r>
              <a:rPr dirty="0" baseline="-20202" sz="825" spc="120">
                <a:latin typeface="Calibri"/>
                <a:cs typeface="Calibri"/>
              </a:rPr>
              <a:t>1</a:t>
            </a:r>
            <a:r>
              <a:rPr dirty="0" baseline="-20202" sz="825" spc="-6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0</a:t>
            </a:r>
            <a:r>
              <a:rPr dirty="0" baseline="-20202" sz="825" spc="187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919312" y="6368765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767041" y="6307609"/>
            <a:ext cx="33591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10" i="1">
                <a:latin typeface="Arial"/>
                <a:cs typeface="Arial"/>
              </a:rPr>
              <a:t>∆</a:t>
            </a:r>
            <a:r>
              <a:rPr dirty="0" sz="850" spc="110" i="1">
                <a:latin typeface="Calibri"/>
                <a:cs typeface="Calibri"/>
              </a:rPr>
              <a:t>a</a:t>
            </a:r>
            <a:r>
              <a:rPr dirty="0" sz="850" spc="370" i="1">
                <a:latin typeface="Calibri"/>
                <a:cs typeface="Calibri"/>
              </a:rPr>
              <a:t> </a:t>
            </a:r>
            <a:r>
              <a:rPr dirty="0" sz="850" spc="285">
                <a:latin typeface="Cambria"/>
                <a:cs typeface="Cambria"/>
              </a:rPr>
              <a:t>”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404516" y="6288993"/>
            <a:ext cx="4108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50520" algn="l"/>
              </a:tabLst>
            </a:pPr>
            <a:r>
              <a:rPr dirty="0" u="sng" sz="5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sz="550" spc="360">
                <a:latin typeface="Calibri"/>
                <a:cs typeface="Calibri"/>
              </a:rPr>
              <a:t> </a:t>
            </a:r>
            <a:r>
              <a:rPr dirty="0" u="sng" sz="5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550" spc="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u="sng" sz="55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55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118206" y="6227843"/>
            <a:ext cx="7397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4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8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σ</a:t>
            </a:r>
            <a:r>
              <a:rPr dirty="0" u="sng" sz="850" spc="8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(</a:t>
            </a:r>
            <a:r>
              <a:rPr dirty="0" u="sng" sz="850" spc="8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w</a:t>
            </a:r>
            <a:r>
              <a:rPr dirty="0" sz="850" spc="215" i="1">
                <a:latin typeface="Calibri"/>
                <a:cs typeface="Calibri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</a:t>
            </a:r>
            <a:r>
              <a:rPr dirty="0" sz="850" spc="335" i="1">
                <a:latin typeface="Calibri"/>
                <a:cs typeface="Calibri"/>
              </a:rPr>
              <a:t> 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+</a:t>
            </a:r>
            <a:r>
              <a:rPr dirty="0" u="sng" sz="850" spc="-3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u="sng" sz="850" spc="-5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381618" y="6388509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522092" y="6449649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270097" y="6297596"/>
            <a:ext cx="495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10">
                <a:latin typeface="Cambria"/>
                <a:cs typeface="Cambria"/>
              </a:rPr>
              <a:t>’</a:t>
            </a:r>
            <a:endParaRPr sz="550">
              <a:latin typeface="Cambria"/>
              <a:cs typeface="Cambri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003308" y="6368766"/>
            <a:ext cx="7004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0685" algn="l"/>
                <a:tab pos="646430" algn="l"/>
              </a:tabLst>
            </a:pP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47529" y="6307611"/>
            <a:ext cx="8928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b</a:t>
            </a:r>
            <a:r>
              <a:rPr dirty="0" sz="850" spc="385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5">
                <a:latin typeface="Tahoma"/>
                <a:cs typeface="Tahoma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85" i="1">
                <a:latin typeface="Arial"/>
                <a:cs typeface="Arial"/>
              </a:rPr>
              <a:t>∆</a:t>
            </a:r>
            <a:r>
              <a:rPr dirty="0" sz="850" spc="85" i="1">
                <a:latin typeface="Calibri"/>
                <a:cs typeface="Calibri"/>
              </a:rPr>
              <a:t>b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 spc="-6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784194" y="6307611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(5.2)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81901" y="6671335"/>
            <a:ext cx="4399280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8923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σ</a:t>
            </a:r>
            <a:r>
              <a:rPr dirty="0" baseline="35353" sz="825" spc="112">
                <a:latin typeface="Cambria"/>
                <a:cs typeface="Cambria"/>
              </a:rPr>
              <a:t>’</a:t>
            </a:r>
            <a:r>
              <a:rPr dirty="0" sz="850" spc="75">
                <a:latin typeface="Tahoma"/>
                <a:cs typeface="Tahoma"/>
              </a:rPr>
              <a:t>(</a:t>
            </a:r>
            <a:r>
              <a:rPr dirty="0" sz="850" spc="75" i="1">
                <a:latin typeface="Calibri"/>
                <a:cs typeface="Calibri"/>
              </a:rPr>
              <a:t>z</a:t>
            </a:r>
            <a:r>
              <a:rPr dirty="0" baseline="-20202" sz="825" spc="112">
                <a:latin typeface="Calibri"/>
                <a:cs typeface="Calibri"/>
              </a:rPr>
              <a:t>1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1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familiar: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claimed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Intuitively,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converts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95" i="1">
                <a:latin typeface="Arial"/>
                <a:cs typeface="Arial"/>
              </a:rPr>
              <a:t>∆</a:t>
            </a:r>
            <a:r>
              <a:rPr dirty="0" sz="850" spc="95" i="1">
                <a:latin typeface="Calibri"/>
                <a:cs typeface="Calibri"/>
              </a:rPr>
              <a:t>b</a:t>
            </a:r>
            <a:r>
              <a:rPr dirty="0" baseline="-20202" sz="825" spc="142">
                <a:latin typeface="Calibri"/>
                <a:cs typeface="Calibri"/>
              </a:rPr>
              <a:t>1</a:t>
            </a:r>
            <a:r>
              <a:rPr dirty="0" baseline="-20202" sz="825" spc="3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65" i="1">
                <a:latin typeface="Arial"/>
                <a:cs typeface="Arial"/>
              </a:rPr>
              <a:t>∆</a:t>
            </a:r>
            <a:r>
              <a:rPr dirty="0" sz="850" spc="65" i="1">
                <a:latin typeface="Calibri"/>
                <a:cs typeface="Calibri"/>
              </a:rPr>
              <a:t>a</a:t>
            </a:r>
            <a:r>
              <a:rPr dirty="0" baseline="-20202" sz="825" spc="97">
                <a:latin typeface="Calibri"/>
                <a:cs typeface="Calibri"/>
              </a:rPr>
              <a:t>1</a:t>
            </a:r>
            <a:r>
              <a:rPr dirty="0" baseline="-20202" sz="825" spc="7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90" i="1">
                <a:latin typeface="Arial"/>
                <a:cs typeface="Arial"/>
              </a:rPr>
              <a:t>∆</a:t>
            </a:r>
            <a:r>
              <a:rPr dirty="0" sz="850" spc="90" i="1">
                <a:latin typeface="Calibri"/>
                <a:cs typeface="Calibri"/>
              </a:rPr>
              <a:t>a</a:t>
            </a:r>
            <a:r>
              <a:rPr dirty="0" baseline="-20202" sz="825" spc="135">
                <a:latin typeface="Calibri"/>
                <a:cs typeface="Calibri"/>
              </a:rPr>
              <a:t>1</a:t>
            </a:r>
            <a:r>
              <a:rPr dirty="0" baseline="-20202" sz="825" spc="43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277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1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-52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209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1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>
                <a:latin typeface="Calibri"/>
                <a:cs typeface="Calibri"/>
              </a:rPr>
              <a:t>2</a:t>
            </a:r>
            <a:r>
              <a:rPr dirty="0" baseline="-20202" sz="825" spc="35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462961" y="7415443"/>
            <a:ext cx="1568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-17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593925" y="7476588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55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462961" y="7575591"/>
            <a:ext cx="16256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599943" y="7636731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264068" y="7555849"/>
            <a:ext cx="6165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62610" algn="l"/>
              </a:tabLst>
            </a:pPr>
            <a:r>
              <a:rPr dirty="0" sz="550" spc="-50">
                <a:latin typeface="Calibri"/>
                <a:cs typeface="Calibri"/>
              </a:rPr>
              <a:t>2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081377" y="7555848"/>
            <a:ext cx="2654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1454" algn="l"/>
              </a:tabLst>
            </a:pPr>
            <a:r>
              <a:rPr dirty="0" sz="550" spc="-50">
                <a:latin typeface="Calibri"/>
                <a:cs typeface="Calibri"/>
              </a:rPr>
              <a:t>2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123807" y="7494694"/>
            <a:ext cx="12598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50545" algn="l"/>
              </a:tabLst>
            </a:pPr>
            <a:r>
              <a:rPr dirty="0" sz="850" spc="114" i="1">
                <a:latin typeface="Arial"/>
                <a:cs typeface="Arial"/>
              </a:rPr>
              <a:t>∆</a:t>
            </a:r>
            <a:r>
              <a:rPr dirty="0" sz="850" spc="114" i="1">
                <a:latin typeface="Calibri"/>
                <a:cs typeface="Calibri"/>
              </a:rPr>
              <a:t>z</a:t>
            </a:r>
            <a:r>
              <a:rPr dirty="0" sz="850" spc="365" i="1">
                <a:latin typeface="Calibri"/>
                <a:cs typeface="Calibri"/>
              </a:rPr>
              <a:t> </a:t>
            </a:r>
            <a:r>
              <a:rPr dirty="0" sz="850" spc="285">
                <a:latin typeface="Cambria"/>
                <a:cs typeface="Cambria"/>
              </a:rPr>
              <a:t>”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110" i="1">
                <a:latin typeface="Arial"/>
                <a:cs typeface="Arial"/>
              </a:rPr>
              <a:t>∆</a:t>
            </a:r>
            <a:r>
              <a:rPr dirty="0" sz="850" spc="110" i="1">
                <a:latin typeface="Calibri"/>
                <a:cs typeface="Calibri"/>
              </a:rPr>
              <a:t>a</a:t>
            </a:r>
            <a:r>
              <a:rPr dirty="0" sz="850" spc="370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195" i="1">
                <a:latin typeface="Calibri"/>
                <a:cs typeface="Calibri"/>
              </a:rPr>
              <a:t> </a:t>
            </a:r>
            <a:r>
              <a:rPr dirty="0" sz="850" spc="110" i="1">
                <a:latin typeface="Arial"/>
                <a:cs typeface="Arial"/>
              </a:rPr>
              <a:t>∆</a:t>
            </a:r>
            <a:r>
              <a:rPr dirty="0" sz="850" spc="110" i="1">
                <a:latin typeface="Calibri"/>
                <a:cs typeface="Calibri"/>
              </a:rPr>
              <a:t>a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784136" y="7494692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(5.3)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76657" y="7860046"/>
            <a:ext cx="44018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Combining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90" i="1">
                <a:latin typeface="Arial"/>
                <a:cs typeface="Arial"/>
              </a:rPr>
              <a:t>∆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baseline="-20202" sz="825" spc="135">
                <a:latin typeface="Calibri"/>
                <a:cs typeface="Calibri"/>
              </a:rPr>
              <a:t>2</a:t>
            </a:r>
            <a:r>
              <a:rPr dirty="0" baseline="-20202" sz="825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80" i="1">
                <a:latin typeface="Arial"/>
                <a:cs typeface="Arial"/>
              </a:rPr>
              <a:t>∆</a:t>
            </a:r>
            <a:r>
              <a:rPr dirty="0" sz="850" spc="80" i="1">
                <a:latin typeface="Calibri"/>
                <a:cs typeface="Calibri"/>
              </a:rPr>
              <a:t>a</a:t>
            </a:r>
            <a:r>
              <a:rPr dirty="0" baseline="-20202" sz="825" spc="120">
                <a:latin typeface="Calibri"/>
                <a:cs typeface="Calibri"/>
              </a:rPr>
              <a:t>1</a:t>
            </a:r>
            <a:r>
              <a:rPr dirty="0" sz="850" spc="80">
                <a:latin typeface="Calibri"/>
                <a:cs typeface="Calibri"/>
              </a:rPr>
              <a:t>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262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propagates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-2530" y="2735996"/>
            <a:ext cx="344170" cy="461645"/>
            <a:chOff x="-2530" y="2735996"/>
            <a:chExt cx="344170" cy="461645"/>
          </a:xfrm>
        </p:grpSpPr>
        <p:sp>
          <p:nvSpPr>
            <p:cNvPr id="32" name="object 32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56042"/>
                  </a:ln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2"/>
                  </a:move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/>
          <p:cNvSpPr txBox="1"/>
          <p:nvPr/>
        </p:nvSpPr>
        <p:spPr>
          <a:xfrm>
            <a:off x="25831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8785" y="368721"/>
            <a:ext cx="4892675" cy="20967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63500">
              <a:lnSpc>
                <a:spcPts val="525"/>
              </a:lnSpc>
              <a:spcBef>
                <a:spcPts val="110"/>
              </a:spcBef>
              <a:tabLst>
                <a:tab pos="4646295" algn="l"/>
              </a:tabLst>
            </a:pPr>
            <a:r>
              <a:rPr dirty="0" sz="850" spc="10">
                <a:latin typeface="Calibri"/>
                <a:cs typeface="Calibri"/>
              </a:rPr>
              <a:t>5.2.</a:t>
            </a:r>
            <a:r>
              <a:rPr dirty="0" sz="850" spc="4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problem?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Unstable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nets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161</a:t>
            </a:r>
            <a:endParaRPr sz="850">
              <a:latin typeface="Calibri"/>
              <a:cs typeface="Calibri"/>
            </a:endParaRPr>
          </a:p>
          <a:p>
            <a:pPr algn="r" marR="3143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algn="just" marL="240665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along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affect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z</a:t>
            </a:r>
            <a:r>
              <a:rPr dirty="0" baseline="-20202" sz="825" spc="44">
                <a:latin typeface="Calibri"/>
                <a:cs typeface="Calibri"/>
              </a:rPr>
              <a:t>2</a:t>
            </a:r>
            <a:r>
              <a:rPr dirty="0" sz="850" spc="3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50">
              <a:latin typeface="Calibri"/>
              <a:cs typeface="Calibri"/>
            </a:endParaRPr>
          </a:p>
          <a:p>
            <a:pPr marL="1783714">
              <a:lnSpc>
                <a:spcPct val="100000"/>
              </a:lnSpc>
              <a:tabLst>
                <a:tab pos="4318000" algn="l"/>
              </a:tabLst>
            </a:pPr>
            <a:r>
              <a:rPr dirty="0" sz="850" spc="90" i="1">
                <a:latin typeface="Arial"/>
                <a:cs typeface="Arial"/>
              </a:rPr>
              <a:t>∆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baseline="-20202" sz="825" spc="135">
                <a:latin typeface="Calibri"/>
                <a:cs typeface="Calibri"/>
              </a:rPr>
              <a:t>2</a:t>
            </a:r>
            <a:r>
              <a:rPr dirty="0" baseline="-20202" sz="825" spc="195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70" i="1">
                <a:latin typeface="Times New Roman"/>
                <a:cs typeface="Times New Roman"/>
              </a:rPr>
              <a:t>σ</a:t>
            </a:r>
            <a:r>
              <a:rPr dirty="0" baseline="35353" sz="825" spc="104">
                <a:latin typeface="Cambria"/>
                <a:cs typeface="Cambria"/>
              </a:rPr>
              <a:t>’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baseline="-20202" sz="825" spc="104">
                <a:latin typeface="Calibri"/>
                <a:cs typeface="Calibri"/>
              </a:rPr>
              <a:t>1</a:t>
            </a:r>
            <a:r>
              <a:rPr dirty="0" sz="850" spc="70">
                <a:latin typeface="Tahoma"/>
                <a:cs typeface="Tahoma"/>
              </a:rPr>
              <a:t>)</a:t>
            </a:r>
            <a:r>
              <a:rPr dirty="0" sz="850" spc="70" i="1">
                <a:latin typeface="Calibri"/>
                <a:cs typeface="Calibri"/>
              </a:rPr>
              <a:t>w</a:t>
            </a:r>
            <a:r>
              <a:rPr dirty="0" baseline="-20202" sz="825" spc="104">
                <a:latin typeface="Calibri"/>
                <a:cs typeface="Calibri"/>
              </a:rPr>
              <a:t>2</a:t>
            </a:r>
            <a:r>
              <a:rPr dirty="0" sz="850" spc="70" i="1">
                <a:latin typeface="Arial"/>
                <a:cs typeface="Arial"/>
              </a:rPr>
              <a:t>∆</a:t>
            </a:r>
            <a:r>
              <a:rPr dirty="0" sz="850" spc="70" i="1">
                <a:latin typeface="Calibri"/>
                <a:cs typeface="Calibri"/>
              </a:rPr>
              <a:t>b</a:t>
            </a:r>
            <a:r>
              <a:rPr dirty="0" baseline="-20202" sz="825" spc="104">
                <a:latin typeface="Calibri"/>
                <a:cs typeface="Calibri"/>
              </a:rPr>
              <a:t>1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(5.4)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850">
              <a:latin typeface="Calibri"/>
              <a:cs typeface="Calibri"/>
            </a:endParaRPr>
          </a:p>
          <a:p>
            <a:pPr algn="just" marL="240665" marR="323215" indent="-571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Again,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familiar: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claimed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expression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3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spc="-25" i="1">
                <a:latin typeface="Calibri"/>
                <a:cs typeface="Calibri"/>
              </a:rPr>
              <a:t>b</a:t>
            </a:r>
            <a:r>
              <a:rPr dirty="0" baseline="-20202" sz="825" spc="-37">
                <a:latin typeface="Calibri"/>
                <a:cs typeface="Calibri"/>
              </a:rPr>
              <a:t>1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240665" marR="318770" indent="189230">
              <a:lnSpc>
                <a:spcPct val="114300"/>
              </a:lnSpc>
              <a:spcBef>
                <a:spcPts val="100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keep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fashion,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tracking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propagate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rest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baseline="-20202" sz="825" spc="127" i="1">
                <a:latin typeface="Calibri"/>
                <a:cs typeface="Calibri"/>
              </a:rPr>
              <a:t>j</a:t>
            </a:r>
            <a:r>
              <a:rPr dirty="0" baseline="-20202" sz="825" spc="-44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term,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pick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434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21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initial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95" i="1">
                <a:latin typeface="Arial"/>
                <a:cs typeface="Arial"/>
              </a:rPr>
              <a:t>∆</a:t>
            </a:r>
            <a:r>
              <a:rPr dirty="0" sz="850" spc="95" i="1">
                <a:latin typeface="Calibri"/>
                <a:cs typeface="Calibri"/>
              </a:rPr>
              <a:t>b</a:t>
            </a:r>
            <a:r>
              <a:rPr dirty="0" baseline="-20202" sz="825" spc="142">
                <a:latin typeface="Calibri"/>
                <a:cs typeface="Calibri"/>
              </a:rPr>
              <a:t>1</a:t>
            </a:r>
            <a:r>
              <a:rPr dirty="0" baseline="-20202" sz="825" spc="41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bias: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652891" y="2729807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31298" y="2658638"/>
            <a:ext cx="9213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36880" algn="l"/>
                <a:tab pos="883919" algn="l"/>
              </a:tabLst>
            </a:pPr>
            <a:r>
              <a:rPr dirty="0" sz="550" spc="10">
                <a:latin typeface="Cambria"/>
                <a:cs typeface="Cambria"/>
              </a:rPr>
              <a:t>’</a:t>
            </a:r>
            <a:r>
              <a:rPr dirty="0" sz="550">
                <a:latin typeface="Cambria"/>
                <a:cs typeface="Cambria"/>
              </a:rPr>
              <a:t>	</a:t>
            </a:r>
            <a:r>
              <a:rPr dirty="0" sz="550" spc="10">
                <a:latin typeface="Cambria"/>
                <a:cs typeface="Cambria"/>
              </a:rPr>
              <a:t>’</a:t>
            </a:r>
            <a:r>
              <a:rPr dirty="0" sz="550">
                <a:latin typeface="Cambria"/>
                <a:cs typeface="Cambria"/>
              </a:rPr>
              <a:t>	</a:t>
            </a:r>
            <a:r>
              <a:rPr dirty="0" sz="550" spc="10">
                <a:latin typeface="Cambria"/>
                <a:cs typeface="Cambria"/>
              </a:rPr>
              <a:t>’</a:t>
            </a:r>
            <a:endParaRPr sz="550">
              <a:latin typeface="Cambria"/>
              <a:cs typeface="Cambr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629253" y="2591688"/>
            <a:ext cx="1854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850" spc="-10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∂</a:t>
            </a:r>
            <a:r>
              <a:rPr dirty="0" u="sng" sz="85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5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524265" y="2749552"/>
            <a:ext cx="2679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baseline="45454" sz="825">
                <a:latin typeface="Calibri"/>
                <a:cs typeface="Calibri"/>
              </a:rPr>
              <a:t>4</a:t>
            </a:r>
            <a:r>
              <a:rPr dirty="0" baseline="45454" sz="825" spc="63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1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766235" y="2810693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alibri"/>
                <a:cs typeface="Calibri"/>
              </a:rPr>
              <a:t>4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826107" y="2729807"/>
            <a:ext cx="12242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3525" algn="l"/>
                <a:tab pos="1170305" algn="l"/>
              </a:tabLst>
            </a:pPr>
            <a:r>
              <a:rPr dirty="0" sz="550" spc="-50">
                <a:latin typeface="Calibri"/>
                <a:cs typeface="Calibri"/>
              </a:rPr>
              <a:t>2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1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140267" y="2668652"/>
            <a:ext cx="19469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700530" algn="l"/>
              </a:tabLst>
            </a:pPr>
            <a:r>
              <a:rPr dirty="0" sz="850" spc="140" i="1">
                <a:latin typeface="Arial"/>
                <a:cs typeface="Arial"/>
              </a:rPr>
              <a:t>∆</a:t>
            </a:r>
            <a:r>
              <a:rPr dirty="0" sz="850" spc="140" i="1">
                <a:latin typeface="Calibri"/>
                <a:cs typeface="Calibri"/>
              </a:rPr>
              <a:t>C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60" i="1">
                <a:latin typeface="Times New Roman"/>
                <a:cs typeface="Times New Roman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25" i="1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60" i="1">
                <a:latin typeface="Times New Roman"/>
                <a:cs typeface="Times New Roman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9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13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65" i="1">
                <a:latin typeface="Times New Roman"/>
                <a:cs typeface="Times New Roman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sz="850" spc="195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)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125" i="1">
                <a:latin typeface="Arial"/>
                <a:cs typeface="Arial"/>
              </a:rPr>
              <a:t>∆</a:t>
            </a:r>
            <a:r>
              <a:rPr dirty="0" sz="850" spc="125" i="1">
                <a:latin typeface="Calibri"/>
                <a:cs typeface="Calibri"/>
              </a:rPr>
              <a:t>b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144195" y="2668654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(5.5)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41895" y="3036190"/>
            <a:ext cx="36144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50" spc="20">
                <a:latin typeface="Calibri"/>
                <a:cs typeface="Calibri"/>
              </a:rPr>
              <a:t>Dividing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95" i="1">
                <a:latin typeface="Arial"/>
                <a:cs typeface="Arial"/>
              </a:rPr>
              <a:t>∆</a:t>
            </a:r>
            <a:r>
              <a:rPr dirty="0" sz="850" spc="95" i="1">
                <a:latin typeface="Calibri"/>
                <a:cs typeface="Calibri"/>
              </a:rPr>
              <a:t>b</a:t>
            </a:r>
            <a:r>
              <a:rPr dirty="0" baseline="-20202" sz="825" spc="142">
                <a:latin typeface="Calibri"/>
                <a:cs typeface="Calibri"/>
              </a:rPr>
              <a:t>1</a:t>
            </a:r>
            <a:r>
              <a:rPr dirty="0" baseline="-20202" sz="825" spc="2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indeed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desired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expression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246160" y="3486721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 h="0">
                <a:moveTo>
                  <a:pt x="0" y="0"/>
                </a:moveTo>
                <a:lnTo>
                  <a:pt x="18732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2233460" y="3477186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777506" y="3457438"/>
            <a:ext cx="4908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5420" algn="l"/>
                <a:tab pos="436880" algn="l"/>
              </a:tabLst>
            </a:pP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766566" y="3486721"/>
            <a:ext cx="184150" cy="0"/>
          </a:xfrm>
          <a:custGeom>
            <a:avLst/>
            <a:gdLst/>
            <a:ahLst/>
            <a:cxnLst/>
            <a:rect l="l" t="t" r="r" b="b"/>
            <a:pathLst>
              <a:path w="184150" h="0">
                <a:moveTo>
                  <a:pt x="0" y="0"/>
                </a:moveTo>
                <a:lnTo>
                  <a:pt x="183819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3648875" y="3477186"/>
            <a:ext cx="2679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baseline="45454" sz="825">
                <a:latin typeface="Calibri"/>
                <a:cs typeface="Calibri"/>
              </a:rPr>
              <a:t>4</a:t>
            </a:r>
            <a:r>
              <a:rPr dirty="0" baseline="45454" sz="825" spc="63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1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373933" y="3538327"/>
            <a:ext cx="15830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529080" algn="l"/>
              </a:tabLst>
            </a:pP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4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223833" y="3319325"/>
            <a:ext cx="1810385" cy="23367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815"/>
              </a:lnSpc>
              <a:spcBef>
                <a:spcPts val="110"/>
              </a:spcBef>
              <a:tabLst>
                <a:tab pos="1556385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  <a:p>
            <a:pPr marL="250190">
              <a:lnSpc>
                <a:spcPts val="815"/>
              </a:lnSpc>
              <a:tabLst>
                <a:tab pos="1741170" algn="l"/>
              </a:tabLst>
            </a:pP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5">
                <a:latin typeface="Tahoma"/>
                <a:cs typeface="Tahom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19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15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19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13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190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)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144123" y="3396288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(5.6)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67296" y="3759956"/>
            <a:ext cx="437197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89230">
              <a:lnSpc>
                <a:spcPct val="114300"/>
              </a:lnSpc>
              <a:spcBef>
                <a:spcPts val="95"/>
              </a:spcBef>
            </a:pPr>
            <a:r>
              <a:rPr dirty="0" sz="850" spc="20" b="1">
                <a:latin typeface="Calibri"/>
                <a:cs typeface="Calibri"/>
              </a:rPr>
              <a:t>Why</a:t>
            </a:r>
            <a:r>
              <a:rPr dirty="0" sz="850" spc="10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</a:t>
            </a:r>
            <a:r>
              <a:rPr dirty="0" sz="850" spc="55" b="1">
                <a:latin typeface="Calibri"/>
                <a:cs typeface="Calibri"/>
              </a:rPr>
              <a:t> vanishing </a:t>
            </a:r>
            <a:r>
              <a:rPr dirty="0" sz="850" spc="20" b="1">
                <a:latin typeface="Calibri"/>
                <a:cs typeface="Calibri"/>
              </a:rPr>
              <a:t>gradient</a:t>
            </a:r>
            <a:r>
              <a:rPr dirty="0" sz="850" spc="10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problem</a:t>
            </a:r>
            <a:r>
              <a:rPr dirty="0" sz="850" spc="50" b="1">
                <a:latin typeface="Calibri"/>
                <a:cs typeface="Calibri"/>
              </a:rPr>
              <a:t> occurs:</a:t>
            </a:r>
            <a:r>
              <a:rPr dirty="0" sz="850" spc="170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vanishing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gradi-</a:t>
            </a:r>
            <a:r>
              <a:rPr dirty="0" sz="850" spc="10">
                <a:latin typeface="Calibri"/>
                <a:cs typeface="Calibri"/>
              </a:rPr>
              <a:t>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entire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2014258" y="4374870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 h="0">
                <a:moveTo>
                  <a:pt x="0" y="0"/>
                </a:moveTo>
                <a:lnTo>
                  <a:pt x="187325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2001558" y="4365335"/>
            <a:ext cx="1663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b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545584" y="4345592"/>
            <a:ext cx="11347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00660" algn="l"/>
                <a:tab pos="452120" algn="l"/>
                <a:tab pos="640715" algn="l"/>
                <a:tab pos="892175" algn="l"/>
                <a:tab pos="1080770" algn="l"/>
              </a:tabLst>
            </a:pP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2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3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3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4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3998480" y="4374870"/>
            <a:ext cx="184150" cy="0"/>
          </a:xfrm>
          <a:custGeom>
            <a:avLst/>
            <a:gdLst/>
            <a:ahLst/>
            <a:cxnLst/>
            <a:rect l="l" t="t" r="r" b="b"/>
            <a:pathLst>
              <a:path w="184150" h="0">
                <a:moveTo>
                  <a:pt x="0" y="0"/>
                </a:moveTo>
                <a:lnTo>
                  <a:pt x="183819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3865536" y="4365335"/>
            <a:ext cx="28321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baseline="45454" sz="825">
                <a:latin typeface="Calibri"/>
                <a:cs typeface="Calibri"/>
              </a:rPr>
              <a:t>4</a:t>
            </a:r>
            <a:r>
              <a:rPr dirty="0" baseline="45454" sz="825" spc="307">
                <a:latin typeface="Calibri"/>
                <a:cs typeface="Calibri"/>
              </a:rPr>
              <a:t> 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5" i="1">
                <a:latin typeface="Times New Roman"/>
                <a:cs typeface="Times New Roman"/>
              </a:rPr>
              <a:t> </a:t>
            </a:r>
            <a:r>
              <a:rPr dirty="0" sz="850" spc="-50" i="1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142032" y="4426491"/>
            <a:ext cx="2047239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93264" algn="l"/>
              </a:tabLst>
            </a:pPr>
            <a:r>
              <a:rPr dirty="0" sz="550" spc="-50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4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991931" y="4207486"/>
            <a:ext cx="2274570" cy="23367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815"/>
              </a:lnSpc>
              <a:spcBef>
                <a:spcPts val="110"/>
              </a:spcBef>
              <a:tabLst>
                <a:tab pos="2019935" algn="l"/>
              </a:tabLst>
            </a:pP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-20" i="1">
                <a:latin typeface="Times New Roman"/>
                <a:cs typeface="Times New Roman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endParaRPr sz="850">
              <a:latin typeface="Calibri"/>
              <a:cs typeface="Calibri"/>
            </a:endParaRPr>
          </a:p>
          <a:p>
            <a:pPr marL="250190">
              <a:lnSpc>
                <a:spcPts val="815"/>
              </a:lnSpc>
              <a:tabLst>
                <a:tab pos="2205355" algn="l"/>
              </a:tabLst>
            </a:pP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12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17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12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12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σ</a:t>
            </a:r>
            <a:r>
              <a:rPr dirty="0" baseline="35353" sz="825" spc="142">
                <a:latin typeface="Cambria"/>
                <a:cs typeface="Cambria"/>
              </a:rPr>
              <a:t>’</a:t>
            </a:r>
            <a:r>
              <a:rPr dirty="0" sz="850" spc="95">
                <a:latin typeface="Tahoma"/>
                <a:cs typeface="Tahoma"/>
              </a:rPr>
              <a:t>(</a:t>
            </a:r>
            <a:r>
              <a:rPr dirty="0" sz="850" spc="95" i="1">
                <a:latin typeface="Calibri"/>
                <a:cs typeface="Calibri"/>
              </a:rPr>
              <a:t>z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)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144174" y="4284452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(5.7)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2003640" y="5374716"/>
            <a:ext cx="2698115" cy="969644"/>
            <a:chOff x="2003640" y="5374716"/>
            <a:chExt cx="2698115" cy="969644"/>
          </a:xfrm>
        </p:grpSpPr>
        <p:sp>
          <p:nvSpPr>
            <p:cNvPr id="30" name="object 30"/>
            <p:cNvSpPr/>
            <p:nvPr/>
          </p:nvSpPr>
          <p:spPr>
            <a:xfrm>
              <a:off x="2394813" y="6290335"/>
              <a:ext cx="1942464" cy="54610"/>
            </a:xfrm>
            <a:custGeom>
              <a:avLst/>
              <a:gdLst/>
              <a:ahLst/>
              <a:cxnLst/>
              <a:rect l="l" t="t" r="r" b="b"/>
              <a:pathLst>
                <a:path w="1942464" h="54610">
                  <a:moveTo>
                    <a:pt x="0" y="54000"/>
                  </a:moveTo>
                  <a:lnTo>
                    <a:pt x="0" y="0"/>
                  </a:lnTo>
                </a:path>
                <a:path w="1942464" h="54610">
                  <a:moveTo>
                    <a:pt x="485559" y="54000"/>
                  </a:moveTo>
                  <a:lnTo>
                    <a:pt x="485559" y="0"/>
                  </a:lnTo>
                </a:path>
                <a:path w="1942464" h="54610">
                  <a:moveTo>
                    <a:pt x="971118" y="54000"/>
                  </a:moveTo>
                  <a:lnTo>
                    <a:pt x="971118" y="0"/>
                  </a:lnTo>
                </a:path>
                <a:path w="1942464" h="54610">
                  <a:moveTo>
                    <a:pt x="1456677" y="54000"/>
                  </a:moveTo>
                  <a:lnTo>
                    <a:pt x="1456677" y="0"/>
                  </a:lnTo>
                </a:path>
                <a:path w="1942464" h="54610">
                  <a:moveTo>
                    <a:pt x="1942236" y="54000"/>
                  </a:moveTo>
                  <a:lnTo>
                    <a:pt x="1942236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003640" y="5619102"/>
              <a:ext cx="54610" cy="698500"/>
            </a:xfrm>
            <a:custGeom>
              <a:avLst/>
              <a:gdLst/>
              <a:ahLst/>
              <a:cxnLst/>
              <a:rect l="l" t="t" r="r" b="b"/>
              <a:pathLst>
                <a:path w="54610" h="698500">
                  <a:moveTo>
                    <a:pt x="0" y="698233"/>
                  </a:moveTo>
                  <a:lnTo>
                    <a:pt x="54000" y="698233"/>
                  </a:lnTo>
                </a:path>
                <a:path w="54610" h="698500">
                  <a:moveTo>
                    <a:pt x="0" y="349110"/>
                  </a:moveTo>
                  <a:lnTo>
                    <a:pt x="54000" y="349110"/>
                  </a:lnTo>
                </a:path>
                <a:path w="54610" h="698500">
                  <a:moveTo>
                    <a:pt x="0" y="0"/>
                  </a:moveTo>
                  <a:lnTo>
                    <a:pt x="5400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030641" y="6317335"/>
              <a:ext cx="2645410" cy="0"/>
            </a:xfrm>
            <a:custGeom>
              <a:avLst/>
              <a:gdLst/>
              <a:ahLst/>
              <a:cxnLst/>
              <a:rect l="l" t="t" r="r" b="b"/>
              <a:pathLst>
                <a:path w="2645410" h="0">
                  <a:moveTo>
                    <a:pt x="0" y="0"/>
                  </a:moveTo>
                  <a:lnTo>
                    <a:pt x="264527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660722" y="6297091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0"/>
                  </a:moveTo>
                  <a:lnTo>
                    <a:pt x="15189" y="20243"/>
                  </a:lnTo>
                  <a:lnTo>
                    <a:pt x="0" y="40487"/>
                  </a:lnTo>
                  <a:lnTo>
                    <a:pt x="40487" y="20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030641" y="5400014"/>
              <a:ext cx="0" cy="917575"/>
            </a:xfrm>
            <a:custGeom>
              <a:avLst/>
              <a:gdLst/>
              <a:ahLst/>
              <a:cxnLst/>
              <a:rect l="l" t="t" r="r" b="b"/>
              <a:pathLst>
                <a:path w="0" h="917575">
                  <a:moveTo>
                    <a:pt x="0" y="917321"/>
                  </a:moveTo>
                  <a:lnTo>
                    <a:pt x="0" y="0"/>
                  </a:lnTo>
                </a:path>
              </a:pathLst>
            </a:custGeom>
            <a:ln w="50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010397" y="537471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0" y="40487"/>
                  </a:lnTo>
                  <a:lnTo>
                    <a:pt x="20243" y="25298"/>
                  </a:lnTo>
                  <a:lnTo>
                    <a:pt x="40487" y="40487"/>
                  </a:lnTo>
                  <a:lnTo>
                    <a:pt x="20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152027" y="5444540"/>
              <a:ext cx="2428240" cy="849630"/>
            </a:xfrm>
            <a:custGeom>
              <a:avLst/>
              <a:gdLst/>
              <a:ahLst/>
              <a:cxnLst/>
              <a:rect l="l" t="t" r="r" b="b"/>
              <a:pathLst>
                <a:path w="2428240" h="849629">
                  <a:moveTo>
                    <a:pt x="0" y="849579"/>
                  </a:moveTo>
                  <a:lnTo>
                    <a:pt x="48564" y="844524"/>
                  </a:lnTo>
                  <a:lnTo>
                    <a:pt x="97116" y="838403"/>
                  </a:lnTo>
                  <a:lnTo>
                    <a:pt x="145669" y="830961"/>
                  </a:lnTo>
                  <a:lnTo>
                    <a:pt x="194233" y="821982"/>
                  </a:lnTo>
                  <a:lnTo>
                    <a:pt x="242785" y="811123"/>
                  </a:lnTo>
                  <a:lnTo>
                    <a:pt x="291338" y="798068"/>
                  </a:lnTo>
                  <a:lnTo>
                    <a:pt x="339890" y="782408"/>
                  </a:lnTo>
                  <a:lnTo>
                    <a:pt x="388454" y="763676"/>
                  </a:lnTo>
                  <a:lnTo>
                    <a:pt x="437007" y="741413"/>
                  </a:lnTo>
                  <a:lnTo>
                    <a:pt x="485559" y="715073"/>
                  </a:lnTo>
                  <a:lnTo>
                    <a:pt x="534111" y="684136"/>
                  </a:lnTo>
                  <a:lnTo>
                    <a:pt x="582676" y="648106"/>
                  </a:lnTo>
                  <a:lnTo>
                    <a:pt x="631228" y="606577"/>
                  </a:lnTo>
                  <a:lnTo>
                    <a:pt x="679780" y="559269"/>
                  </a:lnTo>
                  <a:lnTo>
                    <a:pt x="728345" y="506234"/>
                  </a:lnTo>
                  <a:lnTo>
                    <a:pt x="776897" y="447802"/>
                  </a:lnTo>
                  <a:lnTo>
                    <a:pt x="801179" y="416814"/>
                  </a:lnTo>
                  <a:lnTo>
                    <a:pt x="825449" y="384835"/>
                  </a:lnTo>
                  <a:lnTo>
                    <a:pt x="849731" y="352082"/>
                  </a:lnTo>
                  <a:lnTo>
                    <a:pt x="874014" y="318770"/>
                  </a:lnTo>
                  <a:lnTo>
                    <a:pt x="898283" y="285229"/>
                  </a:lnTo>
                  <a:lnTo>
                    <a:pt x="922566" y="251714"/>
                  </a:lnTo>
                  <a:lnTo>
                    <a:pt x="946835" y="218630"/>
                  </a:lnTo>
                  <a:lnTo>
                    <a:pt x="971118" y="186372"/>
                  </a:lnTo>
                  <a:lnTo>
                    <a:pt x="995400" y="155333"/>
                  </a:lnTo>
                  <a:lnTo>
                    <a:pt x="1043952" y="98742"/>
                  </a:lnTo>
                  <a:lnTo>
                    <a:pt x="1092504" y="52362"/>
                  </a:lnTo>
                  <a:lnTo>
                    <a:pt x="1141069" y="19354"/>
                  </a:lnTo>
                  <a:lnTo>
                    <a:pt x="1189621" y="2197"/>
                  </a:lnTo>
                  <a:lnTo>
                    <a:pt x="1213904" y="0"/>
                  </a:lnTo>
                  <a:lnTo>
                    <a:pt x="1238173" y="2171"/>
                  </a:lnTo>
                  <a:lnTo>
                    <a:pt x="1286738" y="19316"/>
                  </a:lnTo>
                  <a:lnTo>
                    <a:pt x="1335290" y="52311"/>
                  </a:lnTo>
                  <a:lnTo>
                    <a:pt x="1383842" y="98679"/>
                  </a:lnTo>
                  <a:lnTo>
                    <a:pt x="1432407" y="155346"/>
                  </a:lnTo>
                  <a:lnTo>
                    <a:pt x="1456677" y="186385"/>
                  </a:lnTo>
                  <a:lnTo>
                    <a:pt x="1480959" y="218655"/>
                  </a:lnTo>
                  <a:lnTo>
                    <a:pt x="1505229" y="251650"/>
                  </a:lnTo>
                  <a:lnTo>
                    <a:pt x="1529511" y="285216"/>
                  </a:lnTo>
                  <a:lnTo>
                    <a:pt x="1553794" y="318706"/>
                  </a:lnTo>
                  <a:lnTo>
                    <a:pt x="1578076" y="352082"/>
                  </a:lnTo>
                  <a:lnTo>
                    <a:pt x="1602346" y="384810"/>
                  </a:lnTo>
                  <a:lnTo>
                    <a:pt x="1626628" y="416915"/>
                  </a:lnTo>
                  <a:lnTo>
                    <a:pt x="1650898" y="447763"/>
                  </a:lnTo>
                  <a:lnTo>
                    <a:pt x="1675180" y="477748"/>
                  </a:lnTo>
                  <a:lnTo>
                    <a:pt x="1723732" y="533552"/>
                  </a:lnTo>
                  <a:lnTo>
                    <a:pt x="1772297" y="583742"/>
                  </a:lnTo>
                  <a:lnTo>
                    <a:pt x="1820849" y="628053"/>
                  </a:lnTo>
                  <a:lnTo>
                    <a:pt x="1869401" y="666788"/>
                  </a:lnTo>
                  <a:lnTo>
                    <a:pt x="1917954" y="700214"/>
                  </a:lnTo>
                  <a:lnTo>
                    <a:pt x="1966518" y="728789"/>
                  </a:lnTo>
                  <a:lnTo>
                    <a:pt x="2015070" y="753033"/>
                  </a:lnTo>
                  <a:lnTo>
                    <a:pt x="2063623" y="773468"/>
                  </a:lnTo>
                  <a:lnTo>
                    <a:pt x="2112187" y="790600"/>
                  </a:lnTo>
                  <a:lnTo>
                    <a:pt x="2160739" y="804900"/>
                  </a:lnTo>
                  <a:lnTo>
                    <a:pt x="2209292" y="816813"/>
                  </a:lnTo>
                  <a:lnTo>
                    <a:pt x="2257856" y="826681"/>
                  </a:lnTo>
                  <a:lnTo>
                    <a:pt x="2306408" y="834859"/>
                  </a:lnTo>
                  <a:lnTo>
                    <a:pt x="2354961" y="841616"/>
                  </a:lnTo>
                  <a:lnTo>
                    <a:pt x="2403513" y="847178"/>
                  </a:lnTo>
                  <a:lnTo>
                    <a:pt x="2427795" y="849579"/>
                  </a:lnTo>
                </a:path>
              </a:pathLst>
            </a:custGeom>
            <a:ln w="506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 txBox="1"/>
          <p:nvPr/>
        </p:nvSpPr>
        <p:spPr>
          <a:xfrm>
            <a:off x="940296" y="4640015"/>
            <a:ext cx="4599940" cy="337692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39700" marR="13208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Excepting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term,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expression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product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terms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90" i="1">
                <a:latin typeface="Calibri"/>
                <a:cs typeface="Calibri"/>
              </a:rPr>
              <a:t>w</a:t>
            </a:r>
            <a:r>
              <a:rPr dirty="0" baseline="-20202" sz="825" spc="135" i="1">
                <a:latin typeface="Calibri"/>
                <a:cs typeface="Calibri"/>
              </a:rPr>
              <a:t>j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baseline="35353" sz="825" spc="135">
                <a:latin typeface="Cambria"/>
                <a:cs typeface="Cambria"/>
              </a:rPr>
              <a:t>’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baseline="-20202" sz="825" spc="135" i="1">
                <a:latin typeface="Calibri"/>
                <a:cs typeface="Calibri"/>
              </a:rPr>
              <a:t>j</a:t>
            </a:r>
            <a:r>
              <a:rPr dirty="0" baseline="-20202" sz="825" spc="-44" i="1">
                <a:latin typeface="Calibri"/>
                <a:cs typeface="Calibri"/>
              </a:rPr>
              <a:t> </a:t>
            </a:r>
            <a:r>
              <a:rPr dirty="0" sz="850" spc="20">
                <a:latin typeface="Tahoma"/>
                <a:cs typeface="Tahoma"/>
              </a:rPr>
              <a:t>)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behave,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plot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5" i="1">
                <a:latin typeface="Times New Roman"/>
                <a:cs typeface="Times New Roman"/>
              </a:rPr>
              <a:t>σ</a:t>
            </a:r>
            <a:r>
              <a:rPr dirty="0" baseline="35353" sz="825" spc="157">
                <a:latin typeface="Cambria"/>
                <a:cs typeface="Cambria"/>
              </a:rPr>
              <a:t>’</a:t>
            </a:r>
            <a:r>
              <a:rPr dirty="0" sz="850" spc="105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850">
              <a:latin typeface="Calibri"/>
              <a:cs typeface="Calibri"/>
            </a:endParaRPr>
          </a:p>
          <a:p>
            <a:pPr algn="ctr" marL="251460">
              <a:lnSpc>
                <a:spcPct val="100000"/>
              </a:lnSpc>
            </a:pPr>
            <a:r>
              <a:rPr dirty="0" sz="850" spc="10">
                <a:latin typeface="Calibri"/>
                <a:cs typeface="Calibri"/>
              </a:rPr>
              <a:t>Derivative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850">
              <a:latin typeface="Calibri"/>
              <a:cs typeface="Calibri"/>
            </a:endParaRPr>
          </a:p>
          <a:p>
            <a:pPr marL="871855">
              <a:lnSpc>
                <a:spcPct val="100000"/>
              </a:lnSpc>
            </a:pPr>
            <a:r>
              <a:rPr dirty="0" sz="850" spc="-25">
                <a:latin typeface="Calibri"/>
                <a:cs typeface="Calibri"/>
              </a:rPr>
              <a:t>0.2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0"/>
              </a:spcBef>
            </a:pPr>
            <a:endParaRPr sz="850">
              <a:latin typeface="Calibri"/>
              <a:cs typeface="Calibri"/>
            </a:endParaRPr>
          </a:p>
          <a:p>
            <a:pPr marL="871855">
              <a:lnSpc>
                <a:spcPct val="100000"/>
              </a:lnSpc>
            </a:pPr>
            <a:r>
              <a:rPr dirty="0" sz="850" spc="-25">
                <a:latin typeface="Calibri"/>
                <a:cs typeface="Calibri"/>
              </a:rPr>
              <a:t>0.1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850">
              <a:latin typeface="Calibri"/>
              <a:cs typeface="Calibri"/>
            </a:endParaRPr>
          </a:p>
          <a:p>
            <a:pPr marL="963294">
              <a:lnSpc>
                <a:spcPts val="919"/>
              </a:lnSpc>
            </a:pPr>
            <a:r>
              <a:rPr dirty="0" sz="850">
                <a:latin typeface="Calibri"/>
                <a:cs typeface="Calibri"/>
              </a:rPr>
              <a:t>0</a:t>
            </a:r>
            <a:endParaRPr sz="850">
              <a:latin typeface="Calibri"/>
              <a:cs typeface="Calibri"/>
            </a:endParaRPr>
          </a:p>
          <a:p>
            <a:pPr algn="ctr" marL="211454">
              <a:lnSpc>
                <a:spcPts val="919"/>
              </a:lnSpc>
              <a:tabLst>
                <a:tab pos="697230" algn="l"/>
                <a:tab pos="1222375" algn="l"/>
                <a:tab pos="1708150" algn="l"/>
                <a:tab pos="2193925" algn="l"/>
              </a:tabLst>
            </a:pP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70">
                <a:latin typeface="Cambria"/>
                <a:cs typeface="Cambria"/>
              </a:rPr>
              <a:t>−</a:t>
            </a:r>
            <a:r>
              <a:rPr dirty="0" sz="850" spc="70">
                <a:latin typeface="Calibri"/>
                <a:cs typeface="Calibri"/>
              </a:rPr>
              <a:t>2</a:t>
            </a:r>
            <a:r>
              <a:rPr dirty="0" sz="850">
                <a:latin typeface="Calibri"/>
                <a:cs typeface="Calibri"/>
              </a:rPr>
              <a:t>	0	2	4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65"/>
              </a:spcBef>
            </a:pPr>
            <a:endParaRPr sz="850">
              <a:latin typeface="Calibri"/>
              <a:cs typeface="Calibri"/>
            </a:endParaRPr>
          </a:p>
          <a:p>
            <a:pPr algn="just" marL="133985" marR="104139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reaches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maximum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75" i="1">
                <a:latin typeface="Times New Roman"/>
                <a:cs typeface="Times New Roman"/>
              </a:rPr>
              <a:t>σ</a:t>
            </a:r>
            <a:r>
              <a:rPr dirty="0" baseline="35353" sz="825" spc="112">
                <a:latin typeface="Cambria"/>
                <a:cs typeface="Cambria"/>
              </a:rPr>
              <a:t>’</a:t>
            </a:r>
            <a:r>
              <a:rPr dirty="0" sz="850" spc="75">
                <a:latin typeface="Tahoma"/>
                <a:cs typeface="Tahoma"/>
              </a:rPr>
              <a:t>(</a:t>
            </a:r>
            <a:r>
              <a:rPr dirty="0" sz="850" spc="75">
                <a:latin typeface="Calibri"/>
                <a:cs typeface="Calibri"/>
              </a:rPr>
              <a:t>0</a:t>
            </a:r>
            <a:r>
              <a:rPr dirty="0" sz="850" spc="75">
                <a:latin typeface="Tahoma"/>
                <a:cs typeface="Tahoma"/>
              </a:rPr>
              <a:t>)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1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75">
                <a:latin typeface="Calibri"/>
                <a:cs typeface="Calibri"/>
              </a:rPr>
              <a:t>1</a:t>
            </a:r>
            <a:r>
              <a:rPr dirty="0" sz="850" spc="75" i="1">
                <a:latin typeface="Times New Roman"/>
                <a:cs typeface="Times New Roman"/>
              </a:rPr>
              <a:t>/</a:t>
            </a:r>
            <a:r>
              <a:rPr dirty="0" sz="850" spc="75">
                <a:latin typeface="Calibri"/>
                <a:cs typeface="Calibri"/>
              </a:rPr>
              <a:t>4.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initializing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choose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Gaussian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standard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deviation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satisfy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|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 i="1">
                <a:latin typeface="Calibri"/>
                <a:cs typeface="Calibri"/>
              </a:rPr>
              <a:t>j</a:t>
            </a:r>
            <a:r>
              <a:rPr dirty="0" baseline="-20202" sz="825" spc="-30" i="1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|</a:t>
            </a:r>
            <a:r>
              <a:rPr dirty="0" sz="850" spc="90">
                <a:latin typeface="Cambria"/>
                <a:cs typeface="Cambri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&lt;</a:t>
            </a:r>
            <a:r>
              <a:rPr dirty="0" sz="850" spc="7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Putting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observations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together,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85" i="1">
                <a:latin typeface="Calibri"/>
                <a:cs typeface="Calibri"/>
              </a:rPr>
              <a:t>w</a:t>
            </a:r>
            <a:r>
              <a:rPr dirty="0" baseline="-20202" sz="825" spc="127" i="1">
                <a:latin typeface="Calibri"/>
                <a:cs typeface="Calibri"/>
              </a:rPr>
              <a:t>j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baseline="-20202" sz="825" spc="127" i="1">
                <a:latin typeface="Calibri"/>
                <a:cs typeface="Calibri"/>
              </a:rPr>
              <a:t>j</a:t>
            </a:r>
            <a:r>
              <a:rPr dirty="0" baseline="-20202" sz="825" spc="-37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4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satisfy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70">
                <a:latin typeface="Cambria"/>
                <a:cs typeface="Cambria"/>
              </a:rPr>
              <a:t>|</a:t>
            </a:r>
            <a:r>
              <a:rPr dirty="0" sz="850" spc="70" i="1">
                <a:latin typeface="Calibri"/>
                <a:cs typeface="Calibri"/>
              </a:rPr>
              <a:t>w</a:t>
            </a:r>
            <a:r>
              <a:rPr dirty="0" baseline="-20202" sz="825" spc="104" i="1">
                <a:latin typeface="Calibri"/>
                <a:cs typeface="Calibri"/>
              </a:rPr>
              <a:t>j</a:t>
            </a:r>
            <a:r>
              <a:rPr dirty="0" sz="850" spc="70" i="1">
                <a:latin typeface="Times New Roman"/>
                <a:cs typeface="Times New Roman"/>
              </a:rPr>
              <a:t>σ</a:t>
            </a:r>
            <a:r>
              <a:rPr dirty="0" baseline="35353" sz="825" spc="104">
                <a:latin typeface="Cambria"/>
                <a:cs typeface="Cambria"/>
              </a:rPr>
              <a:t>’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baseline="-20202" sz="825" spc="104" i="1">
                <a:latin typeface="Calibri"/>
                <a:cs typeface="Calibri"/>
              </a:rPr>
              <a:t>j</a:t>
            </a:r>
            <a:r>
              <a:rPr dirty="0" baseline="-20202" sz="825" spc="-44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mbria"/>
                <a:cs typeface="Cambria"/>
              </a:rPr>
              <a:t>|</a:t>
            </a:r>
            <a:r>
              <a:rPr dirty="0" sz="850" spc="70">
                <a:latin typeface="Cambria"/>
                <a:cs typeface="Cambri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&lt;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spc="65">
                <a:latin typeface="Calibri"/>
                <a:cs typeface="Calibri"/>
              </a:rPr>
              <a:t>1</a:t>
            </a:r>
            <a:r>
              <a:rPr dirty="0" sz="850" spc="65" i="1">
                <a:latin typeface="Times New Roman"/>
                <a:cs typeface="Times New Roman"/>
              </a:rPr>
              <a:t>/</a:t>
            </a:r>
            <a:r>
              <a:rPr dirty="0" sz="850" spc="65">
                <a:latin typeface="Calibri"/>
                <a:cs typeface="Calibri"/>
              </a:rPr>
              <a:t>4.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exponentially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decrease: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smell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problem.</a:t>
            </a:r>
            <a:endParaRPr sz="850">
              <a:latin typeface="Calibri"/>
              <a:cs typeface="Calibri"/>
            </a:endParaRPr>
          </a:p>
          <a:p>
            <a:pPr algn="just" marL="139700" marR="128905" indent="189230">
              <a:lnSpc>
                <a:spcPct val="114300"/>
              </a:lnSpc>
              <a:spcBef>
                <a:spcPts val="105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2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0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baseline="-20202" sz="825" spc="4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10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>
                <a:latin typeface="Calibri"/>
                <a:cs typeface="Calibri"/>
              </a:rPr>
              <a:t>3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haven’t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5778788" y="2735996"/>
            <a:ext cx="344170" cy="461645"/>
            <a:chOff x="5778788" y="2735996"/>
            <a:chExt cx="344170" cy="461645"/>
          </a:xfrm>
        </p:grpSpPr>
        <p:sp>
          <p:nvSpPr>
            <p:cNvPr id="39" name="object 39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/>
          <p:cNvSpPr txBox="1"/>
          <p:nvPr/>
        </p:nvSpPr>
        <p:spPr>
          <a:xfrm>
            <a:off x="5876620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690745" cy="8667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162</a:t>
            </a:r>
            <a:r>
              <a:rPr dirty="0" sz="850">
                <a:latin typeface="Calibri"/>
                <a:cs typeface="Calibri"/>
              </a:rPr>
              <a:t>	Why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train?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331470" marR="30480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explicitly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expression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 i="1">
                <a:latin typeface="Times New Roman"/>
                <a:cs typeface="Times New Roman"/>
              </a:rPr>
              <a:t>∂</a:t>
            </a:r>
            <a:r>
              <a:rPr dirty="0" sz="850" spc="-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spc="20" i="1">
                <a:latin typeface="Calibri"/>
                <a:cs typeface="Calibri"/>
              </a:rPr>
              <a:t>b</a:t>
            </a:r>
            <a:r>
              <a:rPr dirty="0" baseline="-20202" sz="825" spc="30">
                <a:latin typeface="Calibri"/>
                <a:cs typeface="Calibri"/>
              </a:rPr>
              <a:t>3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follows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pattern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described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comparison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expressions: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24943" y="1342551"/>
            <a:ext cx="2922787" cy="146771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75451" y="2936170"/>
            <a:ext cx="4430395" cy="10617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735" marR="304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∂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110" i="1">
                <a:latin typeface="Times New Roman"/>
                <a:cs typeface="Times New Roman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41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includes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terms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90" i="1">
                <a:latin typeface="Calibri"/>
                <a:cs typeface="Calibri"/>
              </a:rPr>
              <a:t>w</a:t>
            </a:r>
            <a:r>
              <a:rPr dirty="0" baseline="-20202" sz="825" spc="135" i="1">
                <a:latin typeface="Calibri"/>
                <a:cs typeface="Calibri"/>
              </a:rPr>
              <a:t>j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baseline="35353" sz="825" spc="135">
                <a:latin typeface="Cambria"/>
                <a:cs typeface="Cambria"/>
              </a:rPr>
              <a:t>’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baseline="-20202" sz="825" spc="135" i="1">
                <a:latin typeface="Calibri"/>
                <a:cs typeface="Calibri"/>
              </a:rPr>
              <a:t>j</a:t>
            </a:r>
            <a:r>
              <a:rPr dirty="0" baseline="-20202" sz="825" spc="-52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seen,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typically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</a:t>
            </a:r>
            <a:r>
              <a:rPr dirty="0" sz="850" spc="10">
                <a:latin typeface="Lucida Sans Unicode"/>
                <a:cs typeface="Lucida Sans Unicode"/>
              </a:rPr>
              <a:t>/</a:t>
            </a:r>
            <a:r>
              <a:rPr dirty="0" sz="850" spc="10">
                <a:latin typeface="Calibri"/>
                <a:cs typeface="Calibri"/>
              </a:rPr>
              <a:t>4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magnitude.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baseline="-20202" sz="825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16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more)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 i="1">
                <a:latin typeface="Times New Roman"/>
                <a:cs typeface="Times New Roman"/>
              </a:rPr>
              <a:t>∂</a:t>
            </a:r>
            <a:r>
              <a:rPr dirty="0" sz="850" spc="25" i="1">
                <a:latin typeface="Times New Roman"/>
                <a:cs typeface="Times New Roman"/>
              </a:rPr>
              <a:t> </a:t>
            </a:r>
            <a:r>
              <a:rPr dirty="0" sz="850" spc="114" i="1">
                <a:latin typeface="Calibri"/>
                <a:cs typeface="Calibri"/>
              </a:rPr>
              <a:t>C</a:t>
            </a:r>
            <a:r>
              <a:rPr dirty="0" sz="850" spc="114" i="1">
                <a:latin typeface="Times New Roman"/>
                <a:cs typeface="Times New Roman"/>
              </a:rPr>
              <a:t>/∂</a:t>
            </a:r>
            <a:r>
              <a:rPr dirty="0" sz="850" spc="75" i="1">
                <a:latin typeface="Times New Roman"/>
                <a:cs typeface="Times New Roman"/>
              </a:rPr>
              <a:t> </a:t>
            </a:r>
            <a:r>
              <a:rPr dirty="0" sz="850" spc="-25" i="1">
                <a:latin typeface="Calibri"/>
                <a:cs typeface="Calibri"/>
              </a:rPr>
              <a:t>b</a:t>
            </a:r>
            <a:r>
              <a:rPr dirty="0" baseline="-20202" sz="825" spc="-37">
                <a:latin typeface="Calibri"/>
                <a:cs typeface="Calibri"/>
              </a:rPr>
              <a:t>3</a:t>
            </a:r>
            <a:r>
              <a:rPr dirty="0" sz="850" spc="-25">
                <a:latin typeface="Calibri"/>
                <a:cs typeface="Calibri"/>
              </a:rPr>
              <a:t>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essential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problem.</a:t>
            </a:r>
            <a:endParaRPr sz="850">
              <a:latin typeface="Calibri"/>
              <a:cs typeface="Calibri"/>
            </a:endParaRPr>
          </a:p>
          <a:p>
            <a:pPr algn="just" marL="38100" marR="44450" indent="196215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rigorous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occur.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escape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clauses.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wonder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baseline="-20202" sz="825" spc="75" i="1">
                <a:latin typeface="Calibri"/>
                <a:cs typeface="Calibri"/>
              </a:rPr>
              <a:t>j</a:t>
            </a:r>
            <a:r>
              <a:rPr dirty="0" baseline="-20202" sz="825" spc="35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grow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during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90" i="1">
                <a:latin typeface="Calibri"/>
                <a:cs typeface="Calibri"/>
              </a:rPr>
              <a:t>w</a:t>
            </a:r>
            <a:r>
              <a:rPr dirty="0" baseline="-20202" sz="825" spc="135" i="1">
                <a:latin typeface="Calibri"/>
                <a:cs typeface="Calibri"/>
              </a:rPr>
              <a:t>j</a:t>
            </a:r>
            <a:r>
              <a:rPr dirty="0" sz="850" spc="90" i="1">
                <a:latin typeface="Times New Roman"/>
                <a:cs typeface="Times New Roman"/>
              </a:rPr>
              <a:t>σ</a:t>
            </a:r>
            <a:r>
              <a:rPr dirty="0" baseline="35353" sz="825" spc="135">
                <a:latin typeface="Cambria"/>
                <a:cs typeface="Cambria"/>
              </a:rPr>
              <a:t>’</a:t>
            </a:r>
            <a:r>
              <a:rPr dirty="0" sz="850" spc="90">
                <a:latin typeface="Tahoma"/>
                <a:cs typeface="Tahoma"/>
              </a:rPr>
              <a:t>(</a:t>
            </a:r>
            <a:r>
              <a:rPr dirty="0" sz="850" spc="90" i="1">
                <a:latin typeface="Calibri"/>
                <a:cs typeface="Calibri"/>
              </a:rPr>
              <a:t>z</a:t>
            </a:r>
            <a:r>
              <a:rPr dirty="0" baseline="-20202" sz="825" spc="135" i="1">
                <a:latin typeface="Calibri"/>
                <a:cs typeface="Calibri"/>
              </a:rPr>
              <a:t>j</a:t>
            </a:r>
            <a:r>
              <a:rPr dirty="0" baseline="-20202" sz="825" spc="-37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31101" y="3972415"/>
            <a:ext cx="4498340" cy="40493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2390" marR="80645" indent="1587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satisfy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70">
                <a:latin typeface="Cambria"/>
                <a:cs typeface="Cambria"/>
              </a:rPr>
              <a:t>|</a:t>
            </a:r>
            <a:r>
              <a:rPr dirty="0" sz="850" spc="70" i="1">
                <a:latin typeface="Calibri"/>
                <a:cs typeface="Calibri"/>
              </a:rPr>
              <a:t>w</a:t>
            </a:r>
            <a:r>
              <a:rPr dirty="0" baseline="-20202" sz="825" spc="104" i="1">
                <a:latin typeface="Calibri"/>
                <a:cs typeface="Calibri"/>
              </a:rPr>
              <a:t>j</a:t>
            </a:r>
            <a:r>
              <a:rPr dirty="0" sz="850" spc="70" i="1">
                <a:latin typeface="Times New Roman"/>
                <a:cs typeface="Times New Roman"/>
              </a:rPr>
              <a:t>σ</a:t>
            </a:r>
            <a:r>
              <a:rPr dirty="0" baseline="35353" sz="825" spc="104">
                <a:latin typeface="Cambria"/>
                <a:cs typeface="Cambria"/>
              </a:rPr>
              <a:t>’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baseline="-20202" sz="825" spc="104" i="1">
                <a:latin typeface="Calibri"/>
                <a:cs typeface="Calibri"/>
              </a:rPr>
              <a:t>j</a:t>
            </a:r>
            <a:r>
              <a:rPr dirty="0" baseline="-20202" sz="825" spc="-44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>
                <a:latin typeface="Cambria"/>
                <a:cs typeface="Cambria"/>
              </a:rPr>
              <a:t>|</a:t>
            </a:r>
            <a:r>
              <a:rPr dirty="0" sz="850" spc="70">
                <a:latin typeface="Cambria"/>
                <a:cs typeface="Cambri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&lt;</a:t>
            </a:r>
            <a:r>
              <a:rPr dirty="0" sz="850" spc="50" i="1">
                <a:latin typeface="Times New Roman"/>
                <a:cs typeface="Times New Roman"/>
              </a:rPr>
              <a:t> </a:t>
            </a:r>
            <a:r>
              <a:rPr dirty="0" sz="850" spc="75">
                <a:latin typeface="Calibri"/>
                <a:cs typeface="Calibri"/>
              </a:rPr>
              <a:t>1</a:t>
            </a:r>
            <a:r>
              <a:rPr dirty="0" sz="850" spc="75" i="1">
                <a:latin typeface="Times New Roman"/>
                <a:cs typeface="Times New Roman"/>
              </a:rPr>
              <a:t>/</a:t>
            </a:r>
            <a:r>
              <a:rPr dirty="0" sz="850" spc="75">
                <a:latin typeface="Calibri"/>
                <a:cs typeface="Calibri"/>
              </a:rPr>
              <a:t>4.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Indeed,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enough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greater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longer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vanishing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Instead,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exponentially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backward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Instead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exploding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problem.</a:t>
            </a:r>
            <a:endParaRPr sz="850">
              <a:latin typeface="Calibri"/>
              <a:cs typeface="Calibri"/>
            </a:endParaRPr>
          </a:p>
          <a:p>
            <a:pPr algn="just" marL="88900" marR="78105" indent="189230">
              <a:lnSpc>
                <a:spcPct val="114300"/>
              </a:lnSpc>
            </a:pPr>
            <a:r>
              <a:rPr dirty="0" sz="850" spc="60" b="1">
                <a:latin typeface="Calibri"/>
                <a:cs typeface="Calibri"/>
              </a:rPr>
              <a:t>The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exploding</a:t>
            </a:r>
            <a:r>
              <a:rPr dirty="0" sz="850" spc="1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gradient</a:t>
            </a:r>
            <a:r>
              <a:rPr dirty="0" sz="850" spc="1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problem:</a:t>
            </a:r>
            <a:r>
              <a:rPr dirty="0" sz="850" spc="240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explicit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example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exploding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occur.</a:t>
            </a:r>
            <a:r>
              <a:rPr dirty="0" sz="850" spc="4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somewhat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contrived: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I’m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fix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ensure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contrived,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virtue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firmly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establishing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exploding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aren’t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merely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hypothetical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possibility,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happen.</a:t>
            </a:r>
            <a:endParaRPr sz="850">
              <a:latin typeface="Calibri"/>
              <a:cs typeface="Calibri"/>
            </a:endParaRPr>
          </a:p>
          <a:p>
            <a:pPr algn="just" marL="88900" marR="80645" indent="189230">
              <a:lnSpc>
                <a:spcPct val="114300"/>
              </a:lnSpc>
            </a:pP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two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steps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exploding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First,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choose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weights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1</a:t>
            </a:r>
            <a:r>
              <a:rPr dirty="0" baseline="-20202" sz="825" spc="262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2</a:t>
            </a:r>
            <a:r>
              <a:rPr dirty="0" baseline="-20202" sz="825" spc="262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3</a:t>
            </a:r>
            <a:r>
              <a:rPr dirty="0" baseline="-20202" sz="825" spc="262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>
                <a:latin typeface="Tahoma"/>
                <a:cs typeface="Tahoma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-20202" sz="825" spc="15">
                <a:latin typeface="Calibri"/>
                <a:cs typeface="Calibri"/>
              </a:rPr>
              <a:t>4</a:t>
            </a:r>
            <a:r>
              <a:rPr dirty="0" baseline="-20202" sz="825" spc="262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100.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biases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baseline="-20202" sz="825" spc="127" i="1">
                <a:latin typeface="Calibri"/>
                <a:cs typeface="Calibri"/>
              </a:rPr>
              <a:t>j</a:t>
            </a:r>
            <a:r>
              <a:rPr dirty="0" baseline="-20202" sz="825" spc="-44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6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do: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ensure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z</a:t>
            </a:r>
            <a:r>
              <a:rPr dirty="0" baseline="-20202" sz="825" spc="89" i="1">
                <a:latin typeface="Calibri"/>
                <a:cs typeface="Calibri"/>
              </a:rPr>
              <a:t>j</a:t>
            </a:r>
            <a:r>
              <a:rPr dirty="0" baseline="-20202" sz="825" spc="315" i="1">
                <a:latin typeface="Calibri"/>
                <a:cs typeface="Calibri"/>
              </a:rPr>
              <a:t> </a:t>
            </a:r>
            <a:r>
              <a:rPr dirty="0" sz="850" spc="65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baseline="-20202" sz="825" spc="127" i="1">
                <a:latin typeface="Calibri"/>
                <a:cs typeface="Calibri"/>
              </a:rPr>
              <a:t>j</a:t>
            </a:r>
            <a:r>
              <a:rPr dirty="0" baseline="-20202" sz="825" spc="-52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80">
                <a:latin typeface="Calibri"/>
                <a:cs typeface="Calibri"/>
              </a:rPr>
              <a:t>1</a:t>
            </a:r>
            <a:r>
              <a:rPr dirty="0" sz="850" spc="80" i="1">
                <a:latin typeface="Times New Roman"/>
                <a:cs typeface="Times New Roman"/>
              </a:rPr>
              <a:t>/</a:t>
            </a:r>
            <a:r>
              <a:rPr dirty="0" sz="850" spc="80">
                <a:latin typeface="Calibri"/>
                <a:cs typeface="Calibri"/>
              </a:rPr>
              <a:t>4).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z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270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-52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0</a:t>
            </a:r>
            <a:r>
              <a:rPr dirty="0" baseline="-20202" sz="825" spc="195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1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270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0.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achieve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setting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baseline="-20202" sz="825">
                <a:latin typeface="Calibri"/>
                <a:cs typeface="Calibri"/>
              </a:rPr>
              <a:t>1</a:t>
            </a:r>
            <a:r>
              <a:rPr dirty="0" baseline="-20202" sz="825" spc="277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75">
                <a:latin typeface="Cambria"/>
                <a:cs typeface="Cambria"/>
              </a:rPr>
              <a:t>−</a:t>
            </a:r>
            <a:r>
              <a:rPr dirty="0" sz="850" spc="75">
                <a:latin typeface="Calibri"/>
                <a:cs typeface="Calibri"/>
              </a:rPr>
              <a:t>100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40">
                <a:latin typeface="Cambria"/>
                <a:cs typeface="Cambria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baseline="-20202" sz="825">
                <a:latin typeface="Calibri"/>
                <a:cs typeface="Calibri"/>
              </a:rPr>
              <a:t>0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select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85" i="1">
                <a:latin typeface="Calibri"/>
                <a:cs typeface="Calibri"/>
              </a:rPr>
              <a:t>w</a:t>
            </a:r>
            <a:r>
              <a:rPr dirty="0" baseline="-20202" sz="825" spc="127" i="1">
                <a:latin typeface="Calibri"/>
                <a:cs typeface="Calibri"/>
              </a:rPr>
              <a:t>j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baseline="-20202" sz="825" spc="127" i="1">
                <a:latin typeface="Calibri"/>
                <a:cs typeface="Calibri"/>
              </a:rPr>
              <a:t>j</a:t>
            </a:r>
            <a:r>
              <a:rPr dirty="0" baseline="-20202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 spc="5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100">
                <a:latin typeface="Calibri"/>
                <a:cs typeface="Calibri"/>
              </a:rPr>
              <a:t>1</a:t>
            </a:r>
            <a:r>
              <a:rPr dirty="0" sz="850" spc="100" i="1">
                <a:latin typeface="Times New Roman"/>
                <a:cs typeface="Times New Roman"/>
              </a:rPr>
              <a:t>/</a:t>
            </a:r>
            <a:r>
              <a:rPr dirty="0" sz="850" spc="100">
                <a:latin typeface="Calibri"/>
                <a:cs typeface="Calibri"/>
              </a:rPr>
              <a:t>4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25.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exploding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gradient.</a:t>
            </a:r>
            <a:endParaRPr sz="850">
              <a:latin typeface="Calibri"/>
              <a:cs typeface="Calibri"/>
            </a:endParaRPr>
          </a:p>
          <a:p>
            <a:pPr algn="just" marL="84455" marR="58419" indent="193675">
              <a:lnSpc>
                <a:spcPct val="114300"/>
              </a:lnSpc>
            </a:pPr>
            <a:r>
              <a:rPr dirty="0" sz="850" spc="60" b="1">
                <a:latin typeface="Calibri"/>
                <a:cs typeface="Calibri"/>
              </a:rPr>
              <a:t>The</a:t>
            </a:r>
            <a:r>
              <a:rPr dirty="0" sz="850" spc="2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unstable</a:t>
            </a:r>
            <a:r>
              <a:rPr dirty="0" sz="850" spc="2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gradient</a:t>
            </a:r>
            <a:r>
              <a:rPr dirty="0" sz="850" spc="26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problem:</a:t>
            </a:r>
            <a:r>
              <a:rPr dirty="0" sz="850" spc="459" b="1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exploding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problem.</a:t>
            </a:r>
            <a:r>
              <a:rPr dirty="0" sz="850" spc="4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layers,</a:t>
            </a:r>
            <a:r>
              <a:rPr dirty="0" sz="850" spc="20">
                <a:latin typeface="Calibri"/>
                <a:cs typeface="Calibri"/>
              </a:rPr>
              <a:t> that’s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intrinsically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unstable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situation.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close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same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products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terms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balancing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Without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r>
              <a:rPr dirty="0" sz="850" spc="20">
                <a:latin typeface="Calibri"/>
                <a:cs typeface="Calibri"/>
              </a:rPr>
              <a:t> mechanism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underlying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reason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balancing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occur,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highly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unlikely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happen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chance.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short,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suffer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unstable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gradient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problem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standard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gradient-based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wildly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speeds.</a:t>
            </a:r>
            <a:endParaRPr sz="8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  <a:spcBef>
                <a:spcPts val="120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-2530" y="2735996"/>
            <a:ext cx="344170" cy="461645"/>
            <a:chOff x="-2530" y="2735996"/>
            <a:chExt cx="344170" cy="461645"/>
          </a:xfrm>
        </p:grpSpPr>
        <p:sp>
          <p:nvSpPr>
            <p:cNvPr id="7" name="object 7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56042"/>
                  </a:ln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2"/>
                  </a:moveTo>
                  <a:lnTo>
                    <a:pt x="2525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25831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1579" y="368721"/>
            <a:ext cx="4719955" cy="16903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870075">
              <a:lnSpc>
                <a:spcPts val="525"/>
              </a:lnSpc>
              <a:spcBef>
                <a:spcPts val="110"/>
              </a:spcBef>
              <a:tabLst>
                <a:tab pos="4473575" algn="l"/>
              </a:tabLst>
            </a:pPr>
            <a:r>
              <a:rPr dirty="0" sz="850">
                <a:latin typeface="Calibri"/>
                <a:cs typeface="Calibri"/>
              </a:rPr>
              <a:t>5.3.</a:t>
            </a:r>
            <a:r>
              <a:rPr dirty="0" sz="850" spc="4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Unstable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163</a:t>
            </a:r>
            <a:endParaRPr sz="850">
              <a:latin typeface="Calibri"/>
              <a:cs typeface="Calibri"/>
            </a:endParaRPr>
          </a:p>
          <a:p>
            <a:pPr algn="r" marR="3143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marL="384175" indent="-118110">
              <a:lnSpc>
                <a:spcPct val="100000"/>
              </a:lnSpc>
              <a:buFont typeface="Cambria"/>
              <a:buChar char="•"/>
              <a:tabLst>
                <a:tab pos="384175" algn="l"/>
              </a:tabLst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discussion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vanishing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endParaRPr sz="850">
              <a:latin typeface="Calibri"/>
              <a:cs typeface="Calibri"/>
            </a:endParaRPr>
          </a:p>
          <a:p>
            <a:pPr marL="384175" marR="323215">
              <a:lnSpc>
                <a:spcPct val="114300"/>
              </a:lnSpc>
            </a:pPr>
            <a:r>
              <a:rPr dirty="0" sz="850" spc="50">
                <a:latin typeface="Cambria"/>
                <a:cs typeface="Cambria"/>
              </a:rPr>
              <a:t>|</a:t>
            </a:r>
            <a:r>
              <a:rPr dirty="0" sz="850" spc="50" i="1">
                <a:latin typeface="Times New Roman"/>
                <a:cs typeface="Times New Roman"/>
              </a:rPr>
              <a:t>σ</a:t>
            </a:r>
            <a:r>
              <a:rPr dirty="0" baseline="35353" sz="825" spc="75">
                <a:latin typeface="Cambria"/>
                <a:cs typeface="Cambria"/>
              </a:rPr>
              <a:t>’</a:t>
            </a:r>
            <a:r>
              <a:rPr dirty="0" sz="850" spc="50">
                <a:latin typeface="Tahoma"/>
                <a:cs typeface="Tahoma"/>
              </a:rPr>
              <a:t>(</a:t>
            </a:r>
            <a:r>
              <a:rPr dirty="0" sz="850" spc="50" i="1">
                <a:latin typeface="Calibri"/>
                <a:cs typeface="Calibri"/>
              </a:rPr>
              <a:t>z</a:t>
            </a:r>
            <a:r>
              <a:rPr dirty="0" sz="850" spc="50">
                <a:latin typeface="Tahoma"/>
                <a:cs typeface="Tahoma"/>
              </a:rPr>
              <a:t>)</a:t>
            </a:r>
            <a:r>
              <a:rPr dirty="0" sz="850" spc="50">
                <a:latin typeface="Cambria"/>
                <a:cs typeface="Cambria"/>
              </a:rPr>
              <a:t>|</a:t>
            </a:r>
            <a:r>
              <a:rPr dirty="0" sz="850" spc="65">
                <a:latin typeface="Cambria"/>
                <a:cs typeface="Cambria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&lt;</a:t>
            </a:r>
            <a:r>
              <a:rPr dirty="0" sz="850" spc="55" i="1">
                <a:latin typeface="Times New Roman"/>
                <a:cs typeface="Times New Roman"/>
              </a:rPr>
              <a:t> </a:t>
            </a:r>
            <a:r>
              <a:rPr dirty="0" sz="850" spc="75">
                <a:latin typeface="Calibri"/>
                <a:cs typeface="Calibri"/>
              </a:rPr>
              <a:t>1</a:t>
            </a:r>
            <a:r>
              <a:rPr dirty="0" sz="850" spc="75" i="1">
                <a:latin typeface="Times New Roman"/>
                <a:cs typeface="Times New Roman"/>
              </a:rPr>
              <a:t>/</a:t>
            </a:r>
            <a:r>
              <a:rPr dirty="0" sz="850" spc="75">
                <a:latin typeface="Calibri"/>
                <a:cs typeface="Calibri"/>
              </a:rPr>
              <a:t>4.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derivative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larger.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avoid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unstable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problem?</a:t>
            </a:r>
            <a:endParaRPr sz="850">
              <a:latin typeface="Calibri"/>
              <a:cs typeface="Calibri"/>
            </a:endParaRPr>
          </a:p>
          <a:p>
            <a:pPr algn="just" marL="63500" marR="295910">
              <a:lnSpc>
                <a:spcPct val="114300"/>
              </a:lnSpc>
              <a:spcBef>
                <a:spcPts val="660"/>
              </a:spcBef>
            </a:pPr>
            <a:r>
              <a:rPr dirty="0" sz="850" spc="60" b="1">
                <a:latin typeface="Calibri"/>
                <a:cs typeface="Calibri"/>
              </a:rPr>
              <a:t>The</a:t>
            </a:r>
            <a:r>
              <a:rPr dirty="0" sz="850" spc="19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prevalence</a:t>
            </a:r>
            <a:r>
              <a:rPr dirty="0" sz="850" spc="19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of</a:t>
            </a:r>
            <a:r>
              <a:rPr dirty="0" sz="850" spc="19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vanishing</a:t>
            </a:r>
            <a:r>
              <a:rPr dirty="0" sz="850" spc="19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gradient</a:t>
            </a:r>
            <a:r>
              <a:rPr dirty="0" sz="850" spc="19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problem:</a:t>
            </a:r>
            <a:r>
              <a:rPr dirty="0" sz="850" spc="370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We’ve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vanish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explode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sigmoid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vanish.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again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expression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mbria"/>
                <a:cs typeface="Cambria"/>
              </a:rPr>
              <a:t>|</a:t>
            </a:r>
            <a:r>
              <a:rPr dirty="0" sz="850" spc="-10" i="1">
                <a:latin typeface="Calibri"/>
                <a:cs typeface="Calibri"/>
              </a:rPr>
              <a:t>w</a:t>
            </a:r>
            <a:r>
              <a:rPr dirty="0" sz="850" spc="-10" i="1">
                <a:latin typeface="Times New Roman"/>
                <a:cs typeface="Times New Roman"/>
              </a:rPr>
              <a:t>σ</a:t>
            </a:r>
            <a:r>
              <a:rPr dirty="0" baseline="35353" sz="825" spc="-15">
                <a:latin typeface="Cambria"/>
                <a:cs typeface="Cambria"/>
              </a:rPr>
              <a:t>’</a:t>
            </a:r>
            <a:r>
              <a:rPr dirty="0" sz="850" spc="-10">
                <a:latin typeface="Tahoma"/>
                <a:cs typeface="Tahoma"/>
              </a:rPr>
              <a:t>(</a:t>
            </a:r>
            <a:r>
              <a:rPr dirty="0" sz="850" spc="-10" i="1">
                <a:latin typeface="Calibri"/>
                <a:cs typeface="Calibri"/>
              </a:rPr>
              <a:t>z</a:t>
            </a:r>
            <a:r>
              <a:rPr dirty="0" sz="850" spc="-10">
                <a:latin typeface="Tahoma"/>
                <a:cs typeface="Tahoma"/>
              </a:rPr>
              <a:t>)</a:t>
            </a:r>
            <a:r>
              <a:rPr dirty="0" sz="850" spc="-10">
                <a:latin typeface="Cambria"/>
                <a:cs typeface="Cambria"/>
              </a:rPr>
              <a:t>|</a:t>
            </a:r>
            <a:r>
              <a:rPr dirty="0" sz="850" spc="-10">
                <a:latin typeface="Calibri"/>
                <a:cs typeface="Calibri"/>
              </a:rPr>
              <a:t>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45">
                <a:latin typeface="Cambria"/>
                <a:cs typeface="Cambria"/>
              </a:rPr>
              <a:t>|</a:t>
            </a:r>
            <a:r>
              <a:rPr dirty="0" sz="850" spc="45" i="1">
                <a:latin typeface="Calibri"/>
                <a:cs typeface="Calibri"/>
              </a:rPr>
              <a:t>w</a:t>
            </a:r>
            <a:r>
              <a:rPr dirty="0" sz="850" spc="45" i="1">
                <a:latin typeface="Times New Roman"/>
                <a:cs typeface="Times New Roman"/>
              </a:rPr>
              <a:t>σ</a:t>
            </a:r>
            <a:r>
              <a:rPr dirty="0" baseline="35353" sz="825" spc="67">
                <a:latin typeface="Cambria"/>
                <a:cs typeface="Cambria"/>
              </a:rPr>
              <a:t>’</a:t>
            </a:r>
            <a:r>
              <a:rPr dirty="0" sz="850" spc="45">
                <a:latin typeface="Tahoma"/>
                <a:cs typeface="Tahoma"/>
              </a:rPr>
              <a:t>(</a:t>
            </a:r>
            <a:r>
              <a:rPr dirty="0" sz="850" spc="45" i="1">
                <a:latin typeface="Calibri"/>
                <a:cs typeface="Calibri"/>
              </a:rPr>
              <a:t>z</a:t>
            </a:r>
            <a:r>
              <a:rPr dirty="0" sz="850" spc="45">
                <a:latin typeface="Tahoma"/>
                <a:cs typeface="Tahoma"/>
              </a:rPr>
              <a:t>)</a:t>
            </a:r>
            <a:r>
              <a:rPr dirty="0" sz="850" spc="45">
                <a:latin typeface="Cambria"/>
                <a:cs typeface="Cambria"/>
              </a:rPr>
              <a:t>|</a:t>
            </a:r>
            <a:r>
              <a:rPr dirty="0" sz="850" spc="75">
                <a:latin typeface="Cambria"/>
                <a:cs typeface="Cambria"/>
              </a:rPr>
              <a:t> </a:t>
            </a:r>
            <a:r>
              <a:rPr dirty="0" sz="850" spc="195">
                <a:latin typeface="Cambria"/>
                <a:cs typeface="Cambria"/>
              </a:rPr>
              <a:t>≥</a:t>
            </a:r>
            <a:r>
              <a:rPr dirty="0" sz="850" spc="7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1.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could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28228" y="2033670"/>
            <a:ext cx="4437380" cy="1506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333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happen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large.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looks.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1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term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depends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libri"/>
                <a:cs typeface="Calibri"/>
              </a:rPr>
              <a:t>: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-30">
                <a:latin typeface="Tahoma"/>
                <a:cs typeface="Tahoma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baseline="35353" sz="825" spc="120">
                <a:latin typeface="Cambria"/>
                <a:cs typeface="Cambria"/>
              </a:rPr>
              <a:t>’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wa</a:t>
            </a:r>
            <a:r>
              <a:rPr dirty="0" sz="850" spc="2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activation.</a:t>
            </a:r>
            <a:r>
              <a:rPr dirty="0" sz="850" spc="55">
                <a:latin typeface="Calibri"/>
                <a:cs typeface="Calibri"/>
              </a:rPr>
              <a:t> 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w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careful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simultaneously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making </a:t>
            </a:r>
            <a:r>
              <a:rPr dirty="0" sz="850" spc="80" i="1">
                <a:latin typeface="Times New Roman"/>
                <a:cs typeface="Times New Roman"/>
              </a:rPr>
              <a:t>σ</a:t>
            </a:r>
            <a:r>
              <a:rPr dirty="0" baseline="35353" sz="825" spc="120">
                <a:latin typeface="Cambria"/>
                <a:cs typeface="Cambria"/>
              </a:rPr>
              <a:t>’</a:t>
            </a:r>
            <a:r>
              <a:rPr dirty="0" sz="850" spc="80">
                <a:latin typeface="Tahoma"/>
                <a:cs typeface="Tahoma"/>
              </a:rPr>
              <a:t>(</a:t>
            </a:r>
            <a:r>
              <a:rPr dirty="0" sz="850" spc="80" i="1">
                <a:latin typeface="Calibri"/>
                <a:cs typeface="Calibri"/>
              </a:rPr>
              <a:t>wa</a:t>
            </a:r>
            <a:r>
              <a:rPr dirty="0" sz="850" spc="3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20">
                <a:latin typeface="Tahoma"/>
                <a:cs typeface="Tahoma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3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small.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considerable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constraint.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wa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15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graph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45" i="1">
                <a:latin typeface="Times New Roman"/>
                <a:cs typeface="Times New Roman"/>
              </a:rPr>
              <a:t>σ</a:t>
            </a:r>
            <a:r>
              <a:rPr dirty="0" baseline="35353" sz="825" spc="217">
                <a:latin typeface="Cambria"/>
                <a:cs typeface="Cambria"/>
              </a:rPr>
              <a:t>’</a:t>
            </a:r>
            <a:r>
              <a:rPr dirty="0" baseline="35353" sz="825" spc="33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see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“wings”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45" i="1">
                <a:latin typeface="Times New Roman"/>
                <a:cs typeface="Times New Roman"/>
              </a:rPr>
              <a:t>σ</a:t>
            </a:r>
            <a:r>
              <a:rPr dirty="0" baseline="35353" sz="825" spc="217">
                <a:latin typeface="Cambria"/>
                <a:cs typeface="Cambria"/>
              </a:rPr>
              <a:t>’</a:t>
            </a:r>
            <a:r>
              <a:rPr dirty="0" baseline="35353" sz="825" spc="397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function,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falls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fairly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narrow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range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values</a:t>
            </a:r>
            <a:r>
              <a:rPr dirty="0" sz="850" spc="20">
                <a:latin typeface="Calibri"/>
                <a:cs typeface="Calibri"/>
              </a:rPr>
              <a:t> (this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qualitative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explanation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quantitative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first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below).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Sometimes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generic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16496" y="3612139"/>
            <a:ext cx="4450080" cy="857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1050" spc="40" b="1">
                <a:latin typeface="Calibri"/>
                <a:cs typeface="Calibri"/>
              </a:rPr>
              <a:t>Problems</a:t>
            </a:r>
            <a:endParaRPr sz="1050">
              <a:latin typeface="Calibri"/>
              <a:cs typeface="Calibri"/>
            </a:endParaRPr>
          </a:p>
          <a:p>
            <a:pPr algn="just" marL="379730" marR="55880" indent="-118745">
              <a:lnSpc>
                <a:spcPct val="114300"/>
              </a:lnSpc>
              <a:spcBef>
                <a:spcPts val="620"/>
              </a:spcBef>
              <a:buFont typeface="Cambria"/>
              <a:buChar char="•"/>
              <a:tabLst>
                <a:tab pos="379730" algn="l"/>
              </a:tabLst>
            </a:pP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5">
                <a:latin typeface="Cambria"/>
                <a:cs typeface="Cambria"/>
              </a:rPr>
              <a:t>|</a:t>
            </a:r>
            <a:r>
              <a:rPr dirty="0" sz="850" spc="55" i="1">
                <a:latin typeface="Calibri"/>
                <a:cs typeface="Calibri"/>
              </a:rPr>
              <a:t>w</a:t>
            </a:r>
            <a:r>
              <a:rPr dirty="0" sz="850" spc="55" i="1">
                <a:latin typeface="Times New Roman"/>
                <a:cs typeface="Times New Roman"/>
              </a:rPr>
              <a:t>σ</a:t>
            </a:r>
            <a:r>
              <a:rPr dirty="0" baseline="35353" sz="825" spc="82">
                <a:latin typeface="Cambria"/>
                <a:cs typeface="Cambria"/>
              </a:rPr>
              <a:t>’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 i="1">
                <a:latin typeface="Calibri"/>
                <a:cs typeface="Calibri"/>
              </a:rPr>
              <a:t>wa</a:t>
            </a:r>
            <a:r>
              <a:rPr dirty="0" sz="850" spc="6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45">
                <a:latin typeface="Tahoma"/>
                <a:cs typeface="Tahoma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mbria"/>
                <a:cs typeface="Cambria"/>
              </a:rPr>
              <a:t>|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5">
                <a:latin typeface="Cambria"/>
                <a:cs typeface="Cambria"/>
              </a:rPr>
              <a:t>|</a:t>
            </a:r>
            <a:r>
              <a:rPr dirty="0" sz="850" spc="55" i="1">
                <a:latin typeface="Calibri"/>
                <a:cs typeface="Calibri"/>
              </a:rPr>
              <a:t>w</a:t>
            </a:r>
            <a:r>
              <a:rPr dirty="0" sz="850" spc="55" i="1">
                <a:latin typeface="Times New Roman"/>
                <a:cs typeface="Times New Roman"/>
              </a:rPr>
              <a:t>σ</a:t>
            </a:r>
            <a:r>
              <a:rPr dirty="0" baseline="35353" sz="825" spc="82">
                <a:latin typeface="Cambria"/>
                <a:cs typeface="Cambria"/>
              </a:rPr>
              <a:t>’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 i="1">
                <a:latin typeface="Calibri"/>
                <a:cs typeface="Calibri"/>
              </a:rPr>
              <a:t>wa</a:t>
            </a:r>
            <a:r>
              <a:rPr dirty="0" sz="850" spc="6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45">
                <a:latin typeface="Tahoma"/>
                <a:cs typeface="Tahoma"/>
              </a:rPr>
              <a:t> </a:t>
            </a:r>
            <a:r>
              <a:rPr dirty="0" sz="850" spc="10" i="1">
                <a:latin typeface="Calibri"/>
                <a:cs typeface="Calibri"/>
              </a:rPr>
              <a:t>b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mbria"/>
                <a:cs typeface="Cambria"/>
              </a:rPr>
              <a:t>|</a:t>
            </a:r>
            <a:r>
              <a:rPr dirty="0" sz="850" spc="155">
                <a:latin typeface="Cambria"/>
                <a:cs typeface="Cambria"/>
              </a:rPr>
              <a:t> </a:t>
            </a:r>
            <a:r>
              <a:rPr dirty="0" sz="850" spc="195">
                <a:latin typeface="Cambria"/>
                <a:cs typeface="Cambria"/>
              </a:rPr>
              <a:t>≥</a:t>
            </a:r>
            <a:r>
              <a:rPr dirty="0" sz="850" spc="15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1.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(1)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occur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mbria"/>
                <a:cs typeface="Cambria"/>
              </a:rPr>
              <a:t>|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Cambria"/>
                <a:cs typeface="Cambria"/>
              </a:rPr>
              <a:t>|</a:t>
            </a:r>
            <a:r>
              <a:rPr dirty="0" sz="850" spc="75">
                <a:latin typeface="Cambria"/>
                <a:cs typeface="Cambria"/>
              </a:rPr>
              <a:t> </a:t>
            </a:r>
            <a:r>
              <a:rPr dirty="0" sz="850" spc="195">
                <a:latin typeface="Cambria"/>
                <a:cs typeface="Cambria"/>
              </a:rPr>
              <a:t>≥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spc="20">
                <a:latin typeface="Calibri"/>
                <a:cs typeface="Calibri"/>
              </a:rPr>
              <a:t>4.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(2)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Supposing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mbria"/>
                <a:cs typeface="Cambria"/>
              </a:rPr>
              <a:t>|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0">
                <a:latin typeface="Cambria"/>
                <a:cs typeface="Cambria"/>
              </a:rPr>
              <a:t>|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spc="195">
                <a:latin typeface="Cambria"/>
                <a:cs typeface="Cambria"/>
              </a:rPr>
              <a:t>≥</a:t>
            </a:r>
            <a:r>
              <a:rPr dirty="0" sz="850" spc="75">
                <a:latin typeface="Cambria"/>
                <a:cs typeface="Cambria"/>
              </a:rPr>
              <a:t> </a:t>
            </a:r>
            <a:r>
              <a:rPr dirty="0" sz="850" spc="20">
                <a:latin typeface="Calibri"/>
                <a:cs typeface="Calibri"/>
              </a:rPr>
              <a:t>4,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consider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0">
                <a:latin typeface="Cambria"/>
                <a:cs typeface="Cambria"/>
              </a:rPr>
              <a:t>|</a:t>
            </a:r>
            <a:r>
              <a:rPr dirty="0" sz="850" spc="50" i="1">
                <a:latin typeface="Calibri"/>
                <a:cs typeface="Calibri"/>
              </a:rPr>
              <a:t>w</a:t>
            </a:r>
            <a:r>
              <a:rPr dirty="0" sz="850" spc="50" i="1">
                <a:latin typeface="Times New Roman"/>
                <a:cs typeface="Times New Roman"/>
              </a:rPr>
              <a:t>σ</a:t>
            </a:r>
            <a:r>
              <a:rPr dirty="0" baseline="35353" sz="825" spc="75">
                <a:latin typeface="Cambria"/>
                <a:cs typeface="Cambria"/>
              </a:rPr>
              <a:t>’</a:t>
            </a:r>
            <a:r>
              <a:rPr dirty="0" sz="850" spc="50">
                <a:latin typeface="Tahoma"/>
                <a:cs typeface="Tahoma"/>
              </a:rPr>
              <a:t>(</a:t>
            </a:r>
            <a:r>
              <a:rPr dirty="0" sz="850" spc="50" i="1">
                <a:latin typeface="Calibri"/>
                <a:cs typeface="Calibri"/>
              </a:rPr>
              <a:t>wa</a:t>
            </a:r>
            <a:r>
              <a:rPr dirty="0" sz="850" spc="1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sz="850">
                <a:latin typeface="Cambria"/>
                <a:cs typeface="Cambria"/>
              </a:rPr>
              <a:t>|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195">
                <a:latin typeface="Cambria"/>
                <a:cs typeface="Cambria"/>
              </a:rPr>
              <a:t>≥</a:t>
            </a:r>
            <a:r>
              <a:rPr dirty="0" sz="850" spc="6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1.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satisfying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constraint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range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interval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width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744610" y="4705645"/>
            <a:ext cx="11874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5">
                <a:latin typeface="Calibri"/>
                <a:cs typeface="Calibri"/>
              </a:rPr>
              <a:t>ln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429876" y="4645977"/>
            <a:ext cx="440055" cy="0"/>
          </a:xfrm>
          <a:custGeom>
            <a:avLst/>
            <a:gdLst/>
            <a:ahLst/>
            <a:cxnLst/>
            <a:rect l="l" t="t" r="r" b="b"/>
            <a:pathLst>
              <a:path w="440054" h="0">
                <a:moveTo>
                  <a:pt x="0" y="0"/>
                </a:moveTo>
                <a:lnTo>
                  <a:pt x="439572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2940116" y="4624862"/>
            <a:ext cx="9848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89584" algn="l"/>
              </a:tabLst>
            </a:pPr>
            <a:r>
              <a:rPr dirty="0" sz="850">
                <a:latin typeface="Cambria"/>
                <a:cs typeface="Cambria"/>
              </a:rPr>
              <a:t>|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mbria"/>
                <a:cs typeface="Cambria"/>
              </a:rPr>
              <a:t>|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>
                <a:latin typeface="Calibri"/>
                <a:cs typeface="Calibri"/>
              </a:rPr>
              <a:t>1</a:t>
            </a:r>
            <a:r>
              <a:rPr dirty="0" sz="850" spc="-30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+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-10">
                <a:latin typeface="Calibri"/>
                <a:cs typeface="Calibri"/>
              </a:rPr>
              <a:t>4</a:t>
            </a:r>
            <a:r>
              <a:rPr dirty="0" sz="850" spc="-10" i="1">
                <a:latin typeface="Times New Roman"/>
                <a:cs typeface="Times New Roman"/>
              </a:rPr>
              <a:t>/</a:t>
            </a:r>
            <a:r>
              <a:rPr dirty="0" sz="850" spc="-10">
                <a:latin typeface="Cambria"/>
                <a:cs typeface="Cambria"/>
              </a:rPr>
              <a:t>|</a:t>
            </a:r>
            <a:r>
              <a:rPr dirty="0" sz="850" spc="-10" i="1">
                <a:latin typeface="Calibri"/>
                <a:cs typeface="Calibri"/>
              </a:rPr>
              <a:t>w</a:t>
            </a:r>
            <a:r>
              <a:rPr dirty="0" sz="850" spc="-10">
                <a:latin typeface="Cambria"/>
                <a:cs typeface="Cambria"/>
              </a:rPr>
              <a:t>|</a:t>
            </a:r>
            <a:r>
              <a:rPr dirty="0" sz="850" spc="-10">
                <a:latin typeface="Tahoma"/>
                <a:cs typeface="Tahoma"/>
              </a:rPr>
              <a:t>)</a:t>
            </a:r>
            <a:endParaRPr sz="850">
              <a:latin typeface="Tahoma"/>
              <a:cs typeface="Tahoma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952813" y="4796066"/>
            <a:ext cx="960119" cy="0"/>
          </a:xfrm>
          <a:custGeom>
            <a:avLst/>
            <a:gdLst/>
            <a:ahLst/>
            <a:cxnLst/>
            <a:rect l="l" t="t" r="r" b="b"/>
            <a:pathLst>
              <a:path w="960120" h="0">
                <a:moveTo>
                  <a:pt x="0" y="0"/>
                </a:moveTo>
                <a:lnTo>
                  <a:pt x="959599" y="0"/>
                </a:lnTo>
              </a:path>
            </a:pathLst>
          </a:custGeom>
          <a:ln w="65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2572054" y="4602007"/>
            <a:ext cx="904240" cy="34163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u="sng" sz="850" spc="1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r>
              <a:rPr dirty="0" u="sng" sz="85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  <a:tabLst>
                <a:tab pos="829944" algn="l"/>
              </a:tabLst>
            </a:pPr>
            <a:r>
              <a:rPr dirty="0" sz="850" spc="-25">
                <a:latin typeface="Cambria"/>
                <a:cs typeface="Cambria"/>
              </a:rPr>
              <a:t>|</a:t>
            </a:r>
            <a:r>
              <a:rPr dirty="0" sz="850" spc="-25" i="1">
                <a:latin typeface="Calibri"/>
                <a:cs typeface="Calibri"/>
              </a:rPr>
              <a:t>w</a:t>
            </a:r>
            <a:r>
              <a:rPr dirty="0" sz="850" spc="-25">
                <a:latin typeface="Cambria"/>
                <a:cs typeface="Cambria"/>
              </a:rPr>
              <a:t>|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>
                <a:latin typeface="Calibri"/>
                <a:cs typeface="Calibri"/>
              </a:rPr>
              <a:t>2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852779" y="4533258"/>
            <a:ext cx="13411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66090" algn="l"/>
                <a:tab pos="1256030" algn="l"/>
              </a:tabLst>
            </a:pPr>
            <a:r>
              <a:rPr dirty="0" sz="850">
                <a:latin typeface="Arial MT"/>
                <a:cs typeface="Arial MT"/>
              </a:rPr>
              <a:t>	</a:t>
            </a:r>
            <a:r>
              <a:rPr dirty="0" baseline="3267" sz="1275" spc="862">
                <a:latin typeface="Arial MT"/>
                <a:cs typeface="Arial MT"/>
              </a:rPr>
              <a:t>,</a:t>
            </a:r>
            <a:r>
              <a:rPr dirty="0" baseline="3267" sz="1275">
                <a:latin typeface="Arial MT"/>
                <a:cs typeface="Arial MT"/>
              </a:rPr>
              <a:t>	</a:t>
            </a: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35223" y="4705645"/>
            <a:ext cx="3048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45">
                <a:latin typeface="Cambria"/>
                <a:cs typeface="Cambria"/>
              </a:rPr>
              <a:t>−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47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144124" y="4705645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(5.8)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201532" y="5063801"/>
            <a:ext cx="4297680" cy="1506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4310" marR="90805" indent="-13970">
              <a:lnSpc>
                <a:spcPct val="114300"/>
              </a:lnSpc>
              <a:spcBef>
                <a:spcPts val="95"/>
              </a:spcBef>
            </a:pPr>
            <a:r>
              <a:rPr dirty="0" sz="850" spc="85">
                <a:latin typeface="Calibri"/>
                <a:cs typeface="Calibri"/>
              </a:rPr>
              <a:t>(3)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Show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numerically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expression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bounding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width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range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greatest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|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sz="850">
                <a:latin typeface="Cambria"/>
                <a:cs typeface="Cambria"/>
              </a:rPr>
              <a:t>|</a:t>
            </a:r>
            <a:r>
              <a:rPr dirty="0" sz="850" spc="55">
                <a:latin typeface="Cambria"/>
                <a:cs typeface="Cambria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6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6.9,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6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0.45.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everything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perfectly,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fairly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narrow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problem.</a:t>
            </a:r>
            <a:endParaRPr sz="850">
              <a:latin typeface="Calibri"/>
              <a:cs typeface="Calibri"/>
            </a:endParaRPr>
          </a:p>
          <a:p>
            <a:pPr algn="just" marL="180975" marR="63500" indent="-105410">
              <a:lnSpc>
                <a:spcPct val="114300"/>
              </a:lnSpc>
              <a:buFont typeface="Cambria"/>
              <a:buChar char="•"/>
              <a:tabLst>
                <a:tab pos="180975" algn="l"/>
                <a:tab pos="193675" algn="l"/>
              </a:tabLst>
            </a:pP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40" b="1">
                <a:latin typeface="Calibri"/>
                <a:cs typeface="Calibri"/>
              </a:rPr>
              <a:t>Identity</a:t>
            </a:r>
            <a:r>
              <a:rPr dirty="0" sz="850" spc="5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neuron:</a:t>
            </a:r>
            <a:r>
              <a:rPr dirty="0" sz="850" spc="120" b="1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Consider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neuron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with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single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input,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corresponding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weight,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w</a:t>
            </a:r>
            <a:r>
              <a:rPr dirty="0" baseline="-20202" sz="825" spc="60">
                <a:latin typeface="Calibri"/>
                <a:cs typeface="Calibri"/>
              </a:rPr>
              <a:t>1</a:t>
            </a:r>
            <a:r>
              <a:rPr dirty="0" sz="850" spc="40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bias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b</a:t>
            </a:r>
            <a:r>
              <a:rPr dirty="0" sz="850" spc="15">
                <a:latin typeface="Calibri"/>
                <a:cs typeface="Calibri"/>
              </a:rPr>
              <a:t>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w</a:t>
            </a:r>
            <a:r>
              <a:rPr dirty="0" baseline="-20202" sz="825" spc="44">
                <a:latin typeface="Calibri"/>
                <a:cs typeface="Calibri"/>
              </a:rPr>
              <a:t>2</a:t>
            </a:r>
            <a:r>
              <a:rPr dirty="0" baseline="-20202" sz="825" spc="247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Show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choosing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weights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and</a:t>
            </a:r>
            <a:r>
              <a:rPr dirty="0" sz="850" spc="10">
                <a:latin typeface="Calibri"/>
                <a:cs typeface="Calibri"/>
              </a:rPr>
              <a:t> bias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appropriately,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">
                <a:latin typeface="Calibri"/>
                <a:cs typeface="Calibri"/>
              </a:rPr>
              <a:t> can </a:t>
            </a:r>
            <a:r>
              <a:rPr dirty="0" sz="850" spc="5">
                <a:latin typeface="Calibri"/>
                <a:cs typeface="Calibri"/>
              </a:rPr>
              <a:t>ensure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w</a:t>
            </a:r>
            <a:r>
              <a:rPr dirty="0" baseline="-20202" sz="825" spc="104">
                <a:latin typeface="Calibri"/>
                <a:cs typeface="Calibri"/>
              </a:rPr>
              <a:t>2</a:t>
            </a:r>
            <a:r>
              <a:rPr dirty="0" sz="850" spc="70" i="1">
                <a:latin typeface="Times New Roman"/>
                <a:cs typeface="Times New Roman"/>
              </a:rPr>
              <a:t>σ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w</a:t>
            </a:r>
            <a:r>
              <a:rPr dirty="0" baseline="-20202" sz="825" spc="104">
                <a:latin typeface="Calibri"/>
                <a:cs typeface="Calibri"/>
              </a:rPr>
              <a:t>1</a:t>
            </a:r>
            <a:r>
              <a:rPr dirty="0" baseline="-20202" sz="825" spc="-15">
                <a:latin typeface="Calibri"/>
                <a:cs typeface="Calibri"/>
              </a:rPr>
              <a:t> </a:t>
            </a:r>
            <a:r>
              <a:rPr dirty="0" sz="850" spc="45" i="1">
                <a:latin typeface="Calibri"/>
                <a:cs typeface="Calibri"/>
              </a:rPr>
              <a:t>x</a:t>
            </a:r>
            <a:r>
              <a:rPr dirty="0" sz="850" spc="-20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+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5" i="1">
                <a:latin typeface="Calibri"/>
                <a:cs typeface="Calibri"/>
              </a:rPr>
              <a:t>b</a:t>
            </a:r>
            <a:r>
              <a:rPr dirty="0" sz="850" spc="5">
                <a:latin typeface="Tahoma"/>
                <a:cs typeface="Tahoma"/>
              </a:rPr>
              <a:t>)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345">
                <a:latin typeface="Cambria"/>
                <a:cs typeface="Cambria"/>
              </a:rPr>
              <a:t>”</a:t>
            </a:r>
            <a:r>
              <a:rPr dirty="0" sz="850" spc="80">
                <a:latin typeface="Cambria"/>
                <a:cs typeface="Cambria"/>
              </a:rPr>
              <a:t> </a:t>
            </a:r>
            <a:r>
              <a:rPr dirty="0" sz="850" spc="45" i="1">
                <a:latin typeface="Calibri"/>
                <a:cs typeface="Calibri"/>
              </a:rPr>
              <a:t>x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45" i="1">
                <a:latin typeface="Calibri"/>
                <a:cs typeface="Calibri"/>
              </a:rPr>
              <a:t>x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50">
                <a:latin typeface="Cambria"/>
                <a:cs typeface="Cambria"/>
              </a:rPr>
              <a:t>∈</a:t>
            </a:r>
            <a:r>
              <a:rPr dirty="0" sz="850" spc="15">
                <a:latin typeface="Cambria"/>
                <a:cs typeface="Cambria"/>
              </a:rPr>
              <a:t> </a:t>
            </a:r>
            <a:r>
              <a:rPr dirty="0" sz="850" spc="25">
                <a:latin typeface="Tahoma"/>
                <a:cs typeface="Tahoma"/>
              </a:rPr>
              <a:t>[</a:t>
            </a:r>
            <a:r>
              <a:rPr dirty="0" sz="850" spc="25">
                <a:latin typeface="Calibri"/>
                <a:cs typeface="Calibri"/>
              </a:rPr>
              <a:t>0,</a:t>
            </a:r>
            <a:r>
              <a:rPr dirty="0" sz="850" spc="-7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1</a:t>
            </a:r>
            <a:r>
              <a:rPr dirty="0" sz="850" spc="25">
                <a:latin typeface="Tahoma"/>
                <a:cs typeface="Tahoma"/>
              </a:rPr>
              <a:t>]</a:t>
            </a:r>
            <a:r>
              <a:rPr dirty="0" sz="850" spc="25">
                <a:latin typeface="Calibri"/>
                <a:cs typeface="Calibri"/>
              </a:rPr>
              <a:t>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Such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">
                <a:latin typeface="Calibri"/>
                <a:cs typeface="Calibri"/>
              </a:rPr>
              <a:t> neuron can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thus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kind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identity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neuron,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output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(up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rescaling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factor)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Hint: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25" i="1">
                <a:latin typeface="Calibri"/>
                <a:cs typeface="Calibri"/>
              </a:rPr>
              <a:t>It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helps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to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rewrite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45" i="1">
                <a:latin typeface="Calibri"/>
                <a:cs typeface="Calibri"/>
              </a:rPr>
              <a:t>x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65">
                <a:latin typeface="Tahoma"/>
                <a:cs typeface="Tahoma"/>
              </a:rPr>
              <a:t> </a:t>
            </a:r>
            <a:r>
              <a:rPr dirty="0" sz="850" spc="95">
                <a:latin typeface="Calibri"/>
                <a:cs typeface="Calibri"/>
              </a:rPr>
              <a:t>1</a:t>
            </a:r>
            <a:r>
              <a:rPr dirty="0" sz="850" spc="95" i="1">
                <a:latin typeface="Times New Roman"/>
                <a:cs typeface="Times New Roman"/>
              </a:rPr>
              <a:t>/</a:t>
            </a:r>
            <a:r>
              <a:rPr dirty="0" sz="850" spc="95">
                <a:latin typeface="Calibri"/>
                <a:cs typeface="Calibri"/>
              </a:rPr>
              <a:t>2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5">
                <a:latin typeface="Tahoma"/>
                <a:cs typeface="Tahoma"/>
              </a:rPr>
              <a:t>+</a:t>
            </a:r>
            <a:r>
              <a:rPr dirty="0" sz="850" spc="-105">
                <a:latin typeface="Tahoma"/>
                <a:cs typeface="Tahoma"/>
              </a:rPr>
              <a:t> </a:t>
            </a:r>
            <a:r>
              <a:rPr dirty="0" sz="850" spc="105" i="1">
                <a:latin typeface="Arial"/>
                <a:cs typeface="Arial"/>
              </a:rPr>
              <a:t>∆</a:t>
            </a:r>
            <a:r>
              <a:rPr dirty="0" sz="850" spc="105" i="1">
                <a:latin typeface="Calibri"/>
                <a:cs typeface="Calibri"/>
              </a:rPr>
              <a:t>,</a:t>
            </a:r>
            <a:r>
              <a:rPr dirty="0" sz="850" spc="20" i="1">
                <a:latin typeface="Calibri"/>
                <a:cs typeface="Calibri"/>
              </a:rPr>
              <a:t> </a:t>
            </a:r>
            <a:r>
              <a:rPr dirty="0" sz="850" spc="-5" i="1">
                <a:latin typeface="Calibri"/>
                <a:cs typeface="Calibri"/>
              </a:rPr>
              <a:t>to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assume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w</a:t>
            </a:r>
            <a:r>
              <a:rPr dirty="0" baseline="-20202" sz="825" spc="44">
                <a:latin typeface="Calibri"/>
                <a:cs typeface="Calibri"/>
              </a:rPr>
              <a:t>1</a:t>
            </a:r>
            <a:r>
              <a:rPr dirty="0" baseline="-20202" sz="825" spc="247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is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small,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and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-5" i="1">
                <a:latin typeface="Calibri"/>
                <a:cs typeface="Calibri"/>
              </a:rPr>
              <a:t>to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-5" i="1">
                <a:latin typeface="Calibri"/>
                <a:cs typeface="Calibri"/>
              </a:rPr>
              <a:t>use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Taylor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series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expansion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in</a:t>
            </a:r>
            <a:r>
              <a:rPr dirty="0" sz="850" spc="65" i="1">
                <a:latin typeface="Calibri"/>
                <a:cs typeface="Calibri"/>
              </a:rPr>
              <a:t> </a:t>
            </a:r>
            <a:r>
              <a:rPr dirty="0" sz="850" spc="80" i="1">
                <a:latin typeface="Calibri"/>
                <a:cs typeface="Calibri"/>
              </a:rPr>
              <a:t>w</a:t>
            </a:r>
            <a:r>
              <a:rPr dirty="0" baseline="-20202" sz="825" spc="120">
                <a:latin typeface="Calibri"/>
                <a:cs typeface="Calibri"/>
              </a:rPr>
              <a:t>1</a:t>
            </a:r>
            <a:r>
              <a:rPr dirty="0" sz="850" spc="80" i="1">
                <a:latin typeface="Arial"/>
                <a:cs typeface="Arial"/>
              </a:rPr>
              <a:t>∆</a:t>
            </a:r>
            <a:r>
              <a:rPr dirty="0" sz="850" spc="80" i="1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59750" y="7244299"/>
            <a:ext cx="4356100" cy="772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685">
              <a:lnSpc>
                <a:spcPct val="100000"/>
              </a:lnSpc>
              <a:spcBef>
                <a:spcPts val="100"/>
              </a:spcBef>
              <a:tabLst>
                <a:tab pos="347345" algn="l"/>
              </a:tabLst>
            </a:pPr>
            <a:r>
              <a:rPr dirty="0" sz="1050" spc="30" b="1">
                <a:latin typeface="Calibri"/>
                <a:cs typeface="Calibri"/>
              </a:rPr>
              <a:t>5.3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10" b="1">
                <a:latin typeface="Calibri"/>
                <a:cs typeface="Calibri"/>
              </a:rPr>
              <a:t>Unstable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gradients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65" b="1">
                <a:latin typeface="Calibri"/>
                <a:cs typeface="Calibri"/>
              </a:rPr>
              <a:t>in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more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complex</a:t>
            </a:r>
            <a:r>
              <a:rPr dirty="0" sz="1050" spc="125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networks</a:t>
            </a:r>
            <a:endParaRPr sz="10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05"/>
              </a:spcBef>
            </a:pPr>
            <a:endParaRPr sz="1050">
              <a:latin typeface="Calibri"/>
              <a:cs typeface="Calibri"/>
            </a:endParaRPr>
          </a:p>
          <a:p>
            <a:pPr marL="19685" marR="5080" indent="-762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studying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layer?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5778788" y="2735996"/>
            <a:ext cx="344170" cy="461645"/>
            <a:chOff x="5778788" y="2735996"/>
            <a:chExt cx="344170" cy="461645"/>
          </a:xfrm>
        </p:grpSpPr>
        <p:sp>
          <p:nvSpPr>
            <p:cNvPr id="16" name="object 16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5876620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253238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164</a:t>
            </a:r>
            <a:r>
              <a:rPr dirty="0" sz="850">
                <a:latin typeface="Calibri"/>
                <a:cs typeface="Calibri"/>
              </a:rPr>
              <a:t>	Why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train?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58572" y="964629"/>
            <a:ext cx="4181112" cy="211369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707301" y="3170651"/>
            <a:ext cx="437197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behaviour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back-</a:t>
            </a:r>
            <a:r>
              <a:rPr dirty="0" sz="850" spc="10">
                <a:latin typeface="Calibri"/>
                <a:cs typeface="Calibri"/>
              </a:rPr>
              <a:t>propagation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l</a:t>
            </a:r>
            <a:r>
              <a:rPr dirty="0" sz="850" spc="50">
                <a:latin typeface="Calibri"/>
                <a:cs typeface="Calibri"/>
              </a:rPr>
              <a:t>-</a:t>
            </a:r>
            <a:r>
              <a:rPr dirty="0" sz="850" spc="10">
                <a:latin typeface="Calibri"/>
                <a:cs typeface="Calibri"/>
              </a:rPr>
              <a:t>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80">
                <a:latin typeface="Calibri"/>
                <a:cs typeface="Calibri"/>
              </a:rPr>
              <a:t>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20001" y="765438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05701" y="3796079"/>
            <a:ext cx="4551045" cy="42183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005840">
              <a:lnSpc>
                <a:spcPts val="755"/>
              </a:lnSpc>
              <a:spcBef>
                <a:spcPts val="110"/>
              </a:spcBef>
              <a:tabLst>
                <a:tab pos="4191000" algn="l"/>
              </a:tabLst>
            </a:pPr>
            <a:r>
              <a:rPr dirty="0" sz="850" spc="100" i="1">
                <a:latin typeface="Times New Roman"/>
                <a:cs typeface="Times New Roman"/>
              </a:rPr>
              <a:t>δ</a:t>
            </a:r>
            <a:r>
              <a:rPr dirty="0" baseline="35353" sz="825" spc="150" i="1">
                <a:latin typeface="Calibri"/>
                <a:cs typeface="Calibri"/>
              </a:rPr>
              <a:t>l</a:t>
            </a:r>
            <a:r>
              <a:rPr dirty="0" baseline="35353" sz="825" spc="277" i="1">
                <a:latin typeface="Calibri"/>
                <a:cs typeface="Calibri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50">
                <a:latin typeface="Tahoma"/>
                <a:cs typeface="Tahoma"/>
              </a:rPr>
              <a:t> </a:t>
            </a:r>
            <a:r>
              <a:rPr dirty="0" sz="850" spc="70" i="1">
                <a:latin typeface="Arial"/>
                <a:cs typeface="Arial"/>
              </a:rPr>
              <a:t>Σ</a:t>
            </a:r>
            <a:r>
              <a:rPr dirty="0" baseline="35353" sz="825" spc="104">
                <a:latin typeface="Cambria"/>
                <a:cs typeface="Cambria"/>
              </a:rPr>
              <a:t>’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 spc="30">
                <a:latin typeface="Tahoma"/>
                <a:cs typeface="Tahoma"/>
              </a:rPr>
              <a:t>)(</a:t>
            </a:r>
            <a:r>
              <a:rPr dirty="0" sz="850" spc="30" i="1">
                <a:latin typeface="Calibri"/>
                <a:cs typeface="Calibri"/>
              </a:rPr>
              <a:t>w</a:t>
            </a:r>
            <a:r>
              <a:rPr dirty="0" baseline="35353" sz="825" spc="44" i="1">
                <a:latin typeface="Calibri"/>
                <a:cs typeface="Calibri"/>
              </a:rPr>
              <a:t>l</a:t>
            </a:r>
            <a:r>
              <a:rPr dirty="0" baseline="35353" sz="825" spc="44">
                <a:latin typeface="Tahoma"/>
                <a:cs typeface="Tahoma"/>
              </a:rPr>
              <a:t>+</a:t>
            </a:r>
            <a:r>
              <a:rPr dirty="0" baseline="35353" sz="825" spc="44">
                <a:latin typeface="Calibri"/>
                <a:cs typeface="Calibri"/>
              </a:rPr>
              <a:t>1</a:t>
            </a:r>
            <a:r>
              <a:rPr dirty="0" sz="850" spc="30">
                <a:latin typeface="Tahoma"/>
                <a:cs typeface="Tahoma"/>
              </a:rPr>
              <a:t>)</a:t>
            </a:r>
            <a:r>
              <a:rPr dirty="0" baseline="35353" sz="825" spc="44" i="1">
                <a:latin typeface="Calibri"/>
                <a:cs typeface="Calibri"/>
              </a:rPr>
              <a:t>T</a:t>
            </a:r>
            <a:r>
              <a:rPr dirty="0" baseline="35353" sz="825" i="1">
                <a:latin typeface="Calibri"/>
                <a:cs typeface="Calibri"/>
              </a:rPr>
              <a:t> </a:t>
            </a:r>
            <a:r>
              <a:rPr dirty="0" sz="850" spc="55" i="1">
                <a:latin typeface="Arial"/>
                <a:cs typeface="Arial"/>
              </a:rPr>
              <a:t>Σ</a:t>
            </a:r>
            <a:r>
              <a:rPr dirty="0" baseline="35353" sz="825" spc="82">
                <a:latin typeface="Cambria"/>
                <a:cs typeface="Cambria"/>
              </a:rPr>
              <a:t>’</a:t>
            </a:r>
            <a:r>
              <a:rPr dirty="0" sz="850" spc="55">
                <a:latin typeface="Tahoma"/>
                <a:cs typeface="Tahoma"/>
              </a:rPr>
              <a:t>(</a:t>
            </a:r>
            <a:r>
              <a:rPr dirty="0" sz="850" spc="55" i="1">
                <a:latin typeface="Calibri"/>
                <a:cs typeface="Calibri"/>
              </a:rPr>
              <a:t>z</a:t>
            </a:r>
            <a:r>
              <a:rPr dirty="0" baseline="35353" sz="825" spc="82" i="1">
                <a:latin typeface="Calibri"/>
                <a:cs typeface="Calibri"/>
              </a:rPr>
              <a:t>l</a:t>
            </a:r>
            <a:r>
              <a:rPr dirty="0" baseline="35353" sz="825" spc="82">
                <a:latin typeface="Tahoma"/>
                <a:cs typeface="Tahoma"/>
              </a:rPr>
              <a:t>+</a:t>
            </a:r>
            <a:r>
              <a:rPr dirty="0" baseline="35353" sz="825" spc="82">
                <a:latin typeface="Calibri"/>
                <a:cs typeface="Calibri"/>
              </a:rPr>
              <a:t>1</a:t>
            </a:r>
            <a:r>
              <a:rPr dirty="0" sz="850" spc="55">
                <a:latin typeface="Tahoma"/>
                <a:cs typeface="Tahoma"/>
              </a:rPr>
              <a:t>)(</a:t>
            </a:r>
            <a:r>
              <a:rPr dirty="0" sz="850" spc="55" i="1">
                <a:latin typeface="Calibri"/>
                <a:cs typeface="Calibri"/>
              </a:rPr>
              <a:t>w</a:t>
            </a:r>
            <a:r>
              <a:rPr dirty="0" baseline="35353" sz="825" spc="82" i="1">
                <a:latin typeface="Calibri"/>
                <a:cs typeface="Calibri"/>
              </a:rPr>
              <a:t>l</a:t>
            </a:r>
            <a:r>
              <a:rPr dirty="0" baseline="35353" sz="825" spc="82">
                <a:latin typeface="Tahoma"/>
                <a:cs typeface="Tahoma"/>
              </a:rPr>
              <a:t>+</a:t>
            </a:r>
            <a:r>
              <a:rPr dirty="0" baseline="35353" sz="825" spc="82">
                <a:latin typeface="Calibri"/>
                <a:cs typeface="Calibri"/>
              </a:rPr>
              <a:t>2</a:t>
            </a:r>
            <a:r>
              <a:rPr dirty="0" sz="850" spc="55">
                <a:latin typeface="Tahoma"/>
                <a:cs typeface="Tahoma"/>
              </a:rPr>
              <a:t>)</a:t>
            </a:r>
            <a:r>
              <a:rPr dirty="0" baseline="35353" sz="825" spc="82" i="1">
                <a:latin typeface="Calibri"/>
                <a:cs typeface="Calibri"/>
              </a:rPr>
              <a:t>T</a:t>
            </a:r>
            <a:r>
              <a:rPr dirty="0" baseline="35353" sz="825" spc="195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-65">
                <a:latin typeface="Calibri"/>
                <a:cs typeface="Calibri"/>
              </a:rPr>
              <a:t> </a:t>
            </a:r>
            <a:r>
              <a:rPr dirty="0" sz="850" spc="65" i="1">
                <a:latin typeface="Arial"/>
                <a:cs typeface="Arial"/>
              </a:rPr>
              <a:t>Σ</a:t>
            </a:r>
            <a:r>
              <a:rPr dirty="0" baseline="35353" sz="825" spc="97">
                <a:latin typeface="Cambria"/>
                <a:cs typeface="Cambria"/>
              </a:rPr>
              <a:t>’</a:t>
            </a:r>
            <a:r>
              <a:rPr dirty="0" sz="850" spc="65">
                <a:latin typeface="Tahoma"/>
                <a:cs typeface="Tahoma"/>
              </a:rPr>
              <a:t>(</a:t>
            </a:r>
            <a:r>
              <a:rPr dirty="0" sz="850" spc="65" i="1">
                <a:latin typeface="Calibri"/>
                <a:cs typeface="Calibri"/>
              </a:rPr>
              <a:t>z</a:t>
            </a:r>
            <a:r>
              <a:rPr dirty="0" sz="850" spc="-105" i="1">
                <a:latin typeface="Calibri"/>
                <a:cs typeface="Calibri"/>
              </a:rPr>
              <a:t> </a:t>
            </a:r>
            <a:r>
              <a:rPr dirty="0" baseline="35353" sz="825" spc="89" i="1">
                <a:latin typeface="Calibri"/>
                <a:cs typeface="Calibri"/>
              </a:rPr>
              <a:t>L</a:t>
            </a:r>
            <a:r>
              <a:rPr dirty="0" baseline="35353" sz="825" spc="-67" i="1">
                <a:latin typeface="Calibri"/>
                <a:cs typeface="Calibri"/>
              </a:rPr>
              <a:t> </a:t>
            </a:r>
            <a:r>
              <a:rPr dirty="0" sz="850" spc="90">
                <a:latin typeface="Tahoma"/>
                <a:cs typeface="Tahoma"/>
              </a:rPr>
              <a:t>)</a:t>
            </a:r>
            <a:r>
              <a:rPr dirty="0" sz="850" spc="90">
                <a:latin typeface="Cambria"/>
                <a:cs typeface="Cambria"/>
              </a:rPr>
              <a:t>𝝯</a:t>
            </a:r>
            <a:r>
              <a:rPr dirty="0" sz="850" spc="240">
                <a:latin typeface="Cambria"/>
                <a:cs typeface="Cambria"/>
              </a:rPr>
              <a:t> </a:t>
            </a:r>
            <a:r>
              <a:rPr dirty="0" sz="850" spc="15" i="1">
                <a:latin typeface="Calibri"/>
                <a:cs typeface="Calibri"/>
              </a:rPr>
              <a:t>C</a:t>
            </a:r>
            <a:r>
              <a:rPr dirty="0" sz="850" i="1">
                <a:latin typeface="Calibri"/>
                <a:cs typeface="Calibri"/>
              </a:rPr>
              <a:t>	</a:t>
            </a:r>
            <a:r>
              <a:rPr dirty="0" sz="850" spc="50">
                <a:latin typeface="Calibri"/>
                <a:cs typeface="Calibri"/>
              </a:rPr>
              <a:t>(5.9)</a:t>
            </a:r>
            <a:endParaRPr sz="850">
              <a:latin typeface="Calibri"/>
              <a:cs typeface="Calibri"/>
            </a:endParaRPr>
          </a:p>
          <a:p>
            <a:pPr algn="r" marR="1339850">
              <a:lnSpc>
                <a:spcPts val="395"/>
              </a:lnSpc>
            </a:pPr>
            <a:r>
              <a:rPr dirty="0" sz="550" spc="-50" i="1">
                <a:latin typeface="Calibri"/>
                <a:cs typeface="Calibri"/>
              </a:rPr>
              <a:t>a</a:t>
            </a:r>
            <a:endParaRPr sz="5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550">
              <a:latin typeface="Calibri"/>
              <a:cs typeface="Calibri"/>
            </a:endParaRPr>
          </a:p>
          <a:p>
            <a:pPr algn="just" marL="109855" marR="108585" indent="381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Here,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70" i="1">
                <a:latin typeface="Arial"/>
                <a:cs typeface="Arial"/>
              </a:rPr>
              <a:t>Σ</a:t>
            </a:r>
            <a:r>
              <a:rPr dirty="0" baseline="35353" sz="825" spc="104">
                <a:latin typeface="Cambria"/>
                <a:cs typeface="Cambria"/>
              </a:rPr>
              <a:t>’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-3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diagonal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entries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85" i="1">
                <a:latin typeface="Times New Roman"/>
                <a:cs typeface="Times New Roman"/>
              </a:rPr>
              <a:t>σ</a:t>
            </a:r>
            <a:r>
              <a:rPr dirty="0" baseline="35353" sz="825" spc="127">
                <a:latin typeface="Cambria"/>
                <a:cs typeface="Cambria"/>
              </a:rPr>
              <a:t>’</a:t>
            </a:r>
            <a:r>
              <a:rPr dirty="0" sz="850" spc="85">
                <a:latin typeface="Tahoma"/>
                <a:cs typeface="Tahoma"/>
              </a:rPr>
              <a:t>(</a:t>
            </a:r>
            <a:r>
              <a:rPr dirty="0" sz="850" spc="85" i="1">
                <a:latin typeface="Calibri"/>
                <a:cs typeface="Calibri"/>
              </a:rPr>
              <a:t>z</a:t>
            </a:r>
            <a:r>
              <a:rPr dirty="0" sz="850" spc="85">
                <a:latin typeface="Tahoma"/>
                <a:cs typeface="Tahoma"/>
              </a:rPr>
              <a:t>)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l</a:t>
            </a:r>
            <a:r>
              <a:rPr dirty="0" sz="850" spc="55">
                <a:latin typeface="Calibri"/>
                <a:cs typeface="Calibri"/>
              </a:rPr>
              <a:t>-</a:t>
            </a:r>
            <a:r>
              <a:rPr dirty="0" sz="850">
                <a:latin typeface="Calibri"/>
                <a:cs typeface="Calibri"/>
              </a:rPr>
              <a:t>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l</a:t>
            </a:r>
            <a:r>
              <a:rPr dirty="0" baseline="35353" sz="825" spc="509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matrices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85">
                <a:latin typeface="Cambria"/>
                <a:cs typeface="Cambria"/>
              </a:rPr>
              <a:t>𝝯</a:t>
            </a:r>
            <a:r>
              <a:rPr dirty="0" baseline="-20202" sz="825" spc="127" i="1">
                <a:latin typeface="Calibri"/>
                <a:cs typeface="Calibri"/>
              </a:rPr>
              <a:t>a</a:t>
            </a:r>
            <a:r>
              <a:rPr dirty="0" baseline="-20202" sz="825" spc="-22" i="1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4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vector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derivatives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C</a:t>
            </a:r>
            <a:r>
              <a:rPr dirty="0" sz="850" spc="21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activations.</a:t>
            </a:r>
            <a:endParaRPr sz="850">
              <a:latin typeface="Calibri"/>
              <a:cs typeface="Calibri"/>
            </a:endParaRPr>
          </a:p>
          <a:p>
            <a:pPr algn="just" marL="106680" marR="81280" indent="196850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complicated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single-neuron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case.</a:t>
            </a:r>
            <a:r>
              <a:rPr dirty="0" sz="850" spc="4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closely,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essential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pairs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(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35353" sz="825" i="1">
                <a:latin typeface="Calibri"/>
                <a:cs typeface="Calibri"/>
              </a:rPr>
              <a:t>j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)</a:t>
            </a:r>
            <a:r>
              <a:rPr dirty="0" baseline="35353" sz="825" i="1">
                <a:latin typeface="Calibri"/>
                <a:cs typeface="Calibri"/>
              </a:rPr>
              <a:t>T</a:t>
            </a:r>
            <a:r>
              <a:rPr dirty="0" baseline="35353" sz="825" spc="44" i="1">
                <a:latin typeface="Calibri"/>
                <a:cs typeface="Calibri"/>
              </a:rPr>
              <a:t> </a:t>
            </a:r>
            <a:r>
              <a:rPr dirty="0" sz="850" spc="70" i="1">
                <a:latin typeface="Arial"/>
                <a:cs typeface="Arial"/>
              </a:rPr>
              <a:t>Σ</a:t>
            </a:r>
            <a:r>
              <a:rPr dirty="0" baseline="35353" sz="825" spc="104">
                <a:latin typeface="Cambria"/>
                <a:cs typeface="Cambria"/>
              </a:rPr>
              <a:t>’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baseline="35353" sz="825" spc="104" i="1">
                <a:latin typeface="Calibri"/>
                <a:cs typeface="Calibri"/>
              </a:rPr>
              <a:t>j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 spc="-25">
                <a:latin typeface="Tahoma"/>
                <a:cs typeface="Tahom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matrices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70" i="1">
                <a:latin typeface="Arial"/>
                <a:cs typeface="Arial"/>
              </a:rPr>
              <a:t>Σ</a:t>
            </a:r>
            <a:r>
              <a:rPr dirty="0" baseline="35353" sz="825" spc="104">
                <a:latin typeface="Cambria"/>
                <a:cs typeface="Cambria"/>
              </a:rPr>
              <a:t>’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baseline="35353" sz="825" spc="104" i="1">
                <a:latin typeface="Calibri"/>
                <a:cs typeface="Calibri"/>
              </a:rPr>
              <a:t>j</a:t>
            </a:r>
            <a:r>
              <a:rPr dirty="0" baseline="35353" sz="825" spc="-37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4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entries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diagonal,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1</a:t>
            </a:r>
            <a:r>
              <a:rPr dirty="0" sz="850" spc="-20">
                <a:latin typeface="Lucida Sans Unicode"/>
                <a:cs typeface="Lucida Sans Unicode"/>
              </a:rPr>
              <a:t>/</a:t>
            </a:r>
            <a:r>
              <a:rPr dirty="0" sz="850" spc="-20">
                <a:latin typeface="Calibri"/>
                <a:cs typeface="Calibri"/>
              </a:rPr>
              <a:t>4.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matrices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35353" sz="825" spc="15" i="1">
                <a:latin typeface="Calibri"/>
                <a:cs typeface="Calibri"/>
              </a:rPr>
              <a:t>j</a:t>
            </a:r>
            <a:r>
              <a:rPr dirty="0" baseline="35353" sz="825" spc="382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aren’t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additional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baseline="35353" sz="825" spc="15" i="1">
                <a:latin typeface="Calibri"/>
                <a:cs typeface="Calibri"/>
              </a:rPr>
              <a:t>j</a:t>
            </a:r>
            <a:r>
              <a:rPr dirty="0" baseline="35353" sz="825" spc="-44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baseline="35353" sz="825" spc="15" i="1">
                <a:latin typeface="Calibri"/>
                <a:cs typeface="Calibri"/>
              </a:rPr>
              <a:t>T</a:t>
            </a:r>
            <a:r>
              <a:rPr dirty="0" baseline="35353" sz="825" spc="22" i="1">
                <a:latin typeface="Calibri"/>
                <a:cs typeface="Calibri"/>
              </a:rPr>
              <a:t> </a:t>
            </a:r>
            <a:r>
              <a:rPr dirty="0" sz="850" spc="70" i="1">
                <a:latin typeface="Arial"/>
                <a:cs typeface="Arial"/>
              </a:rPr>
              <a:t>Σ</a:t>
            </a:r>
            <a:r>
              <a:rPr dirty="0" baseline="35353" sz="825" spc="104">
                <a:latin typeface="Cambria"/>
                <a:cs typeface="Cambria"/>
              </a:rPr>
              <a:t>’</a:t>
            </a:r>
            <a:r>
              <a:rPr dirty="0" sz="850" spc="70">
                <a:latin typeface="Tahoma"/>
                <a:cs typeface="Tahoma"/>
              </a:rPr>
              <a:t>(</a:t>
            </a:r>
            <a:r>
              <a:rPr dirty="0" sz="850" spc="70" i="1">
                <a:latin typeface="Calibri"/>
                <a:cs typeface="Calibri"/>
              </a:rPr>
              <a:t>z</a:t>
            </a:r>
            <a:r>
              <a:rPr dirty="0" baseline="35353" sz="825" spc="104" i="1">
                <a:latin typeface="Calibri"/>
                <a:cs typeface="Calibri"/>
              </a:rPr>
              <a:t>l</a:t>
            </a:r>
            <a:r>
              <a:rPr dirty="0" baseline="35353" sz="825" spc="-3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20">
                <a:latin typeface="Tahoma"/>
                <a:cs typeface="Tahoma"/>
              </a:rPr>
              <a:t> </a:t>
            </a:r>
            <a:r>
              <a:rPr dirty="0" sz="850" spc="10">
                <a:latin typeface="Calibri"/>
                <a:cs typeface="Calibri"/>
              </a:rPr>
              <a:t>tends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smaller,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leading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generally,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large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tends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unstable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earlier</a:t>
            </a:r>
            <a:r>
              <a:rPr dirty="0" sz="850" spc="20">
                <a:latin typeface="Calibri"/>
                <a:cs typeface="Calibri"/>
              </a:rPr>
              <a:t> example.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practice,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empirically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typically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found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exponentially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slowdown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merely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accident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inconvenience: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fundamental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consequence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40"/>
              </a:spcBef>
            </a:pPr>
            <a:endParaRPr sz="85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  <a:tabLst>
                <a:tab pos="441325" algn="l"/>
              </a:tabLst>
            </a:pPr>
            <a:r>
              <a:rPr dirty="0" sz="1050" spc="30" b="1">
                <a:latin typeface="Calibri"/>
                <a:cs typeface="Calibri"/>
              </a:rPr>
              <a:t>5.4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10" b="1">
                <a:latin typeface="Calibri"/>
                <a:cs typeface="Calibri"/>
              </a:rPr>
              <a:t>Other</a:t>
            </a:r>
            <a:r>
              <a:rPr dirty="0" sz="1050" spc="220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obstacles</a:t>
            </a:r>
            <a:r>
              <a:rPr dirty="0" sz="1050" spc="220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to</a:t>
            </a:r>
            <a:r>
              <a:rPr dirty="0" sz="1050" spc="220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deep</a:t>
            </a:r>
            <a:r>
              <a:rPr dirty="0" sz="1050" spc="220" b="1">
                <a:latin typeface="Calibri"/>
                <a:cs typeface="Calibri"/>
              </a:rPr>
              <a:t> </a:t>
            </a:r>
            <a:r>
              <a:rPr dirty="0" sz="1050" spc="45" b="1">
                <a:latin typeface="Calibri"/>
                <a:cs typeface="Calibri"/>
              </a:rPr>
              <a:t>learning</a:t>
            </a:r>
            <a:endParaRPr sz="1050">
              <a:latin typeface="Calibri"/>
              <a:cs typeface="Calibri"/>
            </a:endParaRPr>
          </a:p>
          <a:p>
            <a:pPr algn="just" marL="114300" marR="81915">
              <a:lnSpc>
                <a:spcPct val="114300"/>
              </a:lnSpc>
              <a:spcBef>
                <a:spcPts val="1019"/>
              </a:spcBef>
            </a:pPr>
            <a:r>
              <a:rPr dirty="0" sz="850" spc="55">
                <a:latin typeface="Calibri"/>
                <a:cs typeface="Calibri"/>
              </a:rPr>
              <a:t>In </a:t>
            </a:r>
            <a:r>
              <a:rPr dirty="0" sz="850" spc="20">
                <a:latin typeface="Calibri"/>
                <a:cs typeface="Calibri"/>
              </a:rPr>
              <a:t>this chapter we’ve focused on vanishing gradients – and, more generally, unstable </a:t>
            </a:r>
            <a:r>
              <a:rPr dirty="0" sz="850" spc="-20">
                <a:latin typeface="Calibri"/>
                <a:cs typeface="Calibri"/>
              </a:rPr>
              <a:t>gra-</a:t>
            </a:r>
            <a:r>
              <a:rPr dirty="0" sz="850" spc="10">
                <a:latin typeface="Calibri"/>
                <a:cs typeface="Calibri"/>
              </a:rPr>
              <a:t>dients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obstacle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unstable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obstacle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albeit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important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fundamental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obstacle.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ongoing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research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aims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challenges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won’t</a:t>
            </a:r>
            <a:r>
              <a:rPr dirty="0" sz="850" spc="20">
                <a:latin typeface="Calibri"/>
                <a:cs typeface="Calibri"/>
              </a:rPr>
              <a:t> comprehensively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summarize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here,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briefly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mention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couple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flavor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asking.</a:t>
            </a:r>
            <a:endParaRPr sz="850">
              <a:latin typeface="Calibri"/>
              <a:cs typeface="Calibri"/>
            </a:endParaRPr>
          </a:p>
          <a:p>
            <a:pPr algn="just" marL="303530">
              <a:lnSpc>
                <a:spcPct val="100000"/>
              </a:lnSpc>
              <a:spcBef>
                <a:spcPts val="145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2010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Glorot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Bengio</a:t>
            </a:r>
            <a:r>
              <a:rPr dirty="0" baseline="35353" sz="825">
                <a:latin typeface="Calibri"/>
                <a:cs typeface="Calibri"/>
                <a:hlinkClick r:id="rId3" action="ppaction://hlinksldjump"/>
              </a:rPr>
              <a:t>9</a:t>
            </a:r>
            <a:r>
              <a:rPr dirty="0" baseline="35353" sz="825" spc="38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endParaRPr sz="850">
              <a:latin typeface="Calibri"/>
              <a:cs typeface="Calibri"/>
            </a:endParaRPr>
          </a:p>
          <a:p>
            <a:pPr algn="just" marL="109855" marR="104775" indent="132080">
              <a:lnSpc>
                <a:spcPts val="800"/>
              </a:lnSpc>
              <a:spcBef>
                <a:spcPts val="930"/>
              </a:spcBef>
            </a:pPr>
            <a:r>
              <a:rPr dirty="0" baseline="30303" sz="825" spc="44">
                <a:latin typeface="Calibri"/>
                <a:cs typeface="Calibri"/>
              </a:rPr>
              <a:t>9</a:t>
            </a:r>
            <a:r>
              <a:rPr dirty="0" sz="750" spc="30">
                <a:latin typeface="Calibri"/>
                <a:cs typeface="Calibri"/>
                <a:hlinkClick r:id="rId4"/>
              </a:rPr>
              <a:t>Understanding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the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difficulty</a:t>
            </a:r>
            <a:r>
              <a:rPr dirty="0" sz="750" spc="55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of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training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deep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feedforward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neural</a:t>
            </a:r>
            <a:r>
              <a:rPr dirty="0" sz="750" spc="60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networks</a:t>
            </a:r>
            <a:r>
              <a:rPr dirty="0" sz="750" spc="30">
                <a:latin typeface="Calibri"/>
                <a:cs typeface="Calibri"/>
              </a:rPr>
              <a:t>,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by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Xavier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Glorot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and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Yoshua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Bengio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(2010).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See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also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earlier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discussion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use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sigmoids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Efficient</a:t>
            </a:r>
            <a:r>
              <a:rPr dirty="0" sz="750" spc="75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BackProp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by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Yann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LeCun,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Léon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Bottou,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Genevieve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Orr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Klaus-Robert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Müller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(1998).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-2530" y="2735996"/>
            <a:ext cx="344170" cy="461645"/>
            <a:chOff x="-2530" y="2735996"/>
            <a:chExt cx="344170" cy="461645"/>
          </a:xfrm>
        </p:grpSpPr>
        <p:sp>
          <p:nvSpPr>
            <p:cNvPr id="8" name="object 8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25831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41896" y="368721"/>
            <a:ext cx="4664075" cy="23469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483485">
              <a:lnSpc>
                <a:spcPts val="525"/>
              </a:lnSpc>
              <a:spcBef>
                <a:spcPts val="110"/>
              </a:spcBef>
              <a:tabLst>
                <a:tab pos="4443095" algn="l"/>
              </a:tabLst>
            </a:pPr>
            <a:r>
              <a:rPr dirty="0" sz="850">
                <a:latin typeface="Calibri"/>
                <a:cs typeface="Calibri"/>
              </a:rPr>
              <a:t>5.4.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obstacles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165</a:t>
            </a:r>
            <a:endParaRPr sz="850">
              <a:latin typeface="Calibri"/>
              <a:cs typeface="Calibri"/>
            </a:endParaRPr>
          </a:p>
          <a:p>
            <a:pPr algn="r" marR="2889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100" marR="29400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saturate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substantially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slowing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alternative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appear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suffer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saturation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problem.</a:t>
            </a:r>
            <a:endParaRPr sz="850">
              <a:latin typeface="Calibri"/>
              <a:cs typeface="Calibri"/>
            </a:endParaRPr>
          </a:p>
          <a:p>
            <a:pPr algn="just" marL="38100" marR="295275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2013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Sutskever,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Martens,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Dahl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Hinton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10</a:t>
            </a:r>
            <a:r>
              <a:rPr dirty="0" baseline="35353" sz="825" spc="41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studied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impact</a:t>
            </a:r>
            <a:r>
              <a:rPr dirty="0" sz="850" spc="20">
                <a:latin typeface="Calibri"/>
                <a:cs typeface="Calibri"/>
              </a:rPr>
              <a:t> 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random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momentum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schedule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momentum-based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substantial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ability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  <a:p>
            <a:pPr algn="just" marL="38100" marR="294005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“What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train?”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complex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question.</a:t>
            </a:r>
            <a:r>
              <a:rPr dirty="0" sz="850" spc="3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focused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instabilities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associated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gradient-</a:t>
            </a:r>
            <a:r>
              <a:rPr dirty="0" sz="850" spc="-10">
                <a:latin typeface="Calibri"/>
                <a:cs typeface="Calibri"/>
              </a:rPr>
              <a:t>based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4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paragraphs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7296" y="2690147"/>
            <a:ext cx="4373245" cy="1209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role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played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choice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activation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initialized,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implemented.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important.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Thus,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20">
                <a:latin typeface="Calibri"/>
                <a:cs typeface="Calibri"/>
              </a:rPr>
              <a:t> play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role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making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hard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factors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subject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ongoing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research.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downbeat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pessimism-</a:t>
            </a:r>
            <a:r>
              <a:rPr dirty="0" sz="850" spc="-10">
                <a:latin typeface="Calibri"/>
                <a:cs typeface="Calibri"/>
              </a:rPr>
              <a:t>inducing.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next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around,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several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overcome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around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challenges.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079996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41896" y="7770973"/>
            <a:ext cx="4396740" cy="2438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 marR="30480" indent="8699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89">
                <a:latin typeface="Calibri"/>
                <a:cs typeface="Calibri"/>
              </a:rPr>
              <a:t>10</a:t>
            </a:r>
            <a:r>
              <a:rPr dirty="0" sz="750" spc="60">
                <a:latin typeface="Calibri"/>
                <a:cs typeface="Calibri"/>
                <a:hlinkClick r:id="rId3"/>
              </a:rPr>
              <a:t>On</a:t>
            </a:r>
            <a:r>
              <a:rPr dirty="0" sz="750" spc="17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the</a:t>
            </a:r>
            <a:r>
              <a:rPr dirty="0" sz="750" spc="17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importance</a:t>
            </a:r>
            <a:r>
              <a:rPr dirty="0" sz="750" spc="17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of</a:t>
            </a:r>
            <a:r>
              <a:rPr dirty="0" sz="750" spc="17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initialization</a:t>
            </a:r>
            <a:r>
              <a:rPr dirty="0" sz="750" spc="17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and</a:t>
            </a:r>
            <a:r>
              <a:rPr dirty="0" sz="750" spc="17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momentum</a:t>
            </a:r>
            <a:r>
              <a:rPr dirty="0" sz="750" spc="17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in</a:t>
            </a:r>
            <a:r>
              <a:rPr dirty="0" sz="750" spc="17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deep</a:t>
            </a:r>
            <a:r>
              <a:rPr dirty="0" sz="750" spc="17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learning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Ilya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Sutskever,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James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Martens,</a:t>
            </a:r>
            <a:r>
              <a:rPr dirty="0" sz="750" spc="18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George</a:t>
            </a:r>
            <a:r>
              <a:rPr dirty="0" sz="750" spc="18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Dahl</a:t>
            </a:r>
            <a:r>
              <a:rPr dirty="0" sz="750" spc="18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8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Geoffrey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Hinton</a:t>
            </a:r>
            <a:r>
              <a:rPr dirty="0" sz="750" spc="185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(2013).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778788" y="2735996"/>
            <a:ext cx="344170" cy="461645"/>
            <a:chOff x="5778788" y="2735996"/>
            <a:chExt cx="344170" cy="461645"/>
          </a:xfrm>
        </p:grpSpPr>
        <p:sp>
          <p:nvSpPr>
            <p:cNvPr id="7" name="object 7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781318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89" h="456564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84543"/>
                  </a:lnTo>
                  <a:lnTo>
                    <a:pt x="5657" y="412569"/>
                  </a:lnTo>
                  <a:lnTo>
                    <a:pt x="21086" y="435459"/>
                  </a:lnTo>
                  <a:lnTo>
                    <a:pt x="43971" y="450892"/>
                  </a:lnTo>
                  <a:lnTo>
                    <a:pt x="71996" y="456552"/>
                  </a:lnTo>
                  <a:lnTo>
                    <a:pt x="336156" y="456552"/>
                  </a:lnTo>
                  <a:lnTo>
                    <a:pt x="338683" y="456041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5876620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253238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166</a:t>
            </a:r>
            <a:r>
              <a:rPr dirty="0" sz="850">
                <a:latin typeface="Calibri"/>
                <a:cs typeface="Calibri"/>
              </a:rPr>
              <a:t>	Why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train?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-2530" y="2735996"/>
            <a:ext cx="344170" cy="461645"/>
            <a:chOff x="-2530" y="2735996"/>
            <a:chExt cx="344170" cy="461645"/>
          </a:xfrm>
        </p:grpSpPr>
        <p:sp>
          <p:nvSpPr>
            <p:cNvPr id="4" name="object 4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6043"/>
                  </a:ln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0" y="2738526"/>
              <a:ext cx="339090" cy="456565"/>
            </a:xfrm>
            <a:custGeom>
              <a:avLst/>
              <a:gdLst/>
              <a:ahLst/>
              <a:cxnLst/>
              <a:rect l="l" t="t" r="r" b="b"/>
              <a:pathLst>
                <a:path w="339090" h="456564">
                  <a:moveTo>
                    <a:pt x="0" y="456043"/>
                  </a:moveTo>
                  <a:lnTo>
                    <a:pt x="2520" y="456552"/>
                  </a:lnTo>
                  <a:lnTo>
                    <a:pt x="266679" y="456552"/>
                  </a:lnTo>
                  <a:lnTo>
                    <a:pt x="294707" y="450892"/>
                  </a:lnTo>
                  <a:lnTo>
                    <a:pt x="317594" y="435459"/>
                  </a:lnTo>
                  <a:lnTo>
                    <a:pt x="333025" y="412569"/>
                  </a:lnTo>
                  <a:lnTo>
                    <a:pt x="338683" y="384543"/>
                  </a:lnTo>
                  <a:lnTo>
                    <a:pt x="338683" y="72008"/>
                  </a:lnTo>
                  <a:lnTo>
                    <a:pt x="333025" y="43976"/>
                  </a:lnTo>
                  <a:lnTo>
                    <a:pt x="317594" y="21088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25831" y="2724000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5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59704" y="368724"/>
            <a:ext cx="32131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5095">
              <a:lnSpc>
                <a:spcPts val="525"/>
              </a:lnSpc>
              <a:spcBef>
                <a:spcPts val="110"/>
              </a:spcBef>
            </a:pPr>
            <a:r>
              <a:rPr dirty="0" sz="850" spc="25">
                <a:latin typeface="Calibri"/>
                <a:cs typeface="Calibri"/>
              </a:rPr>
              <a:t>167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xfrm>
            <a:off x="3970820" y="936790"/>
            <a:ext cx="1428750" cy="292862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-1891" sz="17625" spc="-8385">
                <a:solidFill>
                  <a:srgbClr val="B2B2B2"/>
                </a:solidFill>
              </a:rPr>
              <a:t>6</a:t>
            </a:r>
            <a:r>
              <a:rPr dirty="0" sz="19050" spc="-9250">
                <a:solidFill>
                  <a:srgbClr val="7F7F7F"/>
                </a:solidFill>
              </a:rPr>
              <a:t>6</a:t>
            </a:r>
            <a:r>
              <a:rPr dirty="0" sz="18650" spc="-9050">
                <a:solidFill>
                  <a:srgbClr val="A5A5A5"/>
                </a:solidFill>
              </a:rPr>
              <a:t>6</a:t>
            </a:r>
            <a:r>
              <a:rPr dirty="0" sz="18250" spc="320">
                <a:solidFill>
                  <a:srgbClr val="CCCCCC"/>
                </a:solidFill>
              </a:rPr>
              <a:t>6</a:t>
            </a:r>
            <a:endParaRPr sz="18250"/>
          </a:p>
        </p:txBody>
      </p:sp>
      <p:sp>
        <p:nvSpPr>
          <p:cNvPr id="4" name="object 4"/>
          <p:cNvSpPr txBox="1"/>
          <p:nvPr/>
        </p:nvSpPr>
        <p:spPr>
          <a:xfrm>
            <a:off x="3490696" y="2314599"/>
            <a:ext cx="1922145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85" b="1">
                <a:latin typeface="Calibri"/>
                <a:cs typeface="Calibri"/>
              </a:rPr>
              <a:t>Deep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114" b="1">
                <a:latin typeface="Calibri"/>
                <a:cs typeface="Calibri"/>
              </a:rPr>
              <a:t>learning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59750" y="4273863"/>
            <a:ext cx="4380865" cy="2254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6985">
              <a:lnSpc>
                <a:spcPct val="114300"/>
              </a:lnSpc>
              <a:spcBef>
                <a:spcPts val="95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learned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shallow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unfortunate,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believe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shallow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while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news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last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chapter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discouraging,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won’t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stop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practice.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broader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picture,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briefly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reviewing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progress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applications.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brief,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speculative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future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hold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artificial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intelligence.</a:t>
            </a:r>
            <a:endParaRPr sz="850">
              <a:latin typeface="Calibri"/>
              <a:cs typeface="Calibri"/>
            </a:endParaRPr>
          </a:p>
          <a:p>
            <a:pPr algn="just" marL="19685" marR="27940" indent="189230">
              <a:lnSpc>
                <a:spcPct val="114300"/>
              </a:lnSpc>
              <a:spcBef>
                <a:spcPts val="3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navigate,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tour.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only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loosely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coupled,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familiarity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jump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whatever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interests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you.</a:t>
            </a:r>
            <a:endParaRPr sz="850">
              <a:latin typeface="Calibri"/>
              <a:cs typeface="Calibri"/>
            </a:endParaRPr>
          </a:p>
          <a:p>
            <a:pPr algn="just" marL="19685" marR="32384" indent="189230">
              <a:lnSpc>
                <a:spcPct val="114300"/>
              </a:lnSpc>
              <a:spcBef>
                <a:spcPts val="30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introduction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widely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network: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code</a:t>
            </a:r>
            <a:r>
              <a:rPr dirty="0" sz="850" spc="20">
                <a:latin typeface="Calibri"/>
                <a:cs typeface="Calibri"/>
              </a:rPr>
              <a:t> 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solve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handwritten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MNIST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set: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76017" y="6625273"/>
            <a:ext cx="1727987" cy="355027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1059750" y="7103016"/>
            <a:ext cx="4353560" cy="913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685" marR="5080" indent="-7620">
              <a:lnSpc>
                <a:spcPct val="114300"/>
              </a:lnSpc>
              <a:spcBef>
                <a:spcPts val="95"/>
              </a:spcBef>
            </a:pP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account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convolutional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shallow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attack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iterations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powerful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powerful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techniques: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pooling,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GPUs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shallow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algorithmic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expansion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overfitting),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(also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reduce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overfitting),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ensembles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42485" cy="11626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168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06070" marR="508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system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offers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near-human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10,000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during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training!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9,967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correctly.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peek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33 </a:t>
            </a:r>
            <a:r>
              <a:rPr dirty="0" sz="850" spc="20">
                <a:latin typeface="Calibri"/>
                <a:cs typeface="Calibri"/>
              </a:rPr>
              <a:t>images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misclassified.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correct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classification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right;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bottom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right: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99661" y="1770864"/>
            <a:ext cx="3384583" cy="238351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700852" y="4408164"/>
            <a:ext cx="4379595" cy="36087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571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tough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classify.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third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row.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“9”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“8”,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official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classification.</a:t>
            </a:r>
            <a:r>
              <a:rPr dirty="0" sz="850" spc="50">
                <a:latin typeface="Calibri"/>
                <a:cs typeface="Calibri"/>
              </a:rPr>
              <a:t> 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“9”.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“error”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understandable,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commendable.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conclude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survey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spectacular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recent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progress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(particularly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convolutional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nets)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recognition.</a:t>
            </a:r>
            <a:endParaRPr sz="850">
              <a:latin typeface="Calibri"/>
              <a:cs typeface="Calibri"/>
            </a:endParaRPr>
          </a:p>
          <a:p>
            <a:pPr algn="just" marL="19050" marR="29209" indent="189230">
              <a:lnSpc>
                <a:spcPct val="114300"/>
              </a:lnSpc>
              <a:spcBef>
                <a:spcPts val="80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remainder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broader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detailed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perspective.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briefly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survey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recurrent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short-term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memory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recognition,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natural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language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processing,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areas.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speculate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future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ranging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intention-</a:t>
            </a:r>
            <a:r>
              <a:rPr dirty="0" sz="850" spc="-10">
                <a:latin typeface="Calibri"/>
                <a:cs typeface="Calibri"/>
              </a:rPr>
              <a:t>driven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interfaces,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intelligence.</a:t>
            </a:r>
            <a:endParaRPr sz="850">
              <a:latin typeface="Calibri"/>
              <a:cs typeface="Calibri"/>
            </a:endParaRPr>
          </a:p>
          <a:p>
            <a:pPr algn="just" marL="12700" marR="29209" indent="196215">
              <a:lnSpc>
                <a:spcPct val="114300"/>
              </a:lnSpc>
              <a:spcBef>
                <a:spcPts val="80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making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integrating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use</a:t>
            </a:r>
            <a:r>
              <a:rPr dirty="0" sz="850" spc="20">
                <a:latin typeface="Calibri"/>
                <a:cs typeface="Calibri"/>
              </a:rPr>
              <a:t> concepts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Chapters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5,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provide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links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familiarize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yourself,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necessary.</a:t>
            </a:r>
            <a:endParaRPr sz="850">
              <a:latin typeface="Calibri"/>
              <a:cs typeface="Calibri"/>
            </a:endParaRPr>
          </a:p>
          <a:p>
            <a:pPr algn="just" marL="19050" marR="9525" indent="189230">
              <a:lnSpc>
                <a:spcPct val="114300"/>
              </a:lnSpc>
              <a:spcBef>
                <a:spcPts val="80"/>
              </a:spcBef>
            </a:pP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tutorial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greatest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libraries.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dozens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leading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edge.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focus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behind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simple,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easy-to-understand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context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problem.</a:t>
            </a:r>
            <a:r>
              <a:rPr dirty="0" sz="850" spc="4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way: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frontier.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focus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prepare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wide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current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6" name="object 6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69860"/>
                  </a:lnTo>
                  <a:lnTo>
                    <a:pt x="2525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0"/>
                  </a:moveTo>
                  <a:lnTo>
                    <a:pt x="2525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96" y="368721"/>
            <a:ext cx="4613275" cy="12795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296795">
              <a:lnSpc>
                <a:spcPts val="525"/>
              </a:lnSpc>
              <a:spcBef>
                <a:spcPts val="110"/>
              </a:spcBef>
              <a:tabLst>
                <a:tab pos="4417695" algn="l"/>
              </a:tabLst>
            </a:pPr>
            <a:r>
              <a:rPr dirty="0" sz="850" spc="20">
                <a:latin typeface="Calibri"/>
                <a:cs typeface="Calibri"/>
              </a:rPr>
              <a:t>6.1.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Introducing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169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85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tabLst>
                <a:tab pos="339725" algn="l"/>
              </a:tabLst>
            </a:pPr>
            <a:r>
              <a:rPr dirty="0" sz="1050" spc="30" b="1">
                <a:latin typeface="Calibri"/>
                <a:cs typeface="Calibri"/>
              </a:rPr>
              <a:t>6.1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60" b="1">
                <a:latin typeface="Calibri"/>
                <a:cs typeface="Calibri"/>
              </a:rPr>
              <a:t>Introducing</a:t>
            </a:r>
            <a:r>
              <a:rPr dirty="0" sz="1050" spc="9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convolutional</a:t>
            </a:r>
            <a:r>
              <a:rPr dirty="0" sz="1050" spc="90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networks</a:t>
            </a:r>
            <a:endParaRPr sz="10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1050">
              <a:latin typeface="Calibri"/>
              <a:cs typeface="Calibri"/>
            </a:endParaRPr>
          </a:p>
          <a:p>
            <a:pPr marL="12700" marR="272415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chapters,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taught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job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76017" y="2021955"/>
            <a:ext cx="1727987" cy="35502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59750" y="2690066"/>
            <a:ext cx="4356100" cy="469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685" marR="5080" indent="-762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adjacent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connected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another.</a:t>
            </a:r>
            <a:r>
              <a:rPr dirty="0" sz="850" spc="48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connected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adjacent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18566" y="3572422"/>
            <a:ext cx="4181112" cy="2113697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060856" y="5999207"/>
            <a:ext cx="4379595" cy="2018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9525" indent="635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encoded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intensity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value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corresponding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28</a:t>
            </a:r>
            <a:r>
              <a:rPr dirty="0" sz="850" spc="-25">
                <a:latin typeface="Calibri"/>
                <a:cs typeface="Calibri"/>
              </a:rPr>
              <a:t> </a:t>
            </a:r>
            <a:r>
              <a:rPr dirty="0" sz="850" spc="135">
                <a:latin typeface="Cambria"/>
                <a:cs typeface="Cambria"/>
              </a:rPr>
              <a:t>×</a:t>
            </a:r>
            <a:r>
              <a:rPr dirty="0" sz="850" spc="-1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28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784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(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28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60">
                <a:latin typeface="Calibri"/>
                <a:cs typeface="Calibri"/>
              </a:rPr>
              <a:t>28)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hope!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correctly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identify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image: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‘0’,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‘1’,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‘2’,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...,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‘8’,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‘9’.</a:t>
            </a:r>
            <a:endParaRPr sz="850">
              <a:latin typeface="Calibri"/>
              <a:cs typeface="Calibri"/>
            </a:endParaRPr>
          </a:p>
          <a:p>
            <a:pPr algn="just" marL="13970" marR="5080" indent="194310">
              <a:lnSpc>
                <a:spcPct val="114300"/>
              </a:lnSpc>
              <a:spcBef>
                <a:spcPts val="535"/>
              </a:spcBef>
            </a:pP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well: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obtained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98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handwritten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reflection,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strange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fully-connected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account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spatial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structure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images.</a:t>
            </a:r>
            <a:r>
              <a:rPr dirty="0" sz="850" spc="4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treats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apart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together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exactly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footing.</a:t>
            </a:r>
            <a:r>
              <a:rPr dirty="0" sz="850" spc="4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Such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concepts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spatial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must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inferred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tabula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rasa,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advantage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spatial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structure?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8" name="object 8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62600" y="368721"/>
            <a:ext cx="4763770" cy="21990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63500">
              <a:lnSpc>
                <a:spcPts val="525"/>
              </a:lnSpc>
              <a:spcBef>
                <a:spcPts val="110"/>
              </a:spcBef>
              <a:tabLst>
                <a:tab pos="419734" algn="l"/>
              </a:tabLst>
            </a:pPr>
            <a:r>
              <a:rPr dirty="0" sz="850" spc="25">
                <a:latin typeface="Calibri"/>
                <a:cs typeface="Calibri"/>
              </a:rPr>
              <a:t>170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3067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56870" marR="76200">
              <a:lnSpc>
                <a:spcPct val="114300"/>
              </a:lnSpc>
              <a:spcBef>
                <a:spcPts val="5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describe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baseline="35353" sz="825" spc="30">
                <a:latin typeface="Calibri"/>
                <a:cs typeface="Calibri"/>
                <a:hlinkClick r:id="rId2" action="ppaction://hlinksldjump"/>
              </a:rPr>
              <a:t>1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special</a:t>
            </a:r>
            <a:r>
              <a:rPr dirty="0" sz="850" spc="20">
                <a:latin typeface="Calibri"/>
                <a:cs typeface="Calibri"/>
              </a:rPr>
              <a:t> architecture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well-adapted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images.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architecture</a:t>
            </a:r>
            <a:r>
              <a:rPr dirty="0" sz="850" spc="20">
                <a:latin typeface="Calibri"/>
                <a:cs typeface="Calibri"/>
              </a:rPr>
              <a:t> makes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turn,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many-</a:t>
            </a:r>
            <a:r>
              <a:rPr dirty="0" sz="850" spc="-10">
                <a:latin typeface="Calibri"/>
                <a:cs typeface="Calibri"/>
              </a:rPr>
              <a:t>layer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classifying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Today,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recognition.</a:t>
            </a:r>
            <a:endParaRPr sz="850">
              <a:latin typeface="Calibri"/>
              <a:cs typeface="Calibri"/>
            </a:endParaRPr>
          </a:p>
          <a:p>
            <a:pPr algn="just" marL="356870" marR="5588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ideas: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local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receptive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fields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shared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weights</a:t>
            </a:r>
            <a:r>
              <a:rPr dirty="0" sz="850" spc="-10">
                <a:latin typeface="Calibri"/>
                <a:cs typeface="Calibri"/>
              </a:rPr>
              <a:t>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pooling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turn.</a:t>
            </a:r>
            <a:endParaRPr sz="850">
              <a:latin typeface="Calibri"/>
              <a:cs typeface="Calibri"/>
            </a:endParaRPr>
          </a:p>
          <a:p>
            <a:pPr algn="just" marL="356870" marR="78105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fields:</a:t>
            </a:r>
            <a:r>
              <a:rPr dirty="0" sz="850" spc="190">
                <a:latin typeface="Calibri"/>
                <a:cs typeface="Calibri"/>
              </a:rPr>
              <a:t> 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fully-connected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shown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earlier,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were</a:t>
            </a:r>
            <a:r>
              <a:rPr dirty="0" sz="850" spc="20">
                <a:latin typeface="Calibri"/>
                <a:cs typeface="Calibri"/>
              </a:rPr>
              <a:t> depicted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vertical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line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instead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28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28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square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28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28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pixel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intensities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87244" y="2680768"/>
            <a:ext cx="1185511" cy="127592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702057" y="4056261"/>
            <a:ext cx="4353560" cy="913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780" marR="5080" indent="-571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4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small,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localized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image.</a:t>
            </a:r>
            <a:endParaRPr sz="850">
              <a:latin typeface="Calibri"/>
              <a:cs typeface="Calibri"/>
            </a:endParaRPr>
          </a:p>
          <a:p>
            <a:pPr algn="just" marL="17780" marR="508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precise,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small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region,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25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993379" y="5088162"/>
            <a:ext cx="1748133" cy="1270905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720001" y="6844613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669201" y="6458630"/>
            <a:ext cx="4440555" cy="15557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61594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window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pixels.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</a:t>
            </a:r>
            <a:endParaRPr sz="850">
              <a:latin typeface="Calibri"/>
              <a:cs typeface="Calibri"/>
            </a:endParaRPr>
          </a:p>
          <a:p>
            <a:pPr algn="just" marL="50800" marR="43180" indent="127635">
              <a:lnSpc>
                <a:spcPts val="800"/>
              </a:lnSpc>
              <a:spcBef>
                <a:spcPts val="955"/>
              </a:spcBef>
            </a:pPr>
            <a:r>
              <a:rPr dirty="0" baseline="30303" sz="825" spc="15">
                <a:latin typeface="Calibri"/>
                <a:cs typeface="Calibri"/>
              </a:rPr>
              <a:t>1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origins</a:t>
            </a:r>
            <a:r>
              <a:rPr dirty="0" sz="750" spc="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convolutional</a:t>
            </a:r>
            <a:r>
              <a:rPr dirty="0" sz="750" spc="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neural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networks</a:t>
            </a:r>
            <a:r>
              <a:rPr dirty="0" sz="750" spc="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go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back</a:t>
            </a:r>
            <a:r>
              <a:rPr dirty="0" sz="750" spc="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1970s.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But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seminal</a:t>
            </a:r>
            <a:r>
              <a:rPr dirty="0" sz="750" spc="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paper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establishing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modern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subject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convolutional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networks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was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1998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paper,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Gradient-based</a:t>
            </a:r>
            <a:r>
              <a:rPr dirty="0" sz="750" spc="100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learning</a:t>
            </a:r>
            <a:r>
              <a:rPr dirty="0" sz="750" spc="95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applied</a:t>
            </a:r>
            <a:r>
              <a:rPr dirty="0" sz="750" spc="100">
                <a:latin typeface="Calibri"/>
                <a:cs typeface="Calibri"/>
                <a:hlinkClick r:id="rId5"/>
              </a:rPr>
              <a:t> </a:t>
            </a:r>
            <a:r>
              <a:rPr dirty="0" sz="750" spc="-25">
                <a:latin typeface="Calibri"/>
                <a:cs typeface="Calibri"/>
                <a:hlinkClick r:id="rId5"/>
              </a:rPr>
              <a:t>to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document</a:t>
            </a:r>
            <a:r>
              <a:rPr dirty="0" sz="750" spc="105">
                <a:latin typeface="Calibri"/>
                <a:cs typeface="Calibri"/>
                <a:hlinkClick r:id="rId5"/>
              </a:rPr>
              <a:t> </a:t>
            </a:r>
            <a:r>
              <a:rPr dirty="0" sz="750" spc="20">
                <a:latin typeface="Calibri"/>
                <a:cs typeface="Calibri"/>
                <a:hlinkClick r:id="rId5"/>
              </a:rPr>
              <a:t>recognition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Yann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LeCun,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Léon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Bottou,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Yoshua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Bengio,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Patrick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Haffner.</a:t>
            </a:r>
            <a:r>
              <a:rPr dirty="0" sz="750" spc="21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LeCun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has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since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made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interesting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  <a:hlinkClick r:id="rId6"/>
              </a:rPr>
              <a:t>remark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terminology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for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convolutional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nets: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“The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Lucida Sans Unicode"/>
                <a:cs typeface="Lucida Sans Unicode"/>
              </a:rPr>
              <a:t>[</a:t>
            </a:r>
            <a:r>
              <a:rPr dirty="0" sz="750" spc="20">
                <a:latin typeface="Calibri"/>
                <a:cs typeface="Calibri"/>
              </a:rPr>
              <a:t>biological</a:t>
            </a:r>
            <a:r>
              <a:rPr dirty="0" sz="750" spc="20">
                <a:latin typeface="Lucida Sans Unicode"/>
                <a:cs typeface="Lucida Sans Unicode"/>
              </a:rPr>
              <a:t>]</a:t>
            </a:r>
            <a:r>
              <a:rPr dirty="0" sz="750" spc="25">
                <a:latin typeface="Lucida Sans Unicode"/>
                <a:cs typeface="Lucida Sans Unicode"/>
              </a:rPr>
              <a:t> </a:t>
            </a:r>
            <a:r>
              <a:rPr dirty="0" sz="750" spc="-10">
                <a:latin typeface="Calibri"/>
                <a:cs typeface="Calibri"/>
              </a:rPr>
              <a:t>neural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inspiration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models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like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convolutional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nets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very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tenuous.</a:t>
            </a:r>
            <a:r>
              <a:rPr dirty="0" sz="750" spc="31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That’s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why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call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them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‘convolutional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nets’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not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‘convolutional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neural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nets’,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why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call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nodes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‘units’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not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‘neurons’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”.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Despite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this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remark,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convolutional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many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same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ideas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neural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networks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we’ve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studied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up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now: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ideas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such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backpropagation,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gradient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descent,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regularization,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non-linear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activation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functions,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so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on.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so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will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follow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common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practice,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consider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them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type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neural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network.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I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will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the</a:t>
            </a:r>
            <a:r>
              <a:rPr dirty="0" sz="750" spc="30">
                <a:latin typeface="Calibri"/>
                <a:cs typeface="Calibri"/>
              </a:rPr>
              <a:t> terms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“convolutional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neural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network”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and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“convolutional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net(work)”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interchangeably.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will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also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use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terms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“</a:t>
            </a:r>
            <a:r>
              <a:rPr dirty="0" sz="750" spc="20">
                <a:latin typeface="Lucida Sans Unicode"/>
                <a:cs typeface="Lucida Sans Unicode"/>
              </a:rPr>
              <a:t>[</a:t>
            </a:r>
            <a:r>
              <a:rPr dirty="0" sz="750" spc="20">
                <a:latin typeface="Calibri"/>
                <a:cs typeface="Calibri"/>
              </a:rPr>
              <a:t>artificial</a:t>
            </a:r>
            <a:r>
              <a:rPr dirty="0" sz="750" spc="20">
                <a:latin typeface="Lucida Sans Unicode"/>
                <a:cs typeface="Lucida Sans Unicode"/>
              </a:rPr>
              <a:t>]</a:t>
            </a:r>
            <a:r>
              <a:rPr dirty="0" sz="750" spc="-15">
                <a:latin typeface="Lucida Sans Unicode"/>
                <a:cs typeface="Lucida Sans Unicode"/>
              </a:rPr>
              <a:t> </a:t>
            </a:r>
            <a:r>
              <a:rPr dirty="0" sz="750" spc="20">
                <a:latin typeface="Calibri"/>
                <a:cs typeface="Calibri"/>
              </a:rPr>
              <a:t>neuron”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“unit”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interchangeably.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9" name="object 9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69860"/>
                  </a:lnTo>
                  <a:lnTo>
                    <a:pt x="2525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0"/>
                  </a:moveTo>
                  <a:lnTo>
                    <a:pt x="2525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96" y="368721"/>
            <a:ext cx="4613275" cy="13106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296795">
              <a:lnSpc>
                <a:spcPts val="525"/>
              </a:lnSpc>
              <a:spcBef>
                <a:spcPts val="110"/>
              </a:spcBef>
              <a:tabLst>
                <a:tab pos="4417695" algn="l"/>
              </a:tabLst>
            </a:pPr>
            <a:r>
              <a:rPr dirty="0" sz="850" spc="20">
                <a:latin typeface="Calibri"/>
                <a:cs typeface="Calibri"/>
              </a:rPr>
              <a:t>6.1.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Introducing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171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2700" marR="27241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learns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analyze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local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receptive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field.</a:t>
            </a:r>
            <a:endParaRPr sz="850">
              <a:latin typeface="Calibri"/>
              <a:cs typeface="Calibri"/>
            </a:endParaRPr>
          </a:p>
          <a:p>
            <a:pPr algn="just" marL="12700" marR="272415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slide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across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image.</a:t>
            </a:r>
            <a:r>
              <a:rPr dirty="0" sz="850" spc="160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local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illustrate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concretely,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top-left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corner: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79142" y="1768090"/>
            <a:ext cx="2521724" cy="127090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62380" y="3109055"/>
            <a:ext cx="4350385" cy="321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145" marR="5080" indent="-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slide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(i.e.,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neuron),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979142" y="3496141"/>
            <a:ext cx="2521724" cy="1270905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78396" y="4837107"/>
            <a:ext cx="4546600" cy="1950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01600" marR="93980" indent="-5715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28</a:t>
            </a:r>
            <a:r>
              <a:rPr dirty="0" sz="850" spc="-45">
                <a:latin typeface="Calibri"/>
                <a:cs typeface="Calibri"/>
              </a:rPr>
              <a:t> </a:t>
            </a:r>
            <a:r>
              <a:rPr dirty="0" sz="850" spc="114">
                <a:latin typeface="Cambria"/>
                <a:cs typeface="Cambria"/>
              </a:rPr>
              <a:t>×</a:t>
            </a:r>
            <a:r>
              <a:rPr dirty="0" sz="850" spc="-50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28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40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24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40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24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23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across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23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down),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before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colliding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right-hand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side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bottom)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image.</a:t>
            </a:r>
            <a:endParaRPr sz="850">
              <a:latin typeface="Calibri"/>
              <a:cs typeface="Calibri"/>
            </a:endParaRPr>
          </a:p>
          <a:p>
            <a:pPr algn="just" marL="101600" marR="11176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sometimes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stride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used.</a:t>
            </a:r>
            <a:r>
              <a:rPr dirty="0" sz="850" spc="4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2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down),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stride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stick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stride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sometimes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stride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lengths</a:t>
            </a:r>
            <a:r>
              <a:rPr dirty="0" baseline="35353" sz="825" spc="-15">
                <a:latin typeface="Calibri"/>
                <a:cs typeface="Calibri"/>
                <a:hlinkClick r:id="rId4" action="ppaction://hlinksldjump"/>
              </a:rPr>
              <a:t>2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94615" marR="93980" indent="196215">
              <a:lnSpc>
                <a:spcPct val="114300"/>
              </a:lnSpc>
            </a:pPr>
            <a:r>
              <a:rPr dirty="0" sz="850" spc="55" b="1">
                <a:latin typeface="Calibri"/>
                <a:cs typeface="Calibri"/>
              </a:rPr>
              <a:t>Shared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weights</a:t>
            </a:r>
            <a:r>
              <a:rPr dirty="0" sz="850" spc="185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and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biases:</a:t>
            </a:r>
            <a:r>
              <a:rPr dirty="0" sz="850" spc="325" b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60">
                <a:latin typeface="Cambria"/>
                <a:cs typeface="Cambria"/>
              </a:rPr>
              <a:t> </a:t>
            </a:r>
            <a:r>
              <a:rPr dirty="0" sz="850" spc="5">
                <a:latin typeface="Calibri"/>
                <a:cs typeface="Calibri"/>
              </a:rPr>
              <a:t>5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mention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going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24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24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words,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j</a:t>
            </a:r>
            <a:r>
              <a:rPr dirty="0" sz="850">
                <a:latin typeface="Calibri"/>
                <a:cs typeface="Calibri"/>
              </a:rPr>
              <a:t>, </a:t>
            </a:r>
            <a:r>
              <a:rPr dirty="0" sz="850" i="1">
                <a:latin typeface="Calibri"/>
                <a:cs typeface="Calibri"/>
              </a:rPr>
              <a:t>k</a:t>
            </a:r>
            <a:r>
              <a:rPr dirty="0" sz="850">
                <a:latin typeface="Calibri"/>
                <a:cs typeface="Calibri"/>
              </a:rPr>
              <a:t>-th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09178" y="6842397"/>
            <a:ext cx="101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305">
                <a:latin typeface="Arial MT"/>
                <a:cs typeface="Arial MT"/>
              </a:rPr>
              <a:t>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828622" y="6925941"/>
            <a:ext cx="23749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3515" algn="l"/>
              </a:tabLst>
            </a:pPr>
            <a:r>
              <a:rPr dirty="0" sz="550" spc="-50">
                <a:latin typeface="Calibri"/>
                <a:cs typeface="Calibri"/>
              </a:rPr>
              <a:t>4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50">
                <a:latin typeface="Calibri"/>
                <a:cs typeface="Calibri"/>
              </a:rPr>
              <a:t>4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72196" y="6911482"/>
            <a:ext cx="3371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635">
                <a:latin typeface="Arial MT"/>
                <a:cs typeface="Arial MT"/>
              </a:rPr>
              <a:t>X</a:t>
            </a:r>
            <a:r>
              <a:rPr dirty="0" sz="850" spc="-90">
                <a:latin typeface="Arial MT"/>
                <a:cs typeface="Arial MT"/>
              </a:rPr>
              <a:t> </a:t>
            </a:r>
            <a:r>
              <a:rPr dirty="0" sz="850" spc="-50">
                <a:latin typeface="Arial MT"/>
                <a:cs typeface="Arial MT"/>
              </a:rPr>
              <a:t>X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092498" y="7056277"/>
            <a:ext cx="62103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13071" sz="1275" spc="60" i="1">
                <a:latin typeface="Calibri"/>
                <a:cs typeface="Calibri"/>
              </a:rPr>
              <a:t>w</a:t>
            </a:r>
            <a:r>
              <a:rPr dirty="0" sz="550" spc="40" i="1">
                <a:latin typeface="Calibri"/>
                <a:cs typeface="Calibri"/>
              </a:rPr>
              <a:t>l</a:t>
            </a:r>
            <a:r>
              <a:rPr dirty="0" sz="550" spc="40">
                <a:latin typeface="Calibri"/>
                <a:cs typeface="Calibri"/>
              </a:rPr>
              <a:t>,</a:t>
            </a:r>
            <a:r>
              <a:rPr dirty="0" sz="550" spc="40" i="1">
                <a:latin typeface="Calibri"/>
                <a:cs typeface="Calibri"/>
              </a:rPr>
              <a:t>m</a:t>
            </a:r>
            <a:r>
              <a:rPr dirty="0" baseline="13071" sz="1275" spc="60" i="1">
                <a:latin typeface="Calibri"/>
                <a:cs typeface="Calibri"/>
              </a:rPr>
              <a:t>a</a:t>
            </a:r>
            <a:r>
              <a:rPr dirty="0" sz="550" spc="40" i="1">
                <a:latin typeface="Calibri"/>
                <a:cs typeface="Calibri"/>
              </a:rPr>
              <a:t>j</a:t>
            </a:r>
            <a:r>
              <a:rPr dirty="0" sz="550" spc="40">
                <a:latin typeface="Tahoma"/>
                <a:cs typeface="Tahoma"/>
              </a:rPr>
              <a:t>+</a:t>
            </a:r>
            <a:r>
              <a:rPr dirty="0" sz="550" spc="40" i="1">
                <a:latin typeface="Calibri"/>
                <a:cs typeface="Calibri"/>
              </a:rPr>
              <a:t>l</a:t>
            </a:r>
            <a:r>
              <a:rPr dirty="0" sz="550" spc="40">
                <a:latin typeface="Calibri"/>
                <a:cs typeface="Calibri"/>
              </a:rPr>
              <a:t>,</a:t>
            </a:r>
            <a:r>
              <a:rPr dirty="0" sz="550" spc="40" i="1">
                <a:latin typeface="Calibri"/>
                <a:cs typeface="Calibri"/>
              </a:rPr>
              <a:t>k</a:t>
            </a:r>
            <a:r>
              <a:rPr dirty="0" sz="550" spc="40">
                <a:latin typeface="Tahoma"/>
                <a:cs typeface="Tahoma"/>
              </a:rPr>
              <a:t>+</a:t>
            </a:r>
            <a:r>
              <a:rPr dirty="0" sz="550" spc="40" i="1">
                <a:latin typeface="Calibri"/>
                <a:cs typeface="Calibri"/>
              </a:rPr>
              <a:t>m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410842" y="7031562"/>
            <a:ext cx="140589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362075" algn="l"/>
              </a:tabLst>
            </a:pP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80" i="1">
                <a:latin typeface="Times New Roman"/>
                <a:cs typeface="Times New Roman"/>
              </a:rPr>
              <a:t> 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-10" i="1">
                <a:latin typeface="Calibri"/>
                <a:cs typeface="Calibri"/>
              </a:rPr>
              <a:t> </a:t>
            </a:r>
            <a:r>
              <a:rPr dirty="0" sz="850" spc="-50">
                <a:latin typeface="Tahoma"/>
                <a:cs typeface="Tahoma"/>
              </a:rPr>
              <a:t>+</a:t>
            </a:r>
            <a:r>
              <a:rPr dirty="0" sz="850">
                <a:latin typeface="Tahoma"/>
                <a:cs typeface="Tahoma"/>
              </a:rPr>
              <a:t>	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668979" y="6842397"/>
            <a:ext cx="10160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305">
                <a:latin typeface="Arial MT"/>
                <a:cs typeface="Arial MT"/>
              </a:rPr>
              <a:t>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144185" y="7031562"/>
            <a:ext cx="26860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50">
                <a:latin typeface="Calibri"/>
                <a:cs typeface="Calibri"/>
              </a:rPr>
              <a:t>(6.1)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079996" y="7350709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1000109" y="7196768"/>
            <a:ext cx="4476750" cy="81788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554990">
              <a:lnSpc>
                <a:spcPct val="100000"/>
              </a:lnSpc>
              <a:spcBef>
                <a:spcPts val="120"/>
              </a:spcBef>
            </a:pPr>
            <a:r>
              <a:rPr dirty="0" sz="550" spc="50" i="1">
                <a:latin typeface="Calibri"/>
                <a:cs typeface="Calibri"/>
              </a:rPr>
              <a:t>l</a:t>
            </a:r>
            <a:r>
              <a:rPr dirty="0" sz="550" spc="50">
                <a:latin typeface="Tahoma"/>
                <a:cs typeface="Tahoma"/>
              </a:rPr>
              <a:t>=</a:t>
            </a:r>
            <a:r>
              <a:rPr dirty="0" sz="550" spc="50">
                <a:latin typeface="Calibri"/>
                <a:cs typeface="Calibri"/>
              </a:rPr>
              <a:t>0</a:t>
            </a:r>
            <a:r>
              <a:rPr dirty="0" sz="550" spc="130">
                <a:latin typeface="Calibri"/>
                <a:cs typeface="Calibri"/>
              </a:rPr>
              <a:t> </a:t>
            </a:r>
            <a:r>
              <a:rPr dirty="0" baseline="5050" sz="825" spc="-37" i="1">
                <a:latin typeface="Calibri"/>
                <a:cs typeface="Calibri"/>
              </a:rPr>
              <a:t>m</a:t>
            </a:r>
            <a:r>
              <a:rPr dirty="0" baseline="5050" sz="825" spc="-37">
                <a:latin typeface="Tahoma"/>
                <a:cs typeface="Tahoma"/>
              </a:rPr>
              <a:t>=</a:t>
            </a:r>
            <a:r>
              <a:rPr dirty="0" baseline="5050" sz="825" spc="-37">
                <a:latin typeface="Calibri"/>
                <a:cs typeface="Calibri"/>
              </a:rPr>
              <a:t>0</a:t>
            </a:r>
            <a:endParaRPr baseline="5050" sz="825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550">
              <a:latin typeface="Calibri"/>
              <a:cs typeface="Calibri"/>
            </a:endParaRPr>
          </a:p>
          <a:p>
            <a:pPr algn="just" marL="76200" marR="66040" indent="131445">
              <a:lnSpc>
                <a:spcPts val="800"/>
              </a:lnSpc>
            </a:pPr>
            <a:r>
              <a:rPr dirty="0" baseline="30303" sz="825">
                <a:latin typeface="Calibri"/>
                <a:cs typeface="Calibri"/>
              </a:rPr>
              <a:t>2</a:t>
            </a:r>
            <a:r>
              <a:rPr dirty="0" sz="750">
                <a:latin typeface="Calibri"/>
                <a:cs typeface="Calibri"/>
              </a:rPr>
              <a:t>As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was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done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earlier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chapters,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if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we’re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interested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trying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different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stride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lengths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can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use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validation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data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pick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out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stride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length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which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gives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best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performance.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For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more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details,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see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the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earlier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discussion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how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choose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hyper-parameters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neural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network.</a:t>
            </a:r>
            <a:r>
              <a:rPr dirty="0" sz="750" spc="2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same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approach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may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also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choose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size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local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receptive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field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–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there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course,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nothing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special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about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using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50">
                <a:latin typeface="Calibri"/>
                <a:cs typeface="Calibri"/>
              </a:rPr>
              <a:t>a</a:t>
            </a:r>
            <a:r>
              <a:rPr dirty="0" sz="750" spc="55">
                <a:latin typeface="Calibri"/>
                <a:cs typeface="Calibri"/>
              </a:rPr>
              <a:t> 5</a:t>
            </a:r>
            <a:r>
              <a:rPr dirty="0" sz="750" spc="30">
                <a:latin typeface="Calibri"/>
                <a:cs typeface="Calibri"/>
              </a:rPr>
              <a:t> </a:t>
            </a:r>
            <a:r>
              <a:rPr dirty="0" sz="750" spc="140">
                <a:latin typeface="Cambria"/>
                <a:cs typeface="Cambria"/>
              </a:rPr>
              <a:t>×</a:t>
            </a:r>
            <a:r>
              <a:rPr dirty="0" sz="750" spc="40">
                <a:latin typeface="Cambria"/>
                <a:cs typeface="Cambria"/>
              </a:rPr>
              <a:t> </a:t>
            </a:r>
            <a:r>
              <a:rPr dirty="0" sz="750" spc="55">
                <a:latin typeface="Calibri"/>
                <a:cs typeface="Calibri"/>
              </a:rPr>
              <a:t>5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local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receptive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field.</a:t>
            </a:r>
            <a:r>
              <a:rPr dirty="0" sz="750" spc="28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In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general,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larger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local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receptive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fields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tend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helpful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when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input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images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are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significantly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larger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than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28</a:t>
            </a:r>
            <a:r>
              <a:rPr dirty="0" sz="750" spc="-5">
                <a:latin typeface="Calibri"/>
                <a:cs typeface="Calibri"/>
              </a:rPr>
              <a:t> </a:t>
            </a:r>
            <a:r>
              <a:rPr dirty="0" sz="750" spc="140">
                <a:latin typeface="Cambria"/>
                <a:cs typeface="Cambria"/>
              </a:rPr>
              <a:t>×</a:t>
            </a:r>
            <a:r>
              <a:rPr dirty="0" sz="750" spc="-5">
                <a:latin typeface="Cambria"/>
                <a:cs typeface="Cambria"/>
              </a:rPr>
              <a:t> </a:t>
            </a:r>
            <a:r>
              <a:rPr dirty="0" sz="750" spc="20">
                <a:latin typeface="Calibri"/>
                <a:cs typeface="Calibri"/>
              </a:rPr>
              <a:t>28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pixel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MNIST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images.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17" name="object 17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2970" cy="36106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172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31470" marR="3048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Here,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10" i="1">
                <a:latin typeface="Times New Roman"/>
                <a:cs typeface="Times New Roman"/>
              </a:rPr>
              <a:t>σ</a:t>
            </a:r>
            <a:r>
              <a:rPr dirty="0" sz="850" spc="114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earlier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chapters.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</a:t>
            </a:r>
            <a:r>
              <a:rPr dirty="0" sz="850" spc="19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shared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</a:t>
            </a:r>
            <a:r>
              <a:rPr dirty="0" baseline="-20202" sz="825" i="1">
                <a:latin typeface="Calibri"/>
                <a:cs typeface="Calibri"/>
              </a:rPr>
              <a:t>l</a:t>
            </a:r>
            <a:r>
              <a:rPr dirty="0" baseline="-20202" sz="825">
                <a:latin typeface="Calibri"/>
                <a:cs typeface="Calibri"/>
              </a:rPr>
              <a:t>,</a:t>
            </a:r>
            <a:r>
              <a:rPr dirty="0" baseline="-20202" sz="825" i="1">
                <a:latin typeface="Calibri"/>
                <a:cs typeface="Calibri"/>
              </a:rPr>
              <a:t>m</a:t>
            </a:r>
            <a:r>
              <a:rPr dirty="0" baseline="-20202" sz="825" spc="442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array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shared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And,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finally,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a</a:t>
            </a:r>
            <a:r>
              <a:rPr dirty="0" baseline="-20202" sz="825" spc="75" i="1">
                <a:latin typeface="Calibri"/>
                <a:cs typeface="Calibri"/>
              </a:rPr>
              <a:t>x</a:t>
            </a:r>
            <a:r>
              <a:rPr dirty="0" baseline="-20202" sz="825" spc="75">
                <a:latin typeface="Calibri"/>
                <a:cs typeface="Calibri"/>
              </a:rPr>
              <a:t>,</a:t>
            </a:r>
            <a:r>
              <a:rPr dirty="0" baseline="-20202" sz="825" spc="-67">
                <a:latin typeface="Calibri"/>
                <a:cs typeface="Calibri"/>
              </a:rPr>
              <a:t> </a:t>
            </a:r>
            <a:r>
              <a:rPr dirty="0" baseline="-20202" sz="825" spc="15" i="1">
                <a:latin typeface="Calibri"/>
                <a:cs typeface="Calibri"/>
              </a:rPr>
              <a:t>y</a:t>
            </a:r>
            <a:r>
              <a:rPr dirty="0" baseline="-20202" sz="825" spc="39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denote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0" i="1">
                <a:latin typeface="Calibri"/>
                <a:cs typeface="Calibri"/>
              </a:rPr>
              <a:t>x</a:t>
            </a:r>
            <a:r>
              <a:rPr dirty="0" sz="850" spc="70">
                <a:latin typeface="Calibri"/>
                <a:cs typeface="Calibri"/>
              </a:rPr>
              <a:t>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5" i="1">
                <a:latin typeface="Calibri"/>
                <a:cs typeface="Calibri"/>
              </a:rPr>
              <a:t>y</a:t>
            </a:r>
            <a:r>
              <a:rPr dirty="0" sz="850" spc="3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325120" marR="30480" indent="196215">
              <a:lnSpc>
                <a:spcPct val="114300"/>
              </a:lnSpc>
              <a:spcBef>
                <a:spcPts val="204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detect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feature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3</a:t>
            </a:r>
            <a:r>
              <a:rPr dirty="0" sz="850" spc="-10">
                <a:latin typeface="Calibri"/>
                <a:cs typeface="Calibri"/>
              </a:rPr>
              <a:t>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locations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pick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vertical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edge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local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receptive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field.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ability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useful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places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useful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detector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everywhere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slightly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abstract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adapted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translation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invariance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images: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picture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(say)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cat</a:t>
            </a:r>
            <a:r>
              <a:rPr dirty="0" baseline="35353" sz="825" spc="-30">
                <a:latin typeface="Calibri"/>
                <a:cs typeface="Calibri"/>
                <a:hlinkClick r:id="rId2" action="ppaction://hlinksldjump"/>
              </a:rPr>
              <a:t>4</a:t>
            </a:r>
            <a:r>
              <a:rPr dirty="0" sz="850" spc="-2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331470" marR="52705" indent="189230">
              <a:lnSpc>
                <a:spcPct val="114300"/>
              </a:lnSpc>
              <a:spcBef>
                <a:spcPts val="210"/>
              </a:spcBef>
            </a:pP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feature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map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shared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weights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call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shared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bias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shared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bias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said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kernel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filter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literature,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terms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slightly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precise;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moment,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concrete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examples.</a:t>
            </a:r>
            <a:endParaRPr sz="850">
              <a:latin typeface="Calibri"/>
              <a:cs typeface="Calibri"/>
            </a:endParaRPr>
          </a:p>
          <a:p>
            <a:pPr algn="just" marL="331470" marR="52705" indent="189230">
              <a:lnSpc>
                <a:spcPct val="114300"/>
              </a:lnSpc>
              <a:spcBef>
                <a:spcPts val="209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detect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localized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complete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consists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several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maps: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20672" y="4214281"/>
            <a:ext cx="2688312" cy="1270746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720001" y="7333094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69201" y="5674769"/>
            <a:ext cx="4446270" cy="23399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45720" marR="40005" indent="4445">
              <a:lnSpc>
                <a:spcPct val="114300"/>
              </a:lnSpc>
              <a:spcBef>
                <a:spcPts val="95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maps.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5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6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shared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shared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detect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features,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detectable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across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diagram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practice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more)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LeNet-5,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6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associated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-10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5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local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recognize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illustrated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pretty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LeNet-5.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convolutional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40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quick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peek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learned.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endParaRPr sz="850">
              <a:latin typeface="Calibri"/>
              <a:cs typeface="Calibri"/>
            </a:endParaRPr>
          </a:p>
          <a:p>
            <a:pPr algn="just" marL="50800" marR="67310" indent="127635">
              <a:lnSpc>
                <a:spcPts val="800"/>
              </a:lnSpc>
              <a:spcBef>
                <a:spcPts val="5"/>
              </a:spcBef>
            </a:pPr>
            <a:r>
              <a:rPr dirty="0" baseline="30303" sz="825" spc="112">
                <a:latin typeface="Calibri"/>
                <a:cs typeface="Calibri"/>
              </a:rPr>
              <a:t>3</a:t>
            </a:r>
            <a:r>
              <a:rPr dirty="0" sz="750" spc="75">
                <a:latin typeface="Calibri"/>
                <a:cs typeface="Calibri"/>
              </a:rPr>
              <a:t>I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haven’t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precisely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defined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notion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feature.</a:t>
            </a:r>
            <a:r>
              <a:rPr dirty="0" sz="750" spc="2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Informally,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think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feature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detected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-50">
                <a:latin typeface="Calibri"/>
                <a:cs typeface="Calibri"/>
              </a:rPr>
              <a:t>a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hidden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kind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input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pattern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will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cause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activate:</a:t>
            </a:r>
            <a:r>
              <a:rPr dirty="0" sz="750" spc="20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might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edge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in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image,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for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instance,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or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maybe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some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other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type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shape.</a:t>
            </a:r>
            <a:endParaRPr sz="750">
              <a:latin typeface="Calibri"/>
              <a:cs typeface="Calibri"/>
            </a:endParaRPr>
          </a:p>
          <a:p>
            <a:pPr algn="just" marL="50800" marR="43180" indent="127635">
              <a:lnSpc>
                <a:spcPts val="800"/>
              </a:lnSpc>
              <a:spcBef>
                <a:spcPts val="130"/>
              </a:spcBef>
            </a:pPr>
            <a:r>
              <a:rPr dirty="0" baseline="30303" sz="825" spc="82">
                <a:latin typeface="Calibri"/>
                <a:cs typeface="Calibri"/>
              </a:rPr>
              <a:t>4</a:t>
            </a:r>
            <a:r>
              <a:rPr dirty="0" sz="750" spc="55">
                <a:latin typeface="Calibri"/>
                <a:cs typeface="Calibri"/>
              </a:rPr>
              <a:t>In </a:t>
            </a:r>
            <a:r>
              <a:rPr dirty="0" sz="750" spc="10">
                <a:latin typeface="Calibri"/>
                <a:cs typeface="Calibri"/>
              </a:rPr>
              <a:t>fact,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MNIST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digit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classification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problem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we’ve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been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studying,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images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centered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and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size-normalized.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55">
                <a:latin typeface="Calibri"/>
                <a:cs typeface="Calibri"/>
              </a:rPr>
              <a:t>MNIST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less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translation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invariance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images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found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“in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wild”,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speak.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Still,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features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like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edges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corners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likely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useful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across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much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input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space.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7" name="object 7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69860"/>
                  </a:lnTo>
                  <a:lnTo>
                    <a:pt x="2525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0"/>
                  </a:moveTo>
                  <a:lnTo>
                    <a:pt x="2525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351657" y="368721"/>
            <a:ext cx="232918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133600" algn="l"/>
              </a:tabLst>
            </a:pPr>
            <a:r>
              <a:rPr dirty="0" sz="850" spc="20">
                <a:latin typeface="Calibri"/>
                <a:cs typeface="Calibri"/>
              </a:rPr>
              <a:t>6.1.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Introducing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173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17172" y="981101"/>
            <a:ext cx="2451649" cy="184612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62380" y="2974875"/>
            <a:ext cx="43503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20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correspond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20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filters,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kernels).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7296" y="3122920"/>
            <a:ext cx="434594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represented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5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5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block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corresponding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5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1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5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receptive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2052" y="3254102"/>
            <a:ext cx="4378325" cy="2098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780" marR="32384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field.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blocks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smaller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(typically,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negative)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feature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map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responds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pixels.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Darker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blocks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feature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responds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pixels.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roughly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speaking,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responds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to.</a:t>
            </a:r>
            <a:endParaRPr sz="850">
              <a:latin typeface="Calibri"/>
              <a:cs typeface="Calibri"/>
            </a:endParaRPr>
          </a:p>
          <a:p>
            <a:pPr algn="just" marL="12700" marR="5080" indent="194945">
              <a:lnSpc>
                <a:spcPct val="114300"/>
              </a:lnSpc>
            </a:pP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conclude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maps?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clear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spatial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structure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beyond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expect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random: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clear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sub-</a:t>
            </a:r>
            <a:r>
              <a:rPr dirty="0" sz="850" spc="-10">
                <a:latin typeface="Calibri"/>
                <a:cs typeface="Calibri"/>
              </a:rPr>
              <a:t>regions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light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dark.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spatial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beyond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detectors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Certainly,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(say)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Gabor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filters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traditional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recognition.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features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learnt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235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interested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20">
                <a:latin typeface="Calibri"/>
                <a:cs typeface="Calibri"/>
              </a:rPr>
              <a:t> 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suggest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starting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paper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3"/>
              </a:rPr>
              <a:t>Visualizing</a:t>
            </a:r>
            <a:r>
              <a:rPr dirty="0" sz="850" spc="110">
                <a:latin typeface="Calibri"/>
                <a:cs typeface="Calibri"/>
                <a:hlinkClick r:id="rId3"/>
              </a:rPr>
              <a:t> </a:t>
            </a:r>
            <a:r>
              <a:rPr dirty="0" sz="850" spc="20">
                <a:latin typeface="Calibri"/>
                <a:cs typeface="Calibri"/>
                <a:hlinkClick r:id="rId3"/>
              </a:rPr>
              <a:t>and</a:t>
            </a:r>
            <a:r>
              <a:rPr dirty="0" sz="850" spc="110">
                <a:latin typeface="Calibri"/>
                <a:cs typeface="Calibri"/>
                <a:hlinkClick r:id="rId3"/>
              </a:rPr>
              <a:t> </a:t>
            </a:r>
            <a:r>
              <a:rPr dirty="0" sz="850" spc="20">
                <a:latin typeface="Calibri"/>
                <a:cs typeface="Calibri"/>
                <a:hlinkClick r:id="rId3"/>
              </a:rPr>
              <a:t>Understanding</a:t>
            </a:r>
            <a:r>
              <a:rPr dirty="0" sz="850" spc="114">
                <a:latin typeface="Calibri"/>
                <a:cs typeface="Calibri"/>
                <a:hlinkClick r:id="rId3"/>
              </a:rPr>
              <a:t> </a:t>
            </a:r>
            <a:r>
              <a:rPr dirty="0" sz="850" spc="-10">
                <a:latin typeface="Calibri"/>
                <a:cs typeface="Calibri"/>
                <a:hlinkClick r:id="rId3"/>
              </a:rPr>
              <a:t>Convolutional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3"/>
              </a:rPr>
              <a:t>Networks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Matthew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Zeiler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Rob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Fergus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(2013).</a:t>
            </a:r>
            <a:endParaRPr sz="850">
              <a:latin typeface="Calibri"/>
              <a:cs typeface="Calibri"/>
            </a:endParaRPr>
          </a:p>
          <a:p>
            <a:pPr algn="just" marL="207645">
              <a:lnSpc>
                <a:spcPct val="100000"/>
              </a:lnSpc>
              <a:spcBef>
                <a:spcPts val="145"/>
              </a:spcBef>
            </a:pPr>
            <a:r>
              <a:rPr dirty="0" sz="850" spc="65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advantage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sharing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greatly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5528" y="5326577"/>
            <a:ext cx="4462780" cy="26904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4135" marR="6731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parameters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involved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25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20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5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10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5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shared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plus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shared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requires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26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total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20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10">
                <a:latin typeface="Cambria"/>
                <a:cs typeface="Cambria"/>
              </a:rPr>
              <a:t> </a:t>
            </a:r>
            <a:r>
              <a:rPr dirty="0" sz="850" spc="50">
                <a:latin typeface="Calibri"/>
                <a:cs typeface="Calibri"/>
              </a:rPr>
              <a:t>26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5">
                <a:latin typeface="Tahoma"/>
                <a:cs typeface="Tahoma"/>
              </a:rPr>
              <a:t>=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50">
                <a:latin typeface="Calibri"/>
                <a:cs typeface="Calibri"/>
              </a:rPr>
              <a:t>520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convolutional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comparison,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784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28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1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28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relatively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total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784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30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total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23,550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fully-connected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40 </a:t>
            </a:r>
            <a:r>
              <a:rPr dirty="0" sz="850" spc="10">
                <a:latin typeface="Calibri"/>
                <a:cs typeface="Calibri"/>
              </a:rPr>
              <a:t>times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layer.</a:t>
            </a:r>
            <a:endParaRPr sz="850">
              <a:latin typeface="Calibri"/>
              <a:cs typeface="Calibri"/>
            </a:endParaRPr>
          </a:p>
          <a:p>
            <a:pPr algn="just" marL="64135" marR="47625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comparison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parameters,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essential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intuitively,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translation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invariance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parameters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fully-connected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model.</a:t>
            </a:r>
            <a:r>
              <a:rPr dirty="0" sz="850" spc="4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ultimately,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deep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layers.</a:t>
            </a:r>
            <a:endParaRPr sz="850">
              <a:latin typeface="Calibri"/>
              <a:cs typeface="Calibri"/>
            </a:endParaRPr>
          </a:p>
          <a:p>
            <a:pPr algn="just" marL="254000">
              <a:lnSpc>
                <a:spcPct val="100000"/>
              </a:lnSpc>
              <a:spcBef>
                <a:spcPts val="145"/>
              </a:spcBef>
            </a:pPr>
            <a:r>
              <a:rPr dirty="0" sz="850" spc="10">
                <a:latin typeface="Calibri"/>
                <a:cs typeface="Calibri"/>
              </a:rPr>
              <a:t>Incidentally,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operation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Equation</a:t>
            </a:r>
            <a:endParaRPr sz="850">
              <a:latin typeface="Calibri"/>
              <a:cs typeface="Calibri"/>
            </a:endParaRPr>
          </a:p>
          <a:p>
            <a:pPr algn="just" marL="64135" marR="43180" indent="-13970">
              <a:lnSpc>
                <a:spcPct val="114300"/>
              </a:lnSpc>
            </a:pPr>
            <a:r>
              <a:rPr dirty="0" sz="850" spc="60">
                <a:latin typeface="Calibri"/>
                <a:cs typeface="Calibri"/>
              </a:rPr>
              <a:t>(125)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precisely,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write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baseline="35353" sz="825" spc="15">
                <a:latin typeface="Calibri"/>
                <a:cs typeface="Calibri"/>
              </a:rPr>
              <a:t>1</a:t>
            </a:r>
            <a:r>
              <a:rPr dirty="0" baseline="35353" sz="825" spc="345">
                <a:latin typeface="Calibri"/>
                <a:cs typeface="Calibri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25">
                <a:latin typeface="Tahoma"/>
                <a:cs typeface="Tahoma"/>
              </a:rPr>
              <a:t> </a:t>
            </a:r>
            <a:r>
              <a:rPr dirty="0" sz="850" spc="100" i="1">
                <a:latin typeface="Times New Roman"/>
                <a:cs typeface="Times New Roman"/>
              </a:rPr>
              <a:t>σ</a:t>
            </a:r>
            <a:r>
              <a:rPr dirty="0" sz="850" spc="100">
                <a:latin typeface="Tahoma"/>
                <a:cs typeface="Tahoma"/>
              </a:rPr>
              <a:t>(</a:t>
            </a:r>
            <a:r>
              <a:rPr dirty="0" sz="850" spc="100" i="1">
                <a:latin typeface="Calibri"/>
                <a:cs typeface="Calibri"/>
              </a:rPr>
              <a:t>b</a:t>
            </a:r>
            <a:r>
              <a:rPr dirty="0" sz="850" spc="4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+</a:t>
            </a:r>
            <a:r>
              <a:rPr dirty="0" sz="850" spc="-25">
                <a:latin typeface="Tahoma"/>
                <a:cs typeface="Tahoma"/>
              </a:rPr>
              <a:t> </a:t>
            </a:r>
            <a:r>
              <a:rPr dirty="0" sz="850" spc="10" i="1">
                <a:latin typeface="Calibri"/>
                <a:cs typeface="Calibri"/>
              </a:rPr>
              <a:t>w</a:t>
            </a:r>
            <a:r>
              <a:rPr dirty="0" sz="850" spc="15" i="1">
                <a:latin typeface="Calibri"/>
                <a:cs typeface="Calibri"/>
              </a:rPr>
              <a:t> </a:t>
            </a:r>
            <a:r>
              <a:rPr dirty="0" sz="850" spc="10">
                <a:latin typeface="Cambria"/>
                <a:cs typeface="Cambria"/>
              </a:rPr>
              <a:t>∗</a:t>
            </a:r>
            <a:r>
              <a:rPr dirty="0" sz="850" spc="55">
                <a:latin typeface="Cambria"/>
                <a:cs typeface="Cambria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baseline="35353" sz="825" spc="15">
                <a:latin typeface="Calibri"/>
                <a:cs typeface="Calibri"/>
              </a:rPr>
              <a:t>0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baseline="35353" sz="825" spc="15">
                <a:latin typeface="Calibri"/>
                <a:cs typeface="Calibri"/>
              </a:rPr>
              <a:t>1</a:t>
            </a:r>
            <a:r>
              <a:rPr dirty="0" baseline="35353" sz="825" spc="3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denotes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</a:t>
            </a:r>
            <a:r>
              <a:rPr dirty="0" baseline="35353" sz="825" spc="15">
                <a:latin typeface="Calibri"/>
                <a:cs typeface="Calibri"/>
              </a:rPr>
              <a:t>0</a:t>
            </a:r>
            <a:r>
              <a:rPr dirty="0" baseline="35353" sz="825" spc="367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mbria"/>
                <a:cs typeface="Cambria"/>
              </a:rPr>
              <a:t>∗</a:t>
            </a:r>
            <a:r>
              <a:rPr dirty="0" sz="850" spc="12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operation.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9" name="object 9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37200" y="368721"/>
            <a:ext cx="4796155" cy="249491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88900">
              <a:lnSpc>
                <a:spcPts val="525"/>
              </a:lnSpc>
              <a:spcBef>
                <a:spcPts val="110"/>
              </a:spcBef>
              <a:tabLst>
                <a:tab pos="445134" algn="l"/>
              </a:tabLst>
            </a:pPr>
            <a:r>
              <a:rPr dirty="0" sz="850" spc="25">
                <a:latin typeface="Calibri"/>
                <a:cs typeface="Calibri"/>
              </a:rPr>
              <a:t>174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3321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2270" marR="85090" indent="-7620">
              <a:lnSpc>
                <a:spcPct val="114300"/>
              </a:lnSpc>
              <a:spcBef>
                <a:spcPts val="5"/>
              </a:spcBef>
            </a:pPr>
            <a:r>
              <a:rPr dirty="0" sz="850" spc="-10">
                <a:latin typeface="Calibri"/>
                <a:cs typeface="Calibri"/>
              </a:rPr>
              <a:t>We’re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mathematics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need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worry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connection.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name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from.</a:t>
            </a:r>
            <a:endParaRPr sz="850">
              <a:latin typeface="Calibri"/>
              <a:cs typeface="Calibri"/>
            </a:endParaRPr>
          </a:p>
          <a:p>
            <a:pPr algn="just" marL="382270" marR="81280" indent="189230">
              <a:lnSpc>
                <a:spcPct val="114300"/>
              </a:lnSpc>
            </a:pPr>
            <a:r>
              <a:rPr dirty="0" sz="850" spc="45" b="1">
                <a:latin typeface="Calibri"/>
                <a:cs typeface="Calibri"/>
              </a:rPr>
              <a:t>Pooling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layers:</a:t>
            </a:r>
            <a:r>
              <a:rPr dirty="0" sz="850" spc="275" b="1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addition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described,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convolutional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pooling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Pooling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immediately</a:t>
            </a:r>
            <a:r>
              <a:rPr dirty="0" sz="850" spc="20">
                <a:latin typeface="Calibri"/>
                <a:cs typeface="Calibri"/>
              </a:rPr>
              <a:t> after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pooling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simplify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information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layer.</a:t>
            </a:r>
            <a:endParaRPr sz="850">
              <a:latin typeface="Calibri"/>
              <a:cs typeface="Calibri"/>
            </a:endParaRPr>
          </a:p>
          <a:p>
            <a:pPr algn="just" marL="382270" marR="62230" indent="189230">
              <a:lnSpc>
                <a:spcPct val="114300"/>
              </a:lnSpc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detail,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pooling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takes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feature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map</a:t>
            </a:r>
            <a:r>
              <a:rPr dirty="0" baseline="35353" sz="825" spc="30">
                <a:latin typeface="Calibri"/>
                <a:cs typeface="Calibri"/>
                <a:hlinkClick r:id="rId2" action="ppaction://hlinksldjump"/>
              </a:rPr>
              <a:t>5</a:t>
            </a:r>
            <a:r>
              <a:rPr dirty="0" baseline="35353" sz="825" spc="322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prepares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condensed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pooling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may</a:t>
            </a:r>
            <a:r>
              <a:rPr dirty="0" sz="850" spc="20">
                <a:latin typeface="Calibri"/>
                <a:cs typeface="Calibri"/>
              </a:rPr>
              <a:t> summarize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(say)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1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previous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concrete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procedure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pooling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max-pooling.</a:t>
            </a:r>
            <a:r>
              <a:rPr dirty="0" sz="850" spc="3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max-pooling,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pooling</a:t>
            </a:r>
            <a:r>
              <a:rPr dirty="0" sz="850" spc="20">
                <a:latin typeface="Calibri"/>
                <a:cs typeface="Calibri"/>
              </a:rPr>
              <a:t> unit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maximum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activation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-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region,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illustrated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diagram: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96580" y="2961317"/>
            <a:ext cx="2361331" cy="127401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700852" y="4482353"/>
            <a:ext cx="12585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12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-5">
                <a:latin typeface="Cambria"/>
                <a:cs typeface="Cambria"/>
              </a:rPr>
              <a:t> </a:t>
            </a:r>
            <a:r>
              <a:rPr dirty="0" sz="850" spc="50">
                <a:latin typeface="Calibri"/>
                <a:cs typeface="Calibri"/>
              </a:rPr>
              <a:t>12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301" y="4334309"/>
            <a:ext cx="4345940" cy="7493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24</a:t>
            </a:r>
            <a:r>
              <a:rPr dirty="0" sz="850" spc="-1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24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pooling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5"/>
              </a:spcBef>
            </a:pPr>
            <a:endParaRPr sz="850">
              <a:latin typeface="Calibri"/>
              <a:cs typeface="Calibri"/>
            </a:endParaRPr>
          </a:p>
          <a:p>
            <a:pPr algn="just" marL="12700" marR="508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mentioned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involves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feature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max-pooling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separately.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feature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combined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max-pooling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like: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83474" y="5191366"/>
            <a:ext cx="3360483" cy="1263434"/>
          </a:xfrm>
          <a:prstGeom prst="rect">
            <a:avLst/>
          </a:prstGeom>
        </p:spPr>
      </p:pic>
      <p:sp>
        <p:nvSpPr>
          <p:cNvPr id="7" name="object 7"/>
          <p:cNvSpPr/>
          <p:nvPr/>
        </p:nvSpPr>
        <p:spPr>
          <a:xfrm>
            <a:off x="720001" y="765438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669201" y="6536912"/>
            <a:ext cx="4424680" cy="147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45720" marR="17780" indent="-3175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max-pooling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found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anywhere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throws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away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positional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information.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intuition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found,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exact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important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rough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benefit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pooled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layers.</a:t>
            </a:r>
            <a:endParaRPr sz="850">
              <a:latin typeface="Calibri"/>
              <a:cs typeface="Calibri"/>
            </a:endParaRPr>
          </a:p>
          <a:p>
            <a:pPr algn="just" marL="50800" marR="4572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Max-pooling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pooling.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60" i="1">
                <a:latin typeface="Calibri"/>
                <a:cs typeface="Calibri"/>
              </a:rPr>
              <a:t>L2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pooling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maximum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endParaRPr sz="850">
              <a:latin typeface="Calibri"/>
              <a:cs typeface="Calibri"/>
            </a:endParaRPr>
          </a:p>
          <a:p>
            <a:pPr algn="just" marL="50800" marR="43180" indent="127635">
              <a:lnSpc>
                <a:spcPts val="800"/>
              </a:lnSpc>
              <a:spcBef>
                <a:spcPts val="890"/>
              </a:spcBef>
            </a:pPr>
            <a:r>
              <a:rPr dirty="0" baseline="30303" sz="825">
                <a:latin typeface="Calibri"/>
                <a:cs typeface="Calibri"/>
              </a:rPr>
              <a:t>5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nomenclature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being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used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loosely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here.</a:t>
            </a:r>
            <a:r>
              <a:rPr dirty="0" sz="750" spc="21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particular,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I’m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using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“feature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map”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mean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not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the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function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computed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convolutional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layer,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but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rather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activation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hidden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neurons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output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from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layer.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kind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mild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abuse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nomenclature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pretty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common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research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literature.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10" name="object 10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69860"/>
                  </a:lnTo>
                  <a:lnTo>
                    <a:pt x="2525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0"/>
                  </a:moveTo>
                  <a:lnTo>
                    <a:pt x="2525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351657" y="368721"/>
            <a:ext cx="232918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133600" algn="l"/>
              </a:tabLst>
            </a:pPr>
            <a:r>
              <a:rPr dirty="0" sz="850" spc="20">
                <a:latin typeface="Calibri"/>
                <a:cs typeface="Calibri"/>
              </a:rPr>
              <a:t>6.1.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Introducing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175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7292" y="913720"/>
            <a:ext cx="4350385" cy="1670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square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squares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5">
                <a:latin typeface="Calibri"/>
                <a:cs typeface="Calibri"/>
              </a:rPr>
              <a:t>2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region.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intuition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max-pooling: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L2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pooling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condensing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techniques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widely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used.</a:t>
            </a:r>
            <a:r>
              <a:rPr dirty="0" sz="850" spc="48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types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pooling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operation.</a:t>
            </a:r>
            <a:r>
              <a:rPr dirty="0" sz="850" spc="4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optimize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validation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several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pooling,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optimization.</a:t>
            </a:r>
            <a:endParaRPr sz="850">
              <a:latin typeface="Calibri"/>
              <a:cs typeface="Calibri"/>
            </a:endParaRPr>
          </a:p>
          <a:p>
            <a:pPr algn="just" marL="12700" marR="6350" indent="189230">
              <a:lnSpc>
                <a:spcPct val="114300"/>
              </a:lnSpc>
              <a:spcBef>
                <a:spcPts val="125"/>
              </a:spcBef>
            </a:pPr>
            <a:r>
              <a:rPr dirty="0" sz="850" spc="10" b="1">
                <a:latin typeface="Calibri"/>
                <a:cs typeface="Calibri"/>
              </a:rPr>
              <a:t>Putting</a:t>
            </a:r>
            <a:r>
              <a:rPr dirty="0" sz="850" spc="17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it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all</a:t>
            </a:r>
            <a:r>
              <a:rPr dirty="0" sz="850" spc="17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together:</a:t>
            </a:r>
            <a:r>
              <a:rPr dirty="0" sz="850" spc="305" b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together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complete</a:t>
            </a:r>
            <a:r>
              <a:rPr dirty="0" sz="850" spc="20">
                <a:latin typeface="Calibri"/>
                <a:cs typeface="Calibri"/>
              </a:rPr>
              <a:t> convolutional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similar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architecture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addition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corresponding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60">
                <a:latin typeface="Calibri"/>
                <a:cs typeface="Calibri"/>
              </a:rPr>
              <a:t> MNIST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(‘0’,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‘1’,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‘2’,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etc):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56372" y="2750921"/>
            <a:ext cx="3367303" cy="129600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053628" y="4204964"/>
            <a:ext cx="4386580" cy="3816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0955" marR="5080">
              <a:lnSpc>
                <a:spcPct val="114300"/>
              </a:lnSpc>
              <a:spcBef>
                <a:spcPts val="95"/>
              </a:spcBef>
            </a:pP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network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begins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28</a:t>
            </a:r>
            <a:r>
              <a:rPr dirty="0" sz="850" spc="85">
                <a:latin typeface="Cambria"/>
                <a:cs typeface="Cambria"/>
              </a:rPr>
              <a:t>×</a:t>
            </a:r>
            <a:r>
              <a:rPr dirty="0" sz="850" spc="85">
                <a:latin typeface="Calibri"/>
                <a:cs typeface="Calibri"/>
              </a:rPr>
              <a:t>28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input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neurons,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are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used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-5">
                <a:latin typeface="Calibri"/>
                <a:cs typeface="Calibri"/>
              </a:rPr>
              <a:t>to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encode</a:t>
            </a:r>
            <a:r>
              <a:rPr dirty="0" sz="850">
                <a:latin typeface="Calibri"/>
                <a:cs typeface="Calibri"/>
              </a:rPr>
              <a:t> the </a:t>
            </a:r>
            <a:r>
              <a:rPr dirty="0" sz="850" spc="25">
                <a:latin typeface="Calibri"/>
                <a:cs typeface="Calibri"/>
              </a:rPr>
              <a:t>pixel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intensities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image.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followed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convolutional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layer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local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receptive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field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3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5">
                <a:latin typeface="Calibri"/>
                <a:cs typeface="Calibri"/>
              </a:rPr>
              <a:t> maps.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</a:t>
            </a:r>
            <a:r>
              <a:rPr dirty="0" sz="850" spc="15">
                <a:latin typeface="Calibri"/>
                <a:cs typeface="Calibri"/>
              </a:rPr>
              <a:t> is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">
                <a:latin typeface="Calibri"/>
                <a:cs typeface="Calibri"/>
              </a:rPr>
              <a:t> layer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3</a:t>
            </a:r>
            <a:r>
              <a:rPr dirty="0" sz="850" spc="-9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-85">
                <a:latin typeface="Cambria"/>
                <a:cs typeface="Cambria"/>
              </a:rPr>
              <a:t> </a:t>
            </a:r>
            <a:r>
              <a:rPr dirty="0" sz="850" spc="40">
                <a:latin typeface="Calibri"/>
                <a:cs typeface="Calibri"/>
              </a:rPr>
              <a:t>24</a:t>
            </a:r>
            <a:r>
              <a:rPr dirty="0" sz="850" spc="-9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-85">
                <a:latin typeface="Cambria"/>
                <a:cs typeface="Cambria"/>
              </a:rPr>
              <a:t> </a:t>
            </a:r>
            <a:r>
              <a:rPr dirty="0" sz="850" spc="40">
                <a:latin typeface="Calibri"/>
                <a:cs typeface="Calibri"/>
              </a:rPr>
              <a:t>24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5">
                <a:latin typeface="Calibri"/>
                <a:cs typeface="Calibri"/>
              </a:rPr>
              <a:t> neurons.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The </a:t>
            </a:r>
            <a:r>
              <a:rPr dirty="0" sz="850" spc="30">
                <a:latin typeface="Calibri"/>
                <a:cs typeface="Calibri"/>
              </a:rPr>
              <a:t>next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max-</a:t>
            </a:r>
            <a:r>
              <a:rPr dirty="0" sz="850" spc="35">
                <a:latin typeface="Calibri"/>
                <a:cs typeface="Calibri"/>
              </a:rPr>
              <a:t>pooling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applied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regions,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across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feature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maps.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result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3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50">
                <a:latin typeface="Calibri"/>
                <a:cs typeface="Calibri"/>
              </a:rPr>
              <a:t>12</a:t>
            </a:r>
            <a:r>
              <a:rPr dirty="0" sz="850" spc="-3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-25">
                <a:latin typeface="Cambria"/>
                <a:cs typeface="Cambria"/>
              </a:rPr>
              <a:t> </a:t>
            </a:r>
            <a:r>
              <a:rPr dirty="0" sz="850" spc="50">
                <a:latin typeface="Calibri"/>
                <a:cs typeface="Calibri"/>
              </a:rPr>
              <a:t>12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hidden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  <a:p>
            <a:pPr algn="just" marL="20955" marR="5080" indent="194310">
              <a:lnSpc>
                <a:spcPct val="114300"/>
              </a:lnSpc>
              <a:spcBef>
                <a:spcPts val="12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fully-connected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max-pooled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every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fully-connected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chapters.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however,</a:t>
            </a:r>
            <a:r>
              <a:rPr dirty="0" sz="850" spc="20">
                <a:latin typeface="Calibri"/>
                <a:cs typeface="Calibri"/>
              </a:rPr>
              <a:t> 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diagram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above,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single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arrow,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simplicity,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showing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connections.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imagine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connections.</a:t>
            </a:r>
            <a:endParaRPr sz="850">
              <a:latin typeface="Calibri"/>
              <a:cs typeface="Calibri"/>
            </a:endParaRPr>
          </a:p>
          <a:p>
            <a:pPr algn="just" marL="26034" marR="11430" indent="189230">
              <a:lnSpc>
                <a:spcPct val="114300"/>
              </a:lnSpc>
              <a:spcBef>
                <a:spcPts val="125"/>
              </a:spcBef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architecture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quite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architectures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earlier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overall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picture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similar: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made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units,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whose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determined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weights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biases.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same: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job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classifying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digits.</a:t>
            </a:r>
            <a:endParaRPr sz="850">
              <a:latin typeface="Calibri"/>
              <a:cs typeface="Calibri"/>
            </a:endParaRPr>
          </a:p>
          <a:p>
            <a:pPr algn="just" marL="12700" marR="29209" indent="203200">
              <a:lnSpc>
                <a:spcPct val="114300"/>
              </a:lnSpc>
              <a:spcBef>
                <a:spcPts val="125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book,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stochastic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proceeds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chapters.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modifications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r>
              <a:rPr dirty="0" sz="850" spc="20">
                <a:latin typeface="Calibri"/>
                <a:cs typeface="Calibri"/>
              </a:rPr>
              <a:t> procedure.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reason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derivation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 spc="20">
                <a:latin typeface="Calibri"/>
                <a:cs typeface="Calibri"/>
              </a:rPr>
              <a:t> 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fully-connected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Fortunately,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straightforward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modify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derivation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20">
                <a:latin typeface="Calibri"/>
                <a:cs typeface="Calibri"/>
              </a:rPr>
              <a:t> convolutional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max-pooling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you’d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details,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invite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warned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time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unless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internalized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r>
              <a:rPr dirty="0" sz="850" spc="55">
                <a:latin typeface="Calibri"/>
                <a:cs typeface="Calibri"/>
              </a:rPr>
              <a:t> (in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easy).</a:t>
            </a:r>
            <a:endParaRPr sz="850">
              <a:latin typeface="Calibri"/>
              <a:cs typeface="Calibri"/>
            </a:endParaRPr>
          </a:p>
          <a:p>
            <a:pPr marL="26034">
              <a:lnSpc>
                <a:spcPct val="100000"/>
              </a:lnSpc>
              <a:spcBef>
                <a:spcPts val="244"/>
              </a:spcBef>
            </a:pP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7" name="object 7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104965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176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01" y="913714"/>
            <a:ext cx="4349750" cy="11766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28930" marR="5080" indent="-118745">
              <a:lnSpc>
                <a:spcPct val="114300"/>
              </a:lnSpc>
              <a:spcBef>
                <a:spcPts val="95"/>
              </a:spcBef>
              <a:buFont typeface="Cambria"/>
              <a:buChar char="•"/>
              <a:tabLst>
                <a:tab pos="328930" algn="l"/>
              </a:tabLst>
            </a:pP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equations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fully-connected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  <a:hlinkClick r:id="rId2" action="ppaction://hlinksldjump"/>
              </a:rPr>
              <a:t>(BP1)–</a:t>
            </a:r>
            <a:r>
              <a:rPr dirty="0" sz="850" spc="55">
                <a:latin typeface="Calibri"/>
                <a:cs typeface="Calibri"/>
                <a:hlinkClick r:id="rId2" action="ppaction://hlinksldjump"/>
              </a:rPr>
              <a:t>(BP4).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20">
                <a:latin typeface="Calibri"/>
                <a:cs typeface="Calibri"/>
              </a:rPr>
              <a:t> containing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max-pooling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fully-connected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equations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modified?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40"/>
              </a:spcBef>
            </a:pP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339725" algn="l"/>
              </a:tabLst>
            </a:pPr>
            <a:r>
              <a:rPr dirty="0" sz="1050" spc="30" b="1">
                <a:latin typeface="Calibri"/>
                <a:cs typeface="Calibri"/>
              </a:rPr>
              <a:t>6.2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55" b="1">
                <a:latin typeface="Calibri"/>
                <a:cs typeface="Calibri"/>
              </a:rPr>
              <a:t>Convolutional</a:t>
            </a:r>
            <a:r>
              <a:rPr dirty="0" sz="1050" spc="140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neural</a:t>
            </a:r>
            <a:r>
              <a:rPr dirty="0" sz="1050" spc="145" b="1">
                <a:latin typeface="Calibri"/>
                <a:cs typeface="Calibri"/>
              </a:rPr>
              <a:t> </a:t>
            </a:r>
            <a:r>
              <a:rPr dirty="0" sz="1050" spc="10" b="1">
                <a:latin typeface="Calibri"/>
                <a:cs typeface="Calibri"/>
              </a:rPr>
              <a:t>networks</a:t>
            </a:r>
            <a:r>
              <a:rPr dirty="0" sz="1050" spc="140" b="1">
                <a:latin typeface="Calibri"/>
                <a:cs typeface="Calibri"/>
              </a:rPr>
              <a:t> </a:t>
            </a:r>
            <a:r>
              <a:rPr dirty="0" sz="1050" spc="65" b="1">
                <a:latin typeface="Calibri"/>
                <a:cs typeface="Calibri"/>
              </a:rPr>
              <a:t>in</a:t>
            </a:r>
            <a:r>
              <a:rPr dirty="0" sz="1050" spc="145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practice</a:t>
            </a:r>
            <a:endParaRPr sz="10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74354" y="2201298"/>
            <a:ext cx="4431665" cy="462216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algn="just" marL="38735" marR="34925" indent="-1270">
              <a:lnSpc>
                <a:spcPct val="110200"/>
              </a:lnSpc>
              <a:spcBef>
                <a:spcPts val="140"/>
              </a:spcBef>
            </a:pP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behind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MNIST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classification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900" spc="-10">
                <a:latin typeface="Calibri"/>
                <a:cs typeface="Calibri"/>
              </a:rPr>
              <a:t>network3.py</a:t>
            </a:r>
            <a:r>
              <a:rPr dirty="0" sz="850" spc="-10">
                <a:latin typeface="Calibri"/>
                <a:cs typeface="Calibri"/>
              </a:rPr>
              <a:t>,</a:t>
            </a:r>
            <a:r>
              <a:rPr dirty="0" sz="850" spc="30">
                <a:latin typeface="Calibri"/>
                <a:cs typeface="Calibri"/>
              </a:rPr>
              <a:t> and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improved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version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programs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network.py</a:t>
            </a:r>
            <a:r>
              <a:rPr dirty="0" sz="90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network2.py </a:t>
            </a:r>
            <a:r>
              <a:rPr dirty="0" sz="850" spc="30">
                <a:latin typeface="Calibri"/>
                <a:cs typeface="Calibri"/>
              </a:rPr>
              <a:t>developed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chapters</a:t>
            </a:r>
            <a:r>
              <a:rPr dirty="0" baseline="35353" sz="825" spc="15">
                <a:latin typeface="Calibri"/>
                <a:cs typeface="Calibri"/>
                <a:hlinkClick r:id="rId3" action="ppaction://hlinksldjump"/>
              </a:rPr>
              <a:t>6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wish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available</a:t>
            </a:r>
            <a:r>
              <a:rPr dirty="0" sz="850" spc="155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on</a:t>
            </a:r>
            <a:r>
              <a:rPr dirty="0" sz="850" spc="155">
                <a:latin typeface="Calibri"/>
                <a:cs typeface="Calibri"/>
                <a:hlinkClick r:id="rId4"/>
              </a:rPr>
              <a:t> </a:t>
            </a:r>
            <a:r>
              <a:rPr dirty="0" sz="850" spc="45">
                <a:latin typeface="Calibri"/>
                <a:cs typeface="Calibri"/>
                <a:hlinkClick r:id="rId4"/>
              </a:rPr>
              <a:t>GitHub</a:t>
            </a:r>
            <a:r>
              <a:rPr dirty="0" sz="850" spc="45">
                <a:latin typeface="Calibri"/>
                <a:cs typeface="Calibri"/>
              </a:rPr>
              <a:t>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we’ll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work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through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code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for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network3.py</a:t>
            </a:r>
            <a:r>
              <a:rPr dirty="0" sz="900" spc="-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itself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next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section.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this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section,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30">
                <a:latin typeface="Calibri"/>
                <a:cs typeface="Calibri"/>
              </a:rPr>
              <a:t> use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network3.py </a:t>
            </a:r>
            <a:r>
              <a:rPr dirty="0" sz="850" spc="30">
                <a:latin typeface="Calibri"/>
                <a:cs typeface="Calibri"/>
              </a:rPr>
              <a:t>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library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build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convolutional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  <a:p>
            <a:pPr algn="just" marL="40640" marR="30480" indent="194310">
              <a:lnSpc>
                <a:spcPts val="1170"/>
              </a:lnSpc>
              <a:spcBef>
                <a:spcPts val="7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network.py</a:t>
            </a:r>
            <a:r>
              <a:rPr dirty="0" sz="90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network2.py</a:t>
            </a:r>
            <a:r>
              <a:rPr dirty="0" sz="90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were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implemented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Python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matrix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library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Numpy.</a:t>
            </a:r>
            <a:r>
              <a:rPr dirty="0" sz="850" spc="220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worked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principles,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got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right</a:t>
            </a:r>
            <a:r>
              <a:rPr dirty="0" sz="850" spc="20">
                <a:latin typeface="Calibri"/>
                <a:cs typeface="Calibri"/>
              </a:rPr>
              <a:t> down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details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stochastic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now</a:t>
            </a:r>
            <a:r>
              <a:rPr dirty="0" sz="850" spc="30">
                <a:latin typeface="Calibri"/>
                <a:cs typeface="Calibri"/>
              </a:rPr>
              <a:t> that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understand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those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details,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network3.py</a:t>
            </a:r>
            <a:r>
              <a:rPr dirty="0" sz="90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we’re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going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machine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20">
                <a:latin typeface="Calibri"/>
                <a:cs typeface="Calibri"/>
              </a:rPr>
              <a:t> library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Theano</a:t>
            </a:r>
            <a:r>
              <a:rPr dirty="0" baseline="35353" sz="825" spc="30">
                <a:latin typeface="Calibri"/>
                <a:cs typeface="Calibri"/>
                <a:hlinkClick r:id="rId3" action="ppaction://hlinksldjump"/>
              </a:rPr>
              <a:t>7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Theano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20">
                <a:latin typeface="Calibri"/>
                <a:cs typeface="Calibri"/>
              </a:rPr>
              <a:t> convolutional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automatically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mappings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involved.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Theano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(which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written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understand,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fast),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practical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265">
                <a:latin typeface="Calibri"/>
                <a:cs typeface="Calibri"/>
              </a:rPr>
              <a:t>  </a:t>
            </a:r>
            <a:r>
              <a:rPr dirty="0" sz="850" spc="30">
                <a:latin typeface="Calibri"/>
                <a:cs typeface="Calibri"/>
              </a:rPr>
              <a:t>In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Theano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either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CPU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available,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GPU.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GPU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substantial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speedup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practical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  <a:p>
            <a:pPr algn="just" marL="234950">
              <a:lnSpc>
                <a:spcPct val="100000"/>
              </a:lnSpc>
              <a:spcBef>
                <a:spcPts val="70"/>
              </a:spcBef>
            </a:pP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wish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Theano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running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system.</a:t>
            </a:r>
            <a:endParaRPr sz="850">
              <a:latin typeface="Calibri"/>
              <a:cs typeface="Calibri"/>
            </a:endParaRPr>
          </a:p>
          <a:p>
            <a:pPr algn="just" marL="38735" marR="30480" indent="1270">
              <a:lnSpc>
                <a:spcPct val="113100"/>
              </a:lnSpc>
              <a:spcBef>
                <a:spcPts val="10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Theano,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instructions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project’s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homepage.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follow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Theano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0.6</a:t>
            </a:r>
            <a:r>
              <a:rPr dirty="0" baseline="35353" sz="825">
                <a:latin typeface="Calibri"/>
                <a:cs typeface="Calibri"/>
                <a:hlinkClick r:id="rId3" action="ppaction://hlinksldjump"/>
              </a:rPr>
              <a:t>8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OS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X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Yosemite,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GPU.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Ubuntu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14.04,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NVIDIA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GPU.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were</a:t>
            </a:r>
            <a:r>
              <a:rPr dirty="0" sz="850" spc="30">
                <a:latin typeface="Calibri"/>
                <a:cs typeface="Calibri"/>
              </a:rPr>
              <a:t> run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under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both.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get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network3.py</a:t>
            </a:r>
            <a:r>
              <a:rPr dirty="0" sz="90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running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you’ll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need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set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GPU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flag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either </a:t>
            </a:r>
            <a:r>
              <a:rPr dirty="0" sz="850" spc="-20">
                <a:latin typeface="Calibri"/>
                <a:cs typeface="Calibri"/>
              </a:rPr>
              <a:t>True</a:t>
            </a:r>
            <a:r>
              <a:rPr dirty="0" sz="850" spc="30">
                <a:latin typeface="Calibri"/>
                <a:cs typeface="Calibri"/>
              </a:rPr>
              <a:t> 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False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(as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appropriate)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network3.py</a:t>
            </a:r>
            <a:r>
              <a:rPr dirty="0" sz="90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source.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Beyond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that,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get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Theano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GPU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instructions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helpful.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tutorials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web,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Google,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working.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GPU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available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locally,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wish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Amazon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Web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Services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EC2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G2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spot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GPU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execute.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minutes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hours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CPU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days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most</a:t>
            </a:r>
            <a:r>
              <a:rPr dirty="0" sz="850" spc="20">
                <a:latin typeface="Calibri"/>
                <a:cs typeface="Calibri"/>
              </a:rPr>
              <a:t> complex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experiments.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chapters,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suggest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things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running,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continuing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read,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occasionally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check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you’re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20001" y="6907669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75192" y="6921917"/>
            <a:ext cx="4426585" cy="109283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algn="just" marL="44450" marR="30480" indent="127635">
              <a:lnSpc>
                <a:spcPts val="800"/>
              </a:lnSpc>
              <a:spcBef>
                <a:spcPts val="254"/>
              </a:spcBef>
            </a:pPr>
            <a:r>
              <a:rPr dirty="0" baseline="30303" sz="825" spc="44">
                <a:latin typeface="Calibri"/>
                <a:cs typeface="Calibri"/>
              </a:rPr>
              <a:t>6</a:t>
            </a:r>
            <a:r>
              <a:rPr dirty="0" sz="750" spc="30">
                <a:latin typeface="Calibri"/>
                <a:cs typeface="Calibri"/>
              </a:rPr>
              <a:t>Note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also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that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800" spc="30">
                <a:latin typeface="Calibri"/>
                <a:cs typeface="Calibri"/>
              </a:rPr>
              <a:t>network3.py</a:t>
            </a:r>
            <a:r>
              <a:rPr dirty="0" sz="800" spc="-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incorporates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ideas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from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the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Theano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library’s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documentation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on</a:t>
            </a:r>
            <a:r>
              <a:rPr dirty="0" sz="750" spc="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convo-</a:t>
            </a:r>
            <a:r>
              <a:rPr dirty="0" sz="750" spc="20">
                <a:latin typeface="Calibri"/>
                <a:cs typeface="Calibri"/>
              </a:rPr>
              <a:t>lutional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neural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nets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(notably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implementation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LeNet-5),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from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Misha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Denil’s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implementation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of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dropout,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from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Chris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Olah.</a:t>
            </a:r>
            <a:endParaRPr sz="750">
              <a:latin typeface="Calibri"/>
              <a:cs typeface="Calibri"/>
            </a:endParaRPr>
          </a:p>
          <a:p>
            <a:pPr algn="just" marL="38100" marR="50800" indent="134620">
              <a:lnSpc>
                <a:spcPts val="800"/>
              </a:lnSpc>
              <a:spcBef>
                <a:spcPts val="130"/>
              </a:spcBef>
            </a:pPr>
            <a:r>
              <a:rPr dirty="0" baseline="30303" sz="825" spc="15">
                <a:latin typeface="Calibri"/>
                <a:cs typeface="Calibri"/>
              </a:rPr>
              <a:t>7</a:t>
            </a:r>
            <a:r>
              <a:rPr dirty="0" sz="750" spc="10">
                <a:latin typeface="Calibri"/>
                <a:cs typeface="Calibri"/>
              </a:rPr>
              <a:t>See</a:t>
            </a:r>
            <a:r>
              <a:rPr dirty="0" sz="750" spc="2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Theano:</a:t>
            </a:r>
            <a:r>
              <a:rPr dirty="0" sz="750" spc="385">
                <a:latin typeface="Calibri"/>
                <a:cs typeface="Calibri"/>
                <a:hlinkClick r:id="rId5"/>
              </a:rPr>
              <a:t> </a:t>
            </a:r>
            <a:r>
              <a:rPr dirty="0" sz="750" spc="55">
                <a:latin typeface="Calibri"/>
                <a:cs typeface="Calibri"/>
                <a:hlinkClick r:id="rId5"/>
              </a:rPr>
              <a:t>A</a:t>
            </a:r>
            <a:r>
              <a:rPr dirty="0" sz="750" spc="215">
                <a:latin typeface="Calibri"/>
                <a:cs typeface="Calibri"/>
                <a:hlinkClick r:id="rId5"/>
              </a:rPr>
              <a:t> </a:t>
            </a:r>
            <a:r>
              <a:rPr dirty="0" sz="750" spc="60">
                <a:latin typeface="Calibri"/>
                <a:cs typeface="Calibri"/>
                <a:hlinkClick r:id="rId5"/>
              </a:rPr>
              <a:t>CPU</a:t>
            </a:r>
            <a:r>
              <a:rPr dirty="0" sz="750" spc="210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and</a:t>
            </a:r>
            <a:r>
              <a:rPr dirty="0" sz="750" spc="215">
                <a:latin typeface="Calibri"/>
                <a:cs typeface="Calibri"/>
                <a:hlinkClick r:id="rId5"/>
              </a:rPr>
              <a:t> </a:t>
            </a:r>
            <a:r>
              <a:rPr dirty="0" sz="750" spc="50">
                <a:latin typeface="Calibri"/>
                <a:cs typeface="Calibri"/>
                <a:hlinkClick r:id="rId5"/>
              </a:rPr>
              <a:t>GPU</a:t>
            </a:r>
            <a:r>
              <a:rPr dirty="0" sz="750" spc="21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Math</a:t>
            </a:r>
            <a:r>
              <a:rPr dirty="0" sz="750" spc="210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Expression</a:t>
            </a:r>
            <a:r>
              <a:rPr dirty="0" sz="750" spc="21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Compiler</a:t>
            </a:r>
            <a:r>
              <a:rPr dirty="0" sz="750" spc="21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in</a:t>
            </a:r>
            <a:r>
              <a:rPr dirty="0" sz="750" spc="215">
                <a:latin typeface="Calibri"/>
                <a:cs typeface="Calibri"/>
                <a:hlinkClick r:id="rId5"/>
              </a:rPr>
              <a:t> </a:t>
            </a:r>
            <a:r>
              <a:rPr dirty="0" sz="750" spc="10">
                <a:latin typeface="Calibri"/>
                <a:cs typeface="Calibri"/>
                <a:hlinkClick r:id="rId5"/>
              </a:rPr>
              <a:t>Python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21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James</a:t>
            </a:r>
            <a:r>
              <a:rPr dirty="0" sz="750" spc="2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Bergstra,</a:t>
            </a:r>
            <a:r>
              <a:rPr dirty="0" sz="750" spc="229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Olivier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Breuleux,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Frederic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Bastien,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Pascal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Lamblin,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Ravzan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Pascanu,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Guillaume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Desjardins,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Joseph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Turian,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David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Warde-Farley,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Yoshua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Bengio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(2010).</a:t>
            </a:r>
            <a:r>
              <a:rPr dirty="0" sz="750" spc="2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Theano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also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basis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popular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Pylearn2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  <a:hlinkClick r:id="rId7"/>
              </a:rPr>
              <a:t>Keras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neural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libraries.</a:t>
            </a:r>
            <a:r>
              <a:rPr dirty="0" sz="750" spc="2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Other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popular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neural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libraries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at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time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writing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include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  <a:hlinkClick r:id="rId8"/>
              </a:rPr>
              <a:t>Caffe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  <a:hlinkClick r:id="rId9"/>
              </a:rPr>
              <a:t>Torch</a:t>
            </a:r>
            <a:r>
              <a:rPr dirty="0" sz="750" spc="-10">
                <a:latin typeface="Calibri"/>
                <a:cs typeface="Calibri"/>
              </a:rPr>
              <a:t>.</a:t>
            </a:r>
            <a:endParaRPr sz="750">
              <a:latin typeface="Calibri"/>
              <a:cs typeface="Calibri"/>
            </a:endParaRPr>
          </a:p>
          <a:p>
            <a:pPr algn="just" marL="44450" marR="49530" indent="127635">
              <a:lnSpc>
                <a:spcPts val="800"/>
              </a:lnSpc>
              <a:spcBef>
                <a:spcPts val="125"/>
              </a:spcBef>
            </a:pPr>
            <a:r>
              <a:rPr dirty="0" baseline="30303" sz="825" spc="82">
                <a:latin typeface="Calibri"/>
                <a:cs typeface="Calibri"/>
              </a:rPr>
              <a:t>8</a:t>
            </a:r>
            <a:r>
              <a:rPr dirty="0" sz="750" spc="55">
                <a:latin typeface="Calibri"/>
                <a:cs typeface="Calibri"/>
              </a:rPr>
              <a:t>As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release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chapter,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current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version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Theano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has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changed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version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0.7.</a:t>
            </a:r>
            <a:r>
              <a:rPr dirty="0" sz="750" spc="2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I’ve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actually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rerun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examples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under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Theano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0.7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get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extremely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similar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results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those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reported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text.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8" name="object 8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41896" y="368721"/>
            <a:ext cx="4664075" cy="13315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023745">
              <a:lnSpc>
                <a:spcPts val="525"/>
              </a:lnSpc>
              <a:spcBef>
                <a:spcPts val="110"/>
              </a:spcBef>
              <a:tabLst>
                <a:tab pos="4443095" algn="l"/>
              </a:tabLst>
            </a:pPr>
            <a:r>
              <a:rPr dirty="0" sz="850" spc="20">
                <a:latin typeface="Calibri"/>
                <a:cs typeface="Calibri"/>
              </a:rPr>
              <a:t>6.2.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practice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177</a:t>
            </a:r>
            <a:endParaRPr sz="850">
              <a:latin typeface="Calibri"/>
              <a:cs typeface="Calibri"/>
            </a:endParaRPr>
          </a:p>
          <a:p>
            <a:pPr algn="r" marR="2889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100" marR="29400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CPU,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wish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complex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omit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entirely.</a:t>
            </a:r>
            <a:endParaRPr sz="850">
              <a:latin typeface="Calibri"/>
              <a:cs typeface="Calibri"/>
            </a:endParaRPr>
          </a:p>
          <a:p>
            <a:pPr algn="just" marL="38100" marR="274955" indent="189230">
              <a:lnSpc>
                <a:spcPct val="114300"/>
              </a:lnSpc>
              <a:spcBef>
                <a:spcPts val="160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baseline,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shallow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100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60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60" i="1">
                <a:latin typeface="Times New Roman"/>
                <a:cs typeface="Times New Roman"/>
              </a:rPr>
              <a:t> </a:t>
            </a:r>
            <a:r>
              <a:rPr dirty="0" sz="850">
                <a:latin typeface="Tahoma"/>
                <a:cs typeface="Tahoma"/>
              </a:rPr>
              <a:t>=</a:t>
            </a:r>
            <a:r>
              <a:rPr dirty="0" sz="850" spc="5">
                <a:latin typeface="Tahoma"/>
                <a:cs typeface="Tahoma"/>
              </a:rPr>
              <a:t> </a:t>
            </a:r>
            <a:r>
              <a:rPr dirty="0" sz="850">
                <a:latin typeface="Calibri"/>
                <a:cs typeface="Calibri"/>
              </a:rPr>
              <a:t>0.1,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10,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go</a:t>
            </a:r>
            <a:r>
              <a:rPr dirty="0" baseline="35353" sz="825" spc="-30">
                <a:latin typeface="Calibri"/>
                <a:cs typeface="Calibri"/>
                <a:hlinkClick r:id="rId2" action="ppaction://hlinksldjump"/>
              </a:rPr>
              <a:t>9</a:t>
            </a:r>
            <a:r>
              <a:rPr dirty="0" sz="850" spc="-2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9510" y="1798370"/>
            <a:ext cx="4401185" cy="100266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network3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from</a:t>
            </a:r>
            <a:r>
              <a:rPr dirty="0" sz="700" spc="4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network3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35">
                <a:latin typeface="Calibri"/>
                <a:cs typeface="Calibri"/>
              </a:rPr>
              <a:t>Network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from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network3</a:t>
            </a:r>
            <a:r>
              <a:rPr dirty="0" sz="700" spc="434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ConvPoolLayer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1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FullyConnectedLayer</a:t>
            </a:r>
            <a:r>
              <a:rPr dirty="0" sz="700" spc="-2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1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SoftmaxLayer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network3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load_data_shared()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10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FullyConnectedLayer(n_in=784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1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n_out=100),SoftmaxLayer(n_in</a:t>
            </a:r>
            <a:endParaRPr sz="700">
              <a:latin typeface="Calibri"/>
              <a:cs typeface="Calibri"/>
            </a:endParaRPr>
          </a:p>
          <a:p>
            <a:pPr marL="297815">
              <a:lnSpc>
                <a:spcPct val="100000"/>
              </a:lnSpc>
              <a:spcBef>
                <a:spcPts val="65"/>
              </a:spcBef>
            </a:pPr>
            <a:r>
              <a:rPr dirty="0" sz="700" spc="30">
                <a:latin typeface="Calibri"/>
                <a:cs typeface="Calibri"/>
              </a:rPr>
              <a:t>=100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n_out=10)],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60,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0.1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36652" y="2869030"/>
            <a:ext cx="4429125" cy="380492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algn="just" marL="43180" marR="53340">
              <a:lnSpc>
                <a:spcPct val="111700"/>
              </a:lnSpc>
              <a:spcBef>
                <a:spcPts val="85"/>
              </a:spcBef>
            </a:pP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obtained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97.80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accuracy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test_data</a:t>
            </a:r>
            <a:r>
              <a:rPr dirty="0" sz="850" spc="75">
                <a:latin typeface="Calibri"/>
                <a:cs typeface="Calibri"/>
              </a:rPr>
              <a:t>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evaluated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best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classification</a:t>
            </a:r>
            <a:r>
              <a:rPr dirty="0" sz="850" spc="20">
                <a:latin typeface="Calibri"/>
                <a:cs typeface="Calibri"/>
              </a:rPr>
              <a:t> accuracy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validation_data</a:t>
            </a:r>
            <a:r>
              <a:rPr dirty="0" sz="850" spc="8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validation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decide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evaluate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avoid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(see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data).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below.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slightly,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initialized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10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38100" marR="34925" indent="194945">
              <a:lnSpc>
                <a:spcPct val="114300"/>
              </a:lnSpc>
              <a:spcBef>
                <a:spcPts val="160"/>
              </a:spcBef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97.80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98.04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obtained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particular,</a:t>
            </a:r>
            <a:r>
              <a:rPr dirty="0" sz="850" spc="20">
                <a:latin typeface="Calibri"/>
                <a:cs typeface="Calibri"/>
              </a:rPr>
              <a:t> both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examples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shallow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single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hidden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60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10,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rate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i="1">
                <a:latin typeface="Times New Roman"/>
                <a:cs typeface="Times New Roman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60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0.1.</a:t>
            </a:r>
            <a:endParaRPr sz="850">
              <a:latin typeface="Calibri"/>
              <a:cs typeface="Calibri"/>
            </a:endParaRPr>
          </a:p>
          <a:p>
            <a:pPr algn="just" marL="43180" marR="30480" indent="189230">
              <a:lnSpc>
                <a:spcPct val="114300"/>
              </a:lnSpc>
              <a:spcBef>
                <a:spcPts val="165"/>
              </a:spcBef>
            </a:pP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were,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however,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two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differences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First,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earlier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reduce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overfitting.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current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accuracies,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hold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worrying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r>
              <a:rPr dirty="0" sz="850" spc="20">
                <a:latin typeface="Calibri"/>
                <a:cs typeface="Calibri"/>
              </a:rPr>
              <a:t> regularization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until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later.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Second,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sigmoid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cross-entropy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current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log-likelihood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3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made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switch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reason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mostly,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because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plus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log-likelihood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modern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  <a:p>
            <a:pPr algn="just" marL="233045">
              <a:lnSpc>
                <a:spcPct val="100000"/>
              </a:lnSpc>
              <a:spcBef>
                <a:spcPts val="310"/>
              </a:spcBef>
            </a:pP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architecture?</a:t>
            </a:r>
            <a:endParaRPr sz="850">
              <a:latin typeface="Calibri"/>
              <a:cs typeface="Calibri"/>
            </a:endParaRPr>
          </a:p>
          <a:p>
            <a:pPr algn="just" marL="43180" marR="34925" indent="189230">
              <a:lnSpc>
                <a:spcPct val="114300"/>
              </a:lnSpc>
              <a:spcBef>
                <a:spcPts val="165"/>
              </a:spcBef>
            </a:pP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inserting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beginning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5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5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stride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20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insert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max-pooling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combines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pooling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windows.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overall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section,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fully-connected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079996" y="6826986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041896" y="6842361"/>
            <a:ext cx="4420870" cy="117221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just" marL="38100" marR="52069" indent="127635">
              <a:lnSpc>
                <a:spcPts val="800"/>
              </a:lnSpc>
              <a:spcBef>
                <a:spcPts val="225"/>
              </a:spcBef>
            </a:pPr>
            <a:r>
              <a:rPr dirty="0" baseline="30303" sz="825">
                <a:latin typeface="Calibri"/>
                <a:cs typeface="Calibri"/>
              </a:rPr>
              <a:t>9</a:t>
            </a:r>
            <a:r>
              <a:rPr dirty="0" sz="750">
                <a:latin typeface="Calibri"/>
                <a:cs typeface="Calibri"/>
              </a:rPr>
              <a:t>Code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experiments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section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may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found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script.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Note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code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script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simply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duplicates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parallels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discussion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section.</a:t>
            </a:r>
            <a:endParaRPr sz="750">
              <a:latin typeface="Calibri"/>
              <a:cs typeface="Calibri"/>
            </a:endParaRPr>
          </a:p>
          <a:p>
            <a:pPr algn="just" marL="38100">
              <a:lnSpc>
                <a:spcPts val="730"/>
              </a:lnSpc>
            </a:pPr>
            <a:r>
              <a:rPr dirty="0" sz="750" spc="10">
                <a:latin typeface="Calibri"/>
                <a:cs typeface="Calibri"/>
              </a:rPr>
              <a:t>Note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also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throughout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section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I’ve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explicitly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specified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number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training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epochs.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I’ve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done</a:t>
            </a:r>
            <a:endParaRPr sz="750">
              <a:latin typeface="Calibri"/>
              <a:cs typeface="Calibri"/>
            </a:endParaRPr>
          </a:p>
          <a:p>
            <a:pPr algn="just" marL="38100" marR="54610">
              <a:lnSpc>
                <a:spcPts val="800"/>
              </a:lnSpc>
              <a:spcBef>
                <a:spcPts val="55"/>
              </a:spcBef>
            </a:pP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clarity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about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how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we’re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training.</a:t>
            </a:r>
            <a:r>
              <a:rPr dirty="0" sz="750" spc="250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In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practice,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it’s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worth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using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early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stopping,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tracking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accuracy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validation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set,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stopping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training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when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are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confident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validation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accuracy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has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stopped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improving.</a:t>
            </a:r>
            <a:endParaRPr sz="750">
              <a:latin typeface="Calibri"/>
              <a:cs typeface="Calibri"/>
            </a:endParaRPr>
          </a:p>
          <a:p>
            <a:pPr algn="just" marL="38100" marR="30480" indent="86995">
              <a:lnSpc>
                <a:spcPts val="800"/>
              </a:lnSpc>
              <a:spcBef>
                <a:spcPts val="130"/>
              </a:spcBef>
            </a:pPr>
            <a:r>
              <a:rPr dirty="0" baseline="30303" sz="825" spc="75">
                <a:latin typeface="Calibri"/>
                <a:cs typeface="Calibri"/>
              </a:rPr>
              <a:t>10</a:t>
            </a:r>
            <a:r>
              <a:rPr dirty="0" sz="750" spc="50">
                <a:latin typeface="Calibri"/>
                <a:cs typeface="Calibri"/>
              </a:rPr>
              <a:t>In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fact,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experiment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I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actually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did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three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separate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runs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training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network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with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architecture.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then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reported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test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accuracy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which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corresponded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best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validation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accuracy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from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any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the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three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runs.</a:t>
            </a:r>
            <a:r>
              <a:rPr dirty="0" sz="750" spc="25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Using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multiple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runs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helps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reduce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variation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results,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which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useful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when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comparing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many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architectures,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doing.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I’ve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followed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procedure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below,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except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where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noted.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practice,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it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made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little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difference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results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obtained.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8" name="object 8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104965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178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8005" y="926051"/>
            <a:ext cx="3024085" cy="123162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81901" y="2253800"/>
            <a:ext cx="439928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pooling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spatial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fully-connected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abstract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level,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integrating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global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across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pattern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  <a:p>
            <a:pPr algn="just" marL="227329">
              <a:lnSpc>
                <a:spcPct val="100000"/>
              </a:lnSpc>
              <a:spcBef>
                <a:spcPts val="145"/>
              </a:spcBef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performs</a:t>
            </a:r>
            <a:r>
              <a:rPr dirty="0" baseline="35353" sz="825" spc="-15">
                <a:latin typeface="Calibri"/>
                <a:cs typeface="Calibri"/>
                <a:hlinkClick r:id="rId3" action="ppaction://hlinksldjump"/>
              </a:rPr>
              <a:t>11</a:t>
            </a:r>
            <a:r>
              <a:rPr dirty="0" sz="850" spc="-1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9514" y="3068777"/>
            <a:ext cx="4401185" cy="100266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23495" rIns="0" bIns="0" rtlCol="0" vert="horz">
            <a:spAutoFit/>
          </a:bodyPr>
          <a:lstStyle/>
          <a:p>
            <a:pPr marL="259079" marR="3347085" indent="-213360">
              <a:lnSpc>
                <a:spcPct val="107900"/>
              </a:lnSpc>
              <a:spcBef>
                <a:spcPts val="18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 ConvPoolLayer(</a:t>
            </a:r>
            <a:endParaRPr sz="700">
              <a:latin typeface="Calibri"/>
              <a:cs typeface="Calibri"/>
            </a:endParaRPr>
          </a:p>
          <a:p>
            <a:pPr marL="365125">
              <a:lnSpc>
                <a:spcPct val="100000"/>
              </a:lnSpc>
              <a:spcBef>
                <a:spcPts val="65"/>
              </a:spcBef>
            </a:pPr>
            <a:r>
              <a:rPr dirty="0" sz="700" spc="70">
                <a:latin typeface="Calibri"/>
                <a:cs typeface="Calibri"/>
              </a:rPr>
              <a:t>image_shape=(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28,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28),</a:t>
            </a:r>
            <a:endParaRPr sz="700">
              <a:latin typeface="Calibri"/>
              <a:cs typeface="Calibri"/>
            </a:endParaRPr>
          </a:p>
          <a:p>
            <a:pPr marL="365125">
              <a:lnSpc>
                <a:spcPct val="100000"/>
              </a:lnSpc>
              <a:spcBef>
                <a:spcPts val="70"/>
              </a:spcBef>
            </a:pPr>
            <a:r>
              <a:rPr dirty="0" sz="700" spc="114">
                <a:latin typeface="Calibri"/>
                <a:cs typeface="Calibri"/>
              </a:rPr>
              <a:t>filter_shape=(20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5),</a:t>
            </a:r>
            <a:endParaRPr sz="700">
              <a:latin typeface="Calibri"/>
              <a:cs typeface="Calibri"/>
            </a:endParaRPr>
          </a:p>
          <a:p>
            <a:pPr marL="259079" marR="1433195" indent="106045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poolsize=(2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2)), </a:t>
            </a:r>
            <a:r>
              <a:rPr dirty="0" sz="700" spc="90">
                <a:latin typeface="Calibri"/>
                <a:cs typeface="Calibri"/>
              </a:rPr>
              <a:t>FullyConnectedLayer(n_in=20*12*12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n_out=100), </a:t>
            </a:r>
            <a:r>
              <a:rPr dirty="0" sz="700" spc="85">
                <a:latin typeface="Calibri"/>
                <a:cs typeface="Calibri"/>
              </a:rPr>
              <a:t>SoftmaxLayer(n_in=100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n_out=10)],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mini_batch_size)</a:t>
            </a:r>
            <a:endParaRPr sz="7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6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60,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0.1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676984" y="6847878"/>
            <a:ext cx="4406265" cy="734060"/>
          </a:xfrm>
          <a:custGeom>
            <a:avLst/>
            <a:gdLst/>
            <a:ahLst/>
            <a:cxnLst/>
            <a:rect l="l" t="t" r="r" b="b"/>
            <a:pathLst>
              <a:path w="4406265" h="734059">
                <a:moveTo>
                  <a:pt x="2529" y="43014"/>
                </a:moveTo>
                <a:lnTo>
                  <a:pt x="2529" y="0"/>
                </a:lnTo>
              </a:path>
              <a:path w="4406265" h="734059">
                <a:moveTo>
                  <a:pt x="0" y="2527"/>
                </a:moveTo>
                <a:lnTo>
                  <a:pt x="43016" y="2527"/>
                </a:lnTo>
              </a:path>
              <a:path w="4406265" h="734059">
                <a:moveTo>
                  <a:pt x="43016" y="2527"/>
                </a:moveTo>
                <a:lnTo>
                  <a:pt x="4363010" y="2527"/>
                </a:lnTo>
              </a:path>
              <a:path w="4406265" h="734059">
                <a:moveTo>
                  <a:pt x="4363010" y="2527"/>
                </a:moveTo>
                <a:lnTo>
                  <a:pt x="4406025" y="2527"/>
                </a:lnTo>
              </a:path>
              <a:path w="4406265" h="734059">
                <a:moveTo>
                  <a:pt x="4403497" y="43014"/>
                </a:moveTo>
                <a:lnTo>
                  <a:pt x="4403497" y="0"/>
                </a:lnTo>
              </a:path>
              <a:path w="4406265" h="734059">
                <a:moveTo>
                  <a:pt x="2529" y="158153"/>
                </a:moveTo>
                <a:lnTo>
                  <a:pt x="2529" y="43014"/>
                </a:lnTo>
              </a:path>
              <a:path w="4406265" h="734059">
                <a:moveTo>
                  <a:pt x="4403497" y="158153"/>
                </a:moveTo>
                <a:lnTo>
                  <a:pt x="4403497" y="43014"/>
                </a:lnTo>
              </a:path>
              <a:path w="4406265" h="734059">
                <a:moveTo>
                  <a:pt x="2529" y="273291"/>
                </a:moveTo>
                <a:lnTo>
                  <a:pt x="2529" y="158153"/>
                </a:lnTo>
              </a:path>
              <a:path w="4406265" h="734059">
                <a:moveTo>
                  <a:pt x="4403497" y="273291"/>
                </a:moveTo>
                <a:lnTo>
                  <a:pt x="4403497" y="158153"/>
                </a:lnTo>
              </a:path>
              <a:path w="4406265" h="734059">
                <a:moveTo>
                  <a:pt x="2529" y="388429"/>
                </a:moveTo>
                <a:lnTo>
                  <a:pt x="2529" y="273291"/>
                </a:lnTo>
              </a:path>
              <a:path w="4406265" h="734059">
                <a:moveTo>
                  <a:pt x="4403497" y="388429"/>
                </a:moveTo>
                <a:lnTo>
                  <a:pt x="4403497" y="273291"/>
                </a:lnTo>
              </a:path>
              <a:path w="4406265" h="734059">
                <a:moveTo>
                  <a:pt x="2529" y="503567"/>
                </a:moveTo>
                <a:lnTo>
                  <a:pt x="2529" y="388429"/>
                </a:lnTo>
              </a:path>
              <a:path w="4406265" h="734059">
                <a:moveTo>
                  <a:pt x="4403497" y="503567"/>
                </a:moveTo>
                <a:lnTo>
                  <a:pt x="4403497" y="388429"/>
                </a:lnTo>
              </a:path>
              <a:path w="4406265" h="734059">
                <a:moveTo>
                  <a:pt x="2529" y="618705"/>
                </a:moveTo>
                <a:lnTo>
                  <a:pt x="2529" y="503567"/>
                </a:lnTo>
              </a:path>
              <a:path w="4406265" h="734059">
                <a:moveTo>
                  <a:pt x="4403497" y="618705"/>
                </a:moveTo>
                <a:lnTo>
                  <a:pt x="4403497" y="503567"/>
                </a:lnTo>
              </a:path>
              <a:path w="4406265" h="734059">
                <a:moveTo>
                  <a:pt x="2529" y="733844"/>
                </a:moveTo>
                <a:lnTo>
                  <a:pt x="2529" y="618705"/>
                </a:lnTo>
              </a:path>
              <a:path w="4406265" h="734059">
                <a:moveTo>
                  <a:pt x="4403497" y="733844"/>
                </a:moveTo>
                <a:lnTo>
                  <a:pt x="4403497" y="618705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720001" y="765438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669200" y="4089089"/>
            <a:ext cx="4424680" cy="39255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5720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98.78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accuracy,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considerable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improvement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previous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Indeed,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third,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improvement.</a:t>
            </a:r>
            <a:endParaRPr sz="850">
              <a:latin typeface="Calibri"/>
              <a:cs typeface="Calibri"/>
            </a:endParaRPr>
          </a:p>
          <a:p>
            <a:pPr algn="just" marL="50800" marR="45720" indent="189230">
              <a:lnSpc>
                <a:spcPct val="111000"/>
              </a:lnSpc>
              <a:spcBef>
                <a:spcPts val="35"/>
              </a:spcBef>
            </a:pP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specifying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treated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pooling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they’re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regarded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separate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r>
              <a:rPr dirty="0" sz="850" spc="30">
                <a:latin typeface="Calibri"/>
                <a:cs typeface="Calibri"/>
              </a:rPr>
              <a:t> extent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matter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taste.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network3.py</a:t>
            </a:r>
            <a:r>
              <a:rPr dirty="0" sz="90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treats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them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single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layer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because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makes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code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network3.py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little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compact.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However, </a:t>
            </a:r>
            <a:r>
              <a:rPr dirty="0" sz="850" spc="30">
                <a:latin typeface="Calibri"/>
                <a:cs typeface="Calibri"/>
              </a:rPr>
              <a:t>it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modify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network3.py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specified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separately,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desired.</a:t>
            </a:r>
            <a:endParaRPr sz="85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14"/>
              </a:spcBef>
            </a:pPr>
            <a:r>
              <a:rPr dirty="0" sz="1050" spc="45" b="1">
                <a:latin typeface="Calibri"/>
                <a:cs typeface="Calibri"/>
              </a:rPr>
              <a:t>Exercise</a:t>
            </a:r>
            <a:endParaRPr sz="1050">
              <a:latin typeface="Calibri"/>
              <a:cs typeface="Calibri"/>
            </a:endParaRPr>
          </a:p>
          <a:p>
            <a:pPr algn="just" marL="367030" marR="45720" indent="-118745">
              <a:lnSpc>
                <a:spcPts val="1170"/>
              </a:lnSpc>
              <a:spcBef>
                <a:spcPts val="20"/>
              </a:spcBef>
              <a:buFont typeface="Cambria"/>
              <a:buChar char="•"/>
              <a:tabLst>
                <a:tab pos="367030" algn="l"/>
              </a:tabLst>
            </a:pP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omit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fully-connected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convolutional-pooling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layer?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inclusion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fully-connected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help?</a:t>
            </a:r>
            <a:endParaRPr sz="850">
              <a:latin typeface="Calibri"/>
              <a:cs typeface="Calibri"/>
            </a:endParaRPr>
          </a:p>
          <a:p>
            <a:pPr algn="just" marL="45085">
              <a:lnSpc>
                <a:spcPct val="100000"/>
              </a:lnSpc>
              <a:spcBef>
                <a:spcPts val="75"/>
              </a:spcBef>
            </a:pP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98.78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accuracy?</a:t>
            </a:r>
            <a:endParaRPr sz="850">
              <a:latin typeface="Calibri"/>
              <a:cs typeface="Calibri"/>
            </a:endParaRPr>
          </a:p>
          <a:p>
            <a:pPr algn="just" marL="43815" marR="45720" indent="19621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inserting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convolutional-pooling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insertion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between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existing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convolutional-pooling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fully-connected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pool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regions.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hyper-parameters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before: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05"/>
              </a:spcBef>
            </a:pPr>
            <a:endParaRPr sz="850">
              <a:latin typeface="Calibri"/>
              <a:cs typeface="Calibri"/>
            </a:endParaRPr>
          </a:p>
          <a:p>
            <a:pPr marL="269240" marR="3360420" indent="-213360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 ConvPoolLayer(</a:t>
            </a:r>
            <a:endParaRPr sz="700">
              <a:latin typeface="Calibri"/>
              <a:cs typeface="Calibri"/>
            </a:endParaRPr>
          </a:p>
          <a:p>
            <a:pPr marL="375285">
              <a:lnSpc>
                <a:spcPct val="100000"/>
              </a:lnSpc>
              <a:spcBef>
                <a:spcPts val="65"/>
              </a:spcBef>
            </a:pPr>
            <a:r>
              <a:rPr dirty="0" sz="700" spc="70">
                <a:latin typeface="Calibri"/>
                <a:cs typeface="Calibri"/>
              </a:rPr>
              <a:t>image_shape=(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28,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28),</a:t>
            </a:r>
            <a:endParaRPr sz="700">
              <a:latin typeface="Calibri"/>
              <a:cs typeface="Calibri"/>
            </a:endParaRPr>
          </a:p>
          <a:p>
            <a:pPr marL="375285">
              <a:lnSpc>
                <a:spcPct val="100000"/>
              </a:lnSpc>
              <a:spcBef>
                <a:spcPts val="70"/>
              </a:spcBef>
            </a:pPr>
            <a:r>
              <a:rPr dirty="0" sz="700" spc="114">
                <a:latin typeface="Calibri"/>
                <a:cs typeface="Calibri"/>
              </a:rPr>
              <a:t>filter_shape=(20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5),</a:t>
            </a:r>
            <a:endParaRPr sz="700">
              <a:latin typeface="Calibri"/>
              <a:cs typeface="Calibri"/>
            </a:endParaRPr>
          </a:p>
          <a:p>
            <a:pPr marL="269240" marR="3145790" indent="105410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poolsize=(2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2)), </a:t>
            </a:r>
            <a:r>
              <a:rPr dirty="0" sz="700" spc="75">
                <a:latin typeface="Calibri"/>
                <a:cs typeface="Calibri"/>
              </a:rPr>
              <a:t>ConvPoolLayer(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95"/>
              </a:spcBef>
            </a:pPr>
            <a:endParaRPr sz="700">
              <a:latin typeface="Calibri"/>
              <a:cs typeface="Calibri"/>
            </a:endParaRPr>
          </a:p>
          <a:p>
            <a:pPr algn="just" marL="50800" marR="43180" indent="86995">
              <a:lnSpc>
                <a:spcPts val="800"/>
              </a:lnSpc>
            </a:pPr>
            <a:r>
              <a:rPr dirty="0" baseline="30303" sz="825">
                <a:latin typeface="Calibri"/>
                <a:cs typeface="Calibri"/>
              </a:rPr>
              <a:t>11</a:t>
            </a:r>
            <a:r>
              <a:rPr dirty="0" sz="750">
                <a:latin typeface="Calibri"/>
                <a:cs typeface="Calibri"/>
              </a:rPr>
              <a:t>I’ve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continued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mini-batch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size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10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here.</a:t>
            </a:r>
            <a:r>
              <a:rPr dirty="0" sz="750" spc="2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fact,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discussed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earlier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may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possible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speed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up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training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using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larger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mini-batches.</a:t>
            </a:r>
            <a:r>
              <a:rPr dirty="0" sz="750" spc="229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I’ve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continued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use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same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mini-batch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size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mostly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for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consistency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with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experiments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earlier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chapters.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10" name="object 10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5" y="0"/>
                  </a:lnTo>
                  <a:lnTo>
                    <a:pt x="0" y="509"/>
                  </a:lnTo>
                  <a:lnTo>
                    <a:pt x="0" y="469860"/>
                  </a:lnTo>
                  <a:lnTo>
                    <a:pt x="2525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0"/>
                  </a:moveTo>
                  <a:lnTo>
                    <a:pt x="2525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5" y="0"/>
                  </a:lnTo>
                  <a:lnTo>
                    <a:pt x="0" y="50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053219" y="368721"/>
            <a:ext cx="262763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432050" algn="l"/>
              </a:tabLst>
            </a:pPr>
            <a:r>
              <a:rPr dirty="0" sz="850" spc="20">
                <a:latin typeface="Calibri"/>
                <a:cs typeface="Calibri"/>
              </a:rPr>
              <a:t>6.2.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practice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179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6980" y="971994"/>
            <a:ext cx="4406265" cy="734060"/>
          </a:xfrm>
          <a:custGeom>
            <a:avLst/>
            <a:gdLst/>
            <a:ahLst/>
            <a:cxnLst/>
            <a:rect l="l" t="t" r="r" b="b"/>
            <a:pathLst>
              <a:path w="4406265" h="734060">
                <a:moveTo>
                  <a:pt x="2529" y="115138"/>
                </a:moveTo>
                <a:lnTo>
                  <a:pt x="2529" y="0"/>
                </a:lnTo>
              </a:path>
              <a:path w="4406265" h="734060">
                <a:moveTo>
                  <a:pt x="4403509" y="115138"/>
                </a:moveTo>
                <a:lnTo>
                  <a:pt x="4403509" y="0"/>
                </a:lnTo>
              </a:path>
              <a:path w="4406265" h="734060">
                <a:moveTo>
                  <a:pt x="2529" y="230276"/>
                </a:moveTo>
                <a:lnTo>
                  <a:pt x="2529" y="115138"/>
                </a:lnTo>
              </a:path>
              <a:path w="4406265" h="734060">
                <a:moveTo>
                  <a:pt x="4403509" y="230276"/>
                </a:moveTo>
                <a:lnTo>
                  <a:pt x="4403509" y="115138"/>
                </a:lnTo>
              </a:path>
              <a:path w="4406265" h="734060">
                <a:moveTo>
                  <a:pt x="2529" y="345414"/>
                </a:moveTo>
                <a:lnTo>
                  <a:pt x="2529" y="230276"/>
                </a:lnTo>
              </a:path>
              <a:path w="4406265" h="734060">
                <a:moveTo>
                  <a:pt x="4403509" y="345414"/>
                </a:moveTo>
                <a:lnTo>
                  <a:pt x="4403509" y="230276"/>
                </a:lnTo>
              </a:path>
              <a:path w="4406265" h="734060">
                <a:moveTo>
                  <a:pt x="2529" y="460552"/>
                </a:moveTo>
                <a:lnTo>
                  <a:pt x="2529" y="345414"/>
                </a:lnTo>
              </a:path>
              <a:path w="4406265" h="734060">
                <a:moveTo>
                  <a:pt x="4403509" y="460552"/>
                </a:moveTo>
                <a:lnTo>
                  <a:pt x="4403509" y="345414"/>
                </a:lnTo>
              </a:path>
              <a:path w="4406265" h="734060">
                <a:moveTo>
                  <a:pt x="2529" y="575691"/>
                </a:moveTo>
                <a:lnTo>
                  <a:pt x="2529" y="460552"/>
                </a:lnTo>
              </a:path>
              <a:path w="4406265" h="734060">
                <a:moveTo>
                  <a:pt x="4403509" y="575691"/>
                </a:moveTo>
                <a:lnTo>
                  <a:pt x="4403509" y="460552"/>
                </a:lnTo>
              </a:path>
              <a:path w="4406265" h="734060">
                <a:moveTo>
                  <a:pt x="2529" y="690829"/>
                </a:moveTo>
                <a:lnTo>
                  <a:pt x="2529" y="575691"/>
                </a:lnTo>
              </a:path>
              <a:path w="4406265" h="734060">
                <a:moveTo>
                  <a:pt x="4403509" y="690829"/>
                </a:moveTo>
                <a:lnTo>
                  <a:pt x="4403509" y="575691"/>
                </a:lnTo>
              </a:path>
              <a:path w="4406265" h="734060">
                <a:moveTo>
                  <a:pt x="2529" y="733844"/>
                </a:moveTo>
                <a:lnTo>
                  <a:pt x="2529" y="690829"/>
                </a:lnTo>
              </a:path>
              <a:path w="4406265" h="734060">
                <a:moveTo>
                  <a:pt x="0" y="731316"/>
                </a:moveTo>
                <a:lnTo>
                  <a:pt x="43016" y="731316"/>
                </a:lnTo>
              </a:path>
              <a:path w="4406265" h="734060">
                <a:moveTo>
                  <a:pt x="43016" y="731316"/>
                </a:moveTo>
                <a:lnTo>
                  <a:pt x="4363008" y="731316"/>
                </a:lnTo>
              </a:path>
              <a:path w="4406265" h="734060">
                <a:moveTo>
                  <a:pt x="4363021" y="731316"/>
                </a:moveTo>
                <a:lnTo>
                  <a:pt x="4406036" y="731316"/>
                </a:lnTo>
              </a:path>
              <a:path w="4406265" h="734060">
                <a:moveTo>
                  <a:pt x="4403509" y="733844"/>
                </a:moveTo>
                <a:lnTo>
                  <a:pt x="4403509" y="690829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42037" y="942463"/>
            <a:ext cx="4396105" cy="230568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362585">
              <a:lnSpc>
                <a:spcPct val="100000"/>
              </a:lnSpc>
              <a:spcBef>
                <a:spcPts val="165"/>
              </a:spcBef>
            </a:pPr>
            <a:r>
              <a:rPr dirty="0" sz="700" spc="70">
                <a:latin typeface="Calibri"/>
                <a:cs typeface="Calibri"/>
              </a:rPr>
              <a:t>image_shape=(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12,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12),</a:t>
            </a:r>
            <a:endParaRPr sz="700">
              <a:latin typeface="Calibri"/>
              <a:cs typeface="Calibri"/>
            </a:endParaRPr>
          </a:p>
          <a:p>
            <a:pPr marL="362585">
              <a:lnSpc>
                <a:spcPct val="100000"/>
              </a:lnSpc>
              <a:spcBef>
                <a:spcPts val="65"/>
              </a:spcBef>
            </a:pPr>
            <a:r>
              <a:rPr dirty="0" sz="700" spc="114">
                <a:latin typeface="Calibri"/>
                <a:cs typeface="Calibri"/>
              </a:rPr>
              <a:t>filter_shape=(40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20,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5),</a:t>
            </a:r>
            <a:endParaRPr sz="700">
              <a:latin typeface="Calibri"/>
              <a:cs typeface="Calibri"/>
            </a:endParaRPr>
          </a:p>
          <a:p>
            <a:pPr marL="256540" marR="1430655" indent="106045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poolsize=(2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2)),</a:t>
            </a:r>
            <a:r>
              <a:rPr dirty="0" sz="700" spc="500">
                <a:latin typeface="Calibri"/>
                <a:cs typeface="Calibri"/>
              </a:rPr>
              <a:t>  </a:t>
            </a:r>
            <a:r>
              <a:rPr dirty="0" sz="700" spc="90">
                <a:latin typeface="Calibri"/>
                <a:cs typeface="Calibri"/>
              </a:rPr>
              <a:t>FullyConnectedLayer(n_in=40*4*4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2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n_out=100), </a:t>
            </a:r>
            <a:r>
              <a:rPr dirty="0" sz="700" spc="85">
                <a:latin typeface="Calibri"/>
                <a:cs typeface="Calibri"/>
              </a:rPr>
              <a:t>SoftmaxLayer(n_in=100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n_out=10)],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mini_batch_size)</a:t>
            </a:r>
            <a:endParaRPr sz="700">
              <a:latin typeface="Calibri"/>
              <a:cs typeface="Calibri"/>
            </a:endParaRPr>
          </a:p>
          <a:p>
            <a:pPr marL="43180">
              <a:lnSpc>
                <a:spcPct val="100000"/>
              </a:lnSpc>
              <a:spcBef>
                <a:spcPts val="7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60,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0.1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5"/>
              </a:spcBef>
            </a:pPr>
            <a:endParaRPr sz="700">
              <a:latin typeface="Calibri"/>
              <a:cs typeface="Calibri"/>
            </a:endParaRPr>
          </a:p>
          <a:p>
            <a:pPr algn="just" marL="31750">
              <a:lnSpc>
                <a:spcPct val="1000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Once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improvement: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99.06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accuracy!</a:t>
            </a:r>
            <a:endParaRPr sz="850">
              <a:latin typeface="Calibri"/>
              <a:cs typeface="Calibri"/>
            </a:endParaRPr>
          </a:p>
          <a:p>
            <a:pPr algn="just" marL="37465" marR="27305" indent="189230">
              <a:lnSpc>
                <a:spcPct val="114300"/>
              </a:lnSpc>
              <a:spcBef>
                <a:spcPts val="30"/>
              </a:spcBef>
            </a:pP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natural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is: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even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convolutional-pooling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layer?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second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convolutional-pooling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12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40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12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“images”,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“pixels”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represent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presence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absence)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localized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original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version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version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abstracted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condensed,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spatial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convolutional-pooling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layer.</a:t>
            </a:r>
            <a:endParaRPr sz="850">
              <a:latin typeface="Calibri"/>
              <a:cs typeface="Calibri"/>
            </a:endParaRPr>
          </a:p>
          <a:p>
            <a:pPr algn="just" marL="37465" marR="29845" indent="189230">
              <a:lnSpc>
                <a:spcPct val="114300"/>
              </a:lnSpc>
              <a:spcBef>
                <a:spcPts val="35"/>
              </a:spcBef>
            </a:pP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satisfying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previous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involves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separate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12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12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7296" y="3222530"/>
            <a:ext cx="4349115" cy="617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convolutional-pooling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204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got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separate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convolutional-pooling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first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convolutional-pooling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convolutional-pooling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respond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multiple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images?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allow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079996" y="7214248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991096" y="3814693"/>
            <a:ext cx="4500245" cy="41998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88900" marR="83185">
              <a:lnSpc>
                <a:spcPct val="114300"/>
              </a:lnSpc>
              <a:spcBef>
                <a:spcPts val="95"/>
              </a:spcBef>
            </a:pP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input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local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receptive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field.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informally: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feature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detectors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convolutional-pooling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access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previous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local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receptive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field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12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  <a:spcBef>
                <a:spcPts val="150"/>
              </a:spcBef>
            </a:pP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  <a:p>
            <a:pPr algn="just" marL="400685" marR="55880" indent="-114935">
              <a:lnSpc>
                <a:spcPts val="1170"/>
              </a:lnSpc>
              <a:spcBef>
                <a:spcPts val="55"/>
              </a:spcBef>
              <a:buFont typeface="Cambria"/>
              <a:buChar char="•"/>
              <a:tabLst>
                <a:tab pos="400685" algn="l"/>
                <a:tab pos="403860" algn="l"/>
              </a:tabLst>
            </a:pP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55" b="1">
                <a:latin typeface="Calibri"/>
                <a:cs typeface="Calibri"/>
              </a:rPr>
              <a:t>Using</a:t>
            </a:r>
            <a:r>
              <a:rPr dirty="0" sz="850" spc="9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</a:t>
            </a:r>
            <a:r>
              <a:rPr dirty="0" sz="850" spc="9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tanh</a:t>
            </a:r>
            <a:r>
              <a:rPr dirty="0" sz="850" spc="8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activation</a:t>
            </a:r>
            <a:r>
              <a:rPr dirty="0" sz="850" spc="9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function</a:t>
            </a:r>
            <a:r>
              <a:rPr dirty="0" sz="850" spc="75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Several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times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mentioned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sigmoid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4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never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suggestions,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already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making </a:t>
            </a:r>
            <a:r>
              <a:rPr dirty="0" sz="850" spc="10">
                <a:latin typeface="Calibri"/>
                <a:cs typeface="Calibri"/>
              </a:rPr>
              <a:t>plenty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progress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tanh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185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fully-connected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13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60.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your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perform?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continue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60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epochs?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plotting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per-</a:t>
            </a:r>
            <a:r>
              <a:rPr dirty="0" sz="850" spc="-10">
                <a:latin typeface="Calibri"/>
                <a:cs typeface="Calibri"/>
              </a:rPr>
              <a:t>epoch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accuracies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tanh-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sigmoid-based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60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little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faster,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accuracies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faster?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Can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perhaps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rescaling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14</a:t>
            </a:r>
            <a:r>
              <a:rPr dirty="0" sz="850" spc="10">
                <a:latin typeface="Calibri"/>
                <a:cs typeface="Calibri"/>
              </a:rPr>
              <a:t>?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half-dozen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iterations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searching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superior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Note: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This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is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an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open-</a:t>
            </a:r>
            <a:r>
              <a:rPr dirty="0" sz="850" i="1">
                <a:latin typeface="Calibri"/>
                <a:cs typeface="Calibri"/>
              </a:rPr>
              <a:t>ended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problem.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Personally,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I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did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not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find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much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advantage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in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switching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to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tanh,</a:t>
            </a:r>
            <a:r>
              <a:rPr dirty="0" sz="850" spc="16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although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I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haven’t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experimented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exhaustively,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and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perhaps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you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may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find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way.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In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any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case,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in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moment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we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will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find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an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advantage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in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switching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to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the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rectified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linear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activation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function,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and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so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we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won’t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go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any</a:t>
            </a:r>
            <a:endParaRPr sz="850">
              <a:latin typeface="Calibri"/>
              <a:cs typeface="Calibri"/>
            </a:endParaRPr>
          </a:p>
          <a:p>
            <a:pPr algn="just" marL="88900" marR="58419" indent="86995">
              <a:lnSpc>
                <a:spcPts val="800"/>
              </a:lnSpc>
              <a:spcBef>
                <a:spcPts val="994"/>
              </a:spcBef>
            </a:pPr>
            <a:r>
              <a:rPr dirty="0" baseline="30303" sz="825" spc="75">
                <a:latin typeface="Calibri"/>
                <a:cs typeface="Calibri"/>
              </a:rPr>
              <a:t>12</a:t>
            </a:r>
            <a:r>
              <a:rPr dirty="0" sz="750" spc="50">
                <a:latin typeface="Calibri"/>
                <a:cs typeface="Calibri"/>
              </a:rPr>
              <a:t>This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issue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would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have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arisen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first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layer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if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input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images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were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color.</a:t>
            </a:r>
            <a:r>
              <a:rPr dirty="0" sz="750" spc="250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In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case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we’d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have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3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input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features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each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pixel,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corresponding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red,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green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blue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channels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input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image.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we’d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allow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feature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detectors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have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access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all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color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information,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but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only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within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given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local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receptive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field.</a:t>
            </a:r>
            <a:endParaRPr sz="750">
              <a:latin typeface="Calibri"/>
              <a:cs typeface="Calibri"/>
            </a:endParaRPr>
          </a:p>
          <a:p>
            <a:pPr algn="just" marL="175895">
              <a:lnSpc>
                <a:spcPts val="844"/>
              </a:lnSpc>
            </a:pPr>
            <a:r>
              <a:rPr dirty="0" baseline="30303" sz="825" spc="30">
                <a:latin typeface="Calibri"/>
                <a:cs typeface="Calibri"/>
              </a:rPr>
              <a:t>13</a:t>
            </a:r>
            <a:r>
              <a:rPr dirty="0" sz="750" spc="20">
                <a:latin typeface="Calibri"/>
                <a:cs typeface="Calibri"/>
              </a:rPr>
              <a:t>Note</a:t>
            </a:r>
            <a:r>
              <a:rPr dirty="0" sz="750" spc="3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that</a:t>
            </a:r>
            <a:r>
              <a:rPr dirty="0" sz="750" spc="3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you</a:t>
            </a:r>
            <a:r>
              <a:rPr dirty="0" sz="750" spc="3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can</a:t>
            </a:r>
            <a:r>
              <a:rPr dirty="0" sz="750" spc="3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pass</a:t>
            </a:r>
            <a:r>
              <a:rPr dirty="0" sz="750" spc="325">
                <a:latin typeface="Calibri"/>
                <a:cs typeface="Calibri"/>
              </a:rPr>
              <a:t> </a:t>
            </a:r>
            <a:r>
              <a:rPr dirty="0" sz="800" spc="70">
                <a:latin typeface="Calibri"/>
                <a:cs typeface="Calibri"/>
              </a:rPr>
              <a:t>activation_fn=tanh</a:t>
            </a:r>
            <a:r>
              <a:rPr dirty="0" sz="800" spc="2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as</a:t>
            </a:r>
            <a:r>
              <a:rPr dirty="0" sz="750" spc="3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32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parameter</a:t>
            </a:r>
            <a:r>
              <a:rPr dirty="0" sz="750" spc="32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33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325">
                <a:latin typeface="Calibri"/>
                <a:cs typeface="Calibri"/>
              </a:rPr>
              <a:t> </a:t>
            </a:r>
            <a:r>
              <a:rPr dirty="0" sz="800" spc="20">
                <a:latin typeface="Calibri"/>
                <a:cs typeface="Calibri"/>
              </a:rPr>
              <a:t>ConvPoolLayer</a:t>
            </a:r>
            <a:r>
              <a:rPr dirty="0" sz="800" spc="29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and</a:t>
            </a:r>
            <a:endParaRPr sz="750">
              <a:latin typeface="Calibri"/>
              <a:cs typeface="Calibri"/>
            </a:endParaRPr>
          </a:p>
          <a:p>
            <a:pPr algn="just" marL="88900">
              <a:lnSpc>
                <a:spcPts val="880"/>
              </a:lnSpc>
            </a:pPr>
            <a:r>
              <a:rPr dirty="0" sz="800" spc="55">
                <a:latin typeface="Calibri"/>
                <a:cs typeface="Calibri"/>
              </a:rPr>
              <a:t>FullyConnectedLayer</a:t>
            </a:r>
            <a:r>
              <a:rPr dirty="0" sz="800" spc="7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classes.</a:t>
            </a:r>
            <a:endParaRPr sz="750">
              <a:latin typeface="Calibri"/>
              <a:cs typeface="Calibri"/>
            </a:endParaRPr>
          </a:p>
          <a:p>
            <a:pPr algn="just" marL="175895">
              <a:lnSpc>
                <a:spcPct val="100000"/>
              </a:lnSpc>
              <a:spcBef>
                <a:spcPts val="25"/>
              </a:spcBef>
            </a:pPr>
            <a:r>
              <a:rPr dirty="0" baseline="30303" sz="825" spc="15">
                <a:latin typeface="Calibri"/>
                <a:cs typeface="Calibri"/>
              </a:rPr>
              <a:t>14</a:t>
            </a:r>
            <a:r>
              <a:rPr dirty="0" sz="750" spc="10">
                <a:latin typeface="Calibri"/>
                <a:cs typeface="Calibri"/>
              </a:rPr>
              <a:t>You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may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perhaps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find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inspiration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recalling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70" i="1">
                <a:latin typeface="Times New Roman"/>
                <a:cs typeface="Times New Roman"/>
              </a:rPr>
              <a:t>σ</a:t>
            </a:r>
            <a:r>
              <a:rPr dirty="0" sz="750" spc="70">
                <a:latin typeface="Tahoma"/>
                <a:cs typeface="Tahoma"/>
              </a:rPr>
              <a:t>(</a:t>
            </a:r>
            <a:r>
              <a:rPr dirty="0" sz="750" spc="70" i="1">
                <a:latin typeface="Calibri"/>
                <a:cs typeface="Calibri"/>
              </a:rPr>
              <a:t>z</a:t>
            </a:r>
            <a:r>
              <a:rPr dirty="0" sz="750" spc="70">
                <a:latin typeface="Tahoma"/>
                <a:cs typeface="Tahoma"/>
              </a:rPr>
              <a:t>)</a:t>
            </a:r>
            <a:r>
              <a:rPr dirty="0" sz="750" spc="5">
                <a:latin typeface="Tahoma"/>
                <a:cs typeface="Tahoma"/>
              </a:rPr>
              <a:t> </a:t>
            </a:r>
            <a:r>
              <a:rPr dirty="0" sz="750" spc="10">
                <a:latin typeface="Tahoma"/>
                <a:cs typeface="Tahoma"/>
              </a:rPr>
              <a:t>=</a:t>
            </a:r>
            <a:r>
              <a:rPr dirty="0" sz="750" spc="15">
                <a:latin typeface="Tahoma"/>
                <a:cs typeface="Tahoma"/>
              </a:rPr>
              <a:t> </a:t>
            </a:r>
            <a:r>
              <a:rPr dirty="0" sz="750" spc="10">
                <a:latin typeface="Tahoma"/>
                <a:cs typeface="Tahoma"/>
              </a:rPr>
              <a:t>(</a:t>
            </a:r>
            <a:r>
              <a:rPr dirty="0" sz="750" spc="10">
                <a:latin typeface="Calibri"/>
                <a:cs typeface="Calibri"/>
              </a:rPr>
              <a:t>1</a:t>
            </a:r>
            <a:r>
              <a:rPr dirty="0" sz="750" spc="20">
                <a:latin typeface="Calibri"/>
                <a:cs typeface="Calibri"/>
              </a:rPr>
              <a:t> </a:t>
            </a:r>
            <a:r>
              <a:rPr dirty="0" sz="750">
                <a:latin typeface="Tahoma"/>
                <a:cs typeface="Tahoma"/>
              </a:rPr>
              <a:t>+</a:t>
            </a:r>
            <a:r>
              <a:rPr dirty="0" sz="750" spc="-35">
                <a:latin typeface="Tahoma"/>
                <a:cs typeface="Tahoma"/>
              </a:rPr>
              <a:t> </a:t>
            </a:r>
            <a:r>
              <a:rPr dirty="0" sz="750" spc="40">
                <a:latin typeface="Calibri"/>
                <a:cs typeface="Calibri"/>
              </a:rPr>
              <a:t>tanh</a:t>
            </a:r>
            <a:r>
              <a:rPr dirty="0" sz="750" spc="40">
                <a:latin typeface="Tahoma"/>
                <a:cs typeface="Tahoma"/>
              </a:rPr>
              <a:t>(</a:t>
            </a:r>
            <a:r>
              <a:rPr dirty="0" sz="750" spc="40" i="1">
                <a:latin typeface="Calibri"/>
                <a:cs typeface="Calibri"/>
              </a:rPr>
              <a:t>z</a:t>
            </a:r>
            <a:r>
              <a:rPr dirty="0" sz="750" spc="40" i="1">
                <a:latin typeface="Times New Roman"/>
                <a:cs typeface="Times New Roman"/>
              </a:rPr>
              <a:t>/</a:t>
            </a:r>
            <a:r>
              <a:rPr dirty="0" sz="750" spc="40">
                <a:latin typeface="Calibri"/>
                <a:cs typeface="Calibri"/>
              </a:rPr>
              <a:t>2</a:t>
            </a:r>
            <a:r>
              <a:rPr dirty="0" sz="750" spc="40">
                <a:latin typeface="Tahoma"/>
                <a:cs typeface="Tahoma"/>
              </a:rPr>
              <a:t>))</a:t>
            </a:r>
            <a:r>
              <a:rPr dirty="0" sz="750" spc="40" i="1">
                <a:latin typeface="Times New Roman"/>
                <a:cs typeface="Times New Roman"/>
              </a:rPr>
              <a:t>/</a:t>
            </a:r>
            <a:r>
              <a:rPr dirty="0" sz="750" spc="40">
                <a:latin typeface="Calibri"/>
                <a:cs typeface="Calibri"/>
              </a:rPr>
              <a:t>2.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9" name="object 9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62600" y="368721"/>
            <a:ext cx="4764405" cy="20669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63500">
              <a:lnSpc>
                <a:spcPts val="525"/>
              </a:lnSpc>
              <a:spcBef>
                <a:spcPts val="110"/>
              </a:spcBef>
              <a:tabLst>
                <a:tab pos="419734" algn="l"/>
              </a:tabLst>
            </a:pPr>
            <a:r>
              <a:rPr dirty="0" sz="850" spc="25">
                <a:latin typeface="Calibri"/>
                <a:cs typeface="Calibri"/>
              </a:rPr>
              <a:t>180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3067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algn="just" marL="673100">
              <a:lnSpc>
                <a:spcPct val="100000"/>
              </a:lnSpc>
            </a:pPr>
            <a:r>
              <a:rPr dirty="0" sz="850" i="1">
                <a:latin typeface="Calibri"/>
                <a:cs typeface="Calibri"/>
              </a:rPr>
              <a:t>deeper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into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the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use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of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tanh.</a:t>
            </a:r>
            <a:endParaRPr sz="850">
              <a:latin typeface="Calibri"/>
              <a:cs typeface="Calibri"/>
            </a:endParaRPr>
          </a:p>
          <a:p>
            <a:pPr algn="just" marL="356870" marR="55880">
              <a:lnSpc>
                <a:spcPct val="114300"/>
              </a:lnSpc>
              <a:spcBef>
                <a:spcPts val="60"/>
              </a:spcBef>
            </a:pPr>
            <a:r>
              <a:rPr dirty="0" sz="850" spc="55" b="1">
                <a:latin typeface="Calibri"/>
                <a:cs typeface="Calibri"/>
              </a:rPr>
              <a:t>Using </a:t>
            </a:r>
            <a:r>
              <a:rPr dirty="0" sz="850" spc="20" b="1">
                <a:latin typeface="Calibri"/>
                <a:cs typeface="Calibri"/>
              </a:rPr>
              <a:t>rectified</a:t>
            </a:r>
            <a:r>
              <a:rPr dirty="0" sz="850" spc="6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linear</a:t>
            </a:r>
            <a:r>
              <a:rPr dirty="0" sz="850" spc="6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units:</a:t>
            </a:r>
            <a:r>
              <a:rPr dirty="0" sz="850" spc="135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point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actually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variant</a:t>
            </a:r>
            <a:r>
              <a:rPr dirty="0" sz="850" spc="20">
                <a:latin typeface="Calibri"/>
                <a:cs typeface="Calibri"/>
              </a:rPr>
              <a:t> 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seminal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1998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paper</a:t>
            </a:r>
            <a:r>
              <a:rPr dirty="0" baseline="35353" sz="825" spc="30">
                <a:latin typeface="Calibri"/>
                <a:cs typeface="Calibri"/>
                <a:hlinkClick r:id="rId2" action="ppaction://hlinksldjump"/>
              </a:rPr>
              <a:t>15</a:t>
            </a:r>
            <a:r>
              <a:rPr dirty="0" baseline="35353" sz="825" spc="307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introducing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MNIST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LeNet-5.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foundation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further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experimentation,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intuition.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attempt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results.</a:t>
            </a:r>
            <a:endParaRPr sz="850">
              <a:latin typeface="Calibri"/>
              <a:cs typeface="Calibri"/>
            </a:endParaRPr>
          </a:p>
          <a:p>
            <a:pPr algn="just" marL="356870" marR="75565" indent="189230">
              <a:lnSpc>
                <a:spcPct val="114300"/>
              </a:lnSpc>
              <a:spcBef>
                <a:spcPts val="60"/>
              </a:spcBef>
            </a:pP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beginning,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change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instead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sigmoid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rectified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units.</a:t>
            </a:r>
            <a:r>
              <a:rPr dirty="0" sz="850" spc="4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f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10">
                <a:latin typeface="Tahoma"/>
                <a:cs typeface="Tahoma"/>
              </a:rPr>
              <a:t>(</a:t>
            </a:r>
            <a:r>
              <a:rPr dirty="0" sz="850" spc="10" i="1">
                <a:latin typeface="Calibri"/>
                <a:cs typeface="Calibri"/>
              </a:rPr>
              <a:t>z</a:t>
            </a:r>
            <a:r>
              <a:rPr dirty="0" sz="850" spc="10">
                <a:latin typeface="Tahoma"/>
                <a:cs typeface="Tahoma"/>
              </a:rPr>
              <a:t>)</a:t>
            </a:r>
            <a:r>
              <a:rPr dirty="0" sz="850" spc="140">
                <a:latin typeface="Tahoma"/>
                <a:cs typeface="Tahoma"/>
              </a:rPr>
              <a:t> </a:t>
            </a:r>
            <a:r>
              <a:rPr dirty="0" sz="850" spc="-50">
                <a:latin typeface="Cambria"/>
                <a:cs typeface="Cambria"/>
              </a:rPr>
              <a:t>≡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20">
                <a:latin typeface="Calibri"/>
                <a:cs typeface="Calibri"/>
              </a:rPr>
              <a:t>max</a:t>
            </a:r>
            <a:r>
              <a:rPr dirty="0" sz="850" spc="20">
                <a:latin typeface="Tahoma"/>
                <a:cs typeface="Tahoma"/>
              </a:rPr>
              <a:t>(</a:t>
            </a:r>
            <a:r>
              <a:rPr dirty="0" sz="850" spc="20">
                <a:latin typeface="Calibri"/>
                <a:cs typeface="Calibri"/>
              </a:rPr>
              <a:t>0,</a:t>
            </a:r>
            <a:r>
              <a:rPr dirty="0" sz="850" spc="-50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z</a:t>
            </a:r>
            <a:r>
              <a:rPr dirty="0" sz="850" spc="20">
                <a:latin typeface="Tahoma"/>
                <a:cs typeface="Tahoma"/>
              </a:rPr>
              <a:t>)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60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epochs,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rate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45" i="1">
                <a:latin typeface="Times New Roman"/>
                <a:cs typeface="Times New Roman"/>
              </a:rPr>
              <a:t> </a:t>
            </a:r>
            <a:r>
              <a:rPr dirty="0" sz="850" spc="70">
                <a:latin typeface="Tahoma"/>
                <a:cs typeface="Tahoma"/>
              </a:rPr>
              <a:t>=</a:t>
            </a:r>
            <a:r>
              <a:rPr dirty="0" sz="850" spc="-10">
                <a:latin typeface="Tahoma"/>
                <a:cs typeface="Tahoma"/>
              </a:rPr>
              <a:t> </a:t>
            </a:r>
            <a:r>
              <a:rPr dirty="0" sz="850" spc="20">
                <a:latin typeface="Calibri"/>
                <a:cs typeface="Calibri"/>
              </a:rPr>
              <a:t>0.03.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found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20">
                <a:latin typeface="Calibri"/>
                <a:cs typeface="Calibri"/>
              </a:rPr>
              <a:t> helps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little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l2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parameter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90" i="1">
                <a:latin typeface="Times New Roman"/>
                <a:cs typeface="Times New Roman"/>
              </a:rPr>
              <a:t>λ</a:t>
            </a:r>
            <a:r>
              <a:rPr dirty="0" sz="850" spc="10" i="1">
                <a:latin typeface="Times New Roman"/>
                <a:cs typeface="Times New Roman"/>
              </a:rPr>
              <a:t> </a:t>
            </a:r>
            <a:r>
              <a:rPr dirty="0" sz="850" spc="60">
                <a:latin typeface="Tahoma"/>
                <a:cs typeface="Tahoma"/>
              </a:rPr>
              <a:t>=</a:t>
            </a:r>
            <a:r>
              <a:rPr dirty="0" sz="850" spc="-45">
                <a:latin typeface="Tahoma"/>
                <a:cs typeface="Tahoma"/>
              </a:rPr>
              <a:t> </a:t>
            </a:r>
            <a:r>
              <a:rPr dirty="0" sz="850" spc="-20">
                <a:latin typeface="Calibri"/>
                <a:cs typeface="Calibri"/>
              </a:rPr>
              <a:t>0.1: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9514" y="2507208"/>
            <a:ext cx="4401185" cy="146304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from</a:t>
            </a:r>
            <a:r>
              <a:rPr dirty="0" sz="700" spc="4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network3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-20">
                <a:latin typeface="Calibri"/>
                <a:cs typeface="Calibri"/>
              </a:rPr>
              <a:t>ReLU</a:t>
            </a:r>
            <a:endParaRPr sz="700">
              <a:latin typeface="Calibri"/>
              <a:cs typeface="Calibri"/>
            </a:endParaRPr>
          </a:p>
          <a:p>
            <a:pPr marL="259079" marR="3347085" indent="-213360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 ConvPoolLayer(</a:t>
            </a:r>
            <a:endParaRPr sz="700">
              <a:latin typeface="Calibri"/>
              <a:cs typeface="Calibri"/>
            </a:endParaRPr>
          </a:p>
          <a:p>
            <a:pPr marL="365125">
              <a:lnSpc>
                <a:spcPct val="100000"/>
              </a:lnSpc>
              <a:spcBef>
                <a:spcPts val="70"/>
              </a:spcBef>
            </a:pPr>
            <a:r>
              <a:rPr dirty="0" sz="700" spc="70">
                <a:latin typeface="Calibri"/>
                <a:cs typeface="Calibri"/>
              </a:rPr>
              <a:t>image_shape=(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28,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28),</a:t>
            </a:r>
            <a:endParaRPr sz="700">
              <a:latin typeface="Calibri"/>
              <a:cs typeface="Calibri"/>
            </a:endParaRPr>
          </a:p>
          <a:p>
            <a:pPr marL="259079" marR="581660" indent="106045">
              <a:lnSpc>
                <a:spcPct val="107900"/>
              </a:lnSpc>
            </a:pPr>
            <a:r>
              <a:rPr dirty="0" sz="700" spc="114">
                <a:latin typeface="Calibri"/>
                <a:cs typeface="Calibri"/>
              </a:rPr>
              <a:t>filter_shape=(20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5),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poolsize=(2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2),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activation_fn=ReLU), </a:t>
            </a:r>
            <a:r>
              <a:rPr dirty="0" sz="700" spc="75">
                <a:latin typeface="Calibri"/>
                <a:cs typeface="Calibri"/>
              </a:rPr>
              <a:t>ConvPoolLayer(</a:t>
            </a:r>
            <a:endParaRPr sz="700">
              <a:latin typeface="Calibri"/>
              <a:cs typeface="Calibri"/>
            </a:endParaRPr>
          </a:p>
          <a:p>
            <a:pPr marL="365125" marR="53975">
              <a:lnSpc>
                <a:spcPct val="107900"/>
              </a:lnSpc>
            </a:pPr>
            <a:r>
              <a:rPr dirty="0" sz="700" spc="70">
                <a:latin typeface="Calibri"/>
                <a:cs typeface="Calibri"/>
              </a:rPr>
              <a:t>image_shape=(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20,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12,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12),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filter_shape=(40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20,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5), </a:t>
            </a:r>
            <a:r>
              <a:rPr dirty="0" sz="700" spc="110">
                <a:latin typeface="Calibri"/>
                <a:cs typeface="Calibri"/>
              </a:rPr>
              <a:t>poolsize=(2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2),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activation_fn=ReLU),FullyConnectedLayer(n_in=40*4*4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45">
                <a:latin typeface="Calibri"/>
                <a:cs typeface="Calibri"/>
              </a:rPr>
              <a:t>n_out</a:t>
            </a:r>
            <a:endParaRPr sz="700">
              <a:latin typeface="Calibri"/>
              <a:cs typeface="Calibri"/>
            </a:endParaRPr>
          </a:p>
          <a:p>
            <a:pPr marL="297815">
              <a:lnSpc>
                <a:spcPct val="100000"/>
              </a:lnSpc>
              <a:spcBef>
                <a:spcPts val="65"/>
              </a:spcBef>
            </a:pPr>
            <a:r>
              <a:rPr dirty="0" sz="700" spc="30">
                <a:latin typeface="Calibri"/>
                <a:cs typeface="Calibri"/>
              </a:rPr>
              <a:t>=100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activation_fn=ReLU),</a:t>
            </a:r>
            <a:endParaRPr sz="700">
              <a:latin typeface="Calibri"/>
              <a:cs typeface="Calibri"/>
            </a:endParaRPr>
          </a:p>
          <a:p>
            <a:pPr marL="259079">
              <a:lnSpc>
                <a:spcPct val="100000"/>
              </a:lnSpc>
              <a:spcBef>
                <a:spcPts val="65"/>
              </a:spcBef>
            </a:pPr>
            <a:r>
              <a:rPr dirty="0" sz="700" spc="85">
                <a:latin typeface="Calibri"/>
                <a:cs typeface="Calibri"/>
              </a:rPr>
              <a:t>SoftmaxLayer(n_in=100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n_out=10)],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mini_batch_size)</a:t>
            </a:r>
            <a:endParaRPr sz="700">
              <a:latin typeface="Calibri"/>
              <a:cs typeface="Calibri"/>
            </a:endParaRPr>
          </a:p>
          <a:p>
            <a:pPr marL="351790" marR="51435" indent="-306070">
              <a:lnSpc>
                <a:spcPct val="107900"/>
              </a:lnSpc>
              <a:spcBef>
                <a:spcPts val="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net.SGD(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60,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0.03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test_data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70">
                <a:latin typeface="Calibri"/>
                <a:cs typeface="Calibri"/>
              </a:rPr>
              <a:t>lmbda=0.1)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720001" y="711012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69200" y="4007276"/>
            <a:ext cx="4449445" cy="40081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r" marL="50800" marR="43180">
              <a:lnSpc>
                <a:spcPct val="114700"/>
              </a:lnSpc>
              <a:spcBef>
                <a:spcPts val="90"/>
              </a:spcBef>
            </a:pP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obtained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classification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accuracy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99.23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improvement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(99.06).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across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based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rectified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units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consistently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outperformed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appears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rectified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rectified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tanh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functions?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present,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answer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Indeed,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rectified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begun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widely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years.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reason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adoption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empirical: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rectified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units,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hunches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heuristic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arguments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16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classifying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benchmark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data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sets,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spread.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world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pick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application.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present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such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world.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surprised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major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obtained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choice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expect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decades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powerful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theory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developed.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Today,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endParaRPr sz="850">
              <a:latin typeface="Calibri"/>
              <a:cs typeface="Calibri"/>
            </a:endParaRPr>
          </a:p>
          <a:p>
            <a:pPr algn="just" marL="50800">
              <a:lnSpc>
                <a:spcPct val="100000"/>
              </a:lnSpc>
              <a:spcBef>
                <a:spcPts val="150"/>
              </a:spcBef>
            </a:pPr>
            <a:r>
              <a:rPr dirty="0" sz="850">
                <a:latin typeface="Calibri"/>
                <a:cs typeface="Calibri"/>
              </a:rPr>
              <a:t>poorly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understood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thumb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experience.</a:t>
            </a:r>
            <a:endParaRPr sz="850">
              <a:latin typeface="Calibri"/>
              <a:cs typeface="Calibri"/>
            </a:endParaRPr>
          </a:p>
          <a:p>
            <a:pPr algn="just" marL="50800" marR="66040" indent="189230">
              <a:lnSpc>
                <a:spcPct val="112599"/>
              </a:lnSpc>
              <a:spcBef>
                <a:spcPts val="75"/>
              </a:spcBef>
            </a:pPr>
            <a:r>
              <a:rPr dirty="0" sz="850" spc="50">
                <a:latin typeface="Calibri"/>
                <a:cs typeface="Calibri"/>
              </a:rPr>
              <a:t>Expanding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data: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hope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20">
                <a:latin typeface="Calibri"/>
                <a:cs typeface="Calibri"/>
              </a:rPr>
              <a:t> algorithmically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expanding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expanding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displace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either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left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900" spc="-10">
                <a:latin typeface="Calibri"/>
                <a:cs typeface="Calibri"/>
              </a:rPr>
              <a:t>expand_mnist.py</a:t>
            </a:r>
            <a:r>
              <a:rPr dirty="0" sz="90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shell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prompt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17</a:t>
            </a:r>
            <a:r>
              <a:rPr dirty="0" sz="850" spc="-1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850">
              <a:latin typeface="Calibri"/>
              <a:cs typeface="Calibri"/>
            </a:endParaRPr>
          </a:p>
          <a:p>
            <a:pPr algn="just" marL="50800" marR="67310" indent="86995">
              <a:lnSpc>
                <a:spcPts val="800"/>
              </a:lnSpc>
              <a:spcBef>
                <a:spcPts val="5"/>
              </a:spcBef>
            </a:pPr>
            <a:r>
              <a:rPr dirty="0" baseline="30303" sz="825" spc="30">
                <a:latin typeface="Calibri"/>
                <a:cs typeface="Calibri"/>
              </a:rPr>
              <a:t>15</a:t>
            </a:r>
            <a:r>
              <a:rPr dirty="0" sz="750" spc="20">
                <a:latin typeface="Calibri"/>
                <a:cs typeface="Calibri"/>
                <a:hlinkClick r:id="rId3"/>
              </a:rPr>
              <a:t>Gradient-based</a:t>
            </a:r>
            <a:r>
              <a:rPr dirty="0" sz="750" spc="14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learning</a:t>
            </a:r>
            <a:r>
              <a:rPr dirty="0" sz="750" spc="14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applied</a:t>
            </a:r>
            <a:r>
              <a:rPr dirty="0" sz="750" spc="14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to</a:t>
            </a:r>
            <a:r>
              <a:rPr dirty="0" sz="750" spc="14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document</a:t>
            </a:r>
            <a:r>
              <a:rPr dirty="0" sz="750" spc="14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recognition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Yann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LeCun,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Léon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Bottou,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Yoshua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Bengio,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Patrick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Haffner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(1998).</a:t>
            </a:r>
            <a:r>
              <a:rPr dirty="0" sz="750" spc="3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There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are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many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differences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detail,</a:t>
            </a:r>
            <a:r>
              <a:rPr dirty="0" sz="750" spc="1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but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broadly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speaking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our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quite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similar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described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paper.</a:t>
            </a:r>
            <a:endParaRPr sz="750">
              <a:latin typeface="Calibri"/>
              <a:cs typeface="Calibri"/>
            </a:endParaRPr>
          </a:p>
          <a:p>
            <a:pPr algn="just" marL="50800" marR="67945" indent="86995">
              <a:lnSpc>
                <a:spcPts val="800"/>
              </a:lnSpc>
              <a:spcBef>
                <a:spcPts val="150"/>
              </a:spcBef>
            </a:pPr>
            <a:r>
              <a:rPr dirty="0" baseline="30303" sz="825" spc="89">
                <a:latin typeface="Calibri"/>
                <a:cs typeface="Calibri"/>
              </a:rPr>
              <a:t>16</a:t>
            </a:r>
            <a:r>
              <a:rPr dirty="0" sz="750" spc="60">
                <a:latin typeface="Calibri"/>
                <a:cs typeface="Calibri"/>
              </a:rPr>
              <a:t>A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common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justification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is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that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max</a:t>
            </a:r>
            <a:r>
              <a:rPr dirty="0" sz="750" spc="20">
                <a:latin typeface="Tahoma"/>
                <a:cs typeface="Tahoma"/>
              </a:rPr>
              <a:t>(</a:t>
            </a:r>
            <a:r>
              <a:rPr dirty="0" sz="750" spc="20">
                <a:latin typeface="Calibri"/>
                <a:cs typeface="Calibri"/>
              </a:rPr>
              <a:t>0,</a:t>
            </a:r>
            <a:r>
              <a:rPr dirty="0" sz="750" spc="-40">
                <a:latin typeface="Calibri"/>
                <a:cs typeface="Calibri"/>
              </a:rPr>
              <a:t> </a:t>
            </a:r>
            <a:r>
              <a:rPr dirty="0" sz="750" spc="20" i="1">
                <a:latin typeface="Calibri"/>
                <a:cs typeface="Calibri"/>
              </a:rPr>
              <a:t>z</a:t>
            </a:r>
            <a:r>
              <a:rPr dirty="0" sz="750" spc="20">
                <a:latin typeface="Tahoma"/>
                <a:cs typeface="Tahoma"/>
              </a:rPr>
              <a:t>)</a:t>
            </a:r>
            <a:r>
              <a:rPr dirty="0" sz="750" spc="70">
                <a:latin typeface="Tahoma"/>
                <a:cs typeface="Tahoma"/>
              </a:rPr>
              <a:t> </a:t>
            </a:r>
            <a:r>
              <a:rPr dirty="0" sz="750" spc="20">
                <a:latin typeface="Calibri"/>
                <a:cs typeface="Calibri"/>
              </a:rPr>
              <a:t>doesn’t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saturate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limit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large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 i="1">
                <a:latin typeface="Calibri"/>
                <a:cs typeface="Calibri"/>
              </a:rPr>
              <a:t>z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unlike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sigmoid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neurons,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helps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rectified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linear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units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continue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learning.</a:t>
            </a:r>
            <a:r>
              <a:rPr dirty="0" sz="750" spc="2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argument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fine,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far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goes,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but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it’s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hardly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detailed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justification,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more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just-so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story.</a:t>
            </a:r>
            <a:r>
              <a:rPr dirty="0" sz="750" spc="21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Note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that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discussed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problems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with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saturation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back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Chapter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2.</a:t>
            </a:r>
            <a:endParaRPr sz="750">
              <a:latin typeface="Calibri"/>
              <a:cs typeface="Calibri"/>
            </a:endParaRPr>
          </a:p>
          <a:p>
            <a:pPr algn="just" marL="137795">
              <a:lnSpc>
                <a:spcPts val="925"/>
              </a:lnSpc>
            </a:pPr>
            <a:r>
              <a:rPr dirty="0" baseline="30303" sz="825" spc="75">
                <a:latin typeface="Calibri"/>
                <a:cs typeface="Calibri"/>
              </a:rPr>
              <a:t>17</a:t>
            </a:r>
            <a:r>
              <a:rPr dirty="0" sz="750" spc="50">
                <a:latin typeface="Calibri"/>
                <a:cs typeface="Calibri"/>
              </a:rPr>
              <a:t>The </a:t>
            </a:r>
            <a:r>
              <a:rPr dirty="0" sz="750" spc="30">
                <a:latin typeface="Calibri"/>
                <a:cs typeface="Calibri"/>
              </a:rPr>
              <a:t>code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for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800" spc="30">
                <a:latin typeface="Calibri"/>
                <a:cs typeface="Calibri"/>
              </a:rPr>
              <a:t>expand_mnist.py</a:t>
            </a:r>
            <a:r>
              <a:rPr dirty="0" sz="800" spc="4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is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available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  <a:hlinkClick r:id="rId4"/>
              </a:rPr>
              <a:t>here</a:t>
            </a:r>
            <a:r>
              <a:rPr dirty="0" sz="750" spc="-10">
                <a:latin typeface="Calibri"/>
                <a:cs typeface="Calibri"/>
              </a:rPr>
              <a:t>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7" name="object 7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053219" y="368721"/>
            <a:ext cx="262763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432050" algn="l"/>
              </a:tabLst>
            </a:pPr>
            <a:r>
              <a:rPr dirty="0" sz="850" spc="20">
                <a:latin typeface="Calibri"/>
                <a:cs typeface="Calibri"/>
              </a:rPr>
              <a:t>6.2.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practice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181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9510" y="1012101"/>
            <a:ext cx="4401185" cy="19621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250"/>
              </a:spcBef>
            </a:pPr>
            <a:r>
              <a:rPr dirty="0" sz="700">
                <a:latin typeface="Calibri"/>
                <a:cs typeface="Calibri"/>
              </a:rPr>
              <a:t>$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python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expand_mnist.py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0856" y="1225582"/>
            <a:ext cx="4356100" cy="10617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635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Running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50,000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MNIST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prepares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expanded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250,000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rectified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initial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reduced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made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training</a:t>
            </a:r>
            <a:r>
              <a:rPr dirty="0" sz="850" spc="20">
                <a:latin typeface="Calibri"/>
                <a:cs typeface="Calibri"/>
              </a:rPr>
              <a:t> 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times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expanding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turned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considerably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experimentation,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eventually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back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60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39510" y="2482875"/>
            <a:ext cx="4401185" cy="203835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23495" rIns="0" bIns="0" rtlCol="0" vert="horz">
            <a:spAutoFit/>
          </a:bodyPr>
          <a:lstStyle/>
          <a:p>
            <a:pPr marL="299720" marR="636270" indent="-254000">
              <a:lnSpc>
                <a:spcPct val="107900"/>
              </a:lnSpc>
              <a:spcBef>
                <a:spcPts val="18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expanded_training_data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_,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_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network3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load_data_shared(</a:t>
            </a:r>
            <a:r>
              <a:rPr dirty="0" sz="700" spc="110">
                <a:solidFill>
                  <a:srgbClr val="007F00"/>
                </a:solidFill>
                <a:latin typeface="Calibri"/>
                <a:cs typeface="Calibri"/>
              </a:rPr>
              <a:t>"../</a:t>
            </a:r>
            <a:r>
              <a:rPr dirty="0" sz="700" spc="-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data/ </a:t>
            </a:r>
            <a:r>
              <a:rPr dirty="0" sz="700" spc="95">
                <a:solidFill>
                  <a:srgbClr val="007F00"/>
                </a:solidFill>
                <a:latin typeface="Calibri"/>
                <a:cs typeface="Calibri"/>
              </a:rPr>
              <a:t>mnist_expanded.pkl.gz"</a:t>
            </a:r>
            <a:r>
              <a:rPr dirty="0" sz="700" spc="95">
                <a:latin typeface="Calibri"/>
                <a:cs typeface="Calibri"/>
              </a:rPr>
              <a:t>)</a:t>
            </a:r>
            <a:endParaRPr sz="700">
              <a:latin typeface="Calibri"/>
              <a:cs typeface="Calibri"/>
            </a:endParaRPr>
          </a:p>
          <a:p>
            <a:pPr marL="259079" marR="3347085" indent="-213360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 ConvPoolLayer(</a:t>
            </a:r>
            <a:endParaRPr sz="700">
              <a:latin typeface="Calibri"/>
              <a:cs typeface="Calibri"/>
            </a:endParaRPr>
          </a:p>
          <a:p>
            <a:pPr marL="365125">
              <a:lnSpc>
                <a:spcPct val="100000"/>
              </a:lnSpc>
              <a:spcBef>
                <a:spcPts val="65"/>
              </a:spcBef>
            </a:pPr>
            <a:r>
              <a:rPr dirty="0" sz="700" spc="70">
                <a:latin typeface="Calibri"/>
                <a:cs typeface="Calibri"/>
              </a:rPr>
              <a:t>image_shape=(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28,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28),</a:t>
            </a:r>
            <a:endParaRPr sz="700">
              <a:latin typeface="Calibri"/>
              <a:cs typeface="Calibri"/>
            </a:endParaRPr>
          </a:p>
          <a:p>
            <a:pPr marL="365125">
              <a:lnSpc>
                <a:spcPct val="100000"/>
              </a:lnSpc>
              <a:spcBef>
                <a:spcPts val="70"/>
              </a:spcBef>
            </a:pPr>
            <a:r>
              <a:rPr dirty="0" sz="700" spc="114">
                <a:latin typeface="Calibri"/>
                <a:cs typeface="Calibri"/>
              </a:rPr>
              <a:t>filter_shape=(20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5),</a:t>
            </a:r>
            <a:endParaRPr sz="700">
              <a:latin typeface="Calibri"/>
              <a:cs typeface="Calibri"/>
            </a:endParaRPr>
          </a:p>
          <a:p>
            <a:pPr marL="365125" marR="2973070" indent="-635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poolsize=(2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2), </a:t>
            </a:r>
            <a:r>
              <a:rPr dirty="0" sz="700" spc="100">
                <a:latin typeface="Calibri"/>
                <a:cs typeface="Calibri"/>
              </a:rPr>
              <a:t>activation_fn=ReLU),</a:t>
            </a:r>
            <a:endParaRPr sz="700">
              <a:latin typeface="Calibri"/>
              <a:cs typeface="Calibri"/>
            </a:endParaRPr>
          </a:p>
          <a:p>
            <a:pPr marL="259079">
              <a:lnSpc>
                <a:spcPct val="100000"/>
              </a:lnSpc>
              <a:spcBef>
                <a:spcPts val="65"/>
              </a:spcBef>
            </a:pPr>
            <a:r>
              <a:rPr dirty="0" sz="700" spc="75">
                <a:latin typeface="Calibri"/>
                <a:cs typeface="Calibri"/>
              </a:rPr>
              <a:t>ConvPoolLayer(</a:t>
            </a:r>
            <a:endParaRPr sz="700">
              <a:latin typeface="Calibri"/>
              <a:cs typeface="Calibri"/>
            </a:endParaRPr>
          </a:p>
          <a:p>
            <a:pPr marL="365125">
              <a:lnSpc>
                <a:spcPct val="100000"/>
              </a:lnSpc>
              <a:spcBef>
                <a:spcPts val="70"/>
              </a:spcBef>
            </a:pPr>
            <a:r>
              <a:rPr dirty="0" sz="700" spc="70">
                <a:latin typeface="Calibri"/>
                <a:cs typeface="Calibri"/>
              </a:rPr>
              <a:t>image_shape=(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20,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12,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12),</a:t>
            </a:r>
            <a:endParaRPr sz="700">
              <a:latin typeface="Calibri"/>
              <a:cs typeface="Calibri"/>
            </a:endParaRPr>
          </a:p>
          <a:p>
            <a:pPr marL="365125">
              <a:lnSpc>
                <a:spcPct val="100000"/>
              </a:lnSpc>
              <a:spcBef>
                <a:spcPts val="65"/>
              </a:spcBef>
            </a:pPr>
            <a:r>
              <a:rPr dirty="0" sz="700" spc="114">
                <a:latin typeface="Calibri"/>
                <a:cs typeface="Calibri"/>
              </a:rPr>
              <a:t>filter_shape=(40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20,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5),</a:t>
            </a:r>
            <a:endParaRPr sz="700">
              <a:latin typeface="Calibri"/>
              <a:cs typeface="Calibri"/>
            </a:endParaRPr>
          </a:p>
          <a:p>
            <a:pPr marL="365125" marR="2973070" indent="-635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poolsize=(2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2), </a:t>
            </a:r>
            <a:r>
              <a:rPr dirty="0" sz="700" spc="100">
                <a:latin typeface="Calibri"/>
                <a:cs typeface="Calibri"/>
              </a:rPr>
              <a:t>activation_fn=ReLU),</a:t>
            </a:r>
            <a:endParaRPr sz="700">
              <a:latin typeface="Calibri"/>
              <a:cs typeface="Calibri"/>
            </a:endParaRPr>
          </a:p>
          <a:p>
            <a:pPr marL="259079" marR="741045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FullyConnectedLayer(n_in=40*4*4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n_out=100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activation_fn=ReLU), </a:t>
            </a:r>
            <a:r>
              <a:rPr dirty="0" sz="700" spc="85">
                <a:latin typeface="Calibri"/>
                <a:cs typeface="Calibri"/>
              </a:rPr>
              <a:t>SoftmaxLayer(n_in=100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n_out=10)],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mini_batch_size)</a:t>
            </a:r>
            <a:endParaRPr sz="700">
              <a:latin typeface="Calibri"/>
              <a:cs typeface="Calibri"/>
            </a:endParaRPr>
          </a:p>
          <a:p>
            <a:pPr marL="298450" marR="157480" indent="-253365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net.SGD(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expanded_training_data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60,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0.03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95">
                <a:latin typeface="Calibri"/>
                <a:cs typeface="Calibri"/>
              </a:rPr>
              <a:t>test_data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lmbda=0.1)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079996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997356" y="4538580"/>
            <a:ext cx="4503420" cy="34759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68580" indent="635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expanded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99.37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almost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trivial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substantial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accuracy.</a:t>
            </a:r>
            <a:r>
              <a:rPr dirty="0" sz="850" spc="165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algorithmically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remind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flavour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discussion: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2003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Simard,</a:t>
            </a:r>
            <a:r>
              <a:rPr dirty="0" sz="850" spc="20">
                <a:latin typeface="Calibri"/>
                <a:cs typeface="Calibri"/>
              </a:rPr>
              <a:t> Steinkraus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Platt</a:t>
            </a:r>
            <a:r>
              <a:rPr dirty="0" baseline="35353" sz="825" spc="30">
                <a:latin typeface="Calibri"/>
                <a:cs typeface="Calibri"/>
                <a:hlinkClick r:id="rId2" action="ppaction://hlinksldjump"/>
              </a:rPr>
              <a:t>18</a:t>
            </a:r>
            <a:r>
              <a:rPr dirty="0" baseline="35353" sz="825" spc="352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their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performance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99.6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otherwise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ours,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convolutional-pooling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followed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fully-connected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100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differences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didn’t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advantage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rectified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–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rotating,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translating,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skewing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process</a:t>
            </a:r>
            <a:r>
              <a:rPr dirty="0" sz="850" spc="20">
                <a:latin typeface="Calibri"/>
                <a:cs typeface="Calibri"/>
              </a:rPr>
              <a:t> 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“elastic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distortion”,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emulating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random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oscillations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muscles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undergo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person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writing.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combining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processes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substantially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effective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99.6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accuracy.</a:t>
            </a:r>
            <a:endParaRPr sz="850">
              <a:latin typeface="Calibri"/>
              <a:cs typeface="Calibri"/>
            </a:endParaRPr>
          </a:p>
          <a:p>
            <a:pPr marL="82550">
              <a:lnSpc>
                <a:spcPct val="100000"/>
              </a:lnSpc>
              <a:spcBef>
                <a:spcPts val="120"/>
              </a:spcBef>
            </a:pPr>
            <a:r>
              <a:rPr dirty="0" sz="1050" spc="40" b="1">
                <a:latin typeface="Calibri"/>
                <a:cs typeface="Calibri"/>
              </a:rPr>
              <a:t>Problem</a:t>
            </a:r>
            <a:endParaRPr sz="1050">
              <a:latin typeface="Calibri"/>
              <a:cs typeface="Calibri"/>
            </a:endParaRPr>
          </a:p>
          <a:p>
            <a:pPr algn="just" marL="398780" marR="90170" indent="-118745">
              <a:lnSpc>
                <a:spcPts val="1170"/>
              </a:lnSpc>
              <a:spcBef>
                <a:spcPts val="20"/>
              </a:spcBef>
              <a:buFont typeface="Cambria"/>
              <a:buChar char="•"/>
              <a:tabLst>
                <a:tab pos="398780" algn="l"/>
              </a:tabLst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invariant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across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surprising,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translate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reasonable?</a:t>
            </a:r>
            <a:endParaRPr sz="850">
              <a:latin typeface="Calibri"/>
              <a:cs typeface="Calibri"/>
            </a:endParaRPr>
          </a:p>
          <a:p>
            <a:pPr algn="just" marL="82550">
              <a:lnSpc>
                <a:spcPct val="100000"/>
              </a:lnSpc>
              <a:spcBef>
                <a:spcPts val="70"/>
              </a:spcBef>
            </a:pPr>
            <a:r>
              <a:rPr dirty="0" sz="850" spc="50" b="1">
                <a:latin typeface="Calibri"/>
                <a:cs typeface="Calibri"/>
              </a:rPr>
              <a:t>Inserting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an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extra</a:t>
            </a:r>
            <a:r>
              <a:rPr dirty="0" sz="850" spc="16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fully-connected</a:t>
            </a:r>
            <a:r>
              <a:rPr dirty="0" sz="850" spc="16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layer:</a:t>
            </a:r>
            <a:r>
              <a:rPr dirty="0" sz="850" spc="26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better?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possibility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use</a:t>
            </a:r>
            <a:endParaRPr sz="850">
              <a:latin typeface="Calibri"/>
              <a:cs typeface="Calibri"/>
            </a:endParaRPr>
          </a:p>
          <a:p>
            <a:pPr algn="just" marL="77470" marR="65405" indent="4445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exactly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procedure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fully-connected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I </a:t>
            </a:r>
            <a:r>
              <a:rPr dirty="0" sz="850">
                <a:latin typeface="Calibri"/>
                <a:cs typeface="Calibri"/>
              </a:rPr>
              <a:t>tried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300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1,000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99.46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99.43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respectively.</a:t>
            </a:r>
            <a:r>
              <a:rPr dirty="0" sz="850" spc="20">
                <a:latin typeface="Calibri"/>
                <a:cs typeface="Calibri"/>
              </a:rPr>
              <a:t> That’s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interesting,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convincing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(99.37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percent)</a:t>
            </a:r>
            <a:endParaRPr sz="850">
              <a:latin typeface="Calibri"/>
              <a:cs typeface="Calibri"/>
            </a:endParaRPr>
          </a:p>
          <a:p>
            <a:pPr marL="82550" marR="92710" indent="86995">
              <a:lnSpc>
                <a:spcPts val="800"/>
              </a:lnSpc>
              <a:spcBef>
                <a:spcPts val="930"/>
              </a:spcBef>
            </a:pPr>
            <a:r>
              <a:rPr dirty="0" baseline="30303" sz="825" spc="30">
                <a:latin typeface="Calibri"/>
                <a:cs typeface="Calibri"/>
              </a:rPr>
              <a:t>18</a:t>
            </a:r>
            <a:r>
              <a:rPr dirty="0" sz="750" spc="20">
                <a:latin typeface="Calibri"/>
                <a:cs typeface="Calibri"/>
                <a:hlinkClick r:id="rId3"/>
              </a:rPr>
              <a:t>Best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Practices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for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Convolutional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Neural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Networks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Applied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to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Visual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Document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Analysis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Patrice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Simard,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Dave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Steinkraus,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John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Platt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(2003).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9" name="object 9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65980" cy="8667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182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marL="306070" marR="5080" indent="18923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fully-connected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layer?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inserting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fully-</a:t>
            </a:r>
            <a:r>
              <a:rPr dirty="0" sz="850">
                <a:latin typeface="Calibri"/>
                <a:cs typeface="Calibri"/>
              </a:rPr>
              <a:t>connected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100-hidden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fully-connected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9514" y="1447266"/>
            <a:ext cx="4401185" cy="169291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23495" rIns="0" bIns="0" rtlCol="0" vert="horz">
            <a:spAutoFit/>
          </a:bodyPr>
          <a:lstStyle/>
          <a:p>
            <a:pPr marL="259079" marR="1219200" indent="-213360">
              <a:lnSpc>
                <a:spcPct val="107900"/>
              </a:lnSpc>
              <a:spcBef>
                <a:spcPts val="18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</a:t>
            </a:r>
            <a:r>
              <a:rPr dirty="0" sz="700" spc="500">
                <a:latin typeface="Calibri"/>
                <a:cs typeface="Calibri"/>
              </a:rPr>
              <a:t>                  </a:t>
            </a:r>
            <a:r>
              <a:rPr dirty="0" sz="700" spc="85">
                <a:latin typeface="Calibri"/>
                <a:cs typeface="Calibri"/>
              </a:rPr>
              <a:t>ConvPoolLayer(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image_shape=(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28,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28),</a:t>
            </a:r>
            <a:endParaRPr sz="700">
              <a:latin typeface="Calibri"/>
              <a:cs typeface="Calibri"/>
            </a:endParaRPr>
          </a:p>
          <a:p>
            <a:pPr marL="577850">
              <a:lnSpc>
                <a:spcPct val="100000"/>
              </a:lnSpc>
              <a:spcBef>
                <a:spcPts val="65"/>
              </a:spcBef>
            </a:pPr>
            <a:r>
              <a:rPr dirty="0" sz="700" spc="114">
                <a:latin typeface="Calibri"/>
                <a:cs typeface="Calibri"/>
              </a:rPr>
              <a:t>filter_shape=(20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5),</a:t>
            </a:r>
            <a:endParaRPr sz="700">
              <a:latin typeface="Calibri"/>
              <a:cs typeface="Calibri"/>
            </a:endParaRPr>
          </a:p>
          <a:p>
            <a:pPr marL="577850" marR="2760345" indent="-635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poolsize=(2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2), </a:t>
            </a:r>
            <a:r>
              <a:rPr dirty="0" sz="700" spc="100">
                <a:latin typeface="Calibri"/>
                <a:cs typeface="Calibri"/>
              </a:rPr>
              <a:t>activation_fn=ReLU),</a:t>
            </a:r>
            <a:endParaRPr sz="700">
              <a:latin typeface="Calibri"/>
              <a:cs typeface="Calibri"/>
            </a:endParaRPr>
          </a:p>
          <a:p>
            <a:pPr marL="259079">
              <a:lnSpc>
                <a:spcPct val="100000"/>
              </a:lnSpc>
              <a:spcBef>
                <a:spcPts val="70"/>
              </a:spcBef>
            </a:pPr>
            <a:r>
              <a:rPr dirty="0" sz="700" spc="85">
                <a:latin typeface="Calibri"/>
                <a:cs typeface="Calibri"/>
              </a:rPr>
              <a:t>ConvPoolLayer(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image_shape=(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20,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12,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12),</a:t>
            </a:r>
            <a:endParaRPr sz="700">
              <a:latin typeface="Calibri"/>
              <a:cs typeface="Calibri"/>
            </a:endParaRPr>
          </a:p>
          <a:p>
            <a:pPr marL="577850">
              <a:lnSpc>
                <a:spcPct val="100000"/>
              </a:lnSpc>
              <a:spcBef>
                <a:spcPts val="65"/>
              </a:spcBef>
            </a:pPr>
            <a:r>
              <a:rPr dirty="0" sz="700" spc="114">
                <a:latin typeface="Calibri"/>
                <a:cs typeface="Calibri"/>
              </a:rPr>
              <a:t>filter_shape=(40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20,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5),</a:t>
            </a:r>
            <a:endParaRPr sz="700">
              <a:latin typeface="Calibri"/>
              <a:cs typeface="Calibri"/>
            </a:endParaRPr>
          </a:p>
          <a:p>
            <a:pPr marL="577850" marR="2760345" indent="-635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poolsize=(2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2), </a:t>
            </a:r>
            <a:r>
              <a:rPr dirty="0" sz="700" spc="100">
                <a:latin typeface="Calibri"/>
                <a:cs typeface="Calibri"/>
              </a:rPr>
              <a:t>activation_fn=ReLU),</a:t>
            </a:r>
            <a:endParaRPr sz="700">
              <a:latin typeface="Calibri"/>
              <a:cs typeface="Calibri"/>
            </a:endParaRPr>
          </a:p>
          <a:p>
            <a:pPr marL="259079" marR="741045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FullyConnectedLayer(n_in=40*4*4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n_out=100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activation_fn=ReLU), </a:t>
            </a:r>
            <a:r>
              <a:rPr dirty="0" sz="700" spc="95">
                <a:latin typeface="Calibri"/>
                <a:cs typeface="Calibri"/>
              </a:rPr>
              <a:t>FullyConnectedLayer(n_in=100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n_out=100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activation_fn=ReLU), </a:t>
            </a:r>
            <a:r>
              <a:rPr dirty="0" sz="700" spc="85">
                <a:latin typeface="Calibri"/>
                <a:cs typeface="Calibri"/>
              </a:rPr>
              <a:t>SoftmaxLayer(n_in=100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n_out=10)],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mini_batch_size)</a:t>
            </a:r>
            <a:endParaRPr sz="700">
              <a:latin typeface="Calibri"/>
              <a:cs typeface="Calibri"/>
            </a:endParaRPr>
          </a:p>
          <a:p>
            <a:pPr marL="298450" marR="157480" indent="-253365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net.SGD(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expanded_training_data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60,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0.03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1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95">
                <a:latin typeface="Calibri"/>
                <a:cs typeface="Calibri"/>
              </a:rPr>
              <a:t>test_data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lmbda=0.1)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0852" y="3167002"/>
            <a:ext cx="4356100" cy="1952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889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99.43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Again,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expanded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helping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fully-connected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300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1,000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yields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99.48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99.47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encouraging,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falls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short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decisive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win.</a:t>
            </a:r>
            <a:endParaRPr sz="850">
              <a:latin typeface="Calibri"/>
              <a:cs typeface="Calibri"/>
            </a:endParaRPr>
          </a:p>
          <a:p>
            <a:pPr algn="just" marL="12700" marR="5080" indent="196215">
              <a:lnSpc>
                <a:spcPct val="114300"/>
              </a:lnSpc>
              <a:spcBef>
                <a:spcPts val="20"/>
              </a:spcBef>
            </a:pP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here?</a:t>
            </a:r>
            <a:r>
              <a:rPr dirty="0" sz="850" spc="43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expanded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fully-connected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MNIST?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capacity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way?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maybe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stronger</a:t>
            </a:r>
            <a:r>
              <a:rPr dirty="0" sz="850" spc="20">
                <a:latin typeface="Calibri"/>
                <a:cs typeface="Calibri"/>
              </a:rPr>
              <a:t> regularization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techniques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reduce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tendency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overfit.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possibility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dropout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introduced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3.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remove</a:t>
            </a:r>
            <a:r>
              <a:rPr dirty="0" sz="850" spc="30">
                <a:latin typeface="Calibri"/>
                <a:cs typeface="Calibri"/>
              </a:rPr>
              <a:t> individual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activations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random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while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training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network.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makes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model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20">
                <a:latin typeface="Calibri"/>
                <a:cs typeface="Calibri"/>
              </a:rPr>
              <a:t> robust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loss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individual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pieces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evidence,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thus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less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particular</a:t>
            </a:r>
            <a:r>
              <a:rPr dirty="0" sz="850" spc="20">
                <a:latin typeface="Calibri"/>
                <a:cs typeface="Calibri"/>
              </a:rPr>
              <a:t> idiosyncracies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applying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dropout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fully-</a:t>
            </a:r>
            <a:r>
              <a:rPr dirty="0" sz="850" spc="-10">
                <a:latin typeface="Calibri"/>
                <a:cs typeface="Calibri"/>
              </a:rPr>
              <a:t>connected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9514" y="5331434"/>
            <a:ext cx="4401185" cy="203835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23495" rIns="0" bIns="0" rtlCol="0" vert="horz">
            <a:spAutoFit/>
          </a:bodyPr>
          <a:lstStyle/>
          <a:p>
            <a:pPr marL="259079" marR="1219200" indent="-213360">
              <a:lnSpc>
                <a:spcPct val="107900"/>
              </a:lnSpc>
              <a:spcBef>
                <a:spcPts val="185"/>
              </a:spcBef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net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Network([</a:t>
            </a:r>
            <a:r>
              <a:rPr dirty="0" sz="700" spc="500">
                <a:latin typeface="Calibri"/>
                <a:cs typeface="Calibri"/>
              </a:rPr>
              <a:t>                  </a:t>
            </a:r>
            <a:r>
              <a:rPr dirty="0" sz="700" spc="85">
                <a:latin typeface="Calibri"/>
                <a:cs typeface="Calibri"/>
              </a:rPr>
              <a:t>ConvPoolLayer(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image_shape=(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28,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28),</a:t>
            </a:r>
            <a:endParaRPr sz="700">
              <a:latin typeface="Calibri"/>
              <a:cs typeface="Calibri"/>
            </a:endParaRPr>
          </a:p>
          <a:p>
            <a:pPr marL="577850">
              <a:lnSpc>
                <a:spcPct val="100000"/>
              </a:lnSpc>
              <a:spcBef>
                <a:spcPts val="65"/>
              </a:spcBef>
            </a:pPr>
            <a:r>
              <a:rPr dirty="0" sz="700" spc="114">
                <a:latin typeface="Calibri"/>
                <a:cs typeface="Calibri"/>
              </a:rPr>
              <a:t>filter_shape=(20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1,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5),</a:t>
            </a:r>
            <a:endParaRPr sz="700">
              <a:latin typeface="Calibri"/>
              <a:cs typeface="Calibri"/>
            </a:endParaRPr>
          </a:p>
          <a:p>
            <a:pPr marL="577850" marR="2760345" indent="-635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poolsize=(2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2), </a:t>
            </a:r>
            <a:r>
              <a:rPr dirty="0" sz="700" spc="100">
                <a:latin typeface="Calibri"/>
                <a:cs typeface="Calibri"/>
              </a:rPr>
              <a:t>activation_fn=ReLU),</a:t>
            </a:r>
            <a:endParaRPr sz="700">
              <a:latin typeface="Calibri"/>
              <a:cs typeface="Calibri"/>
            </a:endParaRPr>
          </a:p>
          <a:p>
            <a:pPr marL="259079">
              <a:lnSpc>
                <a:spcPct val="100000"/>
              </a:lnSpc>
              <a:spcBef>
                <a:spcPts val="70"/>
              </a:spcBef>
            </a:pPr>
            <a:r>
              <a:rPr dirty="0" sz="700" spc="85">
                <a:latin typeface="Calibri"/>
                <a:cs typeface="Calibri"/>
              </a:rPr>
              <a:t>ConvPoolLayer(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image_shape=(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20,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12,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12),</a:t>
            </a:r>
            <a:endParaRPr sz="700">
              <a:latin typeface="Calibri"/>
              <a:cs typeface="Calibri"/>
            </a:endParaRPr>
          </a:p>
          <a:p>
            <a:pPr marL="577850">
              <a:lnSpc>
                <a:spcPct val="100000"/>
              </a:lnSpc>
              <a:spcBef>
                <a:spcPts val="65"/>
              </a:spcBef>
            </a:pPr>
            <a:r>
              <a:rPr dirty="0" sz="700" spc="114">
                <a:latin typeface="Calibri"/>
                <a:cs typeface="Calibri"/>
              </a:rPr>
              <a:t>filter_shape=(40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20,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5,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5),</a:t>
            </a:r>
            <a:endParaRPr sz="700">
              <a:latin typeface="Calibri"/>
              <a:cs typeface="Calibri"/>
            </a:endParaRPr>
          </a:p>
          <a:p>
            <a:pPr marL="577850" marR="2760345" indent="-635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poolsize=(2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2), </a:t>
            </a:r>
            <a:r>
              <a:rPr dirty="0" sz="700" spc="100">
                <a:latin typeface="Calibri"/>
                <a:cs typeface="Calibri"/>
              </a:rPr>
              <a:t>activation_fn=ReLU),</a:t>
            </a:r>
            <a:endParaRPr sz="700">
              <a:latin typeface="Calibri"/>
              <a:cs typeface="Calibri"/>
            </a:endParaRPr>
          </a:p>
          <a:p>
            <a:pPr marL="259079">
              <a:lnSpc>
                <a:spcPct val="100000"/>
              </a:lnSpc>
              <a:spcBef>
                <a:spcPts val="65"/>
              </a:spcBef>
            </a:pPr>
            <a:r>
              <a:rPr dirty="0" sz="700" spc="90">
                <a:latin typeface="Calibri"/>
                <a:cs typeface="Calibri"/>
              </a:rPr>
              <a:t>FullyConnectedLayer(</a:t>
            </a:r>
            <a:endParaRPr sz="700">
              <a:latin typeface="Calibri"/>
              <a:cs typeface="Calibri"/>
            </a:endParaRPr>
          </a:p>
          <a:p>
            <a:pPr marL="259079" marR="635000" indent="317500">
              <a:lnSpc>
                <a:spcPct val="107900"/>
              </a:lnSpc>
              <a:spcBef>
                <a:spcPts val="5"/>
              </a:spcBef>
            </a:pPr>
            <a:r>
              <a:rPr dirty="0" sz="700" spc="65">
                <a:latin typeface="Calibri"/>
                <a:cs typeface="Calibri"/>
              </a:rPr>
              <a:t>n_in=40*4*4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n_out=1000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activation_fn=ReLU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p_dropout=0.5), FullyConnectedLayer(</a:t>
            </a:r>
            <a:endParaRPr sz="700">
              <a:latin typeface="Calibri"/>
              <a:cs typeface="Calibri"/>
            </a:endParaRPr>
          </a:p>
          <a:p>
            <a:pPr marL="259079" marR="741045" indent="317500">
              <a:lnSpc>
                <a:spcPct val="107900"/>
              </a:lnSpc>
            </a:pPr>
            <a:r>
              <a:rPr dirty="0" sz="700" spc="70">
                <a:latin typeface="Calibri"/>
                <a:cs typeface="Calibri"/>
              </a:rPr>
              <a:t>n_in=1000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n_out=1000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activation_fn=ReLU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p_dropout=0.5), </a:t>
            </a:r>
            <a:r>
              <a:rPr dirty="0" sz="700" spc="85">
                <a:latin typeface="Calibri"/>
                <a:cs typeface="Calibri"/>
              </a:rPr>
              <a:t>SoftmaxLayer(n_in=1000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n_out=10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p_dropout=0.5)],</a:t>
            </a:r>
            <a:endParaRPr sz="7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latin typeface="Calibri"/>
                <a:cs typeface="Calibri"/>
              </a:rPr>
              <a:t>mini_batch_size)</a:t>
            </a:r>
            <a:endParaRPr sz="700">
              <a:latin typeface="Calibri"/>
              <a:cs typeface="Calibri"/>
            </a:endParaRPr>
          </a:p>
          <a:p>
            <a:pPr marL="45720" marR="1062355" indent="-635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&gt;&gt;&gt;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net.SGD(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expanded_training_data</a:t>
            </a:r>
            <a:r>
              <a:rPr dirty="0" sz="700" spc="-2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40,</a:t>
            </a:r>
            <a:r>
              <a:rPr dirty="0" sz="700" spc="41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2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0.03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0852" y="7396590"/>
            <a:ext cx="4375150" cy="6203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635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99.60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substantial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improvement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over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especially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benchmark,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achieved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99.37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percent.</a:t>
            </a:r>
            <a:endParaRPr sz="850">
              <a:latin typeface="Calibri"/>
              <a:cs typeface="Calibri"/>
            </a:endParaRPr>
          </a:p>
          <a:p>
            <a:pPr algn="just" marL="208915">
              <a:lnSpc>
                <a:spcPct val="100000"/>
              </a:lnSpc>
              <a:spcBef>
                <a:spcPts val="165"/>
              </a:spcBef>
            </a:pP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noting.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8" name="object 8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6" y="368721"/>
            <a:ext cx="4619625" cy="35312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004695">
              <a:lnSpc>
                <a:spcPts val="525"/>
              </a:lnSpc>
              <a:spcBef>
                <a:spcPts val="110"/>
              </a:spcBef>
              <a:tabLst>
                <a:tab pos="4424045" algn="l"/>
              </a:tabLst>
            </a:pPr>
            <a:r>
              <a:rPr dirty="0" sz="850" spc="20">
                <a:latin typeface="Calibri"/>
                <a:cs typeface="Calibri"/>
              </a:rPr>
              <a:t>6.2.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practice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183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9050" marR="272415" indent="18923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First,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40: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dropout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faster.</a:t>
            </a:r>
            <a:endParaRPr sz="850">
              <a:latin typeface="Calibri"/>
              <a:cs typeface="Calibri"/>
            </a:endParaRPr>
          </a:p>
          <a:p>
            <a:pPr algn="just" marL="12700" marR="245110" indent="19558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Second,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fully-connected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1,000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100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earlier.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effectively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omits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expansion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expected.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300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1,000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obtained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(very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slightly)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validation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performance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1,000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neurons.</a:t>
            </a:r>
            <a:endParaRPr sz="850">
              <a:latin typeface="Calibri"/>
              <a:cs typeface="Calibri"/>
            </a:endParaRPr>
          </a:p>
          <a:p>
            <a:pPr algn="just" marL="12700" marR="245110" indent="196215">
              <a:lnSpc>
                <a:spcPct val="114300"/>
              </a:lnSpc>
            </a:pPr>
            <a:r>
              <a:rPr dirty="0" sz="850" spc="55" b="1">
                <a:latin typeface="Calibri"/>
                <a:cs typeface="Calibri"/>
              </a:rPr>
              <a:t>Using</a:t>
            </a:r>
            <a:r>
              <a:rPr dirty="0" sz="850" spc="45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an</a:t>
            </a:r>
            <a:r>
              <a:rPr dirty="0" sz="850" spc="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ensemble</a:t>
            </a:r>
            <a:r>
              <a:rPr dirty="0" sz="850" spc="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of</a:t>
            </a:r>
            <a:r>
              <a:rPr dirty="0" sz="850" spc="5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networks:</a:t>
            </a:r>
            <a:r>
              <a:rPr dirty="0" sz="850" spc="135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still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create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vote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determine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classification.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prescription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accuracies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99.6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percent.</a:t>
            </a:r>
            <a:r>
              <a:rPr dirty="0" sz="850" spc="4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accuracies,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due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initializations.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plausible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vote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amongst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yield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classification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individual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endParaRPr sz="850">
              <a:latin typeface="Calibri"/>
              <a:cs typeface="Calibri"/>
            </a:endParaRPr>
          </a:p>
          <a:p>
            <a:pPr algn="just" marL="19050" marR="26924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sounds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ensembling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common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trick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both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yield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further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improvements: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99.67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ensemble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33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10,000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correctly.</a:t>
            </a:r>
            <a:endParaRPr sz="850">
              <a:latin typeface="Calibri"/>
              <a:cs typeface="Calibri"/>
            </a:endParaRPr>
          </a:p>
          <a:p>
            <a:pPr algn="just" marL="19050" marR="272415" indent="189230">
              <a:lnSpc>
                <a:spcPct val="114300"/>
              </a:lnSpc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remaining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errors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test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shown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below.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label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right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correct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classification,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according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bottom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right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label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ensemble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nets: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69723" y="4077546"/>
            <a:ext cx="2961443" cy="208553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67296" y="6362847"/>
            <a:ext cx="4373245" cy="16541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6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5,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genuine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errors</a:t>
            </a:r>
            <a:r>
              <a:rPr dirty="0" sz="850" spc="20">
                <a:latin typeface="Calibri"/>
                <a:cs typeface="Calibri"/>
              </a:rPr>
              <a:t> by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ensemble.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However,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they’re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understandable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errors,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kind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human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could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plausibly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6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0,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5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third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supposedly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8,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siding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ensemble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here: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job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whoever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originally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drew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fourth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6,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networks’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choices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plausible,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cases</a:t>
            </a:r>
            <a:r>
              <a:rPr dirty="0" sz="850" spc="20">
                <a:latin typeface="Calibri"/>
                <a:cs typeface="Calibri"/>
              </a:rPr>
              <a:t> they’ve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done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better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job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original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person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writing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digit.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Overall,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exceptional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performance,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especially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correctly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9,967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shown.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context,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clear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seem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understandable.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careful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occasional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mistake.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expect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6" name="object 6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2970" cy="72834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184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31470" marR="4889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careful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methodical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performance.</a:t>
            </a:r>
            <a:endParaRPr sz="850">
              <a:latin typeface="Calibri"/>
              <a:cs typeface="Calibri"/>
            </a:endParaRPr>
          </a:p>
          <a:p>
            <a:pPr algn="just" marL="331470" marR="50165" indent="189230">
              <a:lnSpc>
                <a:spcPct val="114300"/>
              </a:lnSpc>
              <a:spcBef>
                <a:spcPts val="65"/>
              </a:spcBef>
            </a:pPr>
            <a:r>
              <a:rPr dirty="0" sz="850" spc="30" b="1">
                <a:latin typeface="Calibri"/>
                <a:cs typeface="Calibri"/>
              </a:rPr>
              <a:t>Why</a:t>
            </a:r>
            <a:r>
              <a:rPr dirty="0" sz="850" spc="105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we</a:t>
            </a:r>
            <a:r>
              <a:rPr dirty="0" sz="850" spc="105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only</a:t>
            </a:r>
            <a:r>
              <a:rPr dirty="0" sz="850" spc="110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applied</a:t>
            </a:r>
            <a:r>
              <a:rPr dirty="0" sz="850" spc="105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dropout</a:t>
            </a:r>
            <a:r>
              <a:rPr dirty="0" sz="850" spc="105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to</a:t>
            </a:r>
            <a:r>
              <a:rPr dirty="0" sz="850" spc="105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the</a:t>
            </a:r>
            <a:r>
              <a:rPr dirty="0" sz="850" spc="105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fully-connected</a:t>
            </a:r>
            <a:r>
              <a:rPr dirty="0" sz="850" spc="110" b="1">
                <a:latin typeface="Calibri"/>
                <a:cs typeface="Calibri"/>
              </a:rPr>
              <a:t> </a:t>
            </a:r>
            <a:r>
              <a:rPr dirty="0" sz="850" spc="30" b="1">
                <a:latin typeface="Calibri"/>
                <a:cs typeface="Calibri"/>
              </a:rPr>
              <a:t>layers:</a:t>
            </a:r>
            <a:r>
              <a:rPr dirty="0" sz="850" spc="180" b="1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you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look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carefully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above,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notice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fully-connected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procedure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need: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considerable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inbuilt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resistance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shared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mean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filters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forced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across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entire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pick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local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idiosyncracies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regularizers,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dropout.</a:t>
            </a:r>
            <a:endParaRPr sz="850">
              <a:latin typeface="Calibri"/>
              <a:cs typeface="Calibri"/>
            </a:endParaRPr>
          </a:p>
          <a:p>
            <a:pPr algn="just" marL="331470" marR="50165" indent="189230">
              <a:lnSpc>
                <a:spcPct val="114300"/>
              </a:lnSpc>
              <a:spcBef>
                <a:spcPts val="65"/>
              </a:spcBef>
            </a:pPr>
            <a:r>
              <a:rPr dirty="0" sz="850" spc="55" b="1">
                <a:latin typeface="Calibri"/>
                <a:cs typeface="Calibri"/>
              </a:rPr>
              <a:t>Going</a:t>
            </a:r>
            <a:r>
              <a:rPr dirty="0" sz="850" spc="17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further:</a:t>
            </a:r>
            <a:r>
              <a:rPr dirty="0" sz="850" spc="290" b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Rodrigo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Benenson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compiled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informative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summary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page,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progress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years,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links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papers.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interesting</a:t>
            </a:r>
            <a:r>
              <a:rPr dirty="0" sz="850" spc="20">
                <a:latin typeface="Calibri"/>
                <a:cs typeface="Calibri"/>
              </a:rPr>
              <a:t> techniques,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enjoy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them.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start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quickly,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rapidly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on.</a:t>
            </a:r>
            <a:endParaRPr sz="850">
              <a:latin typeface="Calibri"/>
              <a:cs typeface="Calibri"/>
            </a:endParaRPr>
          </a:p>
          <a:p>
            <a:pPr algn="just" marL="318135" marR="30480" indent="203200">
              <a:lnSpc>
                <a:spcPct val="114300"/>
              </a:lnSpc>
              <a:spcBef>
                <a:spcPts val="70"/>
              </a:spcBef>
            </a:pP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survey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can’t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resist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making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exception.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2010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Cire¸san,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Meier,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Gambardella,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Schmidhuber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19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many-layer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20">
                <a:latin typeface="Calibri"/>
                <a:cs typeface="Calibri"/>
              </a:rPr>
              <a:t> only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fully-connected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(no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convolutions).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Their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successful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hidden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2,500,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2,000,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1,500,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1,000,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500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respectively.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ideas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Simard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3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apart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few</a:t>
            </a:r>
            <a:r>
              <a:rPr dirty="0" sz="850" spc="20">
                <a:latin typeface="Calibri"/>
                <a:cs typeface="Calibri"/>
              </a:rPr>
              <a:t> other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tricks,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including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layers: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plain,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vanilla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kind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patience,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1980s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had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existed),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99.65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GPU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took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advantage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gradually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10</a:t>
            </a:r>
            <a:r>
              <a:rPr dirty="0" baseline="35353" sz="825" spc="97">
                <a:latin typeface="Cambria"/>
                <a:cs typeface="Cambria"/>
              </a:rPr>
              <a:t>−</a:t>
            </a:r>
            <a:r>
              <a:rPr dirty="0" baseline="35353" sz="825" spc="97">
                <a:latin typeface="Calibri"/>
                <a:cs typeface="Calibri"/>
              </a:rPr>
              <a:t>3</a:t>
            </a:r>
            <a:r>
              <a:rPr dirty="0" baseline="35353" sz="825" spc="3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10</a:t>
            </a:r>
            <a:r>
              <a:rPr dirty="0" baseline="35353" sz="825" spc="97">
                <a:latin typeface="Cambria"/>
                <a:cs typeface="Cambria"/>
              </a:rPr>
              <a:t>−</a:t>
            </a:r>
            <a:r>
              <a:rPr dirty="0" baseline="35353" sz="825" spc="97">
                <a:latin typeface="Calibri"/>
                <a:cs typeface="Calibri"/>
              </a:rPr>
              <a:t>6</a:t>
            </a:r>
            <a:r>
              <a:rPr dirty="0" sz="850" spc="65">
                <a:latin typeface="Calibri"/>
                <a:cs typeface="Calibri"/>
              </a:rPr>
              <a:t>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exercise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theirs.</a:t>
            </a:r>
            <a:endParaRPr sz="850">
              <a:latin typeface="Calibri"/>
              <a:cs typeface="Calibri"/>
            </a:endParaRPr>
          </a:p>
          <a:p>
            <a:pPr algn="just" marL="331470" marR="52705" indent="189230">
              <a:lnSpc>
                <a:spcPct val="114300"/>
              </a:lnSpc>
              <a:spcBef>
                <a:spcPts val="65"/>
              </a:spcBef>
            </a:pPr>
            <a:r>
              <a:rPr dirty="0" sz="850" b="1">
                <a:latin typeface="Calibri"/>
                <a:cs typeface="Calibri"/>
              </a:rPr>
              <a:t>Why</a:t>
            </a:r>
            <a:r>
              <a:rPr dirty="0" sz="850" spc="229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are</a:t>
            </a:r>
            <a:r>
              <a:rPr dirty="0" sz="850" spc="229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we</a:t>
            </a:r>
            <a:r>
              <a:rPr dirty="0" sz="850" spc="229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able</a:t>
            </a:r>
            <a:r>
              <a:rPr dirty="0" sz="850" spc="229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to</a:t>
            </a:r>
            <a:r>
              <a:rPr dirty="0" sz="850" spc="229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train?</a:t>
            </a:r>
            <a:r>
              <a:rPr dirty="0" sz="850" spc="165" b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saw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fundamental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obstructions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many-layer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saw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tends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unstable: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tends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either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vanishing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explode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exploding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problem).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problems.</a:t>
            </a:r>
            <a:endParaRPr sz="850">
              <a:latin typeface="Calibri"/>
              <a:cs typeface="Calibri"/>
            </a:endParaRPr>
          </a:p>
          <a:p>
            <a:pPr algn="just" marL="521334">
              <a:lnSpc>
                <a:spcPct val="100000"/>
              </a:lnSpc>
              <a:spcBef>
                <a:spcPts val="210"/>
              </a:spcBef>
            </a:pP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avoided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results?</a:t>
            </a:r>
            <a:endParaRPr sz="850">
              <a:latin typeface="Calibri"/>
              <a:cs typeface="Calibri"/>
            </a:endParaRPr>
          </a:p>
          <a:p>
            <a:pPr algn="just" marL="331470" marR="48895" indent="189230">
              <a:lnSpc>
                <a:spcPct val="114300"/>
              </a:lnSpc>
              <a:spcBef>
                <a:spcPts val="70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haven’t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avoided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results.</a:t>
            </a:r>
            <a:r>
              <a:rPr dirty="0" sz="850" spc="4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done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things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proceed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anyway.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particular: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(1)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greatly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making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</a:t>
            </a:r>
            <a:r>
              <a:rPr dirty="0" sz="850" spc="20">
                <a:latin typeface="Calibri"/>
                <a:cs typeface="Calibri"/>
              </a:rPr>
              <a:t> much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easier;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(2)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powerful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techniques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(notably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dropout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convolutional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reduce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overfitting,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otherwise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networks;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80">
                <a:latin typeface="Calibri"/>
                <a:cs typeface="Calibri"/>
              </a:rPr>
              <a:t>(3)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rectified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linear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empirically,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3–5;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(4)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GPUs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period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40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MNIST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mostly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01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1901" y="7770973"/>
            <a:ext cx="4417060" cy="2438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 marR="30480" indent="8699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30">
                <a:latin typeface="Calibri"/>
                <a:cs typeface="Calibri"/>
              </a:rPr>
              <a:t>19</a:t>
            </a:r>
            <a:r>
              <a:rPr dirty="0" sz="750" spc="20">
                <a:latin typeface="Calibri"/>
                <a:cs typeface="Calibri"/>
                <a:hlinkClick r:id="rId3"/>
              </a:rPr>
              <a:t>Deep,</a:t>
            </a:r>
            <a:r>
              <a:rPr dirty="0" sz="750" spc="16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Big,</a:t>
            </a:r>
            <a:r>
              <a:rPr dirty="0" sz="750" spc="16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Simple</a:t>
            </a:r>
            <a:r>
              <a:rPr dirty="0" sz="750" spc="16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Neural</a:t>
            </a:r>
            <a:r>
              <a:rPr dirty="0" sz="750" spc="16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Nets</a:t>
            </a:r>
            <a:r>
              <a:rPr dirty="0" sz="750" spc="16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Excel</a:t>
            </a:r>
            <a:r>
              <a:rPr dirty="0" sz="750" spc="16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on</a:t>
            </a:r>
            <a:r>
              <a:rPr dirty="0" sz="750" spc="16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Handwritten</a:t>
            </a:r>
            <a:r>
              <a:rPr dirty="0" sz="750" spc="16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Digit</a:t>
            </a:r>
            <a:r>
              <a:rPr dirty="0" sz="750" spc="16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Recognition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Dan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Claudiu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Cire¸san,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Ueli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Meier,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Luca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Maria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Gambardella,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Jürgen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Schmidhuber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(2010).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6" name="object 6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6" y="368721"/>
            <a:ext cx="4619625" cy="63906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066925">
              <a:lnSpc>
                <a:spcPts val="525"/>
              </a:lnSpc>
              <a:spcBef>
                <a:spcPts val="110"/>
              </a:spcBef>
              <a:tabLst>
                <a:tab pos="4424045" algn="l"/>
              </a:tabLst>
            </a:pPr>
            <a:r>
              <a:rPr dirty="0" sz="850" spc="10">
                <a:latin typeface="Calibri"/>
                <a:cs typeface="Calibri"/>
              </a:rPr>
              <a:t>6.3.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185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9050" marR="272415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trained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30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epochs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raw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Combining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factors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(3)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(4)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30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before.</a:t>
            </a:r>
            <a:endParaRPr sz="850">
              <a:latin typeface="Calibri"/>
              <a:cs typeface="Calibri"/>
            </a:endParaRPr>
          </a:p>
          <a:p>
            <a:pPr algn="just" marL="19050" marR="272415" indent="189230">
              <a:lnSpc>
                <a:spcPct val="114300"/>
              </a:lnSpc>
              <a:spcBef>
                <a:spcPts val="305"/>
              </a:spcBef>
            </a:pP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response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it?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networks?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What’s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fuss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about?”</a:t>
            </a:r>
            <a:endParaRPr sz="850">
              <a:latin typeface="Calibri"/>
              <a:cs typeface="Calibri"/>
            </a:endParaRPr>
          </a:p>
          <a:p>
            <a:pPr algn="just" marL="19050" marR="256540" indent="189230">
              <a:lnSpc>
                <a:spcPct val="114300"/>
              </a:lnSpc>
              <a:spcBef>
                <a:spcPts val="305"/>
              </a:spcBef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too: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making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sufficiently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(to</a:t>
            </a:r>
            <a:r>
              <a:rPr dirty="0" sz="850" spc="20">
                <a:latin typeface="Calibri"/>
                <a:cs typeface="Calibri"/>
              </a:rPr>
              <a:t> help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avoid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overfitting);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right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avoid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slowdown);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20">
                <a:latin typeface="Calibri"/>
                <a:cs typeface="Calibri"/>
              </a:rPr>
              <a:t> good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initializations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(also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avoid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slowdown,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due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saturation);</a:t>
            </a:r>
            <a:r>
              <a:rPr dirty="0" sz="850" spc="20">
                <a:latin typeface="Calibri"/>
                <a:cs typeface="Calibri"/>
              </a:rPr>
              <a:t> algorithmically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expanding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discussed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other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earlier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comment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chapter.</a:t>
            </a:r>
            <a:endParaRPr sz="850">
              <a:latin typeface="Calibri"/>
              <a:cs typeface="Calibri"/>
            </a:endParaRPr>
          </a:p>
          <a:p>
            <a:pPr algn="just" marL="19050" marR="272415" indent="189230">
              <a:lnSpc>
                <a:spcPct val="114300"/>
              </a:lnSpc>
              <a:spcBef>
                <a:spcPts val="305"/>
              </a:spcBef>
            </a:pP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powerful,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concert.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easy!</a:t>
            </a:r>
            <a:endParaRPr sz="850">
              <a:latin typeface="Calibri"/>
              <a:cs typeface="Calibri"/>
            </a:endParaRPr>
          </a:p>
          <a:p>
            <a:pPr algn="just" marL="12700" marR="268605" indent="196215">
              <a:lnSpc>
                <a:spcPct val="114300"/>
              </a:lnSpc>
              <a:spcBef>
                <a:spcPts val="310"/>
              </a:spcBef>
            </a:pPr>
            <a:r>
              <a:rPr dirty="0" sz="850" spc="65" b="1">
                <a:latin typeface="Calibri"/>
                <a:cs typeface="Calibri"/>
              </a:rPr>
              <a:t>How</a:t>
            </a:r>
            <a:r>
              <a:rPr dirty="0" sz="850" spc="19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deep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are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these</a:t>
            </a:r>
            <a:r>
              <a:rPr dirty="0" sz="850" spc="20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networks,</a:t>
            </a:r>
            <a:r>
              <a:rPr dirty="0" sz="850" spc="21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anyway?</a:t>
            </a:r>
            <a:r>
              <a:rPr dirty="0" sz="850" spc="365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Counting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convolutional-pooling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layers,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4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layers.</a:t>
            </a:r>
            <a:r>
              <a:rPr dirty="0" sz="850" spc="19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deserve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network?</a:t>
            </a:r>
            <a:r>
              <a:rPr dirty="0" sz="850" spc="15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4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shallow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studied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hidden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occasionally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2015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state-of-the-art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deep</a:t>
            </a:r>
            <a:r>
              <a:rPr dirty="0" sz="850" spc="20">
                <a:latin typeface="Calibri"/>
                <a:cs typeface="Calibri"/>
              </a:rPr>
              <a:t> networks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sometimes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dozens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occasionally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heard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people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adopt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deeper-than-thou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attitude,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holding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keeping-up-with-the-Joneses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terms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sympathetic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attitude,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definition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something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depends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result-of-</a:t>
            </a:r>
            <a:r>
              <a:rPr dirty="0" sz="850" spc="10">
                <a:latin typeface="Calibri"/>
                <a:cs typeface="Calibri"/>
              </a:rPr>
              <a:t>the-moment.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breakthrough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realize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beyond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shallow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1-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2-hidden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dominated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until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mid-2000s.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significant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breakthrough,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opening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exploration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expressive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beyond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primary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fundamental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interest.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goals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accuracies.</a:t>
            </a:r>
            <a:endParaRPr sz="850">
              <a:latin typeface="Calibri"/>
              <a:cs typeface="Calibri"/>
            </a:endParaRPr>
          </a:p>
          <a:p>
            <a:pPr algn="just" marL="13970" marR="269240" indent="194310">
              <a:lnSpc>
                <a:spcPct val="114300"/>
              </a:lnSpc>
              <a:spcBef>
                <a:spcPts val="305"/>
              </a:spcBef>
            </a:pPr>
            <a:r>
              <a:rPr dirty="0" sz="850" b="1">
                <a:latin typeface="Calibri"/>
                <a:cs typeface="Calibri"/>
              </a:rPr>
              <a:t>A</a:t>
            </a:r>
            <a:r>
              <a:rPr dirty="0" sz="850" spc="13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word</a:t>
            </a:r>
            <a:r>
              <a:rPr dirty="0" sz="850" spc="13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on</a:t>
            </a:r>
            <a:r>
              <a:rPr dirty="0" sz="850" spc="14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procedure:</a:t>
            </a:r>
            <a:r>
              <a:rPr dirty="0" sz="850" spc="22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smoothly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hidden-</a:t>
            </a:r>
            <a:r>
              <a:rPr dirty="0" sz="850" spc="-10">
                <a:latin typeface="Calibri"/>
                <a:cs typeface="Calibri"/>
              </a:rPr>
              <a:t>layer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shallow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many-layer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easy!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change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improvement.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start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experimenting,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guarantee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always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smooth.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presented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cleaned-</a:t>
            </a:r>
            <a:r>
              <a:rPr dirty="0" sz="850" spc="-25">
                <a:latin typeface="Calibri"/>
                <a:cs typeface="Calibri"/>
              </a:rPr>
              <a:t>up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narrative,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omitting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including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failed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cleaned-</a:t>
            </a:r>
            <a:r>
              <a:rPr dirty="0" sz="850" spc="-25">
                <a:latin typeface="Calibri"/>
                <a:cs typeface="Calibri"/>
              </a:rPr>
              <a:t>up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narrative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hopefully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clear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risk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conveying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incomplete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impression.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Getting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involve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trial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occasional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frustration.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practice,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expect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engage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quite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experimentation.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helpful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revisit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Chapter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3’s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hyper-parameters,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section.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2052" y="7182377"/>
            <a:ext cx="4354195" cy="835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780">
              <a:lnSpc>
                <a:spcPct val="100000"/>
              </a:lnSpc>
              <a:spcBef>
                <a:spcPts val="100"/>
              </a:spcBef>
              <a:tabLst>
                <a:tab pos="344805" algn="l"/>
              </a:tabLst>
            </a:pPr>
            <a:r>
              <a:rPr dirty="0" sz="1050" spc="30" b="1">
                <a:latin typeface="Calibri"/>
                <a:cs typeface="Calibri"/>
              </a:rPr>
              <a:t>6.3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60" b="1">
                <a:latin typeface="Calibri"/>
                <a:cs typeface="Calibri"/>
              </a:rPr>
              <a:t>The</a:t>
            </a:r>
            <a:r>
              <a:rPr dirty="0" sz="1050" spc="13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code</a:t>
            </a:r>
            <a:r>
              <a:rPr dirty="0" sz="1050" spc="13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for</a:t>
            </a:r>
            <a:r>
              <a:rPr dirty="0" sz="1050" spc="135" b="1">
                <a:latin typeface="Calibri"/>
                <a:cs typeface="Calibri"/>
              </a:rPr>
              <a:t> </a:t>
            </a:r>
            <a:r>
              <a:rPr dirty="0" sz="1050" spc="60" b="1">
                <a:latin typeface="Calibri"/>
                <a:cs typeface="Calibri"/>
              </a:rPr>
              <a:t>our</a:t>
            </a:r>
            <a:r>
              <a:rPr dirty="0" sz="1050" spc="13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convolutional</a:t>
            </a:r>
            <a:r>
              <a:rPr dirty="0" sz="1050" spc="135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networks</a:t>
            </a:r>
            <a:endParaRPr sz="10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35"/>
              </a:spcBef>
            </a:pPr>
            <a:endParaRPr sz="1050">
              <a:latin typeface="Calibri"/>
              <a:cs typeface="Calibri"/>
            </a:endParaRPr>
          </a:p>
          <a:p>
            <a:pPr algn="just" marL="17780" marR="5080" indent="-5715">
              <a:lnSpc>
                <a:spcPct val="107900"/>
              </a:lnSpc>
            </a:pPr>
            <a:r>
              <a:rPr dirty="0" sz="850" spc="20">
                <a:latin typeface="Calibri"/>
                <a:cs typeface="Calibri"/>
              </a:rPr>
              <a:t>Alright,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take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network3.py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Structurally,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similar</a:t>
            </a:r>
            <a:r>
              <a:rPr dirty="0" sz="850" spc="30">
                <a:latin typeface="Calibri"/>
                <a:cs typeface="Calibri"/>
              </a:rPr>
              <a:t> 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network2.py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program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developed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Chapter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3,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although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details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due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Theano.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900" spc="60">
                <a:latin typeface="Calibri"/>
                <a:cs typeface="Calibri"/>
              </a:rPr>
              <a:t>FullyConnectedLayer</a:t>
            </a:r>
            <a:r>
              <a:rPr dirty="0" sz="90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5" name="object 5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451985" cy="718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186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marL="331470">
              <a:lnSpc>
                <a:spcPct val="100000"/>
              </a:lnSpc>
            </a:pPr>
            <a:r>
              <a:rPr dirty="0" sz="850" spc="20">
                <a:latin typeface="Calibri"/>
                <a:cs typeface="Calibri"/>
              </a:rPr>
              <a:t>similar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studied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Here’s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(discussion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below)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20</a:t>
            </a:r>
            <a:r>
              <a:rPr dirty="0" sz="850" spc="-1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51036" y="1547828"/>
            <a:ext cx="99060" cy="0"/>
          </a:xfrm>
          <a:custGeom>
            <a:avLst/>
            <a:gdLst/>
            <a:ahLst/>
            <a:cxnLst/>
            <a:rect l="l" t="t" r="r" b="b"/>
            <a:pathLst>
              <a:path w="99059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465451" y="1547828"/>
            <a:ext cx="99060" cy="0"/>
          </a:xfrm>
          <a:custGeom>
            <a:avLst/>
            <a:gdLst/>
            <a:ahLst/>
            <a:cxnLst/>
            <a:rect l="l" t="t" r="r" b="b"/>
            <a:pathLst>
              <a:path w="99059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79514" y="1308861"/>
            <a:ext cx="4401185" cy="376555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FullyConnectedLayer(</a:t>
            </a:r>
            <a:r>
              <a:rPr dirty="0" sz="700" spc="100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100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 marL="470534" marR="423545" indent="-213360">
              <a:lnSpc>
                <a:spcPct val="107900"/>
              </a:lnSpc>
              <a:tabLst>
                <a:tab pos="575945" algn="l"/>
              </a:tabLst>
            </a:pPr>
            <a:r>
              <a:rPr dirty="0" sz="700" spc="55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		</a:t>
            </a:r>
            <a:r>
              <a:rPr dirty="0" sz="700" spc="165">
                <a:latin typeface="Calibri"/>
                <a:cs typeface="Calibri"/>
              </a:rPr>
              <a:t>init</a:t>
            </a:r>
            <a:r>
              <a:rPr dirty="0" sz="700" spc="315">
                <a:latin typeface="Calibri"/>
                <a:cs typeface="Calibri"/>
              </a:rPr>
              <a:t>  </a:t>
            </a:r>
            <a:r>
              <a:rPr dirty="0" sz="700" spc="170">
                <a:latin typeface="Calibri"/>
                <a:cs typeface="Calibri"/>
              </a:rPr>
              <a:t>(self,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n_in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n_out,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activation_fn=sigmoid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p_dropout=0.0): </a:t>
            </a:r>
            <a:r>
              <a:rPr dirty="0" sz="700" spc="135">
                <a:latin typeface="Calibri"/>
                <a:cs typeface="Calibri"/>
              </a:rPr>
              <a:t>self.n_in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n_in</a:t>
            </a:r>
            <a:endParaRPr sz="700">
              <a:latin typeface="Calibri"/>
              <a:cs typeface="Calibri"/>
            </a:endParaRPr>
          </a:p>
          <a:p>
            <a:pPr marL="470534" marR="2126615">
              <a:lnSpc>
                <a:spcPct val="107900"/>
              </a:lnSpc>
            </a:pPr>
            <a:r>
              <a:rPr dirty="0" sz="700" spc="120">
                <a:latin typeface="Calibri"/>
                <a:cs typeface="Calibri"/>
              </a:rPr>
              <a:t>self.n_out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35">
                <a:latin typeface="Calibri"/>
                <a:cs typeface="Calibri"/>
              </a:rPr>
              <a:t>n_out</a:t>
            </a:r>
            <a:r>
              <a:rPr dirty="0" sz="700" spc="500">
                <a:latin typeface="Calibri"/>
                <a:cs typeface="Calibri"/>
              </a:rPr>
              <a:t>       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activation_fn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activation_fn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p_dropout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p_dropout</a:t>
            </a:r>
            <a:endParaRPr sz="700">
              <a:latin typeface="Calibri"/>
              <a:cs typeface="Calibri"/>
            </a:endParaRPr>
          </a:p>
          <a:p>
            <a:pPr marL="468630">
              <a:lnSpc>
                <a:spcPct val="100000"/>
              </a:lnSpc>
              <a:spcBef>
                <a:spcPts val="70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Initialize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weights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endParaRPr sz="700">
              <a:latin typeface="Calibri"/>
              <a:cs typeface="Calibri"/>
            </a:endParaRPr>
          </a:p>
          <a:p>
            <a:pPr marL="681990" marR="2708275" indent="-212090">
              <a:lnSpc>
                <a:spcPct val="107900"/>
              </a:lnSpc>
            </a:pPr>
            <a:r>
              <a:rPr dirty="0" sz="700" spc="125">
                <a:latin typeface="Calibri"/>
                <a:cs typeface="Calibri"/>
              </a:rPr>
              <a:t>self.w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theano.shared( </a:t>
            </a:r>
            <a:r>
              <a:rPr dirty="0" sz="700" spc="95">
                <a:latin typeface="Calibri"/>
                <a:cs typeface="Calibri"/>
              </a:rPr>
              <a:t>np.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asarray(</a:t>
            </a:r>
            <a:endParaRPr sz="700">
              <a:latin typeface="Calibri"/>
              <a:cs typeface="Calibri"/>
            </a:endParaRPr>
          </a:p>
          <a:p>
            <a:pPr marL="894715">
              <a:lnSpc>
                <a:spcPct val="100000"/>
              </a:lnSpc>
              <a:spcBef>
                <a:spcPts val="65"/>
              </a:spcBef>
            </a:pPr>
            <a:r>
              <a:rPr dirty="0" sz="700" spc="70">
                <a:latin typeface="Calibri"/>
                <a:cs typeface="Calibri"/>
              </a:rPr>
              <a:t>np.random.normal(</a:t>
            </a:r>
            <a:endParaRPr sz="700">
              <a:latin typeface="Calibri"/>
              <a:cs typeface="Calibri"/>
            </a:endParaRPr>
          </a:p>
          <a:p>
            <a:pPr marL="895985" marR="368935" indent="211454">
              <a:lnSpc>
                <a:spcPct val="107900"/>
              </a:lnSpc>
            </a:pPr>
            <a:r>
              <a:rPr dirty="0" sz="700" spc="105">
                <a:latin typeface="Calibri"/>
                <a:cs typeface="Calibri"/>
              </a:rPr>
              <a:t>loc=0.0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scale=np.sqrt(1.0/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n_out),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size=(n_in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n_out)), dtype=theano.config.floatX),</a:t>
            </a:r>
            <a:endParaRPr sz="700">
              <a:latin typeface="Calibri"/>
              <a:cs typeface="Calibri"/>
            </a:endParaRPr>
          </a:p>
          <a:p>
            <a:pPr marL="470534" marR="2548890" indent="212090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name=</a:t>
            </a:r>
            <a:r>
              <a:rPr dirty="0" sz="700" spc="75">
                <a:solidFill>
                  <a:srgbClr val="007F00"/>
                </a:solidFill>
                <a:latin typeface="Calibri"/>
                <a:cs typeface="Calibri"/>
              </a:rPr>
              <a:t>’w’</a:t>
            </a:r>
            <a:r>
              <a:rPr dirty="0" sz="700" spc="75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borrow=True) </a:t>
            </a:r>
            <a:r>
              <a:rPr dirty="0" sz="700" spc="145">
                <a:latin typeface="Calibri"/>
                <a:cs typeface="Calibri"/>
              </a:rPr>
              <a:t>self.b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theano.shared(</a:t>
            </a:r>
            <a:endParaRPr sz="700">
              <a:latin typeface="Calibri"/>
              <a:cs typeface="Calibri"/>
            </a:endParaRPr>
          </a:p>
          <a:p>
            <a:pPr marL="1268095" marR="368935" indent="-586105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np.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asarray(np.random.normal(loc=0.0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scale=1.0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size=(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n_out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85">
                <a:latin typeface="Calibri"/>
                <a:cs typeface="Calibri"/>
              </a:rPr>
              <a:t>,)), </a:t>
            </a:r>
            <a:r>
              <a:rPr dirty="0" sz="700" spc="110">
                <a:latin typeface="Calibri"/>
                <a:cs typeface="Calibri"/>
              </a:rPr>
              <a:t>dtype=theano.config.floatX),</a:t>
            </a:r>
            <a:endParaRPr sz="700">
              <a:latin typeface="Calibri"/>
              <a:cs typeface="Calibri"/>
            </a:endParaRPr>
          </a:p>
          <a:p>
            <a:pPr marL="470534" marR="2336800" indent="212090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name=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’b’</a:t>
            </a:r>
            <a:r>
              <a:rPr dirty="0" sz="700" spc="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borrow=True) </a:t>
            </a:r>
            <a:r>
              <a:rPr dirty="0" sz="700" spc="105">
                <a:latin typeface="Calibri"/>
                <a:cs typeface="Calibri"/>
              </a:rPr>
              <a:t>self.params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[self.w,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self.b]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470534" marR="1061085" indent="-213360">
              <a:lnSpc>
                <a:spcPct val="1079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set_inpt(self,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inpt,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inpt_dropout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mini_batch_size): </a:t>
            </a:r>
            <a:r>
              <a:rPr dirty="0" sz="700" spc="150">
                <a:latin typeface="Calibri"/>
                <a:cs typeface="Calibri"/>
              </a:rPr>
              <a:t>self.inpt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inpt.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reshape((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self.n_in)) </a:t>
            </a:r>
            <a:r>
              <a:rPr dirty="0" sz="700" spc="120">
                <a:latin typeface="Calibri"/>
                <a:cs typeface="Calibri"/>
              </a:rPr>
              <a:t>self.output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activation_fn(</a:t>
            </a:r>
            <a:endParaRPr sz="700">
              <a:latin typeface="Calibri"/>
              <a:cs typeface="Calibri"/>
            </a:endParaRPr>
          </a:p>
          <a:p>
            <a:pPr marL="470534" marR="901700" indent="210820">
              <a:lnSpc>
                <a:spcPct val="107900"/>
              </a:lnSpc>
            </a:pPr>
            <a:r>
              <a:rPr dirty="0" sz="700" spc="135">
                <a:latin typeface="Calibri"/>
                <a:cs typeface="Calibri"/>
              </a:rPr>
              <a:t>(1-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p_dropout)*T.dot(self.inpt,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self.w)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+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self.b) </a:t>
            </a:r>
            <a:r>
              <a:rPr dirty="0" sz="700" spc="120">
                <a:latin typeface="Calibri"/>
                <a:cs typeface="Calibri"/>
              </a:rPr>
              <a:t>self.y_out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T.argmax(self.output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axis=1)</a:t>
            </a:r>
            <a:r>
              <a:rPr dirty="0" sz="700" spc="500">
                <a:latin typeface="Calibri"/>
                <a:cs typeface="Calibri"/>
              </a:rPr>
              <a:t>       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inpt_dropout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dropout_layer(</a:t>
            </a:r>
            <a:endParaRPr sz="700">
              <a:latin typeface="Calibri"/>
              <a:cs typeface="Calibri"/>
            </a:endParaRPr>
          </a:p>
          <a:p>
            <a:pPr marL="470534" marR="157480" indent="213360">
              <a:lnSpc>
                <a:spcPct val="107900"/>
              </a:lnSpc>
            </a:pPr>
            <a:r>
              <a:rPr dirty="0" sz="700" spc="100">
                <a:latin typeface="Calibri"/>
                <a:cs typeface="Calibri"/>
              </a:rPr>
              <a:t>inpt_dropout.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reshape((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self.n_in)),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p_dropout)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output_dropout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activation_fn(</a:t>
            </a:r>
            <a:endParaRPr sz="700">
              <a:latin typeface="Calibri"/>
              <a:cs typeface="Calibri"/>
            </a:endParaRPr>
          </a:p>
          <a:p>
            <a:pPr marL="681355">
              <a:lnSpc>
                <a:spcPct val="100000"/>
              </a:lnSpc>
              <a:spcBef>
                <a:spcPts val="65"/>
              </a:spcBef>
            </a:pPr>
            <a:r>
              <a:rPr dirty="0" sz="700" spc="114">
                <a:latin typeface="Calibri"/>
                <a:cs typeface="Calibri"/>
              </a:rPr>
              <a:t>T.dot(self.inpt_dropout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self.w)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+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self.b)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257810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accuracy(self,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471170" marR="1751964" indent="-2540">
              <a:lnSpc>
                <a:spcPct val="107900"/>
              </a:lnSpc>
            </a:pP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"Return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for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mini-</a:t>
            </a:r>
            <a:r>
              <a:rPr dirty="0" sz="700" spc="100">
                <a:solidFill>
                  <a:srgbClr val="007F00"/>
                </a:solidFill>
                <a:latin typeface="Calibri"/>
                <a:cs typeface="Calibri"/>
              </a:rPr>
              <a:t>batch."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T.mean(T.eq(y,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self.y_out))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720001" y="7451929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669201" y="5103208"/>
            <a:ext cx="4424680" cy="29114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43180" marR="17780" indent="6985">
              <a:lnSpc>
                <a:spcPct val="112500"/>
              </a:lnSpc>
              <a:spcBef>
                <a:spcPts val="90"/>
              </a:spcBef>
            </a:pP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u="sng" sz="900" spc="3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900" spc="170">
                <a:latin typeface="Calibri"/>
                <a:cs typeface="Calibri"/>
              </a:rPr>
              <a:t>init</a:t>
            </a:r>
            <a:r>
              <a:rPr dirty="0" u="sng" sz="900" spc="4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850" spc="10">
                <a:latin typeface="Calibri"/>
                <a:cs typeface="Calibri"/>
              </a:rPr>
              <a:t>method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self-explanatory,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remarks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clarify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randomly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normal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variables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suitable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standard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deviations.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little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forbidding.</a:t>
            </a:r>
            <a:r>
              <a:rPr dirty="0" sz="850" spc="3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However,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complication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loading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Theano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shared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ensures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GPU,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available.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interested,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Theano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documentation.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designed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sigmoid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activation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discussed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earlier).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Ideally,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somewhat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tanh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rectified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linear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below.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u="sng" sz="900" spc="3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900" spc="170">
                <a:latin typeface="Calibri"/>
                <a:cs typeface="Calibri"/>
              </a:rPr>
              <a:t>init</a:t>
            </a:r>
            <a:r>
              <a:rPr dirty="0" u="sng" sz="900" spc="2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850">
                <a:latin typeface="Calibri"/>
                <a:cs typeface="Calibri"/>
              </a:rPr>
              <a:t>method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finishes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self.params</a:t>
            </a:r>
            <a:r>
              <a:rPr dirty="0" sz="900" spc="37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=</a:t>
            </a:r>
            <a:r>
              <a:rPr dirty="0" sz="900" spc="375">
                <a:latin typeface="Calibri"/>
                <a:cs typeface="Calibri"/>
              </a:rPr>
              <a:t> </a:t>
            </a:r>
            <a:r>
              <a:rPr dirty="0" sz="900" spc="135">
                <a:latin typeface="Calibri"/>
                <a:cs typeface="Calibri"/>
              </a:rPr>
              <a:t>[self.w,</a:t>
            </a:r>
            <a:r>
              <a:rPr dirty="0" sz="900" spc="370">
                <a:latin typeface="Calibri"/>
                <a:cs typeface="Calibri"/>
              </a:rPr>
              <a:t> </a:t>
            </a:r>
            <a:r>
              <a:rPr dirty="0" sz="900" spc="130">
                <a:latin typeface="Calibri"/>
                <a:cs typeface="Calibri"/>
              </a:rPr>
              <a:t>self.b]</a:t>
            </a:r>
            <a:r>
              <a:rPr dirty="0" sz="850" spc="130">
                <a:latin typeface="Calibri"/>
                <a:cs typeface="Calibri"/>
              </a:rPr>
              <a:t>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bundle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learnable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associated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layer.</a:t>
            </a:r>
            <a:r>
              <a:rPr dirty="0" sz="850" spc="4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Network.SGD</a:t>
            </a:r>
            <a:r>
              <a:rPr dirty="0" sz="90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params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attributes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learn.</a:t>
            </a:r>
            <a:endParaRPr sz="850">
              <a:latin typeface="Calibri"/>
              <a:cs typeface="Calibri"/>
            </a:endParaRPr>
          </a:p>
          <a:p>
            <a:pPr algn="just" marL="50800" marR="19050" indent="189230">
              <a:lnSpc>
                <a:spcPct val="107900"/>
              </a:lnSpc>
              <a:spcBef>
                <a:spcPts val="55"/>
              </a:spcBef>
            </a:pPr>
            <a:r>
              <a:rPr dirty="0" sz="850" spc="50">
                <a:latin typeface="Calibri"/>
                <a:cs typeface="Calibri"/>
              </a:rPr>
              <a:t>The </a:t>
            </a:r>
            <a:r>
              <a:rPr dirty="0" sz="900" spc="90">
                <a:latin typeface="Calibri"/>
                <a:cs typeface="Calibri"/>
              </a:rPr>
              <a:t>set_inpt </a:t>
            </a:r>
            <a:r>
              <a:rPr dirty="0" sz="850">
                <a:latin typeface="Calibri"/>
                <a:cs typeface="Calibri"/>
              </a:rPr>
              <a:t>method is used to set the input to the layer, and to compute the </a:t>
            </a:r>
            <a:r>
              <a:rPr dirty="0" sz="850" spc="-10">
                <a:latin typeface="Calibri"/>
                <a:cs typeface="Calibri"/>
              </a:rPr>
              <a:t>corre-</a:t>
            </a:r>
            <a:r>
              <a:rPr dirty="0" sz="850">
                <a:latin typeface="Calibri"/>
                <a:cs typeface="Calibri"/>
              </a:rPr>
              <a:t>sponding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900" spc="100">
                <a:latin typeface="Calibri"/>
                <a:cs typeface="Calibri"/>
              </a:rPr>
              <a:t>inpt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built-in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50">
              <a:latin typeface="Calibri"/>
              <a:cs typeface="Calibri"/>
            </a:endParaRPr>
          </a:p>
          <a:p>
            <a:pPr algn="just" marL="50800" marR="43180" indent="86995">
              <a:lnSpc>
                <a:spcPts val="800"/>
              </a:lnSpc>
              <a:spcBef>
                <a:spcPts val="5"/>
              </a:spcBef>
            </a:pPr>
            <a:r>
              <a:rPr dirty="0" baseline="30303" sz="825" spc="44">
                <a:latin typeface="Calibri"/>
                <a:cs typeface="Calibri"/>
              </a:rPr>
              <a:t>20</a:t>
            </a:r>
            <a:r>
              <a:rPr dirty="0" sz="750" spc="30">
                <a:latin typeface="Calibri"/>
                <a:cs typeface="Calibri"/>
              </a:rPr>
              <a:t>Note added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November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2016: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several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readers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have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noted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that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in the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line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initializing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800" spc="85">
                <a:latin typeface="Calibri"/>
                <a:cs typeface="Calibri"/>
              </a:rPr>
              <a:t>self.w</a:t>
            </a:r>
            <a:r>
              <a:rPr dirty="0" sz="750" spc="85">
                <a:latin typeface="Calibri"/>
                <a:cs typeface="Calibri"/>
              </a:rPr>
              <a:t>,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set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800" spc="75">
                <a:latin typeface="Calibri"/>
                <a:cs typeface="Calibri"/>
              </a:rPr>
              <a:t>scale=np.sqrt(1.0/n_out)</a:t>
            </a:r>
            <a:r>
              <a:rPr dirty="0" sz="750" spc="75">
                <a:latin typeface="Calibri"/>
                <a:cs typeface="Calibri"/>
              </a:rPr>
              <a:t>,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when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arguments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Chapter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3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suggest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better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initialization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may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be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800" spc="85">
                <a:latin typeface="Calibri"/>
                <a:cs typeface="Calibri"/>
              </a:rPr>
              <a:t>scale=np.sqrt(1.0/n_in)</a:t>
            </a:r>
            <a:r>
              <a:rPr dirty="0" sz="750" spc="85">
                <a:latin typeface="Calibri"/>
                <a:cs typeface="Calibri"/>
              </a:rPr>
              <a:t>.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was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simply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mistake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my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part.</a:t>
            </a:r>
            <a:r>
              <a:rPr dirty="0" sz="750" spc="2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ideal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world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I’d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rerun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all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the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examples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chapter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with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correct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code.</a:t>
            </a:r>
            <a:r>
              <a:rPr dirty="0" sz="750" spc="2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Still,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I’ve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moved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on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other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projects,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so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am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going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let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error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go.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9" name="object 9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6" y="368721"/>
            <a:ext cx="4659630" cy="427291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066925">
              <a:lnSpc>
                <a:spcPts val="525"/>
              </a:lnSpc>
              <a:spcBef>
                <a:spcPts val="110"/>
              </a:spcBef>
              <a:tabLst>
                <a:tab pos="4424045" algn="l"/>
              </a:tabLst>
            </a:pPr>
            <a:r>
              <a:rPr dirty="0" sz="850" spc="10">
                <a:latin typeface="Calibri"/>
                <a:cs typeface="Calibri"/>
              </a:rPr>
              <a:t>6.3.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187</a:t>
            </a:r>
            <a:endParaRPr sz="850">
              <a:latin typeface="Calibri"/>
              <a:cs typeface="Calibri"/>
            </a:endParaRPr>
          </a:p>
          <a:p>
            <a:pPr algn="r" marR="30353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340"/>
              </a:spcBef>
            </a:pPr>
            <a:endParaRPr sz="850">
              <a:latin typeface="Arial MT"/>
              <a:cs typeface="Arial MT"/>
            </a:endParaRPr>
          </a:p>
          <a:p>
            <a:pPr algn="just" marL="12700" marR="286385" indent="6350">
              <a:lnSpc>
                <a:spcPct val="109700"/>
              </a:lnSpc>
            </a:pPr>
            <a:r>
              <a:rPr dirty="0" sz="850" spc="10">
                <a:latin typeface="Calibri"/>
                <a:cs typeface="Calibri"/>
              </a:rPr>
              <a:t>in Python, and messing with built-ins tends to cause unpredictable behavior and difficult-</a:t>
            </a:r>
            <a:r>
              <a:rPr dirty="0" sz="850" spc="-25">
                <a:latin typeface="Calibri"/>
                <a:cs typeface="Calibri"/>
              </a:rPr>
              <a:t>to-</a:t>
            </a:r>
            <a:r>
              <a:rPr dirty="0" sz="850">
                <a:latin typeface="Calibri"/>
                <a:cs typeface="Calibri"/>
              </a:rPr>
              <a:t>diagnose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bugs.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separate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ways: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135">
                <a:latin typeface="Calibri"/>
                <a:cs typeface="Calibri"/>
              </a:rPr>
              <a:t>self.inpt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900" spc="85">
                <a:latin typeface="Calibri"/>
                <a:cs typeface="Calibri"/>
              </a:rPr>
              <a:t>self.inpt_dropout</a:t>
            </a:r>
            <a:r>
              <a:rPr dirty="0" sz="850" spc="85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during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dropout.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remove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fraction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self.p_dropout</a:t>
            </a:r>
            <a:r>
              <a:rPr dirty="0" sz="90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That’s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900" spc="60">
                <a:latin typeface="Calibri"/>
                <a:cs typeface="Calibri"/>
              </a:rPr>
              <a:t>dropout_layer</a:t>
            </a:r>
            <a:r>
              <a:rPr dirty="0" sz="90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second-last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900" spc="90">
                <a:latin typeface="Calibri"/>
                <a:cs typeface="Calibri"/>
              </a:rPr>
              <a:t>set_inpt</a:t>
            </a:r>
            <a:r>
              <a:rPr dirty="0" sz="90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do-</a:t>
            </a:r>
            <a:r>
              <a:rPr dirty="0" sz="850" spc="20">
                <a:latin typeface="Calibri"/>
                <a:cs typeface="Calibri"/>
              </a:rPr>
              <a:t>ing.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900" spc="90">
                <a:latin typeface="Calibri"/>
                <a:cs typeface="Calibri"/>
              </a:rPr>
              <a:t>self.inpt_dropout</a:t>
            </a:r>
            <a:r>
              <a:rPr dirty="0" sz="90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900" spc="75">
                <a:latin typeface="Calibri"/>
                <a:cs typeface="Calibri"/>
              </a:rPr>
              <a:t>self.output_dropout</a:t>
            </a:r>
            <a:r>
              <a:rPr dirty="0" sz="90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during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self.inpt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self.output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purposes,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e.g.,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evaluating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data.</a:t>
            </a:r>
            <a:endParaRPr sz="850">
              <a:latin typeface="Calibri"/>
              <a:cs typeface="Calibri"/>
            </a:endParaRPr>
          </a:p>
          <a:p>
            <a:pPr algn="just" marL="208915">
              <a:lnSpc>
                <a:spcPct val="1000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ConvPoolLayer</a:t>
            </a:r>
            <a:r>
              <a:rPr dirty="0" sz="90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SoftmaxLayer</a:t>
            </a:r>
            <a:r>
              <a:rPr dirty="0" sz="90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definitions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 </a:t>
            </a:r>
            <a:r>
              <a:rPr dirty="0" sz="900" spc="50">
                <a:latin typeface="Calibri"/>
                <a:cs typeface="Calibri"/>
              </a:rPr>
              <a:t>FullyConnectedLayer</a:t>
            </a:r>
            <a:endParaRPr sz="900">
              <a:latin typeface="Calibri"/>
              <a:cs typeface="Calibri"/>
            </a:endParaRPr>
          </a:p>
          <a:p>
            <a:pPr algn="just" marL="19050" marR="307975">
              <a:lnSpc>
                <a:spcPct val="109400"/>
              </a:lnSpc>
              <a:spcBef>
                <a:spcPts val="40"/>
              </a:spcBef>
            </a:pP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Indeed,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close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excerpt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interested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look</a:t>
            </a:r>
            <a:r>
              <a:rPr dirty="0" sz="850" spc="30">
                <a:latin typeface="Calibri"/>
                <a:cs typeface="Calibri"/>
              </a:rPr>
              <a:t> 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full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listing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for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network3.py</a:t>
            </a:r>
            <a:r>
              <a:rPr dirty="0" sz="850" spc="30">
                <a:latin typeface="Calibri"/>
                <a:cs typeface="Calibri"/>
              </a:rPr>
              <a:t>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later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this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section.</a:t>
            </a:r>
            <a:endParaRPr sz="850">
              <a:latin typeface="Calibri"/>
              <a:cs typeface="Calibri"/>
            </a:endParaRPr>
          </a:p>
          <a:p>
            <a:pPr algn="just" marL="19050" marR="289560" indent="189230">
              <a:lnSpc>
                <a:spcPct val="112100"/>
              </a:lnSpc>
              <a:spcBef>
                <a:spcPts val="15"/>
              </a:spcBef>
            </a:pP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couple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differences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mentioning.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obviously,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ConvPoolLayer</a:t>
            </a:r>
            <a:r>
              <a:rPr dirty="0" sz="90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SoftmaxLayer</a:t>
            </a:r>
            <a:r>
              <a:rPr dirty="0" sz="90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appropriate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type.</a:t>
            </a:r>
            <a:r>
              <a:rPr dirty="0" sz="850" spc="195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Fortunately,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Theano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easy,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providing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built-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operations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max-pooling,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softmax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function.</a:t>
            </a:r>
            <a:endParaRPr sz="850">
              <a:latin typeface="Calibri"/>
              <a:cs typeface="Calibri"/>
            </a:endParaRPr>
          </a:p>
          <a:p>
            <a:pPr algn="just" marL="12700" marR="285115" indent="19621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obviously,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introduced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never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discussed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biases.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Elsewhere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should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initialize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weights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suitably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parameterized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normal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variables.</a:t>
            </a:r>
            <a:r>
              <a:rPr dirty="0" sz="850" spc="270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heuristic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specific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(and,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amendment,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tanh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neurons).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layers.</a:t>
            </a:r>
            <a:r>
              <a:rPr dirty="0" sz="850" spc="55">
                <a:latin typeface="Calibri"/>
                <a:cs typeface="Calibri"/>
              </a:rPr>
              <a:t> So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priori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reason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apply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initialization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again.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Rather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than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that,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shall</a:t>
            </a:r>
            <a:r>
              <a:rPr dirty="0" sz="850" spc="20">
                <a:latin typeface="Calibri"/>
                <a:cs typeface="Calibri"/>
              </a:rPr>
              <a:t> initialize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weights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biases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0.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hoc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procedure,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practice.</a:t>
            </a:r>
            <a:endParaRPr sz="850">
              <a:latin typeface="Calibri"/>
              <a:cs typeface="Calibri"/>
            </a:endParaRPr>
          </a:p>
          <a:p>
            <a:pPr algn="just" marL="19050" marR="307975" indent="189230">
              <a:lnSpc>
                <a:spcPct val="107900"/>
              </a:lnSpc>
              <a:spcBef>
                <a:spcPts val="10"/>
              </a:spcBef>
            </a:pPr>
            <a:r>
              <a:rPr dirty="0" sz="850">
                <a:latin typeface="Calibri"/>
                <a:cs typeface="Calibri"/>
              </a:rPr>
              <a:t>Okay,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classes.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class?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u="sng" sz="850" spc="2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900" spc="170">
                <a:latin typeface="Calibri"/>
                <a:cs typeface="Calibri"/>
              </a:rPr>
              <a:t>init</a:t>
            </a:r>
            <a:r>
              <a:rPr dirty="0" u="sng" sz="900" spc="3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850" spc="-10">
                <a:latin typeface="Calibri"/>
                <a:cs typeface="Calibri"/>
              </a:rPr>
              <a:t>method: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404747" y="5084257"/>
            <a:ext cx="99060" cy="0"/>
          </a:xfrm>
          <a:custGeom>
            <a:avLst/>
            <a:gdLst/>
            <a:ahLst/>
            <a:cxnLst/>
            <a:rect l="l" t="t" r="r" b="b"/>
            <a:pathLst>
              <a:path w="99059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719161" y="5084257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39510" y="4845278"/>
            <a:ext cx="4401185" cy="2383790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50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Network(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95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70"/>
              </a:spcBef>
              <a:tabLst>
                <a:tab pos="469900" algn="l"/>
              </a:tabLst>
            </a:pPr>
            <a:r>
              <a:rPr dirty="0" sz="700" spc="55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	</a:t>
            </a:r>
            <a:r>
              <a:rPr dirty="0" sz="700" spc="165">
                <a:latin typeface="Calibri"/>
                <a:cs typeface="Calibri"/>
              </a:rPr>
              <a:t>init</a:t>
            </a:r>
            <a:r>
              <a:rPr dirty="0" sz="700" spc="310">
                <a:latin typeface="Calibri"/>
                <a:cs typeface="Calibri"/>
              </a:rPr>
              <a:t>  </a:t>
            </a:r>
            <a:r>
              <a:rPr dirty="0" sz="700" spc="170">
                <a:latin typeface="Calibri"/>
                <a:cs typeface="Calibri"/>
              </a:rPr>
              <a:t>(self,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layers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mini_batch_size):</a:t>
            </a:r>
            <a:endParaRPr sz="700">
              <a:latin typeface="Calibri"/>
              <a:cs typeface="Calibri"/>
            </a:endParaRPr>
          </a:p>
          <a:p>
            <a:pPr marL="255904" marR="478155" indent="127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Takes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‘layers‘,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describing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architecture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value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‘mini_batch_size</a:t>
            </a:r>
            <a:r>
              <a:rPr dirty="0" sz="700" spc="-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during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endParaRPr sz="700">
              <a:latin typeface="Calibri"/>
              <a:cs typeface="Calibri"/>
            </a:endParaRPr>
          </a:p>
          <a:p>
            <a:pPr marL="257175">
              <a:lnSpc>
                <a:spcPct val="100000"/>
              </a:lnSpc>
              <a:spcBef>
                <a:spcPts val="6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stochastic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descent.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257810">
              <a:lnSpc>
                <a:spcPct val="100000"/>
              </a:lnSpc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257810" marR="2126615">
              <a:lnSpc>
                <a:spcPct val="107900"/>
              </a:lnSpc>
            </a:pPr>
            <a:r>
              <a:rPr dirty="0" sz="700" spc="145">
                <a:latin typeface="Calibri"/>
                <a:cs typeface="Calibri"/>
              </a:rPr>
              <a:t>self.layers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layers</a:t>
            </a:r>
            <a:r>
              <a:rPr dirty="0" sz="700" spc="500">
                <a:latin typeface="Calibri"/>
                <a:cs typeface="Calibri"/>
              </a:rPr>
              <a:t>        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mini_batch_size</a:t>
            </a:r>
            <a:endParaRPr sz="700">
              <a:latin typeface="Calibri"/>
              <a:cs typeface="Calibri"/>
            </a:endParaRPr>
          </a:p>
          <a:p>
            <a:pPr marL="257810" marR="316865">
              <a:lnSpc>
                <a:spcPct val="107900"/>
              </a:lnSpc>
            </a:pPr>
            <a:r>
              <a:rPr dirty="0" sz="700" spc="105">
                <a:latin typeface="Calibri"/>
                <a:cs typeface="Calibri"/>
              </a:rPr>
              <a:t>self.params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[param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layer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self.layers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param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layer.params] </a:t>
            </a:r>
            <a:r>
              <a:rPr dirty="0" sz="700" spc="155">
                <a:latin typeface="Calibri"/>
                <a:cs typeface="Calibri"/>
              </a:rPr>
              <a:t>self.x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T.matrix(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"x"</a:t>
            </a:r>
            <a:r>
              <a:rPr dirty="0" sz="700" spc="120">
                <a:latin typeface="Calibri"/>
                <a:cs typeface="Calibri"/>
              </a:rPr>
              <a:t>)</a:t>
            </a:r>
            <a:endParaRPr sz="700">
              <a:latin typeface="Calibri"/>
              <a:cs typeface="Calibri"/>
            </a:endParaRPr>
          </a:p>
          <a:p>
            <a:pPr marL="259079" marR="2710180" indent="-1270">
              <a:lnSpc>
                <a:spcPct val="107900"/>
              </a:lnSpc>
            </a:pPr>
            <a:r>
              <a:rPr dirty="0" sz="700" spc="155">
                <a:latin typeface="Calibri"/>
                <a:cs typeface="Calibri"/>
              </a:rPr>
              <a:t>self.y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T.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ivector(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"y"</a:t>
            </a:r>
            <a:r>
              <a:rPr dirty="0" sz="700" spc="125">
                <a:latin typeface="Calibri"/>
                <a:cs typeface="Calibri"/>
              </a:rPr>
              <a:t>) </a:t>
            </a:r>
            <a:r>
              <a:rPr dirty="0" sz="700" spc="135">
                <a:latin typeface="Calibri"/>
                <a:cs typeface="Calibri"/>
              </a:rPr>
              <a:t>init_layer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self.layers[0]</a:t>
            </a:r>
            <a:endParaRPr sz="700">
              <a:latin typeface="Calibri"/>
              <a:cs typeface="Calibri"/>
            </a:endParaRPr>
          </a:p>
          <a:p>
            <a:pPr marL="257810" marR="1114425" indent="635">
              <a:lnSpc>
                <a:spcPct val="107900"/>
              </a:lnSpc>
            </a:pPr>
            <a:r>
              <a:rPr dirty="0" sz="700" spc="145">
                <a:latin typeface="Calibri"/>
                <a:cs typeface="Calibri"/>
              </a:rPr>
              <a:t>init_layer.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set_inpt(self.x,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70">
                <a:latin typeface="Calibri"/>
                <a:cs typeface="Calibri"/>
              </a:rPr>
              <a:t>self.x,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mini_batch_size)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j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110">
                <a:latin typeface="Calibri"/>
                <a:cs typeface="Calibri"/>
              </a:rPr>
              <a:t>(1,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45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45">
                <a:latin typeface="Calibri"/>
                <a:cs typeface="Calibri"/>
              </a:rPr>
              <a:t>(self.layers)):</a:t>
            </a:r>
            <a:endParaRPr sz="700">
              <a:latin typeface="Calibri"/>
              <a:cs typeface="Calibri"/>
            </a:endParaRPr>
          </a:p>
          <a:p>
            <a:pPr marL="364490" marR="1220470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prev_layer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layer</a:t>
            </a:r>
            <a:r>
              <a:rPr dirty="0" sz="700" spc="315">
                <a:latin typeface="Calibri"/>
                <a:cs typeface="Calibri"/>
              </a:rPr>
              <a:t> 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self.layers[j-</a:t>
            </a:r>
            <a:r>
              <a:rPr dirty="0" sz="700" spc="150">
                <a:latin typeface="Calibri"/>
                <a:cs typeface="Calibri"/>
              </a:rPr>
              <a:t>1],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self.layers[j] </a:t>
            </a:r>
            <a:r>
              <a:rPr dirty="0" sz="700" spc="135">
                <a:latin typeface="Calibri"/>
                <a:cs typeface="Calibri"/>
              </a:rPr>
              <a:t>layer.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set_inpt(</a:t>
            </a:r>
            <a:endParaRPr sz="700">
              <a:latin typeface="Calibri"/>
              <a:cs typeface="Calibri"/>
            </a:endParaRPr>
          </a:p>
          <a:p>
            <a:pPr marL="257810" marR="370205" indent="212725">
              <a:lnSpc>
                <a:spcPct val="107900"/>
              </a:lnSpc>
            </a:pPr>
            <a:r>
              <a:rPr dirty="0" sz="700" spc="100">
                <a:latin typeface="Calibri"/>
                <a:cs typeface="Calibri"/>
              </a:rPr>
              <a:t>prev_layer.output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prev_layer.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output_dropout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mini_batch_size) </a:t>
            </a:r>
            <a:r>
              <a:rPr dirty="0" sz="700" spc="120">
                <a:latin typeface="Calibri"/>
                <a:cs typeface="Calibri"/>
              </a:rPr>
              <a:t>self.output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output</a:t>
            </a:r>
            <a:endParaRPr sz="700">
              <a:latin typeface="Calibri"/>
              <a:cs typeface="Calibri"/>
            </a:endParaRPr>
          </a:p>
          <a:p>
            <a:pPr marL="257810">
              <a:lnSpc>
                <a:spcPct val="100000"/>
              </a:lnSpc>
              <a:spcBef>
                <a:spcPts val="65"/>
              </a:spcBef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output_dropout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output_dropout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2374" y="7251943"/>
            <a:ext cx="4373245" cy="7658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4445">
              <a:lnSpc>
                <a:spcPct val="107900"/>
              </a:lnSpc>
              <a:spcBef>
                <a:spcPts val="100"/>
              </a:spcBef>
            </a:pP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self-explanatory,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self.params</a:t>
            </a:r>
            <a:r>
              <a:rPr dirty="0" sz="900" spc="36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=</a:t>
            </a:r>
            <a:r>
              <a:rPr dirty="0" sz="900" spc="36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[param</a:t>
            </a:r>
            <a:r>
              <a:rPr dirty="0" sz="900" spc="365">
                <a:latin typeface="Calibri"/>
                <a:cs typeface="Calibri"/>
              </a:rPr>
              <a:t> </a:t>
            </a:r>
            <a:r>
              <a:rPr dirty="0" sz="900" spc="110">
                <a:latin typeface="Calibri"/>
                <a:cs typeface="Calibri"/>
              </a:rPr>
              <a:t>for</a:t>
            </a:r>
            <a:r>
              <a:rPr dirty="0" sz="900" spc="365">
                <a:latin typeface="Calibri"/>
                <a:cs typeface="Calibri"/>
              </a:rPr>
              <a:t> </a:t>
            </a:r>
            <a:r>
              <a:rPr dirty="0" sz="900" spc="95">
                <a:latin typeface="Calibri"/>
                <a:cs typeface="Calibri"/>
              </a:rPr>
              <a:t>layer </a:t>
            </a:r>
            <a:r>
              <a:rPr dirty="0" sz="900" spc="120">
                <a:latin typeface="Calibri"/>
                <a:cs typeface="Calibri"/>
              </a:rPr>
              <a:t>in</a:t>
            </a:r>
            <a:r>
              <a:rPr dirty="0" sz="900" spc="345">
                <a:latin typeface="Calibri"/>
                <a:cs typeface="Calibri"/>
              </a:rPr>
              <a:t> </a:t>
            </a:r>
            <a:r>
              <a:rPr dirty="0" sz="900" spc="229">
                <a:latin typeface="Calibri"/>
                <a:cs typeface="Calibri"/>
              </a:rPr>
              <a:t>...]</a:t>
            </a:r>
            <a:r>
              <a:rPr dirty="0" sz="90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bundles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anticipated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above,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Network.SGD</a:t>
            </a:r>
            <a:r>
              <a:rPr dirty="0" sz="90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self.params</a:t>
            </a:r>
            <a:r>
              <a:rPr dirty="0" sz="90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learn.</a:t>
            </a:r>
            <a:r>
              <a:rPr dirty="0" sz="850" spc="3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900" spc="150">
                <a:latin typeface="Calibri"/>
                <a:cs typeface="Calibri"/>
              </a:rPr>
              <a:t>self.x</a:t>
            </a:r>
            <a:r>
              <a:rPr dirty="0" sz="900" spc="34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=</a:t>
            </a:r>
            <a:r>
              <a:rPr dirty="0" sz="900" spc="340">
                <a:latin typeface="Calibri"/>
                <a:cs typeface="Calibri"/>
              </a:rPr>
              <a:t> </a:t>
            </a:r>
            <a:r>
              <a:rPr dirty="0" sz="900" spc="105">
                <a:latin typeface="Calibri"/>
                <a:cs typeface="Calibri"/>
              </a:rPr>
              <a:t>T.matrix(</a:t>
            </a:r>
            <a:r>
              <a:rPr dirty="0" sz="900" spc="105">
                <a:solidFill>
                  <a:srgbClr val="007F00"/>
                </a:solidFill>
                <a:latin typeface="Calibri"/>
                <a:cs typeface="Calibri"/>
              </a:rPr>
              <a:t>"x"</a:t>
            </a:r>
            <a:r>
              <a:rPr dirty="0" sz="900" spc="105">
                <a:latin typeface="Calibri"/>
                <a:cs typeface="Calibri"/>
              </a:rPr>
              <a:t>)</a:t>
            </a:r>
            <a:r>
              <a:rPr dirty="0" sz="90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900" spc="145">
                <a:latin typeface="Calibri"/>
                <a:cs typeface="Calibri"/>
              </a:rPr>
              <a:t>self.y</a:t>
            </a:r>
            <a:r>
              <a:rPr dirty="0" sz="900" spc="34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=</a:t>
            </a:r>
            <a:r>
              <a:rPr dirty="0" sz="900" spc="340">
                <a:latin typeface="Calibri"/>
                <a:cs typeface="Calibri"/>
              </a:rPr>
              <a:t> </a:t>
            </a:r>
            <a:r>
              <a:rPr dirty="0" sz="900" spc="120">
                <a:latin typeface="Calibri"/>
                <a:cs typeface="Calibri"/>
              </a:rPr>
              <a:t>T.ivector(</a:t>
            </a:r>
            <a:r>
              <a:rPr dirty="0" sz="900" spc="120">
                <a:solidFill>
                  <a:srgbClr val="007F00"/>
                </a:solidFill>
                <a:latin typeface="Calibri"/>
                <a:cs typeface="Calibri"/>
              </a:rPr>
              <a:t>"y"</a:t>
            </a:r>
            <a:r>
              <a:rPr dirty="0" sz="900" spc="120">
                <a:latin typeface="Calibri"/>
                <a:cs typeface="Calibri"/>
              </a:rPr>
              <a:t>)</a:t>
            </a:r>
            <a:r>
              <a:rPr dirty="0" sz="90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define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Theano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symbolic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900" spc="80">
                <a:latin typeface="Calibri"/>
                <a:cs typeface="Calibri"/>
              </a:rPr>
              <a:t>x</a:t>
            </a:r>
            <a:r>
              <a:rPr dirty="0" sz="90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y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represent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8" name="object 8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6780" cy="22034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188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algn="just" marL="331470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desired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network.</a:t>
            </a:r>
            <a:endParaRPr sz="850">
              <a:latin typeface="Calibri"/>
              <a:cs typeface="Calibri"/>
            </a:endParaRPr>
          </a:p>
          <a:p>
            <a:pPr algn="just" marL="327660" marR="30480" indent="193675">
              <a:lnSpc>
                <a:spcPct val="114300"/>
              </a:lnSpc>
              <a:spcBef>
                <a:spcPts val="35"/>
              </a:spcBef>
            </a:pP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Theano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tutorial,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deeply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means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symbolic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variables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21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rough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represent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mathematical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explicit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variables: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subtract,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on.</a:t>
            </a:r>
            <a:r>
              <a:rPr dirty="0" sz="850" spc="4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Theano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provides</a:t>
            </a:r>
            <a:r>
              <a:rPr dirty="0" sz="850" spc="30">
                <a:latin typeface="Calibri"/>
                <a:cs typeface="Calibri"/>
              </a:rPr>
              <a:t> many ways of manipulating such symbolic variables, doing things like convolutions, </a:t>
            </a:r>
            <a:r>
              <a:rPr dirty="0" sz="850" spc="-20">
                <a:latin typeface="Calibri"/>
                <a:cs typeface="Calibri"/>
              </a:rPr>
              <a:t>max-</a:t>
            </a:r>
            <a:r>
              <a:rPr dirty="0" sz="850" spc="10">
                <a:latin typeface="Calibri"/>
                <a:cs typeface="Calibri"/>
              </a:rPr>
              <a:t>pooling,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ability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symbolic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differentiation,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very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extremely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useful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applying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wide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variety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next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symbolic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initial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line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9514" y="2637535"/>
            <a:ext cx="4401185" cy="196215"/>
          </a:xfrm>
          <a:prstGeom prst="rect">
            <a:avLst/>
          </a:prstGeom>
          <a:ln w="5054">
            <a:solidFill>
              <a:srgbClr val="000000"/>
            </a:solidFill>
          </a:ln>
        </p:spPr>
        <p:txBody>
          <a:bodyPr wrap="square" lIns="0" tIns="31750" rIns="0" bIns="0" rtlCol="0" vert="horz">
            <a:spAutoFit/>
          </a:bodyPr>
          <a:lstStyle/>
          <a:p>
            <a:pPr marL="46355">
              <a:lnSpc>
                <a:spcPct val="100000"/>
              </a:lnSpc>
              <a:spcBef>
                <a:spcPts val="250"/>
              </a:spcBef>
            </a:pPr>
            <a:r>
              <a:rPr dirty="0" sz="700" spc="145">
                <a:latin typeface="Calibri"/>
                <a:cs typeface="Calibri"/>
              </a:rPr>
              <a:t>init_layer.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set_inpt(self.x,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70">
                <a:latin typeface="Calibri"/>
                <a:cs typeface="Calibri"/>
              </a:rPr>
              <a:t>self.x,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01" y="2869526"/>
            <a:ext cx="4373245" cy="13576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just" marL="12700" marR="29209">
              <a:lnSpc>
                <a:spcPct val="109400"/>
              </a:lnSpc>
              <a:spcBef>
                <a:spcPts val="105"/>
              </a:spcBef>
            </a:pP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pass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900" spc="150">
                <a:latin typeface="Calibri"/>
                <a:cs typeface="Calibri"/>
              </a:rPr>
              <a:t>self.x</a:t>
            </a:r>
            <a:r>
              <a:rPr dirty="0" sz="90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twice: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because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without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dropout).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propagates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symbolic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variable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self.x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forward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allows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define</a:t>
            </a:r>
            <a:r>
              <a:rPr dirty="0" sz="850" spc="30">
                <a:latin typeface="Calibri"/>
                <a:cs typeface="Calibri"/>
              </a:rPr>
              <a:t> 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final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output</a:t>
            </a:r>
            <a:r>
              <a:rPr dirty="0" sz="900" spc="2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output_dropout </a:t>
            </a:r>
            <a:r>
              <a:rPr dirty="0" sz="850" spc="20">
                <a:latin typeface="Calibri"/>
                <a:cs typeface="Calibri"/>
              </a:rPr>
              <a:t>attributes,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which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symbolically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represent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output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900" spc="-10">
                <a:latin typeface="Calibri"/>
                <a:cs typeface="Calibri"/>
              </a:rPr>
              <a:t>Network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12700" marR="5080" indent="189230">
              <a:lnSpc>
                <a:spcPct val="110200"/>
              </a:lnSpc>
              <a:spcBef>
                <a:spcPts val="10"/>
              </a:spcBef>
            </a:pPr>
            <a:r>
              <a:rPr dirty="0" sz="850" spc="20">
                <a:latin typeface="Calibri"/>
                <a:cs typeface="Calibri"/>
              </a:rPr>
              <a:t>Now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understood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Network</a:t>
            </a:r>
            <a:r>
              <a:rPr dirty="0" sz="90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initialized,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trained,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900" spc="-10">
                <a:latin typeface="Calibri"/>
                <a:cs typeface="Calibri"/>
              </a:rPr>
              <a:t>SGD</a:t>
            </a:r>
            <a:r>
              <a:rPr dirty="0" sz="90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method.</a:t>
            </a:r>
            <a:r>
              <a:rPr dirty="0" sz="850" spc="3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lengthy,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simple.</a:t>
            </a:r>
            <a:r>
              <a:rPr dirty="0" sz="850" spc="20">
                <a:latin typeface="Calibri"/>
                <a:cs typeface="Calibri"/>
              </a:rPr>
              <a:t> Explanatory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comments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after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code.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76984" y="4289691"/>
            <a:ext cx="4406265" cy="3267075"/>
          </a:xfrm>
          <a:custGeom>
            <a:avLst/>
            <a:gdLst/>
            <a:ahLst/>
            <a:cxnLst/>
            <a:rect l="l" t="t" r="r" b="b"/>
            <a:pathLst>
              <a:path w="4406265" h="3267075">
                <a:moveTo>
                  <a:pt x="2529" y="43014"/>
                </a:moveTo>
                <a:lnTo>
                  <a:pt x="2529" y="0"/>
                </a:lnTo>
              </a:path>
              <a:path w="4406265" h="3267075">
                <a:moveTo>
                  <a:pt x="0" y="2527"/>
                </a:moveTo>
                <a:lnTo>
                  <a:pt x="43016" y="2527"/>
                </a:lnTo>
              </a:path>
              <a:path w="4406265" h="3267075">
                <a:moveTo>
                  <a:pt x="43016" y="2527"/>
                </a:moveTo>
                <a:lnTo>
                  <a:pt x="4363010" y="2527"/>
                </a:lnTo>
              </a:path>
              <a:path w="4406265" h="3267075">
                <a:moveTo>
                  <a:pt x="4363010" y="2527"/>
                </a:moveTo>
                <a:lnTo>
                  <a:pt x="4406025" y="2527"/>
                </a:lnTo>
              </a:path>
              <a:path w="4406265" h="3267075">
                <a:moveTo>
                  <a:pt x="4403497" y="43014"/>
                </a:moveTo>
                <a:lnTo>
                  <a:pt x="4403497" y="0"/>
                </a:lnTo>
              </a:path>
              <a:path w="4406265" h="3267075">
                <a:moveTo>
                  <a:pt x="2529" y="158153"/>
                </a:moveTo>
                <a:lnTo>
                  <a:pt x="2529" y="43014"/>
                </a:lnTo>
              </a:path>
              <a:path w="4406265" h="3267075">
                <a:moveTo>
                  <a:pt x="4403497" y="158153"/>
                </a:moveTo>
                <a:lnTo>
                  <a:pt x="4403497" y="43014"/>
                </a:lnTo>
              </a:path>
              <a:path w="4406265" h="3267075">
                <a:moveTo>
                  <a:pt x="2529" y="273291"/>
                </a:moveTo>
                <a:lnTo>
                  <a:pt x="2529" y="158153"/>
                </a:lnTo>
              </a:path>
              <a:path w="4406265" h="3267075">
                <a:moveTo>
                  <a:pt x="4403497" y="273291"/>
                </a:moveTo>
                <a:lnTo>
                  <a:pt x="4403497" y="158153"/>
                </a:lnTo>
              </a:path>
              <a:path w="4406265" h="3267075">
                <a:moveTo>
                  <a:pt x="2529" y="388429"/>
                </a:moveTo>
                <a:lnTo>
                  <a:pt x="2529" y="273291"/>
                </a:lnTo>
              </a:path>
              <a:path w="4406265" h="3267075">
                <a:moveTo>
                  <a:pt x="4403497" y="388429"/>
                </a:moveTo>
                <a:lnTo>
                  <a:pt x="4403497" y="273291"/>
                </a:lnTo>
              </a:path>
              <a:path w="4406265" h="3267075">
                <a:moveTo>
                  <a:pt x="2529" y="503567"/>
                </a:moveTo>
                <a:lnTo>
                  <a:pt x="2529" y="388429"/>
                </a:lnTo>
              </a:path>
              <a:path w="4406265" h="3267075">
                <a:moveTo>
                  <a:pt x="4403497" y="503567"/>
                </a:moveTo>
                <a:lnTo>
                  <a:pt x="4403497" y="388429"/>
                </a:lnTo>
              </a:path>
              <a:path w="4406265" h="3267075">
                <a:moveTo>
                  <a:pt x="2529" y="618705"/>
                </a:moveTo>
                <a:lnTo>
                  <a:pt x="2529" y="503567"/>
                </a:lnTo>
              </a:path>
              <a:path w="4406265" h="3267075">
                <a:moveTo>
                  <a:pt x="4403497" y="618705"/>
                </a:moveTo>
                <a:lnTo>
                  <a:pt x="4403497" y="503567"/>
                </a:lnTo>
              </a:path>
              <a:path w="4406265" h="3267075">
                <a:moveTo>
                  <a:pt x="2529" y="733844"/>
                </a:moveTo>
                <a:lnTo>
                  <a:pt x="2529" y="618705"/>
                </a:lnTo>
              </a:path>
              <a:path w="4406265" h="3267075">
                <a:moveTo>
                  <a:pt x="4403497" y="733844"/>
                </a:moveTo>
                <a:lnTo>
                  <a:pt x="4403497" y="618705"/>
                </a:lnTo>
              </a:path>
              <a:path w="4406265" h="3267075">
                <a:moveTo>
                  <a:pt x="2529" y="848982"/>
                </a:moveTo>
                <a:lnTo>
                  <a:pt x="2529" y="733844"/>
                </a:lnTo>
              </a:path>
              <a:path w="4406265" h="3267075">
                <a:moveTo>
                  <a:pt x="4403497" y="848982"/>
                </a:moveTo>
                <a:lnTo>
                  <a:pt x="4403497" y="733844"/>
                </a:lnTo>
              </a:path>
              <a:path w="4406265" h="3267075">
                <a:moveTo>
                  <a:pt x="2529" y="964120"/>
                </a:moveTo>
                <a:lnTo>
                  <a:pt x="2529" y="848982"/>
                </a:lnTo>
              </a:path>
              <a:path w="4406265" h="3267075">
                <a:moveTo>
                  <a:pt x="4403497" y="964120"/>
                </a:moveTo>
                <a:lnTo>
                  <a:pt x="4403497" y="848982"/>
                </a:lnTo>
              </a:path>
              <a:path w="4406265" h="3267075">
                <a:moveTo>
                  <a:pt x="2529" y="1079258"/>
                </a:moveTo>
                <a:lnTo>
                  <a:pt x="2529" y="964120"/>
                </a:lnTo>
              </a:path>
              <a:path w="4406265" h="3267075">
                <a:moveTo>
                  <a:pt x="4403497" y="1079258"/>
                </a:moveTo>
                <a:lnTo>
                  <a:pt x="4403497" y="964120"/>
                </a:lnTo>
              </a:path>
              <a:path w="4406265" h="3267075">
                <a:moveTo>
                  <a:pt x="2529" y="1194396"/>
                </a:moveTo>
                <a:lnTo>
                  <a:pt x="2529" y="1079258"/>
                </a:lnTo>
              </a:path>
              <a:path w="4406265" h="3267075">
                <a:moveTo>
                  <a:pt x="4403497" y="1194396"/>
                </a:moveTo>
                <a:lnTo>
                  <a:pt x="4403497" y="1079258"/>
                </a:lnTo>
              </a:path>
              <a:path w="4406265" h="3267075">
                <a:moveTo>
                  <a:pt x="2529" y="1309535"/>
                </a:moveTo>
                <a:lnTo>
                  <a:pt x="2529" y="1194396"/>
                </a:lnTo>
              </a:path>
              <a:path w="4406265" h="3267075">
                <a:moveTo>
                  <a:pt x="4403497" y="1309535"/>
                </a:moveTo>
                <a:lnTo>
                  <a:pt x="4403497" y="1194396"/>
                </a:lnTo>
              </a:path>
              <a:path w="4406265" h="3267075">
                <a:moveTo>
                  <a:pt x="2529" y="1424673"/>
                </a:moveTo>
                <a:lnTo>
                  <a:pt x="2529" y="1309535"/>
                </a:lnTo>
              </a:path>
              <a:path w="4406265" h="3267075">
                <a:moveTo>
                  <a:pt x="4403497" y="1424673"/>
                </a:moveTo>
                <a:lnTo>
                  <a:pt x="4403497" y="1309535"/>
                </a:lnTo>
              </a:path>
              <a:path w="4406265" h="3267075">
                <a:moveTo>
                  <a:pt x="2529" y="1539811"/>
                </a:moveTo>
                <a:lnTo>
                  <a:pt x="2529" y="1424673"/>
                </a:lnTo>
              </a:path>
              <a:path w="4406265" h="3267075">
                <a:moveTo>
                  <a:pt x="4403497" y="1539811"/>
                </a:moveTo>
                <a:lnTo>
                  <a:pt x="4403497" y="1424673"/>
                </a:lnTo>
              </a:path>
              <a:path w="4406265" h="3267075">
                <a:moveTo>
                  <a:pt x="2529" y="1654962"/>
                </a:moveTo>
                <a:lnTo>
                  <a:pt x="2529" y="1539824"/>
                </a:lnTo>
              </a:path>
              <a:path w="4406265" h="3267075">
                <a:moveTo>
                  <a:pt x="4403497" y="1654962"/>
                </a:moveTo>
                <a:lnTo>
                  <a:pt x="4403497" y="1539824"/>
                </a:lnTo>
              </a:path>
              <a:path w="4406265" h="3267075">
                <a:moveTo>
                  <a:pt x="2529" y="1770100"/>
                </a:moveTo>
                <a:lnTo>
                  <a:pt x="2529" y="1654962"/>
                </a:lnTo>
              </a:path>
              <a:path w="4406265" h="3267075">
                <a:moveTo>
                  <a:pt x="4403497" y="1770100"/>
                </a:moveTo>
                <a:lnTo>
                  <a:pt x="4403497" y="1654962"/>
                </a:lnTo>
              </a:path>
              <a:path w="4406265" h="3267075">
                <a:moveTo>
                  <a:pt x="2529" y="1885238"/>
                </a:moveTo>
                <a:lnTo>
                  <a:pt x="2529" y="1770100"/>
                </a:lnTo>
              </a:path>
              <a:path w="4406265" h="3267075">
                <a:moveTo>
                  <a:pt x="4403497" y="1885238"/>
                </a:moveTo>
                <a:lnTo>
                  <a:pt x="4403497" y="1770100"/>
                </a:lnTo>
              </a:path>
              <a:path w="4406265" h="3267075">
                <a:moveTo>
                  <a:pt x="2529" y="2000377"/>
                </a:moveTo>
                <a:lnTo>
                  <a:pt x="2529" y="1885238"/>
                </a:lnTo>
              </a:path>
              <a:path w="4406265" h="3267075">
                <a:moveTo>
                  <a:pt x="4403497" y="2000377"/>
                </a:moveTo>
                <a:lnTo>
                  <a:pt x="4403497" y="1885238"/>
                </a:lnTo>
              </a:path>
              <a:path w="4406265" h="3267075">
                <a:moveTo>
                  <a:pt x="2529" y="2115515"/>
                </a:moveTo>
                <a:lnTo>
                  <a:pt x="2529" y="2000377"/>
                </a:lnTo>
              </a:path>
              <a:path w="4406265" h="3267075">
                <a:moveTo>
                  <a:pt x="4403497" y="2115515"/>
                </a:moveTo>
                <a:lnTo>
                  <a:pt x="4403497" y="2000377"/>
                </a:lnTo>
              </a:path>
              <a:path w="4406265" h="3267075">
                <a:moveTo>
                  <a:pt x="2529" y="2230653"/>
                </a:moveTo>
                <a:lnTo>
                  <a:pt x="2529" y="2115515"/>
                </a:lnTo>
              </a:path>
              <a:path w="4406265" h="3267075">
                <a:moveTo>
                  <a:pt x="4403497" y="2230653"/>
                </a:moveTo>
                <a:lnTo>
                  <a:pt x="4403497" y="2115515"/>
                </a:lnTo>
              </a:path>
              <a:path w="4406265" h="3267075">
                <a:moveTo>
                  <a:pt x="2529" y="2345791"/>
                </a:moveTo>
                <a:lnTo>
                  <a:pt x="2529" y="2230653"/>
                </a:lnTo>
              </a:path>
              <a:path w="4406265" h="3267075">
                <a:moveTo>
                  <a:pt x="4403497" y="2345791"/>
                </a:moveTo>
                <a:lnTo>
                  <a:pt x="4403497" y="2230653"/>
                </a:lnTo>
              </a:path>
              <a:path w="4406265" h="3267075">
                <a:moveTo>
                  <a:pt x="2529" y="2460929"/>
                </a:moveTo>
                <a:lnTo>
                  <a:pt x="2529" y="2345791"/>
                </a:lnTo>
              </a:path>
              <a:path w="4406265" h="3267075">
                <a:moveTo>
                  <a:pt x="4403497" y="2460929"/>
                </a:moveTo>
                <a:lnTo>
                  <a:pt x="4403497" y="2345791"/>
                </a:lnTo>
              </a:path>
              <a:path w="4406265" h="3267075">
                <a:moveTo>
                  <a:pt x="2529" y="2576068"/>
                </a:moveTo>
                <a:lnTo>
                  <a:pt x="2529" y="2460929"/>
                </a:lnTo>
              </a:path>
              <a:path w="4406265" h="3267075">
                <a:moveTo>
                  <a:pt x="4403497" y="2576068"/>
                </a:moveTo>
                <a:lnTo>
                  <a:pt x="4403497" y="2460929"/>
                </a:lnTo>
              </a:path>
              <a:path w="4406265" h="3267075">
                <a:moveTo>
                  <a:pt x="2529" y="2691206"/>
                </a:moveTo>
                <a:lnTo>
                  <a:pt x="2529" y="2576068"/>
                </a:lnTo>
              </a:path>
              <a:path w="4406265" h="3267075">
                <a:moveTo>
                  <a:pt x="4403497" y="2691206"/>
                </a:moveTo>
                <a:lnTo>
                  <a:pt x="4403497" y="2576068"/>
                </a:lnTo>
              </a:path>
              <a:path w="4406265" h="3267075">
                <a:moveTo>
                  <a:pt x="2529" y="2806344"/>
                </a:moveTo>
                <a:lnTo>
                  <a:pt x="2529" y="2691206"/>
                </a:lnTo>
              </a:path>
              <a:path w="4406265" h="3267075">
                <a:moveTo>
                  <a:pt x="4403497" y="2806344"/>
                </a:moveTo>
                <a:lnTo>
                  <a:pt x="4403497" y="2691206"/>
                </a:lnTo>
              </a:path>
              <a:path w="4406265" h="3267075">
                <a:moveTo>
                  <a:pt x="2529" y="2921482"/>
                </a:moveTo>
                <a:lnTo>
                  <a:pt x="2529" y="2806344"/>
                </a:lnTo>
              </a:path>
              <a:path w="4406265" h="3267075">
                <a:moveTo>
                  <a:pt x="4403497" y="2921482"/>
                </a:moveTo>
                <a:lnTo>
                  <a:pt x="4403497" y="2806344"/>
                </a:lnTo>
              </a:path>
              <a:path w="4406265" h="3267075">
                <a:moveTo>
                  <a:pt x="2529" y="3036620"/>
                </a:moveTo>
                <a:lnTo>
                  <a:pt x="2529" y="2921482"/>
                </a:lnTo>
              </a:path>
              <a:path w="4406265" h="3267075">
                <a:moveTo>
                  <a:pt x="4403497" y="3036620"/>
                </a:moveTo>
                <a:lnTo>
                  <a:pt x="4403497" y="2921482"/>
                </a:lnTo>
              </a:path>
              <a:path w="4406265" h="3267075">
                <a:moveTo>
                  <a:pt x="2529" y="3151760"/>
                </a:moveTo>
                <a:lnTo>
                  <a:pt x="2529" y="3036620"/>
                </a:lnTo>
              </a:path>
              <a:path w="4406265" h="3267075">
                <a:moveTo>
                  <a:pt x="4403497" y="3151760"/>
                </a:moveTo>
                <a:lnTo>
                  <a:pt x="4403497" y="3036620"/>
                </a:lnTo>
              </a:path>
              <a:path w="4406265" h="3267075">
                <a:moveTo>
                  <a:pt x="2529" y="3266898"/>
                </a:moveTo>
                <a:lnTo>
                  <a:pt x="2529" y="3151760"/>
                </a:lnTo>
              </a:path>
              <a:path w="4406265" h="3267075">
                <a:moveTo>
                  <a:pt x="4403497" y="3266898"/>
                </a:moveTo>
                <a:lnTo>
                  <a:pt x="4403497" y="315176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720001" y="765438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669201" y="4303188"/>
            <a:ext cx="4425315" cy="3711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75285" marR="1181100" indent="-213995">
              <a:lnSpc>
                <a:spcPct val="107900"/>
              </a:lnSpc>
              <a:spcBef>
                <a:spcPts val="10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SGD(self,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epochs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eta,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test_data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lmbda=0.0):</a:t>
            </a:r>
            <a:endParaRPr sz="700">
              <a:latin typeface="Calibri"/>
              <a:cs typeface="Calibri"/>
            </a:endParaRPr>
          </a:p>
          <a:p>
            <a:pPr marL="267970">
              <a:lnSpc>
                <a:spcPct val="100000"/>
              </a:lnSpc>
              <a:spcBef>
                <a:spcPts val="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Train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mini-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batch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stochastic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descent."""</a:t>
            </a:r>
            <a:endParaRPr sz="700">
              <a:latin typeface="Calibri"/>
              <a:cs typeface="Calibri"/>
            </a:endParaRPr>
          </a:p>
          <a:p>
            <a:pPr marL="267970" marR="1821814">
              <a:lnSpc>
                <a:spcPct val="107900"/>
              </a:lnSpc>
            </a:pPr>
            <a:r>
              <a:rPr dirty="0" sz="700" spc="114">
                <a:latin typeface="Calibri"/>
                <a:cs typeface="Calibri"/>
              </a:rPr>
              <a:t>training_x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training_y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training_data </a:t>
            </a:r>
            <a:r>
              <a:rPr dirty="0" sz="700" spc="110">
                <a:latin typeface="Calibri"/>
                <a:cs typeface="Calibri"/>
              </a:rPr>
              <a:t>validation_x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validation_y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validation_data test_x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test_y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test_data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269240" marR="546100" indent="-3175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5" i="1">
                <a:solidFill>
                  <a:srgbClr val="980000"/>
                </a:solidFill>
                <a:latin typeface="Calibri"/>
                <a:cs typeface="Calibri"/>
              </a:rPr>
              <a:t>compute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number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minibatches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validation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testing </a:t>
            </a:r>
            <a:r>
              <a:rPr dirty="0" sz="700" spc="85">
                <a:latin typeface="Calibri"/>
                <a:cs typeface="Calibri"/>
              </a:rPr>
              <a:t>num_training_batches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size(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training_data)/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mini_batch_size </a:t>
            </a:r>
            <a:r>
              <a:rPr dirty="0" sz="700" spc="90">
                <a:latin typeface="Calibri"/>
                <a:cs typeface="Calibri"/>
              </a:rPr>
              <a:t>num_validation_batches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size(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validation_data)/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mini_batch_size </a:t>
            </a:r>
            <a:r>
              <a:rPr dirty="0" sz="700" spc="75">
                <a:latin typeface="Calibri"/>
                <a:cs typeface="Calibri"/>
              </a:rPr>
              <a:t>num_test_batches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size(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test_data)/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mini_batch_size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266065">
              <a:lnSpc>
                <a:spcPct val="1000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define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(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regularized)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function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symbolic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gradients,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updates</a:t>
            </a:r>
            <a:endParaRPr sz="700">
              <a:latin typeface="Calibri"/>
              <a:cs typeface="Calibri"/>
            </a:endParaRPr>
          </a:p>
          <a:p>
            <a:pPr marL="268605" marR="544830" indent="635">
              <a:lnSpc>
                <a:spcPct val="107900"/>
              </a:lnSpc>
            </a:pPr>
            <a:r>
              <a:rPr dirty="0" sz="700" spc="65">
                <a:latin typeface="Calibri"/>
                <a:cs typeface="Calibri"/>
              </a:rPr>
              <a:t>l2_norm_squared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sum</a:t>
            </a:r>
            <a:r>
              <a:rPr dirty="0" sz="700" spc="95">
                <a:latin typeface="Calibri"/>
                <a:cs typeface="Calibri"/>
              </a:rPr>
              <a:t>([(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layer.w**2).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sum</a:t>
            </a:r>
            <a:r>
              <a:rPr dirty="0" sz="700" spc="105">
                <a:latin typeface="Calibri"/>
                <a:cs typeface="Calibri"/>
              </a:rPr>
              <a:t>()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layer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self.layers]) </a:t>
            </a:r>
            <a:r>
              <a:rPr dirty="0" sz="700" spc="95">
                <a:latin typeface="Calibri"/>
                <a:cs typeface="Calibri"/>
              </a:rPr>
              <a:t>cost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cost(self)+\</a:t>
            </a:r>
            <a:endParaRPr sz="700">
              <a:latin typeface="Calibri"/>
              <a:cs typeface="Calibri"/>
            </a:endParaRPr>
          </a:p>
          <a:p>
            <a:pPr marL="268605" marR="1450340" indent="265430">
              <a:lnSpc>
                <a:spcPct val="107900"/>
              </a:lnSpc>
              <a:spcBef>
                <a:spcPts val="5"/>
              </a:spcBef>
            </a:pPr>
            <a:r>
              <a:rPr dirty="0" sz="700" spc="85">
                <a:latin typeface="Calibri"/>
                <a:cs typeface="Calibri"/>
              </a:rPr>
              <a:t>0.5*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lmbda*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l2_norm_squared/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num_training_batches </a:t>
            </a:r>
            <a:r>
              <a:rPr dirty="0" sz="700" spc="85">
                <a:latin typeface="Calibri"/>
                <a:cs typeface="Calibri"/>
              </a:rPr>
              <a:t>grads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T.grad(cost,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self.params)</a:t>
            </a:r>
            <a:endParaRPr sz="700">
              <a:latin typeface="Calibri"/>
              <a:cs typeface="Calibri"/>
            </a:endParaRPr>
          </a:p>
          <a:p>
            <a:pPr marL="268605">
              <a:lnSpc>
                <a:spcPct val="100000"/>
              </a:lnSpc>
              <a:spcBef>
                <a:spcPts val="65"/>
              </a:spcBef>
            </a:pPr>
            <a:r>
              <a:rPr dirty="0" sz="700" spc="75">
                <a:latin typeface="Calibri"/>
                <a:cs typeface="Calibri"/>
              </a:rPr>
              <a:t>updates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=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[(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param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param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215">
                <a:latin typeface="Calibri"/>
                <a:cs typeface="Calibri"/>
              </a:rPr>
              <a:t>-</a:t>
            </a:r>
            <a:r>
              <a:rPr dirty="0" sz="700" spc="75">
                <a:latin typeface="Calibri"/>
                <a:cs typeface="Calibri"/>
              </a:rPr>
              <a:t>eta*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grad)</a:t>
            </a:r>
            <a:endParaRPr sz="700">
              <a:latin typeface="Calibri"/>
              <a:cs typeface="Calibri"/>
            </a:endParaRPr>
          </a:p>
          <a:p>
            <a:pPr marL="640080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param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grad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14">
                <a:latin typeface="Calibri"/>
                <a:cs typeface="Calibri"/>
              </a:rPr>
              <a:t>(self.params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grads)]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marL="266065" marR="970280">
              <a:lnSpc>
                <a:spcPct val="107900"/>
              </a:lnSpc>
              <a:spcBef>
                <a:spcPts val="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define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functions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train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mini-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batch,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5" i="1">
                <a:solidFill>
                  <a:srgbClr val="980000"/>
                </a:solidFill>
                <a:latin typeface="Calibri"/>
                <a:cs typeface="Calibri"/>
              </a:rPr>
              <a:t>compute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accuracy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validation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test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mini-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batches.</a:t>
            </a:r>
            <a:endParaRPr sz="700">
              <a:latin typeface="Calibri"/>
              <a:cs typeface="Calibri"/>
            </a:endParaRPr>
          </a:p>
          <a:p>
            <a:pPr marL="266065">
              <a:lnSpc>
                <a:spcPct val="100000"/>
              </a:lnSpc>
              <a:spcBef>
                <a:spcPts val="65"/>
              </a:spcBef>
            </a:pPr>
            <a:r>
              <a:rPr dirty="0" sz="700" spc="200">
                <a:latin typeface="Calibri"/>
                <a:cs typeface="Calibri"/>
              </a:rPr>
              <a:t>i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T.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lscalar()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mini-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batch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index</a:t>
            </a:r>
            <a:endParaRPr sz="700">
              <a:latin typeface="Calibri"/>
              <a:cs typeface="Calibri"/>
            </a:endParaRPr>
          </a:p>
          <a:p>
            <a:pPr marL="372745" marR="2616200" indent="-104139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train_mb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theano.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function( </a:t>
            </a:r>
            <a:r>
              <a:rPr dirty="0" sz="700" spc="210">
                <a:latin typeface="Calibri"/>
                <a:cs typeface="Calibri"/>
              </a:rPr>
              <a:t>[i],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cost,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updates=updates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95">
                <a:latin typeface="Calibri"/>
                <a:cs typeface="Calibri"/>
              </a:rPr>
              <a:t>givens={</a:t>
            </a:r>
            <a:endParaRPr sz="700">
              <a:latin typeface="Calibri"/>
              <a:cs typeface="Calibri"/>
            </a:endParaRPr>
          </a:p>
          <a:p>
            <a:pPr marL="480695">
              <a:lnSpc>
                <a:spcPct val="100000"/>
              </a:lnSpc>
              <a:spcBef>
                <a:spcPts val="65"/>
              </a:spcBef>
            </a:pPr>
            <a:r>
              <a:rPr dirty="0" sz="700" spc="155">
                <a:latin typeface="Calibri"/>
                <a:cs typeface="Calibri"/>
              </a:rPr>
              <a:t>self.x:</a:t>
            </a:r>
            <a:endParaRPr sz="700">
              <a:latin typeface="Calibri"/>
              <a:cs typeface="Calibri"/>
            </a:endParaRPr>
          </a:p>
          <a:p>
            <a:pPr marL="481965">
              <a:lnSpc>
                <a:spcPct val="100000"/>
              </a:lnSpc>
              <a:spcBef>
                <a:spcPts val="70"/>
              </a:spcBef>
            </a:pPr>
            <a:r>
              <a:rPr dirty="0" sz="700" spc="130">
                <a:latin typeface="Calibri"/>
                <a:cs typeface="Calibri"/>
              </a:rPr>
              <a:t>training_x[i*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42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mini_batch_size],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700">
              <a:latin typeface="Calibri"/>
              <a:cs typeface="Calibri"/>
            </a:endParaRPr>
          </a:p>
          <a:p>
            <a:pPr algn="just" marL="50800" marR="43180" indent="86995">
              <a:lnSpc>
                <a:spcPts val="800"/>
              </a:lnSpc>
            </a:pPr>
            <a:r>
              <a:rPr dirty="0" baseline="30303" sz="825" spc="15">
                <a:latin typeface="Calibri"/>
                <a:cs typeface="Calibri"/>
              </a:rPr>
              <a:t>21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Theano</a:t>
            </a:r>
            <a:r>
              <a:rPr dirty="0" sz="750" spc="10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documentation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provides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good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introduction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Theano.</a:t>
            </a:r>
            <a:r>
              <a:rPr dirty="0" sz="750" spc="20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if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you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get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stuck,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you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may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find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helpful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look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other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tutorials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available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online.</a:t>
            </a:r>
            <a:r>
              <a:rPr dirty="0" sz="750" spc="2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instance,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this</a:t>
            </a:r>
            <a:r>
              <a:rPr dirty="0" sz="750" spc="140">
                <a:latin typeface="Calibri"/>
                <a:cs typeface="Calibri"/>
                <a:hlinkClick r:id="rId4"/>
              </a:rPr>
              <a:t> </a:t>
            </a:r>
            <a:r>
              <a:rPr dirty="0" sz="750" spc="10">
                <a:latin typeface="Calibri"/>
                <a:cs typeface="Calibri"/>
                <a:hlinkClick r:id="rId4"/>
              </a:rPr>
              <a:t>tutorial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covers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many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basics.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9" name="object 9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115094" y="368721"/>
            <a:ext cx="256540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369820" algn="l"/>
              </a:tabLst>
            </a:pPr>
            <a:r>
              <a:rPr dirty="0" sz="850" spc="10">
                <a:latin typeface="Calibri"/>
                <a:cs typeface="Calibri"/>
              </a:rPr>
              <a:t>6.3.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189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9510" y="971994"/>
            <a:ext cx="4401185" cy="5872480"/>
          </a:xfrm>
          <a:custGeom>
            <a:avLst/>
            <a:gdLst/>
            <a:ahLst/>
            <a:cxnLst/>
            <a:rect l="l" t="t" r="r" b="b"/>
            <a:pathLst>
              <a:path w="4401185" h="5872480">
                <a:moveTo>
                  <a:pt x="0" y="115138"/>
                </a:moveTo>
                <a:lnTo>
                  <a:pt x="0" y="0"/>
                </a:lnTo>
              </a:path>
              <a:path w="4401185" h="5872480">
                <a:moveTo>
                  <a:pt x="4400979" y="115138"/>
                </a:moveTo>
                <a:lnTo>
                  <a:pt x="4400979" y="0"/>
                </a:lnTo>
              </a:path>
              <a:path w="4401185" h="5872480">
                <a:moveTo>
                  <a:pt x="0" y="230276"/>
                </a:moveTo>
                <a:lnTo>
                  <a:pt x="0" y="115138"/>
                </a:lnTo>
              </a:path>
              <a:path w="4401185" h="5872480">
                <a:moveTo>
                  <a:pt x="4400979" y="230276"/>
                </a:moveTo>
                <a:lnTo>
                  <a:pt x="4400979" y="115138"/>
                </a:lnTo>
              </a:path>
              <a:path w="4401185" h="5872480">
                <a:moveTo>
                  <a:pt x="0" y="345414"/>
                </a:moveTo>
                <a:lnTo>
                  <a:pt x="0" y="230276"/>
                </a:lnTo>
              </a:path>
              <a:path w="4401185" h="5872480">
                <a:moveTo>
                  <a:pt x="4400979" y="345414"/>
                </a:moveTo>
                <a:lnTo>
                  <a:pt x="4400979" y="230276"/>
                </a:lnTo>
              </a:path>
              <a:path w="4401185" h="5872480">
                <a:moveTo>
                  <a:pt x="0" y="460552"/>
                </a:moveTo>
                <a:lnTo>
                  <a:pt x="0" y="345414"/>
                </a:lnTo>
              </a:path>
              <a:path w="4401185" h="5872480">
                <a:moveTo>
                  <a:pt x="4400979" y="460552"/>
                </a:moveTo>
                <a:lnTo>
                  <a:pt x="4400979" y="345414"/>
                </a:lnTo>
              </a:path>
              <a:path w="4401185" h="5872480">
                <a:moveTo>
                  <a:pt x="0" y="575691"/>
                </a:moveTo>
                <a:lnTo>
                  <a:pt x="0" y="460552"/>
                </a:lnTo>
              </a:path>
              <a:path w="4401185" h="5872480">
                <a:moveTo>
                  <a:pt x="4400979" y="575691"/>
                </a:moveTo>
                <a:lnTo>
                  <a:pt x="4400979" y="460552"/>
                </a:lnTo>
              </a:path>
              <a:path w="4401185" h="5872480">
                <a:moveTo>
                  <a:pt x="0" y="690829"/>
                </a:moveTo>
                <a:lnTo>
                  <a:pt x="0" y="575691"/>
                </a:lnTo>
              </a:path>
              <a:path w="4401185" h="5872480">
                <a:moveTo>
                  <a:pt x="4400979" y="690829"/>
                </a:moveTo>
                <a:lnTo>
                  <a:pt x="4400979" y="575691"/>
                </a:lnTo>
              </a:path>
              <a:path w="4401185" h="5872480">
                <a:moveTo>
                  <a:pt x="0" y="805967"/>
                </a:moveTo>
                <a:lnTo>
                  <a:pt x="0" y="690829"/>
                </a:lnTo>
              </a:path>
              <a:path w="4401185" h="5872480">
                <a:moveTo>
                  <a:pt x="4400979" y="805967"/>
                </a:moveTo>
                <a:lnTo>
                  <a:pt x="4400979" y="690829"/>
                </a:lnTo>
              </a:path>
              <a:path w="4401185" h="5872480">
                <a:moveTo>
                  <a:pt x="0" y="921105"/>
                </a:moveTo>
                <a:lnTo>
                  <a:pt x="0" y="805967"/>
                </a:lnTo>
              </a:path>
              <a:path w="4401185" h="5872480">
                <a:moveTo>
                  <a:pt x="4400979" y="921105"/>
                </a:moveTo>
                <a:lnTo>
                  <a:pt x="4400979" y="805967"/>
                </a:lnTo>
              </a:path>
              <a:path w="4401185" h="5872480">
                <a:moveTo>
                  <a:pt x="0" y="1036243"/>
                </a:moveTo>
                <a:lnTo>
                  <a:pt x="0" y="921105"/>
                </a:lnTo>
              </a:path>
              <a:path w="4401185" h="5872480">
                <a:moveTo>
                  <a:pt x="4400979" y="1036243"/>
                </a:moveTo>
                <a:lnTo>
                  <a:pt x="4400979" y="921105"/>
                </a:lnTo>
              </a:path>
              <a:path w="4401185" h="5872480">
                <a:moveTo>
                  <a:pt x="0" y="1151382"/>
                </a:moveTo>
                <a:lnTo>
                  <a:pt x="0" y="1036243"/>
                </a:lnTo>
              </a:path>
              <a:path w="4401185" h="5872480">
                <a:moveTo>
                  <a:pt x="4400979" y="1151382"/>
                </a:moveTo>
                <a:lnTo>
                  <a:pt x="4400979" y="1036243"/>
                </a:lnTo>
              </a:path>
              <a:path w="4401185" h="5872480">
                <a:moveTo>
                  <a:pt x="0" y="1266520"/>
                </a:moveTo>
                <a:lnTo>
                  <a:pt x="0" y="1151382"/>
                </a:lnTo>
              </a:path>
              <a:path w="4401185" h="5872480">
                <a:moveTo>
                  <a:pt x="4400979" y="1266520"/>
                </a:moveTo>
                <a:lnTo>
                  <a:pt x="4400979" y="1151382"/>
                </a:lnTo>
              </a:path>
              <a:path w="4401185" h="5872480">
                <a:moveTo>
                  <a:pt x="0" y="1381658"/>
                </a:moveTo>
                <a:lnTo>
                  <a:pt x="0" y="1266520"/>
                </a:lnTo>
              </a:path>
              <a:path w="4401185" h="5872480">
                <a:moveTo>
                  <a:pt x="4400979" y="1381658"/>
                </a:moveTo>
                <a:lnTo>
                  <a:pt x="4400979" y="1266520"/>
                </a:lnTo>
              </a:path>
              <a:path w="4401185" h="5872480">
                <a:moveTo>
                  <a:pt x="0" y="1496796"/>
                </a:moveTo>
                <a:lnTo>
                  <a:pt x="0" y="1381658"/>
                </a:lnTo>
              </a:path>
              <a:path w="4401185" h="5872480">
                <a:moveTo>
                  <a:pt x="4400979" y="1496796"/>
                </a:moveTo>
                <a:lnTo>
                  <a:pt x="4400979" y="1381658"/>
                </a:lnTo>
              </a:path>
              <a:path w="4401185" h="5872480">
                <a:moveTo>
                  <a:pt x="0" y="1611934"/>
                </a:moveTo>
                <a:lnTo>
                  <a:pt x="0" y="1496796"/>
                </a:lnTo>
              </a:path>
              <a:path w="4401185" h="5872480">
                <a:moveTo>
                  <a:pt x="4400979" y="1611934"/>
                </a:moveTo>
                <a:lnTo>
                  <a:pt x="4400979" y="1496796"/>
                </a:lnTo>
              </a:path>
              <a:path w="4401185" h="5872480">
                <a:moveTo>
                  <a:pt x="0" y="1727073"/>
                </a:moveTo>
                <a:lnTo>
                  <a:pt x="0" y="1611934"/>
                </a:lnTo>
              </a:path>
              <a:path w="4401185" h="5872480">
                <a:moveTo>
                  <a:pt x="4400979" y="1727073"/>
                </a:moveTo>
                <a:lnTo>
                  <a:pt x="4400979" y="1611934"/>
                </a:lnTo>
              </a:path>
              <a:path w="4401185" h="5872480">
                <a:moveTo>
                  <a:pt x="0" y="1842211"/>
                </a:moveTo>
                <a:lnTo>
                  <a:pt x="0" y="1727073"/>
                </a:lnTo>
              </a:path>
              <a:path w="4401185" h="5872480">
                <a:moveTo>
                  <a:pt x="4400979" y="1842211"/>
                </a:moveTo>
                <a:lnTo>
                  <a:pt x="4400979" y="1727073"/>
                </a:lnTo>
              </a:path>
              <a:path w="4401185" h="5872480">
                <a:moveTo>
                  <a:pt x="0" y="1957349"/>
                </a:moveTo>
                <a:lnTo>
                  <a:pt x="0" y="1842211"/>
                </a:lnTo>
              </a:path>
              <a:path w="4401185" h="5872480">
                <a:moveTo>
                  <a:pt x="4400979" y="1957349"/>
                </a:moveTo>
                <a:lnTo>
                  <a:pt x="4400979" y="1842211"/>
                </a:lnTo>
              </a:path>
              <a:path w="4401185" h="5872480">
                <a:moveTo>
                  <a:pt x="0" y="2072487"/>
                </a:moveTo>
                <a:lnTo>
                  <a:pt x="0" y="1957349"/>
                </a:lnTo>
              </a:path>
              <a:path w="4401185" h="5872480">
                <a:moveTo>
                  <a:pt x="4400979" y="2072487"/>
                </a:moveTo>
                <a:lnTo>
                  <a:pt x="4400979" y="1957349"/>
                </a:lnTo>
              </a:path>
              <a:path w="4401185" h="5872480">
                <a:moveTo>
                  <a:pt x="0" y="2187625"/>
                </a:moveTo>
                <a:lnTo>
                  <a:pt x="0" y="2072487"/>
                </a:lnTo>
              </a:path>
              <a:path w="4401185" h="5872480">
                <a:moveTo>
                  <a:pt x="4400979" y="2187625"/>
                </a:moveTo>
                <a:lnTo>
                  <a:pt x="4400979" y="2072487"/>
                </a:lnTo>
              </a:path>
              <a:path w="4401185" h="5872480">
                <a:moveTo>
                  <a:pt x="0" y="2302764"/>
                </a:moveTo>
                <a:lnTo>
                  <a:pt x="0" y="2187625"/>
                </a:lnTo>
              </a:path>
              <a:path w="4401185" h="5872480">
                <a:moveTo>
                  <a:pt x="4400979" y="2302764"/>
                </a:moveTo>
                <a:lnTo>
                  <a:pt x="4400979" y="2187625"/>
                </a:lnTo>
              </a:path>
              <a:path w="4401185" h="5872480">
                <a:moveTo>
                  <a:pt x="0" y="2417902"/>
                </a:moveTo>
                <a:lnTo>
                  <a:pt x="0" y="2302764"/>
                </a:lnTo>
              </a:path>
              <a:path w="4401185" h="5872480">
                <a:moveTo>
                  <a:pt x="4400979" y="2417902"/>
                </a:moveTo>
                <a:lnTo>
                  <a:pt x="4400979" y="2302764"/>
                </a:lnTo>
              </a:path>
              <a:path w="4401185" h="5872480">
                <a:moveTo>
                  <a:pt x="0" y="2533040"/>
                </a:moveTo>
                <a:lnTo>
                  <a:pt x="0" y="2417902"/>
                </a:lnTo>
              </a:path>
              <a:path w="4401185" h="5872480">
                <a:moveTo>
                  <a:pt x="4400979" y="2533040"/>
                </a:moveTo>
                <a:lnTo>
                  <a:pt x="4400979" y="2417902"/>
                </a:lnTo>
              </a:path>
              <a:path w="4401185" h="5872480">
                <a:moveTo>
                  <a:pt x="0" y="2648178"/>
                </a:moveTo>
                <a:lnTo>
                  <a:pt x="0" y="2533040"/>
                </a:lnTo>
              </a:path>
              <a:path w="4401185" h="5872480">
                <a:moveTo>
                  <a:pt x="4400979" y="2648178"/>
                </a:moveTo>
                <a:lnTo>
                  <a:pt x="4400979" y="2533040"/>
                </a:lnTo>
              </a:path>
              <a:path w="4401185" h="5872480">
                <a:moveTo>
                  <a:pt x="0" y="2763316"/>
                </a:moveTo>
                <a:lnTo>
                  <a:pt x="0" y="2648178"/>
                </a:lnTo>
              </a:path>
              <a:path w="4401185" h="5872480">
                <a:moveTo>
                  <a:pt x="4400979" y="2763316"/>
                </a:moveTo>
                <a:lnTo>
                  <a:pt x="4400979" y="2648178"/>
                </a:lnTo>
              </a:path>
              <a:path w="4401185" h="5872480">
                <a:moveTo>
                  <a:pt x="0" y="2878455"/>
                </a:moveTo>
                <a:lnTo>
                  <a:pt x="0" y="2763316"/>
                </a:lnTo>
              </a:path>
              <a:path w="4401185" h="5872480">
                <a:moveTo>
                  <a:pt x="4400979" y="2878455"/>
                </a:moveTo>
                <a:lnTo>
                  <a:pt x="4400979" y="2763316"/>
                </a:lnTo>
              </a:path>
              <a:path w="4401185" h="5872480">
                <a:moveTo>
                  <a:pt x="0" y="2993593"/>
                </a:moveTo>
                <a:lnTo>
                  <a:pt x="0" y="2878455"/>
                </a:lnTo>
              </a:path>
              <a:path w="4401185" h="5872480">
                <a:moveTo>
                  <a:pt x="4400979" y="2993593"/>
                </a:moveTo>
                <a:lnTo>
                  <a:pt x="4400979" y="2878455"/>
                </a:lnTo>
              </a:path>
              <a:path w="4401185" h="5872480">
                <a:moveTo>
                  <a:pt x="0" y="3108731"/>
                </a:moveTo>
                <a:lnTo>
                  <a:pt x="0" y="2993593"/>
                </a:lnTo>
              </a:path>
              <a:path w="4401185" h="5872480">
                <a:moveTo>
                  <a:pt x="4400979" y="3108731"/>
                </a:moveTo>
                <a:lnTo>
                  <a:pt x="4400979" y="2993593"/>
                </a:lnTo>
              </a:path>
              <a:path w="4401185" h="5872480">
                <a:moveTo>
                  <a:pt x="0" y="3223869"/>
                </a:moveTo>
                <a:lnTo>
                  <a:pt x="0" y="3108731"/>
                </a:lnTo>
              </a:path>
              <a:path w="4401185" h="5872480">
                <a:moveTo>
                  <a:pt x="4400979" y="3223869"/>
                </a:moveTo>
                <a:lnTo>
                  <a:pt x="4400979" y="3108731"/>
                </a:lnTo>
              </a:path>
              <a:path w="4401185" h="5872480">
                <a:moveTo>
                  <a:pt x="0" y="3339007"/>
                </a:moveTo>
                <a:lnTo>
                  <a:pt x="0" y="3223869"/>
                </a:lnTo>
              </a:path>
              <a:path w="4401185" h="5872480">
                <a:moveTo>
                  <a:pt x="4400979" y="3339007"/>
                </a:moveTo>
                <a:lnTo>
                  <a:pt x="4400979" y="3223869"/>
                </a:lnTo>
              </a:path>
              <a:path w="4401185" h="5872480">
                <a:moveTo>
                  <a:pt x="0" y="3454146"/>
                </a:moveTo>
                <a:lnTo>
                  <a:pt x="0" y="3339007"/>
                </a:lnTo>
              </a:path>
              <a:path w="4401185" h="5872480">
                <a:moveTo>
                  <a:pt x="4400979" y="3454146"/>
                </a:moveTo>
                <a:lnTo>
                  <a:pt x="4400979" y="3339007"/>
                </a:lnTo>
              </a:path>
              <a:path w="4401185" h="5872480">
                <a:moveTo>
                  <a:pt x="0" y="3569284"/>
                </a:moveTo>
                <a:lnTo>
                  <a:pt x="0" y="3454146"/>
                </a:lnTo>
              </a:path>
              <a:path w="4401185" h="5872480">
                <a:moveTo>
                  <a:pt x="4400979" y="3569284"/>
                </a:moveTo>
                <a:lnTo>
                  <a:pt x="4400979" y="3454146"/>
                </a:lnTo>
              </a:path>
              <a:path w="4401185" h="5872480">
                <a:moveTo>
                  <a:pt x="0" y="3684422"/>
                </a:moveTo>
                <a:lnTo>
                  <a:pt x="0" y="3569284"/>
                </a:lnTo>
              </a:path>
              <a:path w="4401185" h="5872480">
                <a:moveTo>
                  <a:pt x="4400979" y="3684422"/>
                </a:moveTo>
                <a:lnTo>
                  <a:pt x="4400979" y="3569284"/>
                </a:lnTo>
              </a:path>
              <a:path w="4401185" h="5872480">
                <a:moveTo>
                  <a:pt x="0" y="3799560"/>
                </a:moveTo>
                <a:lnTo>
                  <a:pt x="0" y="3684422"/>
                </a:lnTo>
              </a:path>
              <a:path w="4401185" h="5872480">
                <a:moveTo>
                  <a:pt x="4400979" y="3799560"/>
                </a:moveTo>
                <a:lnTo>
                  <a:pt x="4400979" y="3684422"/>
                </a:lnTo>
              </a:path>
              <a:path w="4401185" h="5872480">
                <a:moveTo>
                  <a:pt x="0" y="3914698"/>
                </a:moveTo>
                <a:lnTo>
                  <a:pt x="0" y="3799560"/>
                </a:lnTo>
              </a:path>
              <a:path w="4401185" h="5872480">
                <a:moveTo>
                  <a:pt x="4400979" y="3914698"/>
                </a:moveTo>
                <a:lnTo>
                  <a:pt x="4400979" y="3799560"/>
                </a:lnTo>
              </a:path>
              <a:path w="4401185" h="5872480">
                <a:moveTo>
                  <a:pt x="0" y="4029837"/>
                </a:moveTo>
                <a:lnTo>
                  <a:pt x="0" y="3914698"/>
                </a:lnTo>
              </a:path>
              <a:path w="4401185" h="5872480">
                <a:moveTo>
                  <a:pt x="4400979" y="4029837"/>
                </a:moveTo>
                <a:lnTo>
                  <a:pt x="4400979" y="3914698"/>
                </a:lnTo>
              </a:path>
              <a:path w="4401185" h="5872480">
                <a:moveTo>
                  <a:pt x="0" y="4144975"/>
                </a:moveTo>
                <a:lnTo>
                  <a:pt x="0" y="4029837"/>
                </a:lnTo>
              </a:path>
              <a:path w="4401185" h="5872480">
                <a:moveTo>
                  <a:pt x="4400979" y="4144975"/>
                </a:moveTo>
                <a:lnTo>
                  <a:pt x="4400979" y="4029837"/>
                </a:lnTo>
              </a:path>
              <a:path w="4401185" h="5872480">
                <a:moveTo>
                  <a:pt x="0" y="4260113"/>
                </a:moveTo>
                <a:lnTo>
                  <a:pt x="0" y="4144975"/>
                </a:lnTo>
              </a:path>
              <a:path w="4401185" h="5872480">
                <a:moveTo>
                  <a:pt x="4400979" y="4260113"/>
                </a:moveTo>
                <a:lnTo>
                  <a:pt x="4400979" y="4144975"/>
                </a:lnTo>
              </a:path>
              <a:path w="4401185" h="5872480">
                <a:moveTo>
                  <a:pt x="0" y="4375251"/>
                </a:moveTo>
                <a:lnTo>
                  <a:pt x="0" y="4260113"/>
                </a:lnTo>
              </a:path>
              <a:path w="4401185" h="5872480">
                <a:moveTo>
                  <a:pt x="4400979" y="4375251"/>
                </a:moveTo>
                <a:lnTo>
                  <a:pt x="4400979" y="4260113"/>
                </a:lnTo>
              </a:path>
              <a:path w="4401185" h="5872480">
                <a:moveTo>
                  <a:pt x="0" y="4490389"/>
                </a:moveTo>
                <a:lnTo>
                  <a:pt x="0" y="4375251"/>
                </a:lnTo>
              </a:path>
              <a:path w="4401185" h="5872480">
                <a:moveTo>
                  <a:pt x="4400979" y="4490389"/>
                </a:moveTo>
                <a:lnTo>
                  <a:pt x="4400979" y="4375251"/>
                </a:lnTo>
              </a:path>
              <a:path w="4401185" h="5872480">
                <a:moveTo>
                  <a:pt x="0" y="4605528"/>
                </a:moveTo>
                <a:lnTo>
                  <a:pt x="0" y="4490389"/>
                </a:lnTo>
              </a:path>
              <a:path w="4401185" h="5872480">
                <a:moveTo>
                  <a:pt x="4400979" y="4605528"/>
                </a:moveTo>
                <a:lnTo>
                  <a:pt x="4400979" y="4490389"/>
                </a:lnTo>
              </a:path>
              <a:path w="4401185" h="5872480">
                <a:moveTo>
                  <a:pt x="0" y="4720666"/>
                </a:moveTo>
                <a:lnTo>
                  <a:pt x="0" y="4605528"/>
                </a:lnTo>
              </a:path>
              <a:path w="4401185" h="5872480">
                <a:moveTo>
                  <a:pt x="4400979" y="4720666"/>
                </a:moveTo>
                <a:lnTo>
                  <a:pt x="4400979" y="4605528"/>
                </a:lnTo>
              </a:path>
              <a:path w="4401185" h="5872480">
                <a:moveTo>
                  <a:pt x="0" y="4835804"/>
                </a:moveTo>
                <a:lnTo>
                  <a:pt x="0" y="4720666"/>
                </a:lnTo>
              </a:path>
              <a:path w="4401185" h="5872480">
                <a:moveTo>
                  <a:pt x="4400979" y="4835804"/>
                </a:moveTo>
                <a:lnTo>
                  <a:pt x="4400979" y="4720666"/>
                </a:lnTo>
              </a:path>
              <a:path w="4401185" h="5872480">
                <a:moveTo>
                  <a:pt x="0" y="4950942"/>
                </a:moveTo>
                <a:lnTo>
                  <a:pt x="0" y="4835804"/>
                </a:lnTo>
              </a:path>
              <a:path w="4401185" h="5872480">
                <a:moveTo>
                  <a:pt x="4400979" y="4950942"/>
                </a:moveTo>
                <a:lnTo>
                  <a:pt x="4400979" y="4835804"/>
                </a:lnTo>
              </a:path>
              <a:path w="4401185" h="5872480">
                <a:moveTo>
                  <a:pt x="0" y="5066080"/>
                </a:moveTo>
                <a:lnTo>
                  <a:pt x="0" y="4950942"/>
                </a:lnTo>
              </a:path>
              <a:path w="4401185" h="5872480">
                <a:moveTo>
                  <a:pt x="4400979" y="5066080"/>
                </a:moveTo>
                <a:lnTo>
                  <a:pt x="4400979" y="4950942"/>
                </a:lnTo>
              </a:path>
              <a:path w="4401185" h="5872480">
                <a:moveTo>
                  <a:pt x="0" y="5181219"/>
                </a:moveTo>
                <a:lnTo>
                  <a:pt x="0" y="5066080"/>
                </a:lnTo>
              </a:path>
              <a:path w="4401185" h="5872480">
                <a:moveTo>
                  <a:pt x="4400979" y="5181219"/>
                </a:moveTo>
                <a:lnTo>
                  <a:pt x="4400979" y="5066080"/>
                </a:lnTo>
              </a:path>
              <a:path w="4401185" h="5872480">
                <a:moveTo>
                  <a:pt x="0" y="5296357"/>
                </a:moveTo>
                <a:lnTo>
                  <a:pt x="0" y="5181219"/>
                </a:lnTo>
              </a:path>
              <a:path w="4401185" h="5872480">
                <a:moveTo>
                  <a:pt x="4400979" y="5296357"/>
                </a:moveTo>
                <a:lnTo>
                  <a:pt x="4400979" y="5181219"/>
                </a:lnTo>
              </a:path>
              <a:path w="4401185" h="5872480">
                <a:moveTo>
                  <a:pt x="0" y="5411495"/>
                </a:moveTo>
                <a:lnTo>
                  <a:pt x="0" y="5296357"/>
                </a:lnTo>
              </a:path>
              <a:path w="4401185" h="5872480">
                <a:moveTo>
                  <a:pt x="4400979" y="5411495"/>
                </a:moveTo>
                <a:lnTo>
                  <a:pt x="4400979" y="5296357"/>
                </a:lnTo>
              </a:path>
              <a:path w="4401185" h="5872480">
                <a:moveTo>
                  <a:pt x="0" y="5526633"/>
                </a:moveTo>
                <a:lnTo>
                  <a:pt x="0" y="5411495"/>
                </a:lnTo>
              </a:path>
              <a:path w="4401185" h="5872480">
                <a:moveTo>
                  <a:pt x="4400979" y="5526633"/>
                </a:moveTo>
                <a:lnTo>
                  <a:pt x="4400979" y="5411495"/>
                </a:lnTo>
              </a:path>
              <a:path w="4401185" h="5872480">
                <a:moveTo>
                  <a:pt x="0" y="5641771"/>
                </a:moveTo>
                <a:lnTo>
                  <a:pt x="0" y="5526633"/>
                </a:lnTo>
              </a:path>
              <a:path w="4401185" h="5872480">
                <a:moveTo>
                  <a:pt x="4400979" y="5641771"/>
                </a:moveTo>
                <a:lnTo>
                  <a:pt x="4400979" y="5526633"/>
                </a:lnTo>
              </a:path>
              <a:path w="4401185" h="5872480">
                <a:moveTo>
                  <a:pt x="0" y="5756910"/>
                </a:moveTo>
                <a:lnTo>
                  <a:pt x="0" y="5641771"/>
                </a:lnTo>
              </a:path>
              <a:path w="4401185" h="5872480">
                <a:moveTo>
                  <a:pt x="4400979" y="5756910"/>
                </a:moveTo>
                <a:lnTo>
                  <a:pt x="4400979" y="5641771"/>
                </a:lnTo>
              </a:path>
              <a:path w="4401185" h="5872480">
                <a:moveTo>
                  <a:pt x="0" y="5872048"/>
                </a:moveTo>
                <a:lnTo>
                  <a:pt x="0" y="5756910"/>
                </a:lnTo>
              </a:path>
              <a:path w="4401185" h="5872480">
                <a:moveTo>
                  <a:pt x="4400979" y="5872048"/>
                </a:moveTo>
                <a:lnTo>
                  <a:pt x="4400979" y="575691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42037" y="942463"/>
            <a:ext cx="4396105" cy="589788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467995">
              <a:lnSpc>
                <a:spcPct val="100000"/>
              </a:lnSpc>
              <a:spcBef>
                <a:spcPts val="165"/>
              </a:spcBef>
            </a:pPr>
            <a:r>
              <a:rPr dirty="0" sz="700" spc="155">
                <a:latin typeface="Calibri"/>
                <a:cs typeface="Calibri"/>
              </a:rPr>
              <a:t>self.y:</a:t>
            </a:r>
            <a:endParaRPr sz="700">
              <a:latin typeface="Calibri"/>
              <a:cs typeface="Calibri"/>
            </a:endParaRPr>
          </a:p>
          <a:p>
            <a:pPr marL="468630">
              <a:lnSpc>
                <a:spcPct val="100000"/>
              </a:lnSpc>
              <a:spcBef>
                <a:spcPts val="65"/>
              </a:spcBef>
            </a:pPr>
            <a:r>
              <a:rPr dirty="0" sz="700" spc="130">
                <a:latin typeface="Calibri"/>
                <a:cs typeface="Calibri"/>
              </a:rPr>
              <a:t>training_y[i*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41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mini_batch_size]</a:t>
            </a:r>
            <a:endParaRPr sz="700">
              <a:latin typeface="Calibri"/>
              <a:cs typeface="Calibri"/>
            </a:endParaRPr>
          </a:p>
          <a:p>
            <a:pPr marL="360680">
              <a:lnSpc>
                <a:spcPct val="100000"/>
              </a:lnSpc>
              <a:spcBef>
                <a:spcPts val="70"/>
              </a:spcBef>
            </a:pPr>
            <a:r>
              <a:rPr dirty="0" sz="700" spc="135">
                <a:latin typeface="Calibri"/>
                <a:cs typeface="Calibri"/>
              </a:rPr>
              <a:t>})</a:t>
            </a:r>
            <a:endParaRPr sz="700">
              <a:latin typeface="Calibri"/>
              <a:cs typeface="Calibri"/>
            </a:endParaRPr>
          </a:p>
          <a:p>
            <a:pPr marL="360045" marR="2014220" indent="-103505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validate_mb_accuracy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theano.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function( </a:t>
            </a:r>
            <a:r>
              <a:rPr dirty="0" sz="700" spc="210">
                <a:latin typeface="Calibri"/>
                <a:cs typeface="Calibri"/>
              </a:rPr>
              <a:t>[i],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accuracy(self.y), </a:t>
            </a:r>
            <a:r>
              <a:rPr dirty="0" sz="700" spc="95">
                <a:latin typeface="Calibri"/>
                <a:cs typeface="Calibri"/>
              </a:rPr>
              <a:t>givens={</a:t>
            </a:r>
            <a:endParaRPr sz="700">
              <a:latin typeface="Calibri"/>
              <a:cs typeface="Calibri"/>
            </a:endParaRPr>
          </a:p>
          <a:p>
            <a:pPr marL="467995">
              <a:lnSpc>
                <a:spcPct val="100000"/>
              </a:lnSpc>
              <a:spcBef>
                <a:spcPts val="65"/>
              </a:spcBef>
            </a:pPr>
            <a:r>
              <a:rPr dirty="0" sz="700" spc="155">
                <a:latin typeface="Calibri"/>
                <a:cs typeface="Calibri"/>
              </a:rPr>
              <a:t>self.x:</a:t>
            </a:r>
            <a:endParaRPr sz="700">
              <a:latin typeface="Calibri"/>
              <a:cs typeface="Calibri"/>
            </a:endParaRPr>
          </a:p>
          <a:p>
            <a:pPr marL="467995" marR="474345" indent="635">
              <a:lnSpc>
                <a:spcPct val="107900"/>
              </a:lnSpc>
            </a:pPr>
            <a:r>
              <a:rPr dirty="0" sz="700" spc="130">
                <a:latin typeface="Calibri"/>
                <a:cs typeface="Calibri"/>
              </a:rPr>
              <a:t>validation_x[i*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mini_batch_size], </a:t>
            </a:r>
            <a:r>
              <a:rPr dirty="0" sz="700" spc="155">
                <a:latin typeface="Calibri"/>
                <a:cs typeface="Calibri"/>
              </a:rPr>
              <a:t>self.y:</a:t>
            </a:r>
            <a:endParaRPr sz="700">
              <a:latin typeface="Calibri"/>
              <a:cs typeface="Calibri"/>
            </a:endParaRPr>
          </a:p>
          <a:p>
            <a:pPr marL="468630">
              <a:lnSpc>
                <a:spcPct val="100000"/>
              </a:lnSpc>
              <a:spcBef>
                <a:spcPts val="70"/>
              </a:spcBef>
            </a:pPr>
            <a:r>
              <a:rPr dirty="0" sz="700" spc="125">
                <a:latin typeface="Calibri"/>
                <a:cs typeface="Calibri"/>
              </a:rPr>
              <a:t>validation_y[i*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434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mini_batch_size]</a:t>
            </a:r>
            <a:endParaRPr sz="700">
              <a:latin typeface="Calibri"/>
              <a:cs typeface="Calibri"/>
            </a:endParaRPr>
          </a:p>
          <a:p>
            <a:pPr marL="360680">
              <a:lnSpc>
                <a:spcPct val="100000"/>
              </a:lnSpc>
              <a:spcBef>
                <a:spcPts val="65"/>
              </a:spcBef>
            </a:pPr>
            <a:r>
              <a:rPr dirty="0" sz="700" spc="135">
                <a:latin typeface="Calibri"/>
                <a:cs typeface="Calibri"/>
              </a:rPr>
              <a:t>})</a:t>
            </a:r>
            <a:endParaRPr sz="700">
              <a:latin typeface="Calibri"/>
              <a:cs typeface="Calibri"/>
            </a:endParaRPr>
          </a:p>
          <a:p>
            <a:pPr marL="256540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latin typeface="Calibri"/>
                <a:cs typeface="Calibri"/>
              </a:rPr>
              <a:t>test_mb_accuracy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theano.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function(</a:t>
            </a:r>
            <a:endParaRPr sz="700">
              <a:latin typeface="Calibri"/>
              <a:cs typeface="Calibri"/>
            </a:endParaRPr>
          </a:p>
          <a:p>
            <a:pPr marL="361950" marR="2014220" indent="-2540">
              <a:lnSpc>
                <a:spcPct val="107900"/>
              </a:lnSpc>
            </a:pPr>
            <a:r>
              <a:rPr dirty="0" sz="700" spc="210">
                <a:latin typeface="Calibri"/>
                <a:cs typeface="Calibri"/>
              </a:rPr>
              <a:t>[i],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accuracy(self.y), </a:t>
            </a:r>
            <a:r>
              <a:rPr dirty="0" sz="700" spc="95">
                <a:latin typeface="Calibri"/>
                <a:cs typeface="Calibri"/>
              </a:rPr>
              <a:t>givens={</a:t>
            </a:r>
            <a:endParaRPr sz="700">
              <a:latin typeface="Calibri"/>
              <a:cs typeface="Calibri"/>
            </a:endParaRPr>
          </a:p>
          <a:p>
            <a:pPr marL="467995">
              <a:lnSpc>
                <a:spcPct val="100000"/>
              </a:lnSpc>
              <a:spcBef>
                <a:spcPts val="70"/>
              </a:spcBef>
            </a:pPr>
            <a:r>
              <a:rPr dirty="0" sz="700" spc="155">
                <a:latin typeface="Calibri"/>
                <a:cs typeface="Calibri"/>
              </a:rPr>
              <a:t>self.x:</a:t>
            </a:r>
            <a:endParaRPr sz="700">
              <a:latin typeface="Calibri"/>
              <a:cs typeface="Calibri"/>
            </a:endParaRPr>
          </a:p>
          <a:p>
            <a:pPr marL="467995" marR="793115">
              <a:lnSpc>
                <a:spcPct val="107900"/>
              </a:lnSpc>
            </a:pPr>
            <a:r>
              <a:rPr dirty="0" sz="700" spc="130">
                <a:latin typeface="Calibri"/>
                <a:cs typeface="Calibri"/>
              </a:rPr>
              <a:t>test_x[i*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mini_batch_size], </a:t>
            </a:r>
            <a:r>
              <a:rPr dirty="0" sz="700" spc="155">
                <a:latin typeface="Calibri"/>
                <a:cs typeface="Calibri"/>
              </a:rPr>
              <a:t>self.y:</a:t>
            </a:r>
            <a:endParaRPr sz="700">
              <a:latin typeface="Calibri"/>
              <a:cs typeface="Calibri"/>
            </a:endParaRPr>
          </a:p>
          <a:p>
            <a:pPr marL="468630">
              <a:lnSpc>
                <a:spcPct val="100000"/>
              </a:lnSpc>
              <a:spcBef>
                <a:spcPts val="65"/>
              </a:spcBef>
            </a:pPr>
            <a:r>
              <a:rPr dirty="0" sz="700" spc="130">
                <a:latin typeface="Calibri"/>
                <a:cs typeface="Calibri"/>
              </a:rPr>
              <a:t>test_y[i*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mini_batch_size]</a:t>
            </a:r>
            <a:endParaRPr sz="700">
              <a:latin typeface="Calibri"/>
              <a:cs typeface="Calibri"/>
            </a:endParaRPr>
          </a:p>
          <a:p>
            <a:pPr marL="360680">
              <a:lnSpc>
                <a:spcPct val="100000"/>
              </a:lnSpc>
              <a:spcBef>
                <a:spcPts val="65"/>
              </a:spcBef>
            </a:pPr>
            <a:r>
              <a:rPr dirty="0" sz="700" spc="135">
                <a:latin typeface="Calibri"/>
                <a:cs typeface="Calibri"/>
              </a:rPr>
              <a:t>})</a:t>
            </a:r>
            <a:endParaRPr sz="700">
              <a:latin typeface="Calibri"/>
              <a:cs typeface="Calibri"/>
            </a:endParaRPr>
          </a:p>
          <a:p>
            <a:pPr marL="360045" marR="1855470" indent="-104775">
              <a:lnSpc>
                <a:spcPct val="107900"/>
              </a:lnSpc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test_mb_predictions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theano.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function( </a:t>
            </a:r>
            <a:r>
              <a:rPr dirty="0" sz="700" spc="210">
                <a:latin typeface="Calibri"/>
                <a:cs typeface="Calibri"/>
              </a:rPr>
              <a:t>[i],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y_out,</a:t>
            </a:r>
            <a:endParaRPr sz="700">
              <a:latin typeface="Calibri"/>
              <a:cs typeface="Calibri"/>
            </a:endParaRPr>
          </a:p>
          <a:p>
            <a:pPr marL="467995" marR="3556000" indent="-106045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givens={ </a:t>
            </a:r>
            <a:r>
              <a:rPr dirty="0" sz="700" spc="155">
                <a:latin typeface="Calibri"/>
                <a:cs typeface="Calibri"/>
              </a:rPr>
              <a:t>self.x:</a:t>
            </a:r>
            <a:endParaRPr sz="700">
              <a:latin typeface="Calibri"/>
              <a:cs typeface="Calibri"/>
            </a:endParaRPr>
          </a:p>
          <a:p>
            <a:pPr marL="468630">
              <a:lnSpc>
                <a:spcPct val="100000"/>
              </a:lnSpc>
              <a:spcBef>
                <a:spcPts val="70"/>
              </a:spcBef>
            </a:pPr>
            <a:r>
              <a:rPr dirty="0" sz="700" spc="130">
                <a:latin typeface="Calibri"/>
                <a:cs typeface="Calibri"/>
              </a:rPr>
              <a:t>test_x[i*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mini_batch_size]</a:t>
            </a:r>
            <a:endParaRPr sz="700">
              <a:latin typeface="Calibri"/>
              <a:cs typeface="Calibri"/>
            </a:endParaRPr>
          </a:p>
          <a:p>
            <a:pPr marL="360680">
              <a:lnSpc>
                <a:spcPct val="100000"/>
              </a:lnSpc>
              <a:spcBef>
                <a:spcPts val="65"/>
              </a:spcBef>
            </a:pPr>
            <a:r>
              <a:rPr dirty="0" sz="700" spc="135">
                <a:latin typeface="Calibri"/>
                <a:cs typeface="Calibri"/>
              </a:rPr>
              <a:t>})</a:t>
            </a:r>
            <a:endParaRPr sz="700">
              <a:latin typeface="Calibri"/>
              <a:cs typeface="Calibri"/>
            </a:endParaRPr>
          </a:p>
          <a:p>
            <a:pPr marL="255270" marR="2548255" indent="-1905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Do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actual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training </a:t>
            </a:r>
            <a:r>
              <a:rPr dirty="0" sz="700" spc="110">
                <a:latin typeface="Calibri"/>
                <a:cs typeface="Calibri"/>
              </a:rPr>
              <a:t>best_validation_accuracy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0.0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2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4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95">
                <a:latin typeface="Calibri"/>
                <a:cs typeface="Calibri"/>
              </a:rPr>
              <a:t>(epochs):</a:t>
            </a:r>
            <a:endParaRPr sz="700">
              <a:latin typeface="Calibri"/>
              <a:cs typeface="Calibri"/>
            </a:endParaRPr>
          </a:p>
          <a:p>
            <a:pPr marL="467359" marR="1061720" indent="-106045">
              <a:lnSpc>
                <a:spcPct val="107900"/>
              </a:lnSpc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minibatch_index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9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num_training_batches): </a:t>
            </a:r>
            <a:r>
              <a:rPr dirty="0" sz="700" spc="130">
                <a:latin typeface="Calibri"/>
                <a:cs typeface="Calibri"/>
              </a:rPr>
              <a:t>iteration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num_training_batches*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epoch+minibatch_index </a:t>
            </a: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iteration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%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1000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0:</a:t>
            </a:r>
            <a:endParaRPr sz="700">
              <a:latin typeface="Calibri"/>
              <a:cs typeface="Calibri"/>
            </a:endParaRPr>
          </a:p>
          <a:p>
            <a:pPr marL="468630" marR="793115" indent="105410">
              <a:lnSpc>
                <a:spcPct val="107900"/>
              </a:lnSpc>
            </a:pPr>
            <a:r>
              <a:rPr dirty="0" sz="700" spc="135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35">
                <a:latin typeface="Calibri"/>
                <a:cs typeface="Calibri"/>
              </a:rPr>
              <a:t>(</a:t>
            </a:r>
            <a:r>
              <a:rPr dirty="0" sz="700" spc="135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7F00"/>
                </a:solidFill>
                <a:latin typeface="Calibri"/>
                <a:cs typeface="Calibri"/>
              </a:rPr>
              <a:t>Training</a:t>
            </a:r>
            <a:r>
              <a:rPr dirty="0" sz="700" spc="42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mini-</a:t>
            </a:r>
            <a:r>
              <a:rPr dirty="0" sz="700" spc="75">
                <a:solidFill>
                  <a:srgbClr val="007F00"/>
                </a:solidFill>
                <a:latin typeface="Calibri"/>
                <a:cs typeface="Calibri"/>
              </a:rPr>
              <a:t>batch</a:t>
            </a:r>
            <a:r>
              <a:rPr dirty="0" sz="700" spc="43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7F00"/>
                </a:solidFill>
                <a:latin typeface="Calibri"/>
                <a:cs typeface="Calibri"/>
              </a:rPr>
              <a:t>number</a:t>
            </a:r>
            <a:r>
              <a:rPr dirty="0" sz="700" spc="42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{0}"</a:t>
            </a:r>
            <a:r>
              <a:rPr dirty="0" sz="700" spc="120">
                <a:latin typeface="Calibri"/>
                <a:cs typeface="Calibri"/>
              </a:rPr>
              <a:t>.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20">
                <a:latin typeface="Calibri"/>
                <a:cs typeface="Calibri"/>
              </a:rPr>
              <a:t>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iteration)) cost_ij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train_mb(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minibatch_index)</a:t>
            </a:r>
            <a:endParaRPr sz="700">
              <a:latin typeface="Calibri"/>
              <a:cs typeface="Calibri"/>
            </a:endParaRPr>
          </a:p>
          <a:p>
            <a:pPr marL="575310" marR="1537970" indent="-108585">
              <a:lnSpc>
                <a:spcPct val="107900"/>
              </a:lnSpc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iteration+1)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%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num_training_batches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0: </a:t>
            </a:r>
            <a:r>
              <a:rPr dirty="0" sz="700" spc="110">
                <a:latin typeface="Calibri"/>
                <a:cs typeface="Calibri"/>
              </a:rPr>
              <a:t>validation_accuracy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np.mean(</a:t>
            </a:r>
            <a:endParaRPr sz="700">
              <a:latin typeface="Calibri"/>
              <a:cs typeface="Calibri"/>
            </a:endParaRPr>
          </a:p>
          <a:p>
            <a:pPr marL="574675" marR="209550" indent="103505">
              <a:lnSpc>
                <a:spcPct val="107900"/>
              </a:lnSpc>
            </a:pPr>
            <a:r>
              <a:rPr dirty="0" sz="700" spc="150">
                <a:latin typeface="Calibri"/>
                <a:cs typeface="Calibri"/>
              </a:rPr>
              <a:t>[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validate_mb_accuracy(j)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j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9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num_validation_batches)])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05">
                <a:latin typeface="Calibri"/>
                <a:cs typeface="Calibri"/>
              </a:rPr>
              <a:t>(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"Epoch</a:t>
            </a:r>
            <a:r>
              <a:rPr dirty="0" sz="700" spc="3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45">
                <a:solidFill>
                  <a:srgbClr val="007F00"/>
                </a:solidFill>
                <a:latin typeface="Calibri"/>
                <a:cs typeface="Calibri"/>
              </a:rPr>
              <a:t>{0}:</a:t>
            </a:r>
            <a:r>
              <a:rPr dirty="0" sz="700" spc="3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validation</a:t>
            </a:r>
            <a:r>
              <a:rPr dirty="0" sz="700" spc="3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7F00"/>
                </a:solidFill>
                <a:latin typeface="Calibri"/>
                <a:cs typeface="Calibri"/>
              </a:rPr>
              <a:t>{1:.2%}"</a:t>
            </a:r>
            <a:r>
              <a:rPr dirty="0" sz="700" spc="110">
                <a:latin typeface="Calibri"/>
                <a:cs typeface="Calibri"/>
              </a:rPr>
              <a:t>.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10">
                <a:latin typeface="Calibri"/>
                <a:cs typeface="Calibri"/>
              </a:rPr>
              <a:t>(</a:t>
            </a:r>
            <a:endParaRPr sz="700">
              <a:latin typeface="Calibri"/>
              <a:cs typeface="Calibri"/>
            </a:endParaRPr>
          </a:p>
          <a:p>
            <a:pPr marL="680085">
              <a:lnSpc>
                <a:spcPct val="100000"/>
              </a:lnSpc>
              <a:spcBef>
                <a:spcPts val="65"/>
              </a:spcBef>
            </a:pPr>
            <a:r>
              <a:rPr dirty="0" sz="700" spc="30">
                <a:latin typeface="Calibri"/>
                <a:cs typeface="Calibri"/>
              </a:rPr>
              <a:t>epoch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validation_accuracy))</a:t>
            </a:r>
            <a:endParaRPr sz="700">
              <a:latin typeface="Calibri"/>
              <a:cs typeface="Calibri"/>
            </a:endParaRPr>
          </a:p>
          <a:p>
            <a:pPr marL="680720" marR="845819" indent="-107950">
              <a:lnSpc>
                <a:spcPct val="107900"/>
              </a:lnSpc>
              <a:spcBef>
                <a:spcPts val="5"/>
              </a:spcBef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validation_accuracy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&gt;=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best_validation_accuracy: </a:t>
            </a:r>
            <a:r>
              <a:rPr dirty="0" sz="700" spc="13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30">
                <a:latin typeface="Calibri"/>
                <a:cs typeface="Calibri"/>
              </a:rPr>
              <a:t>(</a:t>
            </a:r>
            <a:r>
              <a:rPr dirty="0" sz="700" spc="130">
                <a:solidFill>
                  <a:srgbClr val="007F00"/>
                </a:solidFill>
                <a:latin typeface="Calibri"/>
                <a:cs typeface="Calibri"/>
              </a:rPr>
              <a:t>"This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60">
                <a:solidFill>
                  <a:srgbClr val="007F00"/>
                </a:solidFill>
                <a:latin typeface="Calibri"/>
                <a:cs typeface="Calibri"/>
              </a:rPr>
              <a:t>is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best</a:t>
            </a:r>
            <a:r>
              <a:rPr dirty="0" sz="700" spc="3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validation</a:t>
            </a:r>
            <a:r>
              <a:rPr dirty="0" sz="700" spc="3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to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7F00"/>
                </a:solidFill>
                <a:latin typeface="Calibri"/>
                <a:cs typeface="Calibri"/>
              </a:rPr>
              <a:t>date."</a:t>
            </a:r>
            <a:r>
              <a:rPr dirty="0" sz="700" spc="114">
                <a:latin typeface="Calibri"/>
                <a:cs typeface="Calibri"/>
              </a:rPr>
              <a:t>) </a:t>
            </a:r>
            <a:r>
              <a:rPr dirty="0" sz="700" spc="110">
                <a:latin typeface="Calibri"/>
                <a:cs typeface="Calibri"/>
              </a:rPr>
              <a:t>best_validation_accuracy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validation_accuracy </a:t>
            </a:r>
            <a:r>
              <a:rPr dirty="0" sz="700" spc="114">
                <a:latin typeface="Calibri"/>
                <a:cs typeface="Calibri"/>
              </a:rPr>
              <a:t>best_iteration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iteration</a:t>
            </a:r>
            <a:endParaRPr sz="700">
              <a:latin typeface="Calibri"/>
              <a:cs typeface="Calibri"/>
            </a:endParaRPr>
          </a:p>
          <a:p>
            <a:pPr marL="788035" marR="2334260" indent="-108585">
              <a:lnSpc>
                <a:spcPct val="107900"/>
              </a:lnSpc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test_data:</a:t>
            </a:r>
            <a:r>
              <a:rPr dirty="0" sz="700" spc="50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np.mean(</a:t>
            </a:r>
            <a:endParaRPr sz="700">
              <a:latin typeface="Calibri"/>
              <a:cs typeface="Calibri"/>
            </a:endParaRPr>
          </a:p>
          <a:p>
            <a:pPr marL="787400" marR="527050" indent="103505">
              <a:lnSpc>
                <a:spcPct val="107900"/>
              </a:lnSpc>
            </a:pPr>
            <a:r>
              <a:rPr dirty="0" sz="700" spc="150">
                <a:latin typeface="Calibri"/>
                <a:cs typeface="Calibri"/>
              </a:rPr>
              <a:t>[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test_mb_accuracy(j)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j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9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num_test_batches)]) </a:t>
            </a: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25">
                <a:latin typeface="Calibri"/>
                <a:cs typeface="Calibri"/>
              </a:rPr>
              <a:t>(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’The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corresponding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test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60">
                <a:solidFill>
                  <a:srgbClr val="007F00"/>
                </a:solidFill>
                <a:latin typeface="Calibri"/>
                <a:cs typeface="Calibri"/>
              </a:rPr>
              <a:t>is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7F00"/>
                </a:solidFill>
                <a:latin typeface="Calibri"/>
                <a:cs typeface="Calibri"/>
              </a:rPr>
              <a:t>{0:.2%}’</a:t>
            </a:r>
            <a:r>
              <a:rPr dirty="0" sz="700" spc="114">
                <a:latin typeface="Calibri"/>
                <a:cs typeface="Calibri"/>
              </a:rPr>
              <a:t>.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14">
                <a:latin typeface="Calibri"/>
                <a:cs typeface="Calibri"/>
              </a:rPr>
              <a:t>(</a:t>
            </a:r>
            <a:endParaRPr sz="700">
              <a:latin typeface="Calibri"/>
              <a:cs typeface="Calibri"/>
            </a:endParaRPr>
          </a:p>
          <a:p>
            <a:pPr marL="894080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latin typeface="Calibri"/>
                <a:cs typeface="Calibri"/>
              </a:rPr>
              <a:t>test_accuracy))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65"/>
              </a:spcBef>
            </a:pPr>
            <a:r>
              <a:rPr dirty="0" sz="700" spc="135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35">
                <a:latin typeface="Calibri"/>
                <a:cs typeface="Calibri"/>
              </a:rPr>
              <a:t>(</a:t>
            </a:r>
            <a:r>
              <a:rPr dirty="0" sz="700" spc="135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Finished</a:t>
            </a:r>
            <a:r>
              <a:rPr dirty="0" sz="700" spc="40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training</a:t>
            </a:r>
            <a:r>
              <a:rPr dirty="0" sz="700" spc="409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network."</a:t>
            </a:r>
            <a:r>
              <a:rPr dirty="0" sz="700" spc="90">
                <a:latin typeface="Calibri"/>
                <a:cs typeface="Calibri"/>
              </a:rPr>
              <a:t>)</a:t>
            </a:r>
            <a:endParaRPr sz="700">
              <a:latin typeface="Calibri"/>
              <a:cs typeface="Calibri"/>
            </a:endParaRPr>
          </a:p>
          <a:p>
            <a:pPr marL="362585" marR="48895" indent="-107314">
              <a:lnSpc>
                <a:spcPct val="107900"/>
              </a:lnSpc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25">
                <a:latin typeface="Calibri"/>
                <a:cs typeface="Calibri"/>
              </a:rPr>
              <a:t>(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"Best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validation</a:t>
            </a:r>
            <a:r>
              <a:rPr dirty="0" sz="700" spc="3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of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7F00"/>
                </a:solidFill>
                <a:latin typeface="Calibri"/>
                <a:cs typeface="Calibri"/>
              </a:rPr>
              <a:t>{0:.2%}</a:t>
            </a:r>
            <a:r>
              <a:rPr dirty="0" sz="700" spc="3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obtained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at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7F00"/>
                </a:solidFill>
                <a:latin typeface="Calibri"/>
                <a:cs typeface="Calibri"/>
              </a:rPr>
              <a:t>iteration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7F00"/>
                </a:solidFill>
                <a:latin typeface="Calibri"/>
                <a:cs typeface="Calibri"/>
              </a:rPr>
              <a:t>{1}"</a:t>
            </a:r>
            <a:r>
              <a:rPr dirty="0" sz="700" spc="110">
                <a:latin typeface="Calibri"/>
                <a:cs typeface="Calibri"/>
              </a:rPr>
              <a:t>.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10">
                <a:latin typeface="Calibri"/>
                <a:cs typeface="Calibri"/>
              </a:rPr>
              <a:t>( </a:t>
            </a:r>
            <a:r>
              <a:rPr dirty="0" sz="700" spc="105">
                <a:latin typeface="Calibri"/>
                <a:cs typeface="Calibri"/>
              </a:rPr>
              <a:t>best_validation_accuracy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best_iteration))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70"/>
              </a:spcBef>
            </a:pPr>
            <a:r>
              <a:rPr dirty="0" sz="700" spc="135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35">
                <a:latin typeface="Calibri"/>
                <a:cs typeface="Calibri"/>
              </a:rPr>
              <a:t>(</a:t>
            </a:r>
            <a:r>
              <a:rPr dirty="0" sz="700" spc="135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solidFill>
                  <a:srgbClr val="007F00"/>
                </a:solidFill>
                <a:latin typeface="Calibri"/>
                <a:cs typeface="Calibri"/>
              </a:rPr>
              <a:t>Corresponding</a:t>
            </a:r>
            <a:r>
              <a:rPr dirty="0" sz="700" spc="3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test</a:t>
            </a:r>
            <a:r>
              <a:rPr dirty="0" sz="700" spc="3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of</a:t>
            </a:r>
            <a:r>
              <a:rPr dirty="0" sz="700" spc="3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{0:.2%}"</a:t>
            </a:r>
            <a:r>
              <a:rPr dirty="0" sz="700" spc="120">
                <a:latin typeface="Calibri"/>
                <a:cs typeface="Calibri"/>
              </a:rPr>
              <a:t>.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2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test_accuracy))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036980" y="6844042"/>
            <a:ext cx="4406265" cy="43180"/>
          </a:xfrm>
          <a:custGeom>
            <a:avLst/>
            <a:gdLst/>
            <a:ahLst/>
            <a:cxnLst/>
            <a:rect l="l" t="t" r="r" b="b"/>
            <a:pathLst>
              <a:path w="4406265" h="43179">
                <a:moveTo>
                  <a:pt x="2529" y="43014"/>
                </a:moveTo>
                <a:lnTo>
                  <a:pt x="2529" y="0"/>
                </a:lnTo>
              </a:path>
              <a:path w="4406265" h="43179">
                <a:moveTo>
                  <a:pt x="0" y="40487"/>
                </a:moveTo>
                <a:lnTo>
                  <a:pt x="43016" y="40487"/>
                </a:lnTo>
              </a:path>
              <a:path w="4406265" h="43179">
                <a:moveTo>
                  <a:pt x="43016" y="40487"/>
                </a:moveTo>
                <a:lnTo>
                  <a:pt x="4363008" y="40487"/>
                </a:lnTo>
              </a:path>
              <a:path w="4406265" h="43179">
                <a:moveTo>
                  <a:pt x="4363021" y="40487"/>
                </a:moveTo>
                <a:lnTo>
                  <a:pt x="4406036" y="40487"/>
                </a:lnTo>
              </a:path>
              <a:path w="4406265" h="43179">
                <a:moveTo>
                  <a:pt x="4403509" y="43014"/>
                </a:moveTo>
                <a:lnTo>
                  <a:pt x="4403509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036980" y="7628176"/>
            <a:ext cx="4406265" cy="388620"/>
          </a:xfrm>
          <a:custGeom>
            <a:avLst/>
            <a:gdLst/>
            <a:ahLst/>
            <a:cxnLst/>
            <a:rect l="l" t="t" r="r" b="b"/>
            <a:pathLst>
              <a:path w="4406265" h="388620">
                <a:moveTo>
                  <a:pt x="2529" y="43016"/>
                </a:moveTo>
                <a:lnTo>
                  <a:pt x="2529" y="0"/>
                </a:lnTo>
              </a:path>
              <a:path w="4406265" h="388620">
                <a:moveTo>
                  <a:pt x="0" y="2515"/>
                </a:moveTo>
                <a:lnTo>
                  <a:pt x="43016" y="2515"/>
                </a:lnTo>
              </a:path>
              <a:path w="4406265" h="388620">
                <a:moveTo>
                  <a:pt x="43016" y="2515"/>
                </a:moveTo>
                <a:lnTo>
                  <a:pt x="4363008" y="2515"/>
                </a:lnTo>
              </a:path>
              <a:path w="4406265" h="388620">
                <a:moveTo>
                  <a:pt x="4363021" y="2515"/>
                </a:moveTo>
                <a:lnTo>
                  <a:pt x="4406036" y="2515"/>
                </a:lnTo>
              </a:path>
              <a:path w="4406265" h="388620">
                <a:moveTo>
                  <a:pt x="4403509" y="43016"/>
                </a:moveTo>
                <a:lnTo>
                  <a:pt x="4403509" y="0"/>
                </a:lnTo>
              </a:path>
              <a:path w="4406265" h="388620">
                <a:moveTo>
                  <a:pt x="2529" y="158155"/>
                </a:moveTo>
                <a:lnTo>
                  <a:pt x="2529" y="43016"/>
                </a:lnTo>
              </a:path>
              <a:path w="4406265" h="388620">
                <a:moveTo>
                  <a:pt x="4403509" y="158155"/>
                </a:moveTo>
                <a:lnTo>
                  <a:pt x="4403509" y="43016"/>
                </a:lnTo>
              </a:path>
              <a:path w="4406265" h="388620">
                <a:moveTo>
                  <a:pt x="2529" y="273293"/>
                </a:moveTo>
                <a:lnTo>
                  <a:pt x="2529" y="158155"/>
                </a:lnTo>
              </a:path>
              <a:path w="4406265" h="388620">
                <a:moveTo>
                  <a:pt x="4403509" y="273293"/>
                </a:moveTo>
                <a:lnTo>
                  <a:pt x="4403509" y="158155"/>
                </a:lnTo>
              </a:path>
              <a:path w="4406265" h="388620">
                <a:moveTo>
                  <a:pt x="2529" y="388432"/>
                </a:moveTo>
                <a:lnTo>
                  <a:pt x="2529" y="273293"/>
                </a:lnTo>
              </a:path>
              <a:path w="4406265" h="388620">
                <a:moveTo>
                  <a:pt x="4403509" y="388432"/>
                </a:moveTo>
                <a:lnTo>
                  <a:pt x="4403509" y="273293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1042037" y="6931490"/>
            <a:ext cx="4396105" cy="1081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7465" marR="6985" indent="-5080">
              <a:lnSpc>
                <a:spcPct val="114300"/>
              </a:lnSpc>
              <a:spcBef>
                <a:spcPts val="9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first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lines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straightforward,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separating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datasets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x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y</a:t>
            </a:r>
            <a:r>
              <a:rPr dirty="0" sz="850" spc="175" i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components,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dataset.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next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interesting,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Theano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explicitly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excerpt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here:</a:t>
            </a:r>
            <a:endParaRPr sz="850">
              <a:latin typeface="Calibri"/>
              <a:cs typeface="Calibri"/>
            </a:endParaRPr>
          </a:p>
          <a:p>
            <a:pPr marL="147320">
              <a:lnSpc>
                <a:spcPct val="100000"/>
              </a:lnSpc>
              <a:spcBef>
                <a:spcPts val="1000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define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(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regularized)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function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symbolic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gradients,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updates</a:t>
            </a:r>
            <a:endParaRPr sz="700">
              <a:latin typeface="Calibri"/>
              <a:cs typeface="Calibri"/>
            </a:endParaRPr>
          </a:p>
          <a:p>
            <a:pPr marL="149225" marR="634365" indent="635">
              <a:lnSpc>
                <a:spcPct val="107900"/>
              </a:lnSpc>
            </a:pPr>
            <a:r>
              <a:rPr dirty="0" sz="700" spc="65">
                <a:latin typeface="Calibri"/>
                <a:cs typeface="Calibri"/>
              </a:rPr>
              <a:t>l2_norm_squared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sum</a:t>
            </a:r>
            <a:r>
              <a:rPr dirty="0" sz="700" spc="95">
                <a:latin typeface="Calibri"/>
                <a:cs typeface="Calibri"/>
              </a:rPr>
              <a:t>([(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layer.w**2).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sum</a:t>
            </a:r>
            <a:r>
              <a:rPr dirty="0" sz="700" spc="105">
                <a:latin typeface="Calibri"/>
                <a:cs typeface="Calibri"/>
              </a:rPr>
              <a:t>()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layer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self.layers]) </a:t>
            </a:r>
            <a:r>
              <a:rPr dirty="0" sz="700" spc="95">
                <a:latin typeface="Calibri"/>
                <a:cs typeface="Calibri"/>
              </a:rPr>
              <a:t>cost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cost(self)+\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9" name="object 9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104965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190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6984" y="971994"/>
            <a:ext cx="4406265" cy="388620"/>
          </a:xfrm>
          <a:custGeom>
            <a:avLst/>
            <a:gdLst/>
            <a:ahLst/>
            <a:cxnLst/>
            <a:rect l="l" t="t" r="r" b="b"/>
            <a:pathLst>
              <a:path w="4406265" h="388619">
                <a:moveTo>
                  <a:pt x="2529" y="115138"/>
                </a:moveTo>
                <a:lnTo>
                  <a:pt x="2529" y="0"/>
                </a:lnTo>
              </a:path>
              <a:path w="4406265" h="388619">
                <a:moveTo>
                  <a:pt x="4403497" y="115138"/>
                </a:moveTo>
                <a:lnTo>
                  <a:pt x="4403497" y="0"/>
                </a:lnTo>
              </a:path>
              <a:path w="4406265" h="388619">
                <a:moveTo>
                  <a:pt x="2529" y="230276"/>
                </a:moveTo>
                <a:lnTo>
                  <a:pt x="2529" y="115138"/>
                </a:lnTo>
              </a:path>
              <a:path w="4406265" h="388619">
                <a:moveTo>
                  <a:pt x="4403497" y="230276"/>
                </a:moveTo>
                <a:lnTo>
                  <a:pt x="4403497" y="115138"/>
                </a:lnTo>
              </a:path>
              <a:path w="4406265" h="388619">
                <a:moveTo>
                  <a:pt x="2529" y="345414"/>
                </a:moveTo>
                <a:lnTo>
                  <a:pt x="2529" y="230276"/>
                </a:lnTo>
              </a:path>
              <a:path w="4406265" h="388619">
                <a:moveTo>
                  <a:pt x="4403497" y="345414"/>
                </a:moveTo>
                <a:lnTo>
                  <a:pt x="4403497" y="230276"/>
                </a:lnTo>
              </a:path>
              <a:path w="4406265" h="388619">
                <a:moveTo>
                  <a:pt x="2529" y="388429"/>
                </a:moveTo>
                <a:lnTo>
                  <a:pt x="2529" y="345414"/>
                </a:lnTo>
              </a:path>
              <a:path w="4406265" h="388619">
                <a:moveTo>
                  <a:pt x="0" y="385902"/>
                </a:moveTo>
                <a:lnTo>
                  <a:pt x="43016" y="385902"/>
                </a:lnTo>
              </a:path>
              <a:path w="4406265" h="388619">
                <a:moveTo>
                  <a:pt x="43016" y="385902"/>
                </a:moveTo>
                <a:lnTo>
                  <a:pt x="4363010" y="385902"/>
                </a:lnTo>
              </a:path>
              <a:path w="4406265" h="388619">
                <a:moveTo>
                  <a:pt x="4363010" y="385902"/>
                </a:moveTo>
                <a:lnTo>
                  <a:pt x="4406025" y="385902"/>
                </a:lnTo>
              </a:path>
              <a:path w="4406265" h="388619">
                <a:moveTo>
                  <a:pt x="4403497" y="388429"/>
                </a:moveTo>
                <a:lnTo>
                  <a:pt x="4403497" y="345414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2042" y="942463"/>
            <a:ext cx="4396105" cy="2254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9225" marR="1539875" indent="265430">
              <a:lnSpc>
                <a:spcPct val="107900"/>
              </a:lnSpc>
              <a:spcBef>
                <a:spcPts val="100"/>
              </a:spcBef>
            </a:pPr>
            <a:r>
              <a:rPr dirty="0" sz="700" spc="85">
                <a:latin typeface="Calibri"/>
                <a:cs typeface="Calibri"/>
              </a:rPr>
              <a:t>0.5*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lmbda*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l2_norm_squared/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num_training_batches </a:t>
            </a:r>
            <a:r>
              <a:rPr dirty="0" sz="700" spc="85">
                <a:latin typeface="Calibri"/>
                <a:cs typeface="Calibri"/>
              </a:rPr>
              <a:t>grads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T.grad(cost,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self.params)</a:t>
            </a:r>
            <a:endParaRPr sz="700">
              <a:latin typeface="Calibri"/>
              <a:cs typeface="Calibri"/>
            </a:endParaRPr>
          </a:p>
          <a:p>
            <a:pPr marL="149860">
              <a:lnSpc>
                <a:spcPct val="100000"/>
              </a:lnSpc>
              <a:spcBef>
                <a:spcPts val="65"/>
              </a:spcBef>
            </a:pPr>
            <a:r>
              <a:rPr dirty="0" sz="700" spc="75">
                <a:latin typeface="Calibri"/>
                <a:cs typeface="Calibri"/>
              </a:rPr>
              <a:t>updates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[(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param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param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215">
                <a:latin typeface="Calibri"/>
                <a:cs typeface="Calibri"/>
              </a:rPr>
              <a:t>-</a:t>
            </a:r>
            <a:r>
              <a:rPr dirty="0" sz="700" spc="75">
                <a:latin typeface="Calibri"/>
                <a:cs typeface="Calibri"/>
              </a:rPr>
              <a:t>eta*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grad)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param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grad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14">
                <a:latin typeface="Calibri"/>
                <a:cs typeface="Calibri"/>
              </a:rPr>
              <a:t>(self.params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grads)]</a:t>
            </a:r>
            <a:endParaRPr sz="700">
              <a:latin typeface="Calibri"/>
              <a:cs typeface="Calibri"/>
            </a:endParaRPr>
          </a:p>
          <a:p>
            <a:pPr algn="just" marL="33020" marR="6985" indent="4445">
              <a:lnSpc>
                <a:spcPct val="111400"/>
              </a:lnSpc>
              <a:spcBef>
                <a:spcPts val="830"/>
              </a:spcBef>
            </a:pP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symbolically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log-likelihood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derivatives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parameter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updates.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Theano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achieve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900" spc="90">
                <a:latin typeface="Calibri"/>
                <a:cs typeface="Calibri"/>
              </a:rPr>
              <a:t>cost</a:t>
            </a:r>
            <a:r>
              <a:rPr dirty="0" sz="90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involves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900" spc="90">
                <a:latin typeface="Calibri"/>
                <a:cs typeface="Calibri"/>
              </a:rPr>
              <a:t>cost</a:t>
            </a:r>
            <a:r>
              <a:rPr dirty="0" sz="90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layer;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elsewhere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network3.py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short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anyway.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things</a:t>
            </a:r>
            <a:r>
              <a:rPr dirty="0" sz="850" spc="20">
                <a:latin typeface="Calibri"/>
                <a:cs typeface="Calibri"/>
              </a:rPr>
              <a:t> defined,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stage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define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train_mb </a:t>
            </a:r>
            <a:r>
              <a:rPr dirty="0" sz="850" spc="20">
                <a:latin typeface="Calibri"/>
                <a:cs typeface="Calibri"/>
              </a:rPr>
              <a:t>function,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Theano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symbolic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update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index.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Similarly,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900" spc="55">
                <a:latin typeface="Calibri"/>
                <a:cs typeface="Calibri"/>
              </a:rPr>
              <a:t>validate_mb_accuracy</a:t>
            </a:r>
            <a:r>
              <a:rPr dirty="0" sz="90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900" spc="50">
                <a:latin typeface="Calibri"/>
                <a:cs typeface="Calibri"/>
              </a:rPr>
              <a:t>test_mb_accuracy</a:t>
            </a:r>
            <a:r>
              <a:rPr dirty="0" sz="90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averaging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accuracies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entire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sets.</a:t>
            </a:r>
            <a:endParaRPr sz="850">
              <a:latin typeface="Calibri"/>
              <a:cs typeface="Calibri"/>
            </a:endParaRPr>
          </a:p>
          <a:p>
            <a:pPr algn="just" marL="37465" marR="29845" indent="189230">
              <a:lnSpc>
                <a:spcPts val="1170"/>
              </a:lnSpc>
              <a:spcBef>
                <a:spcPts val="100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remainder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900" spc="10">
                <a:latin typeface="Calibri"/>
                <a:cs typeface="Calibri"/>
              </a:rPr>
              <a:t>SGD</a:t>
            </a:r>
            <a:r>
              <a:rPr dirty="0" sz="90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self-explanatory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simply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iterate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repeatedly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mini-batches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computing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6984" y="3171337"/>
            <a:ext cx="4429125" cy="106680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algn="just" marL="42545">
              <a:lnSpc>
                <a:spcPct val="100000"/>
              </a:lnSpc>
              <a:spcBef>
                <a:spcPts val="240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accuracies.</a:t>
            </a:r>
            <a:endParaRPr sz="850">
              <a:latin typeface="Calibri"/>
              <a:cs typeface="Calibri"/>
            </a:endParaRPr>
          </a:p>
          <a:p>
            <a:pPr algn="just" marL="38100" marR="30480" indent="194310">
              <a:lnSpc>
                <a:spcPts val="1170"/>
              </a:lnSpc>
              <a:spcBef>
                <a:spcPts val="100"/>
              </a:spcBef>
            </a:pPr>
            <a:r>
              <a:rPr dirty="0" sz="850" spc="20">
                <a:latin typeface="Calibri"/>
                <a:cs typeface="Calibri"/>
              </a:rPr>
              <a:t>Okay,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now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understood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important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pieces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900" spc="20">
                <a:latin typeface="Calibri"/>
                <a:cs typeface="Calibri"/>
              </a:rPr>
              <a:t>network3.py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brief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enjoy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glancing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diving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pieces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strike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fancy.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refactoring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anything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elegantly.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code,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suggestions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code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22</a:t>
            </a:r>
            <a:r>
              <a:rPr dirty="0" sz="850" spc="-1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676984" y="4301680"/>
            <a:ext cx="4406265" cy="3152140"/>
          </a:xfrm>
          <a:custGeom>
            <a:avLst/>
            <a:gdLst/>
            <a:ahLst/>
            <a:cxnLst/>
            <a:rect l="l" t="t" r="r" b="b"/>
            <a:pathLst>
              <a:path w="4406265" h="3152140">
                <a:moveTo>
                  <a:pt x="2529" y="43014"/>
                </a:moveTo>
                <a:lnTo>
                  <a:pt x="2529" y="0"/>
                </a:lnTo>
              </a:path>
              <a:path w="4406265" h="3152140">
                <a:moveTo>
                  <a:pt x="0" y="2527"/>
                </a:moveTo>
                <a:lnTo>
                  <a:pt x="43016" y="2527"/>
                </a:lnTo>
              </a:path>
              <a:path w="4406265" h="3152140">
                <a:moveTo>
                  <a:pt x="43016" y="2527"/>
                </a:moveTo>
                <a:lnTo>
                  <a:pt x="4363010" y="2527"/>
                </a:lnTo>
              </a:path>
              <a:path w="4406265" h="3152140">
                <a:moveTo>
                  <a:pt x="4363010" y="2527"/>
                </a:moveTo>
                <a:lnTo>
                  <a:pt x="4406025" y="2527"/>
                </a:lnTo>
              </a:path>
              <a:path w="4406265" h="3152140">
                <a:moveTo>
                  <a:pt x="4403497" y="43014"/>
                </a:moveTo>
                <a:lnTo>
                  <a:pt x="4403497" y="0"/>
                </a:lnTo>
              </a:path>
              <a:path w="4406265" h="3152140">
                <a:moveTo>
                  <a:pt x="2529" y="158153"/>
                </a:moveTo>
                <a:lnTo>
                  <a:pt x="2529" y="43014"/>
                </a:lnTo>
              </a:path>
              <a:path w="4406265" h="3152140">
                <a:moveTo>
                  <a:pt x="4403497" y="158153"/>
                </a:moveTo>
                <a:lnTo>
                  <a:pt x="4403497" y="43014"/>
                </a:lnTo>
              </a:path>
              <a:path w="4406265" h="3152140">
                <a:moveTo>
                  <a:pt x="2529" y="273291"/>
                </a:moveTo>
                <a:lnTo>
                  <a:pt x="2529" y="158153"/>
                </a:lnTo>
              </a:path>
              <a:path w="4406265" h="3152140">
                <a:moveTo>
                  <a:pt x="4403497" y="273291"/>
                </a:moveTo>
                <a:lnTo>
                  <a:pt x="4403497" y="158153"/>
                </a:lnTo>
              </a:path>
              <a:path w="4406265" h="3152140">
                <a:moveTo>
                  <a:pt x="2529" y="388429"/>
                </a:moveTo>
                <a:lnTo>
                  <a:pt x="2529" y="273291"/>
                </a:lnTo>
              </a:path>
              <a:path w="4406265" h="3152140">
                <a:moveTo>
                  <a:pt x="4403497" y="388429"/>
                </a:moveTo>
                <a:lnTo>
                  <a:pt x="4403497" y="273291"/>
                </a:lnTo>
              </a:path>
              <a:path w="4406265" h="3152140">
                <a:moveTo>
                  <a:pt x="2529" y="503567"/>
                </a:moveTo>
                <a:lnTo>
                  <a:pt x="2529" y="388429"/>
                </a:lnTo>
              </a:path>
              <a:path w="4406265" h="3152140">
                <a:moveTo>
                  <a:pt x="4403497" y="503567"/>
                </a:moveTo>
                <a:lnTo>
                  <a:pt x="4403497" y="388429"/>
                </a:lnTo>
              </a:path>
              <a:path w="4406265" h="3152140">
                <a:moveTo>
                  <a:pt x="2529" y="618705"/>
                </a:moveTo>
                <a:lnTo>
                  <a:pt x="2529" y="503567"/>
                </a:lnTo>
              </a:path>
              <a:path w="4406265" h="3152140">
                <a:moveTo>
                  <a:pt x="4403497" y="618705"/>
                </a:moveTo>
                <a:lnTo>
                  <a:pt x="4403497" y="503567"/>
                </a:lnTo>
              </a:path>
              <a:path w="4406265" h="3152140">
                <a:moveTo>
                  <a:pt x="2529" y="733844"/>
                </a:moveTo>
                <a:lnTo>
                  <a:pt x="2529" y="618705"/>
                </a:lnTo>
              </a:path>
              <a:path w="4406265" h="3152140">
                <a:moveTo>
                  <a:pt x="4403497" y="733844"/>
                </a:moveTo>
                <a:lnTo>
                  <a:pt x="4403497" y="618705"/>
                </a:lnTo>
              </a:path>
              <a:path w="4406265" h="3152140">
                <a:moveTo>
                  <a:pt x="2529" y="848982"/>
                </a:moveTo>
                <a:lnTo>
                  <a:pt x="2529" y="733844"/>
                </a:lnTo>
              </a:path>
              <a:path w="4406265" h="3152140">
                <a:moveTo>
                  <a:pt x="4403497" y="848982"/>
                </a:moveTo>
                <a:lnTo>
                  <a:pt x="4403497" y="733844"/>
                </a:lnTo>
              </a:path>
              <a:path w="4406265" h="3152140">
                <a:moveTo>
                  <a:pt x="2529" y="964120"/>
                </a:moveTo>
                <a:lnTo>
                  <a:pt x="2529" y="848982"/>
                </a:lnTo>
              </a:path>
              <a:path w="4406265" h="3152140">
                <a:moveTo>
                  <a:pt x="4403497" y="964120"/>
                </a:moveTo>
                <a:lnTo>
                  <a:pt x="4403497" y="848982"/>
                </a:lnTo>
              </a:path>
              <a:path w="4406265" h="3152140">
                <a:moveTo>
                  <a:pt x="2529" y="1079258"/>
                </a:moveTo>
                <a:lnTo>
                  <a:pt x="2529" y="964120"/>
                </a:lnTo>
              </a:path>
              <a:path w="4406265" h="3152140">
                <a:moveTo>
                  <a:pt x="4403497" y="1079258"/>
                </a:moveTo>
                <a:lnTo>
                  <a:pt x="4403497" y="964120"/>
                </a:lnTo>
              </a:path>
              <a:path w="4406265" h="3152140">
                <a:moveTo>
                  <a:pt x="2529" y="1194396"/>
                </a:moveTo>
                <a:lnTo>
                  <a:pt x="2529" y="1079258"/>
                </a:lnTo>
              </a:path>
              <a:path w="4406265" h="3152140">
                <a:moveTo>
                  <a:pt x="4403497" y="1194396"/>
                </a:moveTo>
                <a:lnTo>
                  <a:pt x="4403497" y="1079258"/>
                </a:lnTo>
              </a:path>
              <a:path w="4406265" h="3152140">
                <a:moveTo>
                  <a:pt x="2529" y="1309535"/>
                </a:moveTo>
                <a:lnTo>
                  <a:pt x="2529" y="1194396"/>
                </a:lnTo>
              </a:path>
              <a:path w="4406265" h="3152140">
                <a:moveTo>
                  <a:pt x="4403497" y="1309535"/>
                </a:moveTo>
                <a:lnTo>
                  <a:pt x="4403497" y="1194396"/>
                </a:lnTo>
              </a:path>
              <a:path w="4406265" h="3152140">
                <a:moveTo>
                  <a:pt x="2529" y="1424673"/>
                </a:moveTo>
                <a:lnTo>
                  <a:pt x="2529" y="1309535"/>
                </a:lnTo>
              </a:path>
              <a:path w="4406265" h="3152140">
                <a:moveTo>
                  <a:pt x="4403497" y="1424673"/>
                </a:moveTo>
                <a:lnTo>
                  <a:pt x="4403497" y="1309535"/>
                </a:lnTo>
              </a:path>
              <a:path w="4406265" h="3152140">
                <a:moveTo>
                  <a:pt x="2529" y="1539811"/>
                </a:moveTo>
                <a:lnTo>
                  <a:pt x="2529" y="1424673"/>
                </a:lnTo>
              </a:path>
              <a:path w="4406265" h="3152140">
                <a:moveTo>
                  <a:pt x="4403497" y="1539811"/>
                </a:moveTo>
                <a:lnTo>
                  <a:pt x="4403497" y="1424673"/>
                </a:lnTo>
              </a:path>
              <a:path w="4406265" h="3152140">
                <a:moveTo>
                  <a:pt x="2529" y="1654949"/>
                </a:moveTo>
                <a:lnTo>
                  <a:pt x="2529" y="1539811"/>
                </a:lnTo>
              </a:path>
              <a:path w="4406265" h="3152140">
                <a:moveTo>
                  <a:pt x="4403497" y="1654949"/>
                </a:moveTo>
                <a:lnTo>
                  <a:pt x="4403497" y="1539811"/>
                </a:lnTo>
              </a:path>
              <a:path w="4406265" h="3152140">
                <a:moveTo>
                  <a:pt x="2529" y="1770087"/>
                </a:moveTo>
                <a:lnTo>
                  <a:pt x="2529" y="1654949"/>
                </a:lnTo>
              </a:path>
              <a:path w="4406265" h="3152140">
                <a:moveTo>
                  <a:pt x="4403497" y="1770087"/>
                </a:moveTo>
                <a:lnTo>
                  <a:pt x="4403497" y="1654949"/>
                </a:lnTo>
              </a:path>
              <a:path w="4406265" h="3152140">
                <a:moveTo>
                  <a:pt x="2529" y="1885226"/>
                </a:moveTo>
                <a:lnTo>
                  <a:pt x="2529" y="1770087"/>
                </a:lnTo>
              </a:path>
              <a:path w="4406265" h="3152140">
                <a:moveTo>
                  <a:pt x="4403497" y="1885226"/>
                </a:moveTo>
                <a:lnTo>
                  <a:pt x="4403497" y="1770087"/>
                </a:lnTo>
              </a:path>
              <a:path w="4406265" h="3152140">
                <a:moveTo>
                  <a:pt x="2529" y="2000364"/>
                </a:moveTo>
                <a:lnTo>
                  <a:pt x="2529" y="1885226"/>
                </a:lnTo>
              </a:path>
              <a:path w="4406265" h="3152140">
                <a:moveTo>
                  <a:pt x="4403497" y="2000364"/>
                </a:moveTo>
                <a:lnTo>
                  <a:pt x="4403497" y="1885226"/>
                </a:lnTo>
              </a:path>
              <a:path w="4406265" h="3152140">
                <a:moveTo>
                  <a:pt x="2529" y="2115502"/>
                </a:moveTo>
                <a:lnTo>
                  <a:pt x="2529" y="2000364"/>
                </a:lnTo>
              </a:path>
              <a:path w="4406265" h="3152140">
                <a:moveTo>
                  <a:pt x="4403497" y="2115502"/>
                </a:moveTo>
                <a:lnTo>
                  <a:pt x="4403497" y="2000364"/>
                </a:lnTo>
              </a:path>
              <a:path w="4406265" h="3152140">
                <a:moveTo>
                  <a:pt x="2529" y="2230640"/>
                </a:moveTo>
                <a:lnTo>
                  <a:pt x="2529" y="2115502"/>
                </a:lnTo>
              </a:path>
              <a:path w="4406265" h="3152140">
                <a:moveTo>
                  <a:pt x="4403497" y="2230640"/>
                </a:moveTo>
                <a:lnTo>
                  <a:pt x="4403497" y="2115502"/>
                </a:lnTo>
              </a:path>
              <a:path w="4406265" h="3152140">
                <a:moveTo>
                  <a:pt x="2529" y="2345778"/>
                </a:moveTo>
                <a:lnTo>
                  <a:pt x="2529" y="2230640"/>
                </a:lnTo>
              </a:path>
              <a:path w="4406265" h="3152140">
                <a:moveTo>
                  <a:pt x="4403497" y="2345778"/>
                </a:moveTo>
                <a:lnTo>
                  <a:pt x="4403497" y="2230640"/>
                </a:lnTo>
              </a:path>
              <a:path w="4406265" h="3152140">
                <a:moveTo>
                  <a:pt x="2529" y="2460917"/>
                </a:moveTo>
                <a:lnTo>
                  <a:pt x="2529" y="2345778"/>
                </a:lnTo>
              </a:path>
              <a:path w="4406265" h="3152140">
                <a:moveTo>
                  <a:pt x="4403497" y="2460917"/>
                </a:moveTo>
                <a:lnTo>
                  <a:pt x="4403497" y="2345778"/>
                </a:lnTo>
              </a:path>
              <a:path w="4406265" h="3152140">
                <a:moveTo>
                  <a:pt x="2529" y="2576055"/>
                </a:moveTo>
                <a:lnTo>
                  <a:pt x="2529" y="2460917"/>
                </a:lnTo>
              </a:path>
              <a:path w="4406265" h="3152140">
                <a:moveTo>
                  <a:pt x="4403497" y="2576055"/>
                </a:moveTo>
                <a:lnTo>
                  <a:pt x="4403497" y="2460917"/>
                </a:lnTo>
              </a:path>
              <a:path w="4406265" h="3152140">
                <a:moveTo>
                  <a:pt x="2529" y="2691206"/>
                </a:moveTo>
                <a:lnTo>
                  <a:pt x="2529" y="2576068"/>
                </a:lnTo>
              </a:path>
              <a:path w="4406265" h="3152140">
                <a:moveTo>
                  <a:pt x="4403497" y="2691206"/>
                </a:moveTo>
                <a:lnTo>
                  <a:pt x="4403497" y="2576068"/>
                </a:lnTo>
              </a:path>
              <a:path w="4406265" h="3152140">
                <a:moveTo>
                  <a:pt x="2529" y="2806344"/>
                </a:moveTo>
                <a:lnTo>
                  <a:pt x="2529" y="2691206"/>
                </a:lnTo>
              </a:path>
              <a:path w="4406265" h="3152140">
                <a:moveTo>
                  <a:pt x="4403497" y="2806344"/>
                </a:moveTo>
                <a:lnTo>
                  <a:pt x="4403497" y="2691206"/>
                </a:lnTo>
              </a:path>
              <a:path w="4406265" h="3152140">
                <a:moveTo>
                  <a:pt x="2529" y="2921482"/>
                </a:moveTo>
                <a:lnTo>
                  <a:pt x="2529" y="2806344"/>
                </a:lnTo>
              </a:path>
              <a:path w="4406265" h="3152140">
                <a:moveTo>
                  <a:pt x="4403497" y="2921482"/>
                </a:moveTo>
                <a:lnTo>
                  <a:pt x="4403497" y="2806344"/>
                </a:lnTo>
              </a:path>
              <a:path w="4406265" h="3152140">
                <a:moveTo>
                  <a:pt x="2529" y="3036620"/>
                </a:moveTo>
                <a:lnTo>
                  <a:pt x="2529" y="2921482"/>
                </a:lnTo>
              </a:path>
              <a:path w="4406265" h="3152140">
                <a:moveTo>
                  <a:pt x="4403497" y="3036620"/>
                </a:moveTo>
                <a:lnTo>
                  <a:pt x="4403497" y="2921482"/>
                </a:lnTo>
              </a:path>
              <a:path w="4406265" h="3152140">
                <a:moveTo>
                  <a:pt x="2529" y="3151756"/>
                </a:moveTo>
                <a:lnTo>
                  <a:pt x="2529" y="3036620"/>
                </a:lnTo>
              </a:path>
              <a:path w="4406265" h="3152140">
                <a:moveTo>
                  <a:pt x="4403497" y="3151756"/>
                </a:moveTo>
                <a:lnTo>
                  <a:pt x="4403497" y="303662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720001" y="7553162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664829" y="4315164"/>
            <a:ext cx="4426585" cy="369951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59690">
              <a:lnSpc>
                <a:spcPct val="100000"/>
              </a:lnSpc>
              <a:spcBef>
                <a:spcPts val="1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network3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.py</a:t>
            </a:r>
            <a:endParaRPr sz="700">
              <a:latin typeface="Calibri"/>
              <a:cs typeface="Calibri"/>
            </a:endParaRPr>
          </a:p>
          <a:p>
            <a:pPr marL="60960">
              <a:lnSpc>
                <a:spcPct val="100000"/>
              </a:lnSpc>
              <a:spcBef>
                <a:spcPts val="65"/>
              </a:spcBef>
            </a:pPr>
            <a:r>
              <a:rPr dirty="0" sz="700" spc="45" i="1">
                <a:solidFill>
                  <a:srgbClr val="980000"/>
                </a:solidFill>
                <a:latin typeface="Calibri"/>
                <a:cs typeface="Calibri"/>
              </a:rPr>
              <a:t>~~~~~~~~~~~~~~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60960" marR="1127125" indent="-3175">
              <a:lnSpc>
                <a:spcPct val="107900"/>
              </a:lnSpc>
            </a:pP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Theano</a:t>
            </a:r>
            <a:r>
              <a:rPr dirty="0" sz="700" spc="-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-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based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program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running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simple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neural networks.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marL="60325" marR="913765" indent="635">
              <a:lnSpc>
                <a:spcPct val="107900"/>
              </a:lnSpc>
            </a:pP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Supports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several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types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(fully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connected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convolutional,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max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 pooling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softmax),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activation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functions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(sigmoid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tanh,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 rectified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linear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units,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more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easily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added).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59055" marR="754380" indent="635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When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run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CPU,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this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program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much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faster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than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network.py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 network2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.py.</a:t>
            </a:r>
            <a:r>
              <a:rPr dirty="0" sz="700" spc="31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However,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unlike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network.py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network2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.py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it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can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also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run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GPU,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which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makes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it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faster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5" i="1">
                <a:solidFill>
                  <a:srgbClr val="980000"/>
                </a:solidFill>
                <a:latin typeface="Calibri"/>
                <a:cs typeface="Calibri"/>
              </a:rPr>
              <a:t>still.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marL="60325" marR="701675">
              <a:lnSpc>
                <a:spcPct val="107900"/>
              </a:lnSpc>
            </a:pP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Because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code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based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Theano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code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different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0" i="1">
                <a:solidFill>
                  <a:srgbClr val="980000"/>
                </a:solidFill>
                <a:latin typeface="Calibri"/>
                <a:cs typeface="Calibri"/>
              </a:rPr>
              <a:t>many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ways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from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network.py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network2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.py.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However,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where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possible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0" i="1">
                <a:solidFill>
                  <a:srgbClr val="980000"/>
                </a:solidFill>
                <a:latin typeface="Calibri"/>
                <a:cs typeface="Calibri"/>
              </a:rPr>
              <a:t>have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 tried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maintain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consistency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with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earlier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programs.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In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particular,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API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similar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network2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5" i="1">
                <a:solidFill>
                  <a:srgbClr val="980000"/>
                </a:solidFill>
                <a:latin typeface="Calibri"/>
                <a:cs typeface="Calibri"/>
              </a:rPr>
              <a:t>.py.</a:t>
            </a:r>
            <a:r>
              <a:rPr dirty="0" sz="700" spc="32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Note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that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have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 focused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making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code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simple,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easily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readable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easily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modifiable.</a:t>
            </a:r>
            <a:r>
              <a:rPr dirty="0" sz="700" spc="31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It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not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optimized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omits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many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desirable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features.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60325" marR="80772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This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program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incorporates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ideas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from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Theano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documentation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on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 convolutional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neural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nets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(notably,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  <a:hlinkClick r:id="rId3"/>
              </a:rPr>
              <a:t>http://deeplearning.net/tutorial/lenet.html</a:t>
            </a:r>
            <a:r>
              <a:rPr dirty="0" sz="700" spc="4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),</a:t>
            </a:r>
            <a:r>
              <a:rPr dirty="0" sz="700" spc="434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from</a:t>
            </a:r>
            <a:r>
              <a:rPr dirty="0" sz="700" spc="4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Misha</a:t>
            </a:r>
            <a:r>
              <a:rPr dirty="0" sz="700" spc="4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Denil’s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implementation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dropout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(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  <a:hlinkClick r:id="rId4"/>
              </a:rPr>
              <a:t>https://github.com/mdenil/dropout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00" i="1">
                <a:solidFill>
                  <a:srgbClr val="980000"/>
                </a:solidFill>
                <a:latin typeface="Calibri"/>
                <a:cs typeface="Calibri"/>
              </a:rPr>
              <a:t>),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 from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Chris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Olah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(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  <a:hlinkClick r:id="rId5"/>
              </a:rPr>
              <a:t>http://colah.github.io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).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endParaRPr sz="700">
              <a:latin typeface="Calibri"/>
              <a:cs typeface="Calibri"/>
            </a:endParaRPr>
          </a:p>
          <a:p>
            <a:pPr algn="just" marL="50800" marR="43180" indent="91440">
              <a:lnSpc>
                <a:spcPts val="800"/>
              </a:lnSpc>
            </a:pPr>
            <a:r>
              <a:rPr dirty="0" baseline="30303" sz="825" spc="30">
                <a:latin typeface="Calibri"/>
                <a:cs typeface="Calibri"/>
              </a:rPr>
              <a:t>22</a:t>
            </a:r>
            <a:r>
              <a:rPr dirty="0" sz="750" spc="20">
                <a:latin typeface="Calibri"/>
                <a:cs typeface="Calibri"/>
              </a:rPr>
              <a:t>Using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Theano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on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GPU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can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little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tricky.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particular,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it’s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easy</a:t>
            </a:r>
            <a:r>
              <a:rPr dirty="0" sz="750" spc="6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make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mistake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pulling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data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off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GPU,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which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can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slow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things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down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lot.</a:t>
            </a:r>
            <a:r>
              <a:rPr dirty="0" sz="750" spc="2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I’ve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tried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to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avoid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this.</a:t>
            </a:r>
            <a:r>
              <a:rPr dirty="0" sz="750" spc="2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With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that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said,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this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code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can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certainly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sped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up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quite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bit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further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with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careful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optimization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Theano’s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configuration.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See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the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Theano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documentation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more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details.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10" name="object 10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115094" y="368721"/>
            <a:ext cx="256540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369820" algn="l"/>
              </a:tabLst>
            </a:pPr>
            <a:r>
              <a:rPr dirty="0" sz="850" spc="10">
                <a:latin typeface="Calibri"/>
                <a:cs typeface="Calibri"/>
              </a:rPr>
              <a:t>6.3.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191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9510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440489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70625" y="942463"/>
            <a:ext cx="3524250" cy="2098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 marR="5080" indent="-635">
              <a:lnSpc>
                <a:spcPct val="107900"/>
              </a:lnSpc>
              <a:spcBef>
                <a:spcPts val="100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Written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Theano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0.6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0.7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needs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some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changes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more</a:t>
            </a:r>
            <a:r>
              <a:rPr dirty="0" sz="700" spc="409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recent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versions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Theano.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Libraries</a:t>
            </a:r>
            <a:endParaRPr sz="700">
              <a:latin typeface="Calibri"/>
              <a:cs typeface="Calibri"/>
            </a:endParaRPr>
          </a:p>
          <a:p>
            <a:pPr marL="14604" marR="2555875" indent="-2540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Standard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library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cPickle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gzip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14604" marR="2290445" indent="-2540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Third</a:t>
            </a:r>
            <a:r>
              <a:rPr dirty="0" sz="700" spc="-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215" i="1">
                <a:solidFill>
                  <a:srgbClr val="980000"/>
                </a:solidFill>
                <a:latin typeface="Calibri"/>
                <a:cs typeface="Calibri"/>
              </a:rPr>
              <a:t>-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party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libraries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numpy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as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np</a:t>
            </a:r>
            <a:r>
              <a:rPr dirty="0" sz="700" spc="70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theano</a:t>
            </a:r>
            <a:endParaRPr sz="700">
              <a:latin typeface="Calibri"/>
              <a:cs typeface="Calibri"/>
            </a:endParaRPr>
          </a:p>
          <a:p>
            <a:pPr marL="14604">
              <a:lnSpc>
                <a:spcPct val="100000"/>
              </a:lnSpc>
              <a:spcBef>
                <a:spcPts val="65"/>
              </a:spcBef>
            </a:pP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theano.tensor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as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-50">
                <a:latin typeface="Calibri"/>
                <a:cs typeface="Calibri"/>
              </a:rPr>
              <a:t>T</a:t>
            </a:r>
            <a:endParaRPr sz="700">
              <a:latin typeface="Calibri"/>
              <a:cs typeface="Calibri"/>
            </a:endParaRPr>
          </a:p>
          <a:p>
            <a:pPr marL="14604" marR="1492885">
              <a:lnSpc>
                <a:spcPct val="107900"/>
              </a:lnSpc>
            </a:pP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from</a:t>
            </a:r>
            <a:r>
              <a:rPr dirty="0" sz="700" spc="4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theano.tensor.nnet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35">
                <a:latin typeface="Calibri"/>
                <a:cs typeface="Calibri"/>
              </a:rPr>
              <a:t>conv</a:t>
            </a:r>
            <a:r>
              <a:rPr dirty="0" sz="700" spc="500"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from</a:t>
            </a:r>
            <a:r>
              <a:rPr dirty="0" sz="700" spc="4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theano.tensor.nnet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softmax</a:t>
            </a:r>
            <a:endParaRPr sz="700">
              <a:latin typeface="Calibri"/>
              <a:cs typeface="Calibri"/>
            </a:endParaRPr>
          </a:p>
          <a:p>
            <a:pPr marL="14604" marR="1068070">
              <a:lnSpc>
                <a:spcPct val="107900"/>
              </a:lnSpc>
            </a:pP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from</a:t>
            </a:r>
            <a:r>
              <a:rPr dirty="0" sz="700" spc="4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theano.tensor</a:t>
            </a:r>
            <a:r>
              <a:rPr dirty="0" sz="700" spc="425">
                <a:latin typeface="Calibri"/>
                <a:cs typeface="Calibri"/>
              </a:rPr>
              <a:t> </a:t>
            </a:r>
            <a:r>
              <a:rPr dirty="0" sz="700" spc="75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2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shared_randomstreams 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from</a:t>
            </a:r>
            <a:r>
              <a:rPr dirty="0" sz="700" spc="4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theano.tensor.signal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-10">
                <a:latin typeface="Calibri"/>
                <a:cs typeface="Calibri"/>
              </a:rPr>
              <a:t>downsample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70625" y="3130089"/>
            <a:ext cx="2035810" cy="60134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Activation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functions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neurons</a:t>
            </a:r>
            <a:endParaRPr sz="7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linear(z):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z</a:t>
            </a:r>
            <a:endParaRPr sz="700">
              <a:latin typeface="Calibri"/>
              <a:cs typeface="Calibri"/>
            </a:endParaRPr>
          </a:p>
          <a:p>
            <a:pPr marL="14604" marR="5080" indent="-635">
              <a:lnSpc>
                <a:spcPct val="1079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ReLU(z):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T.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45">
                <a:latin typeface="Calibri"/>
                <a:cs typeface="Calibri"/>
              </a:rPr>
              <a:t>maximum(0.0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z) 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from</a:t>
            </a:r>
            <a:r>
              <a:rPr dirty="0" sz="700" spc="4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theano.tensor.nnet</a:t>
            </a:r>
            <a:r>
              <a:rPr dirty="0" sz="700" spc="440"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4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sigmoid 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from</a:t>
            </a:r>
            <a:r>
              <a:rPr dirty="0" sz="700" spc="4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theano.tensor</a:t>
            </a:r>
            <a:r>
              <a:rPr dirty="0" sz="700" spc="425">
                <a:latin typeface="Calibri"/>
                <a:cs typeface="Calibri"/>
              </a:rPr>
              <a:t> </a:t>
            </a:r>
            <a:r>
              <a:rPr dirty="0" sz="700" spc="75">
                <a:solidFill>
                  <a:srgbClr val="003FFF"/>
                </a:solidFill>
                <a:latin typeface="Calibri"/>
                <a:cs typeface="Calibri"/>
              </a:rPr>
              <a:t>import</a:t>
            </a:r>
            <a:r>
              <a:rPr dirty="0" sz="700" spc="42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tanh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404747" y="7733351"/>
            <a:ext cx="99060" cy="0"/>
          </a:xfrm>
          <a:custGeom>
            <a:avLst/>
            <a:gdLst/>
            <a:ahLst/>
            <a:cxnLst/>
            <a:rect l="l" t="t" r="r" b="b"/>
            <a:pathLst>
              <a:path w="99059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1719161" y="7733351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1070625" y="3936057"/>
            <a:ext cx="4057650" cy="405574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Constants</a:t>
            </a:r>
            <a:endParaRPr sz="700">
              <a:latin typeface="Calibri"/>
              <a:cs typeface="Calibri"/>
            </a:endParaRPr>
          </a:p>
          <a:p>
            <a:pPr marL="13335" marR="3514090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GPU</a:t>
            </a:r>
            <a:r>
              <a:rPr dirty="0" sz="700" spc="2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00">
                <a:latin typeface="Calibri"/>
                <a:cs typeface="Calibri"/>
              </a:rPr>
              <a:t> </a:t>
            </a:r>
            <a:r>
              <a:rPr dirty="0" sz="700" spc="45">
                <a:latin typeface="Calibri"/>
                <a:cs typeface="Calibri"/>
              </a:rPr>
              <a:t>True </a:t>
            </a: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-20">
                <a:latin typeface="Calibri"/>
                <a:cs typeface="Calibri"/>
              </a:rPr>
              <a:t>GPU:</a:t>
            </a:r>
            <a:endParaRPr sz="700">
              <a:latin typeface="Calibri"/>
              <a:cs typeface="Calibri"/>
            </a:endParaRPr>
          </a:p>
          <a:p>
            <a:pPr marL="224790" marR="5715" indent="-104139">
              <a:lnSpc>
                <a:spcPct val="107900"/>
              </a:lnSpc>
            </a:pP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7F00"/>
                </a:solidFill>
                <a:latin typeface="Calibri"/>
                <a:cs typeface="Calibri"/>
              </a:rPr>
              <a:t>"Trying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to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60">
                <a:solidFill>
                  <a:srgbClr val="007F00"/>
                </a:solidFill>
                <a:latin typeface="Calibri"/>
                <a:cs typeface="Calibri"/>
              </a:rPr>
              <a:t>run</a:t>
            </a:r>
            <a:r>
              <a:rPr dirty="0" sz="700" spc="3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60">
                <a:solidFill>
                  <a:srgbClr val="007F00"/>
                </a:solidFill>
                <a:latin typeface="Calibri"/>
                <a:cs typeface="Calibri"/>
              </a:rPr>
              <a:t>under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7F00"/>
                </a:solidFill>
                <a:latin typeface="Calibri"/>
                <a:cs typeface="Calibri"/>
              </a:rPr>
              <a:t>a</a:t>
            </a:r>
            <a:r>
              <a:rPr dirty="0" sz="700" spc="35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7F00"/>
                </a:solidFill>
                <a:latin typeface="Calibri"/>
                <a:cs typeface="Calibri"/>
              </a:rPr>
              <a:t>GPU.</a:t>
            </a:r>
            <a:r>
              <a:rPr dirty="0" sz="700" spc="315">
                <a:solidFill>
                  <a:srgbClr val="007F00"/>
                </a:solidFill>
                <a:latin typeface="Calibri"/>
                <a:cs typeface="Calibri"/>
              </a:rPr>
              <a:t>  </a:t>
            </a:r>
            <a:r>
              <a:rPr dirty="0" sz="700" spc="185">
                <a:solidFill>
                  <a:srgbClr val="007F00"/>
                </a:solidFill>
                <a:latin typeface="Calibri"/>
                <a:cs typeface="Calibri"/>
              </a:rPr>
              <a:t>If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solidFill>
                  <a:srgbClr val="007F00"/>
                </a:solidFill>
                <a:latin typeface="Calibri"/>
                <a:cs typeface="Calibri"/>
              </a:rPr>
              <a:t>this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60">
                <a:solidFill>
                  <a:srgbClr val="007F00"/>
                </a:solidFill>
                <a:latin typeface="Calibri"/>
                <a:cs typeface="Calibri"/>
              </a:rPr>
              <a:t>is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60">
                <a:solidFill>
                  <a:srgbClr val="007F00"/>
                </a:solidFill>
                <a:latin typeface="Calibri"/>
                <a:cs typeface="Calibri"/>
              </a:rPr>
              <a:t>not</a:t>
            </a:r>
            <a:r>
              <a:rPr dirty="0" sz="700" spc="3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7F00"/>
                </a:solidFill>
                <a:latin typeface="Calibri"/>
                <a:cs typeface="Calibri"/>
              </a:rPr>
              <a:t>desired</a:t>
            </a:r>
            <a:r>
              <a:rPr dirty="0" sz="700" spc="-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90">
                <a:solidFill>
                  <a:srgbClr val="007F00"/>
                </a:solidFill>
                <a:latin typeface="Calibri"/>
                <a:cs typeface="Calibri"/>
              </a:rPr>
              <a:t>,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solidFill>
                  <a:srgbClr val="007F00"/>
                </a:solidFill>
                <a:latin typeface="Calibri"/>
                <a:cs typeface="Calibri"/>
              </a:rPr>
              <a:t>then</a:t>
            </a:r>
            <a:r>
              <a:rPr dirty="0" sz="700" spc="3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solidFill>
                  <a:srgbClr val="007F00"/>
                </a:solidFill>
                <a:latin typeface="Calibri"/>
                <a:cs typeface="Calibri"/>
              </a:rPr>
              <a:t>modify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45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45">
                <a:latin typeface="Calibri"/>
                <a:cs typeface="Calibri"/>
              </a:rPr>
              <a:t>+\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9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60">
                <a:solidFill>
                  <a:srgbClr val="007F00"/>
                </a:solidFill>
                <a:latin typeface="Calibri"/>
                <a:cs typeface="Calibri"/>
              </a:rPr>
              <a:t>network3</a:t>
            </a:r>
            <a:r>
              <a:rPr dirty="0" sz="700" spc="-9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.py\nto</a:t>
            </a:r>
            <a:r>
              <a:rPr dirty="0" sz="700" spc="33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solidFill>
                  <a:srgbClr val="007F00"/>
                </a:solidFill>
                <a:latin typeface="Calibri"/>
                <a:cs typeface="Calibri"/>
              </a:rPr>
              <a:t>set</a:t>
            </a:r>
            <a:r>
              <a:rPr dirty="0" sz="700" spc="33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4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7F00"/>
                </a:solidFill>
                <a:latin typeface="Calibri"/>
                <a:cs typeface="Calibri"/>
              </a:rPr>
              <a:t>GPU</a:t>
            </a:r>
            <a:r>
              <a:rPr dirty="0" sz="700" spc="34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solidFill>
                  <a:srgbClr val="007F00"/>
                </a:solidFill>
                <a:latin typeface="Calibri"/>
                <a:cs typeface="Calibri"/>
              </a:rPr>
              <a:t>flag</a:t>
            </a:r>
            <a:r>
              <a:rPr dirty="0" sz="700" spc="33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to</a:t>
            </a:r>
            <a:r>
              <a:rPr dirty="0" sz="700" spc="34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False."</a:t>
            </a:r>
            <a:endParaRPr sz="700">
              <a:latin typeface="Calibri"/>
              <a:cs typeface="Calibri"/>
            </a:endParaRPr>
          </a:p>
          <a:p>
            <a:pPr marL="121285" marR="2182495" indent="-1270">
              <a:lnSpc>
                <a:spcPct val="107900"/>
              </a:lnSpc>
            </a:pPr>
            <a:r>
              <a:rPr dirty="0" sz="700" spc="150">
                <a:solidFill>
                  <a:srgbClr val="003FFF"/>
                </a:solidFill>
                <a:latin typeface="Calibri"/>
                <a:cs typeface="Calibri"/>
              </a:rPr>
              <a:t>try</a:t>
            </a:r>
            <a:r>
              <a:rPr dirty="0" sz="700" spc="150">
                <a:latin typeface="Calibri"/>
                <a:cs typeface="Calibri"/>
              </a:rPr>
              <a:t>: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theano.config.device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7F00"/>
                </a:solidFill>
                <a:latin typeface="Calibri"/>
                <a:cs typeface="Calibri"/>
              </a:rPr>
              <a:t>’gpu’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except</a:t>
            </a:r>
            <a:r>
              <a:rPr dirty="0" sz="700" spc="105">
                <a:latin typeface="Calibri"/>
                <a:cs typeface="Calibri"/>
              </a:rPr>
              <a:t>: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pass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it’s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already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set </a:t>
            </a:r>
            <a:r>
              <a:rPr dirty="0" sz="700" spc="120">
                <a:latin typeface="Calibri"/>
                <a:cs typeface="Calibri"/>
              </a:rPr>
              <a:t>theano.config.floatX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7F00"/>
                </a:solidFill>
                <a:latin typeface="Calibri"/>
                <a:cs typeface="Calibri"/>
              </a:rPr>
              <a:t>’float32</a:t>
            </a:r>
            <a:r>
              <a:rPr dirty="0" sz="700" spc="-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solidFill>
                  <a:srgbClr val="007F00"/>
                </a:solidFill>
                <a:latin typeface="Calibri"/>
                <a:cs typeface="Calibri"/>
              </a:rPr>
              <a:t>’</a:t>
            </a:r>
            <a:endParaRPr sz="700">
              <a:latin typeface="Calibri"/>
              <a:cs typeface="Calibri"/>
            </a:endParaRPr>
          </a:p>
          <a:p>
            <a:pPr marL="14604">
              <a:lnSpc>
                <a:spcPct val="100000"/>
              </a:lnSpc>
              <a:spcBef>
                <a:spcPts val="70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else</a:t>
            </a:r>
            <a:r>
              <a:rPr dirty="0" sz="700" spc="125">
                <a:latin typeface="Calibri"/>
                <a:cs typeface="Calibri"/>
              </a:rPr>
              <a:t>:</a:t>
            </a:r>
            <a:endParaRPr sz="700">
              <a:latin typeface="Calibri"/>
              <a:cs typeface="Calibri"/>
            </a:endParaRPr>
          </a:p>
          <a:p>
            <a:pPr marL="224790" marR="165100" indent="-104139">
              <a:lnSpc>
                <a:spcPct val="107900"/>
              </a:lnSpc>
            </a:pP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9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Running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solidFill>
                  <a:srgbClr val="007F00"/>
                </a:solidFill>
                <a:latin typeface="Calibri"/>
                <a:cs typeface="Calibri"/>
              </a:rPr>
              <a:t>with</a:t>
            </a:r>
            <a:r>
              <a:rPr dirty="0" sz="700" spc="35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7F00"/>
                </a:solidFill>
                <a:latin typeface="Calibri"/>
                <a:cs typeface="Calibri"/>
              </a:rPr>
              <a:t>a</a:t>
            </a:r>
            <a:r>
              <a:rPr dirty="0" sz="700" spc="34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55">
                <a:solidFill>
                  <a:srgbClr val="007F00"/>
                </a:solidFill>
                <a:latin typeface="Calibri"/>
                <a:cs typeface="Calibri"/>
              </a:rPr>
              <a:t>CPU.</a:t>
            </a:r>
            <a:r>
              <a:rPr dirty="0" sz="700" spc="305">
                <a:solidFill>
                  <a:srgbClr val="007F00"/>
                </a:solidFill>
                <a:latin typeface="Calibri"/>
                <a:cs typeface="Calibri"/>
              </a:rPr>
              <a:t>  </a:t>
            </a:r>
            <a:r>
              <a:rPr dirty="0" sz="700" spc="185">
                <a:solidFill>
                  <a:srgbClr val="007F00"/>
                </a:solidFill>
                <a:latin typeface="Calibri"/>
                <a:cs typeface="Calibri"/>
              </a:rPr>
              <a:t>If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solidFill>
                  <a:srgbClr val="007F00"/>
                </a:solidFill>
                <a:latin typeface="Calibri"/>
                <a:cs typeface="Calibri"/>
              </a:rPr>
              <a:t>this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60">
                <a:solidFill>
                  <a:srgbClr val="007F00"/>
                </a:solidFill>
                <a:latin typeface="Calibri"/>
                <a:cs typeface="Calibri"/>
              </a:rPr>
              <a:t>is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60">
                <a:solidFill>
                  <a:srgbClr val="007F00"/>
                </a:solidFill>
                <a:latin typeface="Calibri"/>
                <a:cs typeface="Calibri"/>
              </a:rPr>
              <a:t>not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7F00"/>
                </a:solidFill>
                <a:latin typeface="Calibri"/>
                <a:cs typeface="Calibri"/>
              </a:rPr>
              <a:t>desired</a:t>
            </a:r>
            <a:r>
              <a:rPr dirty="0" sz="700" spc="-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90">
                <a:solidFill>
                  <a:srgbClr val="007F00"/>
                </a:solidFill>
                <a:latin typeface="Calibri"/>
                <a:cs typeface="Calibri"/>
              </a:rPr>
              <a:t>,</a:t>
            </a:r>
            <a:r>
              <a:rPr dirty="0" sz="700" spc="35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solidFill>
                  <a:srgbClr val="007F00"/>
                </a:solidFill>
                <a:latin typeface="Calibri"/>
                <a:cs typeface="Calibri"/>
              </a:rPr>
              <a:t>then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65">
                <a:solidFill>
                  <a:srgbClr val="007F00"/>
                </a:solidFill>
                <a:latin typeface="Calibri"/>
                <a:cs typeface="Calibri"/>
              </a:rPr>
              <a:t>modify</a:t>
            </a:r>
            <a:r>
              <a:rPr dirty="0" sz="700" spc="35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40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40">
                <a:latin typeface="Calibri"/>
                <a:cs typeface="Calibri"/>
              </a:rPr>
              <a:t>+\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9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60">
                <a:solidFill>
                  <a:srgbClr val="007F00"/>
                </a:solidFill>
                <a:latin typeface="Calibri"/>
                <a:cs typeface="Calibri"/>
              </a:rPr>
              <a:t>network3</a:t>
            </a:r>
            <a:r>
              <a:rPr dirty="0" sz="700" spc="-9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7F00"/>
                </a:solidFill>
                <a:latin typeface="Calibri"/>
                <a:cs typeface="Calibri"/>
              </a:rPr>
              <a:t>.py</a:t>
            </a:r>
            <a:r>
              <a:rPr dirty="0" sz="700" spc="33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to</a:t>
            </a:r>
            <a:r>
              <a:rPr dirty="0" sz="700" spc="34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7F00"/>
                </a:solidFill>
                <a:latin typeface="Calibri"/>
                <a:cs typeface="Calibri"/>
              </a:rPr>
              <a:t>set\nthe</a:t>
            </a:r>
            <a:r>
              <a:rPr dirty="0" sz="700" spc="34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7F00"/>
                </a:solidFill>
                <a:latin typeface="Calibri"/>
                <a:cs typeface="Calibri"/>
              </a:rPr>
              <a:t>GPU</a:t>
            </a:r>
            <a:r>
              <a:rPr dirty="0" sz="700" spc="34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35">
                <a:solidFill>
                  <a:srgbClr val="007F00"/>
                </a:solidFill>
                <a:latin typeface="Calibri"/>
                <a:cs typeface="Calibri"/>
              </a:rPr>
              <a:t>flag</a:t>
            </a:r>
            <a:r>
              <a:rPr dirty="0" sz="700" spc="34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to</a:t>
            </a:r>
            <a:r>
              <a:rPr dirty="0" sz="700" spc="34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solidFill>
                  <a:srgbClr val="007F00"/>
                </a:solidFill>
                <a:latin typeface="Calibri"/>
                <a:cs typeface="Calibri"/>
              </a:rPr>
              <a:t>True."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4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Load</a:t>
            </a:r>
            <a:r>
              <a:rPr dirty="0" sz="700" spc="4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MNIST</a:t>
            </a:r>
            <a:r>
              <a:rPr dirty="0" sz="700" spc="4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endParaRPr sz="700">
              <a:latin typeface="Calibri"/>
              <a:cs typeface="Calibri"/>
            </a:endParaRPr>
          </a:p>
          <a:p>
            <a:pPr marL="118745" marR="1174115" indent="-104775">
              <a:lnSpc>
                <a:spcPct val="1079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409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load_data_shared(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filename=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"../</a:t>
            </a:r>
            <a:r>
              <a:rPr dirty="0" sz="700" spc="-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data/mnist.pkl.gz"</a:t>
            </a:r>
            <a:r>
              <a:rPr dirty="0" sz="700" spc="120">
                <a:latin typeface="Calibri"/>
                <a:cs typeface="Calibri"/>
              </a:rPr>
              <a:t>): </a:t>
            </a:r>
            <a:r>
              <a:rPr dirty="0" sz="700" spc="150">
                <a:latin typeface="Calibri"/>
                <a:cs typeface="Calibri"/>
              </a:rPr>
              <a:t>f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gzip.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open</a:t>
            </a:r>
            <a:r>
              <a:rPr dirty="0" sz="700" spc="105">
                <a:latin typeface="Calibri"/>
                <a:cs typeface="Calibri"/>
              </a:rPr>
              <a:t>(filename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55">
                <a:solidFill>
                  <a:srgbClr val="007F00"/>
                </a:solidFill>
                <a:latin typeface="Calibri"/>
                <a:cs typeface="Calibri"/>
              </a:rPr>
              <a:t>’rb’</a:t>
            </a:r>
            <a:r>
              <a:rPr dirty="0" sz="700" spc="155">
                <a:latin typeface="Calibri"/>
                <a:cs typeface="Calibri"/>
              </a:rPr>
              <a:t>)</a:t>
            </a:r>
            <a:endParaRPr sz="700">
              <a:latin typeface="Calibri"/>
              <a:cs typeface="Calibri"/>
            </a:endParaRPr>
          </a:p>
          <a:p>
            <a:pPr marL="118745" marR="802005" indent="1905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test_data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cPickle.load(f) </a:t>
            </a:r>
            <a:r>
              <a:rPr dirty="0" sz="700" spc="140">
                <a:latin typeface="Calibri"/>
                <a:cs typeface="Calibri"/>
              </a:rPr>
              <a:t>f.close()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shared(data):</a:t>
            </a:r>
            <a:endParaRPr sz="700">
              <a:latin typeface="Calibri"/>
              <a:cs typeface="Calibri"/>
            </a:endParaRPr>
          </a:p>
          <a:p>
            <a:pPr marL="226695" marR="21907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Place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into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shared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variables.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This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allows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Theano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0" i="1">
                <a:solidFill>
                  <a:srgbClr val="980000"/>
                </a:solidFill>
                <a:latin typeface="Calibri"/>
                <a:cs typeface="Calibri"/>
              </a:rPr>
              <a:t>copy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data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GPU,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if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one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available.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226695">
              <a:lnSpc>
                <a:spcPct val="100000"/>
              </a:lnSpc>
              <a:spcBef>
                <a:spcPts val="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227329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latin typeface="Calibri"/>
                <a:cs typeface="Calibri"/>
              </a:rPr>
              <a:t>shared_x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theano.shared(</a:t>
            </a:r>
            <a:endParaRPr sz="700">
              <a:latin typeface="Calibri"/>
              <a:cs typeface="Calibri"/>
            </a:endParaRPr>
          </a:p>
          <a:p>
            <a:pPr marL="227329" marR="483234" indent="104775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np.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asarray(data[0],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dtype=theano.config.floatX),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borrow=True) </a:t>
            </a:r>
            <a:r>
              <a:rPr dirty="0" sz="700" spc="75">
                <a:latin typeface="Calibri"/>
                <a:cs typeface="Calibri"/>
              </a:rPr>
              <a:t>shared_y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theano.shared(</a:t>
            </a:r>
            <a:endParaRPr sz="700">
              <a:latin typeface="Calibri"/>
              <a:cs typeface="Calibri"/>
            </a:endParaRPr>
          </a:p>
          <a:p>
            <a:pPr marL="227329" marR="483234" indent="104775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np.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asarray(data[1],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dtype=theano.config.floatX),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borrow=True)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9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shared_x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T.cast(shared_y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7F00"/>
                </a:solidFill>
                <a:latin typeface="Calibri"/>
                <a:cs typeface="Calibri"/>
              </a:rPr>
              <a:t>"int32</a:t>
            </a:r>
            <a:r>
              <a:rPr dirty="0" sz="700" spc="-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120">
                <a:latin typeface="Calibri"/>
                <a:cs typeface="Calibri"/>
              </a:rPr>
              <a:t>)</a:t>
            </a:r>
            <a:endParaRPr sz="700">
              <a:latin typeface="Calibri"/>
              <a:cs typeface="Calibri"/>
            </a:endParaRPr>
          </a:p>
          <a:p>
            <a:pPr marL="121285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[shared(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training_data),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shared(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validation_data),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shared(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test_data)]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Main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class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construct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train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networks</a:t>
            </a:r>
            <a:endParaRPr sz="700">
              <a:latin typeface="Calibri"/>
              <a:cs typeface="Calibri"/>
            </a:endParaRPr>
          </a:p>
          <a:p>
            <a:pPr marL="14604">
              <a:lnSpc>
                <a:spcPct val="100000"/>
              </a:lnSpc>
              <a:spcBef>
                <a:spcPts val="65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Network(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95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tabLst>
                <a:tab pos="438784" algn="l"/>
              </a:tabLst>
            </a:pPr>
            <a:r>
              <a:rPr dirty="0" sz="700" spc="55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	</a:t>
            </a:r>
            <a:r>
              <a:rPr dirty="0" sz="700" spc="165">
                <a:latin typeface="Calibri"/>
                <a:cs typeface="Calibri"/>
              </a:rPr>
              <a:t>init</a:t>
            </a:r>
            <a:r>
              <a:rPr dirty="0" sz="700" spc="310">
                <a:latin typeface="Calibri"/>
                <a:cs typeface="Calibri"/>
              </a:rPr>
              <a:t>  </a:t>
            </a:r>
            <a:r>
              <a:rPr dirty="0" sz="700" spc="170">
                <a:latin typeface="Calibri"/>
                <a:cs typeface="Calibri"/>
              </a:rPr>
              <a:t>(self,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layers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mini_batch_size):</a:t>
            </a:r>
            <a:endParaRPr sz="700">
              <a:latin typeface="Calibri"/>
              <a:cs typeface="Calibri"/>
            </a:endParaRPr>
          </a:p>
          <a:p>
            <a:pPr marL="224790" marR="165735" indent="1270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Takes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5" i="1">
                <a:solidFill>
                  <a:srgbClr val="980000"/>
                </a:solidFill>
                <a:latin typeface="Calibri"/>
                <a:cs typeface="Calibri"/>
              </a:rPr>
              <a:t>list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‘layers‘,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describing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architecture</a:t>
            </a:r>
            <a:r>
              <a:rPr dirty="0" sz="700" spc="-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value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‘mini_batch_size</a:t>
            </a:r>
            <a:r>
              <a:rPr dirty="0" sz="700" spc="-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during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11" name="object 11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104965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192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9514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080482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24292" y="951321"/>
            <a:ext cx="3844290" cy="18592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by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stochastic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descent.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13335" marR="1814830">
              <a:lnSpc>
                <a:spcPct val="107900"/>
              </a:lnSpc>
            </a:pPr>
            <a:r>
              <a:rPr dirty="0" sz="700" spc="145">
                <a:latin typeface="Calibri"/>
                <a:cs typeface="Calibri"/>
              </a:rPr>
              <a:t>self.layers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layers</a:t>
            </a:r>
            <a:r>
              <a:rPr dirty="0" sz="700" spc="500">
                <a:latin typeface="Calibri"/>
                <a:cs typeface="Calibri"/>
              </a:rPr>
              <a:t>        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mini_batch_size</a:t>
            </a:r>
            <a:endParaRPr sz="700">
              <a:latin typeface="Calibri"/>
              <a:cs typeface="Calibri"/>
            </a:endParaRPr>
          </a:p>
          <a:p>
            <a:pPr marL="13335" marR="5080">
              <a:lnSpc>
                <a:spcPct val="107900"/>
              </a:lnSpc>
            </a:pPr>
            <a:r>
              <a:rPr dirty="0" sz="700" spc="105">
                <a:latin typeface="Calibri"/>
                <a:cs typeface="Calibri"/>
              </a:rPr>
              <a:t>self.params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[param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layer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self.layers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param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layer.params] </a:t>
            </a:r>
            <a:r>
              <a:rPr dirty="0" sz="700" spc="155">
                <a:latin typeface="Calibri"/>
                <a:cs typeface="Calibri"/>
              </a:rPr>
              <a:t>self.x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T.matrix(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"x"</a:t>
            </a:r>
            <a:r>
              <a:rPr dirty="0" sz="700" spc="120">
                <a:latin typeface="Calibri"/>
                <a:cs typeface="Calibri"/>
              </a:rPr>
              <a:t>)</a:t>
            </a:r>
            <a:endParaRPr sz="700">
              <a:latin typeface="Calibri"/>
              <a:cs typeface="Calibri"/>
            </a:endParaRPr>
          </a:p>
          <a:p>
            <a:pPr marL="13970" marR="2397760" indent="-1270">
              <a:lnSpc>
                <a:spcPct val="107900"/>
              </a:lnSpc>
            </a:pPr>
            <a:r>
              <a:rPr dirty="0" sz="700" spc="155">
                <a:latin typeface="Calibri"/>
                <a:cs typeface="Calibri"/>
              </a:rPr>
              <a:t>self.y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T.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ivector(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"y"</a:t>
            </a:r>
            <a:r>
              <a:rPr dirty="0" sz="700" spc="125">
                <a:latin typeface="Calibri"/>
                <a:cs typeface="Calibri"/>
              </a:rPr>
              <a:t>) </a:t>
            </a:r>
            <a:r>
              <a:rPr dirty="0" sz="700" spc="135">
                <a:latin typeface="Calibri"/>
                <a:cs typeface="Calibri"/>
              </a:rPr>
              <a:t>init_layer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self.layers[0]</a:t>
            </a:r>
            <a:endParaRPr sz="700">
              <a:latin typeface="Calibri"/>
              <a:cs typeface="Calibri"/>
            </a:endParaRPr>
          </a:p>
          <a:p>
            <a:pPr marL="12700" marR="802005" indent="635">
              <a:lnSpc>
                <a:spcPct val="107900"/>
              </a:lnSpc>
            </a:pPr>
            <a:r>
              <a:rPr dirty="0" sz="700" spc="145">
                <a:latin typeface="Calibri"/>
                <a:cs typeface="Calibri"/>
              </a:rPr>
              <a:t>init_layer.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set_inpt(self.x,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70">
                <a:latin typeface="Calibri"/>
                <a:cs typeface="Calibri"/>
              </a:rPr>
              <a:t>self.x,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mini_batch_size)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3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j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110">
                <a:latin typeface="Calibri"/>
                <a:cs typeface="Calibri"/>
              </a:rPr>
              <a:t>(1,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45">
                <a:solidFill>
                  <a:srgbClr val="003FFF"/>
                </a:solidFill>
                <a:latin typeface="Calibri"/>
                <a:cs typeface="Calibri"/>
              </a:rPr>
              <a:t>len</a:t>
            </a:r>
            <a:r>
              <a:rPr dirty="0" sz="700" spc="145">
                <a:latin typeface="Calibri"/>
                <a:cs typeface="Calibri"/>
              </a:rPr>
              <a:t>(self.layers)):</a:t>
            </a:r>
            <a:endParaRPr sz="700">
              <a:latin typeface="Calibri"/>
              <a:cs typeface="Calibri"/>
            </a:endParaRPr>
          </a:p>
          <a:p>
            <a:pPr marL="120014" marR="908050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prev_layer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layer</a:t>
            </a:r>
            <a:r>
              <a:rPr dirty="0" sz="700" spc="315">
                <a:latin typeface="Calibri"/>
                <a:cs typeface="Calibri"/>
              </a:rPr>
              <a:t> 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self.layers[j-</a:t>
            </a:r>
            <a:r>
              <a:rPr dirty="0" sz="700" spc="150">
                <a:latin typeface="Calibri"/>
                <a:cs typeface="Calibri"/>
              </a:rPr>
              <a:t>1],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self.layers[j] </a:t>
            </a:r>
            <a:r>
              <a:rPr dirty="0" sz="700" spc="135">
                <a:latin typeface="Calibri"/>
                <a:cs typeface="Calibri"/>
              </a:rPr>
              <a:t>layer.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set_inpt(</a:t>
            </a:r>
            <a:endParaRPr sz="700">
              <a:latin typeface="Calibri"/>
              <a:cs typeface="Calibri"/>
            </a:endParaRPr>
          </a:p>
          <a:p>
            <a:pPr marL="13335" marR="57785" indent="212725">
              <a:lnSpc>
                <a:spcPct val="107900"/>
              </a:lnSpc>
            </a:pPr>
            <a:r>
              <a:rPr dirty="0" sz="700" spc="100">
                <a:latin typeface="Calibri"/>
                <a:cs typeface="Calibri"/>
              </a:rPr>
              <a:t>prev_layer.output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prev_layer.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output_dropout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mini_batch_size) </a:t>
            </a:r>
            <a:r>
              <a:rPr dirty="0" sz="700" spc="120">
                <a:latin typeface="Calibri"/>
                <a:cs typeface="Calibri"/>
              </a:rPr>
              <a:t>self.output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output</a:t>
            </a:r>
            <a:endParaRPr sz="7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70"/>
              </a:spcBef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output_dropout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output_dropout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18564" y="2899813"/>
            <a:ext cx="3789045" cy="7162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6060" marR="694055" indent="-213995">
              <a:lnSpc>
                <a:spcPct val="107900"/>
              </a:lnSpc>
              <a:spcBef>
                <a:spcPts val="10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SGD(self,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training_data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epochs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eta, </a:t>
            </a:r>
            <a:r>
              <a:rPr dirty="0" sz="700" spc="110">
                <a:latin typeface="Calibri"/>
                <a:cs typeface="Calibri"/>
              </a:rPr>
              <a:t>validation_data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test_data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lmbda=0.0):</a:t>
            </a: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  <a:spcBef>
                <a:spcPts val="65"/>
              </a:spcBef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Train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network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using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mini-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batch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stochastic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gradient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descent."""</a:t>
            </a:r>
            <a:endParaRPr sz="700">
              <a:latin typeface="Calibri"/>
              <a:cs typeface="Calibri"/>
            </a:endParaRPr>
          </a:p>
          <a:p>
            <a:pPr marL="118745" marR="1334770">
              <a:lnSpc>
                <a:spcPct val="107900"/>
              </a:lnSpc>
            </a:pPr>
            <a:r>
              <a:rPr dirty="0" sz="700" spc="114">
                <a:latin typeface="Calibri"/>
                <a:cs typeface="Calibri"/>
              </a:rPr>
              <a:t>training_x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training_y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training_data </a:t>
            </a:r>
            <a:r>
              <a:rPr dirty="0" sz="700" spc="110">
                <a:latin typeface="Calibri"/>
                <a:cs typeface="Calibri"/>
              </a:rPr>
              <a:t>validation_x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validation_y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validation_data test_x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test_y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test_data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3190" y="3705780"/>
            <a:ext cx="3895725" cy="4285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 marR="270510" indent="-3175">
              <a:lnSpc>
                <a:spcPct val="107900"/>
              </a:lnSpc>
              <a:spcBef>
                <a:spcPts val="100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5" i="1">
                <a:solidFill>
                  <a:srgbClr val="980000"/>
                </a:solidFill>
                <a:latin typeface="Calibri"/>
                <a:cs typeface="Calibri"/>
              </a:rPr>
              <a:t>compute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number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minibatches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training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validation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testing </a:t>
            </a:r>
            <a:r>
              <a:rPr dirty="0" sz="700" spc="85">
                <a:latin typeface="Calibri"/>
                <a:cs typeface="Calibri"/>
              </a:rPr>
              <a:t>num_training_batches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size(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training_data)/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mini_batch_size </a:t>
            </a:r>
            <a:r>
              <a:rPr dirty="0" sz="700" spc="90">
                <a:latin typeface="Calibri"/>
                <a:cs typeface="Calibri"/>
              </a:rPr>
              <a:t>num_validation_batches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44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size(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validation_data)/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mini_batch_size </a:t>
            </a:r>
            <a:r>
              <a:rPr dirty="0" sz="700" spc="75">
                <a:latin typeface="Calibri"/>
                <a:cs typeface="Calibri"/>
              </a:rPr>
              <a:t>num_test_batches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size(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test_data)/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mini_batch_size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define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0" i="1">
                <a:solidFill>
                  <a:srgbClr val="980000"/>
                </a:solidFill>
                <a:latin typeface="Calibri"/>
                <a:cs typeface="Calibri"/>
              </a:rPr>
              <a:t>(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regularized)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cost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function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symbolic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gradients,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updates</a:t>
            </a:r>
            <a:endParaRPr sz="700">
              <a:latin typeface="Calibri"/>
              <a:cs typeface="Calibri"/>
            </a:endParaRPr>
          </a:p>
          <a:p>
            <a:pPr marL="14604" marR="269240" indent="635">
              <a:lnSpc>
                <a:spcPct val="107900"/>
              </a:lnSpc>
            </a:pPr>
            <a:r>
              <a:rPr dirty="0" sz="700" spc="65">
                <a:latin typeface="Calibri"/>
                <a:cs typeface="Calibri"/>
              </a:rPr>
              <a:t>l2_norm_squared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sum</a:t>
            </a:r>
            <a:r>
              <a:rPr dirty="0" sz="700" spc="95">
                <a:latin typeface="Calibri"/>
                <a:cs typeface="Calibri"/>
              </a:rPr>
              <a:t>([(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layer.w**2).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sum</a:t>
            </a:r>
            <a:r>
              <a:rPr dirty="0" sz="700" spc="105">
                <a:latin typeface="Calibri"/>
                <a:cs typeface="Calibri"/>
              </a:rPr>
              <a:t>()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layer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self.layers]) </a:t>
            </a:r>
            <a:r>
              <a:rPr dirty="0" sz="700" spc="95">
                <a:latin typeface="Calibri"/>
                <a:cs typeface="Calibri"/>
              </a:rPr>
              <a:t>cost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cost(self)+\</a:t>
            </a:r>
            <a:endParaRPr sz="700">
              <a:latin typeface="Calibri"/>
              <a:cs typeface="Calibri"/>
            </a:endParaRPr>
          </a:p>
          <a:p>
            <a:pPr marL="14604" marR="1174115" indent="265430">
              <a:lnSpc>
                <a:spcPct val="107900"/>
              </a:lnSpc>
            </a:pPr>
            <a:r>
              <a:rPr dirty="0" sz="700" spc="85">
                <a:latin typeface="Calibri"/>
                <a:cs typeface="Calibri"/>
              </a:rPr>
              <a:t>0.5*</a:t>
            </a:r>
            <a:r>
              <a:rPr dirty="0" sz="700" spc="-55">
                <a:latin typeface="Calibri"/>
                <a:cs typeface="Calibri"/>
              </a:rPr>
              <a:t> </a:t>
            </a:r>
            <a:r>
              <a:rPr dirty="0" sz="700" spc="40">
                <a:latin typeface="Calibri"/>
                <a:cs typeface="Calibri"/>
              </a:rPr>
              <a:t>lmbda*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l2_norm_squared/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num_training_batches </a:t>
            </a:r>
            <a:r>
              <a:rPr dirty="0" sz="700" spc="85">
                <a:latin typeface="Calibri"/>
                <a:cs typeface="Calibri"/>
              </a:rPr>
              <a:t>grads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T.grad(cost,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self.params)</a:t>
            </a:r>
            <a:endParaRPr sz="700">
              <a:latin typeface="Calibri"/>
              <a:cs typeface="Calibri"/>
            </a:endParaRPr>
          </a:p>
          <a:p>
            <a:pPr marL="14604">
              <a:lnSpc>
                <a:spcPct val="100000"/>
              </a:lnSpc>
              <a:spcBef>
                <a:spcPts val="65"/>
              </a:spcBef>
            </a:pPr>
            <a:r>
              <a:rPr dirty="0" sz="700" spc="75">
                <a:latin typeface="Calibri"/>
                <a:cs typeface="Calibri"/>
              </a:rPr>
              <a:t>updates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=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[(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param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param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215">
                <a:latin typeface="Calibri"/>
                <a:cs typeface="Calibri"/>
              </a:rPr>
              <a:t>-</a:t>
            </a:r>
            <a:r>
              <a:rPr dirty="0" sz="700" spc="75">
                <a:latin typeface="Calibri"/>
                <a:cs typeface="Calibri"/>
              </a:rPr>
              <a:t>eta*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grad)</a:t>
            </a:r>
            <a:endParaRPr sz="700">
              <a:latin typeface="Calibri"/>
              <a:cs typeface="Calibri"/>
            </a:endParaRPr>
          </a:p>
          <a:p>
            <a:pPr marL="386080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">
                <a:latin typeface="Calibri"/>
                <a:cs typeface="Calibri"/>
              </a:rPr>
              <a:t>param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grad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zip</a:t>
            </a:r>
            <a:r>
              <a:rPr dirty="0" sz="700" spc="114">
                <a:latin typeface="Calibri"/>
                <a:cs typeface="Calibri"/>
              </a:rPr>
              <a:t>(self.params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grads)]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12700" marR="694690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define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functions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train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mini-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batch,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5" i="1">
                <a:solidFill>
                  <a:srgbClr val="980000"/>
                </a:solidFill>
                <a:latin typeface="Calibri"/>
                <a:cs typeface="Calibri"/>
              </a:rPr>
              <a:t>compute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accuracy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validation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0" i="1">
                <a:solidFill>
                  <a:srgbClr val="980000"/>
                </a:solidFill>
                <a:latin typeface="Calibri"/>
                <a:cs typeface="Calibri"/>
              </a:rPr>
              <a:t>test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mini-</a:t>
            </a:r>
            <a:r>
              <a:rPr dirty="0" sz="700" spc="-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batches.</a:t>
            </a: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700" spc="200">
                <a:latin typeface="Calibri"/>
                <a:cs typeface="Calibri"/>
              </a:rPr>
              <a:t>i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T.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lscalar()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mini-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batch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index</a:t>
            </a:r>
            <a:endParaRPr sz="700">
              <a:latin typeface="Calibri"/>
              <a:cs typeface="Calibri"/>
            </a:endParaRPr>
          </a:p>
          <a:p>
            <a:pPr marL="118745" marR="2340610" indent="-104139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train_mb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theano.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function( </a:t>
            </a:r>
            <a:r>
              <a:rPr dirty="0" sz="700" spc="210">
                <a:latin typeface="Calibri"/>
                <a:cs typeface="Calibri"/>
              </a:rPr>
              <a:t>[i],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cost,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updates=updates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95">
                <a:latin typeface="Calibri"/>
                <a:cs typeface="Calibri"/>
              </a:rPr>
              <a:t>givens={</a:t>
            </a:r>
            <a:endParaRPr sz="700">
              <a:latin typeface="Calibri"/>
              <a:cs typeface="Calibri"/>
            </a:endParaRPr>
          </a:p>
          <a:p>
            <a:pPr marL="226695">
              <a:lnSpc>
                <a:spcPct val="100000"/>
              </a:lnSpc>
              <a:spcBef>
                <a:spcPts val="65"/>
              </a:spcBef>
            </a:pPr>
            <a:r>
              <a:rPr dirty="0" sz="700" spc="155">
                <a:latin typeface="Calibri"/>
                <a:cs typeface="Calibri"/>
              </a:rPr>
              <a:t>self.x:</a:t>
            </a:r>
            <a:endParaRPr sz="700">
              <a:latin typeface="Calibri"/>
              <a:cs typeface="Calibri"/>
            </a:endParaRPr>
          </a:p>
          <a:p>
            <a:pPr marL="226695" marR="321310" indent="635">
              <a:lnSpc>
                <a:spcPct val="107900"/>
              </a:lnSpc>
              <a:spcBef>
                <a:spcPts val="5"/>
              </a:spcBef>
            </a:pPr>
            <a:r>
              <a:rPr dirty="0" sz="700" spc="130">
                <a:latin typeface="Calibri"/>
                <a:cs typeface="Calibri"/>
              </a:rPr>
              <a:t>training_x[i*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42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mini_batch_size], </a:t>
            </a:r>
            <a:r>
              <a:rPr dirty="0" sz="700" spc="155">
                <a:latin typeface="Calibri"/>
                <a:cs typeface="Calibri"/>
              </a:rPr>
              <a:t>self.y:</a:t>
            </a:r>
            <a:endParaRPr sz="700">
              <a:latin typeface="Calibri"/>
              <a:cs typeface="Calibri"/>
            </a:endParaRPr>
          </a:p>
          <a:p>
            <a:pPr marL="227965">
              <a:lnSpc>
                <a:spcPct val="100000"/>
              </a:lnSpc>
              <a:spcBef>
                <a:spcPts val="65"/>
              </a:spcBef>
            </a:pPr>
            <a:r>
              <a:rPr dirty="0" sz="700" spc="130">
                <a:latin typeface="Calibri"/>
                <a:cs typeface="Calibri"/>
              </a:rPr>
              <a:t>training_y[i*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41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mini_batch_size]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135">
                <a:latin typeface="Calibri"/>
                <a:cs typeface="Calibri"/>
              </a:rPr>
              <a:t>})</a:t>
            </a:r>
            <a:endParaRPr sz="700">
              <a:latin typeface="Calibri"/>
              <a:cs typeface="Calibri"/>
            </a:endParaRPr>
          </a:p>
          <a:p>
            <a:pPr marL="118745" marR="1754505" indent="-103505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validate_mb_accuracy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theano.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function( </a:t>
            </a:r>
            <a:r>
              <a:rPr dirty="0" sz="700" spc="210">
                <a:latin typeface="Calibri"/>
                <a:cs typeface="Calibri"/>
              </a:rPr>
              <a:t>[i],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accuracy(self.y), </a:t>
            </a:r>
            <a:r>
              <a:rPr dirty="0" sz="700" spc="95">
                <a:latin typeface="Calibri"/>
                <a:cs typeface="Calibri"/>
              </a:rPr>
              <a:t>givens={</a:t>
            </a:r>
            <a:endParaRPr sz="700">
              <a:latin typeface="Calibri"/>
              <a:cs typeface="Calibri"/>
            </a:endParaRPr>
          </a:p>
          <a:p>
            <a:pPr marL="226695">
              <a:lnSpc>
                <a:spcPct val="100000"/>
              </a:lnSpc>
              <a:spcBef>
                <a:spcPts val="70"/>
              </a:spcBef>
            </a:pPr>
            <a:r>
              <a:rPr dirty="0" sz="700" spc="155">
                <a:latin typeface="Calibri"/>
                <a:cs typeface="Calibri"/>
              </a:rPr>
              <a:t>self.x:</a:t>
            </a:r>
            <a:endParaRPr sz="700">
              <a:latin typeface="Calibri"/>
              <a:cs typeface="Calibri"/>
            </a:endParaRPr>
          </a:p>
          <a:p>
            <a:pPr marL="226695" marR="214629" indent="635">
              <a:lnSpc>
                <a:spcPct val="107900"/>
              </a:lnSpc>
            </a:pPr>
            <a:r>
              <a:rPr dirty="0" sz="700" spc="130">
                <a:latin typeface="Calibri"/>
                <a:cs typeface="Calibri"/>
              </a:rPr>
              <a:t>validation_x[i*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mini_batch_size], </a:t>
            </a:r>
            <a:r>
              <a:rPr dirty="0" sz="700" spc="155">
                <a:latin typeface="Calibri"/>
                <a:cs typeface="Calibri"/>
              </a:rPr>
              <a:t>self.y:</a:t>
            </a:r>
            <a:endParaRPr sz="700">
              <a:latin typeface="Calibri"/>
              <a:cs typeface="Calibri"/>
            </a:endParaRPr>
          </a:p>
          <a:p>
            <a:pPr marL="227965">
              <a:lnSpc>
                <a:spcPct val="100000"/>
              </a:lnSpc>
              <a:spcBef>
                <a:spcPts val="65"/>
              </a:spcBef>
            </a:pPr>
            <a:r>
              <a:rPr dirty="0" sz="700" spc="125">
                <a:latin typeface="Calibri"/>
                <a:cs typeface="Calibri"/>
              </a:rPr>
              <a:t>validation_y[i*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mini_batch_size]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135">
                <a:latin typeface="Calibri"/>
                <a:cs typeface="Calibri"/>
              </a:rPr>
              <a:t>})</a:t>
            </a:r>
            <a:endParaRPr sz="700">
              <a:latin typeface="Calibri"/>
              <a:cs typeface="Calibri"/>
            </a:endParaRPr>
          </a:p>
          <a:p>
            <a:pPr marL="15240">
              <a:lnSpc>
                <a:spcPct val="100000"/>
              </a:lnSpc>
              <a:spcBef>
                <a:spcPts val="70"/>
              </a:spcBef>
            </a:pPr>
            <a:r>
              <a:rPr dirty="0" sz="700" spc="80">
                <a:latin typeface="Calibri"/>
                <a:cs typeface="Calibri"/>
              </a:rPr>
              <a:t>test_mb_accuracy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theano.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function(</a:t>
            </a:r>
            <a:endParaRPr sz="700">
              <a:latin typeface="Calibri"/>
              <a:cs typeface="Calibri"/>
            </a:endParaRPr>
          </a:p>
          <a:p>
            <a:pPr marL="121285" marR="1754505" indent="-2540">
              <a:lnSpc>
                <a:spcPct val="107900"/>
              </a:lnSpc>
            </a:pPr>
            <a:r>
              <a:rPr dirty="0" sz="700" spc="210">
                <a:latin typeface="Calibri"/>
                <a:cs typeface="Calibri"/>
              </a:rPr>
              <a:t>[i],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accuracy(self.y), </a:t>
            </a:r>
            <a:r>
              <a:rPr dirty="0" sz="700" spc="95">
                <a:latin typeface="Calibri"/>
                <a:cs typeface="Calibri"/>
              </a:rPr>
              <a:t>givens={</a:t>
            </a:r>
            <a:endParaRPr sz="700">
              <a:latin typeface="Calibri"/>
              <a:cs typeface="Calibri"/>
            </a:endParaRPr>
          </a:p>
          <a:p>
            <a:pPr marL="226695">
              <a:lnSpc>
                <a:spcPct val="100000"/>
              </a:lnSpc>
              <a:spcBef>
                <a:spcPts val="65"/>
              </a:spcBef>
            </a:pPr>
            <a:r>
              <a:rPr dirty="0" sz="700" spc="155">
                <a:latin typeface="Calibri"/>
                <a:cs typeface="Calibri"/>
              </a:rPr>
              <a:t>self.x:</a:t>
            </a:r>
            <a:endParaRPr sz="700">
              <a:latin typeface="Calibri"/>
              <a:cs typeface="Calibri"/>
            </a:endParaRPr>
          </a:p>
          <a:p>
            <a:pPr marL="227329">
              <a:lnSpc>
                <a:spcPct val="100000"/>
              </a:lnSpc>
              <a:spcBef>
                <a:spcPts val="65"/>
              </a:spcBef>
            </a:pPr>
            <a:r>
              <a:rPr dirty="0" sz="700" spc="130">
                <a:latin typeface="Calibri"/>
                <a:cs typeface="Calibri"/>
              </a:rPr>
              <a:t>test_x[i*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mini_batch_size],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9" name="object 9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115094" y="368721"/>
            <a:ext cx="256540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369820" algn="l"/>
              </a:tabLst>
            </a:pPr>
            <a:r>
              <a:rPr dirty="0" sz="850" spc="10">
                <a:latin typeface="Calibri"/>
                <a:cs typeface="Calibri"/>
              </a:rPr>
              <a:t>6.3.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193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9510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440489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497749" y="942463"/>
            <a:ext cx="3099435" cy="255904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700" spc="155">
                <a:latin typeface="Calibri"/>
                <a:cs typeface="Calibri"/>
              </a:rPr>
              <a:t>self.y:</a:t>
            </a:r>
            <a:endParaRPr sz="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700" spc="130">
                <a:latin typeface="Calibri"/>
                <a:cs typeface="Calibri"/>
              </a:rPr>
              <a:t>test_y[i*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mini_batch_size]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83182" y="1172740"/>
            <a:ext cx="4110990" cy="382524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20014">
              <a:lnSpc>
                <a:spcPct val="100000"/>
              </a:lnSpc>
              <a:spcBef>
                <a:spcPts val="165"/>
              </a:spcBef>
            </a:pPr>
            <a:r>
              <a:rPr dirty="0" sz="700" spc="135">
                <a:latin typeface="Calibri"/>
                <a:cs typeface="Calibri"/>
              </a:rPr>
              <a:t>})</a:t>
            </a:r>
            <a:endParaRPr sz="700">
              <a:latin typeface="Calibri"/>
              <a:cs typeface="Calibri"/>
            </a:endParaRPr>
          </a:p>
          <a:p>
            <a:pPr marL="118745" marR="1811655" indent="-104775">
              <a:lnSpc>
                <a:spcPct val="107900"/>
              </a:lnSpc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test_mb_predictions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theano.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function( </a:t>
            </a:r>
            <a:r>
              <a:rPr dirty="0" sz="700" spc="210">
                <a:latin typeface="Calibri"/>
                <a:cs typeface="Calibri"/>
              </a:rPr>
              <a:t>[i],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self.layers[-</a:t>
            </a:r>
            <a:r>
              <a:rPr dirty="0" sz="700" spc="140">
                <a:latin typeface="Calibri"/>
                <a:cs typeface="Calibri"/>
              </a:rPr>
              <a:t>1].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y_out,</a:t>
            </a:r>
            <a:endParaRPr sz="700">
              <a:latin typeface="Calibri"/>
              <a:cs typeface="Calibri"/>
            </a:endParaRPr>
          </a:p>
          <a:p>
            <a:pPr marL="226695" marR="3512185" indent="-106045">
              <a:lnSpc>
                <a:spcPct val="107900"/>
              </a:lnSpc>
            </a:pPr>
            <a:r>
              <a:rPr dirty="0" sz="700" spc="95">
                <a:latin typeface="Calibri"/>
                <a:cs typeface="Calibri"/>
              </a:rPr>
              <a:t>givens={ </a:t>
            </a:r>
            <a:r>
              <a:rPr dirty="0" sz="700" spc="155">
                <a:latin typeface="Calibri"/>
                <a:cs typeface="Calibri"/>
              </a:rPr>
              <a:t>self.x:</a:t>
            </a:r>
            <a:endParaRPr sz="700">
              <a:latin typeface="Calibri"/>
              <a:cs typeface="Calibri"/>
            </a:endParaRPr>
          </a:p>
          <a:p>
            <a:pPr marL="227329">
              <a:lnSpc>
                <a:spcPct val="100000"/>
              </a:lnSpc>
              <a:spcBef>
                <a:spcPts val="70"/>
              </a:spcBef>
            </a:pPr>
            <a:r>
              <a:rPr dirty="0" sz="700" spc="130">
                <a:latin typeface="Calibri"/>
                <a:cs typeface="Calibri"/>
              </a:rPr>
              <a:t>test_x[i*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mini_batch_size: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(i+1)*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mini_batch_size]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135">
                <a:latin typeface="Calibri"/>
                <a:cs typeface="Calibri"/>
              </a:rPr>
              <a:t>})</a:t>
            </a:r>
            <a:endParaRPr sz="700">
              <a:latin typeface="Calibri"/>
              <a:cs typeface="Calibri"/>
            </a:endParaRPr>
          </a:p>
          <a:p>
            <a:pPr marL="13970" marR="2503805" indent="-1905">
              <a:lnSpc>
                <a:spcPct val="107900"/>
              </a:lnSpc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Do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actual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training </a:t>
            </a:r>
            <a:r>
              <a:rPr dirty="0" sz="700" spc="110">
                <a:latin typeface="Calibri"/>
                <a:cs typeface="Calibri"/>
              </a:rPr>
              <a:t>best_validation_accuracy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0.0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434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epoch</a:t>
            </a:r>
            <a:r>
              <a:rPr dirty="0" sz="700" spc="42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4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95">
                <a:latin typeface="Calibri"/>
                <a:cs typeface="Calibri"/>
              </a:rPr>
              <a:t>(epochs):</a:t>
            </a:r>
            <a:endParaRPr sz="700">
              <a:latin typeface="Calibri"/>
              <a:cs typeface="Calibri"/>
            </a:endParaRPr>
          </a:p>
          <a:p>
            <a:pPr marL="226060" marR="1017269" indent="-106045">
              <a:lnSpc>
                <a:spcPct val="107900"/>
              </a:lnSpc>
            </a:pP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minibatch_index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9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num_training_batches): </a:t>
            </a:r>
            <a:r>
              <a:rPr dirty="0" sz="700" spc="130">
                <a:latin typeface="Calibri"/>
                <a:cs typeface="Calibri"/>
              </a:rPr>
              <a:t>iteration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num_training_batches*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epoch+minibatch_index </a:t>
            </a: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iteration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%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1000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0:</a:t>
            </a:r>
            <a:endParaRPr sz="700">
              <a:latin typeface="Calibri"/>
              <a:cs typeface="Calibri"/>
            </a:endParaRPr>
          </a:p>
          <a:p>
            <a:pPr marL="227329" marR="748665" indent="105410">
              <a:lnSpc>
                <a:spcPct val="107900"/>
              </a:lnSpc>
            </a:pPr>
            <a:r>
              <a:rPr dirty="0" sz="700" spc="135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35">
                <a:latin typeface="Calibri"/>
                <a:cs typeface="Calibri"/>
              </a:rPr>
              <a:t>(</a:t>
            </a:r>
            <a:r>
              <a:rPr dirty="0" sz="700" spc="135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7F00"/>
                </a:solidFill>
                <a:latin typeface="Calibri"/>
                <a:cs typeface="Calibri"/>
              </a:rPr>
              <a:t>Training</a:t>
            </a:r>
            <a:r>
              <a:rPr dirty="0" sz="700" spc="42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mini-</a:t>
            </a:r>
            <a:r>
              <a:rPr dirty="0" sz="700" spc="75">
                <a:solidFill>
                  <a:srgbClr val="007F00"/>
                </a:solidFill>
                <a:latin typeface="Calibri"/>
                <a:cs typeface="Calibri"/>
              </a:rPr>
              <a:t>batch</a:t>
            </a:r>
            <a:r>
              <a:rPr dirty="0" sz="700" spc="43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>
                <a:solidFill>
                  <a:srgbClr val="007F00"/>
                </a:solidFill>
                <a:latin typeface="Calibri"/>
                <a:cs typeface="Calibri"/>
              </a:rPr>
              <a:t>number</a:t>
            </a:r>
            <a:r>
              <a:rPr dirty="0" sz="700" spc="42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{0}"</a:t>
            </a:r>
            <a:r>
              <a:rPr dirty="0" sz="700" spc="120">
                <a:latin typeface="Calibri"/>
                <a:cs typeface="Calibri"/>
              </a:rPr>
              <a:t>.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20">
                <a:latin typeface="Calibri"/>
                <a:cs typeface="Calibri"/>
              </a:rPr>
              <a:t>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iteration)) cost_ij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train_mb(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minibatch_index)</a:t>
            </a:r>
            <a:endParaRPr sz="700">
              <a:latin typeface="Calibri"/>
              <a:cs typeface="Calibri"/>
            </a:endParaRPr>
          </a:p>
          <a:p>
            <a:pPr marL="334010" marR="1493520" indent="-108585">
              <a:lnSpc>
                <a:spcPct val="107900"/>
              </a:lnSpc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3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iteration+1)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%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num_training_batches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0: </a:t>
            </a:r>
            <a:r>
              <a:rPr dirty="0" sz="700" spc="110">
                <a:latin typeface="Calibri"/>
                <a:cs typeface="Calibri"/>
              </a:rPr>
              <a:t>validation_accuracy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np.mean(</a:t>
            </a:r>
            <a:endParaRPr sz="700">
              <a:latin typeface="Calibri"/>
              <a:cs typeface="Calibri"/>
            </a:endParaRPr>
          </a:p>
          <a:p>
            <a:pPr marL="333375" marR="165100" indent="103505">
              <a:lnSpc>
                <a:spcPct val="107900"/>
              </a:lnSpc>
            </a:pPr>
            <a:r>
              <a:rPr dirty="0" sz="700" spc="150">
                <a:latin typeface="Calibri"/>
                <a:cs typeface="Calibri"/>
              </a:rPr>
              <a:t>[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validate_mb_accuracy(j)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j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9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num_validation_batches)])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05">
                <a:latin typeface="Calibri"/>
                <a:cs typeface="Calibri"/>
              </a:rPr>
              <a:t>(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"Epoch</a:t>
            </a:r>
            <a:r>
              <a:rPr dirty="0" sz="700" spc="3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45">
                <a:solidFill>
                  <a:srgbClr val="007F00"/>
                </a:solidFill>
                <a:latin typeface="Calibri"/>
                <a:cs typeface="Calibri"/>
              </a:rPr>
              <a:t>{0}:</a:t>
            </a:r>
            <a:r>
              <a:rPr dirty="0" sz="700" spc="3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validation</a:t>
            </a:r>
            <a:r>
              <a:rPr dirty="0" sz="700" spc="3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7F00"/>
                </a:solidFill>
                <a:latin typeface="Calibri"/>
                <a:cs typeface="Calibri"/>
              </a:rPr>
              <a:t>{1:.2%}"</a:t>
            </a:r>
            <a:r>
              <a:rPr dirty="0" sz="700" spc="110">
                <a:latin typeface="Calibri"/>
                <a:cs typeface="Calibri"/>
              </a:rPr>
              <a:t>.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10">
                <a:latin typeface="Calibri"/>
                <a:cs typeface="Calibri"/>
              </a:rPr>
              <a:t>(</a:t>
            </a:r>
            <a:endParaRPr sz="700">
              <a:latin typeface="Calibri"/>
              <a:cs typeface="Calibri"/>
            </a:endParaRPr>
          </a:p>
          <a:p>
            <a:pPr marL="438784">
              <a:lnSpc>
                <a:spcPct val="100000"/>
              </a:lnSpc>
              <a:spcBef>
                <a:spcPts val="65"/>
              </a:spcBef>
            </a:pPr>
            <a:r>
              <a:rPr dirty="0" sz="700" spc="30">
                <a:latin typeface="Calibri"/>
                <a:cs typeface="Calibri"/>
              </a:rPr>
              <a:t>epoch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validation_accuracy))</a:t>
            </a:r>
            <a:endParaRPr sz="700">
              <a:latin typeface="Calibri"/>
              <a:cs typeface="Calibri"/>
            </a:endParaRPr>
          </a:p>
          <a:p>
            <a:pPr marL="439420" marR="802005" indent="-107950">
              <a:lnSpc>
                <a:spcPct val="107900"/>
              </a:lnSpc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validation_accuracy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&gt;=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best_validation_accuracy: </a:t>
            </a:r>
            <a:r>
              <a:rPr dirty="0" sz="700" spc="130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30">
                <a:latin typeface="Calibri"/>
                <a:cs typeface="Calibri"/>
              </a:rPr>
              <a:t>(</a:t>
            </a:r>
            <a:r>
              <a:rPr dirty="0" sz="700" spc="130">
                <a:solidFill>
                  <a:srgbClr val="007F00"/>
                </a:solidFill>
                <a:latin typeface="Calibri"/>
                <a:cs typeface="Calibri"/>
              </a:rPr>
              <a:t>"This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60">
                <a:solidFill>
                  <a:srgbClr val="007F00"/>
                </a:solidFill>
                <a:latin typeface="Calibri"/>
                <a:cs typeface="Calibri"/>
              </a:rPr>
              <a:t>is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best</a:t>
            </a:r>
            <a:r>
              <a:rPr dirty="0" sz="700" spc="3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validation</a:t>
            </a:r>
            <a:r>
              <a:rPr dirty="0" sz="700" spc="3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to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7F00"/>
                </a:solidFill>
                <a:latin typeface="Calibri"/>
                <a:cs typeface="Calibri"/>
              </a:rPr>
              <a:t>date."</a:t>
            </a:r>
            <a:r>
              <a:rPr dirty="0" sz="700" spc="114">
                <a:latin typeface="Calibri"/>
                <a:cs typeface="Calibri"/>
              </a:rPr>
              <a:t>) </a:t>
            </a:r>
            <a:r>
              <a:rPr dirty="0" sz="700" spc="110">
                <a:latin typeface="Calibri"/>
                <a:cs typeface="Calibri"/>
              </a:rPr>
              <a:t>best_validation_accuracy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validation_accuracy </a:t>
            </a:r>
            <a:r>
              <a:rPr dirty="0" sz="700" spc="114">
                <a:latin typeface="Calibri"/>
                <a:cs typeface="Calibri"/>
              </a:rPr>
              <a:t>best_iteration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iteration</a:t>
            </a:r>
            <a:endParaRPr sz="700">
              <a:latin typeface="Calibri"/>
              <a:cs typeface="Calibri"/>
            </a:endParaRPr>
          </a:p>
          <a:p>
            <a:pPr marL="546735" marR="2289810" indent="-108585">
              <a:lnSpc>
                <a:spcPct val="107900"/>
              </a:lnSpc>
              <a:spcBef>
                <a:spcPts val="5"/>
              </a:spcBef>
            </a:pPr>
            <a:r>
              <a:rPr dirty="0" sz="700" spc="190">
                <a:solidFill>
                  <a:srgbClr val="003FFF"/>
                </a:solidFill>
                <a:latin typeface="Calibri"/>
                <a:cs typeface="Calibri"/>
              </a:rPr>
              <a:t>if</a:t>
            </a:r>
            <a:r>
              <a:rPr dirty="0" sz="700" spc="35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test_data:</a:t>
            </a:r>
            <a:r>
              <a:rPr dirty="0" sz="700" spc="50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test_accuracy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np.mean(</a:t>
            </a:r>
            <a:endParaRPr sz="700">
              <a:latin typeface="Calibri"/>
              <a:cs typeface="Calibri"/>
            </a:endParaRPr>
          </a:p>
          <a:p>
            <a:pPr marL="546100" marR="483234" indent="103505">
              <a:lnSpc>
                <a:spcPct val="107900"/>
              </a:lnSpc>
            </a:pPr>
            <a:r>
              <a:rPr dirty="0" sz="700" spc="150">
                <a:latin typeface="Calibri"/>
                <a:cs typeface="Calibri"/>
              </a:rPr>
              <a:t>[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test_mb_accuracy(j)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3FFF"/>
                </a:solidFill>
                <a:latin typeface="Calibri"/>
                <a:cs typeface="Calibri"/>
              </a:rPr>
              <a:t>for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200">
                <a:latin typeface="Calibri"/>
                <a:cs typeface="Calibri"/>
              </a:rPr>
              <a:t>j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in</a:t>
            </a:r>
            <a:r>
              <a:rPr dirty="0" sz="700" spc="38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xrange</a:t>
            </a:r>
            <a:r>
              <a:rPr dirty="0" sz="700" spc="95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num_test_batches)]) </a:t>
            </a: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25">
                <a:latin typeface="Calibri"/>
                <a:cs typeface="Calibri"/>
              </a:rPr>
              <a:t>(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’The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corresponding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test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60">
                <a:solidFill>
                  <a:srgbClr val="007F00"/>
                </a:solidFill>
                <a:latin typeface="Calibri"/>
                <a:cs typeface="Calibri"/>
              </a:rPr>
              <a:t>is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7F00"/>
                </a:solidFill>
                <a:latin typeface="Calibri"/>
                <a:cs typeface="Calibri"/>
              </a:rPr>
              <a:t>{0:.2%}’</a:t>
            </a:r>
            <a:r>
              <a:rPr dirty="0" sz="700" spc="114">
                <a:latin typeface="Calibri"/>
                <a:cs typeface="Calibri"/>
              </a:rPr>
              <a:t>.</a:t>
            </a:r>
            <a:r>
              <a:rPr dirty="0" sz="700" spc="114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14">
                <a:latin typeface="Calibri"/>
                <a:cs typeface="Calibri"/>
              </a:rPr>
              <a:t>(</a:t>
            </a:r>
            <a:endParaRPr sz="700">
              <a:latin typeface="Calibri"/>
              <a:cs typeface="Calibri"/>
            </a:endParaRPr>
          </a:p>
          <a:p>
            <a:pPr marL="652780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latin typeface="Calibri"/>
                <a:cs typeface="Calibri"/>
              </a:rPr>
              <a:t>test_accuracy))</a:t>
            </a:r>
            <a:endParaRPr sz="700">
              <a:latin typeface="Calibri"/>
              <a:cs typeface="Calibri"/>
            </a:endParaRPr>
          </a:p>
          <a:p>
            <a:pPr marL="14604">
              <a:lnSpc>
                <a:spcPct val="100000"/>
              </a:lnSpc>
              <a:spcBef>
                <a:spcPts val="65"/>
              </a:spcBef>
            </a:pPr>
            <a:r>
              <a:rPr dirty="0" sz="700" spc="135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35">
                <a:latin typeface="Calibri"/>
                <a:cs typeface="Calibri"/>
              </a:rPr>
              <a:t>(</a:t>
            </a:r>
            <a:r>
              <a:rPr dirty="0" sz="700" spc="135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Finished</a:t>
            </a:r>
            <a:r>
              <a:rPr dirty="0" sz="700" spc="40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training</a:t>
            </a:r>
            <a:r>
              <a:rPr dirty="0" sz="700" spc="409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network."</a:t>
            </a:r>
            <a:r>
              <a:rPr dirty="0" sz="700" spc="90">
                <a:latin typeface="Calibri"/>
                <a:cs typeface="Calibri"/>
              </a:rPr>
              <a:t>)</a:t>
            </a:r>
            <a:endParaRPr sz="700">
              <a:latin typeface="Calibri"/>
              <a:cs typeface="Calibri"/>
            </a:endParaRPr>
          </a:p>
          <a:p>
            <a:pPr marL="121285" marR="5080" indent="-107314">
              <a:lnSpc>
                <a:spcPct val="107900"/>
              </a:lnSpc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25">
                <a:latin typeface="Calibri"/>
                <a:cs typeface="Calibri"/>
              </a:rPr>
              <a:t>(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"Best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validation</a:t>
            </a:r>
            <a:r>
              <a:rPr dirty="0" sz="700" spc="3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of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solidFill>
                  <a:srgbClr val="007F00"/>
                </a:solidFill>
                <a:latin typeface="Calibri"/>
                <a:cs typeface="Calibri"/>
              </a:rPr>
              <a:t>{0:.2%}</a:t>
            </a:r>
            <a:r>
              <a:rPr dirty="0" sz="700" spc="3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obtained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at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7F00"/>
                </a:solidFill>
                <a:latin typeface="Calibri"/>
                <a:cs typeface="Calibri"/>
              </a:rPr>
              <a:t>iteration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10">
                <a:solidFill>
                  <a:srgbClr val="007F00"/>
                </a:solidFill>
                <a:latin typeface="Calibri"/>
                <a:cs typeface="Calibri"/>
              </a:rPr>
              <a:t>{1}"</a:t>
            </a:r>
            <a:r>
              <a:rPr dirty="0" sz="700" spc="110">
                <a:latin typeface="Calibri"/>
                <a:cs typeface="Calibri"/>
              </a:rPr>
              <a:t>.</a:t>
            </a:r>
            <a:r>
              <a:rPr dirty="0" sz="700" spc="11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10">
                <a:latin typeface="Calibri"/>
                <a:cs typeface="Calibri"/>
              </a:rPr>
              <a:t>( </a:t>
            </a:r>
            <a:r>
              <a:rPr dirty="0" sz="700" spc="105">
                <a:latin typeface="Calibri"/>
                <a:cs typeface="Calibri"/>
              </a:rPr>
              <a:t>best_validation_accuracy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best_iteration))</a:t>
            </a:r>
            <a:endParaRPr sz="700">
              <a:latin typeface="Calibri"/>
              <a:cs typeface="Calibri"/>
            </a:endParaRPr>
          </a:p>
          <a:p>
            <a:pPr marL="14604">
              <a:lnSpc>
                <a:spcPct val="100000"/>
              </a:lnSpc>
              <a:spcBef>
                <a:spcPts val="70"/>
              </a:spcBef>
            </a:pPr>
            <a:r>
              <a:rPr dirty="0" sz="700" spc="135">
                <a:solidFill>
                  <a:srgbClr val="003FFF"/>
                </a:solidFill>
                <a:latin typeface="Calibri"/>
                <a:cs typeface="Calibri"/>
              </a:rPr>
              <a:t>print</a:t>
            </a:r>
            <a:r>
              <a:rPr dirty="0" sz="700" spc="135">
                <a:latin typeface="Calibri"/>
                <a:cs typeface="Calibri"/>
              </a:rPr>
              <a:t>(</a:t>
            </a:r>
            <a:r>
              <a:rPr dirty="0" sz="700" spc="135">
                <a:solidFill>
                  <a:srgbClr val="007F00"/>
                </a:solidFill>
                <a:latin typeface="Calibri"/>
                <a:cs typeface="Calibri"/>
              </a:rPr>
              <a:t>"</a:t>
            </a:r>
            <a:r>
              <a:rPr dirty="0" sz="700" spc="-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0">
                <a:solidFill>
                  <a:srgbClr val="007F00"/>
                </a:solidFill>
                <a:latin typeface="Calibri"/>
                <a:cs typeface="Calibri"/>
              </a:rPr>
              <a:t>Corresponding</a:t>
            </a:r>
            <a:r>
              <a:rPr dirty="0" sz="700" spc="3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test</a:t>
            </a:r>
            <a:r>
              <a:rPr dirty="0" sz="700" spc="38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of</a:t>
            </a:r>
            <a:r>
              <a:rPr dirty="0" sz="700" spc="37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{0:.2%}"</a:t>
            </a:r>
            <a:r>
              <a:rPr dirty="0" sz="700" spc="120">
                <a:latin typeface="Calibri"/>
                <a:cs typeface="Calibri"/>
              </a:rPr>
              <a:t>.</a:t>
            </a:r>
            <a:r>
              <a:rPr dirty="0" sz="700" spc="120">
                <a:solidFill>
                  <a:srgbClr val="003FFF"/>
                </a:solidFill>
                <a:latin typeface="Calibri"/>
                <a:cs typeface="Calibri"/>
              </a:rPr>
              <a:t>format</a:t>
            </a:r>
            <a:r>
              <a:rPr dirty="0" sz="700" spc="12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test_accuracy))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70625" y="5096297"/>
            <a:ext cx="3736340" cy="10528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Define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layer</a:t>
            </a:r>
            <a:r>
              <a:rPr dirty="0" sz="700" spc="42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types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4604">
              <a:lnSpc>
                <a:spcPct val="100000"/>
              </a:lnSpc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ConvPoolLayer(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95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 marL="120650" marR="5080" indent="-635">
              <a:lnSpc>
                <a:spcPct val="107900"/>
              </a:lnSpc>
            </a:pP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r>
              <a:rPr dirty="0" sz="700" spc="-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Used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create</a:t>
            </a:r>
            <a:r>
              <a:rPr dirty="0" sz="700" spc="3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combination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convolutional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3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30" i="1">
                <a:solidFill>
                  <a:srgbClr val="980000"/>
                </a:solidFill>
                <a:latin typeface="Calibri"/>
                <a:cs typeface="Calibri"/>
              </a:rPr>
              <a:t>max-</a:t>
            </a:r>
            <a:r>
              <a:rPr dirty="0" sz="700" spc="-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pooling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layer.</a:t>
            </a:r>
            <a:r>
              <a:rPr dirty="0" sz="700" spc="33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more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sophisticated</a:t>
            </a:r>
            <a:r>
              <a:rPr dirty="0" sz="700" spc="41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implementation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would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separate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endParaRPr sz="700">
              <a:latin typeface="Calibri"/>
              <a:cs typeface="Calibri"/>
            </a:endParaRPr>
          </a:p>
          <a:p>
            <a:pPr marL="121285" marR="215900" indent="-2540">
              <a:lnSpc>
                <a:spcPct val="107900"/>
              </a:lnSpc>
            </a:pP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two,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but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for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our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purposes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we’ll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always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use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them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together,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5" i="1">
                <a:solidFill>
                  <a:srgbClr val="980000"/>
                </a:solidFill>
                <a:latin typeface="Calibri"/>
                <a:cs typeface="Calibri"/>
              </a:rPr>
              <a:t>it </a:t>
            </a:r>
            <a:r>
              <a:rPr dirty="0" sz="700" spc="135" i="1">
                <a:solidFill>
                  <a:srgbClr val="980000"/>
                </a:solidFill>
                <a:latin typeface="Calibri"/>
                <a:cs typeface="Calibri"/>
              </a:rPr>
              <a:t>simplifies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code,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60" i="1">
                <a:solidFill>
                  <a:srgbClr val="980000"/>
                </a:solidFill>
                <a:latin typeface="Calibri"/>
                <a:cs typeface="Calibri"/>
              </a:rPr>
              <a:t>so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it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makes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sense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to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combine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45" i="1">
                <a:solidFill>
                  <a:srgbClr val="980000"/>
                </a:solidFill>
                <a:latin typeface="Calibri"/>
                <a:cs typeface="Calibri"/>
              </a:rPr>
              <a:t>them.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78560" y="6247678"/>
            <a:ext cx="17526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55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404747" y="6351691"/>
            <a:ext cx="99060" cy="0"/>
          </a:xfrm>
          <a:custGeom>
            <a:avLst/>
            <a:gdLst/>
            <a:ahLst/>
            <a:cxnLst/>
            <a:rect l="l" t="t" r="r" b="b"/>
            <a:pathLst>
              <a:path w="99059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1719161" y="6351691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1496822" y="6238821"/>
            <a:ext cx="2995295" cy="25590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7310" marR="5080" indent="-55244">
              <a:lnSpc>
                <a:spcPct val="107900"/>
              </a:lnSpc>
              <a:spcBef>
                <a:spcPts val="100"/>
              </a:spcBef>
            </a:pPr>
            <a:r>
              <a:rPr dirty="0" sz="700" spc="165">
                <a:latin typeface="Calibri"/>
                <a:cs typeface="Calibri"/>
              </a:rPr>
              <a:t>init</a:t>
            </a:r>
            <a:r>
              <a:rPr dirty="0" sz="700" spc="315">
                <a:latin typeface="Calibri"/>
                <a:cs typeface="Calibri"/>
              </a:rPr>
              <a:t>  </a:t>
            </a:r>
            <a:r>
              <a:rPr dirty="0" sz="700" spc="170">
                <a:latin typeface="Calibri"/>
                <a:cs typeface="Calibri"/>
              </a:rPr>
              <a:t>(self,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filter_shape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image_shape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poolsize=(2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2), </a:t>
            </a:r>
            <a:r>
              <a:rPr dirty="0" sz="700" spc="105">
                <a:latin typeface="Calibri"/>
                <a:cs typeface="Calibri"/>
              </a:rPr>
              <a:t>activation_fn=sigmoid):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83182" y="6469097"/>
            <a:ext cx="3843654" cy="1522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" marR="5080">
              <a:lnSpc>
                <a:spcPct val="107900"/>
              </a:lnSpc>
              <a:spcBef>
                <a:spcPts val="100"/>
              </a:spcBef>
            </a:pPr>
            <a:r>
              <a:rPr dirty="0" sz="700" spc="130" i="1">
                <a:solidFill>
                  <a:srgbClr val="980000"/>
                </a:solidFill>
                <a:latin typeface="Calibri"/>
                <a:cs typeface="Calibri"/>
              </a:rPr>
              <a:t>"""‘filter_shape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tuple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length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4,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whose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entries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10" i="1">
                <a:solidFill>
                  <a:srgbClr val="980000"/>
                </a:solidFill>
                <a:latin typeface="Calibri"/>
                <a:cs typeface="Calibri"/>
              </a:rPr>
              <a:t>number</a:t>
            </a:r>
            <a:r>
              <a:rPr dirty="0" sz="700" spc="5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80" i="1">
                <a:solidFill>
                  <a:srgbClr val="980000"/>
                </a:solidFill>
                <a:latin typeface="Calibri"/>
                <a:cs typeface="Calibri"/>
              </a:rPr>
              <a:t>filters,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number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input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feature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maps,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filter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height,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70" i="1">
                <a:solidFill>
                  <a:srgbClr val="980000"/>
                </a:solidFill>
                <a:latin typeface="Calibri"/>
                <a:cs typeface="Calibri"/>
              </a:rPr>
              <a:t>filter</a:t>
            </a:r>
            <a:r>
              <a:rPr dirty="0" sz="700" spc="38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width.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marL="13335" marR="643255">
              <a:lnSpc>
                <a:spcPct val="107900"/>
              </a:lnSpc>
            </a:pPr>
            <a:r>
              <a:rPr dirty="0" sz="700" spc="70" i="1">
                <a:solidFill>
                  <a:srgbClr val="980000"/>
                </a:solidFill>
                <a:latin typeface="Calibri"/>
                <a:cs typeface="Calibri"/>
              </a:rPr>
              <a:t>‘image_shape</a:t>
            </a:r>
            <a:r>
              <a:rPr dirty="0" sz="700" spc="-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tuple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length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4,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whose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entries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the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mini-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batch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55" i="1">
                <a:solidFill>
                  <a:srgbClr val="980000"/>
                </a:solidFill>
                <a:latin typeface="Calibri"/>
                <a:cs typeface="Calibri"/>
              </a:rPr>
              <a:t>size,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number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0" i="1">
                <a:solidFill>
                  <a:srgbClr val="980000"/>
                </a:solidFill>
                <a:latin typeface="Calibri"/>
                <a:cs typeface="Calibri"/>
              </a:rPr>
              <a:t>input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feature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5" i="1">
                <a:solidFill>
                  <a:srgbClr val="980000"/>
                </a:solidFill>
                <a:latin typeface="Calibri"/>
                <a:cs typeface="Calibri"/>
              </a:rPr>
              <a:t>maps,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0" i="1">
                <a:solidFill>
                  <a:srgbClr val="980000"/>
                </a:solidFill>
                <a:latin typeface="Calibri"/>
                <a:cs typeface="Calibri"/>
              </a:rPr>
              <a:t>image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 height,</a:t>
            </a:r>
            <a:r>
              <a:rPr dirty="0" sz="700" spc="40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43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image</a:t>
            </a:r>
            <a:r>
              <a:rPr dirty="0" sz="700" spc="44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width.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12700" marR="535940" indent="635">
              <a:lnSpc>
                <a:spcPct val="107900"/>
              </a:lnSpc>
            </a:pP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‘poolsize</a:t>
            </a:r>
            <a:r>
              <a:rPr dirty="0" sz="700" spc="-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‘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0" i="1">
                <a:solidFill>
                  <a:srgbClr val="980000"/>
                </a:solidFill>
                <a:latin typeface="Calibri"/>
                <a:cs typeface="Calibri"/>
              </a:rPr>
              <a:t>is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tuple</a:t>
            </a:r>
            <a:r>
              <a:rPr dirty="0" sz="700" spc="36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of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length</a:t>
            </a:r>
            <a:r>
              <a:rPr dirty="0" sz="700" spc="35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2,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whose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25" i="1">
                <a:solidFill>
                  <a:srgbClr val="980000"/>
                </a:solidFill>
                <a:latin typeface="Calibri"/>
                <a:cs typeface="Calibri"/>
              </a:rPr>
              <a:t>entries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are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50" i="1">
                <a:solidFill>
                  <a:srgbClr val="980000"/>
                </a:solidFill>
                <a:latin typeface="Calibri"/>
                <a:cs typeface="Calibri"/>
              </a:rPr>
              <a:t>y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-25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65" i="1">
                <a:solidFill>
                  <a:srgbClr val="980000"/>
                </a:solidFill>
                <a:latin typeface="Calibri"/>
                <a:cs typeface="Calibri"/>
              </a:rPr>
              <a:t> x</a:t>
            </a:r>
            <a:r>
              <a:rPr dirty="0" sz="700" spc="35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5" i="1">
                <a:solidFill>
                  <a:srgbClr val="980000"/>
                </a:solidFill>
                <a:latin typeface="Calibri"/>
                <a:cs typeface="Calibri"/>
              </a:rPr>
              <a:t>pooling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40" i="1">
                <a:solidFill>
                  <a:srgbClr val="980000"/>
                </a:solidFill>
                <a:latin typeface="Calibri"/>
                <a:cs typeface="Calibri"/>
              </a:rPr>
              <a:t>sizes.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5"/>
              </a:spcBef>
            </a:pP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"""</a:t>
            </a:r>
            <a:endParaRPr sz="700">
              <a:latin typeface="Calibri"/>
              <a:cs typeface="Calibri"/>
            </a:endParaRPr>
          </a:p>
          <a:p>
            <a:pPr marL="14604">
              <a:lnSpc>
                <a:spcPct val="100000"/>
              </a:lnSpc>
              <a:spcBef>
                <a:spcPts val="65"/>
              </a:spcBef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filter_shape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filter_shape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14" name="object 14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104965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194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9514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080482" y="971994"/>
            <a:ext cx="0" cy="7023734"/>
          </a:xfrm>
          <a:custGeom>
            <a:avLst/>
            <a:gdLst/>
            <a:ahLst/>
            <a:cxnLst/>
            <a:rect l="l" t="t" r="r" b="b"/>
            <a:pathLst>
              <a:path w="0" h="7023734">
                <a:moveTo>
                  <a:pt x="0" y="115138"/>
                </a:moveTo>
                <a:lnTo>
                  <a:pt x="0" y="0"/>
                </a:lnTo>
              </a:path>
              <a:path w="0" h="7023734">
                <a:moveTo>
                  <a:pt x="0" y="230276"/>
                </a:moveTo>
                <a:lnTo>
                  <a:pt x="0" y="115138"/>
                </a:lnTo>
              </a:path>
              <a:path w="0" h="7023734">
                <a:moveTo>
                  <a:pt x="0" y="345414"/>
                </a:moveTo>
                <a:lnTo>
                  <a:pt x="0" y="230276"/>
                </a:lnTo>
              </a:path>
              <a:path w="0" h="7023734">
                <a:moveTo>
                  <a:pt x="0" y="460552"/>
                </a:moveTo>
                <a:lnTo>
                  <a:pt x="0" y="345414"/>
                </a:lnTo>
              </a:path>
              <a:path w="0" h="7023734">
                <a:moveTo>
                  <a:pt x="0" y="575691"/>
                </a:moveTo>
                <a:lnTo>
                  <a:pt x="0" y="460552"/>
                </a:lnTo>
              </a:path>
              <a:path w="0" h="7023734">
                <a:moveTo>
                  <a:pt x="0" y="690829"/>
                </a:moveTo>
                <a:lnTo>
                  <a:pt x="0" y="575691"/>
                </a:lnTo>
              </a:path>
              <a:path w="0" h="7023734">
                <a:moveTo>
                  <a:pt x="0" y="805967"/>
                </a:moveTo>
                <a:lnTo>
                  <a:pt x="0" y="690829"/>
                </a:lnTo>
              </a:path>
              <a:path w="0" h="7023734">
                <a:moveTo>
                  <a:pt x="0" y="921105"/>
                </a:moveTo>
                <a:lnTo>
                  <a:pt x="0" y="805967"/>
                </a:lnTo>
              </a:path>
              <a:path w="0" h="7023734">
                <a:moveTo>
                  <a:pt x="0" y="1036243"/>
                </a:moveTo>
                <a:lnTo>
                  <a:pt x="0" y="921105"/>
                </a:lnTo>
              </a:path>
              <a:path w="0" h="7023734">
                <a:moveTo>
                  <a:pt x="0" y="1151382"/>
                </a:moveTo>
                <a:lnTo>
                  <a:pt x="0" y="1036243"/>
                </a:lnTo>
              </a:path>
              <a:path w="0" h="7023734">
                <a:moveTo>
                  <a:pt x="0" y="1266520"/>
                </a:moveTo>
                <a:lnTo>
                  <a:pt x="0" y="1151382"/>
                </a:lnTo>
              </a:path>
              <a:path w="0" h="7023734">
                <a:moveTo>
                  <a:pt x="0" y="1381658"/>
                </a:moveTo>
                <a:lnTo>
                  <a:pt x="0" y="1266520"/>
                </a:lnTo>
              </a:path>
              <a:path w="0" h="7023734">
                <a:moveTo>
                  <a:pt x="0" y="1496796"/>
                </a:moveTo>
                <a:lnTo>
                  <a:pt x="0" y="1381658"/>
                </a:lnTo>
              </a:path>
              <a:path w="0" h="7023734">
                <a:moveTo>
                  <a:pt x="0" y="1611934"/>
                </a:moveTo>
                <a:lnTo>
                  <a:pt x="0" y="1496796"/>
                </a:lnTo>
              </a:path>
              <a:path w="0" h="7023734">
                <a:moveTo>
                  <a:pt x="0" y="1727073"/>
                </a:moveTo>
                <a:lnTo>
                  <a:pt x="0" y="1611934"/>
                </a:lnTo>
              </a:path>
              <a:path w="0" h="7023734">
                <a:moveTo>
                  <a:pt x="0" y="1842211"/>
                </a:moveTo>
                <a:lnTo>
                  <a:pt x="0" y="1727073"/>
                </a:lnTo>
              </a:path>
              <a:path w="0" h="7023734">
                <a:moveTo>
                  <a:pt x="0" y="1957349"/>
                </a:moveTo>
                <a:lnTo>
                  <a:pt x="0" y="1842211"/>
                </a:lnTo>
              </a:path>
              <a:path w="0" h="7023734">
                <a:moveTo>
                  <a:pt x="0" y="2072487"/>
                </a:moveTo>
                <a:lnTo>
                  <a:pt x="0" y="1957349"/>
                </a:lnTo>
              </a:path>
              <a:path w="0" h="7023734">
                <a:moveTo>
                  <a:pt x="0" y="2187625"/>
                </a:moveTo>
                <a:lnTo>
                  <a:pt x="0" y="2072487"/>
                </a:lnTo>
              </a:path>
              <a:path w="0" h="7023734">
                <a:moveTo>
                  <a:pt x="0" y="2302764"/>
                </a:moveTo>
                <a:lnTo>
                  <a:pt x="0" y="2187625"/>
                </a:lnTo>
              </a:path>
              <a:path w="0" h="7023734">
                <a:moveTo>
                  <a:pt x="0" y="2417902"/>
                </a:moveTo>
                <a:lnTo>
                  <a:pt x="0" y="2302764"/>
                </a:lnTo>
              </a:path>
              <a:path w="0" h="7023734">
                <a:moveTo>
                  <a:pt x="0" y="2533040"/>
                </a:moveTo>
                <a:lnTo>
                  <a:pt x="0" y="2417902"/>
                </a:lnTo>
              </a:path>
              <a:path w="0" h="7023734">
                <a:moveTo>
                  <a:pt x="0" y="2648178"/>
                </a:moveTo>
                <a:lnTo>
                  <a:pt x="0" y="2533040"/>
                </a:lnTo>
              </a:path>
              <a:path w="0" h="7023734">
                <a:moveTo>
                  <a:pt x="0" y="2763316"/>
                </a:moveTo>
                <a:lnTo>
                  <a:pt x="0" y="2648178"/>
                </a:lnTo>
              </a:path>
              <a:path w="0" h="7023734">
                <a:moveTo>
                  <a:pt x="0" y="2878455"/>
                </a:moveTo>
                <a:lnTo>
                  <a:pt x="0" y="2763316"/>
                </a:lnTo>
              </a:path>
              <a:path w="0" h="7023734">
                <a:moveTo>
                  <a:pt x="0" y="2993593"/>
                </a:moveTo>
                <a:lnTo>
                  <a:pt x="0" y="2878455"/>
                </a:lnTo>
              </a:path>
              <a:path w="0" h="7023734">
                <a:moveTo>
                  <a:pt x="0" y="3108731"/>
                </a:moveTo>
                <a:lnTo>
                  <a:pt x="0" y="2993593"/>
                </a:lnTo>
              </a:path>
              <a:path w="0" h="7023734">
                <a:moveTo>
                  <a:pt x="0" y="3223869"/>
                </a:moveTo>
                <a:lnTo>
                  <a:pt x="0" y="3108731"/>
                </a:lnTo>
              </a:path>
              <a:path w="0" h="7023734">
                <a:moveTo>
                  <a:pt x="0" y="3339007"/>
                </a:moveTo>
                <a:lnTo>
                  <a:pt x="0" y="3223869"/>
                </a:lnTo>
              </a:path>
              <a:path w="0" h="7023734">
                <a:moveTo>
                  <a:pt x="0" y="3454146"/>
                </a:moveTo>
                <a:lnTo>
                  <a:pt x="0" y="3339007"/>
                </a:lnTo>
              </a:path>
              <a:path w="0" h="7023734">
                <a:moveTo>
                  <a:pt x="0" y="3569284"/>
                </a:moveTo>
                <a:lnTo>
                  <a:pt x="0" y="3454146"/>
                </a:lnTo>
              </a:path>
              <a:path w="0" h="7023734">
                <a:moveTo>
                  <a:pt x="0" y="3684422"/>
                </a:moveTo>
                <a:lnTo>
                  <a:pt x="0" y="3569284"/>
                </a:lnTo>
              </a:path>
              <a:path w="0" h="7023734">
                <a:moveTo>
                  <a:pt x="0" y="3799560"/>
                </a:moveTo>
                <a:lnTo>
                  <a:pt x="0" y="3684422"/>
                </a:lnTo>
              </a:path>
              <a:path w="0" h="7023734">
                <a:moveTo>
                  <a:pt x="0" y="3914698"/>
                </a:moveTo>
                <a:lnTo>
                  <a:pt x="0" y="3799560"/>
                </a:lnTo>
              </a:path>
              <a:path w="0" h="7023734">
                <a:moveTo>
                  <a:pt x="0" y="4029837"/>
                </a:moveTo>
                <a:lnTo>
                  <a:pt x="0" y="3914698"/>
                </a:lnTo>
              </a:path>
              <a:path w="0" h="7023734">
                <a:moveTo>
                  <a:pt x="0" y="4144975"/>
                </a:moveTo>
                <a:lnTo>
                  <a:pt x="0" y="4029837"/>
                </a:lnTo>
              </a:path>
              <a:path w="0" h="7023734">
                <a:moveTo>
                  <a:pt x="0" y="4260113"/>
                </a:moveTo>
                <a:lnTo>
                  <a:pt x="0" y="4144975"/>
                </a:lnTo>
              </a:path>
              <a:path w="0" h="7023734">
                <a:moveTo>
                  <a:pt x="0" y="4375251"/>
                </a:moveTo>
                <a:lnTo>
                  <a:pt x="0" y="4260113"/>
                </a:lnTo>
              </a:path>
              <a:path w="0" h="7023734">
                <a:moveTo>
                  <a:pt x="0" y="4490389"/>
                </a:moveTo>
                <a:lnTo>
                  <a:pt x="0" y="4375251"/>
                </a:lnTo>
              </a:path>
              <a:path w="0" h="7023734">
                <a:moveTo>
                  <a:pt x="0" y="4605528"/>
                </a:moveTo>
                <a:lnTo>
                  <a:pt x="0" y="4490389"/>
                </a:lnTo>
              </a:path>
              <a:path w="0" h="7023734">
                <a:moveTo>
                  <a:pt x="0" y="4720666"/>
                </a:moveTo>
                <a:lnTo>
                  <a:pt x="0" y="4605528"/>
                </a:lnTo>
              </a:path>
              <a:path w="0" h="7023734">
                <a:moveTo>
                  <a:pt x="0" y="4835804"/>
                </a:moveTo>
                <a:lnTo>
                  <a:pt x="0" y="4720666"/>
                </a:lnTo>
              </a:path>
              <a:path w="0" h="7023734">
                <a:moveTo>
                  <a:pt x="0" y="4950942"/>
                </a:moveTo>
                <a:lnTo>
                  <a:pt x="0" y="4835804"/>
                </a:lnTo>
              </a:path>
              <a:path w="0" h="7023734">
                <a:moveTo>
                  <a:pt x="0" y="5066080"/>
                </a:moveTo>
                <a:lnTo>
                  <a:pt x="0" y="4950942"/>
                </a:lnTo>
              </a:path>
              <a:path w="0" h="7023734">
                <a:moveTo>
                  <a:pt x="0" y="5181219"/>
                </a:moveTo>
                <a:lnTo>
                  <a:pt x="0" y="5066080"/>
                </a:lnTo>
              </a:path>
              <a:path w="0" h="7023734">
                <a:moveTo>
                  <a:pt x="0" y="5296357"/>
                </a:moveTo>
                <a:lnTo>
                  <a:pt x="0" y="5181219"/>
                </a:lnTo>
              </a:path>
              <a:path w="0" h="7023734">
                <a:moveTo>
                  <a:pt x="0" y="5411495"/>
                </a:moveTo>
                <a:lnTo>
                  <a:pt x="0" y="5296357"/>
                </a:lnTo>
              </a:path>
              <a:path w="0" h="7023734">
                <a:moveTo>
                  <a:pt x="0" y="5526633"/>
                </a:moveTo>
                <a:lnTo>
                  <a:pt x="0" y="5411495"/>
                </a:lnTo>
              </a:path>
              <a:path w="0" h="7023734">
                <a:moveTo>
                  <a:pt x="0" y="5641771"/>
                </a:moveTo>
                <a:lnTo>
                  <a:pt x="0" y="5526633"/>
                </a:lnTo>
              </a:path>
              <a:path w="0" h="7023734">
                <a:moveTo>
                  <a:pt x="0" y="5756910"/>
                </a:moveTo>
                <a:lnTo>
                  <a:pt x="0" y="5641771"/>
                </a:lnTo>
              </a:path>
              <a:path w="0" h="7023734">
                <a:moveTo>
                  <a:pt x="0" y="5872048"/>
                </a:moveTo>
                <a:lnTo>
                  <a:pt x="0" y="5756910"/>
                </a:lnTo>
              </a:path>
              <a:path w="0" h="7023734">
                <a:moveTo>
                  <a:pt x="0" y="5987186"/>
                </a:moveTo>
                <a:lnTo>
                  <a:pt x="0" y="5872048"/>
                </a:lnTo>
              </a:path>
              <a:path w="0" h="7023734">
                <a:moveTo>
                  <a:pt x="0" y="6102324"/>
                </a:moveTo>
                <a:lnTo>
                  <a:pt x="0" y="5987186"/>
                </a:lnTo>
              </a:path>
              <a:path w="0" h="7023734">
                <a:moveTo>
                  <a:pt x="0" y="6217462"/>
                </a:moveTo>
                <a:lnTo>
                  <a:pt x="0" y="6102324"/>
                </a:lnTo>
              </a:path>
              <a:path w="0" h="7023734">
                <a:moveTo>
                  <a:pt x="0" y="6332601"/>
                </a:moveTo>
                <a:lnTo>
                  <a:pt x="0" y="6217462"/>
                </a:lnTo>
              </a:path>
              <a:path w="0" h="7023734">
                <a:moveTo>
                  <a:pt x="0" y="6447738"/>
                </a:moveTo>
                <a:lnTo>
                  <a:pt x="0" y="6332601"/>
                </a:lnTo>
              </a:path>
              <a:path w="0" h="7023734">
                <a:moveTo>
                  <a:pt x="0" y="6562877"/>
                </a:moveTo>
                <a:lnTo>
                  <a:pt x="0" y="6447738"/>
                </a:lnTo>
              </a:path>
              <a:path w="0" h="7023734">
                <a:moveTo>
                  <a:pt x="0" y="6678015"/>
                </a:moveTo>
                <a:lnTo>
                  <a:pt x="0" y="6562877"/>
                </a:lnTo>
              </a:path>
              <a:path w="0" h="7023734">
                <a:moveTo>
                  <a:pt x="0" y="6793153"/>
                </a:moveTo>
                <a:lnTo>
                  <a:pt x="0" y="6678015"/>
                </a:lnTo>
              </a:path>
              <a:path w="0" h="7023734">
                <a:moveTo>
                  <a:pt x="0" y="6908292"/>
                </a:moveTo>
                <a:lnTo>
                  <a:pt x="0" y="6793153"/>
                </a:lnTo>
              </a:path>
              <a:path w="0" h="7023734">
                <a:moveTo>
                  <a:pt x="0" y="7023430"/>
                </a:moveTo>
                <a:lnTo>
                  <a:pt x="0" y="6908292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23190" y="942463"/>
            <a:ext cx="3899535" cy="18681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187575" indent="1905">
              <a:lnSpc>
                <a:spcPct val="107900"/>
              </a:lnSpc>
              <a:spcBef>
                <a:spcPts val="100"/>
              </a:spcBef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image_shape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50">
                <a:latin typeface="Calibri"/>
                <a:cs typeface="Calibri"/>
              </a:rPr>
              <a:t>image_shape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poolsize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poolsize</a:t>
            </a:r>
            <a:r>
              <a:rPr dirty="0" sz="700" spc="500">
                <a:latin typeface="Calibri"/>
                <a:cs typeface="Calibri"/>
              </a:rPr>
              <a:t>  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activation_fn=activation_fn</a:t>
            </a:r>
            <a:r>
              <a:rPr dirty="0" sz="700" spc="500"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initialize</a:t>
            </a:r>
            <a:r>
              <a:rPr dirty="0" sz="700" spc="40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weights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9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endParaRPr sz="700">
              <a:latin typeface="Calibri"/>
              <a:cs typeface="Calibri"/>
            </a:endParaRPr>
          </a:p>
          <a:p>
            <a:pPr marL="14604" marR="218440">
              <a:lnSpc>
                <a:spcPct val="107900"/>
              </a:lnSpc>
            </a:pPr>
            <a:r>
              <a:rPr dirty="0" sz="700" spc="55">
                <a:latin typeface="Calibri"/>
                <a:cs typeface="Calibri"/>
              </a:rPr>
              <a:t>n_out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filter_shape[0]*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np.prod(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filter_shape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[2:])/np.prod(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poolsize)) </a:t>
            </a:r>
            <a:r>
              <a:rPr dirty="0" sz="700" spc="125">
                <a:latin typeface="Calibri"/>
                <a:cs typeface="Calibri"/>
              </a:rPr>
              <a:t>self.w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theano.shared(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65"/>
              </a:spcBef>
            </a:pPr>
            <a:r>
              <a:rPr dirty="0" sz="700" spc="95">
                <a:latin typeface="Calibri"/>
                <a:cs typeface="Calibri"/>
              </a:rPr>
              <a:t>np.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asarray(</a:t>
            </a:r>
            <a:endParaRPr sz="700">
              <a:latin typeface="Calibri"/>
              <a:cs typeface="Calibri"/>
            </a:endParaRPr>
          </a:p>
          <a:p>
            <a:pPr marL="227329" marR="5080" indent="-1270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np.random.normal(loc=0,</a:t>
            </a:r>
            <a:r>
              <a:rPr dirty="0" sz="700" spc="43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scale=np.sqrt(1.0/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n_out),</a:t>
            </a:r>
            <a:r>
              <a:rPr dirty="0" sz="700" spc="42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size=filter_shape), </a:t>
            </a:r>
            <a:r>
              <a:rPr dirty="0" sz="700" spc="110">
                <a:latin typeface="Calibri"/>
                <a:cs typeface="Calibri"/>
              </a:rPr>
              <a:t>dtype=theano.config.floatX),</a:t>
            </a:r>
            <a:endParaRPr sz="700">
              <a:latin typeface="Calibri"/>
              <a:cs typeface="Calibri"/>
            </a:endParaRPr>
          </a:p>
          <a:p>
            <a:pPr marL="121285">
              <a:lnSpc>
                <a:spcPct val="100000"/>
              </a:lnSpc>
              <a:spcBef>
                <a:spcPts val="70"/>
              </a:spcBef>
            </a:pPr>
            <a:r>
              <a:rPr dirty="0" sz="700" spc="65">
                <a:latin typeface="Calibri"/>
                <a:cs typeface="Calibri"/>
              </a:rPr>
              <a:t>borrow=True)</a:t>
            </a:r>
            <a:endParaRPr sz="700">
              <a:latin typeface="Calibri"/>
              <a:cs typeface="Calibri"/>
            </a:endParaRPr>
          </a:p>
          <a:p>
            <a:pPr marL="120014" marR="2663190" indent="-105410">
              <a:lnSpc>
                <a:spcPct val="107900"/>
              </a:lnSpc>
            </a:pPr>
            <a:r>
              <a:rPr dirty="0" sz="700" spc="145">
                <a:latin typeface="Calibri"/>
                <a:cs typeface="Calibri"/>
              </a:rPr>
              <a:t>self.b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theano.shared( </a:t>
            </a:r>
            <a:r>
              <a:rPr dirty="0" sz="700" spc="95">
                <a:latin typeface="Calibri"/>
                <a:cs typeface="Calibri"/>
              </a:rPr>
              <a:t>np.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asarray(</a:t>
            </a:r>
            <a:endParaRPr sz="700">
              <a:latin typeface="Calibri"/>
              <a:cs typeface="Calibri"/>
            </a:endParaRPr>
          </a:p>
          <a:p>
            <a:pPr marL="227329" marR="483234" indent="-1270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np.random.normal(loc=0,</a:t>
            </a:r>
            <a:r>
              <a:rPr dirty="0" sz="700" spc="40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scale=1.0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size=(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filter_shape[0],)), </a:t>
            </a:r>
            <a:r>
              <a:rPr dirty="0" sz="700" spc="110">
                <a:latin typeface="Calibri"/>
                <a:cs typeface="Calibri"/>
              </a:rPr>
              <a:t>dtype=theano.config.floatX),</a:t>
            </a:r>
            <a:endParaRPr sz="700">
              <a:latin typeface="Calibri"/>
              <a:cs typeface="Calibri"/>
            </a:endParaRPr>
          </a:p>
          <a:p>
            <a:pPr marL="121285">
              <a:lnSpc>
                <a:spcPct val="100000"/>
              </a:lnSpc>
              <a:spcBef>
                <a:spcPts val="65"/>
              </a:spcBef>
            </a:pPr>
            <a:r>
              <a:rPr dirty="0" sz="700" spc="65">
                <a:latin typeface="Calibri"/>
                <a:cs typeface="Calibri"/>
              </a:rPr>
              <a:t>borrow=True)</a:t>
            </a:r>
            <a:endParaRPr sz="700">
              <a:latin typeface="Calibri"/>
              <a:cs typeface="Calibri"/>
            </a:endParaRPr>
          </a:p>
          <a:p>
            <a:pPr marL="14604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latin typeface="Calibri"/>
                <a:cs typeface="Calibri"/>
              </a:rPr>
              <a:t>self.params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[self.w,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self.b]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18564" y="2899813"/>
            <a:ext cx="4053840" cy="1177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8745" marR="1065530" indent="-106680">
              <a:lnSpc>
                <a:spcPct val="107900"/>
              </a:lnSpc>
              <a:spcBef>
                <a:spcPts val="100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set_inpt(self,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inpt,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inpt_dropout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mini_batch_size): </a:t>
            </a:r>
            <a:r>
              <a:rPr dirty="0" sz="700" spc="150">
                <a:latin typeface="Calibri"/>
                <a:cs typeface="Calibri"/>
              </a:rPr>
              <a:t>self.inpt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inpt.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reshape(self.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image_shape)</a:t>
            </a:r>
            <a:endParaRPr sz="700">
              <a:latin typeface="Calibri"/>
              <a:cs typeface="Calibri"/>
            </a:endParaRPr>
          </a:p>
          <a:p>
            <a:pPr marL="119380">
              <a:lnSpc>
                <a:spcPct val="100000"/>
              </a:lnSpc>
              <a:spcBef>
                <a:spcPts val="65"/>
              </a:spcBef>
            </a:pPr>
            <a:r>
              <a:rPr dirty="0" sz="700" spc="70">
                <a:latin typeface="Calibri"/>
                <a:cs typeface="Calibri"/>
              </a:rPr>
              <a:t>conv_out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conv.conv2d(</a:t>
            </a:r>
            <a:endParaRPr sz="700">
              <a:latin typeface="Calibri"/>
              <a:cs typeface="Calibri"/>
            </a:endParaRPr>
          </a:p>
          <a:p>
            <a:pPr marL="226060" marR="427355" indent="-635">
              <a:lnSpc>
                <a:spcPct val="107900"/>
              </a:lnSpc>
            </a:pPr>
            <a:r>
              <a:rPr dirty="0" sz="700" spc="140">
                <a:solidFill>
                  <a:srgbClr val="003FFF"/>
                </a:solidFill>
                <a:latin typeface="Calibri"/>
                <a:cs typeface="Calibri"/>
              </a:rPr>
              <a:t>input</a:t>
            </a:r>
            <a:r>
              <a:rPr dirty="0" sz="700" spc="140">
                <a:latin typeface="Calibri"/>
                <a:cs typeface="Calibri"/>
              </a:rPr>
              <a:t>=self.inpt,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filters=self.w,</a:t>
            </a:r>
            <a:r>
              <a:rPr dirty="0" sz="700" spc="40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filter_shape=self.filter_shape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, </a:t>
            </a:r>
            <a:r>
              <a:rPr dirty="0" sz="700" spc="95">
                <a:latin typeface="Calibri"/>
                <a:cs typeface="Calibri"/>
              </a:rPr>
              <a:t>image_shape=self.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image_shape)</a:t>
            </a:r>
            <a:endParaRPr sz="700">
              <a:latin typeface="Calibri"/>
              <a:cs typeface="Calibri"/>
            </a:endParaRPr>
          </a:p>
          <a:p>
            <a:pPr marL="120014">
              <a:lnSpc>
                <a:spcPct val="100000"/>
              </a:lnSpc>
              <a:spcBef>
                <a:spcPts val="70"/>
              </a:spcBef>
            </a:pPr>
            <a:r>
              <a:rPr dirty="0" sz="700" spc="70">
                <a:latin typeface="Calibri"/>
                <a:cs typeface="Calibri"/>
              </a:rPr>
              <a:t>pooled_out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downsample.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max_pool_2d(</a:t>
            </a:r>
            <a:endParaRPr sz="700">
              <a:latin typeface="Calibri"/>
              <a:cs typeface="Calibri"/>
            </a:endParaRPr>
          </a:p>
          <a:p>
            <a:pPr marL="118745" marR="1012190" indent="106045">
              <a:lnSpc>
                <a:spcPct val="1079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input</a:t>
            </a:r>
            <a:r>
              <a:rPr dirty="0" sz="700" spc="80">
                <a:latin typeface="Calibri"/>
                <a:cs typeface="Calibri"/>
              </a:rPr>
              <a:t>=conv_out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ds=self.poolsize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ignore_border=True) </a:t>
            </a:r>
            <a:r>
              <a:rPr dirty="0" sz="700" spc="120">
                <a:latin typeface="Calibri"/>
                <a:cs typeface="Calibri"/>
              </a:rPr>
              <a:t>self.output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activation_fn(</a:t>
            </a:r>
            <a:endParaRPr sz="700">
              <a:latin typeface="Calibri"/>
              <a:cs typeface="Calibri"/>
            </a:endParaRPr>
          </a:p>
          <a:p>
            <a:pPr marL="226060">
              <a:lnSpc>
                <a:spcPct val="100000"/>
              </a:lnSpc>
              <a:spcBef>
                <a:spcPts val="65"/>
              </a:spcBef>
            </a:pPr>
            <a:r>
              <a:rPr dirty="0" sz="700" spc="70">
                <a:latin typeface="Calibri"/>
                <a:cs typeface="Calibri"/>
              </a:rPr>
              <a:t>pooled_out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+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60">
                <a:latin typeface="Calibri"/>
                <a:cs typeface="Calibri"/>
              </a:rPr>
              <a:t>self.b.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dimshuffle(</a:t>
            </a:r>
            <a:r>
              <a:rPr dirty="0" sz="700" spc="140">
                <a:solidFill>
                  <a:srgbClr val="007F00"/>
                </a:solidFill>
                <a:latin typeface="Calibri"/>
                <a:cs typeface="Calibri"/>
              </a:rPr>
              <a:t>’x’</a:t>
            </a:r>
            <a:r>
              <a:rPr dirty="0" sz="700" spc="140">
                <a:latin typeface="Calibri"/>
                <a:cs typeface="Calibri"/>
              </a:rPr>
              <a:t>,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0,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195">
                <a:solidFill>
                  <a:srgbClr val="007F00"/>
                </a:solidFill>
                <a:latin typeface="Calibri"/>
                <a:cs typeface="Calibri"/>
              </a:rPr>
              <a:t>’x’</a:t>
            </a:r>
            <a:r>
              <a:rPr dirty="0" sz="700" spc="195">
                <a:latin typeface="Calibri"/>
                <a:cs typeface="Calibri"/>
              </a:rPr>
              <a:t>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65">
                <a:solidFill>
                  <a:srgbClr val="007F00"/>
                </a:solidFill>
                <a:latin typeface="Calibri"/>
                <a:cs typeface="Calibri"/>
              </a:rPr>
              <a:t>’x’</a:t>
            </a:r>
            <a:r>
              <a:rPr dirty="0" sz="700" spc="165">
                <a:latin typeface="Calibri"/>
                <a:cs typeface="Calibri"/>
              </a:rPr>
              <a:t>))</a:t>
            </a:r>
            <a:endParaRPr sz="7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  <a:spcBef>
                <a:spcPts val="65"/>
              </a:spcBef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output_dropout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self.output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4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no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dropout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4" i="1">
                <a:solidFill>
                  <a:srgbClr val="980000"/>
                </a:solidFill>
                <a:latin typeface="Calibri"/>
                <a:cs typeface="Calibri"/>
              </a:rPr>
              <a:t>in</a:t>
            </a:r>
            <a:r>
              <a:rPr dirty="0" sz="700" spc="36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75" i="1">
                <a:solidFill>
                  <a:srgbClr val="980000"/>
                </a:solidFill>
                <a:latin typeface="Calibri"/>
                <a:cs typeface="Calibri"/>
              </a:rPr>
              <a:t>the</a:t>
            </a:r>
            <a:r>
              <a:rPr dirty="0" sz="700" spc="37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10" i="1">
                <a:solidFill>
                  <a:srgbClr val="980000"/>
                </a:solidFill>
                <a:latin typeface="Calibri"/>
                <a:cs typeface="Calibri"/>
              </a:rPr>
              <a:t>convolutional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05" i="1">
                <a:solidFill>
                  <a:srgbClr val="980000"/>
                </a:solidFill>
                <a:latin typeface="Calibri"/>
                <a:cs typeface="Calibri"/>
              </a:rPr>
              <a:t>layers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12837" y="4175191"/>
            <a:ext cx="3896360" cy="3816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FullyConnectedLayer(</a:t>
            </a:r>
            <a:r>
              <a:rPr dirty="0" sz="700" spc="100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100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marL="224790" marR="57785" indent="-106680">
              <a:lnSpc>
                <a:spcPct val="107900"/>
              </a:lnSpc>
              <a:spcBef>
                <a:spcPts val="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u="sng" sz="700" spc="245">
                <a:solidFill>
                  <a:srgbClr val="003FFF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700" spc="175">
                <a:latin typeface="Calibri"/>
                <a:cs typeface="Calibri"/>
              </a:rPr>
              <a:t>init</a:t>
            </a:r>
            <a:r>
              <a:rPr dirty="0" u="sng" sz="700" spc="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700" spc="170">
                <a:latin typeface="Calibri"/>
                <a:cs typeface="Calibri"/>
              </a:rPr>
              <a:t>(self,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n_in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n_out,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activation_fn=sigmoid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p_dropout=0.0): </a:t>
            </a:r>
            <a:r>
              <a:rPr dirty="0" sz="700" spc="135">
                <a:latin typeface="Calibri"/>
                <a:cs typeface="Calibri"/>
              </a:rPr>
              <a:t>self.n_in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n_in</a:t>
            </a:r>
            <a:endParaRPr sz="700">
              <a:latin typeface="Calibri"/>
              <a:cs typeface="Calibri"/>
            </a:endParaRPr>
          </a:p>
          <a:p>
            <a:pPr marL="224790" marR="1867535">
              <a:lnSpc>
                <a:spcPct val="107900"/>
              </a:lnSpc>
            </a:pPr>
            <a:r>
              <a:rPr dirty="0" sz="700" spc="120">
                <a:latin typeface="Calibri"/>
                <a:cs typeface="Calibri"/>
              </a:rPr>
              <a:t>self.n_out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35">
                <a:latin typeface="Calibri"/>
                <a:cs typeface="Calibri"/>
              </a:rPr>
              <a:t>n_out</a:t>
            </a:r>
            <a:r>
              <a:rPr dirty="0" sz="700" spc="500">
                <a:latin typeface="Calibri"/>
                <a:cs typeface="Calibri"/>
              </a:rPr>
              <a:t>       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activation_fn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activation_fn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p_dropout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p_dropout</a:t>
            </a:r>
            <a:endParaRPr sz="700">
              <a:latin typeface="Calibri"/>
              <a:cs typeface="Calibri"/>
            </a:endParaRPr>
          </a:p>
          <a:p>
            <a:pPr marL="222885">
              <a:lnSpc>
                <a:spcPct val="100000"/>
              </a:lnSpc>
              <a:spcBef>
                <a:spcPts val="6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Initialize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weights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endParaRPr sz="700">
              <a:latin typeface="Calibri"/>
              <a:cs typeface="Calibri"/>
            </a:endParaRPr>
          </a:p>
          <a:p>
            <a:pPr marL="330200" marR="2449195" indent="-105410">
              <a:lnSpc>
                <a:spcPct val="107900"/>
              </a:lnSpc>
            </a:pPr>
            <a:r>
              <a:rPr dirty="0" sz="700" spc="125">
                <a:latin typeface="Calibri"/>
                <a:cs typeface="Calibri"/>
              </a:rPr>
              <a:t>self.w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theano.shared( </a:t>
            </a:r>
            <a:r>
              <a:rPr dirty="0" sz="700" spc="95">
                <a:latin typeface="Calibri"/>
                <a:cs typeface="Calibri"/>
              </a:rPr>
              <a:t>np.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asarray(</a:t>
            </a:r>
            <a:endParaRPr sz="700">
              <a:latin typeface="Calibri"/>
              <a:cs typeface="Calibri"/>
            </a:endParaRPr>
          </a:p>
          <a:p>
            <a:pPr marL="436245">
              <a:lnSpc>
                <a:spcPct val="100000"/>
              </a:lnSpc>
              <a:spcBef>
                <a:spcPts val="65"/>
              </a:spcBef>
            </a:pPr>
            <a:r>
              <a:rPr dirty="0" sz="700" spc="70">
                <a:latin typeface="Calibri"/>
                <a:cs typeface="Calibri"/>
              </a:rPr>
              <a:t>np.random.normal(</a:t>
            </a:r>
            <a:endParaRPr sz="700">
              <a:latin typeface="Calibri"/>
              <a:cs typeface="Calibri"/>
            </a:endParaRPr>
          </a:p>
          <a:p>
            <a:pPr marL="437515" marR="428625" indent="105410">
              <a:lnSpc>
                <a:spcPct val="107900"/>
              </a:lnSpc>
            </a:pPr>
            <a:r>
              <a:rPr dirty="0" sz="700" spc="105">
                <a:latin typeface="Calibri"/>
                <a:cs typeface="Calibri"/>
              </a:rPr>
              <a:t>loc=0.0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scale=np.sqrt(1.0/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n_out),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size=(n_in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n_out)), dtype=theano.config.floatX),</a:t>
            </a:r>
            <a:endParaRPr sz="700">
              <a:latin typeface="Calibri"/>
              <a:cs typeface="Calibri"/>
            </a:endParaRPr>
          </a:p>
          <a:p>
            <a:pPr marL="224790" marR="2395855" indent="106045">
              <a:lnSpc>
                <a:spcPct val="107900"/>
              </a:lnSpc>
            </a:pPr>
            <a:r>
              <a:rPr dirty="0" sz="700" spc="75">
                <a:latin typeface="Calibri"/>
                <a:cs typeface="Calibri"/>
              </a:rPr>
              <a:t>name=</a:t>
            </a:r>
            <a:r>
              <a:rPr dirty="0" sz="700" spc="75">
                <a:solidFill>
                  <a:srgbClr val="007F00"/>
                </a:solidFill>
                <a:latin typeface="Calibri"/>
                <a:cs typeface="Calibri"/>
              </a:rPr>
              <a:t>’w’</a:t>
            </a:r>
            <a:r>
              <a:rPr dirty="0" sz="700" spc="75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borrow=True) </a:t>
            </a:r>
            <a:r>
              <a:rPr dirty="0" sz="700" spc="145">
                <a:latin typeface="Calibri"/>
                <a:cs typeface="Calibri"/>
              </a:rPr>
              <a:t>self.b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theano.shared(</a:t>
            </a:r>
            <a:endParaRPr sz="700">
              <a:latin typeface="Calibri"/>
              <a:cs typeface="Calibri"/>
            </a:endParaRPr>
          </a:p>
          <a:p>
            <a:pPr marL="702945" marR="216535" indent="-373380">
              <a:lnSpc>
                <a:spcPct val="107900"/>
              </a:lnSpc>
              <a:spcBef>
                <a:spcPts val="5"/>
              </a:spcBef>
            </a:pPr>
            <a:r>
              <a:rPr dirty="0" sz="700" spc="95">
                <a:latin typeface="Calibri"/>
                <a:cs typeface="Calibri"/>
              </a:rPr>
              <a:t>np.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asarray(np.random.normal(loc=0.0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scale=1.0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size=(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n_out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85">
                <a:latin typeface="Calibri"/>
                <a:cs typeface="Calibri"/>
              </a:rPr>
              <a:t>,)), </a:t>
            </a:r>
            <a:r>
              <a:rPr dirty="0" sz="700" spc="110">
                <a:latin typeface="Calibri"/>
                <a:cs typeface="Calibri"/>
              </a:rPr>
              <a:t>dtype=theano.config.floatX),</a:t>
            </a:r>
            <a:endParaRPr sz="700">
              <a:latin typeface="Calibri"/>
              <a:cs typeface="Calibri"/>
            </a:endParaRPr>
          </a:p>
          <a:p>
            <a:pPr marL="224790" marR="2077085" indent="106045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name=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’b’</a:t>
            </a:r>
            <a:r>
              <a:rPr dirty="0" sz="700" spc="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borrow=True) </a:t>
            </a:r>
            <a:r>
              <a:rPr dirty="0" sz="700" spc="105">
                <a:latin typeface="Calibri"/>
                <a:cs typeface="Calibri"/>
              </a:rPr>
              <a:t>self.params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[self.w,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self.b]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alibri"/>
              <a:cs typeface="Calibri"/>
            </a:endParaRPr>
          </a:p>
          <a:p>
            <a:pPr algn="just" marL="224790" marR="802005" indent="-106680">
              <a:lnSpc>
                <a:spcPct val="1079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set_inpt(self,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inpt,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inpt_dropout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mini_batch_size): </a:t>
            </a:r>
            <a:r>
              <a:rPr dirty="0" sz="700" spc="150">
                <a:latin typeface="Calibri"/>
                <a:cs typeface="Calibri"/>
              </a:rPr>
              <a:t>self.inpt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inpt.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reshape((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2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self.n_in)) </a:t>
            </a:r>
            <a:r>
              <a:rPr dirty="0" sz="700" spc="120">
                <a:latin typeface="Calibri"/>
                <a:cs typeface="Calibri"/>
              </a:rPr>
              <a:t>self.output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activation_fn(</a:t>
            </a:r>
            <a:endParaRPr sz="700">
              <a:latin typeface="Calibri"/>
              <a:cs typeface="Calibri"/>
            </a:endParaRPr>
          </a:p>
          <a:p>
            <a:pPr marL="224790" marR="748665" indent="104775">
              <a:lnSpc>
                <a:spcPct val="107900"/>
              </a:lnSpc>
            </a:pPr>
            <a:r>
              <a:rPr dirty="0" sz="700" spc="135">
                <a:latin typeface="Calibri"/>
                <a:cs typeface="Calibri"/>
              </a:rPr>
              <a:t>(1-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p_dropout)*T.dot(self.inpt,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self.w)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+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self.b) </a:t>
            </a:r>
            <a:r>
              <a:rPr dirty="0" sz="700" spc="120">
                <a:latin typeface="Calibri"/>
                <a:cs typeface="Calibri"/>
              </a:rPr>
              <a:t>self.y_out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T.argmax(self.output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axis=1)</a:t>
            </a:r>
            <a:r>
              <a:rPr dirty="0" sz="700" spc="500">
                <a:latin typeface="Calibri"/>
                <a:cs typeface="Calibri"/>
              </a:rPr>
              <a:t>     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inpt_dropout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dropout_layer(</a:t>
            </a:r>
            <a:endParaRPr sz="700">
              <a:latin typeface="Calibri"/>
              <a:cs typeface="Calibri"/>
            </a:endParaRPr>
          </a:p>
          <a:p>
            <a:pPr marL="224790" marR="5080" indent="106680">
              <a:lnSpc>
                <a:spcPct val="107900"/>
              </a:lnSpc>
            </a:pPr>
            <a:r>
              <a:rPr dirty="0" sz="700" spc="100">
                <a:latin typeface="Calibri"/>
                <a:cs typeface="Calibri"/>
              </a:rPr>
              <a:t>inpt_dropout.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reshape((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self.n_in)),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p_dropout)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output_dropout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activation_fn(</a:t>
            </a:r>
            <a:endParaRPr sz="700">
              <a:latin typeface="Calibri"/>
              <a:cs typeface="Calibri"/>
            </a:endParaRPr>
          </a:p>
          <a:p>
            <a:pPr marL="328930">
              <a:lnSpc>
                <a:spcPct val="100000"/>
              </a:lnSpc>
              <a:spcBef>
                <a:spcPts val="65"/>
              </a:spcBef>
            </a:pPr>
            <a:r>
              <a:rPr dirty="0" sz="700" spc="114">
                <a:latin typeface="Calibri"/>
                <a:cs typeface="Calibri"/>
              </a:rPr>
              <a:t>T.dot(self.inpt_dropout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self.w)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+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self.b)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18110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accuracy(self,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225425" marR="1492885" indent="-2540">
              <a:lnSpc>
                <a:spcPct val="107900"/>
              </a:lnSpc>
            </a:pP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"Return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for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mini-</a:t>
            </a:r>
            <a:r>
              <a:rPr dirty="0" sz="700" spc="100">
                <a:solidFill>
                  <a:srgbClr val="007F00"/>
                </a:solidFill>
                <a:latin typeface="Calibri"/>
                <a:cs typeface="Calibri"/>
              </a:rPr>
              <a:t>batch."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T.mean(T.eq(y,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self.y_out))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9" name="object 9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115094" y="368721"/>
            <a:ext cx="256540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2369820" algn="l"/>
              </a:tabLst>
            </a:pPr>
            <a:r>
              <a:rPr dirty="0" sz="850" spc="10">
                <a:latin typeface="Calibri"/>
                <a:cs typeface="Calibri"/>
              </a:rPr>
              <a:t>6.3.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195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9510" y="971994"/>
            <a:ext cx="4401185" cy="4951095"/>
          </a:xfrm>
          <a:custGeom>
            <a:avLst/>
            <a:gdLst/>
            <a:ahLst/>
            <a:cxnLst/>
            <a:rect l="l" t="t" r="r" b="b"/>
            <a:pathLst>
              <a:path w="4401185" h="4951095">
                <a:moveTo>
                  <a:pt x="0" y="115138"/>
                </a:moveTo>
                <a:lnTo>
                  <a:pt x="0" y="0"/>
                </a:lnTo>
              </a:path>
              <a:path w="4401185" h="4951095">
                <a:moveTo>
                  <a:pt x="4400979" y="115138"/>
                </a:moveTo>
                <a:lnTo>
                  <a:pt x="4400979" y="0"/>
                </a:lnTo>
              </a:path>
              <a:path w="4401185" h="4951095">
                <a:moveTo>
                  <a:pt x="0" y="230276"/>
                </a:moveTo>
                <a:lnTo>
                  <a:pt x="0" y="115138"/>
                </a:lnTo>
              </a:path>
              <a:path w="4401185" h="4951095">
                <a:moveTo>
                  <a:pt x="4400979" y="230276"/>
                </a:moveTo>
                <a:lnTo>
                  <a:pt x="4400979" y="115138"/>
                </a:lnTo>
              </a:path>
              <a:path w="4401185" h="4951095">
                <a:moveTo>
                  <a:pt x="0" y="345414"/>
                </a:moveTo>
                <a:lnTo>
                  <a:pt x="0" y="230276"/>
                </a:lnTo>
              </a:path>
              <a:path w="4401185" h="4951095">
                <a:moveTo>
                  <a:pt x="4400979" y="345414"/>
                </a:moveTo>
                <a:lnTo>
                  <a:pt x="4400979" y="230276"/>
                </a:lnTo>
              </a:path>
              <a:path w="4401185" h="4951095">
                <a:moveTo>
                  <a:pt x="0" y="460552"/>
                </a:moveTo>
                <a:lnTo>
                  <a:pt x="0" y="345414"/>
                </a:lnTo>
              </a:path>
              <a:path w="4401185" h="4951095">
                <a:moveTo>
                  <a:pt x="4400979" y="460552"/>
                </a:moveTo>
                <a:lnTo>
                  <a:pt x="4400979" y="345414"/>
                </a:lnTo>
              </a:path>
              <a:path w="4401185" h="4951095">
                <a:moveTo>
                  <a:pt x="0" y="575691"/>
                </a:moveTo>
                <a:lnTo>
                  <a:pt x="0" y="460552"/>
                </a:lnTo>
              </a:path>
              <a:path w="4401185" h="4951095">
                <a:moveTo>
                  <a:pt x="4400979" y="575691"/>
                </a:moveTo>
                <a:lnTo>
                  <a:pt x="4400979" y="460552"/>
                </a:lnTo>
              </a:path>
              <a:path w="4401185" h="4951095">
                <a:moveTo>
                  <a:pt x="0" y="690829"/>
                </a:moveTo>
                <a:lnTo>
                  <a:pt x="0" y="575691"/>
                </a:lnTo>
              </a:path>
              <a:path w="4401185" h="4951095">
                <a:moveTo>
                  <a:pt x="4400979" y="690829"/>
                </a:moveTo>
                <a:lnTo>
                  <a:pt x="4400979" y="575691"/>
                </a:lnTo>
              </a:path>
              <a:path w="4401185" h="4951095">
                <a:moveTo>
                  <a:pt x="0" y="805967"/>
                </a:moveTo>
                <a:lnTo>
                  <a:pt x="0" y="690829"/>
                </a:lnTo>
              </a:path>
              <a:path w="4401185" h="4951095">
                <a:moveTo>
                  <a:pt x="4400979" y="805967"/>
                </a:moveTo>
                <a:lnTo>
                  <a:pt x="4400979" y="690829"/>
                </a:lnTo>
              </a:path>
              <a:path w="4401185" h="4951095">
                <a:moveTo>
                  <a:pt x="0" y="921105"/>
                </a:moveTo>
                <a:lnTo>
                  <a:pt x="0" y="805967"/>
                </a:lnTo>
              </a:path>
              <a:path w="4401185" h="4951095">
                <a:moveTo>
                  <a:pt x="4400979" y="921105"/>
                </a:moveTo>
                <a:lnTo>
                  <a:pt x="4400979" y="805967"/>
                </a:lnTo>
              </a:path>
              <a:path w="4401185" h="4951095">
                <a:moveTo>
                  <a:pt x="0" y="1036243"/>
                </a:moveTo>
                <a:lnTo>
                  <a:pt x="0" y="921105"/>
                </a:lnTo>
              </a:path>
              <a:path w="4401185" h="4951095">
                <a:moveTo>
                  <a:pt x="4400979" y="1036243"/>
                </a:moveTo>
                <a:lnTo>
                  <a:pt x="4400979" y="921105"/>
                </a:lnTo>
              </a:path>
              <a:path w="4401185" h="4951095">
                <a:moveTo>
                  <a:pt x="0" y="1151382"/>
                </a:moveTo>
                <a:lnTo>
                  <a:pt x="0" y="1036243"/>
                </a:lnTo>
              </a:path>
              <a:path w="4401185" h="4951095">
                <a:moveTo>
                  <a:pt x="4400979" y="1151382"/>
                </a:moveTo>
                <a:lnTo>
                  <a:pt x="4400979" y="1036243"/>
                </a:lnTo>
              </a:path>
              <a:path w="4401185" h="4951095">
                <a:moveTo>
                  <a:pt x="0" y="1266520"/>
                </a:moveTo>
                <a:lnTo>
                  <a:pt x="0" y="1151382"/>
                </a:lnTo>
              </a:path>
              <a:path w="4401185" h="4951095">
                <a:moveTo>
                  <a:pt x="4400979" y="1266520"/>
                </a:moveTo>
                <a:lnTo>
                  <a:pt x="4400979" y="1151382"/>
                </a:lnTo>
              </a:path>
              <a:path w="4401185" h="4951095">
                <a:moveTo>
                  <a:pt x="0" y="1381658"/>
                </a:moveTo>
                <a:lnTo>
                  <a:pt x="0" y="1266520"/>
                </a:lnTo>
              </a:path>
              <a:path w="4401185" h="4951095">
                <a:moveTo>
                  <a:pt x="4400979" y="1381658"/>
                </a:moveTo>
                <a:lnTo>
                  <a:pt x="4400979" y="1266520"/>
                </a:lnTo>
              </a:path>
              <a:path w="4401185" h="4951095">
                <a:moveTo>
                  <a:pt x="0" y="1496796"/>
                </a:moveTo>
                <a:lnTo>
                  <a:pt x="0" y="1381658"/>
                </a:lnTo>
              </a:path>
              <a:path w="4401185" h="4951095">
                <a:moveTo>
                  <a:pt x="4400979" y="1496796"/>
                </a:moveTo>
                <a:lnTo>
                  <a:pt x="4400979" y="1381658"/>
                </a:lnTo>
              </a:path>
              <a:path w="4401185" h="4951095">
                <a:moveTo>
                  <a:pt x="0" y="1611934"/>
                </a:moveTo>
                <a:lnTo>
                  <a:pt x="0" y="1496796"/>
                </a:lnTo>
              </a:path>
              <a:path w="4401185" h="4951095">
                <a:moveTo>
                  <a:pt x="4400979" y="1611934"/>
                </a:moveTo>
                <a:lnTo>
                  <a:pt x="4400979" y="1496796"/>
                </a:lnTo>
              </a:path>
              <a:path w="4401185" h="4951095">
                <a:moveTo>
                  <a:pt x="0" y="1727073"/>
                </a:moveTo>
                <a:lnTo>
                  <a:pt x="0" y="1611934"/>
                </a:lnTo>
              </a:path>
              <a:path w="4401185" h="4951095">
                <a:moveTo>
                  <a:pt x="4400979" y="1727073"/>
                </a:moveTo>
                <a:lnTo>
                  <a:pt x="4400979" y="1611934"/>
                </a:lnTo>
              </a:path>
              <a:path w="4401185" h="4951095">
                <a:moveTo>
                  <a:pt x="0" y="1842211"/>
                </a:moveTo>
                <a:lnTo>
                  <a:pt x="0" y="1727073"/>
                </a:lnTo>
              </a:path>
              <a:path w="4401185" h="4951095">
                <a:moveTo>
                  <a:pt x="4400979" y="1842211"/>
                </a:moveTo>
                <a:lnTo>
                  <a:pt x="4400979" y="1727073"/>
                </a:lnTo>
              </a:path>
              <a:path w="4401185" h="4951095">
                <a:moveTo>
                  <a:pt x="0" y="1957349"/>
                </a:moveTo>
                <a:lnTo>
                  <a:pt x="0" y="1842211"/>
                </a:lnTo>
              </a:path>
              <a:path w="4401185" h="4951095">
                <a:moveTo>
                  <a:pt x="4400979" y="1957349"/>
                </a:moveTo>
                <a:lnTo>
                  <a:pt x="4400979" y="1842211"/>
                </a:lnTo>
              </a:path>
              <a:path w="4401185" h="4951095">
                <a:moveTo>
                  <a:pt x="0" y="2072487"/>
                </a:moveTo>
                <a:lnTo>
                  <a:pt x="0" y="1957349"/>
                </a:lnTo>
              </a:path>
              <a:path w="4401185" h="4951095">
                <a:moveTo>
                  <a:pt x="4400979" y="2072487"/>
                </a:moveTo>
                <a:lnTo>
                  <a:pt x="4400979" y="1957349"/>
                </a:lnTo>
              </a:path>
              <a:path w="4401185" h="4951095">
                <a:moveTo>
                  <a:pt x="0" y="2187625"/>
                </a:moveTo>
                <a:lnTo>
                  <a:pt x="0" y="2072487"/>
                </a:lnTo>
              </a:path>
              <a:path w="4401185" h="4951095">
                <a:moveTo>
                  <a:pt x="4400979" y="2187625"/>
                </a:moveTo>
                <a:lnTo>
                  <a:pt x="4400979" y="2072487"/>
                </a:lnTo>
              </a:path>
              <a:path w="4401185" h="4951095">
                <a:moveTo>
                  <a:pt x="0" y="2302764"/>
                </a:moveTo>
                <a:lnTo>
                  <a:pt x="0" y="2187625"/>
                </a:lnTo>
              </a:path>
              <a:path w="4401185" h="4951095">
                <a:moveTo>
                  <a:pt x="4400979" y="2302764"/>
                </a:moveTo>
                <a:lnTo>
                  <a:pt x="4400979" y="2187625"/>
                </a:lnTo>
              </a:path>
              <a:path w="4401185" h="4951095">
                <a:moveTo>
                  <a:pt x="0" y="2417902"/>
                </a:moveTo>
                <a:lnTo>
                  <a:pt x="0" y="2302764"/>
                </a:lnTo>
              </a:path>
              <a:path w="4401185" h="4951095">
                <a:moveTo>
                  <a:pt x="4400979" y="2417902"/>
                </a:moveTo>
                <a:lnTo>
                  <a:pt x="4400979" y="2302764"/>
                </a:lnTo>
              </a:path>
              <a:path w="4401185" h="4951095">
                <a:moveTo>
                  <a:pt x="0" y="2533040"/>
                </a:moveTo>
                <a:lnTo>
                  <a:pt x="0" y="2417902"/>
                </a:lnTo>
              </a:path>
              <a:path w="4401185" h="4951095">
                <a:moveTo>
                  <a:pt x="4400979" y="2533040"/>
                </a:moveTo>
                <a:lnTo>
                  <a:pt x="4400979" y="2417902"/>
                </a:lnTo>
              </a:path>
              <a:path w="4401185" h="4951095">
                <a:moveTo>
                  <a:pt x="0" y="2648178"/>
                </a:moveTo>
                <a:lnTo>
                  <a:pt x="0" y="2533040"/>
                </a:lnTo>
              </a:path>
              <a:path w="4401185" h="4951095">
                <a:moveTo>
                  <a:pt x="4400979" y="2648178"/>
                </a:moveTo>
                <a:lnTo>
                  <a:pt x="4400979" y="2533040"/>
                </a:lnTo>
              </a:path>
              <a:path w="4401185" h="4951095">
                <a:moveTo>
                  <a:pt x="0" y="2763316"/>
                </a:moveTo>
                <a:lnTo>
                  <a:pt x="0" y="2648178"/>
                </a:lnTo>
              </a:path>
              <a:path w="4401185" h="4951095">
                <a:moveTo>
                  <a:pt x="4400979" y="2763316"/>
                </a:moveTo>
                <a:lnTo>
                  <a:pt x="4400979" y="2648178"/>
                </a:lnTo>
              </a:path>
              <a:path w="4401185" h="4951095">
                <a:moveTo>
                  <a:pt x="0" y="2878455"/>
                </a:moveTo>
                <a:lnTo>
                  <a:pt x="0" y="2763316"/>
                </a:lnTo>
              </a:path>
              <a:path w="4401185" h="4951095">
                <a:moveTo>
                  <a:pt x="4400979" y="2878455"/>
                </a:moveTo>
                <a:lnTo>
                  <a:pt x="4400979" y="2763316"/>
                </a:lnTo>
              </a:path>
              <a:path w="4401185" h="4951095">
                <a:moveTo>
                  <a:pt x="0" y="2993593"/>
                </a:moveTo>
                <a:lnTo>
                  <a:pt x="0" y="2878455"/>
                </a:lnTo>
              </a:path>
              <a:path w="4401185" h="4951095">
                <a:moveTo>
                  <a:pt x="4400979" y="2993593"/>
                </a:moveTo>
                <a:lnTo>
                  <a:pt x="4400979" y="2878455"/>
                </a:lnTo>
              </a:path>
              <a:path w="4401185" h="4951095">
                <a:moveTo>
                  <a:pt x="0" y="3108731"/>
                </a:moveTo>
                <a:lnTo>
                  <a:pt x="0" y="2993593"/>
                </a:lnTo>
              </a:path>
              <a:path w="4401185" h="4951095">
                <a:moveTo>
                  <a:pt x="4400979" y="3108731"/>
                </a:moveTo>
                <a:lnTo>
                  <a:pt x="4400979" y="2993593"/>
                </a:lnTo>
              </a:path>
              <a:path w="4401185" h="4951095">
                <a:moveTo>
                  <a:pt x="0" y="3223869"/>
                </a:moveTo>
                <a:lnTo>
                  <a:pt x="0" y="3108731"/>
                </a:lnTo>
              </a:path>
              <a:path w="4401185" h="4951095">
                <a:moveTo>
                  <a:pt x="4400979" y="3223869"/>
                </a:moveTo>
                <a:lnTo>
                  <a:pt x="4400979" y="3108731"/>
                </a:lnTo>
              </a:path>
              <a:path w="4401185" h="4951095">
                <a:moveTo>
                  <a:pt x="0" y="3339007"/>
                </a:moveTo>
                <a:lnTo>
                  <a:pt x="0" y="3223869"/>
                </a:lnTo>
              </a:path>
              <a:path w="4401185" h="4951095">
                <a:moveTo>
                  <a:pt x="4400979" y="3339007"/>
                </a:moveTo>
                <a:lnTo>
                  <a:pt x="4400979" y="3223869"/>
                </a:lnTo>
              </a:path>
              <a:path w="4401185" h="4951095">
                <a:moveTo>
                  <a:pt x="0" y="3454146"/>
                </a:moveTo>
                <a:lnTo>
                  <a:pt x="0" y="3339007"/>
                </a:lnTo>
              </a:path>
              <a:path w="4401185" h="4951095">
                <a:moveTo>
                  <a:pt x="4400979" y="3454146"/>
                </a:moveTo>
                <a:lnTo>
                  <a:pt x="4400979" y="3339007"/>
                </a:lnTo>
              </a:path>
              <a:path w="4401185" h="4951095">
                <a:moveTo>
                  <a:pt x="0" y="3569284"/>
                </a:moveTo>
                <a:lnTo>
                  <a:pt x="0" y="3454146"/>
                </a:lnTo>
              </a:path>
              <a:path w="4401185" h="4951095">
                <a:moveTo>
                  <a:pt x="4400979" y="3569284"/>
                </a:moveTo>
                <a:lnTo>
                  <a:pt x="4400979" y="3454146"/>
                </a:lnTo>
              </a:path>
              <a:path w="4401185" h="4951095">
                <a:moveTo>
                  <a:pt x="0" y="3684422"/>
                </a:moveTo>
                <a:lnTo>
                  <a:pt x="0" y="3569284"/>
                </a:lnTo>
              </a:path>
              <a:path w="4401185" h="4951095">
                <a:moveTo>
                  <a:pt x="4400979" y="3684422"/>
                </a:moveTo>
                <a:lnTo>
                  <a:pt x="4400979" y="3569284"/>
                </a:lnTo>
              </a:path>
              <a:path w="4401185" h="4951095">
                <a:moveTo>
                  <a:pt x="0" y="3799560"/>
                </a:moveTo>
                <a:lnTo>
                  <a:pt x="0" y="3684422"/>
                </a:lnTo>
              </a:path>
              <a:path w="4401185" h="4951095">
                <a:moveTo>
                  <a:pt x="4400979" y="3799560"/>
                </a:moveTo>
                <a:lnTo>
                  <a:pt x="4400979" y="3684422"/>
                </a:lnTo>
              </a:path>
              <a:path w="4401185" h="4951095">
                <a:moveTo>
                  <a:pt x="0" y="3914698"/>
                </a:moveTo>
                <a:lnTo>
                  <a:pt x="0" y="3799560"/>
                </a:lnTo>
              </a:path>
              <a:path w="4401185" h="4951095">
                <a:moveTo>
                  <a:pt x="4400979" y="3914698"/>
                </a:moveTo>
                <a:lnTo>
                  <a:pt x="4400979" y="3799560"/>
                </a:lnTo>
              </a:path>
              <a:path w="4401185" h="4951095">
                <a:moveTo>
                  <a:pt x="0" y="4029837"/>
                </a:moveTo>
                <a:lnTo>
                  <a:pt x="0" y="3914698"/>
                </a:lnTo>
              </a:path>
              <a:path w="4401185" h="4951095">
                <a:moveTo>
                  <a:pt x="4400979" y="4029837"/>
                </a:moveTo>
                <a:lnTo>
                  <a:pt x="4400979" y="3914698"/>
                </a:lnTo>
              </a:path>
              <a:path w="4401185" h="4951095">
                <a:moveTo>
                  <a:pt x="0" y="4144975"/>
                </a:moveTo>
                <a:lnTo>
                  <a:pt x="0" y="4029837"/>
                </a:lnTo>
              </a:path>
              <a:path w="4401185" h="4951095">
                <a:moveTo>
                  <a:pt x="4400979" y="4144975"/>
                </a:moveTo>
                <a:lnTo>
                  <a:pt x="4400979" y="4029837"/>
                </a:lnTo>
              </a:path>
              <a:path w="4401185" h="4951095">
                <a:moveTo>
                  <a:pt x="0" y="4260113"/>
                </a:moveTo>
                <a:lnTo>
                  <a:pt x="0" y="4144975"/>
                </a:lnTo>
              </a:path>
              <a:path w="4401185" h="4951095">
                <a:moveTo>
                  <a:pt x="4400979" y="4260113"/>
                </a:moveTo>
                <a:lnTo>
                  <a:pt x="4400979" y="4144975"/>
                </a:lnTo>
              </a:path>
              <a:path w="4401185" h="4951095">
                <a:moveTo>
                  <a:pt x="0" y="4375251"/>
                </a:moveTo>
                <a:lnTo>
                  <a:pt x="0" y="4260113"/>
                </a:lnTo>
              </a:path>
              <a:path w="4401185" h="4951095">
                <a:moveTo>
                  <a:pt x="4400979" y="4375251"/>
                </a:moveTo>
                <a:lnTo>
                  <a:pt x="4400979" y="4260113"/>
                </a:lnTo>
              </a:path>
              <a:path w="4401185" h="4951095">
                <a:moveTo>
                  <a:pt x="0" y="4490389"/>
                </a:moveTo>
                <a:lnTo>
                  <a:pt x="0" y="4375251"/>
                </a:lnTo>
              </a:path>
              <a:path w="4401185" h="4951095">
                <a:moveTo>
                  <a:pt x="4400979" y="4490389"/>
                </a:moveTo>
                <a:lnTo>
                  <a:pt x="4400979" y="4375251"/>
                </a:lnTo>
              </a:path>
              <a:path w="4401185" h="4951095">
                <a:moveTo>
                  <a:pt x="0" y="4605528"/>
                </a:moveTo>
                <a:lnTo>
                  <a:pt x="0" y="4490389"/>
                </a:lnTo>
              </a:path>
              <a:path w="4401185" h="4951095">
                <a:moveTo>
                  <a:pt x="4400979" y="4605528"/>
                </a:moveTo>
                <a:lnTo>
                  <a:pt x="4400979" y="4490389"/>
                </a:lnTo>
              </a:path>
              <a:path w="4401185" h="4951095">
                <a:moveTo>
                  <a:pt x="0" y="4720666"/>
                </a:moveTo>
                <a:lnTo>
                  <a:pt x="0" y="4605528"/>
                </a:lnTo>
              </a:path>
              <a:path w="4401185" h="4951095">
                <a:moveTo>
                  <a:pt x="4400979" y="4720666"/>
                </a:moveTo>
                <a:lnTo>
                  <a:pt x="4400979" y="4605528"/>
                </a:lnTo>
              </a:path>
              <a:path w="4401185" h="4951095">
                <a:moveTo>
                  <a:pt x="0" y="4835804"/>
                </a:moveTo>
                <a:lnTo>
                  <a:pt x="0" y="4720666"/>
                </a:lnTo>
              </a:path>
              <a:path w="4401185" h="4951095">
                <a:moveTo>
                  <a:pt x="4400979" y="4835804"/>
                </a:moveTo>
                <a:lnTo>
                  <a:pt x="4400979" y="4720666"/>
                </a:lnTo>
              </a:path>
              <a:path w="4401185" h="4951095">
                <a:moveTo>
                  <a:pt x="0" y="4950942"/>
                </a:moveTo>
                <a:lnTo>
                  <a:pt x="0" y="4835804"/>
                </a:lnTo>
              </a:path>
              <a:path w="4401185" h="4951095">
                <a:moveTo>
                  <a:pt x="4400979" y="4950942"/>
                </a:moveTo>
                <a:lnTo>
                  <a:pt x="4400979" y="4835804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404747" y="1400748"/>
            <a:ext cx="99060" cy="0"/>
          </a:xfrm>
          <a:custGeom>
            <a:avLst/>
            <a:gdLst/>
            <a:ahLst/>
            <a:cxnLst/>
            <a:rect l="l" t="t" r="r" b="b"/>
            <a:pathLst>
              <a:path w="99059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719161" y="1400748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929" y="0"/>
                </a:lnTo>
              </a:path>
            </a:pathLst>
          </a:custGeom>
          <a:ln w="54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042037" y="1066459"/>
            <a:ext cx="4396105" cy="48526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95"/>
              </a:spcBef>
            </a:pPr>
            <a:r>
              <a:rPr dirty="0" sz="700" spc="125">
                <a:solidFill>
                  <a:srgbClr val="003FFF"/>
                </a:solidFill>
                <a:latin typeface="Calibri"/>
                <a:cs typeface="Calibri"/>
              </a:rPr>
              <a:t>class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SoftmaxLayer(</a:t>
            </a:r>
            <a:r>
              <a:rPr dirty="0" sz="700" spc="100">
                <a:solidFill>
                  <a:srgbClr val="003FFF"/>
                </a:solidFill>
                <a:latin typeface="Calibri"/>
                <a:cs typeface="Calibri"/>
              </a:rPr>
              <a:t>object</a:t>
            </a:r>
            <a:r>
              <a:rPr dirty="0" sz="700" spc="100">
                <a:latin typeface="Calibri"/>
                <a:cs typeface="Calibri"/>
              </a:rPr>
              <a:t>):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48590">
              <a:lnSpc>
                <a:spcPct val="100000"/>
              </a:lnSpc>
              <a:tabLst>
                <a:tab pos="467359" algn="l"/>
              </a:tabLst>
            </a:pPr>
            <a:r>
              <a:rPr dirty="0" sz="700" spc="55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>
                <a:solidFill>
                  <a:srgbClr val="003FFF"/>
                </a:solidFill>
                <a:latin typeface="Calibri"/>
                <a:cs typeface="Calibri"/>
              </a:rPr>
              <a:t>	</a:t>
            </a:r>
            <a:r>
              <a:rPr dirty="0" sz="700" spc="165">
                <a:latin typeface="Calibri"/>
                <a:cs typeface="Calibri"/>
              </a:rPr>
              <a:t>init</a:t>
            </a:r>
            <a:r>
              <a:rPr dirty="0" sz="700" spc="310">
                <a:latin typeface="Calibri"/>
                <a:cs typeface="Calibri"/>
              </a:rPr>
              <a:t>  </a:t>
            </a:r>
            <a:r>
              <a:rPr dirty="0" sz="700" spc="170">
                <a:latin typeface="Calibri"/>
                <a:cs typeface="Calibri"/>
              </a:rPr>
              <a:t>(self,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n_in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n_out,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p_dropout=0.0):</a:t>
            </a:r>
            <a:endParaRPr sz="700">
              <a:latin typeface="Calibri"/>
              <a:cs typeface="Calibri"/>
            </a:endParaRPr>
          </a:p>
          <a:p>
            <a:pPr marL="255270" marR="2761615">
              <a:lnSpc>
                <a:spcPct val="107900"/>
              </a:lnSpc>
            </a:pPr>
            <a:r>
              <a:rPr dirty="0" sz="700" spc="135">
                <a:latin typeface="Calibri"/>
                <a:cs typeface="Calibri"/>
              </a:rPr>
              <a:t>self.n_in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n_in</a:t>
            </a:r>
            <a:r>
              <a:rPr dirty="0" sz="700" spc="50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self.n_out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0">
                <a:latin typeface="Calibri"/>
                <a:cs typeface="Calibri"/>
              </a:rPr>
              <a:t> </a:t>
            </a:r>
            <a:r>
              <a:rPr dirty="0" sz="700" spc="35">
                <a:latin typeface="Calibri"/>
                <a:cs typeface="Calibri"/>
              </a:rPr>
              <a:t>n_out</a:t>
            </a:r>
            <a:r>
              <a:rPr dirty="0" sz="700" spc="500">
                <a:latin typeface="Calibri"/>
                <a:cs typeface="Calibri"/>
              </a:rPr>
              <a:t>  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p_dropout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p_dropout</a:t>
            </a:r>
            <a:endParaRPr sz="700">
              <a:latin typeface="Calibri"/>
              <a:cs typeface="Calibri"/>
            </a:endParaRPr>
          </a:p>
          <a:p>
            <a:pPr marL="253365">
              <a:lnSpc>
                <a:spcPct val="100000"/>
              </a:lnSpc>
              <a:spcBef>
                <a:spcPts val="6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</a:t>
            </a:r>
            <a:r>
              <a:rPr dirty="0" sz="700" spc="370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165" i="1">
                <a:solidFill>
                  <a:srgbClr val="980000"/>
                </a:solidFill>
                <a:latin typeface="Calibri"/>
                <a:cs typeface="Calibri"/>
              </a:rPr>
              <a:t>Initialize</a:t>
            </a:r>
            <a:r>
              <a:rPr dirty="0" sz="700" spc="39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80" i="1">
                <a:solidFill>
                  <a:srgbClr val="980000"/>
                </a:solidFill>
                <a:latin typeface="Calibri"/>
                <a:cs typeface="Calibri"/>
              </a:rPr>
              <a:t>weights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and</a:t>
            </a:r>
            <a:r>
              <a:rPr dirty="0" sz="700" spc="385" i="1">
                <a:solidFill>
                  <a:srgbClr val="980000"/>
                </a:solidFill>
                <a:latin typeface="Calibri"/>
                <a:cs typeface="Calibri"/>
              </a:rPr>
              <a:t> </a:t>
            </a:r>
            <a:r>
              <a:rPr dirty="0" sz="700" spc="90" i="1">
                <a:solidFill>
                  <a:srgbClr val="980000"/>
                </a:solidFill>
                <a:latin typeface="Calibri"/>
                <a:cs typeface="Calibri"/>
              </a:rPr>
              <a:t>biases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70"/>
              </a:spcBef>
            </a:pPr>
            <a:r>
              <a:rPr dirty="0" sz="700" spc="125">
                <a:latin typeface="Calibri"/>
                <a:cs typeface="Calibri"/>
              </a:rPr>
              <a:t>self.w</a:t>
            </a:r>
            <a:r>
              <a:rPr dirty="0" sz="700" spc="3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theano.shared(</a:t>
            </a:r>
            <a:endParaRPr sz="700">
              <a:latin typeface="Calibri"/>
              <a:cs typeface="Calibri"/>
            </a:endParaRPr>
          </a:p>
          <a:p>
            <a:pPr marL="361950" marR="1270000" indent="-1270">
              <a:lnSpc>
                <a:spcPct val="107900"/>
              </a:lnSpc>
            </a:pPr>
            <a:r>
              <a:rPr dirty="0" sz="700" spc="110">
                <a:latin typeface="Calibri"/>
                <a:cs typeface="Calibri"/>
              </a:rPr>
              <a:t>np.zeros((n_in</a:t>
            </a:r>
            <a:r>
              <a:rPr dirty="0" sz="700" spc="-6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n_out),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dtype=theano.config.floatX), </a:t>
            </a:r>
            <a:r>
              <a:rPr dirty="0" sz="700" spc="75">
                <a:latin typeface="Calibri"/>
                <a:cs typeface="Calibri"/>
              </a:rPr>
              <a:t>name=</a:t>
            </a:r>
            <a:r>
              <a:rPr dirty="0" sz="700" spc="75">
                <a:solidFill>
                  <a:srgbClr val="007F00"/>
                </a:solidFill>
                <a:latin typeface="Calibri"/>
                <a:cs typeface="Calibri"/>
              </a:rPr>
              <a:t>’w’</a:t>
            </a:r>
            <a:r>
              <a:rPr dirty="0" sz="700" spc="75">
                <a:latin typeface="Calibri"/>
                <a:cs typeface="Calibri"/>
              </a:rPr>
              <a:t>,</a:t>
            </a:r>
            <a:r>
              <a:rPr dirty="0" sz="700" spc="345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borrow=True)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65"/>
              </a:spcBef>
            </a:pPr>
            <a:r>
              <a:rPr dirty="0" sz="700" spc="145">
                <a:latin typeface="Calibri"/>
                <a:cs typeface="Calibri"/>
              </a:rPr>
              <a:t>self.b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theano.shared(</a:t>
            </a:r>
            <a:endParaRPr sz="700">
              <a:latin typeface="Calibri"/>
              <a:cs typeface="Calibri"/>
            </a:endParaRPr>
          </a:p>
          <a:p>
            <a:pPr marL="361950" marR="1536065" indent="-1270">
              <a:lnSpc>
                <a:spcPct val="107900"/>
              </a:lnSpc>
            </a:pPr>
            <a:r>
              <a:rPr dirty="0" sz="700" spc="120">
                <a:latin typeface="Calibri"/>
                <a:cs typeface="Calibri"/>
              </a:rPr>
              <a:t>np.zeros((</a:t>
            </a:r>
            <a:r>
              <a:rPr dirty="0" sz="700" spc="-90">
                <a:latin typeface="Calibri"/>
                <a:cs typeface="Calibri"/>
              </a:rPr>
              <a:t> </a:t>
            </a:r>
            <a:r>
              <a:rPr dirty="0" sz="700" spc="55">
                <a:latin typeface="Calibri"/>
                <a:cs typeface="Calibri"/>
              </a:rPr>
              <a:t>n_out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204">
                <a:latin typeface="Calibri"/>
                <a:cs typeface="Calibri"/>
              </a:rPr>
              <a:t>,),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dtype=theano.config.floatX), </a:t>
            </a:r>
            <a:r>
              <a:rPr dirty="0" sz="700" spc="90">
                <a:latin typeface="Calibri"/>
                <a:cs typeface="Calibri"/>
              </a:rPr>
              <a:t>name=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’b’</a:t>
            </a:r>
            <a:r>
              <a:rPr dirty="0" sz="700" spc="90">
                <a:latin typeface="Calibri"/>
                <a:cs typeface="Calibri"/>
              </a:rPr>
              <a:t>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65">
                <a:latin typeface="Calibri"/>
                <a:cs typeface="Calibri"/>
              </a:rPr>
              <a:t>borrow=True)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65"/>
              </a:spcBef>
            </a:pPr>
            <a:r>
              <a:rPr dirty="0" sz="700" spc="105">
                <a:latin typeface="Calibri"/>
                <a:cs typeface="Calibri"/>
              </a:rPr>
              <a:t>self.params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[self.w,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self.b]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"/>
              <a:cs typeface="Calibri"/>
            </a:endParaRPr>
          </a:p>
          <a:p>
            <a:pPr marL="255270" marR="1271270" indent="-106680">
              <a:lnSpc>
                <a:spcPct val="1079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set_inpt(self,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inpt,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inpt_dropout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mini_batch_size): </a:t>
            </a:r>
            <a:r>
              <a:rPr dirty="0" sz="700" spc="150">
                <a:latin typeface="Calibri"/>
                <a:cs typeface="Calibri"/>
              </a:rPr>
              <a:t>self.inpt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inpt.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reshape((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3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140">
                <a:latin typeface="Calibri"/>
                <a:cs typeface="Calibri"/>
              </a:rPr>
              <a:t>self.n_in))</a:t>
            </a:r>
            <a:endParaRPr sz="700">
              <a:latin typeface="Calibri"/>
              <a:cs typeface="Calibri"/>
            </a:endParaRPr>
          </a:p>
          <a:p>
            <a:pPr marL="255270" marR="154940">
              <a:lnSpc>
                <a:spcPct val="107900"/>
              </a:lnSpc>
            </a:pPr>
            <a:r>
              <a:rPr dirty="0" sz="700" spc="120">
                <a:latin typeface="Calibri"/>
                <a:cs typeface="Calibri"/>
              </a:rPr>
              <a:t>self.output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9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softmax((1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-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p_dropout)*T.dot(self.inpt,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self.w)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+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self.b) </a:t>
            </a:r>
            <a:r>
              <a:rPr dirty="0" sz="700" spc="120">
                <a:latin typeface="Calibri"/>
                <a:cs typeface="Calibri"/>
              </a:rPr>
              <a:t>self.y_out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T.argmax(self.output</a:t>
            </a:r>
            <a:r>
              <a:rPr dirty="0" sz="700" spc="-4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6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axis=1)</a:t>
            </a:r>
            <a:endParaRPr sz="700">
              <a:latin typeface="Calibri"/>
              <a:cs typeface="Calibri"/>
            </a:endParaRPr>
          </a:p>
          <a:p>
            <a:pPr marL="362585" marR="474345" indent="-107314">
              <a:lnSpc>
                <a:spcPct val="107900"/>
              </a:lnSpc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inpt_dropout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dropout_layer(</a:t>
            </a:r>
            <a:r>
              <a:rPr dirty="0" sz="700" spc="500">
                <a:latin typeface="Calibri"/>
                <a:cs typeface="Calibri"/>
              </a:rPr>
              <a:t>               </a:t>
            </a:r>
            <a:r>
              <a:rPr dirty="0" sz="700" spc="100">
                <a:latin typeface="Calibri"/>
                <a:cs typeface="Calibri"/>
              </a:rPr>
              <a:t>inpt_dropout.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reshape((</a:t>
            </a:r>
            <a:r>
              <a:rPr dirty="0" sz="700" spc="-70">
                <a:latin typeface="Calibri"/>
                <a:cs typeface="Calibri"/>
              </a:rPr>
              <a:t> </a:t>
            </a:r>
            <a:r>
              <a:rPr dirty="0" sz="700" spc="95">
                <a:latin typeface="Calibri"/>
                <a:cs typeface="Calibri"/>
              </a:rPr>
              <a:t>mini_batch_size</a:t>
            </a:r>
            <a:r>
              <a:rPr dirty="0" sz="700" spc="-2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409">
                <a:latin typeface="Calibri"/>
                <a:cs typeface="Calibri"/>
              </a:rPr>
              <a:t> </a:t>
            </a:r>
            <a:r>
              <a:rPr dirty="0" sz="700" spc="155">
                <a:latin typeface="Calibri"/>
                <a:cs typeface="Calibri"/>
              </a:rPr>
              <a:t>self.n_in)),</a:t>
            </a:r>
            <a:r>
              <a:rPr dirty="0" sz="700" spc="395">
                <a:latin typeface="Calibri"/>
                <a:cs typeface="Calibri"/>
              </a:rPr>
              <a:t> </a:t>
            </a: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70">
                <a:latin typeface="Calibri"/>
                <a:cs typeface="Calibri"/>
              </a:rPr>
              <a:t>p_dropout)</a:t>
            </a:r>
            <a:endParaRPr sz="7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65"/>
              </a:spcBef>
            </a:pPr>
            <a:r>
              <a:rPr dirty="0" sz="700" spc="165">
                <a:latin typeface="Calibri"/>
                <a:cs typeface="Calibri"/>
              </a:rPr>
              <a:t>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output_dropout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softmax(T.dot(self.inpt_dropout</a:t>
            </a:r>
            <a:r>
              <a:rPr dirty="0" sz="700" spc="-35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self.w)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+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 spc="145">
                <a:latin typeface="Calibri"/>
                <a:cs typeface="Calibri"/>
              </a:rPr>
              <a:t>self.b)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700">
              <a:latin typeface="Calibri"/>
              <a:cs typeface="Calibri"/>
            </a:endParaRPr>
          </a:p>
          <a:p>
            <a:pPr marL="148590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4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50">
                <a:latin typeface="Calibri"/>
                <a:cs typeface="Calibri"/>
              </a:rPr>
              <a:t>cost(self,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net):</a:t>
            </a:r>
            <a:endParaRPr sz="700">
              <a:latin typeface="Calibri"/>
              <a:cs typeface="Calibri"/>
            </a:endParaRPr>
          </a:p>
          <a:p>
            <a:pPr marL="253365">
              <a:lnSpc>
                <a:spcPct val="100000"/>
              </a:lnSpc>
              <a:spcBef>
                <a:spcPts val="65"/>
              </a:spcBef>
            </a:pP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"Return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solidFill>
                  <a:srgbClr val="007F00"/>
                </a:solidFill>
                <a:latin typeface="Calibri"/>
                <a:cs typeface="Calibri"/>
              </a:rPr>
              <a:t>log-</a:t>
            </a:r>
            <a:r>
              <a:rPr dirty="0" sz="700" spc="-8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likelihood</a:t>
            </a:r>
            <a:r>
              <a:rPr dirty="0" sz="700" spc="37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cost."</a:t>
            </a:r>
            <a:endParaRPr sz="700">
              <a:latin typeface="Calibri"/>
              <a:cs typeface="Calibri"/>
            </a:endParaRPr>
          </a:p>
          <a:p>
            <a:pPr marL="255904">
              <a:lnSpc>
                <a:spcPct val="100000"/>
              </a:lnSpc>
              <a:spcBef>
                <a:spcPts val="70"/>
              </a:spcBef>
            </a:pP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40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-</a:t>
            </a:r>
            <a:r>
              <a:rPr dirty="0" sz="700" spc="125">
                <a:latin typeface="Calibri"/>
                <a:cs typeface="Calibri"/>
              </a:rPr>
              <a:t>T.mean(T.log(self.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output_dropout)[T.arange(net.y.shape[0]),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net.y])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148590">
              <a:lnSpc>
                <a:spcPct val="100000"/>
              </a:lnSpc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7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accuracy(self,</a:t>
            </a:r>
            <a:r>
              <a:rPr dirty="0" sz="700" spc="335">
                <a:latin typeface="Calibri"/>
                <a:cs typeface="Calibri"/>
              </a:rPr>
              <a:t> </a:t>
            </a:r>
            <a:r>
              <a:rPr dirty="0" sz="700" spc="135">
                <a:latin typeface="Calibri"/>
                <a:cs typeface="Calibri"/>
              </a:rPr>
              <a:t>y):</a:t>
            </a:r>
            <a:endParaRPr sz="700">
              <a:latin typeface="Calibri"/>
              <a:cs typeface="Calibri"/>
            </a:endParaRPr>
          </a:p>
          <a:p>
            <a:pPr marL="255904" marR="1962150" indent="-2540">
              <a:lnSpc>
                <a:spcPct val="107900"/>
              </a:lnSpc>
            </a:pP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"Return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007F00"/>
                </a:solidFill>
                <a:latin typeface="Calibri"/>
                <a:cs typeface="Calibri"/>
              </a:rPr>
              <a:t>accuracy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solidFill>
                  <a:srgbClr val="007F00"/>
                </a:solidFill>
                <a:latin typeface="Calibri"/>
                <a:cs typeface="Calibri"/>
              </a:rPr>
              <a:t>for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0">
                <a:solidFill>
                  <a:srgbClr val="007F00"/>
                </a:solidFill>
                <a:latin typeface="Calibri"/>
                <a:cs typeface="Calibri"/>
              </a:rPr>
              <a:t>mini-</a:t>
            </a:r>
            <a:r>
              <a:rPr dirty="0" sz="700" spc="100">
                <a:solidFill>
                  <a:srgbClr val="007F00"/>
                </a:solidFill>
                <a:latin typeface="Calibri"/>
                <a:cs typeface="Calibri"/>
              </a:rPr>
              <a:t>batch."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6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T.mean(T.eq(y,</a:t>
            </a:r>
            <a:r>
              <a:rPr dirty="0" sz="700" spc="360"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self.y_out))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700">
              <a:latin typeface="Calibri"/>
              <a:cs typeface="Calibri"/>
            </a:endParaRPr>
          </a:p>
          <a:p>
            <a:pPr marL="41275">
              <a:lnSpc>
                <a:spcPct val="100000"/>
              </a:lnSpc>
              <a:spcBef>
                <a:spcPts val="5"/>
              </a:spcBef>
            </a:pPr>
            <a:r>
              <a:rPr dirty="0" sz="700" i="1">
                <a:solidFill>
                  <a:srgbClr val="980000"/>
                </a:solidFill>
                <a:latin typeface="Calibri"/>
                <a:cs typeface="Calibri"/>
              </a:rPr>
              <a:t>####</a:t>
            </a:r>
            <a:r>
              <a:rPr dirty="0" sz="700" spc="190" i="1">
                <a:solidFill>
                  <a:srgbClr val="980000"/>
                </a:solidFill>
                <a:latin typeface="Calibri"/>
                <a:cs typeface="Calibri"/>
              </a:rPr>
              <a:t>  </a:t>
            </a:r>
            <a:r>
              <a:rPr dirty="0" sz="700" spc="85" i="1">
                <a:solidFill>
                  <a:srgbClr val="980000"/>
                </a:solidFill>
                <a:latin typeface="Calibri"/>
                <a:cs typeface="Calibri"/>
              </a:rPr>
              <a:t>Miscellanea</a:t>
            </a:r>
            <a:endParaRPr sz="70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  <a:spcBef>
                <a:spcPts val="6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50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30">
                <a:latin typeface="Calibri"/>
                <a:cs typeface="Calibri"/>
              </a:rPr>
              <a:t>size(data):</a:t>
            </a:r>
            <a:endParaRPr sz="700">
              <a:latin typeface="Calibri"/>
              <a:cs typeface="Calibri"/>
            </a:endParaRPr>
          </a:p>
          <a:p>
            <a:pPr marL="149860" marR="1804035" indent="-2540">
              <a:lnSpc>
                <a:spcPct val="107900"/>
              </a:lnSpc>
            </a:pP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"Return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solidFill>
                  <a:srgbClr val="007F00"/>
                </a:solidFill>
                <a:latin typeface="Calibri"/>
                <a:cs typeface="Calibri"/>
              </a:rPr>
              <a:t>size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85">
                <a:solidFill>
                  <a:srgbClr val="007F00"/>
                </a:solidFill>
                <a:latin typeface="Calibri"/>
                <a:cs typeface="Calibri"/>
              </a:rPr>
              <a:t>of</a:t>
            </a:r>
            <a:r>
              <a:rPr dirty="0" sz="700" spc="35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70">
                <a:solidFill>
                  <a:srgbClr val="007F00"/>
                </a:solidFill>
                <a:latin typeface="Calibri"/>
                <a:cs typeface="Calibri"/>
              </a:rPr>
              <a:t>the</a:t>
            </a:r>
            <a:r>
              <a:rPr dirty="0" sz="700" spc="365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7F00"/>
                </a:solidFill>
                <a:latin typeface="Calibri"/>
                <a:cs typeface="Calibri"/>
              </a:rPr>
              <a:t>dataset</a:t>
            </a:r>
            <a:r>
              <a:rPr dirty="0" sz="700" spc="36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00">
                <a:solidFill>
                  <a:srgbClr val="007F00"/>
                </a:solidFill>
                <a:latin typeface="Calibri"/>
                <a:cs typeface="Calibri"/>
              </a:rPr>
              <a:t>‘data</a:t>
            </a:r>
            <a:r>
              <a:rPr dirty="0" sz="700" spc="-5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160">
                <a:solidFill>
                  <a:srgbClr val="007F00"/>
                </a:solidFill>
                <a:latin typeface="Calibri"/>
                <a:cs typeface="Calibri"/>
              </a:rPr>
              <a:t>‘."</a:t>
            </a:r>
            <a:r>
              <a:rPr dirty="0" sz="700" spc="500">
                <a:solidFill>
                  <a:srgbClr val="007F00"/>
                </a:solidFill>
                <a:latin typeface="Calibri"/>
                <a:cs typeface="Calibri"/>
              </a:rPr>
              <a:t>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8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25">
                <a:latin typeface="Calibri"/>
                <a:cs typeface="Calibri"/>
              </a:rPr>
              <a:t>data[0].</a:t>
            </a:r>
            <a:r>
              <a:rPr dirty="0" sz="700" spc="-65">
                <a:latin typeface="Calibri"/>
                <a:cs typeface="Calibri"/>
              </a:rPr>
              <a:t> </a:t>
            </a:r>
            <a:r>
              <a:rPr dirty="0" sz="700" spc="90">
                <a:latin typeface="Calibri"/>
                <a:cs typeface="Calibri"/>
              </a:rPr>
              <a:t>get_value(borrow=True).shape[0]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700">
              <a:latin typeface="Calibri"/>
              <a:cs typeface="Calibri"/>
            </a:endParaRPr>
          </a:p>
          <a:p>
            <a:pPr marL="42545">
              <a:lnSpc>
                <a:spcPct val="100000"/>
              </a:lnSpc>
              <a:spcBef>
                <a:spcPts val="5"/>
              </a:spcBef>
            </a:pPr>
            <a:r>
              <a:rPr dirty="0" sz="700" spc="80">
                <a:solidFill>
                  <a:srgbClr val="003FFF"/>
                </a:solidFill>
                <a:latin typeface="Calibri"/>
                <a:cs typeface="Calibri"/>
              </a:rPr>
              <a:t>def</a:t>
            </a:r>
            <a:r>
              <a:rPr dirty="0" sz="700" spc="36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dropout_layer(layer,</a:t>
            </a:r>
            <a:r>
              <a:rPr dirty="0" sz="700" spc="35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p_dropout):</a:t>
            </a:r>
            <a:endParaRPr sz="700">
              <a:latin typeface="Calibri"/>
              <a:cs typeface="Calibri"/>
            </a:endParaRPr>
          </a:p>
          <a:p>
            <a:pPr marL="254635" marR="1962150" indent="-105410">
              <a:lnSpc>
                <a:spcPct val="107900"/>
              </a:lnSpc>
            </a:pPr>
            <a:r>
              <a:rPr dirty="0" sz="700" spc="90">
                <a:latin typeface="Calibri"/>
                <a:cs typeface="Calibri"/>
              </a:rPr>
              <a:t>srng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75">
                <a:latin typeface="Calibri"/>
                <a:cs typeface="Calibri"/>
              </a:rPr>
              <a:t>shared_randomstreams.</a:t>
            </a:r>
            <a:r>
              <a:rPr dirty="0" sz="700" spc="-75">
                <a:latin typeface="Calibri"/>
                <a:cs typeface="Calibri"/>
              </a:rPr>
              <a:t> </a:t>
            </a:r>
            <a:r>
              <a:rPr dirty="0" sz="700" spc="45">
                <a:latin typeface="Calibri"/>
                <a:cs typeface="Calibri"/>
              </a:rPr>
              <a:t>RandomStreams( </a:t>
            </a:r>
            <a:r>
              <a:rPr dirty="0" sz="700" spc="75">
                <a:latin typeface="Calibri"/>
                <a:cs typeface="Calibri"/>
              </a:rPr>
              <a:t>np.random.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85">
                <a:latin typeface="Calibri"/>
                <a:cs typeface="Calibri"/>
              </a:rPr>
              <a:t>RandomState(0).</a:t>
            </a:r>
            <a:r>
              <a:rPr dirty="0" sz="700" spc="-50">
                <a:latin typeface="Calibri"/>
                <a:cs typeface="Calibri"/>
              </a:rPr>
              <a:t> </a:t>
            </a:r>
            <a:r>
              <a:rPr dirty="0" sz="700" spc="100">
                <a:latin typeface="Calibri"/>
                <a:cs typeface="Calibri"/>
              </a:rPr>
              <a:t>randint(999999))</a:t>
            </a:r>
            <a:endParaRPr sz="700">
              <a:latin typeface="Calibri"/>
              <a:cs typeface="Calibri"/>
            </a:endParaRPr>
          </a:p>
          <a:p>
            <a:pPr marL="149860" marR="1164590" indent="-635">
              <a:lnSpc>
                <a:spcPct val="107900"/>
              </a:lnSpc>
            </a:pPr>
            <a:r>
              <a:rPr dirty="0" sz="700">
                <a:latin typeface="Calibri"/>
                <a:cs typeface="Calibri"/>
              </a:rPr>
              <a:t>mask</a:t>
            </a:r>
            <a:r>
              <a:rPr dirty="0" sz="700" spc="37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=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20">
                <a:latin typeface="Calibri"/>
                <a:cs typeface="Calibri"/>
              </a:rPr>
              <a:t>srng.</a:t>
            </a:r>
            <a:r>
              <a:rPr dirty="0" sz="700" spc="-85">
                <a:latin typeface="Calibri"/>
                <a:cs typeface="Calibri"/>
              </a:rPr>
              <a:t> </a:t>
            </a:r>
            <a:r>
              <a:rPr dirty="0" sz="700" spc="105">
                <a:latin typeface="Calibri"/>
                <a:cs typeface="Calibri"/>
              </a:rPr>
              <a:t>binomial(n=1,</a:t>
            </a:r>
            <a:r>
              <a:rPr dirty="0" sz="700" spc="370">
                <a:latin typeface="Calibri"/>
                <a:cs typeface="Calibri"/>
              </a:rPr>
              <a:t> </a:t>
            </a:r>
            <a:r>
              <a:rPr dirty="0" sz="700" spc="80">
                <a:latin typeface="Calibri"/>
                <a:cs typeface="Calibri"/>
              </a:rPr>
              <a:t>p=1-</a:t>
            </a:r>
            <a:r>
              <a:rPr dirty="0" sz="700" spc="-80">
                <a:latin typeface="Calibri"/>
                <a:cs typeface="Calibri"/>
              </a:rPr>
              <a:t> </a:t>
            </a:r>
            <a:r>
              <a:rPr dirty="0" sz="700" spc="60">
                <a:latin typeface="Calibri"/>
                <a:cs typeface="Calibri"/>
              </a:rPr>
              <a:t>p_dropout</a:t>
            </a:r>
            <a:r>
              <a:rPr dirty="0" sz="700" spc="-40">
                <a:latin typeface="Calibri"/>
                <a:cs typeface="Calibri"/>
              </a:rPr>
              <a:t> </a:t>
            </a:r>
            <a:r>
              <a:rPr dirty="0" sz="700" spc="190">
                <a:latin typeface="Calibri"/>
                <a:cs typeface="Calibri"/>
              </a:rPr>
              <a:t>,</a:t>
            </a:r>
            <a:r>
              <a:rPr dirty="0" sz="700" spc="380">
                <a:latin typeface="Calibri"/>
                <a:cs typeface="Calibri"/>
              </a:rPr>
              <a:t> </a:t>
            </a:r>
            <a:r>
              <a:rPr dirty="0" sz="700" spc="110">
                <a:latin typeface="Calibri"/>
                <a:cs typeface="Calibri"/>
              </a:rPr>
              <a:t>size=layer.shape) </a:t>
            </a:r>
            <a:r>
              <a:rPr dirty="0" sz="700" spc="95">
                <a:solidFill>
                  <a:srgbClr val="003FFF"/>
                </a:solidFill>
                <a:latin typeface="Calibri"/>
                <a:cs typeface="Calibri"/>
              </a:rPr>
              <a:t>return</a:t>
            </a:r>
            <a:r>
              <a:rPr dirty="0" sz="700" spc="375">
                <a:solidFill>
                  <a:srgbClr val="003FFF"/>
                </a:solidFill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layer*T.cast(mask,</a:t>
            </a:r>
            <a:r>
              <a:rPr dirty="0" sz="700" spc="355">
                <a:latin typeface="Calibri"/>
                <a:cs typeface="Calibri"/>
              </a:rPr>
              <a:t> </a:t>
            </a:r>
            <a:r>
              <a:rPr dirty="0" sz="700" spc="114">
                <a:latin typeface="Calibri"/>
                <a:cs typeface="Calibri"/>
              </a:rPr>
              <a:t>theano.config.floatX)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36980" y="5922937"/>
            <a:ext cx="4406265" cy="43180"/>
          </a:xfrm>
          <a:custGeom>
            <a:avLst/>
            <a:gdLst/>
            <a:ahLst/>
            <a:cxnLst/>
            <a:rect l="l" t="t" r="r" b="b"/>
            <a:pathLst>
              <a:path w="4406265" h="43179">
                <a:moveTo>
                  <a:pt x="2529" y="43014"/>
                </a:moveTo>
                <a:lnTo>
                  <a:pt x="2529" y="0"/>
                </a:lnTo>
              </a:path>
              <a:path w="4406265" h="43179">
                <a:moveTo>
                  <a:pt x="0" y="40487"/>
                </a:moveTo>
                <a:lnTo>
                  <a:pt x="43016" y="40487"/>
                </a:lnTo>
              </a:path>
              <a:path w="4406265" h="43179">
                <a:moveTo>
                  <a:pt x="43016" y="40487"/>
                </a:moveTo>
                <a:lnTo>
                  <a:pt x="4363008" y="40487"/>
                </a:lnTo>
              </a:path>
              <a:path w="4406265" h="43179">
                <a:moveTo>
                  <a:pt x="4363021" y="40487"/>
                </a:moveTo>
                <a:lnTo>
                  <a:pt x="4406036" y="40487"/>
                </a:lnTo>
              </a:path>
              <a:path w="4406265" h="43179">
                <a:moveTo>
                  <a:pt x="4403509" y="43014"/>
                </a:moveTo>
                <a:lnTo>
                  <a:pt x="4403509" y="0"/>
                </a:lnTo>
              </a:path>
            </a:pathLst>
          </a:custGeom>
          <a:ln w="50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1067296" y="6000472"/>
            <a:ext cx="4371975" cy="201676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5"/>
              </a:spcBef>
            </a:pPr>
            <a:r>
              <a:rPr dirty="0" sz="1050" spc="40" b="1">
                <a:latin typeface="Calibri"/>
                <a:cs typeface="Calibri"/>
              </a:rPr>
              <a:t>Problems</a:t>
            </a:r>
            <a:endParaRPr sz="1050">
              <a:latin typeface="Calibri"/>
              <a:cs typeface="Calibri"/>
            </a:endParaRPr>
          </a:p>
          <a:p>
            <a:pPr algn="just" marL="328930" marR="31115" indent="-118745">
              <a:lnSpc>
                <a:spcPct val="112100"/>
              </a:lnSpc>
              <a:spcBef>
                <a:spcPts val="140"/>
              </a:spcBef>
              <a:buFont typeface="Cambria"/>
              <a:buChar char="•"/>
              <a:tabLst>
                <a:tab pos="328930" algn="l"/>
              </a:tabLst>
            </a:pP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present,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80">
                <a:latin typeface="Calibri"/>
                <a:cs typeface="Calibri"/>
              </a:rPr>
              <a:t>SGD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requires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manually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choose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epochs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automated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selecting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epochs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stopping.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Modify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network3.py</a:t>
            </a:r>
            <a:r>
              <a:rPr dirty="0" sz="90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implement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stopping.</a:t>
            </a:r>
            <a:endParaRPr sz="850">
              <a:latin typeface="Calibri"/>
              <a:cs typeface="Calibri"/>
            </a:endParaRPr>
          </a:p>
          <a:p>
            <a:pPr marL="328295" indent="-118110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328295" algn="l"/>
              </a:tabLst>
            </a:pP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Network</a:t>
            </a:r>
            <a:r>
              <a:rPr dirty="0" sz="90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method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return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arbitrary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set.</a:t>
            </a:r>
            <a:endParaRPr sz="850">
              <a:latin typeface="Calibri"/>
              <a:cs typeface="Calibri"/>
            </a:endParaRPr>
          </a:p>
          <a:p>
            <a:pPr algn="just" marL="328930" marR="31115" indent="-118745">
              <a:lnSpc>
                <a:spcPts val="1170"/>
              </a:lnSpc>
              <a:spcBef>
                <a:spcPts val="50"/>
              </a:spcBef>
              <a:buFont typeface="Cambria"/>
              <a:buChar char="•"/>
              <a:tabLst>
                <a:tab pos="328930" algn="l"/>
              </a:tabLst>
            </a:pPr>
            <a:r>
              <a:rPr dirty="0" sz="850" spc="10">
                <a:latin typeface="Calibri"/>
                <a:cs typeface="Calibri"/>
              </a:rPr>
              <a:t>Modify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80">
                <a:latin typeface="Calibri"/>
                <a:cs typeface="Calibri"/>
              </a:rPr>
              <a:t>SGD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method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35" i="1">
                <a:latin typeface="Times New Roman"/>
                <a:cs typeface="Times New Roman"/>
              </a:rPr>
              <a:t>η</a:t>
            </a:r>
            <a:r>
              <a:rPr dirty="0" sz="850" spc="105" i="1">
                <a:latin typeface="Times New Roman"/>
                <a:cs typeface="Times New Roman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epoch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Hint:</a:t>
            </a:r>
            <a:r>
              <a:rPr dirty="0" sz="850" spc="229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After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working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on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this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problem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for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while,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you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may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find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it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useful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to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see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the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discussion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at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  <a:hlinkClick r:id="rId2"/>
              </a:rPr>
              <a:t>this</a:t>
            </a:r>
            <a:r>
              <a:rPr dirty="0" sz="850" spc="100" i="1">
                <a:latin typeface="Calibri"/>
                <a:cs typeface="Calibri"/>
                <a:hlinkClick r:id="rId2"/>
              </a:rPr>
              <a:t> </a:t>
            </a:r>
            <a:r>
              <a:rPr dirty="0" sz="850" spc="-10" i="1">
                <a:latin typeface="Calibri"/>
                <a:cs typeface="Calibri"/>
                <a:hlinkClick r:id="rId2"/>
              </a:rPr>
              <a:t>link</a:t>
            </a:r>
            <a:r>
              <a:rPr dirty="0" sz="850" spc="-10" i="1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328295" indent="-118110">
              <a:lnSpc>
                <a:spcPct val="100000"/>
              </a:lnSpc>
              <a:spcBef>
                <a:spcPts val="75"/>
              </a:spcBef>
              <a:buFont typeface="Cambria"/>
              <a:buChar char="•"/>
              <a:tabLst>
                <a:tab pos="328295" algn="l"/>
              </a:tabLst>
            </a:pP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55">
                <a:latin typeface="Calibri"/>
                <a:cs typeface="Calibri"/>
              </a:rPr>
              <a:t> I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expanding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apply-</a:t>
            </a:r>
            <a:endParaRPr sz="850">
              <a:latin typeface="Calibri"/>
              <a:cs typeface="Calibri"/>
            </a:endParaRPr>
          </a:p>
          <a:p>
            <a:pPr algn="just" marL="328930" marR="31115">
              <a:lnSpc>
                <a:spcPts val="1170"/>
              </a:lnSpc>
              <a:spcBef>
                <a:spcPts val="60"/>
              </a:spcBef>
            </a:pPr>
            <a:r>
              <a:rPr dirty="0" sz="850" spc="30">
                <a:latin typeface="Calibri"/>
                <a:cs typeface="Calibri"/>
              </a:rPr>
              <a:t>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(small)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rotations,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skewing,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translation.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Modify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900" spc="30">
                <a:latin typeface="Calibri"/>
                <a:cs typeface="Calibri"/>
              </a:rPr>
              <a:t>network3.py</a:t>
            </a:r>
            <a:r>
              <a:rPr dirty="0" sz="90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incorporate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techniques.</a:t>
            </a:r>
            <a:r>
              <a:rPr dirty="0" sz="850" spc="434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Note:</a:t>
            </a:r>
            <a:r>
              <a:rPr dirty="0" sz="850" spc="36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Unless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you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have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tremendous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amount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of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memory,</a:t>
            </a:r>
            <a:r>
              <a:rPr dirty="0" sz="850" spc="2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it</a:t>
            </a:r>
            <a:r>
              <a:rPr dirty="0" sz="850" spc="185" i="1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is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not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practical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to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explicitly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generate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the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entire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expanded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data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set.</a:t>
            </a:r>
            <a:r>
              <a:rPr dirty="0" sz="850" spc="18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So</a:t>
            </a:r>
            <a:r>
              <a:rPr dirty="0" sz="850" spc="8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you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should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consider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10" name="object 10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00700" y="368721"/>
            <a:ext cx="4718050" cy="27914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400">
              <a:lnSpc>
                <a:spcPts val="525"/>
              </a:lnSpc>
              <a:spcBef>
                <a:spcPts val="110"/>
              </a:spcBef>
              <a:tabLst>
                <a:tab pos="381635" algn="l"/>
              </a:tabLst>
            </a:pPr>
            <a:r>
              <a:rPr dirty="0" sz="850" spc="25">
                <a:latin typeface="Calibri"/>
                <a:cs typeface="Calibri"/>
              </a:rPr>
              <a:t>196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686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algn="just" marL="635000">
              <a:lnSpc>
                <a:spcPct val="100000"/>
              </a:lnSpc>
            </a:pPr>
            <a:r>
              <a:rPr dirty="0" sz="850" i="1">
                <a:latin typeface="Calibri"/>
                <a:cs typeface="Calibri"/>
              </a:rPr>
              <a:t>alternate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approaches.</a:t>
            </a:r>
            <a:endParaRPr sz="850">
              <a:latin typeface="Calibri"/>
              <a:cs typeface="Calibri"/>
            </a:endParaRPr>
          </a:p>
          <a:p>
            <a:pPr marL="635000" indent="-118110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635000" algn="l"/>
              </a:tabLst>
            </a:pP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ability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load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900" spc="-10">
                <a:latin typeface="Calibri"/>
                <a:cs typeface="Calibri"/>
              </a:rPr>
              <a:t>network3.py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635000" marR="67310" indent="-118745">
              <a:lnSpc>
                <a:spcPts val="1170"/>
              </a:lnSpc>
              <a:spcBef>
                <a:spcPts val="50"/>
              </a:spcBef>
              <a:buFont typeface="Cambria"/>
              <a:buChar char="•"/>
              <a:tabLst>
                <a:tab pos="635000" algn="l"/>
              </a:tabLst>
            </a:pPr>
            <a:r>
              <a:rPr dirty="0" sz="850" spc="7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shortcoming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current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provides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diagnostic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tools.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you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diagnostics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easier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extent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overfitting?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them.</a:t>
            </a:r>
            <a:endParaRPr sz="850">
              <a:latin typeface="Calibri"/>
              <a:cs typeface="Calibri"/>
            </a:endParaRPr>
          </a:p>
          <a:p>
            <a:pPr marL="635000" indent="-118110">
              <a:lnSpc>
                <a:spcPct val="100000"/>
              </a:lnSpc>
              <a:spcBef>
                <a:spcPts val="70"/>
              </a:spcBef>
              <a:buFont typeface="Cambria"/>
              <a:buChar char="•"/>
              <a:tabLst>
                <a:tab pos="635000" algn="l"/>
              </a:tabLst>
            </a:pP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initialization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procedure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rectified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sigmoid</a:t>
            </a:r>
            <a:endParaRPr sz="850">
              <a:latin typeface="Calibri"/>
              <a:cs typeface="Calibri"/>
            </a:endParaRPr>
          </a:p>
          <a:p>
            <a:pPr algn="just" marL="635000" marR="43180" indent="-13970">
              <a:lnSpc>
                <a:spcPct val="114300"/>
              </a:lnSpc>
            </a:pPr>
            <a:r>
              <a:rPr dirty="0" sz="850" spc="45">
                <a:latin typeface="Calibri"/>
                <a:cs typeface="Calibri"/>
              </a:rPr>
              <a:t>(and </a:t>
            </a:r>
            <a:r>
              <a:rPr dirty="0" sz="850" spc="35">
                <a:latin typeface="Calibri"/>
                <a:cs typeface="Calibri"/>
              </a:rPr>
              <a:t>tanh)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Our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argument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initialization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was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specific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sigmoid</a:t>
            </a:r>
            <a:r>
              <a:rPr dirty="0" sz="850" spc="15">
                <a:latin typeface="Calibri"/>
                <a:cs typeface="Calibri"/>
              </a:rPr>
              <a:t> function.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Consider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network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made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entirely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rectified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linear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units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(including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outputs).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45">
                <a:latin typeface="Calibri"/>
                <a:cs typeface="Calibri"/>
              </a:rPr>
              <a:t>Show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rescaling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all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weights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network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by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constant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factor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5" i="1">
                <a:latin typeface="Calibri"/>
                <a:cs typeface="Calibri"/>
              </a:rPr>
              <a:t>c</a:t>
            </a:r>
            <a:r>
              <a:rPr dirty="0" sz="850" spc="50" i="1">
                <a:latin typeface="Calibri"/>
                <a:cs typeface="Calibri"/>
              </a:rPr>
              <a:t> </a:t>
            </a:r>
            <a:r>
              <a:rPr dirty="0" sz="850" spc="95" i="1">
                <a:latin typeface="Times New Roman"/>
                <a:cs typeface="Times New Roman"/>
              </a:rPr>
              <a:t>&gt;</a:t>
            </a:r>
            <a:r>
              <a:rPr dirty="0" sz="850" spc="-10" i="1">
                <a:latin typeface="Times New Roman"/>
                <a:cs typeface="Times New Roman"/>
              </a:rPr>
              <a:t> </a:t>
            </a:r>
            <a:r>
              <a:rPr dirty="0" sz="850" spc="55">
                <a:latin typeface="Calibri"/>
                <a:cs typeface="Calibri"/>
              </a:rPr>
              <a:t>0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simply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rescales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5" i="1">
                <a:latin typeface="Calibri"/>
                <a:cs typeface="Calibri"/>
              </a:rPr>
              <a:t>c</a:t>
            </a:r>
            <a:r>
              <a:rPr dirty="0" sz="850" spc="-110" i="1">
                <a:latin typeface="Calibri"/>
                <a:cs typeface="Calibri"/>
              </a:rPr>
              <a:t> </a:t>
            </a:r>
            <a:r>
              <a:rPr dirty="0" baseline="35353" sz="825" spc="120" i="1">
                <a:latin typeface="Calibri"/>
                <a:cs typeface="Calibri"/>
              </a:rPr>
              <a:t>L</a:t>
            </a:r>
            <a:r>
              <a:rPr dirty="0" baseline="35353" sz="825" spc="120">
                <a:latin typeface="Cambria"/>
                <a:cs typeface="Cambria"/>
              </a:rPr>
              <a:t>−</a:t>
            </a:r>
            <a:r>
              <a:rPr dirty="0" baseline="35353" sz="825" spc="120">
                <a:latin typeface="Calibri"/>
                <a:cs typeface="Calibri"/>
              </a:rPr>
              <a:t>1</a:t>
            </a:r>
            <a:r>
              <a:rPr dirty="0" sz="850" spc="80">
                <a:latin typeface="Calibri"/>
                <a:cs typeface="Calibri"/>
              </a:rPr>
              <a:t>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where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65" i="1">
                <a:latin typeface="Calibri"/>
                <a:cs typeface="Calibri"/>
              </a:rPr>
              <a:t>L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number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layers.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How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does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this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change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final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layer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softmax?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What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do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you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think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using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40">
                <a:latin typeface="Calibri"/>
                <a:cs typeface="Calibri"/>
              </a:rPr>
              <a:t>sigmoid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initialization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procedure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rectified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linear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units?</a:t>
            </a:r>
            <a:r>
              <a:rPr dirty="0" sz="850" spc="45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think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5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initialization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procedure?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Note:</a:t>
            </a:r>
            <a:r>
              <a:rPr dirty="0" sz="850" spc="305" i="1">
                <a:latin typeface="Calibri"/>
                <a:cs typeface="Calibri"/>
              </a:rPr>
              <a:t> </a:t>
            </a:r>
            <a:r>
              <a:rPr dirty="0" sz="850" spc="40" i="1">
                <a:latin typeface="Calibri"/>
                <a:cs typeface="Calibri"/>
              </a:rPr>
              <a:t>This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is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a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very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5" i="1">
                <a:latin typeface="Calibri"/>
                <a:cs typeface="Calibri"/>
              </a:rPr>
              <a:t>open-ended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problem,</a:t>
            </a:r>
            <a:r>
              <a:rPr dirty="0" sz="850" spc="155" i="1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not</a:t>
            </a:r>
            <a:r>
              <a:rPr dirty="0" sz="850" spc="135" i="1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something</a:t>
            </a:r>
            <a:r>
              <a:rPr dirty="0" sz="850" spc="5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with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a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simple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-5" i="1">
                <a:latin typeface="Calibri"/>
                <a:cs typeface="Calibri"/>
              </a:rPr>
              <a:t>self-</a:t>
            </a:r>
            <a:r>
              <a:rPr dirty="0" sz="850" spc="15" i="1">
                <a:latin typeface="Calibri"/>
                <a:cs typeface="Calibri"/>
              </a:rPr>
              <a:t>contained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-5" i="1">
                <a:latin typeface="Calibri"/>
                <a:cs typeface="Calibri"/>
              </a:rPr>
              <a:t>answer.</a:t>
            </a:r>
            <a:r>
              <a:rPr dirty="0" sz="850" spc="114" i="1">
                <a:latin typeface="Calibri"/>
                <a:cs typeface="Calibri"/>
              </a:rPr>
              <a:t> </a:t>
            </a:r>
            <a:r>
              <a:rPr dirty="0" sz="850" spc="35" i="1">
                <a:latin typeface="Calibri"/>
                <a:cs typeface="Calibri"/>
              </a:rPr>
              <a:t>Still,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considering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the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problem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30" i="1">
                <a:latin typeface="Calibri"/>
                <a:cs typeface="Calibri"/>
              </a:rPr>
              <a:t>will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help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25" i="1">
                <a:latin typeface="Calibri"/>
                <a:cs typeface="Calibri"/>
              </a:rPr>
              <a:t>you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better </a:t>
            </a:r>
            <a:r>
              <a:rPr dirty="0" sz="850" spc="15" i="1">
                <a:latin typeface="Calibri"/>
                <a:cs typeface="Calibri"/>
              </a:rPr>
              <a:t>understand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networks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15" i="1">
                <a:latin typeface="Calibri"/>
                <a:cs typeface="Calibri"/>
              </a:rPr>
              <a:t>containing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5" i="1">
                <a:latin typeface="Calibri"/>
                <a:cs typeface="Calibri"/>
              </a:rPr>
              <a:t>rectified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25" i="1">
                <a:latin typeface="Calibri"/>
                <a:cs typeface="Calibri"/>
              </a:rPr>
              <a:t>linear</a:t>
            </a:r>
            <a:r>
              <a:rPr dirty="0" sz="850" spc="45" i="1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units.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5038" y="3151101"/>
            <a:ext cx="41478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30810" indent="-118110">
              <a:lnSpc>
                <a:spcPct val="100000"/>
              </a:lnSpc>
              <a:spcBef>
                <a:spcPts val="110"/>
              </a:spcBef>
              <a:buFont typeface="Cambria"/>
              <a:buChar char="•"/>
              <a:tabLst>
                <a:tab pos="130810" algn="l"/>
              </a:tabLst>
            </a:pPr>
            <a:r>
              <a:rPr dirty="0" sz="850" spc="50">
                <a:latin typeface="Calibri"/>
                <a:cs typeface="Calibri"/>
              </a:rPr>
              <a:t>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analysis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unstable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sigmoid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does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23619" y="3282284"/>
            <a:ext cx="403225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analysis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made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rectified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units?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modifying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doesn’t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suffer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unstable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problem?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Note: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The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word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good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in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the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second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part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of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this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makes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the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problem</a:t>
            </a:r>
            <a:r>
              <a:rPr dirty="0" sz="850" spc="7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7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research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problem.</a:t>
            </a:r>
            <a:r>
              <a:rPr dirty="0" sz="850" spc="19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It’s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actually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easy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to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think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of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ways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of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making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such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modifications.</a:t>
            </a:r>
            <a:r>
              <a:rPr dirty="0" sz="850" spc="19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But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55" i="1">
                <a:latin typeface="Calibri"/>
                <a:cs typeface="Calibri"/>
              </a:rPr>
              <a:t>I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haven’t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investigated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in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enough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depth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to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know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of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really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good</a:t>
            </a:r>
            <a:r>
              <a:rPr dirty="0" sz="850" spc="8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technique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0852" y="4278402"/>
            <a:ext cx="4379595" cy="3738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  <a:tabLst>
                <a:tab pos="346075" algn="l"/>
              </a:tabLst>
            </a:pPr>
            <a:r>
              <a:rPr dirty="0" sz="1050" spc="30" b="1">
                <a:latin typeface="Calibri"/>
                <a:cs typeface="Calibri"/>
              </a:rPr>
              <a:t>6.4</a:t>
            </a:r>
            <a:r>
              <a:rPr dirty="0" sz="1050" b="1">
                <a:latin typeface="Calibri"/>
                <a:cs typeface="Calibri"/>
              </a:rPr>
              <a:t>	Recent</a:t>
            </a:r>
            <a:r>
              <a:rPr dirty="0" sz="1050" spc="140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progress</a:t>
            </a:r>
            <a:r>
              <a:rPr dirty="0" sz="1050" spc="140" b="1">
                <a:latin typeface="Calibri"/>
                <a:cs typeface="Calibri"/>
              </a:rPr>
              <a:t> </a:t>
            </a:r>
            <a:r>
              <a:rPr dirty="0" sz="1050" spc="65" b="1">
                <a:latin typeface="Calibri"/>
                <a:cs typeface="Calibri"/>
              </a:rPr>
              <a:t>in</a:t>
            </a:r>
            <a:r>
              <a:rPr dirty="0" sz="1050" spc="140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image</a:t>
            </a:r>
            <a:r>
              <a:rPr dirty="0" sz="1050" spc="140" b="1">
                <a:latin typeface="Calibri"/>
                <a:cs typeface="Calibri"/>
              </a:rPr>
              <a:t> </a:t>
            </a:r>
            <a:r>
              <a:rPr dirty="0" sz="1050" spc="40" b="1">
                <a:latin typeface="Calibri"/>
                <a:cs typeface="Calibri"/>
              </a:rPr>
              <a:t>recognition</a:t>
            </a:r>
            <a:endParaRPr sz="1050">
              <a:latin typeface="Calibri"/>
              <a:cs typeface="Calibri"/>
            </a:endParaRPr>
          </a:p>
          <a:p>
            <a:pPr algn="just" marL="19050" marR="27940">
              <a:lnSpc>
                <a:spcPct val="114300"/>
              </a:lnSpc>
              <a:spcBef>
                <a:spcPts val="1090"/>
              </a:spcBef>
            </a:pP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1998,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year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MNIST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introduced,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weeks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state-</a:t>
            </a:r>
            <a:r>
              <a:rPr dirty="0" sz="850" spc="-10">
                <a:latin typeface="Calibri"/>
                <a:cs typeface="Calibri"/>
              </a:rPr>
              <a:t>of-</a:t>
            </a:r>
            <a:r>
              <a:rPr dirty="0" sz="850">
                <a:latin typeface="Calibri"/>
                <a:cs typeface="Calibri"/>
              </a:rPr>
              <a:t>the-art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workstation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accuracies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substantially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GPU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less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hour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training.</a:t>
            </a:r>
            <a:r>
              <a:rPr dirty="0" sz="850" spc="4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Thus,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longer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pushes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limits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available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technique;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teaching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purposes.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Meanwhile,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focus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research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modern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involves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challenging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section,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briefly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describe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endParaRPr sz="850">
              <a:latin typeface="Calibri"/>
              <a:cs typeface="Calibri"/>
            </a:endParaRPr>
          </a:p>
          <a:p>
            <a:pPr algn="just" marL="12700" marR="27940" indent="196215">
              <a:lnSpc>
                <a:spcPct val="114300"/>
              </a:lnSpc>
              <a:spcBef>
                <a:spcPts val="35"/>
              </a:spcBef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section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focused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likely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lasting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interest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backpropagation,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regularization,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convolutional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fashionable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long-</a:t>
            </a:r>
            <a:r>
              <a:rPr dirty="0" sz="850" spc="-20">
                <a:latin typeface="Calibri"/>
                <a:cs typeface="Calibri"/>
              </a:rPr>
              <a:t>term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unknown.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science,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ephemera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fade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impact.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skeptic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say: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“well,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surely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recent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progress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ephemera?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three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years,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things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moved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surely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interest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specialists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want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compete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absolute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frontier?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it?”</a:t>
            </a:r>
            <a:endParaRPr sz="850">
              <a:latin typeface="Calibri"/>
              <a:cs typeface="Calibri"/>
            </a:endParaRPr>
          </a:p>
          <a:p>
            <a:pPr algn="just" marL="19050" marR="5080" indent="189230">
              <a:lnSpc>
                <a:spcPct val="114300"/>
              </a:lnSpc>
              <a:spcBef>
                <a:spcPts val="35"/>
              </a:spcBef>
            </a:pPr>
            <a:r>
              <a:rPr dirty="0" sz="850" spc="50">
                <a:latin typeface="Calibri"/>
                <a:cs typeface="Calibri"/>
              </a:rPr>
              <a:t>Such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skeptic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finer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recent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gradually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diminish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perceived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importance.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said,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years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extraordinary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improvements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attack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extremely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tasks.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Imagine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historian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science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year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2100.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identify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years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2011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2015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years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beyond)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huge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breakthroughs,</a:t>
            </a:r>
            <a:r>
              <a:rPr dirty="0" sz="850" spc="20">
                <a:latin typeface="Calibri"/>
                <a:cs typeface="Calibri"/>
              </a:rPr>
              <a:t> driven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doesn’t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still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2100,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dropout,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rectified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important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transition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place,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history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ideas.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7" name="object 7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28228" y="368721"/>
            <a:ext cx="4678045" cy="20510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274570">
              <a:lnSpc>
                <a:spcPts val="525"/>
              </a:lnSpc>
              <a:spcBef>
                <a:spcPts val="110"/>
              </a:spcBef>
              <a:tabLst>
                <a:tab pos="4457065" algn="l"/>
              </a:tabLst>
            </a:pPr>
            <a:r>
              <a:rPr dirty="0" sz="850">
                <a:latin typeface="Calibri"/>
                <a:cs typeface="Calibri"/>
              </a:rPr>
              <a:t>6.4.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progress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recognition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197</a:t>
            </a:r>
            <a:endParaRPr sz="850">
              <a:latin typeface="Calibri"/>
              <a:cs typeface="Calibri"/>
            </a:endParaRPr>
          </a:p>
          <a:p>
            <a:pPr algn="r" marR="2889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45085" marR="297815" indent="635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watching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discovery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atom,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invention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antibiotics: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invention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discovery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historic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scale.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down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details,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exciting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discoveries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currently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made.</a:t>
            </a:r>
            <a:endParaRPr sz="850">
              <a:latin typeface="Calibri"/>
              <a:cs typeface="Calibri"/>
            </a:endParaRPr>
          </a:p>
          <a:p>
            <a:pPr algn="just" marL="38100" marR="291465" indent="203200">
              <a:lnSpc>
                <a:spcPct val="114300"/>
              </a:lnSpc>
            </a:pPr>
            <a:r>
              <a:rPr dirty="0" sz="850" spc="60" b="1">
                <a:latin typeface="Calibri"/>
                <a:cs typeface="Calibri"/>
              </a:rPr>
              <a:t>The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spc="70" b="1">
                <a:latin typeface="Calibri"/>
                <a:cs typeface="Calibri"/>
              </a:rPr>
              <a:t>2012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spc="70" b="1">
                <a:latin typeface="Calibri"/>
                <a:cs typeface="Calibri"/>
              </a:rPr>
              <a:t>LRMD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paper:</a:t>
            </a:r>
            <a:r>
              <a:rPr dirty="0" sz="850" spc="21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2012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23</a:t>
            </a:r>
            <a:r>
              <a:rPr dirty="0" baseline="35353" sz="825" spc="382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group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researchers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Stanford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Google.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refer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LRMD,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names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authors.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LRMD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ImageNet,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very</a:t>
            </a:r>
            <a:r>
              <a:rPr dirty="0" sz="850" spc="20">
                <a:latin typeface="Calibri"/>
                <a:cs typeface="Calibri"/>
              </a:rPr>
              <a:t> challenging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2011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ImageNet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included</a:t>
            </a:r>
            <a:r>
              <a:rPr dirty="0" sz="850" spc="50">
                <a:latin typeface="Calibri"/>
                <a:cs typeface="Calibri"/>
              </a:rPr>
              <a:t> 16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color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20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thousand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categories.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crawled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workers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Amazon’s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Mechanical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service.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few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ImageNet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24</a:t>
            </a:r>
            <a:r>
              <a:rPr dirty="0" sz="850" spc="-1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110852" y="2636436"/>
            <a:ext cx="4258945" cy="874394"/>
            <a:chOff x="1110852" y="2636436"/>
            <a:chExt cx="4258945" cy="874394"/>
          </a:xfrm>
        </p:grpSpPr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10852" y="2636436"/>
              <a:ext cx="1012377" cy="87399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54085" y="2636436"/>
              <a:ext cx="866712" cy="87399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51644" y="2694702"/>
              <a:ext cx="1077927" cy="815729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60418" y="2636436"/>
              <a:ext cx="1209027" cy="873996"/>
            </a:xfrm>
            <a:prstGeom prst="rect">
              <a:avLst/>
            </a:prstGeom>
          </p:spPr>
        </p:pic>
      </p:grpSp>
      <p:sp>
        <p:nvSpPr>
          <p:cNvPr id="8" name="object 8"/>
          <p:cNvSpPr/>
          <p:nvPr/>
        </p:nvSpPr>
        <p:spPr>
          <a:xfrm>
            <a:off x="1079996" y="6809371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1015528" y="3610477"/>
            <a:ext cx="4462780" cy="4403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9690" marR="47625" indent="-127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respectively,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categories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beading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plane,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brown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root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fungus,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scalded</a:t>
            </a:r>
            <a:r>
              <a:rPr dirty="0" sz="850" spc="50">
                <a:latin typeface="Calibri"/>
                <a:cs typeface="Calibri"/>
              </a:rPr>
              <a:t> milk,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common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roundworm.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you’re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challenge,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encourage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ImageNet’s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7"/>
              </a:rPr>
              <a:t>hand</a:t>
            </a:r>
            <a:r>
              <a:rPr dirty="0" sz="850" spc="135">
                <a:latin typeface="Calibri"/>
                <a:cs typeface="Calibri"/>
                <a:hlinkClick r:id="rId7"/>
              </a:rPr>
              <a:t> </a:t>
            </a:r>
            <a:r>
              <a:rPr dirty="0" sz="850">
                <a:latin typeface="Calibri"/>
                <a:cs typeface="Calibri"/>
                <a:hlinkClick r:id="rId7"/>
              </a:rPr>
              <a:t>tools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distinguishes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beading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planes,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block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planes,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chamfer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planes,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dozen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types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plane,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amongst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categories.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don’t</a:t>
            </a:r>
            <a:r>
              <a:rPr dirty="0" sz="850" spc="20">
                <a:latin typeface="Calibri"/>
                <a:cs typeface="Calibri"/>
              </a:rPr>
              <a:t> know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cannot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confidently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distinguish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between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tool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types.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20">
                <a:latin typeface="Calibri"/>
                <a:cs typeface="Calibri"/>
              </a:rPr>
              <a:t> obviously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challenging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task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MNIST!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LRMD’s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obtained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respectable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15.8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correctly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classifying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ImageNet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sound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impressive,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huge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previous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result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9.3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jump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powerful</a:t>
            </a:r>
            <a:r>
              <a:rPr dirty="0" sz="850" spc="20">
                <a:latin typeface="Calibri"/>
                <a:cs typeface="Calibri"/>
              </a:rPr>
              <a:t> approach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challenging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tasks,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ImageNet.</a:t>
            </a:r>
            <a:endParaRPr sz="850">
              <a:latin typeface="Calibri"/>
              <a:cs typeface="Calibri"/>
            </a:endParaRPr>
          </a:p>
          <a:p>
            <a:pPr algn="just" marL="50800" marR="47625" indent="203200">
              <a:lnSpc>
                <a:spcPct val="114300"/>
              </a:lnSpc>
            </a:pPr>
            <a:r>
              <a:rPr dirty="0" sz="850" spc="60" b="1">
                <a:latin typeface="Calibri"/>
                <a:cs typeface="Calibri"/>
              </a:rPr>
              <a:t>The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spc="70" b="1">
                <a:latin typeface="Calibri"/>
                <a:cs typeface="Calibri"/>
              </a:rPr>
              <a:t>2012</a:t>
            </a:r>
            <a:r>
              <a:rPr dirty="0" sz="850" spc="135" b="1">
                <a:latin typeface="Calibri"/>
                <a:cs typeface="Calibri"/>
              </a:rPr>
              <a:t> </a:t>
            </a:r>
            <a:r>
              <a:rPr dirty="0" sz="850" spc="95" b="1">
                <a:latin typeface="Calibri"/>
                <a:cs typeface="Calibri"/>
              </a:rPr>
              <a:t>KSH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paper:</a:t>
            </a:r>
            <a:r>
              <a:rPr dirty="0" sz="850" spc="21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LRMD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followed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2012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Krizhevsky,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Sutskever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Hinton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(KSH)</a:t>
            </a:r>
            <a:r>
              <a:rPr dirty="0" baseline="35353" sz="825" spc="104">
                <a:latin typeface="Calibri"/>
                <a:cs typeface="Calibri"/>
                <a:hlinkClick r:id="rId2" action="ppaction://hlinksldjump"/>
              </a:rPr>
              <a:t>25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KSH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restricted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ImageNet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popular</a:t>
            </a:r>
            <a:r>
              <a:rPr dirty="0" sz="850" spc="20">
                <a:latin typeface="Calibri"/>
                <a:cs typeface="Calibri"/>
              </a:rPr>
              <a:t> machine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competition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ImageNet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Large-Scale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Visual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Recognition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Challenge</a:t>
            </a:r>
            <a:r>
              <a:rPr dirty="0" sz="850" spc="75">
                <a:latin typeface="Calibri"/>
                <a:cs typeface="Calibri"/>
              </a:rPr>
              <a:t> (ILSVRC).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competition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dataset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comparing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approach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leading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80">
                <a:latin typeface="Calibri"/>
                <a:cs typeface="Calibri"/>
              </a:rPr>
              <a:t>ILSVRC-</a:t>
            </a:r>
            <a:r>
              <a:rPr dirty="0" sz="850" spc="55">
                <a:latin typeface="Calibri"/>
                <a:cs typeface="Calibri"/>
              </a:rPr>
              <a:t>2012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contained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1.2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million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ImageNet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drawn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1,000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categories.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validation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contained</a:t>
            </a:r>
            <a:r>
              <a:rPr dirty="0" sz="850" spc="20">
                <a:latin typeface="Calibri"/>
                <a:cs typeface="Calibri"/>
              </a:rPr>
              <a:t> 50,000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150,000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respectively,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drawn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1,000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categories.</a:t>
            </a:r>
            <a:endParaRPr sz="850">
              <a:latin typeface="Calibri"/>
              <a:cs typeface="Calibri"/>
            </a:endParaRPr>
          </a:p>
          <a:p>
            <a:pPr algn="just" marL="64135" marR="4318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running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ILSVRC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competition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ImageNet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contain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objects.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labrador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retriever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chasing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soccer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ball.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The </a:t>
            </a:r>
            <a:r>
              <a:rPr dirty="0" sz="850" spc="10">
                <a:latin typeface="Calibri"/>
                <a:cs typeface="Calibri"/>
              </a:rPr>
              <a:t>so-called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“correct”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ImageNet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might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labrador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retriever.</a:t>
            </a:r>
            <a:endParaRPr sz="850">
              <a:latin typeface="Calibri"/>
              <a:cs typeface="Calibri"/>
            </a:endParaRPr>
          </a:p>
          <a:p>
            <a:pPr algn="just" marL="64135" marR="45720" indent="86995">
              <a:lnSpc>
                <a:spcPts val="800"/>
              </a:lnSpc>
              <a:spcBef>
                <a:spcPts val="960"/>
              </a:spcBef>
            </a:pPr>
            <a:r>
              <a:rPr dirty="0" baseline="30303" sz="825" spc="75">
                <a:latin typeface="Calibri"/>
                <a:cs typeface="Calibri"/>
              </a:rPr>
              <a:t>23</a:t>
            </a:r>
            <a:r>
              <a:rPr dirty="0" sz="750" spc="50">
                <a:latin typeface="Calibri"/>
                <a:cs typeface="Calibri"/>
                <a:hlinkClick r:id="rId8"/>
              </a:rPr>
              <a:t>Building</a:t>
            </a:r>
            <a:r>
              <a:rPr dirty="0" sz="750" spc="235">
                <a:latin typeface="Calibri"/>
                <a:cs typeface="Calibri"/>
                <a:hlinkClick r:id="rId8"/>
              </a:rPr>
              <a:t> </a:t>
            </a:r>
            <a:r>
              <a:rPr dirty="0" sz="750" spc="10">
                <a:latin typeface="Calibri"/>
                <a:cs typeface="Calibri"/>
                <a:hlinkClick r:id="rId8"/>
              </a:rPr>
              <a:t>high-level</a:t>
            </a:r>
            <a:r>
              <a:rPr dirty="0" sz="750" spc="235">
                <a:latin typeface="Calibri"/>
                <a:cs typeface="Calibri"/>
                <a:hlinkClick r:id="rId8"/>
              </a:rPr>
              <a:t> </a:t>
            </a:r>
            <a:r>
              <a:rPr dirty="0" sz="750" spc="10">
                <a:latin typeface="Calibri"/>
                <a:cs typeface="Calibri"/>
                <a:hlinkClick r:id="rId8"/>
              </a:rPr>
              <a:t>features</a:t>
            </a:r>
            <a:r>
              <a:rPr dirty="0" sz="750" spc="240">
                <a:latin typeface="Calibri"/>
                <a:cs typeface="Calibri"/>
                <a:hlinkClick r:id="rId8"/>
              </a:rPr>
              <a:t> </a:t>
            </a:r>
            <a:r>
              <a:rPr dirty="0" sz="750" spc="10">
                <a:latin typeface="Calibri"/>
                <a:cs typeface="Calibri"/>
                <a:hlinkClick r:id="rId8"/>
              </a:rPr>
              <a:t>using</a:t>
            </a:r>
            <a:r>
              <a:rPr dirty="0" sz="750" spc="235">
                <a:latin typeface="Calibri"/>
                <a:cs typeface="Calibri"/>
                <a:hlinkClick r:id="rId8"/>
              </a:rPr>
              <a:t> </a:t>
            </a:r>
            <a:r>
              <a:rPr dirty="0" sz="750" spc="10">
                <a:latin typeface="Calibri"/>
                <a:cs typeface="Calibri"/>
                <a:hlinkClick r:id="rId8"/>
              </a:rPr>
              <a:t>large</a:t>
            </a:r>
            <a:r>
              <a:rPr dirty="0" sz="750" spc="235">
                <a:latin typeface="Calibri"/>
                <a:cs typeface="Calibri"/>
                <a:hlinkClick r:id="rId8"/>
              </a:rPr>
              <a:t> </a:t>
            </a:r>
            <a:r>
              <a:rPr dirty="0" sz="750" spc="10">
                <a:latin typeface="Calibri"/>
                <a:cs typeface="Calibri"/>
                <a:hlinkClick r:id="rId8"/>
              </a:rPr>
              <a:t>scale</a:t>
            </a:r>
            <a:r>
              <a:rPr dirty="0" sz="750" spc="240">
                <a:latin typeface="Calibri"/>
                <a:cs typeface="Calibri"/>
                <a:hlinkClick r:id="rId8"/>
              </a:rPr>
              <a:t> </a:t>
            </a:r>
            <a:r>
              <a:rPr dirty="0" sz="750" spc="10">
                <a:latin typeface="Calibri"/>
                <a:cs typeface="Calibri"/>
                <a:hlinkClick r:id="rId8"/>
              </a:rPr>
              <a:t>unsupervised</a:t>
            </a:r>
            <a:r>
              <a:rPr dirty="0" sz="750" spc="235">
                <a:latin typeface="Calibri"/>
                <a:cs typeface="Calibri"/>
                <a:hlinkClick r:id="rId8"/>
              </a:rPr>
              <a:t> </a:t>
            </a:r>
            <a:r>
              <a:rPr dirty="0" sz="750" spc="10">
                <a:latin typeface="Calibri"/>
                <a:cs typeface="Calibri"/>
                <a:hlinkClick r:id="rId8"/>
              </a:rPr>
              <a:t>learning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2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2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Quoc</a:t>
            </a:r>
            <a:r>
              <a:rPr dirty="0" sz="750" spc="2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Le,</a:t>
            </a:r>
            <a:r>
              <a:rPr dirty="0" sz="750" spc="254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Marc’Aurelio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Ranzato,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Rajat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Monga,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Matthieu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Devin,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Kai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Chen,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Greg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Corrado,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Jeff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Dean,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Andrew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Ng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35">
                <a:latin typeface="Calibri"/>
                <a:cs typeface="Calibri"/>
              </a:rPr>
              <a:t>(2012). </a:t>
            </a:r>
            <a:r>
              <a:rPr dirty="0" sz="750" spc="10">
                <a:latin typeface="Calibri"/>
                <a:cs typeface="Calibri"/>
              </a:rPr>
              <a:t>Note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detailed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architecture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used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paper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differed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many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details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from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the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deep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convolutional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networks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we’ve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been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studying.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Broadly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speaking,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however,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LRMD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based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on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many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similar</a:t>
            </a:r>
            <a:r>
              <a:rPr dirty="0" sz="750" spc="1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ideas.</a:t>
            </a:r>
            <a:endParaRPr sz="750">
              <a:latin typeface="Calibri"/>
              <a:cs typeface="Calibri"/>
            </a:endParaRPr>
          </a:p>
          <a:p>
            <a:pPr algn="just" marL="64135" marR="50165" indent="86995">
              <a:lnSpc>
                <a:spcPts val="800"/>
              </a:lnSpc>
              <a:spcBef>
                <a:spcPts val="125"/>
              </a:spcBef>
            </a:pPr>
            <a:r>
              <a:rPr dirty="0" baseline="30303" sz="825" spc="30">
                <a:latin typeface="Calibri"/>
                <a:cs typeface="Calibri"/>
              </a:rPr>
              <a:t>24</a:t>
            </a:r>
            <a:r>
              <a:rPr dirty="0" sz="750" spc="20">
                <a:latin typeface="Calibri"/>
                <a:cs typeface="Calibri"/>
              </a:rPr>
              <a:t>These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are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from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2014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dataset,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which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somewhat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changed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from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2011.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Qualitatively,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however,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dataset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extremely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similar.</a:t>
            </a:r>
            <a:r>
              <a:rPr dirty="0" sz="750" spc="1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Details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about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ImageNet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are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available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original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ImageNet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paper,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  <a:hlinkClick r:id="rId9"/>
              </a:rPr>
              <a:t>ImageNet:</a:t>
            </a:r>
            <a:r>
              <a:rPr dirty="0" sz="750" spc="175">
                <a:latin typeface="Calibri"/>
                <a:cs typeface="Calibri"/>
                <a:hlinkClick r:id="rId9"/>
              </a:rPr>
              <a:t> </a:t>
            </a:r>
            <a:r>
              <a:rPr dirty="0" sz="750" spc="20">
                <a:latin typeface="Calibri"/>
                <a:cs typeface="Calibri"/>
                <a:hlinkClick r:id="rId9"/>
              </a:rPr>
              <a:t>a</a:t>
            </a:r>
            <a:r>
              <a:rPr dirty="0" sz="750" spc="85">
                <a:latin typeface="Calibri"/>
                <a:cs typeface="Calibri"/>
                <a:hlinkClick r:id="rId9"/>
              </a:rPr>
              <a:t> </a:t>
            </a:r>
            <a:r>
              <a:rPr dirty="0" sz="750" spc="20">
                <a:latin typeface="Calibri"/>
                <a:cs typeface="Calibri"/>
                <a:hlinkClick r:id="rId9"/>
              </a:rPr>
              <a:t>large-scale</a:t>
            </a:r>
            <a:r>
              <a:rPr dirty="0" sz="750" spc="85">
                <a:latin typeface="Calibri"/>
                <a:cs typeface="Calibri"/>
                <a:hlinkClick r:id="rId9"/>
              </a:rPr>
              <a:t> </a:t>
            </a:r>
            <a:r>
              <a:rPr dirty="0" sz="750" spc="20">
                <a:latin typeface="Calibri"/>
                <a:cs typeface="Calibri"/>
                <a:hlinkClick r:id="rId9"/>
              </a:rPr>
              <a:t>hierarchical</a:t>
            </a:r>
            <a:r>
              <a:rPr dirty="0" sz="750" spc="85">
                <a:latin typeface="Calibri"/>
                <a:cs typeface="Calibri"/>
                <a:hlinkClick r:id="rId9"/>
              </a:rPr>
              <a:t> </a:t>
            </a:r>
            <a:r>
              <a:rPr dirty="0" sz="750" spc="20">
                <a:latin typeface="Calibri"/>
                <a:cs typeface="Calibri"/>
                <a:hlinkClick r:id="rId9"/>
              </a:rPr>
              <a:t>image</a:t>
            </a:r>
            <a:r>
              <a:rPr dirty="0" sz="750" spc="80">
                <a:latin typeface="Calibri"/>
                <a:cs typeface="Calibri"/>
                <a:hlinkClick r:id="rId9"/>
              </a:rPr>
              <a:t> </a:t>
            </a:r>
            <a:r>
              <a:rPr dirty="0" sz="750" spc="20">
                <a:latin typeface="Calibri"/>
                <a:cs typeface="Calibri"/>
                <a:hlinkClick r:id="rId9"/>
              </a:rPr>
              <a:t>database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Jia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Deng,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Wei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Dong,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Richard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Socher,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Li-</a:t>
            </a:r>
            <a:r>
              <a:rPr dirty="0" sz="750" spc="50">
                <a:latin typeface="Calibri"/>
                <a:cs typeface="Calibri"/>
              </a:rPr>
              <a:t>Jia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Li,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Kai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Li,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Li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Fei-Fei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(2009).</a:t>
            </a:r>
            <a:endParaRPr sz="750">
              <a:latin typeface="Calibri"/>
              <a:cs typeface="Calibri"/>
            </a:endParaRPr>
          </a:p>
          <a:p>
            <a:pPr algn="just" marL="64135" marR="50165" indent="86995">
              <a:lnSpc>
                <a:spcPts val="800"/>
              </a:lnSpc>
              <a:spcBef>
                <a:spcPts val="125"/>
              </a:spcBef>
            </a:pPr>
            <a:r>
              <a:rPr dirty="0" baseline="30303" sz="825" spc="15">
                <a:latin typeface="Calibri"/>
                <a:cs typeface="Calibri"/>
              </a:rPr>
              <a:t>25</a:t>
            </a:r>
            <a:r>
              <a:rPr dirty="0" sz="750" spc="10">
                <a:latin typeface="Calibri"/>
                <a:cs typeface="Calibri"/>
                <a:hlinkClick r:id="rId10"/>
              </a:rPr>
              <a:t>ImageNet</a:t>
            </a:r>
            <a:r>
              <a:rPr dirty="0" sz="750" spc="120">
                <a:latin typeface="Calibri"/>
                <a:cs typeface="Calibri"/>
                <a:hlinkClick r:id="rId10"/>
              </a:rPr>
              <a:t> </a:t>
            </a:r>
            <a:r>
              <a:rPr dirty="0" sz="750" spc="10">
                <a:latin typeface="Calibri"/>
                <a:cs typeface="Calibri"/>
                <a:hlinkClick r:id="rId10"/>
              </a:rPr>
              <a:t>classification</a:t>
            </a:r>
            <a:r>
              <a:rPr dirty="0" sz="750" spc="125">
                <a:latin typeface="Calibri"/>
                <a:cs typeface="Calibri"/>
                <a:hlinkClick r:id="rId10"/>
              </a:rPr>
              <a:t> </a:t>
            </a:r>
            <a:r>
              <a:rPr dirty="0" sz="750" spc="10">
                <a:latin typeface="Calibri"/>
                <a:cs typeface="Calibri"/>
                <a:hlinkClick r:id="rId10"/>
              </a:rPr>
              <a:t>with</a:t>
            </a:r>
            <a:r>
              <a:rPr dirty="0" sz="750" spc="114">
                <a:latin typeface="Calibri"/>
                <a:cs typeface="Calibri"/>
                <a:hlinkClick r:id="rId10"/>
              </a:rPr>
              <a:t> </a:t>
            </a:r>
            <a:r>
              <a:rPr dirty="0" sz="750" spc="10">
                <a:latin typeface="Calibri"/>
                <a:cs typeface="Calibri"/>
                <a:hlinkClick r:id="rId10"/>
              </a:rPr>
              <a:t>deep</a:t>
            </a:r>
            <a:r>
              <a:rPr dirty="0" sz="750" spc="120">
                <a:latin typeface="Calibri"/>
                <a:cs typeface="Calibri"/>
                <a:hlinkClick r:id="rId10"/>
              </a:rPr>
              <a:t> </a:t>
            </a:r>
            <a:r>
              <a:rPr dirty="0" sz="750" spc="10">
                <a:latin typeface="Calibri"/>
                <a:cs typeface="Calibri"/>
                <a:hlinkClick r:id="rId10"/>
              </a:rPr>
              <a:t>convolutional</a:t>
            </a:r>
            <a:r>
              <a:rPr dirty="0" sz="750" spc="125">
                <a:latin typeface="Calibri"/>
                <a:cs typeface="Calibri"/>
                <a:hlinkClick r:id="rId10"/>
              </a:rPr>
              <a:t> </a:t>
            </a:r>
            <a:r>
              <a:rPr dirty="0" sz="750" spc="10">
                <a:latin typeface="Calibri"/>
                <a:cs typeface="Calibri"/>
                <a:hlinkClick r:id="rId10"/>
              </a:rPr>
              <a:t>neural</a:t>
            </a:r>
            <a:r>
              <a:rPr dirty="0" sz="750" spc="120">
                <a:latin typeface="Calibri"/>
                <a:cs typeface="Calibri"/>
                <a:hlinkClick r:id="rId10"/>
              </a:rPr>
              <a:t> </a:t>
            </a:r>
            <a:r>
              <a:rPr dirty="0" sz="750" spc="10">
                <a:latin typeface="Calibri"/>
                <a:cs typeface="Calibri"/>
                <a:hlinkClick r:id="rId10"/>
              </a:rPr>
              <a:t>networks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Alex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Krizhevsky,</a:t>
            </a:r>
            <a:r>
              <a:rPr dirty="0" sz="750" spc="12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Ilya</a:t>
            </a:r>
            <a:r>
              <a:rPr dirty="0" sz="750" spc="12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Sutskever,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Geoffrey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E.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Hinton</a:t>
            </a:r>
            <a:r>
              <a:rPr dirty="0" sz="750" spc="175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(2012).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11" name="object 11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8050" cy="32486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198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31470" marR="34925">
              <a:lnSpc>
                <a:spcPct val="114300"/>
              </a:lnSpc>
              <a:spcBef>
                <a:spcPts val="5"/>
              </a:spcBef>
            </a:pPr>
            <a:r>
              <a:rPr dirty="0" sz="850" spc="50">
                <a:latin typeface="Calibri"/>
                <a:cs typeface="Calibri"/>
              </a:rPr>
              <a:t>Should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penalized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labels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soccer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ball?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ambiguity,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correct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actual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ImageNet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among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likely.</a:t>
            </a:r>
            <a:r>
              <a:rPr dirty="0" sz="850" spc="4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By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top-5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criterion,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KSH’s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84.7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vastly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next-best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contest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entry,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73.8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restrictive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metric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getting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label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exactly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KSH’s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endParaRPr sz="850">
              <a:latin typeface="Calibri"/>
              <a:cs typeface="Calibri"/>
            </a:endParaRPr>
          </a:p>
          <a:p>
            <a:pPr algn="just" marL="327025">
              <a:lnSpc>
                <a:spcPct val="100000"/>
              </a:lnSpc>
              <a:spcBef>
                <a:spcPts val="145"/>
              </a:spcBef>
            </a:pPr>
            <a:r>
              <a:rPr dirty="0" sz="850">
                <a:latin typeface="Calibri"/>
                <a:cs typeface="Calibri"/>
              </a:rPr>
              <a:t>63.3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percent.</a:t>
            </a:r>
            <a:endParaRPr sz="850">
              <a:latin typeface="Calibri"/>
              <a:cs typeface="Calibri"/>
            </a:endParaRPr>
          </a:p>
          <a:p>
            <a:pPr algn="just" marL="325755" marR="30480" indent="195580">
              <a:lnSpc>
                <a:spcPct val="114300"/>
              </a:lnSpc>
              <a:spcBef>
                <a:spcPts val="50"/>
              </a:spcBef>
            </a:pP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briefly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KSH’s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inspired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subsequent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closely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chapter,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albeit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elaborate.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KSH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GPUs.</a:t>
            </a:r>
            <a:r>
              <a:rPr dirty="0" sz="850" spc="20">
                <a:latin typeface="Calibri"/>
                <a:cs typeface="Calibri"/>
              </a:rPr>
              <a:t> They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two GPUs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type of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GPU they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were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 (an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NVIDIA </a:t>
            </a:r>
            <a:r>
              <a:rPr dirty="0" sz="850" spc="-10">
                <a:latin typeface="Calibri"/>
                <a:cs typeface="Calibri"/>
              </a:rPr>
              <a:t>GeForce</a:t>
            </a:r>
            <a:r>
              <a:rPr dirty="0" sz="850" spc="80">
                <a:latin typeface="Calibri"/>
                <a:cs typeface="Calibri"/>
              </a:rPr>
              <a:t> GTX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580)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didn’t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on-chip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memory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split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partitioned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across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GPUs.</a:t>
            </a:r>
            <a:endParaRPr sz="850">
              <a:latin typeface="Calibri"/>
              <a:cs typeface="Calibri"/>
            </a:endParaRPr>
          </a:p>
          <a:p>
            <a:pPr algn="just" marL="327025" marR="30480" indent="194310">
              <a:lnSpc>
                <a:spcPct val="114300"/>
              </a:lnSpc>
              <a:spcBef>
                <a:spcPts val="50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KSH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7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5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convolu-</a:t>
            </a:r>
            <a:r>
              <a:rPr dirty="0" sz="850" spc="20">
                <a:latin typeface="Calibri"/>
                <a:cs typeface="Calibri"/>
              </a:rPr>
              <a:t>tional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(some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max-</a:t>
            </a:r>
            <a:r>
              <a:rPr dirty="0" sz="850" spc="20">
                <a:latin typeface="Calibri"/>
                <a:cs typeface="Calibri"/>
              </a:rPr>
              <a:t>pooling),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next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fully-connected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layers.</a:t>
            </a:r>
            <a:r>
              <a:rPr dirty="0" sz="850" spc="50">
                <a:latin typeface="Calibri"/>
                <a:cs typeface="Calibri"/>
              </a:rPr>
              <a:t> 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output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1,000-unit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softmax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1,000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classes.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Here’s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sketch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KSH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26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below.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split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corresponding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GPUs.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0825" y="3848669"/>
            <a:ext cx="4218421" cy="1321434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720001" y="7853895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88152" y="5357299"/>
            <a:ext cx="4404995" cy="26574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5400" marR="17780" indent="127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3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×</a:t>
            </a:r>
            <a:r>
              <a:rPr dirty="0" sz="850" spc="-1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224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×</a:t>
            </a:r>
            <a:r>
              <a:rPr dirty="0" sz="850" spc="-1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224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representing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RGB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values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224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25">
                <a:latin typeface="Cambria"/>
                <a:cs typeface="Cambria"/>
              </a:rPr>
              <a:t>×</a:t>
            </a:r>
            <a:r>
              <a:rPr dirty="0" sz="850" spc="-15">
                <a:latin typeface="Cambria"/>
                <a:cs typeface="Cambria"/>
              </a:rPr>
              <a:t> </a:t>
            </a:r>
            <a:r>
              <a:rPr dirty="0" sz="850" spc="-25">
                <a:latin typeface="Calibri"/>
                <a:cs typeface="Calibri"/>
              </a:rPr>
              <a:t>224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Recall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mentioned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ImageNet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varying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resolution.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fixed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size.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KSH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dealt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rescaling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shorter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side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length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256.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cropped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256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45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256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center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rescaled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Finally,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0">
                <a:latin typeface="Calibri"/>
                <a:cs typeface="Calibri"/>
              </a:rPr>
              <a:t>KSH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extracted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random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224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224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subimages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horizontal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reflections)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256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256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20">
                <a:latin typeface="Calibri"/>
                <a:cs typeface="Calibri"/>
              </a:rPr>
              <a:t> random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cropping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expanding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thus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reducing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overfitting.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helpful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KSH’s.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224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20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224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cropped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object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uncropped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image.</a:t>
            </a:r>
            <a:endParaRPr sz="850">
              <a:latin typeface="Calibri"/>
              <a:cs typeface="Calibri"/>
            </a:endParaRPr>
          </a:p>
          <a:p>
            <a:pPr algn="just" marL="26670" marR="45085" indent="194310">
              <a:lnSpc>
                <a:spcPct val="114300"/>
              </a:lnSpc>
              <a:spcBef>
                <a:spcPts val="50"/>
              </a:spcBef>
            </a:pPr>
            <a:r>
              <a:rPr dirty="0" sz="850" spc="10">
                <a:latin typeface="Calibri"/>
                <a:cs typeface="Calibri"/>
              </a:rPr>
              <a:t>Moving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KSH’s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convolutional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max-pooling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step.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local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receptive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fields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size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11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50">
                <a:latin typeface="Cambria"/>
                <a:cs typeface="Cambria"/>
              </a:rPr>
              <a:t> </a:t>
            </a:r>
            <a:r>
              <a:rPr dirty="0" sz="850" spc="10">
                <a:latin typeface="Calibri"/>
                <a:cs typeface="Calibri"/>
              </a:rPr>
              <a:t>11,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stride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length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4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total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96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split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two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groups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48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48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residing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GPU,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48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residing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GPU.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max-pooling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3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 spc="50">
                <a:latin typeface="Calibri"/>
                <a:cs typeface="Calibri"/>
              </a:rPr>
              <a:t>3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regions,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pooling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regions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allowed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overlap,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apart.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0"/>
              </a:spcBef>
            </a:pPr>
            <a:endParaRPr sz="850">
              <a:latin typeface="Calibri"/>
              <a:cs typeface="Calibri"/>
            </a:endParaRPr>
          </a:p>
          <a:p>
            <a:pPr marL="119380">
              <a:lnSpc>
                <a:spcPct val="100000"/>
              </a:lnSpc>
              <a:spcBef>
                <a:spcPts val="5"/>
              </a:spcBef>
            </a:pPr>
            <a:r>
              <a:rPr dirty="0" baseline="30303" sz="825" spc="44">
                <a:latin typeface="Calibri"/>
                <a:cs typeface="Calibri"/>
              </a:rPr>
              <a:t>26</a:t>
            </a:r>
            <a:r>
              <a:rPr dirty="0" sz="750" spc="30">
                <a:latin typeface="Calibri"/>
                <a:cs typeface="Calibri"/>
              </a:rPr>
              <a:t>Thanks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to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Ilya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Sutskever.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7" name="object 7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1501" y="368721"/>
            <a:ext cx="4618990" cy="21990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241550">
              <a:lnSpc>
                <a:spcPts val="525"/>
              </a:lnSpc>
              <a:spcBef>
                <a:spcPts val="110"/>
              </a:spcBef>
              <a:tabLst>
                <a:tab pos="4423410" algn="l"/>
              </a:tabLst>
            </a:pPr>
            <a:r>
              <a:rPr dirty="0" sz="850">
                <a:latin typeface="Calibri"/>
                <a:cs typeface="Calibri"/>
              </a:rPr>
              <a:t>6.4.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progress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recognition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199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2700" marR="268605" indent="195580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second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hidden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convolutional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max-pooling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step.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uses</a:t>
            </a:r>
            <a:r>
              <a:rPr dirty="0" sz="850" spc="55">
                <a:latin typeface="Calibri"/>
                <a:cs typeface="Calibri"/>
              </a:rPr>
              <a:t> 5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40">
                <a:latin typeface="Cambria"/>
                <a:cs typeface="Cambria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total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256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split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128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each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GPU.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48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channels,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96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previous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case).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only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GPU.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departs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convolutional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obviously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same.</a:t>
            </a:r>
            <a:endParaRPr sz="850">
              <a:latin typeface="Calibri"/>
              <a:cs typeface="Calibri"/>
            </a:endParaRPr>
          </a:p>
          <a:p>
            <a:pPr algn="just" marL="13335" marR="272415" indent="19431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third,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fourth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fifth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unlike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previous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involve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max-pooling.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respectives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parameters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are: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80">
                <a:latin typeface="Calibri"/>
                <a:cs typeface="Calibri"/>
              </a:rPr>
              <a:t>(3)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384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feature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3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45">
                <a:latin typeface="Cambria"/>
                <a:cs typeface="Cambria"/>
              </a:rPr>
              <a:t>×</a:t>
            </a:r>
            <a:r>
              <a:rPr dirty="0" sz="850" spc="30">
                <a:latin typeface="Cambria"/>
                <a:cs typeface="Cambria"/>
              </a:rPr>
              <a:t> </a:t>
            </a:r>
            <a:r>
              <a:rPr dirty="0" sz="850" spc="50">
                <a:latin typeface="Calibri"/>
                <a:cs typeface="Calibri"/>
              </a:rPr>
              <a:t>3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256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channels;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(4)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384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3</a:t>
            </a:r>
            <a:r>
              <a:rPr dirty="0" sz="850" spc="125">
                <a:latin typeface="Cambria"/>
                <a:cs typeface="Cambria"/>
              </a:rPr>
              <a:t>×</a:t>
            </a:r>
            <a:r>
              <a:rPr dirty="0" sz="850" spc="125">
                <a:latin typeface="Calibri"/>
                <a:cs typeface="Calibri"/>
              </a:rPr>
              <a:t>3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local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192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channels;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(5)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256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25">
                <a:latin typeface="Calibri"/>
                <a:cs typeface="Calibri"/>
              </a:rPr>
              <a:t>3</a:t>
            </a:r>
            <a:r>
              <a:rPr dirty="0" sz="850" spc="125">
                <a:latin typeface="Cambria"/>
                <a:cs typeface="Cambria"/>
              </a:rPr>
              <a:t>×</a:t>
            </a:r>
            <a:r>
              <a:rPr dirty="0" sz="850" spc="125">
                <a:latin typeface="Calibri"/>
                <a:cs typeface="Calibri"/>
              </a:rPr>
              <a:t>3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local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5456" y="2542089"/>
            <a:ext cx="4430395" cy="46145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44450" marR="5461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receptive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192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input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channels.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third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involves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inter-</a:t>
            </a:r>
            <a:r>
              <a:rPr dirty="0" sz="850" spc="-25">
                <a:latin typeface="Calibri"/>
                <a:cs typeface="Calibri"/>
              </a:rPr>
              <a:t>GPU</a:t>
            </a:r>
            <a:r>
              <a:rPr dirty="0" sz="850" spc="20">
                <a:latin typeface="Calibri"/>
                <a:cs typeface="Calibri"/>
              </a:rPr>
              <a:t> communication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depicted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figure)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order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feature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maps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256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channels.</a:t>
            </a:r>
            <a:endParaRPr sz="850">
              <a:latin typeface="Calibri"/>
              <a:cs typeface="Calibri"/>
            </a:endParaRPr>
          </a:p>
          <a:p>
            <a:pPr algn="just" marL="44450" marR="57785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sixth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seventh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fully-connected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4,096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layer.</a:t>
            </a:r>
            <a:endParaRPr sz="850">
              <a:latin typeface="Calibri"/>
              <a:cs typeface="Calibri"/>
            </a:endParaRPr>
          </a:p>
          <a:p>
            <a:pPr algn="just" marL="234315">
              <a:lnSpc>
                <a:spcPct val="100000"/>
              </a:lnSpc>
              <a:spcBef>
                <a:spcPts val="145"/>
              </a:spcBef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1,000-unit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softmax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layer.</a:t>
            </a:r>
            <a:endParaRPr sz="850">
              <a:latin typeface="Calibri"/>
              <a:cs typeface="Calibri"/>
            </a:endParaRPr>
          </a:p>
          <a:p>
            <a:pPr algn="just" marL="44450" marR="3048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90">
                <a:latin typeface="Calibri"/>
                <a:cs typeface="Calibri"/>
              </a:rPr>
              <a:t>KSH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advantage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sigmoid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tanh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KSH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rectified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linear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significantly.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KSH’s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roughly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60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thus,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large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susceptible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overfitting.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overcome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expanded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random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cropping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strategy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addressed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overfitting</a:t>
            </a:r>
            <a:r>
              <a:rPr dirty="0" sz="850" spc="20">
                <a:latin typeface="Calibri"/>
                <a:cs typeface="Calibri"/>
              </a:rPr>
              <a:t> 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variant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  <a:hlinkClick r:id="rId2" action="ppaction://hlinksldjump"/>
              </a:rPr>
              <a:t>l2</a:t>
            </a:r>
            <a:r>
              <a:rPr dirty="0" sz="850" spc="95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850" spc="20">
                <a:latin typeface="Calibri"/>
                <a:cs typeface="Calibri"/>
                <a:hlinkClick r:id="rId2" action="ppaction://hlinksldjump"/>
              </a:rPr>
              <a:t>regularization,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3" action="ppaction://hlinksldjump"/>
              </a:rPr>
              <a:t>dropout.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itself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3" action="ppaction://hlinksldjump"/>
              </a:rPr>
              <a:t>momentum-based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mini-batch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descent.</a:t>
            </a:r>
            <a:endParaRPr sz="850">
              <a:latin typeface="Calibri"/>
              <a:cs typeface="Calibri"/>
            </a:endParaRPr>
          </a:p>
          <a:p>
            <a:pPr algn="just" marL="39370" marR="52069" indent="19431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overview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0">
                <a:latin typeface="Calibri"/>
                <a:cs typeface="Calibri"/>
              </a:rPr>
              <a:t>KSH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paper.</a:t>
            </a:r>
            <a:r>
              <a:rPr dirty="0" sz="850" spc="17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omitted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details,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paper.</a:t>
            </a:r>
            <a:r>
              <a:rPr dirty="0" sz="850" spc="17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Alex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Krizhevsky’s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4"/>
              </a:rPr>
              <a:t>cuda-convnet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successors),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contains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code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implementing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 </a:t>
            </a:r>
            <a:r>
              <a:rPr dirty="0" sz="850" spc="10">
                <a:latin typeface="Calibri"/>
                <a:cs typeface="Calibri"/>
              </a:rPr>
              <a:t>Theano-based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developed</a:t>
            </a:r>
            <a:r>
              <a:rPr dirty="0" baseline="35353" sz="825" spc="15">
                <a:latin typeface="Calibri"/>
                <a:cs typeface="Calibri"/>
                <a:hlinkClick r:id="rId5" action="ppaction://hlinksldjump"/>
              </a:rPr>
              <a:t>27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available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6"/>
              </a:rPr>
              <a:t>here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recognizably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along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lines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although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multiple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GPUs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complicates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somewhat.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Caffe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framework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includes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version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90">
                <a:latin typeface="Calibri"/>
                <a:cs typeface="Calibri"/>
              </a:rPr>
              <a:t>KSH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7"/>
              </a:rPr>
              <a:t>Model</a:t>
            </a:r>
            <a:r>
              <a:rPr dirty="0" sz="850" spc="120">
                <a:latin typeface="Calibri"/>
                <a:cs typeface="Calibri"/>
                <a:hlinkClick r:id="rId7"/>
              </a:rPr>
              <a:t> </a:t>
            </a:r>
            <a:r>
              <a:rPr dirty="0" sz="850">
                <a:latin typeface="Calibri"/>
                <a:cs typeface="Calibri"/>
                <a:hlinkClick r:id="rId7"/>
              </a:rPr>
              <a:t>Zoo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details.</a:t>
            </a:r>
            <a:endParaRPr sz="850">
              <a:latin typeface="Calibri"/>
              <a:cs typeface="Calibri"/>
            </a:endParaRPr>
          </a:p>
          <a:p>
            <a:pPr algn="just" marL="38100" marR="30480" indent="196215">
              <a:lnSpc>
                <a:spcPct val="114300"/>
              </a:lnSpc>
            </a:pPr>
            <a:r>
              <a:rPr dirty="0" sz="850" spc="60" b="1">
                <a:latin typeface="Calibri"/>
                <a:cs typeface="Calibri"/>
              </a:rPr>
              <a:t>The</a:t>
            </a:r>
            <a:r>
              <a:rPr dirty="0" sz="850" spc="290" b="1">
                <a:latin typeface="Calibri"/>
                <a:cs typeface="Calibri"/>
              </a:rPr>
              <a:t> </a:t>
            </a:r>
            <a:r>
              <a:rPr dirty="0" sz="850" spc="70" b="1">
                <a:latin typeface="Calibri"/>
                <a:cs typeface="Calibri"/>
              </a:rPr>
              <a:t>2014</a:t>
            </a:r>
            <a:r>
              <a:rPr dirty="0" sz="850" spc="290" b="1">
                <a:latin typeface="Calibri"/>
                <a:cs typeface="Calibri"/>
              </a:rPr>
              <a:t> </a:t>
            </a:r>
            <a:r>
              <a:rPr dirty="0" sz="850" spc="80" b="1">
                <a:latin typeface="Calibri"/>
                <a:cs typeface="Calibri"/>
              </a:rPr>
              <a:t>ILSVRC</a:t>
            </a:r>
            <a:r>
              <a:rPr dirty="0" sz="850" spc="29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competition:</a:t>
            </a:r>
            <a:r>
              <a:rPr dirty="0" sz="850" spc="160" b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2012,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rapid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progress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continues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made.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2014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ILSVRC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competition.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2012,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involved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1.2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million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images,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1,000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categories,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figure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merit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predictions</a:t>
            </a:r>
            <a:r>
              <a:rPr dirty="0" sz="850" spc="20">
                <a:latin typeface="Calibri"/>
                <a:cs typeface="Calibri"/>
              </a:rPr>
              <a:t> included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correct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category.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winning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team,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based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primarily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Google</a:t>
            </a:r>
            <a:r>
              <a:rPr dirty="0" baseline="35353" sz="825" spc="30">
                <a:latin typeface="Calibri"/>
                <a:cs typeface="Calibri"/>
                <a:hlinkClick r:id="rId5" action="ppaction://hlinksldjump"/>
              </a:rPr>
              <a:t>28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deep</a:t>
            </a:r>
            <a:r>
              <a:rPr dirty="0" sz="850" spc="20">
                <a:latin typeface="Calibri"/>
                <a:cs typeface="Calibri"/>
              </a:rPr>
              <a:t> convolutional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22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neurons.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called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their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GoogLeNet,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homage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LeNet-5.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GoogLeNet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achieved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top-5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accuracy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93.33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giant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over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2013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winner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</a:t>
            </a:r>
            <a:r>
              <a:rPr dirty="0" sz="850" spc="20">
                <a:latin typeface="Calibri"/>
                <a:cs typeface="Calibri"/>
                <a:hlinkClick r:id="rId8"/>
              </a:rPr>
              <a:t>Clarifai</a:t>
            </a:r>
            <a:r>
              <a:rPr dirty="0" sz="850" spc="20">
                <a:latin typeface="Calibri"/>
                <a:cs typeface="Calibri"/>
              </a:rPr>
              <a:t>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88.3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percent),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2012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winner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(KSH,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84.7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percent).</a:t>
            </a:r>
            <a:endParaRPr sz="850">
              <a:latin typeface="Calibri"/>
              <a:cs typeface="Calibri"/>
            </a:endParaRPr>
          </a:p>
          <a:p>
            <a:pPr algn="just" marL="38100" marR="57785" indent="196215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GoogLeNet’s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93.33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accuracy?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2014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team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researchers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survey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ILSVRC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competition</a:t>
            </a:r>
            <a:r>
              <a:rPr dirty="0" baseline="35353" sz="825" spc="15">
                <a:latin typeface="Calibri"/>
                <a:cs typeface="Calibri"/>
                <a:hlinkClick r:id="rId5" action="ppaction://hlinksldjump"/>
              </a:rPr>
              <a:t>29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address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perform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ILSVRC.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humans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079996" y="7214248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37233" y="7229622"/>
            <a:ext cx="4421505" cy="78486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just" marL="42545" marR="30480" indent="8699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15">
                <a:latin typeface="Calibri"/>
                <a:cs typeface="Calibri"/>
              </a:rPr>
              <a:t>27</a:t>
            </a:r>
            <a:r>
              <a:rPr dirty="0" sz="750" spc="10">
                <a:latin typeface="Calibri"/>
                <a:cs typeface="Calibri"/>
                <a:hlinkClick r:id="rId9"/>
              </a:rPr>
              <a:t>Theano-based</a:t>
            </a:r>
            <a:r>
              <a:rPr dirty="0" sz="750" spc="155">
                <a:latin typeface="Calibri"/>
                <a:cs typeface="Calibri"/>
                <a:hlinkClick r:id="rId9"/>
              </a:rPr>
              <a:t> </a:t>
            </a:r>
            <a:r>
              <a:rPr dirty="0" sz="750" spc="10">
                <a:latin typeface="Calibri"/>
                <a:cs typeface="Calibri"/>
                <a:hlinkClick r:id="rId9"/>
              </a:rPr>
              <a:t>large-scale</a:t>
            </a:r>
            <a:r>
              <a:rPr dirty="0" sz="750" spc="160">
                <a:latin typeface="Calibri"/>
                <a:cs typeface="Calibri"/>
                <a:hlinkClick r:id="rId9"/>
              </a:rPr>
              <a:t> </a:t>
            </a:r>
            <a:r>
              <a:rPr dirty="0" sz="750" spc="10">
                <a:latin typeface="Calibri"/>
                <a:cs typeface="Calibri"/>
                <a:hlinkClick r:id="rId9"/>
              </a:rPr>
              <a:t>visual</a:t>
            </a:r>
            <a:r>
              <a:rPr dirty="0" sz="750" spc="155">
                <a:latin typeface="Calibri"/>
                <a:cs typeface="Calibri"/>
                <a:hlinkClick r:id="rId9"/>
              </a:rPr>
              <a:t> </a:t>
            </a:r>
            <a:r>
              <a:rPr dirty="0" sz="750" spc="10">
                <a:latin typeface="Calibri"/>
                <a:cs typeface="Calibri"/>
                <a:hlinkClick r:id="rId9"/>
              </a:rPr>
              <a:t>recognition</a:t>
            </a:r>
            <a:r>
              <a:rPr dirty="0" sz="750" spc="160">
                <a:latin typeface="Calibri"/>
                <a:cs typeface="Calibri"/>
                <a:hlinkClick r:id="rId9"/>
              </a:rPr>
              <a:t> </a:t>
            </a:r>
            <a:r>
              <a:rPr dirty="0" sz="750" spc="10">
                <a:latin typeface="Calibri"/>
                <a:cs typeface="Calibri"/>
                <a:hlinkClick r:id="rId9"/>
              </a:rPr>
              <a:t>with</a:t>
            </a:r>
            <a:r>
              <a:rPr dirty="0" sz="750" spc="155">
                <a:latin typeface="Calibri"/>
                <a:cs typeface="Calibri"/>
                <a:hlinkClick r:id="rId9"/>
              </a:rPr>
              <a:t> </a:t>
            </a:r>
            <a:r>
              <a:rPr dirty="0" sz="750" spc="10">
                <a:latin typeface="Calibri"/>
                <a:cs typeface="Calibri"/>
                <a:hlinkClick r:id="rId9"/>
              </a:rPr>
              <a:t>multiple</a:t>
            </a:r>
            <a:r>
              <a:rPr dirty="0" sz="750" spc="160">
                <a:latin typeface="Calibri"/>
                <a:cs typeface="Calibri"/>
                <a:hlinkClick r:id="rId9"/>
              </a:rPr>
              <a:t> </a:t>
            </a:r>
            <a:r>
              <a:rPr dirty="0" sz="750" spc="10">
                <a:latin typeface="Calibri"/>
                <a:cs typeface="Calibri"/>
                <a:hlinkClick r:id="rId9"/>
              </a:rPr>
              <a:t>GPUs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Weiguang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Ding,</a:t>
            </a:r>
            <a:r>
              <a:rPr dirty="0" sz="750" spc="16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Ruoyan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Wang,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Fei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Mao,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Graham</a:t>
            </a:r>
            <a:r>
              <a:rPr dirty="0" sz="750" spc="15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Taylor</a:t>
            </a:r>
            <a:r>
              <a:rPr dirty="0" sz="750" spc="15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(2014).</a:t>
            </a:r>
            <a:endParaRPr sz="750">
              <a:latin typeface="Calibri"/>
              <a:cs typeface="Calibri"/>
            </a:endParaRPr>
          </a:p>
          <a:p>
            <a:pPr algn="just" marL="42545" marR="48260" indent="86995">
              <a:lnSpc>
                <a:spcPts val="800"/>
              </a:lnSpc>
              <a:spcBef>
                <a:spcPts val="130"/>
              </a:spcBef>
            </a:pPr>
            <a:r>
              <a:rPr dirty="0" baseline="30303" sz="825" spc="30">
                <a:latin typeface="Calibri"/>
                <a:cs typeface="Calibri"/>
              </a:rPr>
              <a:t>28</a:t>
            </a:r>
            <a:r>
              <a:rPr dirty="0" sz="750" spc="20">
                <a:latin typeface="Calibri"/>
                <a:cs typeface="Calibri"/>
                <a:hlinkClick r:id="rId10"/>
              </a:rPr>
              <a:t>Going</a:t>
            </a:r>
            <a:r>
              <a:rPr dirty="0" sz="750" spc="30">
                <a:latin typeface="Calibri"/>
                <a:cs typeface="Calibri"/>
                <a:hlinkClick r:id="rId10"/>
              </a:rPr>
              <a:t> </a:t>
            </a:r>
            <a:r>
              <a:rPr dirty="0" sz="750" spc="10">
                <a:latin typeface="Calibri"/>
                <a:cs typeface="Calibri"/>
                <a:hlinkClick r:id="rId10"/>
              </a:rPr>
              <a:t>deeper</a:t>
            </a:r>
            <a:r>
              <a:rPr dirty="0" sz="750" spc="40">
                <a:latin typeface="Calibri"/>
                <a:cs typeface="Calibri"/>
                <a:hlinkClick r:id="rId10"/>
              </a:rPr>
              <a:t> </a:t>
            </a:r>
            <a:r>
              <a:rPr dirty="0" sz="750" spc="20">
                <a:latin typeface="Calibri"/>
                <a:cs typeface="Calibri"/>
                <a:hlinkClick r:id="rId10"/>
              </a:rPr>
              <a:t>with</a:t>
            </a:r>
            <a:r>
              <a:rPr dirty="0" sz="750" spc="35">
                <a:latin typeface="Calibri"/>
                <a:cs typeface="Calibri"/>
                <a:hlinkClick r:id="rId10"/>
              </a:rPr>
              <a:t> </a:t>
            </a:r>
            <a:r>
              <a:rPr dirty="0" sz="750" spc="20">
                <a:latin typeface="Calibri"/>
                <a:cs typeface="Calibri"/>
                <a:hlinkClick r:id="rId10"/>
              </a:rPr>
              <a:t>convolutions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Christian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Szegedy,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Wei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Liu,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Yangqing</a:t>
            </a:r>
            <a:r>
              <a:rPr dirty="0" sz="750" spc="3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Jia,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Pierre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Sermanet,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Scott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Reed,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Dragomir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Anguelov,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Dumitru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Erhan,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Vincent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Vanhoucke,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Andrew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Rabinovich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(2014).</a:t>
            </a:r>
            <a:endParaRPr sz="750">
              <a:latin typeface="Calibri"/>
              <a:cs typeface="Calibri"/>
            </a:endParaRPr>
          </a:p>
          <a:p>
            <a:pPr algn="just" marL="38100" marR="30480" indent="92075">
              <a:lnSpc>
                <a:spcPts val="800"/>
              </a:lnSpc>
              <a:spcBef>
                <a:spcPts val="135"/>
              </a:spcBef>
            </a:pPr>
            <a:r>
              <a:rPr dirty="0" baseline="30303" sz="825" spc="30">
                <a:latin typeface="Calibri"/>
                <a:cs typeface="Calibri"/>
              </a:rPr>
              <a:t>29</a:t>
            </a:r>
            <a:r>
              <a:rPr dirty="0" sz="750" spc="20">
                <a:latin typeface="Calibri"/>
                <a:cs typeface="Calibri"/>
                <a:hlinkClick r:id="rId11"/>
              </a:rPr>
              <a:t>ImageNet</a:t>
            </a:r>
            <a:r>
              <a:rPr dirty="0" sz="750" spc="50">
                <a:latin typeface="Calibri"/>
                <a:cs typeface="Calibri"/>
                <a:hlinkClick r:id="rId11"/>
              </a:rPr>
              <a:t> </a:t>
            </a:r>
            <a:r>
              <a:rPr dirty="0" sz="750" spc="20">
                <a:latin typeface="Calibri"/>
                <a:cs typeface="Calibri"/>
                <a:hlinkClick r:id="rId11"/>
              </a:rPr>
              <a:t>large</a:t>
            </a:r>
            <a:r>
              <a:rPr dirty="0" sz="750" spc="50">
                <a:latin typeface="Calibri"/>
                <a:cs typeface="Calibri"/>
                <a:hlinkClick r:id="rId11"/>
              </a:rPr>
              <a:t> </a:t>
            </a:r>
            <a:r>
              <a:rPr dirty="0" sz="750" spc="20">
                <a:latin typeface="Calibri"/>
                <a:cs typeface="Calibri"/>
                <a:hlinkClick r:id="rId11"/>
              </a:rPr>
              <a:t>scale</a:t>
            </a:r>
            <a:r>
              <a:rPr dirty="0" sz="750" spc="50">
                <a:latin typeface="Calibri"/>
                <a:cs typeface="Calibri"/>
                <a:hlinkClick r:id="rId11"/>
              </a:rPr>
              <a:t> </a:t>
            </a:r>
            <a:r>
              <a:rPr dirty="0" sz="750" spc="20">
                <a:latin typeface="Calibri"/>
                <a:cs typeface="Calibri"/>
                <a:hlinkClick r:id="rId11"/>
              </a:rPr>
              <a:t>visual</a:t>
            </a:r>
            <a:r>
              <a:rPr dirty="0" sz="750" spc="55">
                <a:latin typeface="Calibri"/>
                <a:cs typeface="Calibri"/>
                <a:hlinkClick r:id="rId11"/>
              </a:rPr>
              <a:t> </a:t>
            </a:r>
            <a:r>
              <a:rPr dirty="0" sz="750" spc="20">
                <a:latin typeface="Calibri"/>
                <a:cs typeface="Calibri"/>
                <a:hlinkClick r:id="rId11"/>
              </a:rPr>
              <a:t>recognition</a:t>
            </a:r>
            <a:r>
              <a:rPr dirty="0" sz="750" spc="50">
                <a:latin typeface="Calibri"/>
                <a:cs typeface="Calibri"/>
                <a:hlinkClick r:id="rId11"/>
              </a:rPr>
              <a:t> </a:t>
            </a:r>
            <a:r>
              <a:rPr dirty="0" sz="750" spc="20">
                <a:latin typeface="Calibri"/>
                <a:cs typeface="Calibri"/>
                <a:hlinkClick r:id="rId11"/>
              </a:rPr>
              <a:t>challenge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Olga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Russakovsky,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Jia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Deng,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Hao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Su,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Jonathan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Krause,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Sanjeev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Satheesh,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Sean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Zhiheng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Huang,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Andrej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Karpathy,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Aditya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Khosla,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Michael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Bernstein,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Alexander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C.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Berg,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Li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Fei-Fei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(2014).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7" name="object 7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1700" cy="72796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200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31470" marR="5143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classify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ILSVRC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authors,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Andrej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Karpathy,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informative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/>
              </a:rPr>
              <a:t>blog</a:t>
            </a:r>
            <a:r>
              <a:rPr dirty="0" sz="850" spc="114">
                <a:latin typeface="Calibri"/>
                <a:cs typeface="Calibri"/>
                <a:hlinkClick r:id="rId2"/>
              </a:rPr>
              <a:t> </a:t>
            </a:r>
            <a:r>
              <a:rPr dirty="0" sz="850">
                <a:latin typeface="Calibri"/>
                <a:cs typeface="Calibri"/>
                <a:hlinkClick r:id="rId2"/>
              </a:rPr>
              <a:t>post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trouble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GoogLeNet’s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performance:</a:t>
            </a:r>
            <a:endParaRPr sz="850">
              <a:latin typeface="Calibri"/>
              <a:cs typeface="Calibri"/>
            </a:endParaRPr>
          </a:p>
          <a:p>
            <a:pPr algn="just" marL="865505" marR="383540" indent="6350">
              <a:lnSpc>
                <a:spcPct val="114300"/>
              </a:lnSpc>
              <a:spcBef>
                <a:spcPts val="75"/>
              </a:spcBef>
            </a:pPr>
            <a:r>
              <a:rPr dirty="0" sz="850">
                <a:latin typeface="Calibri"/>
                <a:cs typeface="Calibri"/>
              </a:rPr>
              <a:t>...the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task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labeling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5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1000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categories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quickly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turned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 to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challenging,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 some friends in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lab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85">
                <a:latin typeface="Calibri"/>
                <a:cs typeface="Calibri"/>
              </a:rPr>
              <a:t>ILSVRC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thought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5">
                <a:latin typeface="Lucida Sans Unicode"/>
                <a:cs typeface="Lucida Sans Unicode"/>
              </a:rPr>
              <a:t>[</a:t>
            </a:r>
            <a:r>
              <a:rPr dirty="0" sz="850" spc="55">
                <a:latin typeface="Calibri"/>
                <a:cs typeface="Calibri"/>
              </a:rPr>
              <a:t>Amazon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Mechanical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Turk</a:t>
            </a:r>
            <a:r>
              <a:rPr dirty="0" sz="850" spc="10">
                <a:latin typeface="Lucida Sans Unicode"/>
                <a:cs typeface="Lucida Sans Unicode"/>
              </a:rPr>
              <a:t>]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thought</a:t>
            </a:r>
            <a:r>
              <a:rPr dirty="0" sz="850" spc="20">
                <a:latin typeface="Calibri"/>
                <a:cs typeface="Calibri"/>
              </a:rPr>
              <a:t> 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could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recruit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paid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undergrads.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organized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labeling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labeling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effort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among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(expert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labelers)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lab.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I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modified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interface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GoogLeNet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predictions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prune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categories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1000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100.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kept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missing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categories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getting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ranges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13–</a:t>
            </a:r>
            <a:r>
              <a:rPr dirty="0" sz="850" spc="-25">
                <a:latin typeface="Calibri"/>
                <a:cs typeface="Calibri"/>
              </a:rPr>
              <a:t>15%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realized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anywhere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competitively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close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GoogLeNet,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efficient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down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through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painfully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process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subsequent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careful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annotation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process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myself...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labeling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minute,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decreased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time...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recognized,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while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(such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fine-grained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breeds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dogs,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birds,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monkeys)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require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minutes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concentrated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effort.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became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identifying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breeds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dogs...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sample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GoogLeNet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classification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6.8%...</a:t>
            </a:r>
            <a:r>
              <a:rPr dirty="0" sz="850" spc="20">
                <a:latin typeface="Calibri"/>
                <a:cs typeface="Calibri"/>
              </a:rPr>
              <a:t> My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own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error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turned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5.1%,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approximately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1.7% </a:t>
            </a:r>
            <a:r>
              <a:rPr dirty="0" sz="850" spc="-10">
                <a:latin typeface="Calibri"/>
                <a:cs typeface="Calibri"/>
              </a:rPr>
              <a:t>better.</a:t>
            </a:r>
            <a:endParaRPr sz="850">
              <a:latin typeface="Calibri"/>
              <a:cs typeface="Calibri"/>
            </a:endParaRPr>
          </a:p>
          <a:p>
            <a:pPr algn="just" marL="331470" marR="52069">
              <a:lnSpc>
                <a:spcPct val="114300"/>
              </a:lnSpc>
              <a:spcBef>
                <a:spcPts val="70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words,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expert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human,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working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painstakingly,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great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effort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able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narrowly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43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Karpathy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reports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human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expert,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sample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attain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12.0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top-</a:t>
            </a:r>
            <a:r>
              <a:rPr dirty="0" sz="850" spc="-50">
                <a:latin typeface="Calibri"/>
                <a:cs typeface="Calibri"/>
              </a:rPr>
              <a:t>5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rate,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significantly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below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GoogLeNet’s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half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errors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due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“failing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ground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label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option”.</a:t>
            </a:r>
            <a:endParaRPr sz="850">
              <a:latin typeface="Calibri"/>
              <a:cs typeface="Calibri"/>
            </a:endParaRPr>
          </a:p>
          <a:p>
            <a:pPr algn="just" marL="331470" marR="46990" indent="189230">
              <a:lnSpc>
                <a:spcPct val="114300"/>
              </a:lnSpc>
              <a:spcBef>
                <a:spcPts val="75"/>
              </a:spcBef>
            </a:pP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astonishing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results.</a:t>
            </a:r>
            <a:r>
              <a:rPr dirty="0" sz="850" spc="4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several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teams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reported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whose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top-5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error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5.1%.</a:t>
            </a:r>
            <a:r>
              <a:rPr dirty="0" sz="850" spc="200">
                <a:latin typeface="Calibri"/>
                <a:cs typeface="Calibri"/>
              </a:rPr>
              <a:t> 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been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reported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media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better-than-human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vision.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20">
                <a:latin typeface="Calibri"/>
                <a:cs typeface="Calibri"/>
              </a:rPr>
              <a:t> genuinely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exciting,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caveats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make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misleading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think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systems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better-than-human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vision.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ILSVRC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challenge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limited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crawl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open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web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necessarily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representative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applications!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top-5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criterion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broadly,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vision.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20">
                <a:latin typeface="Calibri"/>
                <a:cs typeface="Calibri"/>
              </a:rPr>
              <a:t> extremely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encouraging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progress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made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challenging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over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years.</a:t>
            </a:r>
            <a:endParaRPr sz="850">
              <a:latin typeface="Calibri"/>
              <a:cs typeface="Calibri"/>
            </a:endParaRPr>
          </a:p>
          <a:p>
            <a:pPr algn="just" marL="331470" marR="48260" indent="189230">
              <a:lnSpc>
                <a:spcPct val="114300"/>
              </a:lnSpc>
              <a:spcBef>
                <a:spcPts val="75"/>
              </a:spcBef>
            </a:pPr>
            <a:r>
              <a:rPr dirty="0" sz="850" spc="10" b="1">
                <a:latin typeface="Calibri"/>
                <a:cs typeface="Calibri"/>
              </a:rPr>
              <a:t>Other</a:t>
            </a:r>
            <a:r>
              <a:rPr dirty="0" sz="850" spc="18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activity:</a:t>
            </a:r>
            <a:r>
              <a:rPr dirty="0" sz="850" spc="285" b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focused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ImageNet,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considerable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amount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activity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recognition.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briefly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describe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interesting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flavour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current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work.</a:t>
            </a:r>
            <a:endParaRPr sz="850">
              <a:latin typeface="Calibri"/>
              <a:cs typeface="Calibri"/>
            </a:endParaRPr>
          </a:p>
          <a:p>
            <a:pPr algn="just" marL="331470" marR="30480" indent="189230">
              <a:lnSpc>
                <a:spcPct val="114300"/>
              </a:lnSpc>
              <a:spcBef>
                <a:spcPts val="75"/>
              </a:spcBef>
            </a:pP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encouraging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team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Google,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deep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street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Google’s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Street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View</a:t>
            </a:r>
            <a:r>
              <a:rPr dirty="0" sz="850" spc="20">
                <a:latin typeface="Calibri"/>
                <a:cs typeface="Calibri"/>
              </a:rPr>
              <a:t> imagery</a:t>
            </a:r>
            <a:r>
              <a:rPr dirty="0" baseline="35353" sz="825" spc="30">
                <a:latin typeface="Calibri"/>
                <a:cs typeface="Calibri"/>
                <a:hlinkClick r:id="rId3" action="ppaction://hlinksldjump"/>
              </a:rPr>
              <a:t>30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their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paper,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report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detecting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automatically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transcribing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nearly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100 </a:t>
            </a:r>
            <a:r>
              <a:rPr dirty="0" sz="850">
                <a:latin typeface="Calibri"/>
                <a:cs typeface="Calibri"/>
              </a:rPr>
              <a:t>million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street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accuracy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similar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operator.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fast: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transcribed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Street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street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France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than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01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76160" y="7770973"/>
            <a:ext cx="4425315" cy="2438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 marR="30480" indent="92710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30">
                <a:latin typeface="Calibri"/>
                <a:cs typeface="Calibri"/>
              </a:rPr>
              <a:t>30</a:t>
            </a:r>
            <a:r>
              <a:rPr dirty="0" sz="750" spc="20">
                <a:latin typeface="Calibri"/>
                <a:cs typeface="Calibri"/>
                <a:hlinkClick r:id="rId4"/>
              </a:rPr>
              <a:t>Multi-digit</a:t>
            </a:r>
            <a:r>
              <a:rPr dirty="0" sz="750" spc="14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Number</a:t>
            </a:r>
            <a:r>
              <a:rPr dirty="0" sz="750" spc="14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Recognition</a:t>
            </a:r>
            <a:r>
              <a:rPr dirty="0" sz="750" spc="14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from</a:t>
            </a:r>
            <a:r>
              <a:rPr dirty="0" sz="750" spc="14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Street</a:t>
            </a:r>
            <a:r>
              <a:rPr dirty="0" sz="750" spc="14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View</a:t>
            </a:r>
            <a:r>
              <a:rPr dirty="0" sz="750" spc="14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Imagery</a:t>
            </a:r>
            <a:r>
              <a:rPr dirty="0" sz="750" spc="14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using</a:t>
            </a:r>
            <a:r>
              <a:rPr dirty="0" sz="750" spc="14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Deep</a:t>
            </a:r>
            <a:r>
              <a:rPr dirty="0" sz="750" spc="14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Convolutional</a:t>
            </a:r>
            <a:r>
              <a:rPr dirty="0" sz="750" spc="14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Neural</a:t>
            </a:r>
            <a:r>
              <a:rPr dirty="0" sz="750" spc="140">
                <a:latin typeface="Calibri"/>
                <a:cs typeface="Calibri"/>
                <a:hlinkClick r:id="rId4"/>
              </a:rPr>
              <a:t> </a:t>
            </a:r>
            <a:r>
              <a:rPr dirty="0" sz="750" spc="-20">
                <a:latin typeface="Calibri"/>
                <a:cs typeface="Calibri"/>
                <a:hlinkClick r:id="rId4"/>
              </a:rPr>
              <a:t>Net-</a:t>
            </a:r>
            <a:r>
              <a:rPr dirty="0" sz="750" spc="10">
                <a:latin typeface="Calibri"/>
                <a:cs typeface="Calibri"/>
                <a:hlinkClick r:id="rId4"/>
              </a:rPr>
              <a:t>works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Ian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J.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Goodfellow,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Yaroslav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Bulatov,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Julian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Ibarz,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Sacha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Arnoud,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Vinay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Shet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(2013).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6" name="object 6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456" y="368721"/>
            <a:ext cx="4670425" cy="23469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267585">
              <a:lnSpc>
                <a:spcPts val="525"/>
              </a:lnSpc>
              <a:spcBef>
                <a:spcPts val="110"/>
              </a:spcBef>
              <a:tabLst>
                <a:tab pos="4449445" algn="l"/>
              </a:tabLst>
            </a:pPr>
            <a:r>
              <a:rPr dirty="0" sz="850">
                <a:latin typeface="Calibri"/>
                <a:cs typeface="Calibri"/>
              </a:rPr>
              <a:t>6.4.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progress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recognition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201</a:t>
            </a:r>
            <a:endParaRPr sz="850">
              <a:latin typeface="Calibri"/>
              <a:cs typeface="Calibri"/>
            </a:endParaRPr>
          </a:p>
          <a:p>
            <a:pPr algn="r" marR="2889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8100" marR="294005" indent="635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hour!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say: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“Having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dataset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significantly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increased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geocoding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quality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Google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countries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especially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already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sources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geocoding.”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broader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claim: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believe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model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Lucida Sans Unicode"/>
                <a:cs typeface="Lucida Sans Unicode"/>
              </a:rPr>
              <a:t>[</a:t>
            </a:r>
            <a:r>
              <a:rPr dirty="0" sz="850" spc="10">
                <a:latin typeface="Calibri"/>
                <a:cs typeface="Calibri"/>
              </a:rPr>
              <a:t>optical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character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sz="850" spc="10">
                <a:latin typeface="Lucida Sans Unicode"/>
                <a:cs typeface="Lucida Sans Unicode"/>
              </a:rPr>
              <a:t>]</a:t>
            </a:r>
            <a:r>
              <a:rPr dirty="0" sz="850" spc="25">
                <a:latin typeface="Lucida Sans Unicode"/>
                <a:cs typeface="Lucida Sans Unicode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short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sequences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Lucida Sans Unicode"/>
                <a:cs typeface="Lucida Sans Unicode"/>
              </a:rPr>
              <a:t>[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characters</a:t>
            </a:r>
            <a:r>
              <a:rPr dirty="0" sz="850" spc="10">
                <a:latin typeface="Lucida Sans Unicode"/>
                <a:cs typeface="Lucida Sans Unicode"/>
              </a:rPr>
              <a:t>]</a:t>
            </a:r>
            <a:r>
              <a:rPr dirty="0" sz="850" spc="30">
                <a:latin typeface="Lucida Sans Unicode"/>
                <a:cs typeface="Lucida Sans Unicode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many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applications.”</a:t>
            </a:r>
            <a:endParaRPr sz="850">
              <a:latin typeface="Calibri"/>
              <a:cs typeface="Calibri"/>
            </a:endParaRPr>
          </a:p>
          <a:p>
            <a:pPr algn="just" marL="44450" marR="27051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I’ve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impression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parade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encouraging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course,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reports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2013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paper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31</a:t>
            </a:r>
            <a:r>
              <a:rPr dirty="0" baseline="35353" sz="825" spc="337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showed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suffer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effectively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blind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spots.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below.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left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ImageNet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classified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right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slightly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perturbed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perturbation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middle)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classified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incorrectly</a:t>
            </a:r>
            <a:r>
              <a:rPr dirty="0" sz="850" spc="11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authors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“adversarial”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sample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ones.</a:t>
            </a:r>
            <a:endParaRPr sz="850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051989" y="2805366"/>
            <a:ext cx="2370788" cy="2370787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1079996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22781" y="5298790"/>
            <a:ext cx="4448810" cy="27158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40640" marR="35560" indent="1143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 a disturbing result.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 paper used a network </a:t>
            </a:r>
            <a:r>
              <a:rPr dirty="0" sz="850">
                <a:latin typeface="Calibri"/>
                <a:cs typeface="Calibri"/>
              </a:rPr>
              <a:t>based</a:t>
            </a:r>
            <a:r>
              <a:rPr dirty="0" sz="850" spc="10">
                <a:latin typeface="Calibri"/>
                <a:cs typeface="Calibri"/>
              </a:rPr>
              <a:t> on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same code as KSH’s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type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increasingly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widely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While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principle,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continuous,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they’re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discontinuous.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Worse,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they’ll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discontinuous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violate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intuition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reasonable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behavior.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concerning.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Furthermore,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understood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discontinuity: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loss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function?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used?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network?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else?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know.</a:t>
            </a:r>
            <a:endParaRPr sz="850">
              <a:latin typeface="Calibri"/>
              <a:cs typeface="Calibri"/>
            </a:endParaRPr>
          </a:p>
          <a:p>
            <a:pPr algn="just" marL="57150" marR="6350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Now,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quite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sound.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Although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adversarial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unlikely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practice.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notes:</a:t>
            </a:r>
            <a:endParaRPr sz="850">
              <a:latin typeface="Calibri"/>
              <a:cs typeface="Calibri"/>
            </a:endParaRPr>
          </a:p>
          <a:p>
            <a:pPr algn="just" marL="590550" marR="395605" indent="635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existence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adversarial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negatives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appears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contradiction</a:t>
            </a:r>
            <a:r>
              <a:rPr dirty="0" sz="850" spc="20">
                <a:latin typeface="Calibri"/>
                <a:cs typeface="Calibri"/>
              </a:rPr>
              <a:t> 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ability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achieve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high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generalization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performance.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Indeed,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generalize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confused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adversarial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negatives,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indistinguishable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regular</a:t>
            </a:r>
            <a:r>
              <a:rPr dirty="0" sz="850" spc="20">
                <a:latin typeface="Calibri"/>
                <a:cs typeface="Calibri"/>
              </a:rPr>
              <a:t> examples?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explanation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adversarial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negatives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probability,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thus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never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rarely)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observed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endParaRPr sz="850">
              <a:latin typeface="Calibri"/>
              <a:cs typeface="Calibri"/>
            </a:endParaRPr>
          </a:p>
          <a:p>
            <a:pPr marL="50800" marR="43180" indent="93345">
              <a:lnSpc>
                <a:spcPts val="800"/>
              </a:lnSpc>
              <a:spcBef>
                <a:spcPts val="944"/>
              </a:spcBef>
            </a:pPr>
            <a:r>
              <a:rPr dirty="0" baseline="30303" sz="825" spc="44">
                <a:latin typeface="Calibri"/>
                <a:cs typeface="Calibri"/>
              </a:rPr>
              <a:t>31</a:t>
            </a:r>
            <a:r>
              <a:rPr dirty="0" sz="750" spc="30">
                <a:latin typeface="Calibri"/>
                <a:cs typeface="Calibri"/>
                <a:hlinkClick r:id="rId4"/>
              </a:rPr>
              <a:t>Intriguing</a:t>
            </a:r>
            <a:r>
              <a:rPr dirty="0" sz="750" spc="5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properties</a:t>
            </a:r>
            <a:r>
              <a:rPr dirty="0" sz="750" spc="55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of</a:t>
            </a:r>
            <a:r>
              <a:rPr dirty="0" sz="750" spc="55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neural</a:t>
            </a:r>
            <a:r>
              <a:rPr dirty="0" sz="750" spc="55">
                <a:latin typeface="Calibri"/>
                <a:cs typeface="Calibri"/>
                <a:hlinkClick r:id="rId4"/>
              </a:rPr>
              <a:t> </a:t>
            </a:r>
            <a:r>
              <a:rPr dirty="0" sz="750" spc="30">
                <a:latin typeface="Calibri"/>
                <a:cs typeface="Calibri"/>
                <a:hlinkClick r:id="rId4"/>
              </a:rPr>
              <a:t>networks</a:t>
            </a:r>
            <a:r>
              <a:rPr dirty="0" sz="750" spc="30">
                <a:latin typeface="Calibri"/>
                <a:cs typeface="Calibri"/>
              </a:rPr>
              <a:t>,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by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Christian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Szegedy,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Wojciech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Zaremba,</a:t>
            </a:r>
            <a:r>
              <a:rPr dirty="0" sz="750" spc="50">
                <a:latin typeface="Calibri"/>
                <a:cs typeface="Calibri"/>
              </a:rPr>
              <a:t> </a:t>
            </a:r>
            <a:r>
              <a:rPr dirty="0" sz="750" spc="30">
                <a:latin typeface="Calibri"/>
                <a:cs typeface="Calibri"/>
              </a:rPr>
              <a:t>Ilya</a:t>
            </a:r>
            <a:r>
              <a:rPr dirty="0" sz="750" spc="5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Sutskever,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Joan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Bruna,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Dumitru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Erhan,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Ian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Goodfellow,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Rob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Fergus</a:t>
            </a:r>
            <a:r>
              <a:rPr dirty="0" sz="750" spc="140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(2013)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7" name="object 7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8050" cy="31089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202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871855" marR="41783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test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dense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(much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rational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numbers),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found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virtually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case.</a:t>
            </a:r>
            <a:endParaRPr sz="850">
              <a:latin typeface="Calibri"/>
              <a:cs typeface="Calibri"/>
            </a:endParaRPr>
          </a:p>
          <a:p>
            <a:pPr algn="just" marL="331470" marR="34925">
              <a:lnSpc>
                <a:spcPct val="114300"/>
              </a:lnSpc>
              <a:spcBef>
                <a:spcPts val="85"/>
              </a:spcBef>
            </a:pPr>
            <a:r>
              <a:rPr dirty="0" sz="850" spc="10">
                <a:latin typeface="Calibri"/>
                <a:cs typeface="Calibri"/>
              </a:rPr>
              <a:t>Nonetheless,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distressing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poorly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kind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recent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discovery.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major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benefit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stimulated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followup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recent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</a:t>
            </a:r>
            <a:r>
              <a:rPr dirty="0" baseline="35353" sz="825" spc="15">
                <a:latin typeface="Calibri"/>
                <a:cs typeface="Calibri"/>
                <a:hlinkClick r:id="rId2" action="ppaction://hlinksldjump"/>
              </a:rPr>
              <a:t>32</a:t>
            </a:r>
            <a:r>
              <a:rPr dirty="0" baseline="35353" sz="825" spc="472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given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generate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white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noise,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classifies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category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high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degree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confidence.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another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demonstration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understanding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recognition.</a:t>
            </a:r>
            <a:endParaRPr sz="850">
              <a:latin typeface="Calibri"/>
              <a:cs typeface="Calibri"/>
            </a:endParaRPr>
          </a:p>
          <a:p>
            <a:pPr algn="just" marL="331470" marR="30480" indent="189230">
              <a:lnSpc>
                <a:spcPct val="114300"/>
              </a:lnSpc>
              <a:spcBef>
                <a:spcPts val="85"/>
              </a:spcBef>
            </a:pPr>
            <a:r>
              <a:rPr dirty="0" sz="850" spc="10">
                <a:latin typeface="Calibri"/>
                <a:cs typeface="Calibri"/>
              </a:rPr>
              <a:t>Despite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overall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picture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encouraging.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rapid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progress</a:t>
            </a:r>
            <a:r>
              <a:rPr dirty="0" sz="850" spc="20">
                <a:latin typeface="Calibri"/>
                <a:cs typeface="Calibri"/>
              </a:rPr>
              <a:t> 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extremely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difficult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benchmarks,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ImageNet.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rapid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progress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solution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real-world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recognizing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street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StreetView.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encouraging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improvements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benchmarks,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real-</a:t>
            </a:r>
            <a:r>
              <a:rPr dirty="0" sz="850" spc="-10">
                <a:latin typeface="Calibri"/>
                <a:cs typeface="Calibri"/>
              </a:rPr>
              <a:t>world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applications.</a:t>
            </a:r>
            <a:r>
              <a:rPr dirty="0" sz="850" spc="43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phenomena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poorly,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such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existence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adversarial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(never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solved),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premature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solving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recognition.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exciting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stimulus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work.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01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50052" y="3742669"/>
            <a:ext cx="4481195" cy="4271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9850">
              <a:lnSpc>
                <a:spcPct val="100000"/>
              </a:lnSpc>
              <a:spcBef>
                <a:spcPts val="100"/>
              </a:spcBef>
              <a:tabLst>
                <a:tab pos="396875" algn="l"/>
              </a:tabLst>
            </a:pPr>
            <a:r>
              <a:rPr dirty="0" sz="1050" spc="30" b="1">
                <a:latin typeface="Calibri"/>
                <a:cs typeface="Calibri"/>
              </a:rPr>
              <a:t>6.5</a:t>
            </a:r>
            <a:r>
              <a:rPr dirty="0" sz="1050" b="1">
                <a:latin typeface="Calibri"/>
                <a:cs typeface="Calibri"/>
              </a:rPr>
              <a:t>	Other</a:t>
            </a:r>
            <a:r>
              <a:rPr dirty="0" sz="1050" spc="155" b="1">
                <a:latin typeface="Calibri"/>
                <a:cs typeface="Calibri"/>
              </a:rPr>
              <a:t> </a:t>
            </a:r>
            <a:r>
              <a:rPr dirty="0" sz="1050" spc="50" b="1">
                <a:latin typeface="Calibri"/>
                <a:cs typeface="Calibri"/>
              </a:rPr>
              <a:t>approaches</a:t>
            </a:r>
            <a:r>
              <a:rPr dirty="0" sz="1050" spc="16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to</a:t>
            </a:r>
            <a:r>
              <a:rPr dirty="0" sz="1050" spc="16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deep</a:t>
            </a:r>
            <a:r>
              <a:rPr dirty="0" sz="1050" spc="155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neural</a:t>
            </a:r>
            <a:r>
              <a:rPr dirty="0" sz="1050" spc="160" b="1">
                <a:latin typeface="Calibri"/>
                <a:cs typeface="Calibri"/>
              </a:rPr>
              <a:t> </a:t>
            </a:r>
            <a:r>
              <a:rPr dirty="0" sz="1050" spc="-20" b="1">
                <a:latin typeface="Calibri"/>
                <a:cs typeface="Calibri"/>
              </a:rPr>
              <a:t>nets</a:t>
            </a:r>
            <a:endParaRPr sz="1050">
              <a:latin typeface="Calibri"/>
              <a:cs typeface="Calibri"/>
            </a:endParaRPr>
          </a:p>
          <a:p>
            <a:pPr algn="just" marL="63500" marR="55880" indent="1270">
              <a:lnSpc>
                <a:spcPct val="114300"/>
              </a:lnSpc>
              <a:spcBef>
                <a:spcPts val="1180"/>
              </a:spcBef>
            </a:pPr>
            <a:r>
              <a:rPr dirty="0" sz="850" spc="20">
                <a:latin typeface="Calibri"/>
                <a:cs typeface="Calibri"/>
              </a:rPr>
              <a:t>Through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concentrated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single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problem: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classifying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75">
                <a:latin typeface="Calibri"/>
                <a:cs typeface="Calibri"/>
              </a:rPr>
              <a:t>MNIST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digits.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juicy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forced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ideas: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stochastic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descent,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backpropagation,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convolutional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regularization,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narrow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literature,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haven’t</a:t>
            </a:r>
            <a:r>
              <a:rPr dirty="0" sz="850" spc="20">
                <a:latin typeface="Calibri"/>
                <a:cs typeface="Calibri"/>
              </a:rPr>
              <a:t> discussed: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recurrent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Boltzmann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machines,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generative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models,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transfer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reinforcement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â</a:t>
            </a:r>
            <a:r>
              <a:rPr dirty="0" sz="850" spc="-420">
                <a:latin typeface="Calibri"/>
                <a:cs typeface="Calibri"/>
              </a:rPr>
              <a:t>A</a:t>
            </a:r>
            <a:r>
              <a:rPr dirty="0" baseline="9803" sz="1275" spc="120">
                <a:latin typeface="Calibri"/>
                <a:cs typeface="Calibri"/>
              </a:rPr>
              <a:t>˘</a:t>
            </a:r>
            <a:r>
              <a:rPr dirty="0" sz="850" spc="-240">
                <a:latin typeface="Calibri"/>
                <a:cs typeface="Calibri"/>
              </a:rPr>
              <a:t>˛</a:t>
            </a:r>
            <a:r>
              <a:rPr dirty="0" sz="850" spc="25">
                <a:latin typeface="Calibri"/>
                <a:cs typeface="Calibri"/>
              </a:rPr>
              <a:t>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on!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field.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important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already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discussed,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understood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effort.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glimpse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yet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unseen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vistas.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detailed,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comprehensive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expand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Rather,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impressionistic,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attempt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evoke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conceptual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richness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riches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already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seen.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section,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I’ll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links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sources,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entrees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links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superseded,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wish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search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literature.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point</a:t>
            </a:r>
            <a:r>
              <a:rPr dirty="0" sz="850" spc="20">
                <a:latin typeface="Calibri"/>
                <a:cs typeface="Calibri"/>
              </a:rPr>
              <a:t> notwithstanding,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expect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underlying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lasting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interest.</a:t>
            </a:r>
            <a:endParaRPr sz="850">
              <a:latin typeface="Calibri"/>
              <a:cs typeface="Calibri"/>
            </a:endParaRPr>
          </a:p>
          <a:p>
            <a:pPr algn="just" marL="69850" marR="80010" indent="189230">
              <a:lnSpc>
                <a:spcPct val="114300"/>
              </a:lnSpc>
              <a:spcBef>
                <a:spcPts val="85"/>
              </a:spcBef>
            </a:pPr>
            <a:r>
              <a:rPr dirty="0" sz="850" spc="20" b="1">
                <a:latin typeface="Calibri"/>
                <a:cs typeface="Calibri"/>
              </a:rPr>
              <a:t>Recurrent</a:t>
            </a:r>
            <a:r>
              <a:rPr dirty="0" sz="850" spc="11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neural</a:t>
            </a:r>
            <a:r>
              <a:rPr dirty="0" sz="850" spc="114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networks</a:t>
            </a:r>
            <a:r>
              <a:rPr dirty="0" sz="850" spc="110" b="1">
                <a:latin typeface="Calibri"/>
                <a:cs typeface="Calibri"/>
              </a:rPr>
              <a:t> </a:t>
            </a:r>
            <a:r>
              <a:rPr dirty="0" sz="850" spc="75" b="1">
                <a:latin typeface="Calibri"/>
                <a:cs typeface="Calibri"/>
              </a:rPr>
              <a:t>(RNNs):</a:t>
            </a:r>
            <a:r>
              <a:rPr dirty="0" sz="850" spc="195" b="1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feedforward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completely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determines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through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remaining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layers.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static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picture: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everything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fixed,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frozen,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crystalline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quality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elements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keep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dynamic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determined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previous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hidden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layers,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earlier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Indeed,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neuron’s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determined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own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certainly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happens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feedforward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determined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current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earlier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inputs.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50">
              <a:latin typeface="Calibri"/>
              <a:cs typeface="Calibri"/>
            </a:endParaRPr>
          </a:p>
          <a:p>
            <a:pPr marL="69850" marR="62865" indent="86995">
              <a:lnSpc>
                <a:spcPts val="800"/>
              </a:lnSpc>
            </a:pPr>
            <a:r>
              <a:rPr dirty="0" baseline="30303" sz="825" spc="30">
                <a:latin typeface="Calibri"/>
                <a:cs typeface="Calibri"/>
              </a:rPr>
              <a:t>32</a:t>
            </a:r>
            <a:r>
              <a:rPr dirty="0" sz="750" spc="20">
                <a:latin typeface="Calibri"/>
                <a:cs typeface="Calibri"/>
                <a:hlinkClick r:id="rId3"/>
              </a:rPr>
              <a:t>Deep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Neural</a:t>
            </a:r>
            <a:r>
              <a:rPr dirty="0" sz="750" spc="9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Networks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are</a:t>
            </a:r>
            <a:r>
              <a:rPr dirty="0" sz="750" spc="9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Easily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Fooled:</a:t>
            </a:r>
            <a:r>
              <a:rPr dirty="0" sz="750" spc="190">
                <a:latin typeface="Calibri"/>
                <a:cs typeface="Calibri"/>
                <a:hlinkClick r:id="rId3"/>
              </a:rPr>
              <a:t> </a:t>
            </a:r>
            <a:r>
              <a:rPr dirty="0" sz="750" spc="55">
                <a:latin typeface="Calibri"/>
                <a:cs typeface="Calibri"/>
                <a:hlinkClick r:id="rId3"/>
              </a:rPr>
              <a:t>High</a:t>
            </a:r>
            <a:r>
              <a:rPr dirty="0" sz="750" spc="9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Confidence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Predictions</a:t>
            </a:r>
            <a:r>
              <a:rPr dirty="0" sz="750" spc="95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for</a:t>
            </a:r>
            <a:r>
              <a:rPr dirty="0" sz="750" spc="90">
                <a:latin typeface="Calibri"/>
                <a:cs typeface="Calibri"/>
                <a:hlinkClick r:id="rId3"/>
              </a:rPr>
              <a:t> </a:t>
            </a:r>
            <a:r>
              <a:rPr dirty="0" sz="750" spc="20">
                <a:latin typeface="Calibri"/>
                <a:cs typeface="Calibri"/>
                <a:hlinkClick r:id="rId3"/>
              </a:rPr>
              <a:t>Unrecognizable</a:t>
            </a:r>
            <a:r>
              <a:rPr dirty="0" sz="750" spc="95">
                <a:latin typeface="Calibri"/>
                <a:cs typeface="Calibri"/>
                <a:hlinkClick r:id="rId3"/>
              </a:rPr>
              <a:t> </a:t>
            </a:r>
            <a:r>
              <a:rPr dirty="0" sz="750" spc="-10">
                <a:latin typeface="Calibri"/>
                <a:cs typeface="Calibri"/>
                <a:hlinkClick r:id="rId3"/>
              </a:rPr>
              <a:t>Images</a:t>
            </a:r>
            <a:r>
              <a:rPr dirty="0" sz="750" spc="-10">
                <a:latin typeface="Calibri"/>
                <a:cs typeface="Calibri"/>
              </a:rPr>
              <a:t>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Anh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Nguyen,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Jason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Yosinski,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Jeff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Clune</a:t>
            </a:r>
            <a:r>
              <a:rPr dirty="0" sz="750" spc="145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(2014).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6" name="object 6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53628" y="368721"/>
            <a:ext cx="4627245" cy="76479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223770">
              <a:lnSpc>
                <a:spcPts val="525"/>
              </a:lnSpc>
              <a:spcBef>
                <a:spcPts val="110"/>
              </a:spcBef>
              <a:tabLst>
                <a:tab pos="4431665" algn="l"/>
              </a:tabLst>
            </a:pPr>
            <a:r>
              <a:rPr dirty="0" sz="850">
                <a:latin typeface="Calibri"/>
                <a:cs typeface="Calibri"/>
              </a:rPr>
              <a:t>6.5.</a:t>
            </a:r>
            <a:r>
              <a:rPr dirty="0" sz="850" spc="4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nets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203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0955" marR="245110" indent="19494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time-varying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recurrent</a:t>
            </a:r>
            <a:r>
              <a:rPr dirty="0" sz="850" spc="15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neural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networks</a:t>
            </a:r>
            <a:r>
              <a:rPr dirty="0" sz="850" spc="-10" i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 i="1">
                <a:latin typeface="Calibri"/>
                <a:cs typeface="Calibri"/>
              </a:rPr>
              <a:t>RNNs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mathematically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formalizing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informal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description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recurrent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paragraph.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flavour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these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mathematical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models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glancing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Wikipedia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article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RNNs.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write,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lists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13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mathematical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aside,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broad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idea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RNNs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dynamic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time.</a:t>
            </a:r>
            <a:r>
              <a:rPr dirty="0" sz="850" spc="20">
                <a:latin typeface="Calibri"/>
                <a:cs typeface="Calibri"/>
              </a:rPr>
              <a:t> And,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surprisingly,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they’re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useful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analysing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processes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change</a:t>
            </a:r>
            <a:r>
              <a:rPr dirty="0" sz="850" spc="20">
                <a:latin typeface="Calibri"/>
                <a:cs typeface="Calibri"/>
              </a:rPr>
              <a:t> over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time.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processes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arise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naturally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speech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natural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language,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example.</a:t>
            </a:r>
            <a:endParaRPr sz="850">
              <a:latin typeface="Calibri"/>
              <a:cs typeface="Calibri"/>
            </a:endParaRPr>
          </a:p>
          <a:p>
            <a:pPr algn="just" marL="12700" marR="268605" indent="203200">
              <a:lnSpc>
                <a:spcPct val="114300"/>
              </a:lnSpc>
              <a:spcBef>
                <a:spcPts val="185"/>
              </a:spcBef>
            </a:pP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RNNs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currently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closely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traditional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thinking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algorithms,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thinking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concepts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such</a:t>
            </a:r>
            <a:r>
              <a:rPr dirty="0" sz="850" spc="20">
                <a:latin typeface="Calibri"/>
                <a:cs typeface="Calibri"/>
              </a:rPr>
              <a:t> 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Turing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machines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(conventional)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programming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languages.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  <a:hlinkClick r:id="rId2"/>
              </a:rPr>
              <a:t>2014</a:t>
            </a:r>
            <a:r>
              <a:rPr dirty="0" sz="850" spc="120">
                <a:latin typeface="Calibri"/>
                <a:cs typeface="Calibri"/>
                <a:hlinkClick r:id="rId2"/>
              </a:rPr>
              <a:t> </a:t>
            </a:r>
            <a:r>
              <a:rPr dirty="0" sz="850" spc="20">
                <a:latin typeface="Calibri"/>
                <a:cs typeface="Calibri"/>
                <a:hlinkClick r:id="rId2"/>
              </a:rPr>
              <a:t>paper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developed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80">
                <a:latin typeface="Calibri"/>
                <a:cs typeface="Calibri"/>
              </a:rPr>
              <a:t>RNN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character-by-character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description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(very,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very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simple!)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Python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description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predict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output.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Informally,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“understand”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certain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Python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programs.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3"/>
              </a:rPr>
              <a:t>second</a:t>
            </a:r>
            <a:r>
              <a:rPr dirty="0" sz="850" spc="170">
                <a:latin typeface="Calibri"/>
                <a:cs typeface="Calibri"/>
                <a:hlinkClick r:id="rId3"/>
              </a:rPr>
              <a:t> </a:t>
            </a:r>
            <a:r>
              <a:rPr dirty="0" sz="850" spc="10">
                <a:latin typeface="Calibri"/>
                <a:cs typeface="Calibri"/>
                <a:hlinkClick r:id="rId3"/>
              </a:rPr>
              <a:t>paper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">
                <a:latin typeface="Calibri"/>
                <a:cs typeface="Calibri"/>
              </a:rPr>
              <a:t> 2014,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RNNs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machine</a:t>
            </a:r>
            <a:r>
              <a:rPr dirty="0" sz="850" spc="75">
                <a:latin typeface="Calibri"/>
                <a:cs typeface="Calibri"/>
              </a:rPr>
              <a:t> (NTM).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entire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gradient</a:t>
            </a:r>
            <a:r>
              <a:rPr dirty="0" sz="850" spc="20">
                <a:latin typeface="Calibri"/>
                <a:cs typeface="Calibri"/>
              </a:rPr>
              <a:t> descent.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trained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their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NTM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infer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several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sorting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copying.</a:t>
            </a:r>
            <a:endParaRPr sz="850">
              <a:latin typeface="Calibri"/>
              <a:cs typeface="Calibri"/>
            </a:endParaRPr>
          </a:p>
          <a:p>
            <a:pPr algn="just" marL="19685" marR="245110" indent="196215">
              <a:lnSpc>
                <a:spcPct val="113399"/>
              </a:lnSpc>
              <a:spcBef>
                <a:spcPts val="200"/>
              </a:spcBef>
            </a:pPr>
            <a:r>
              <a:rPr dirty="0" sz="850" spc="10">
                <a:latin typeface="Calibri"/>
                <a:cs typeface="Calibri"/>
              </a:rPr>
              <a:t>As it stands, these are extremely simple toy models.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 to execute the Python </a:t>
            </a:r>
            <a:r>
              <a:rPr dirty="0" sz="850" spc="-20">
                <a:latin typeface="Calibri"/>
                <a:cs typeface="Calibri"/>
              </a:rPr>
              <a:t>pro-</a:t>
            </a:r>
            <a:r>
              <a:rPr dirty="0" sz="850">
                <a:latin typeface="Calibri"/>
                <a:cs typeface="Calibri"/>
              </a:rPr>
              <a:t>gram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900" spc="60">
                <a:latin typeface="Calibri"/>
                <a:cs typeface="Calibri"/>
              </a:rPr>
              <a:t>print(398345+42598)</a:t>
            </a:r>
            <a:r>
              <a:rPr dirty="0" sz="90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full-fledged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Python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interpreter!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clear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further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push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ideas.</a:t>
            </a:r>
            <a:r>
              <a:rPr dirty="0" sz="850" spc="3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intriguing.</a:t>
            </a:r>
            <a:r>
              <a:rPr dirty="0" sz="850" spc="4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Historically,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pattern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conventional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algorithmic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trouble.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versa,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conventional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algorith-</a:t>
            </a:r>
            <a:r>
              <a:rPr dirty="0" sz="850" spc="10">
                <a:latin typeface="Calibri"/>
                <a:cs typeface="Calibri"/>
              </a:rPr>
              <a:t>mic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aren’t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at.</a:t>
            </a:r>
            <a:r>
              <a:rPr dirty="0" sz="850" spc="3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No-</a:t>
            </a:r>
            <a:r>
              <a:rPr dirty="0" sz="850" spc="-25">
                <a:latin typeface="Calibri"/>
                <a:cs typeface="Calibri"/>
              </a:rPr>
              <a:t>one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today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implements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web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server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database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network!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great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unified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integrate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strengths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traditional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approaches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RNNs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inspired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RNNs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that.</a:t>
            </a:r>
            <a:endParaRPr sz="850">
              <a:latin typeface="Calibri"/>
              <a:cs typeface="Calibri"/>
            </a:endParaRPr>
          </a:p>
          <a:p>
            <a:pPr algn="just" marL="26034" marR="249554" indent="189230">
              <a:lnSpc>
                <a:spcPct val="114300"/>
              </a:lnSpc>
              <a:spcBef>
                <a:spcPts val="190"/>
              </a:spcBef>
            </a:pPr>
            <a:r>
              <a:rPr dirty="0" sz="850">
                <a:latin typeface="Calibri"/>
                <a:cs typeface="Calibri"/>
              </a:rPr>
              <a:t>RNNs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years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attack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been</a:t>
            </a:r>
            <a:r>
              <a:rPr dirty="0" sz="850" spc="20">
                <a:latin typeface="Calibri"/>
                <a:cs typeface="Calibri"/>
              </a:rPr>
              <a:t> particularly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useful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speech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recognition.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Approaches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based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RNNs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set</a:t>
            </a:r>
            <a:r>
              <a:rPr dirty="0" sz="850" spc="160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records</a:t>
            </a:r>
            <a:r>
              <a:rPr dirty="0" sz="850" spc="165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for</a:t>
            </a:r>
            <a:r>
              <a:rPr dirty="0" sz="850" spc="165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the</a:t>
            </a:r>
            <a:r>
              <a:rPr dirty="0" sz="850" spc="165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accuracy</a:t>
            </a:r>
            <a:r>
              <a:rPr dirty="0" sz="850" spc="165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of</a:t>
            </a:r>
            <a:r>
              <a:rPr dirty="0" sz="850" spc="165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phoneme</a:t>
            </a:r>
            <a:r>
              <a:rPr dirty="0" sz="850" spc="165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recognition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They’ve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develop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improved</a:t>
            </a:r>
            <a:r>
              <a:rPr dirty="0" sz="850" spc="130">
                <a:latin typeface="Calibri"/>
                <a:cs typeface="Calibri"/>
                <a:hlinkClick r:id="rId5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models</a:t>
            </a:r>
            <a:r>
              <a:rPr dirty="0" sz="850" spc="130">
                <a:latin typeface="Calibri"/>
                <a:cs typeface="Calibri"/>
                <a:hlinkClick r:id="rId5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of</a:t>
            </a:r>
            <a:r>
              <a:rPr dirty="0" sz="850" spc="130">
                <a:latin typeface="Calibri"/>
                <a:cs typeface="Calibri"/>
                <a:hlinkClick r:id="rId5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the</a:t>
            </a:r>
            <a:r>
              <a:rPr dirty="0" sz="850" spc="135">
                <a:latin typeface="Calibri"/>
                <a:cs typeface="Calibri"/>
                <a:hlinkClick r:id="rId5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language</a:t>
            </a:r>
            <a:r>
              <a:rPr dirty="0" sz="850" spc="130">
                <a:latin typeface="Calibri"/>
                <a:cs typeface="Calibri"/>
                <a:hlinkClick r:id="rId5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people</a:t>
            </a:r>
            <a:r>
              <a:rPr dirty="0" sz="850" spc="130">
                <a:latin typeface="Calibri"/>
                <a:cs typeface="Calibri"/>
                <a:hlinkClick r:id="rId5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use</a:t>
            </a:r>
            <a:r>
              <a:rPr dirty="0" sz="850" spc="135">
                <a:latin typeface="Calibri"/>
                <a:cs typeface="Calibri"/>
                <a:hlinkClick r:id="rId5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while</a:t>
            </a:r>
            <a:r>
              <a:rPr dirty="0" sz="850" spc="130">
                <a:latin typeface="Calibri"/>
                <a:cs typeface="Calibri"/>
                <a:hlinkClick r:id="rId5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speaking</a:t>
            </a:r>
            <a:r>
              <a:rPr dirty="0" sz="850" spc="10">
                <a:latin typeface="Calibri"/>
                <a:cs typeface="Calibri"/>
              </a:rPr>
              <a:t>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language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help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disambiguate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utterances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otherwise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sound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alike.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language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example,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“to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infinity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beyond”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likely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“two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infinity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beyond”,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despite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phrases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sound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identical.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RNNs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records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certain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language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benchmarks.</a:t>
            </a:r>
            <a:endParaRPr sz="850">
              <a:latin typeface="Calibri"/>
              <a:cs typeface="Calibri"/>
            </a:endParaRPr>
          </a:p>
          <a:p>
            <a:pPr algn="just" marL="26034" marR="269875" indent="189230">
              <a:lnSpc>
                <a:spcPct val="114300"/>
              </a:lnSpc>
              <a:spcBef>
                <a:spcPts val="185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incidentally,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broader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types,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just</a:t>
            </a:r>
            <a:r>
              <a:rPr dirty="0" sz="850" spc="55">
                <a:latin typeface="Calibri"/>
                <a:cs typeface="Calibri"/>
              </a:rPr>
              <a:t> RNNs,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speech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achieved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6"/>
              </a:rPr>
              <a:t>outstanding</a:t>
            </a:r>
            <a:r>
              <a:rPr dirty="0" sz="850" spc="160">
                <a:latin typeface="Calibri"/>
                <a:cs typeface="Calibri"/>
                <a:hlinkClick r:id="rId6"/>
              </a:rPr>
              <a:t> </a:t>
            </a:r>
            <a:r>
              <a:rPr dirty="0" sz="850">
                <a:latin typeface="Calibri"/>
                <a:cs typeface="Calibri"/>
                <a:hlinkClick r:id="rId6"/>
              </a:rPr>
              <a:t>results</a:t>
            </a:r>
            <a:r>
              <a:rPr dirty="0" sz="850" spc="160">
                <a:latin typeface="Calibri"/>
                <a:cs typeface="Calibri"/>
                <a:hlinkClick r:id="rId6"/>
              </a:rPr>
              <a:t> </a:t>
            </a:r>
            <a:r>
              <a:rPr dirty="0" sz="850">
                <a:latin typeface="Calibri"/>
                <a:cs typeface="Calibri"/>
                <a:hlinkClick r:id="rId6"/>
              </a:rPr>
              <a:t>on</a:t>
            </a:r>
            <a:r>
              <a:rPr dirty="0" sz="850" spc="165">
                <a:latin typeface="Calibri"/>
                <a:cs typeface="Calibri"/>
                <a:hlinkClick r:id="rId6"/>
              </a:rPr>
              <a:t> </a:t>
            </a:r>
            <a:r>
              <a:rPr dirty="0" sz="850">
                <a:latin typeface="Calibri"/>
                <a:cs typeface="Calibri"/>
                <a:hlinkClick r:id="rId6"/>
              </a:rPr>
              <a:t>large</a:t>
            </a:r>
            <a:r>
              <a:rPr dirty="0" sz="850" spc="160">
                <a:latin typeface="Calibri"/>
                <a:cs typeface="Calibri"/>
                <a:hlinkClick r:id="rId6"/>
              </a:rPr>
              <a:t> </a:t>
            </a:r>
            <a:r>
              <a:rPr dirty="0" sz="850">
                <a:latin typeface="Calibri"/>
                <a:cs typeface="Calibri"/>
                <a:hlinkClick r:id="rId6"/>
              </a:rPr>
              <a:t>vocabulary</a:t>
            </a:r>
            <a:r>
              <a:rPr dirty="0" sz="850" spc="160">
                <a:latin typeface="Calibri"/>
                <a:cs typeface="Calibri"/>
                <a:hlinkClick r:id="rId6"/>
              </a:rPr>
              <a:t> </a:t>
            </a:r>
            <a:r>
              <a:rPr dirty="0" sz="850">
                <a:latin typeface="Calibri"/>
                <a:cs typeface="Calibri"/>
                <a:hlinkClick r:id="rId6"/>
              </a:rPr>
              <a:t>continuous</a:t>
            </a:r>
            <a:r>
              <a:rPr dirty="0" sz="850" spc="165">
                <a:latin typeface="Calibri"/>
                <a:cs typeface="Calibri"/>
                <a:hlinkClick r:id="rId6"/>
              </a:rPr>
              <a:t> </a:t>
            </a:r>
            <a:r>
              <a:rPr dirty="0" sz="850">
                <a:latin typeface="Calibri"/>
                <a:cs typeface="Calibri"/>
                <a:hlinkClick r:id="rId6"/>
              </a:rPr>
              <a:t>speech</a:t>
            </a:r>
            <a:r>
              <a:rPr dirty="0" sz="850" spc="160">
                <a:latin typeface="Calibri"/>
                <a:cs typeface="Calibri"/>
                <a:hlinkClick r:id="rId6"/>
              </a:rPr>
              <a:t> </a:t>
            </a:r>
            <a:r>
              <a:rPr dirty="0" sz="850">
                <a:latin typeface="Calibri"/>
                <a:cs typeface="Calibri"/>
                <a:hlinkClick r:id="rId6"/>
              </a:rPr>
              <a:t>recognition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system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deployed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Google’s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Android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operating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system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(for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related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technical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work,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7"/>
              </a:rPr>
              <a:t>Vincent</a:t>
            </a:r>
            <a:r>
              <a:rPr dirty="0" sz="850" spc="225">
                <a:latin typeface="Calibri"/>
                <a:cs typeface="Calibri"/>
                <a:hlinkClick r:id="rId7"/>
              </a:rPr>
              <a:t> </a:t>
            </a:r>
            <a:r>
              <a:rPr dirty="0" sz="850">
                <a:latin typeface="Calibri"/>
                <a:cs typeface="Calibri"/>
                <a:hlinkClick r:id="rId7"/>
              </a:rPr>
              <a:t>Vanhoucke’s</a:t>
            </a:r>
            <a:r>
              <a:rPr dirty="0" sz="850" spc="225">
                <a:latin typeface="Calibri"/>
                <a:cs typeface="Calibri"/>
                <a:hlinkClick r:id="rId7"/>
              </a:rPr>
              <a:t> </a:t>
            </a:r>
            <a:r>
              <a:rPr dirty="0" sz="850">
                <a:latin typeface="Calibri"/>
                <a:cs typeface="Calibri"/>
                <a:hlinkClick r:id="rId7"/>
              </a:rPr>
              <a:t>2012–2015</a:t>
            </a:r>
            <a:r>
              <a:rPr dirty="0" sz="850" spc="220">
                <a:latin typeface="Calibri"/>
                <a:cs typeface="Calibri"/>
                <a:hlinkClick r:id="rId7"/>
              </a:rPr>
              <a:t> </a:t>
            </a:r>
            <a:r>
              <a:rPr dirty="0" sz="850" spc="-10">
                <a:latin typeface="Calibri"/>
                <a:cs typeface="Calibri"/>
                <a:hlinkClick r:id="rId7"/>
              </a:rPr>
              <a:t>papers</a:t>
            </a:r>
            <a:r>
              <a:rPr dirty="0" sz="850" spc="-10">
                <a:latin typeface="Calibri"/>
                <a:cs typeface="Calibri"/>
              </a:rPr>
              <a:t>).</a:t>
            </a:r>
            <a:endParaRPr sz="850">
              <a:latin typeface="Calibri"/>
              <a:cs typeface="Calibri"/>
            </a:endParaRPr>
          </a:p>
          <a:p>
            <a:pPr algn="just" marL="26034" marR="267970" indent="189230">
              <a:lnSpc>
                <a:spcPct val="114300"/>
              </a:lnSpc>
              <a:spcBef>
                <a:spcPts val="190"/>
              </a:spcBef>
            </a:pP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said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RNNs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surprise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feedforward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RNNs.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RNNs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straightforward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modifications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backpropagation.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feedforward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ranging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regularization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cost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useful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recurrent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book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4" name="object 4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8050" cy="723201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204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algn="just" marL="331470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adapted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RNNs.</a:t>
            </a:r>
            <a:endParaRPr sz="850">
              <a:latin typeface="Calibri"/>
              <a:cs typeface="Calibri"/>
            </a:endParaRPr>
          </a:p>
          <a:p>
            <a:pPr algn="just" marL="325120" marR="30480" indent="196215">
              <a:lnSpc>
                <a:spcPct val="114300"/>
              </a:lnSpc>
            </a:pPr>
            <a:r>
              <a:rPr dirty="0" sz="850" spc="70" b="1">
                <a:latin typeface="Calibri"/>
                <a:cs typeface="Calibri"/>
              </a:rPr>
              <a:t>Long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short-term</a:t>
            </a:r>
            <a:r>
              <a:rPr dirty="0" sz="850" spc="15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memory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units</a:t>
            </a:r>
            <a:r>
              <a:rPr dirty="0" sz="850" spc="150" b="1">
                <a:latin typeface="Calibri"/>
                <a:cs typeface="Calibri"/>
              </a:rPr>
              <a:t> </a:t>
            </a:r>
            <a:r>
              <a:rPr dirty="0" sz="850" spc="75" b="1">
                <a:latin typeface="Calibri"/>
                <a:cs typeface="Calibri"/>
              </a:rPr>
              <a:t>(LSTMs):</a:t>
            </a:r>
            <a:r>
              <a:rPr dirty="0" sz="850" spc="229" b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challenge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affecting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RNNs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early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feedforward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networks.</a:t>
            </a:r>
            <a:r>
              <a:rPr dirty="0" sz="850" spc="50">
                <a:latin typeface="Calibri"/>
                <a:cs typeface="Calibri"/>
              </a:rPr>
              <a:t> 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unstable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Chapter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5.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Recall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usual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manifestation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smaller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propagated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layers.</a:t>
            </a:r>
            <a:r>
              <a:rPr dirty="0" sz="850" spc="165">
                <a:latin typeface="Calibri"/>
                <a:cs typeface="Calibri"/>
              </a:rPr>
              <a:t> 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slow.</a:t>
            </a:r>
            <a:r>
              <a:rPr dirty="0" sz="850" spc="165">
                <a:latin typeface="Calibri"/>
                <a:cs typeface="Calibri"/>
              </a:rPr>
              <a:t> 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RNNs,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gradients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propagated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backward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through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layers,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they’re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propagated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backward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unstable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hard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Fortunately,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incorporate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short-term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memory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(LSTMs)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RNNs.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units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introduced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Hochreiter</a:t>
            </a:r>
            <a:r>
              <a:rPr dirty="0" sz="850" spc="60">
                <a:latin typeface="Calibri"/>
                <a:cs typeface="Calibri"/>
                <a:hlinkClick r:id="rId2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and</a:t>
            </a:r>
            <a:r>
              <a:rPr dirty="0" sz="850" spc="65">
                <a:latin typeface="Calibri"/>
                <a:cs typeface="Calibri"/>
                <a:hlinkClick r:id="rId2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Schmidhuber</a:t>
            </a:r>
            <a:r>
              <a:rPr dirty="0" sz="850" spc="60">
                <a:latin typeface="Calibri"/>
                <a:cs typeface="Calibri"/>
                <a:hlinkClick r:id="rId2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in</a:t>
            </a:r>
            <a:r>
              <a:rPr dirty="0" sz="850" spc="65">
                <a:latin typeface="Calibri"/>
                <a:cs typeface="Calibri"/>
                <a:hlinkClick r:id="rId2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1997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purpose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helping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address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unstable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LSTMs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easier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30">
                <a:latin typeface="Calibri"/>
                <a:cs typeface="Calibri"/>
              </a:rPr>
              <a:t> training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RNNs,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many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recent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papers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(including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many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 </a:t>
            </a:r>
            <a:r>
              <a:rPr dirty="0" sz="850" spc="30">
                <a:latin typeface="Calibri"/>
                <a:cs typeface="Calibri"/>
              </a:rPr>
              <a:t>linked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above)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make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use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LSTMs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ideas.</a:t>
            </a:r>
            <a:endParaRPr sz="850">
              <a:latin typeface="Calibri"/>
              <a:cs typeface="Calibri"/>
            </a:endParaRPr>
          </a:p>
          <a:p>
            <a:pPr algn="just" marL="331470" marR="53340" indent="189230">
              <a:lnSpc>
                <a:spcPct val="114300"/>
              </a:lnSpc>
            </a:pPr>
            <a:r>
              <a:rPr dirty="0" sz="850" spc="20" b="1">
                <a:latin typeface="Calibri"/>
                <a:cs typeface="Calibri"/>
              </a:rPr>
              <a:t>Deep</a:t>
            </a:r>
            <a:r>
              <a:rPr dirty="0" sz="850" spc="12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belief</a:t>
            </a:r>
            <a:r>
              <a:rPr dirty="0" sz="850" spc="12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nets,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generative</a:t>
            </a:r>
            <a:r>
              <a:rPr dirty="0" sz="850" spc="12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models,</a:t>
            </a:r>
            <a:r>
              <a:rPr dirty="0" sz="850" spc="125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and</a:t>
            </a:r>
            <a:r>
              <a:rPr dirty="0" sz="850" spc="13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Boltzmann</a:t>
            </a:r>
            <a:r>
              <a:rPr dirty="0" sz="850" spc="12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machines:</a:t>
            </a:r>
            <a:r>
              <a:rPr dirty="0" sz="850" spc="204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Modern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interest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2006,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type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deep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belief</a:t>
            </a:r>
            <a:r>
              <a:rPr dirty="0" sz="850" spc="9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network</a:t>
            </a:r>
            <a:r>
              <a:rPr dirty="0" sz="850" spc="90" i="1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(DBN)</a:t>
            </a:r>
            <a:r>
              <a:rPr dirty="0" baseline="35353" sz="825" spc="104">
                <a:latin typeface="Calibri"/>
                <a:cs typeface="Calibri"/>
                <a:hlinkClick r:id="rId3" action="ppaction://hlinksldjump"/>
              </a:rPr>
              <a:t>33</a:t>
            </a:r>
            <a:r>
              <a:rPr dirty="0" sz="850" spc="70">
                <a:latin typeface="Calibri"/>
                <a:cs typeface="Calibri"/>
              </a:rPr>
              <a:t>.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DBNs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influential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several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years,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lessened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popularity,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feedforward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recurrent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become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fashionable.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Despite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DBNs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properties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interesting.</a:t>
            </a:r>
            <a:endParaRPr sz="850">
              <a:latin typeface="Calibri"/>
              <a:cs typeface="Calibri"/>
            </a:endParaRPr>
          </a:p>
          <a:p>
            <a:pPr algn="just" marL="331470" marR="30480" indent="189230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DBNs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interesting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they’re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called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generative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feedforward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determine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generative</a:t>
            </a:r>
            <a:r>
              <a:rPr dirty="0" sz="850" spc="10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model</a:t>
            </a:r>
            <a:r>
              <a:rPr dirty="0" sz="850" spc="100" i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DBN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feature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“run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backward”,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generating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values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activations.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concretely,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DBN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handwritten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digits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(potentially,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care)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generate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handwritten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words,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DBN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write.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generative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like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brain: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digits,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write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them.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Geoffrey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Hinton’s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memorable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phrase,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to</a:t>
            </a:r>
            <a:r>
              <a:rPr dirty="0" sz="850" spc="95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recognize</a:t>
            </a:r>
            <a:r>
              <a:rPr dirty="0" sz="850" spc="90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shapes,</a:t>
            </a:r>
            <a:r>
              <a:rPr dirty="0" sz="850" spc="95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first</a:t>
            </a:r>
            <a:r>
              <a:rPr dirty="0" sz="850" spc="95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learn</a:t>
            </a:r>
            <a:r>
              <a:rPr dirty="0" sz="850" spc="95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to</a:t>
            </a:r>
            <a:r>
              <a:rPr dirty="0" sz="850" spc="95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generate</a:t>
            </a:r>
            <a:r>
              <a:rPr dirty="0" sz="850" spc="95">
                <a:latin typeface="Calibri"/>
                <a:cs typeface="Calibri"/>
                <a:hlinkClick r:id="rId4"/>
              </a:rPr>
              <a:t> </a:t>
            </a:r>
            <a:r>
              <a:rPr dirty="0" sz="850" spc="-10">
                <a:latin typeface="Calibri"/>
                <a:cs typeface="Calibri"/>
                <a:hlinkClick r:id="rId4"/>
              </a:rPr>
              <a:t>images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331470" marR="31115" indent="189230">
              <a:lnSpc>
                <a:spcPct val="114300"/>
              </a:lnSpc>
            </a:pPr>
            <a:r>
              <a:rPr dirty="0" sz="850" spc="7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55">
                <a:latin typeface="Calibri"/>
                <a:cs typeface="Calibri"/>
              </a:rPr>
              <a:t> DBNs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interesting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unsupervised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semi-</a:t>
            </a:r>
            <a:r>
              <a:rPr dirty="0" sz="850">
                <a:latin typeface="Calibri"/>
                <a:cs typeface="Calibri"/>
              </a:rPr>
              <a:t>supervised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trained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image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data,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DBNs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useful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unlabelled.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ability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unsupervised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scientific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made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practical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applications.</a:t>
            </a:r>
            <a:endParaRPr sz="850">
              <a:latin typeface="Calibri"/>
              <a:cs typeface="Calibri"/>
            </a:endParaRPr>
          </a:p>
          <a:p>
            <a:pPr algn="just" marL="331470" marR="53340" indent="189230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attractive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features,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DBNs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lessened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popularity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learning?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feedforward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recurrent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nets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achieved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spectacular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breakthroughs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speech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recognition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benchmarks.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surprising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quite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attention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paid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models.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unfortunate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corollary,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however.</a:t>
            </a:r>
            <a:r>
              <a:rPr dirty="0" sz="850" spc="3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marketplace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winner-take-all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fashion,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nearly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attention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current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fashion-of-the-moment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area.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become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extremely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difficult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people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momentarily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unfashionable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obviously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real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long-term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personal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opinion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DBNs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generative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models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likely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deserve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attention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currently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receiving.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surprised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DBNs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01" y="7654380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76746" y="7669751"/>
            <a:ext cx="4405630" cy="34480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just" marL="38100" marR="30480" indent="92075">
              <a:lnSpc>
                <a:spcPts val="800"/>
              </a:lnSpc>
              <a:spcBef>
                <a:spcPts val="225"/>
              </a:spcBef>
            </a:pPr>
            <a:r>
              <a:rPr dirty="0" baseline="30303" sz="825">
                <a:latin typeface="Calibri"/>
                <a:cs typeface="Calibri"/>
              </a:rPr>
              <a:t>33</a:t>
            </a:r>
            <a:r>
              <a:rPr dirty="0" sz="750">
                <a:latin typeface="Calibri"/>
                <a:cs typeface="Calibri"/>
              </a:rPr>
              <a:t>See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  <a:hlinkClick r:id="rId5"/>
              </a:rPr>
              <a:t>A</a:t>
            </a:r>
            <a:r>
              <a:rPr dirty="0" sz="750" spc="90">
                <a:latin typeface="Calibri"/>
                <a:cs typeface="Calibri"/>
                <a:hlinkClick r:id="rId5"/>
              </a:rPr>
              <a:t> </a:t>
            </a:r>
            <a:r>
              <a:rPr dirty="0" sz="750">
                <a:latin typeface="Calibri"/>
                <a:cs typeface="Calibri"/>
                <a:hlinkClick r:id="rId5"/>
              </a:rPr>
              <a:t>fast</a:t>
            </a:r>
            <a:r>
              <a:rPr dirty="0" sz="750" spc="85">
                <a:latin typeface="Calibri"/>
                <a:cs typeface="Calibri"/>
                <a:hlinkClick r:id="rId5"/>
              </a:rPr>
              <a:t> </a:t>
            </a:r>
            <a:r>
              <a:rPr dirty="0" sz="750">
                <a:latin typeface="Calibri"/>
                <a:cs typeface="Calibri"/>
                <a:hlinkClick r:id="rId5"/>
              </a:rPr>
              <a:t>learning</a:t>
            </a:r>
            <a:r>
              <a:rPr dirty="0" sz="750" spc="90">
                <a:latin typeface="Calibri"/>
                <a:cs typeface="Calibri"/>
                <a:hlinkClick r:id="rId5"/>
              </a:rPr>
              <a:t> </a:t>
            </a:r>
            <a:r>
              <a:rPr dirty="0" sz="750">
                <a:latin typeface="Calibri"/>
                <a:cs typeface="Calibri"/>
                <a:hlinkClick r:id="rId5"/>
              </a:rPr>
              <a:t>algorithm</a:t>
            </a:r>
            <a:r>
              <a:rPr dirty="0" sz="750" spc="85">
                <a:latin typeface="Calibri"/>
                <a:cs typeface="Calibri"/>
                <a:hlinkClick r:id="rId5"/>
              </a:rPr>
              <a:t> </a:t>
            </a:r>
            <a:r>
              <a:rPr dirty="0" sz="750">
                <a:latin typeface="Calibri"/>
                <a:cs typeface="Calibri"/>
                <a:hlinkClick r:id="rId5"/>
              </a:rPr>
              <a:t>for</a:t>
            </a:r>
            <a:r>
              <a:rPr dirty="0" sz="750" spc="90">
                <a:latin typeface="Calibri"/>
                <a:cs typeface="Calibri"/>
                <a:hlinkClick r:id="rId5"/>
              </a:rPr>
              <a:t> </a:t>
            </a:r>
            <a:r>
              <a:rPr dirty="0" sz="750">
                <a:latin typeface="Calibri"/>
                <a:cs typeface="Calibri"/>
                <a:hlinkClick r:id="rId5"/>
              </a:rPr>
              <a:t>deep</a:t>
            </a:r>
            <a:r>
              <a:rPr dirty="0" sz="750" spc="90">
                <a:latin typeface="Calibri"/>
                <a:cs typeface="Calibri"/>
                <a:hlinkClick r:id="rId5"/>
              </a:rPr>
              <a:t> </a:t>
            </a:r>
            <a:r>
              <a:rPr dirty="0" sz="750">
                <a:latin typeface="Calibri"/>
                <a:cs typeface="Calibri"/>
                <a:hlinkClick r:id="rId5"/>
              </a:rPr>
              <a:t>belief</a:t>
            </a:r>
            <a:r>
              <a:rPr dirty="0" sz="750" spc="85">
                <a:latin typeface="Calibri"/>
                <a:cs typeface="Calibri"/>
                <a:hlinkClick r:id="rId5"/>
              </a:rPr>
              <a:t> </a:t>
            </a:r>
            <a:r>
              <a:rPr dirty="0" sz="750">
                <a:latin typeface="Calibri"/>
                <a:cs typeface="Calibri"/>
                <a:hlinkClick r:id="rId5"/>
              </a:rPr>
              <a:t>nets</a:t>
            </a:r>
            <a:r>
              <a:rPr dirty="0" sz="750">
                <a:latin typeface="Calibri"/>
                <a:cs typeface="Calibri"/>
              </a:rPr>
              <a:t>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Geoffrey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Hinton,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Simon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Osindero,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Yee-Whye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Teh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(2006),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well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related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work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Reducing</a:t>
            </a:r>
            <a:r>
              <a:rPr dirty="0" sz="750" spc="70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the</a:t>
            </a:r>
            <a:r>
              <a:rPr dirty="0" sz="750" spc="70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dimensionality</a:t>
            </a:r>
            <a:r>
              <a:rPr dirty="0" sz="750" spc="70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of</a:t>
            </a:r>
            <a:r>
              <a:rPr dirty="0" sz="750" spc="70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data</a:t>
            </a:r>
            <a:r>
              <a:rPr dirty="0" sz="750" spc="70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with</a:t>
            </a:r>
            <a:r>
              <a:rPr dirty="0" sz="750" spc="70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neural</a:t>
            </a:r>
            <a:r>
              <a:rPr dirty="0" sz="750" spc="70">
                <a:latin typeface="Calibri"/>
                <a:cs typeface="Calibri"/>
                <a:hlinkClick r:id="rId6"/>
              </a:rPr>
              <a:t> </a:t>
            </a:r>
            <a:r>
              <a:rPr dirty="0" sz="750" spc="10">
                <a:latin typeface="Calibri"/>
                <a:cs typeface="Calibri"/>
                <a:hlinkClick r:id="rId6"/>
              </a:rPr>
              <a:t>networks</a:t>
            </a:r>
            <a:r>
              <a:rPr dirty="0" sz="750" spc="10">
                <a:latin typeface="Calibri"/>
                <a:cs typeface="Calibri"/>
              </a:rPr>
              <a:t>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by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Geoffrey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Hinton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and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Ruslan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Salakhutdinov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45">
                <a:latin typeface="Calibri"/>
                <a:cs typeface="Calibri"/>
              </a:rPr>
              <a:t>(2006).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6" name="object 6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96" y="368721"/>
            <a:ext cx="4613275" cy="398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427605">
              <a:lnSpc>
                <a:spcPts val="525"/>
              </a:lnSpc>
              <a:spcBef>
                <a:spcPts val="110"/>
              </a:spcBef>
              <a:tabLst>
                <a:tab pos="4417695" algn="l"/>
              </a:tabLst>
            </a:pPr>
            <a:r>
              <a:rPr dirty="0" sz="850">
                <a:latin typeface="Calibri"/>
                <a:cs typeface="Calibri"/>
              </a:rPr>
              <a:t>6.6.</a:t>
            </a:r>
            <a:r>
              <a:rPr dirty="0" sz="850" spc="3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future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205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2700" marR="272415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surpass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currently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fashionable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models.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introduction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DBNs,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2"/>
              </a:rPr>
              <a:t>this</a:t>
            </a:r>
            <a:r>
              <a:rPr dirty="0" sz="850" spc="110">
                <a:latin typeface="Calibri"/>
                <a:cs typeface="Calibri"/>
                <a:hlinkClick r:id="rId2"/>
              </a:rPr>
              <a:t> </a:t>
            </a:r>
            <a:r>
              <a:rPr dirty="0" sz="850" spc="20">
                <a:latin typeface="Calibri"/>
                <a:cs typeface="Calibri"/>
                <a:hlinkClick r:id="rId2"/>
              </a:rPr>
              <a:t>overview</a:t>
            </a:r>
            <a:r>
              <a:rPr dirty="0" sz="850" spc="20">
                <a:latin typeface="Calibri"/>
                <a:cs typeface="Calibri"/>
              </a:rPr>
              <a:t>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found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3"/>
              </a:rPr>
              <a:t>this</a:t>
            </a:r>
            <a:r>
              <a:rPr dirty="0" sz="850" spc="110">
                <a:latin typeface="Calibri"/>
                <a:cs typeface="Calibri"/>
                <a:hlinkClick r:id="rId3"/>
              </a:rPr>
              <a:t> </a:t>
            </a:r>
            <a:r>
              <a:rPr dirty="0" sz="850" spc="20">
                <a:latin typeface="Calibri"/>
                <a:cs typeface="Calibri"/>
                <a:hlinkClick r:id="rId3"/>
              </a:rPr>
              <a:t>article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helpful.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primarily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deep</a:t>
            </a:r>
            <a:r>
              <a:rPr dirty="0" sz="850" spc="20">
                <a:latin typeface="Calibri"/>
                <a:cs typeface="Calibri"/>
              </a:rPr>
              <a:t> belief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contain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useful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information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restricted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Boltzmann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component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DBNs.</a:t>
            </a:r>
            <a:endParaRPr sz="850">
              <a:latin typeface="Calibri"/>
              <a:cs typeface="Calibri"/>
            </a:endParaRPr>
          </a:p>
          <a:p>
            <a:pPr algn="just" marL="12700" marR="272415" indent="189230">
              <a:lnSpc>
                <a:spcPct val="114300"/>
              </a:lnSpc>
              <a:spcBef>
                <a:spcPts val="25"/>
              </a:spcBef>
            </a:pPr>
            <a:r>
              <a:rPr dirty="0" sz="850" b="1">
                <a:latin typeface="Calibri"/>
                <a:cs typeface="Calibri"/>
              </a:rPr>
              <a:t>Other</a:t>
            </a:r>
            <a:r>
              <a:rPr dirty="0" sz="850" spc="15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ideas:</a:t>
            </a:r>
            <a:r>
              <a:rPr dirty="0" sz="850" spc="24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else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learning?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there’s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huge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amount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fascinating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work.</a:t>
            </a:r>
            <a:r>
              <a:rPr dirty="0" sz="850" spc="4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areas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research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include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natural</a:t>
            </a:r>
            <a:r>
              <a:rPr dirty="0" sz="850" spc="30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language</a:t>
            </a:r>
            <a:r>
              <a:rPr dirty="0" sz="850" spc="30">
                <a:latin typeface="Calibri"/>
                <a:cs typeface="Calibri"/>
                <a:hlinkClick r:id="rId4"/>
              </a:rPr>
              <a:t> </a:t>
            </a:r>
            <a:r>
              <a:rPr dirty="0" sz="850" spc="10">
                <a:latin typeface="Calibri"/>
                <a:cs typeface="Calibri"/>
                <a:hlinkClick r:id="rId4"/>
              </a:rPr>
              <a:t>processing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(see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informative</a:t>
            </a:r>
            <a:r>
              <a:rPr dirty="0" sz="850" spc="30">
                <a:latin typeface="Calibri"/>
                <a:cs typeface="Calibri"/>
                <a:hlinkClick r:id="rId5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review</a:t>
            </a:r>
            <a:r>
              <a:rPr dirty="0" sz="850" spc="30">
                <a:latin typeface="Calibri"/>
                <a:cs typeface="Calibri"/>
                <a:hlinkClick r:id="rId5"/>
              </a:rPr>
              <a:t> </a:t>
            </a:r>
            <a:r>
              <a:rPr dirty="0" sz="850" spc="10">
                <a:latin typeface="Calibri"/>
                <a:cs typeface="Calibri"/>
                <a:hlinkClick r:id="rId5"/>
              </a:rPr>
              <a:t>paper</a:t>
            </a:r>
            <a:r>
              <a:rPr dirty="0" sz="850" spc="10">
                <a:latin typeface="Calibri"/>
                <a:cs typeface="Calibri"/>
              </a:rPr>
              <a:t>),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  <a:hlinkClick r:id="rId6"/>
              </a:rPr>
              <a:t>machine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6"/>
              </a:rPr>
              <a:t>translation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surprising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applications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7"/>
              </a:rPr>
              <a:t>music</a:t>
            </a:r>
            <a:r>
              <a:rPr dirty="0" sz="850" spc="125">
                <a:latin typeface="Calibri"/>
                <a:cs typeface="Calibri"/>
                <a:hlinkClick r:id="rId7"/>
              </a:rPr>
              <a:t> </a:t>
            </a:r>
            <a:r>
              <a:rPr dirty="0" sz="850">
                <a:latin typeface="Calibri"/>
                <a:cs typeface="Calibri"/>
                <a:hlinkClick r:id="rId7"/>
              </a:rPr>
              <a:t>informatics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areas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cases,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book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able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begin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following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although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course)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gaps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presumed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background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knowledge.</a:t>
            </a:r>
            <a:endParaRPr sz="850">
              <a:latin typeface="Calibri"/>
              <a:cs typeface="Calibri"/>
            </a:endParaRPr>
          </a:p>
          <a:p>
            <a:pPr algn="just" marL="12700" marR="249554" indent="189230">
              <a:lnSpc>
                <a:spcPct val="114300"/>
              </a:lnSpc>
              <a:spcBef>
                <a:spcPts val="30"/>
              </a:spcBef>
            </a:pPr>
            <a:r>
              <a:rPr dirty="0" sz="850" spc="20">
                <a:latin typeface="Calibri"/>
                <a:cs typeface="Calibri"/>
              </a:rPr>
              <a:t>Let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finish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section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mentioning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paper.</a:t>
            </a:r>
            <a:r>
              <a:rPr dirty="0" sz="850" spc="4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combines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deep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convolutional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reinforcement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8"/>
              </a:rPr>
              <a:t>play</a:t>
            </a:r>
            <a:r>
              <a:rPr dirty="0" sz="850" spc="220">
                <a:latin typeface="Calibri"/>
                <a:cs typeface="Calibri"/>
                <a:hlinkClick r:id="rId8"/>
              </a:rPr>
              <a:t> </a:t>
            </a:r>
            <a:r>
              <a:rPr dirty="0" sz="850">
                <a:latin typeface="Calibri"/>
                <a:cs typeface="Calibri"/>
                <a:hlinkClick r:id="rId8"/>
              </a:rPr>
              <a:t>video</a:t>
            </a:r>
            <a:r>
              <a:rPr dirty="0" sz="850" spc="220">
                <a:latin typeface="Calibri"/>
                <a:cs typeface="Calibri"/>
                <a:hlinkClick r:id="rId8"/>
              </a:rPr>
              <a:t> </a:t>
            </a:r>
            <a:r>
              <a:rPr dirty="0" sz="850">
                <a:latin typeface="Calibri"/>
                <a:cs typeface="Calibri"/>
                <a:hlinkClick r:id="rId8"/>
              </a:rPr>
              <a:t>games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well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(see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9"/>
              </a:rPr>
              <a:t>this</a:t>
            </a:r>
            <a:r>
              <a:rPr dirty="0" sz="850" spc="220">
                <a:latin typeface="Calibri"/>
                <a:cs typeface="Calibri"/>
                <a:hlinkClick r:id="rId9"/>
              </a:rPr>
              <a:t> </a:t>
            </a:r>
            <a:r>
              <a:rPr dirty="0" sz="850">
                <a:latin typeface="Calibri"/>
                <a:cs typeface="Calibri"/>
                <a:hlinkClick r:id="rId9"/>
              </a:rPr>
              <a:t>followup</a:t>
            </a:r>
            <a:r>
              <a:rPr dirty="0" sz="850">
                <a:latin typeface="Calibri"/>
                <a:cs typeface="Calibri"/>
              </a:rPr>
              <a:t>).</a:t>
            </a:r>
            <a:r>
              <a:rPr dirty="0" sz="850" spc="165">
                <a:latin typeface="Calibri"/>
                <a:cs typeface="Calibri"/>
              </a:rPr>
              <a:t> 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convolutional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simplify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pixel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game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screen,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decide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take: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“go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left”,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“go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down”,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“fire”,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particularly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seven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classic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video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games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outperforming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games.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Now,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sounds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stunt,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doubt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paper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marketed,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title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“Playing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Atari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reinforcement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learning”.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surface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gloss,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consider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pixel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game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rules!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high-quality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decision-making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several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very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adversarial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environments,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own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neat.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173" y="4575298"/>
            <a:ext cx="4379595" cy="3441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46075" algn="l"/>
              </a:tabLst>
            </a:pPr>
            <a:r>
              <a:rPr dirty="0" sz="1050" spc="30" b="1">
                <a:latin typeface="Calibri"/>
                <a:cs typeface="Calibri"/>
              </a:rPr>
              <a:t>6.6</a:t>
            </a:r>
            <a:r>
              <a:rPr dirty="0" sz="1050" b="1">
                <a:latin typeface="Calibri"/>
                <a:cs typeface="Calibri"/>
              </a:rPr>
              <a:t>	</a:t>
            </a:r>
            <a:r>
              <a:rPr dirty="0" sz="1050" spc="70" b="1">
                <a:latin typeface="Calibri"/>
                <a:cs typeface="Calibri"/>
              </a:rPr>
              <a:t>On</a:t>
            </a:r>
            <a:r>
              <a:rPr dirty="0" sz="1050" spc="14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the</a:t>
            </a:r>
            <a:r>
              <a:rPr dirty="0" sz="1050" spc="150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future</a:t>
            </a:r>
            <a:r>
              <a:rPr dirty="0" sz="1050" spc="145" b="1">
                <a:latin typeface="Calibri"/>
                <a:cs typeface="Calibri"/>
              </a:rPr>
              <a:t> </a:t>
            </a:r>
            <a:r>
              <a:rPr dirty="0" sz="1050" b="1">
                <a:latin typeface="Calibri"/>
                <a:cs typeface="Calibri"/>
              </a:rPr>
              <a:t>of</a:t>
            </a:r>
            <a:r>
              <a:rPr dirty="0" sz="1050" spc="150" b="1">
                <a:latin typeface="Calibri"/>
                <a:cs typeface="Calibri"/>
              </a:rPr>
              <a:t> </a:t>
            </a:r>
            <a:r>
              <a:rPr dirty="0" sz="1050" spc="55" b="1">
                <a:latin typeface="Calibri"/>
                <a:cs typeface="Calibri"/>
              </a:rPr>
              <a:t>neural</a:t>
            </a:r>
            <a:r>
              <a:rPr dirty="0" sz="1050" spc="150" b="1">
                <a:latin typeface="Calibri"/>
                <a:cs typeface="Calibri"/>
              </a:rPr>
              <a:t> </a:t>
            </a:r>
            <a:r>
              <a:rPr dirty="0" sz="1050" spc="-10" b="1">
                <a:latin typeface="Calibri"/>
                <a:cs typeface="Calibri"/>
              </a:rPr>
              <a:t>networks</a:t>
            </a:r>
            <a:endParaRPr sz="1050">
              <a:latin typeface="Calibri"/>
              <a:cs typeface="Calibri"/>
            </a:endParaRPr>
          </a:p>
          <a:p>
            <a:pPr algn="just" marL="18415" marR="27940">
              <a:lnSpc>
                <a:spcPct val="114300"/>
              </a:lnSpc>
              <a:spcBef>
                <a:spcPts val="1070"/>
              </a:spcBef>
            </a:pPr>
            <a:r>
              <a:rPr dirty="0" sz="850">
                <a:latin typeface="Calibri"/>
                <a:cs typeface="Calibri"/>
              </a:rPr>
              <a:t>Intention-driven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interfaces: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old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joke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impatient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professor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tells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confused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student: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“don’t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60">
                <a:latin typeface="Calibri"/>
                <a:cs typeface="Calibri"/>
              </a:rPr>
              <a:t> I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say;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listen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60">
                <a:latin typeface="Calibri"/>
                <a:cs typeface="Calibri"/>
              </a:rPr>
              <a:t> I </a:t>
            </a:r>
            <a:r>
              <a:rPr dirty="0" sz="850" spc="10" i="1">
                <a:latin typeface="Calibri"/>
                <a:cs typeface="Calibri"/>
              </a:rPr>
              <a:t>mean</a:t>
            </a:r>
            <a:r>
              <a:rPr dirty="0" sz="850" spc="10">
                <a:latin typeface="Calibri"/>
                <a:cs typeface="Calibri"/>
              </a:rPr>
              <a:t>”.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Historically,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confused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student,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dark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users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changing.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remember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surprise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misspelled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Google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search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query,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only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Google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“Did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Lucida Sans Unicode"/>
                <a:cs typeface="Lucida Sans Unicode"/>
              </a:rPr>
              <a:t>[</a:t>
            </a:r>
            <a:r>
              <a:rPr dirty="0" sz="850">
                <a:latin typeface="Calibri"/>
                <a:cs typeface="Calibri"/>
              </a:rPr>
              <a:t>corrected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query</a:t>
            </a:r>
            <a:r>
              <a:rPr dirty="0" sz="850">
                <a:latin typeface="Lucida Sans Unicode"/>
                <a:cs typeface="Lucida Sans Unicode"/>
              </a:rPr>
              <a:t>]</a:t>
            </a:r>
            <a:r>
              <a:rPr dirty="0" sz="850">
                <a:latin typeface="Calibri"/>
                <a:cs typeface="Calibri"/>
              </a:rPr>
              <a:t>?”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corresponding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search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Google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80">
                <a:latin typeface="Calibri"/>
                <a:cs typeface="Calibri"/>
              </a:rPr>
              <a:t>CEO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Larry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10"/>
              </a:rPr>
              <a:t>once</a:t>
            </a:r>
            <a:r>
              <a:rPr dirty="0" sz="850" spc="145">
                <a:latin typeface="Calibri"/>
                <a:cs typeface="Calibri"/>
                <a:hlinkClick r:id="rId10"/>
              </a:rPr>
              <a:t> </a:t>
            </a:r>
            <a:r>
              <a:rPr dirty="0" sz="850">
                <a:latin typeface="Calibri"/>
                <a:cs typeface="Calibri"/>
                <a:hlinkClick r:id="rId10"/>
              </a:rPr>
              <a:t>described</a:t>
            </a:r>
            <a:r>
              <a:rPr dirty="0" sz="850" spc="150">
                <a:latin typeface="Calibri"/>
                <a:cs typeface="Calibri"/>
                <a:hlinkClick r:id="rId10"/>
              </a:rPr>
              <a:t> </a:t>
            </a:r>
            <a:r>
              <a:rPr dirty="0" sz="850">
                <a:latin typeface="Calibri"/>
                <a:cs typeface="Calibri"/>
                <a:hlinkClick r:id="rId10"/>
              </a:rPr>
              <a:t>the</a:t>
            </a:r>
            <a:r>
              <a:rPr dirty="0" sz="850" spc="145">
                <a:latin typeface="Calibri"/>
                <a:cs typeface="Calibri"/>
                <a:hlinkClick r:id="rId10"/>
              </a:rPr>
              <a:t> </a:t>
            </a:r>
            <a:r>
              <a:rPr dirty="0" sz="850">
                <a:latin typeface="Calibri"/>
                <a:cs typeface="Calibri"/>
                <a:hlinkClick r:id="rId10"/>
              </a:rPr>
              <a:t>perfect</a:t>
            </a:r>
            <a:r>
              <a:rPr dirty="0" sz="850" spc="145">
                <a:latin typeface="Calibri"/>
                <a:cs typeface="Calibri"/>
                <a:hlinkClick r:id="rId10"/>
              </a:rPr>
              <a:t> </a:t>
            </a:r>
            <a:r>
              <a:rPr dirty="0" sz="850">
                <a:latin typeface="Calibri"/>
                <a:cs typeface="Calibri"/>
                <a:hlinkClick r:id="rId10"/>
              </a:rPr>
              <a:t>search</a:t>
            </a:r>
            <a:r>
              <a:rPr dirty="0" sz="850" spc="145">
                <a:latin typeface="Calibri"/>
                <a:cs typeface="Calibri"/>
                <a:hlinkClick r:id="rId10"/>
              </a:rPr>
              <a:t> </a:t>
            </a:r>
            <a:r>
              <a:rPr dirty="0" sz="850">
                <a:latin typeface="Calibri"/>
                <a:cs typeface="Calibri"/>
                <a:hlinkClick r:id="rId10"/>
              </a:rPr>
              <a:t>engine</a:t>
            </a:r>
            <a:r>
              <a:rPr dirty="0" sz="850" spc="150">
                <a:latin typeface="Calibri"/>
                <a:cs typeface="Calibri"/>
                <a:hlinkClick r:id="rId10"/>
              </a:rPr>
              <a:t> </a:t>
            </a:r>
            <a:r>
              <a:rPr dirty="0" sz="850">
                <a:latin typeface="Calibri"/>
                <a:cs typeface="Calibri"/>
                <a:hlinkClick r:id="rId10"/>
              </a:rPr>
              <a:t>as</a:t>
            </a:r>
            <a:r>
              <a:rPr dirty="0" sz="850" spc="145">
                <a:latin typeface="Calibri"/>
                <a:cs typeface="Calibri"/>
                <a:hlinkClick r:id="rId10"/>
              </a:rPr>
              <a:t> </a:t>
            </a:r>
            <a:r>
              <a:rPr dirty="0" sz="850" spc="-10">
                <a:latin typeface="Calibri"/>
                <a:cs typeface="Calibri"/>
                <a:hlinkClick r:id="rId10"/>
              </a:rPr>
              <a:t>understanding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10"/>
              </a:rPr>
              <a:t>exactly</a:t>
            </a:r>
            <a:r>
              <a:rPr dirty="0" sz="850" spc="130">
                <a:latin typeface="Calibri"/>
                <a:cs typeface="Calibri"/>
                <a:hlinkClick r:id="rId10"/>
              </a:rPr>
              <a:t> </a:t>
            </a:r>
            <a:r>
              <a:rPr dirty="0" sz="850" spc="10">
                <a:latin typeface="Calibri"/>
                <a:cs typeface="Calibri"/>
                <a:hlinkClick r:id="rId10"/>
              </a:rPr>
              <a:t>what</a:t>
            </a:r>
            <a:r>
              <a:rPr dirty="0" sz="850" spc="135">
                <a:latin typeface="Calibri"/>
                <a:cs typeface="Calibri"/>
                <a:hlinkClick r:id="rId10"/>
              </a:rPr>
              <a:t> </a:t>
            </a:r>
            <a:r>
              <a:rPr dirty="0" sz="850" spc="10">
                <a:latin typeface="Lucida Sans Unicode"/>
                <a:cs typeface="Lucida Sans Unicode"/>
                <a:hlinkClick r:id="rId10"/>
              </a:rPr>
              <a:t>[</a:t>
            </a:r>
            <a:r>
              <a:rPr dirty="0" sz="850" spc="10">
                <a:latin typeface="Calibri"/>
                <a:cs typeface="Calibri"/>
                <a:hlinkClick r:id="rId10"/>
              </a:rPr>
              <a:t>your</a:t>
            </a:r>
            <a:r>
              <a:rPr dirty="0" sz="850" spc="130">
                <a:latin typeface="Calibri"/>
                <a:cs typeface="Calibri"/>
                <a:hlinkClick r:id="rId10"/>
              </a:rPr>
              <a:t> </a:t>
            </a:r>
            <a:r>
              <a:rPr dirty="0" sz="850" spc="10">
                <a:latin typeface="Calibri"/>
                <a:cs typeface="Calibri"/>
                <a:hlinkClick r:id="rId10"/>
              </a:rPr>
              <a:t>queries</a:t>
            </a:r>
            <a:r>
              <a:rPr dirty="0" sz="850" spc="10">
                <a:latin typeface="Lucida Sans Unicode"/>
                <a:cs typeface="Lucida Sans Unicode"/>
                <a:hlinkClick r:id="rId10"/>
              </a:rPr>
              <a:t>]</a:t>
            </a:r>
            <a:r>
              <a:rPr dirty="0" sz="850" spc="65">
                <a:latin typeface="Lucida Sans Unicode"/>
                <a:cs typeface="Lucida Sans Unicode"/>
                <a:hlinkClick r:id="rId10"/>
              </a:rPr>
              <a:t> </a:t>
            </a:r>
            <a:r>
              <a:rPr dirty="0" sz="850" spc="10">
                <a:latin typeface="Calibri"/>
                <a:cs typeface="Calibri"/>
                <a:hlinkClick r:id="rId10"/>
              </a:rPr>
              <a:t>mean</a:t>
            </a:r>
            <a:r>
              <a:rPr dirty="0" sz="850" spc="130">
                <a:latin typeface="Calibri"/>
                <a:cs typeface="Calibri"/>
                <a:hlinkClick r:id="rId10"/>
              </a:rPr>
              <a:t> </a:t>
            </a:r>
            <a:r>
              <a:rPr dirty="0" sz="850" spc="10">
                <a:latin typeface="Calibri"/>
                <a:cs typeface="Calibri"/>
                <a:hlinkClick r:id="rId10"/>
              </a:rPr>
              <a:t>and</a:t>
            </a:r>
            <a:r>
              <a:rPr dirty="0" sz="850" spc="135">
                <a:latin typeface="Calibri"/>
                <a:cs typeface="Calibri"/>
                <a:hlinkClick r:id="rId10"/>
              </a:rPr>
              <a:t> </a:t>
            </a:r>
            <a:r>
              <a:rPr dirty="0" sz="850" spc="10">
                <a:latin typeface="Calibri"/>
                <a:cs typeface="Calibri"/>
                <a:hlinkClick r:id="rId10"/>
              </a:rPr>
              <a:t>giving</a:t>
            </a:r>
            <a:r>
              <a:rPr dirty="0" sz="850" spc="130">
                <a:latin typeface="Calibri"/>
                <a:cs typeface="Calibri"/>
                <a:hlinkClick r:id="rId10"/>
              </a:rPr>
              <a:t> </a:t>
            </a:r>
            <a:r>
              <a:rPr dirty="0" sz="850" spc="10">
                <a:latin typeface="Calibri"/>
                <a:cs typeface="Calibri"/>
                <a:hlinkClick r:id="rId10"/>
              </a:rPr>
              <a:t>you</a:t>
            </a:r>
            <a:r>
              <a:rPr dirty="0" sz="850" spc="135">
                <a:latin typeface="Calibri"/>
                <a:cs typeface="Calibri"/>
                <a:hlinkClick r:id="rId10"/>
              </a:rPr>
              <a:t> </a:t>
            </a:r>
            <a:r>
              <a:rPr dirty="0" sz="850" spc="10">
                <a:latin typeface="Calibri"/>
                <a:cs typeface="Calibri"/>
                <a:hlinkClick r:id="rId10"/>
              </a:rPr>
              <a:t>back</a:t>
            </a:r>
            <a:r>
              <a:rPr dirty="0" sz="850" spc="130">
                <a:latin typeface="Calibri"/>
                <a:cs typeface="Calibri"/>
                <a:hlinkClick r:id="rId10"/>
              </a:rPr>
              <a:t> </a:t>
            </a:r>
            <a:r>
              <a:rPr dirty="0" sz="850" spc="10">
                <a:latin typeface="Calibri"/>
                <a:cs typeface="Calibri"/>
                <a:hlinkClick r:id="rId10"/>
              </a:rPr>
              <a:t>exactly</a:t>
            </a:r>
            <a:r>
              <a:rPr dirty="0" sz="850" spc="135">
                <a:latin typeface="Calibri"/>
                <a:cs typeface="Calibri"/>
                <a:hlinkClick r:id="rId10"/>
              </a:rPr>
              <a:t> </a:t>
            </a:r>
            <a:r>
              <a:rPr dirty="0" sz="850" spc="10">
                <a:latin typeface="Calibri"/>
                <a:cs typeface="Calibri"/>
                <a:hlinkClick r:id="rId10"/>
              </a:rPr>
              <a:t>what</a:t>
            </a:r>
            <a:r>
              <a:rPr dirty="0" sz="850" spc="135">
                <a:latin typeface="Calibri"/>
                <a:cs typeface="Calibri"/>
                <a:hlinkClick r:id="rId10"/>
              </a:rPr>
              <a:t> </a:t>
            </a:r>
            <a:r>
              <a:rPr dirty="0" sz="850" spc="10">
                <a:latin typeface="Calibri"/>
                <a:cs typeface="Calibri"/>
                <a:hlinkClick r:id="rId10"/>
              </a:rPr>
              <a:t>you</a:t>
            </a:r>
            <a:r>
              <a:rPr dirty="0" sz="850" spc="130">
                <a:latin typeface="Calibri"/>
                <a:cs typeface="Calibri"/>
                <a:hlinkClick r:id="rId10"/>
              </a:rPr>
              <a:t> </a:t>
            </a:r>
            <a:r>
              <a:rPr dirty="0" sz="850" spc="-10">
                <a:latin typeface="Calibri"/>
                <a:cs typeface="Calibri"/>
                <a:hlinkClick r:id="rId10"/>
              </a:rPr>
              <a:t>want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18415" marR="32384" indent="189230">
              <a:lnSpc>
                <a:spcPct val="114300"/>
              </a:lnSpc>
              <a:spcBef>
                <a:spcPts val="30"/>
              </a:spcBef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intention-driven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user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interface</a:t>
            </a:r>
            <a:r>
              <a:rPr dirty="0" sz="850">
                <a:latin typeface="Calibri"/>
                <a:cs typeface="Calibri"/>
              </a:rPr>
              <a:t>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vision,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responding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users’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literal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queries,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search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vague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input,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discern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precisely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insights.</a:t>
            </a:r>
            <a:endParaRPr sz="850">
              <a:latin typeface="Calibri"/>
              <a:cs typeface="Calibri"/>
            </a:endParaRPr>
          </a:p>
          <a:p>
            <a:pPr algn="just" marL="12700" marR="5080" indent="195580">
              <a:lnSpc>
                <a:spcPct val="114300"/>
              </a:lnSpc>
              <a:spcBef>
                <a:spcPts val="25"/>
              </a:spcBef>
            </a:pP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intention-driven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interfaces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applied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far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broadly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search.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next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decades,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thousands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companies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machine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interfaces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tolerate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imprecision,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discerning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acting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user’s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intent.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We’re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already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intention-driven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interfaces: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Apple’s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Siri;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Wolfram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Alpha;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IBM’s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Watson;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systems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11"/>
              </a:rPr>
              <a:t>annotate</a:t>
            </a:r>
            <a:r>
              <a:rPr dirty="0" sz="850" spc="114">
                <a:latin typeface="Calibri"/>
                <a:cs typeface="Calibri"/>
                <a:hlinkClick r:id="rId11"/>
              </a:rPr>
              <a:t> </a:t>
            </a:r>
            <a:r>
              <a:rPr dirty="0" sz="850" spc="10">
                <a:latin typeface="Calibri"/>
                <a:cs typeface="Calibri"/>
                <a:hlinkClick r:id="rId11"/>
              </a:rPr>
              <a:t>photos</a:t>
            </a:r>
            <a:r>
              <a:rPr dirty="0" sz="850" spc="110">
                <a:latin typeface="Calibri"/>
                <a:cs typeface="Calibri"/>
                <a:hlinkClick r:id="rId11"/>
              </a:rPr>
              <a:t> </a:t>
            </a:r>
            <a:r>
              <a:rPr dirty="0" sz="850" spc="10">
                <a:latin typeface="Calibri"/>
                <a:cs typeface="Calibri"/>
                <a:hlinkClick r:id="rId11"/>
              </a:rPr>
              <a:t>and</a:t>
            </a:r>
            <a:r>
              <a:rPr dirty="0" sz="850" spc="114">
                <a:latin typeface="Calibri"/>
                <a:cs typeface="Calibri"/>
                <a:hlinkClick r:id="rId11"/>
              </a:rPr>
              <a:t> </a:t>
            </a:r>
            <a:r>
              <a:rPr dirty="0" sz="850" spc="-10">
                <a:latin typeface="Calibri"/>
                <a:cs typeface="Calibri"/>
                <a:hlinkClick r:id="rId11"/>
              </a:rPr>
              <a:t>videos</a:t>
            </a:r>
            <a:r>
              <a:rPr dirty="0" sz="850" spc="-10">
                <a:latin typeface="Calibri"/>
                <a:cs typeface="Calibri"/>
              </a:rPr>
              <a:t>;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more.</a:t>
            </a:r>
            <a:endParaRPr sz="850">
              <a:latin typeface="Calibri"/>
              <a:cs typeface="Calibri"/>
            </a:endParaRPr>
          </a:p>
          <a:p>
            <a:pPr algn="just" marL="18415" marR="29209" indent="189230">
              <a:lnSpc>
                <a:spcPct val="114300"/>
              </a:lnSpc>
              <a:spcBef>
                <a:spcPts val="30"/>
              </a:spcBef>
            </a:pP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products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fail.</a:t>
            </a:r>
            <a:r>
              <a:rPr dirty="0" sz="850" spc="4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Inspired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interface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design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hard,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expect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companies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technology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insipid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interfaces.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world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help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interface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concept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stinks.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residue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succeed.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cause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profound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computers.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35">
                <a:latin typeface="Calibri"/>
                <a:cs typeface="Calibri"/>
              </a:rPr>
              <a:t>2005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5" name="object 5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67250" cy="76479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206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299720" marR="5080" indent="-1016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took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granted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precision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interactions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computers.</a:t>
            </a:r>
            <a:r>
              <a:rPr dirty="0" sz="850" spc="20">
                <a:latin typeface="Calibri"/>
                <a:cs typeface="Calibri"/>
              </a:rPr>
              <a:t> Indeed,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computer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literacy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great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extent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meant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internalizing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computers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literal;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misplaced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semi-colon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completely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nature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interaction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computer.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next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decades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expect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many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successful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intention-driven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interfaces,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dramatically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expect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interacting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computers.</a:t>
            </a:r>
            <a:endParaRPr sz="850">
              <a:latin typeface="Calibri"/>
              <a:cs typeface="Calibri"/>
            </a:endParaRPr>
          </a:p>
          <a:p>
            <a:pPr algn="just" marL="299720" marR="9525" indent="196215">
              <a:lnSpc>
                <a:spcPct val="114300"/>
              </a:lnSpc>
              <a:spcBef>
                <a:spcPts val="185"/>
              </a:spcBef>
            </a:pPr>
            <a:r>
              <a:rPr dirty="0" sz="850" spc="10" b="1">
                <a:latin typeface="Calibri"/>
                <a:cs typeface="Calibri"/>
              </a:rPr>
              <a:t>Machine</a:t>
            </a:r>
            <a:r>
              <a:rPr dirty="0" sz="850" spc="260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learning,</a:t>
            </a:r>
            <a:r>
              <a:rPr dirty="0" sz="850" spc="28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data</a:t>
            </a:r>
            <a:r>
              <a:rPr dirty="0" sz="850" spc="26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science,</a:t>
            </a:r>
            <a:r>
              <a:rPr dirty="0" sz="850" spc="29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and</a:t>
            </a:r>
            <a:r>
              <a:rPr dirty="0" sz="850" spc="26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the</a:t>
            </a:r>
            <a:r>
              <a:rPr dirty="0" sz="850" spc="26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virtuous</a:t>
            </a:r>
            <a:r>
              <a:rPr dirty="0" sz="850" spc="2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circle</a:t>
            </a:r>
            <a:r>
              <a:rPr dirty="0" sz="850" spc="265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of</a:t>
            </a:r>
            <a:r>
              <a:rPr dirty="0" sz="850" spc="260" b="1">
                <a:latin typeface="Calibri"/>
                <a:cs typeface="Calibri"/>
              </a:rPr>
              <a:t> </a:t>
            </a:r>
            <a:r>
              <a:rPr dirty="0" sz="850" spc="10" b="1">
                <a:latin typeface="Calibri"/>
                <a:cs typeface="Calibri"/>
              </a:rPr>
              <a:t>innovation:</a:t>
            </a:r>
            <a:r>
              <a:rPr dirty="0" sz="850" spc="459" b="1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course,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isn’t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being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intention-driven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interfaces.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Another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notable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application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science,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“known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unknowns”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hidden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already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fashionable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area,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much.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want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mention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consequence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fashion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remarked: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biggest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breakthrough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machine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single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conceptual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breakthrough.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biggest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breakthrough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research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becomes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profitable,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applications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science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areas.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company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invest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dollar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research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">
                <a:latin typeface="Calibri"/>
                <a:cs typeface="Calibri"/>
              </a:rPr>
              <a:t>1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dollar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cents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back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reasonably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rapidly,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money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machine</a:t>
            </a:r>
            <a:r>
              <a:rPr dirty="0" sz="850" spc="20">
                <a:latin typeface="Calibri"/>
                <a:cs typeface="Calibri"/>
              </a:rPr>
              <a:t> 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research.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Put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another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machine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engine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driving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creation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major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markets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growth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technology.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large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teams</a:t>
            </a:r>
            <a:r>
              <a:rPr dirty="0" sz="850" spc="20">
                <a:latin typeface="Calibri"/>
                <a:cs typeface="Calibri"/>
              </a:rPr>
              <a:t> 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people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subject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expertise,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access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extraordinary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resources.</a:t>
            </a:r>
            <a:r>
              <a:rPr dirty="0" sz="850" spc="3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propel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forward,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creating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markets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opportunities,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virtuous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circle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innovation.</a:t>
            </a:r>
            <a:endParaRPr sz="850">
              <a:latin typeface="Calibri"/>
              <a:cs typeface="Calibri"/>
            </a:endParaRPr>
          </a:p>
          <a:p>
            <a:pPr algn="just" marL="306070" marR="29209" indent="189230">
              <a:lnSpc>
                <a:spcPct val="114300"/>
              </a:lnSpc>
              <a:spcBef>
                <a:spcPts val="190"/>
              </a:spcBef>
            </a:pPr>
            <a:r>
              <a:rPr dirty="0" sz="850" spc="60" b="1">
                <a:latin typeface="Calibri"/>
                <a:cs typeface="Calibri"/>
              </a:rPr>
              <a:t>The</a:t>
            </a:r>
            <a:r>
              <a:rPr dirty="0" sz="850" spc="28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role</a:t>
            </a:r>
            <a:r>
              <a:rPr dirty="0" sz="850" spc="28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of</a:t>
            </a:r>
            <a:r>
              <a:rPr dirty="0" sz="850" spc="28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neural</a:t>
            </a:r>
            <a:r>
              <a:rPr dirty="0" sz="850" spc="28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networks</a:t>
            </a:r>
            <a:r>
              <a:rPr dirty="0" sz="850" spc="28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and</a:t>
            </a:r>
            <a:r>
              <a:rPr dirty="0" sz="850" spc="28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deep</a:t>
            </a:r>
            <a:r>
              <a:rPr dirty="0" sz="850" spc="280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learning:</a:t>
            </a:r>
            <a:r>
              <a:rPr dirty="0" sz="850" spc="160" b="1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talking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broadly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creator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opportunities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technology.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specific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this?</a:t>
            </a:r>
            <a:endParaRPr sz="850">
              <a:latin typeface="Calibri"/>
              <a:cs typeface="Calibri"/>
            </a:endParaRPr>
          </a:p>
          <a:p>
            <a:pPr algn="just" marL="299720" marR="29209" indent="196215">
              <a:lnSpc>
                <a:spcPct val="114300"/>
              </a:lnSpc>
              <a:spcBef>
                <a:spcPts val="190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helps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look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history.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Back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1980s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great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excitement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optimism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especially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after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backpropagation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widely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excitement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faded,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1990s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baton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passed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techniques,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support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vector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machines.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Today,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riding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sorts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records,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defeating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comers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tomorrow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sweeps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away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again?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progress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stagnate,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nothing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immediately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arise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place?</a:t>
            </a:r>
            <a:endParaRPr sz="850">
              <a:latin typeface="Calibri"/>
              <a:cs typeface="Calibri"/>
            </a:endParaRPr>
          </a:p>
          <a:p>
            <a:pPr algn="just" marL="299720" marR="9525" indent="196215">
              <a:lnSpc>
                <a:spcPct val="114300"/>
              </a:lnSpc>
              <a:spcBef>
                <a:spcPts val="185"/>
              </a:spcBef>
            </a:pP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broadly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future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specifically.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neural</a:t>
            </a:r>
            <a:r>
              <a:rPr dirty="0" sz="850" spc="20">
                <a:latin typeface="Calibri"/>
                <a:cs typeface="Calibri"/>
              </a:rPr>
              <a:t> networks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poorly.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generalize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well?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avoid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overfitting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given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parameters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they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learn?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stochastic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gradient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does?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data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scaled?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instance,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ImageNet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expanded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10,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networks’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performance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improve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techniques?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fundamental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present,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poorly.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difficult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play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future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machine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learning.</a:t>
            </a:r>
            <a:endParaRPr sz="850">
              <a:latin typeface="Calibri"/>
              <a:cs typeface="Calibri"/>
            </a:endParaRPr>
          </a:p>
          <a:p>
            <a:pPr algn="just" marL="306070" marR="27940" indent="189230">
              <a:lnSpc>
                <a:spcPct val="114300"/>
              </a:lnSpc>
              <a:spcBef>
                <a:spcPts val="190"/>
              </a:spcBef>
            </a:pP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prediction: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believe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stay.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ability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hierarchies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concepts,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multiple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layers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abstraction,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fundamental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sense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world.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tomorrow’s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learners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radically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today’s.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major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constituent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units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used,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dramatic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4" name="object 4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6" y="368721"/>
            <a:ext cx="4619625" cy="76479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433955">
              <a:lnSpc>
                <a:spcPts val="525"/>
              </a:lnSpc>
              <a:spcBef>
                <a:spcPts val="110"/>
              </a:spcBef>
              <a:tabLst>
                <a:tab pos="4424045" algn="l"/>
              </a:tabLst>
            </a:pPr>
            <a:r>
              <a:rPr dirty="0" sz="850">
                <a:latin typeface="Calibri"/>
                <a:cs typeface="Calibri"/>
              </a:rPr>
              <a:t>6.6.</a:t>
            </a:r>
            <a:r>
              <a:rPr dirty="0" sz="850" spc="3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future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207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9050" marR="272415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longer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systems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networks.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they’d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deep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learning.</a:t>
            </a:r>
            <a:endParaRPr sz="850">
              <a:latin typeface="Calibri"/>
              <a:cs typeface="Calibri"/>
            </a:endParaRPr>
          </a:p>
          <a:p>
            <a:pPr algn="just" marL="13335" marR="245110" indent="194945">
              <a:lnSpc>
                <a:spcPct val="114300"/>
              </a:lnSpc>
              <a:spcBef>
                <a:spcPts val="260"/>
              </a:spcBef>
            </a:pPr>
            <a:r>
              <a:rPr dirty="0" sz="850" spc="20" b="1">
                <a:latin typeface="Calibri"/>
                <a:cs typeface="Calibri"/>
              </a:rPr>
              <a:t>Will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neural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networks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55" b="1">
                <a:latin typeface="Calibri"/>
                <a:cs typeface="Calibri"/>
              </a:rPr>
              <a:t>and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deep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50" b="1">
                <a:latin typeface="Calibri"/>
                <a:cs typeface="Calibri"/>
              </a:rPr>
              <a:t>learning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soon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lead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to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artificial</a:t>
            </a:r>
            <a:r>
              <a:rPr dirty="0" sz="850" spc="145" b="1">
                <a:latin typeface="Calibri"/>
                <a:cs typeface="Calibri"/>
              </a:rPr>
              <a:t> </a:t>
            </a:r>
            <a:r>
              <a:rPr dirty="0" sz="850" spc="20" b="1">
                <a:latin typeface="Calibri"/>
                <a:cs typeface="Calibri"/>
              </a:rPr>
              <a:t>intelligence?</a:t>
            </a:r>
            <a:r>
              <a:rPr dirty="0" sz="850" spc="225" b="1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we’ve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focused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specific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tasks,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classifying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images.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broaden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ambitions,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ask:</a:t>
            </a:r>
            <a:r>
              <a:rPr dirty="0" sz="850" spc="4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general-purpose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thinking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computers?</a:t>
            </a:r>
            <a:r>
              <a:rPr dirty="0" sz="850" spc="60">
                <a:latin typeface="Calibri"/>
                <a:cs typeface="Calibri"/>
              </a:rPr>
              <a:t> Can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networks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help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solve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problem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(general)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artificial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intelligence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(AI)?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rapid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recent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progress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expect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AI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soon?</a:t>
            </a:r>
            <a:endParaRPr sz="850">
              <a:latin typeface="Calibri"/>
              <a:cs typeface="Calibri"/>
            </a:endParaRPr>
          </a:p>
          <a:p>
            <a:pPr algn="just" marL="19050" marR="269875" indent="189230">
              <a:lnSpc>
                <a:spcPct val="114300"/>
              </a:lnSpc>
              <a:spcBef>
                <a:spcPts val="265"/>
              </a:spcBef>
            </a:pPr>
            <a:r>
              <a:rPr dirty="0" sz="850" spc="20">
                <a:latin typeface="Calibri"/>
                <a:cs typeface="Calibri"/>
              </a:rPr>
              <a:t>Addressing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questions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comprehensively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would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take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separate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book.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Instead,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let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offer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observation.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  <a:hlinkClick r:id="rId2"/>
              </a:rPr>
              <a:t>Conway’s</a:t>
            </a:r>
            <a:r>
              <a:rPr dirty="0" sz="850" spc="135">
                <a:latin typeface="Calibri"/>
                <a:cs typeface="Calibri"/>
                <a:hlinkClick r:id="rId2"/>
              </a:rPr>
              <a:t> </a:t>
            </a:r>
            <a:r>
              <a:rPr dirty="0" sz="850" spc="-20">
                <a:latin typeface="Calibri"/>
                <a:cs typeface="Calibri"/>
                <a:hlinkClick r:id="rId2"/>
              </a:rPr>
              <a:t>law</a:t>
            </a:r>
            <a:r>
              <a:rPr dirty="0" sz="850" spc="-20">
                <a:latin typeface="Calibri"/>
                <a:cs typeface="Calibri"/>
              </a:rPr>
              <a:t>:</a:t>
            </a:r>
            <a:endParaRPr sz="850">
              <a:latin typeface="Calibri"/>
              <a:cs typeface="Calibri"/>
            </a:endParaRPr>
          </a:p>
          <a:p>
            <a:pPr algn="just" marL="552450" marR="605155" indent="6350">
              <a:lnSpc>
                <a:spcPct val="114300"/>
              </a:lnSpc>
              <a:spcBef>
                <a:spcPts val="265"/>
              </a:spcBef>
            </a:pP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organization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designs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system...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inevitably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design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copy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organization’s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communication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structure.</a:t>
            </a:r>
            <a:endParaRPr sz="850">
              <a:latin typeface="Calibri"/>
              <a:cs typeface="Calibri"/>
            </a:endParaRPr>
          </a:p>
          <a:p>
            <a:pPr algn="just" marL="19050" marR="269240">
              <a:lnSpc>
                <a:spcPct val="114300"/>
              </a:lnSpc>
              <a:spcBef>
                <a:spcPts val="260"/>
              </a:spcBef>
            </a:pP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Conway’s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design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Boeing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747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aircraft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mirror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extended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organizational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structure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Boeing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contractors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time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747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designed.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specific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company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building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software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application.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application’s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dashboard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supposed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integrated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machine</a:t>
            </a:r>
            <a:r>
              <a:rPr dirty="0" sz="850" spc="20">
                <a:latin typeface="Calibri"/>
                <a:cs typeface="Calibri"/>
              </a:rPr>
              <a:t> 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person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building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dashboard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better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talking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company’s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machine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expert.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Conway’s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merely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observation,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large.</a:t>
            </a:r>
            <a:endParaRPr sz="850">
              <a:latin typeface="Calibri"/>
              <a:cs typeface="Calibri"/>
            </a:endParaRPr>
          </a:p>
          <a:p>
            <a:pPr algn="just" marL="19050" marR="269875" indent="189230">
              <a:lnSpc>
                <a:spcPct val="114300"/>
              </a:lnSpc>
              <a:spcBef>
                <a:spcPts val="265"/>
              </a:spcBef>
            </a:pPr>
            <a:r>
              <a:rPr dirty="0" sz="850" spc="10">
                <a:latin typeface="Calibri"/>
                <a:cs typeface="Calibri"/>
              </a:rPr>
              <a:t>Upon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hearing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Conway’s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law,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respond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either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“Well,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banal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obvious?”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“Isn’t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wrong?”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objection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wrong.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objection,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question: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Boeing’s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accounting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department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design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747?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janitorial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department?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internal</a:t>
            </a:r>
            <a:r>
              <a:rPr dirty="0" sz="850" spc="20">
                <a:latin typeface="Calibri"/>
                <a:cs typeface="Calibri"/>
              </a:rPr>
              <a:t> catering?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answer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organization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probably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don’t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up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anywhere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747.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should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Conway’s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law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referring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organization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concerned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explicitly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design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engineering.</a:t>
            </a:r>
            <a:endParaRPr sz="850">
              <a:latin typeface="Calibri"/>
              <a:cs typeface="Calibri"/>
            </a:endParaRPr>
          </a:p>
          <a:p>
            <a:pPr algn="just" marL="13335" marR="245110" indent="194945">
              <a:lnSpc>
                <a:spcPct val="114300"/>
              </a:lnSpc>
              <a:spcBef>
                <a:spcPts val="265"/>
              </a:spcBef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objection,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Conway’s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banal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obvious?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per-</a:t>
            </a:r>
            <a:r>
              <a:rPr dirty="0" sz="850" spc="10">
                <a:latin typeface="Calibri"/>
                <a:cs typeface="Calibri"/>
              </a:rPr>
              <a:t>haps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true,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organizations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disregard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Conway’s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law.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Teams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building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products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bloated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legacy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hires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contrariwise,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lack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person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crucial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expertise.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products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useless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complicating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features.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major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deficiencies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e.g.,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terrible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interface.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both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classes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caused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mismatch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team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needed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product,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team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actually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assembled.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Conway’s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law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routinely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ignore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it.</a:t>
            </a:r>
            <a:endParaRPr sz="850">
              <a:latin typeface="Calibri"/>
              <a:cs typeface="Calibri"/>
            </a:endParaRPr>
          </a:p>
          <a:p>
            <a:pPr algn="just" marL="12700" marR="269875" indent="196215">
              <a:lnSpc>
                <a:spcPct val="114300"/>
              </a:lnSpc>
              <a:spcBef>
                <a:spcPts val="260"/>
              </a:spcBef>
            </a:pPr>
            <a:r>
              <a:rPr dirty="0" sz="850" spc="10">
                <a:latin typeface="Calibri"/>
                <a:cs typeface="Calibri"/>
              </a:rPr>
              <a:t>Conway’s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law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applies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design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engineering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systems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pretty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good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constituent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development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AI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(yet)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problem: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constituent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Indeed,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basic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asking.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In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words,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AI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problem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science</a:t>
            </a:r>
            <a:r>
              <a:rPr dirty="0" sz="850" spc="20">
                <a:latin typeface="Calibri"/>
                <a:cs typeface="Calibri"/>
              </a:rPr>
              <a:t> than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engineering.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Imagine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beginning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design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747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knowing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jet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engines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principles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aerodynamics.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wouldn’t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kinds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hire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organization.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Wernher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Braun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“basic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research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I’m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doing”.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version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Conway’s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applies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science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engineering?</a:t>
            </a:r>
            <a:endParaRPr sz="850">
              <a:latin typeface="Calibri"/>
              <a:cs typeface="Calibri"/>
            </a:endParaRPr>
          </a:p>
          <a:p>
            <a:pPr algn="just" marL="19050" marR="249554" indent="189230">
              <a:lnSpc>
                <a:spcPct val="114300"/>
              </a:lnSpc>
              <a:spcBef>
                <a:spcPts val="265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insight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history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medicine.</a:t>
            </a:r>
            <a:r>
              <a:rPr dirty="0" sz="850" spc="3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days,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medicine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domain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practitioners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Galen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Hippocrates,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studied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entire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body.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knowledge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grew,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people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forced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specialize.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discovered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778788" y="3204004"/>
            <a:ext cx="344170" cy="475615"/>
            <a:chOff x="5778788" y="3204004"/>
            <a:chExt cx="344170" cy="475615"/>
          </a:xfrm>
        </p:grpSpPr>
        <p:sp>
          <p:nvSpPr>
            <p:cNvPr id="4" name="object 4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6156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  <a:lnTo>
                    <a:pt x="338683" y="510"/>
                  </a:lnTo>
                  <a:lnTo>
                    <a:pt x="336156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5781318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89" h="470535">
                  <a:moveTo>
                    <a:pt x="338683" y="510"/>
                  </a:moveTo>
                  <a:lnTo>
                    <a:pt x="336156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6"/>
                  </a:lnTo>
                  <a:lnTo>
                    <a:pt x="5657" y="43971"/>
                  </a:lnTo>
                  <a:lnTo>
                    <a:pt x="0" y="71996"/>
                  </a:lnTo>
                  <a:lnTo>
                    <a:pt x="0" y="398360"/>
                  </a:lnTo>
                  <a:lnTo>
                    <a:pt x="5657" y="426392"/>
                  </a:lnTo>
                  <a:lnTo>
                    <a:pt x="21086" y="449281"/>
                  </a:lnTo>
                  <a:lnTo>
                    <a:pt x="43971" y="464712"/>
                  </a:lnTo>
                  <a:lnTo>
                    <a:pt x="71996" y="470369"/>
                  </a:lnTo>
                  <a:lnTo>
                    <a:pt x="336156" y="470369"/>
                  </a:lnTo>
                  <a:lnTo>
                    <a:pt x="338683" y="469859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5876620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6780" cy="68472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208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31470" marR="53340">
              <a:lnSpc>
                <a:spcPct val="114300"/>
              </a:lnSpc>
              <a:spcBef>
                <a:spcPts val="5"/>
              </a:spcBef>
            </a:pP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baseline="35353" sz="825">
                <a:latin typeface="Calibri"/>
                <a:cs typeface="Calibri"/>
                <a:hlinkClick r:id="rId2" action="ppaction://hlinksldjump"/>
              </a:rPr>
              <a:t>34</a:t>
            </a:r>
            <a:r>
              <a:rPr dirty="0" sz="850">
                <a:latin typeface="Calibri"/>
                <a:cs typeface="Calibri"/>
              </a:rPr>
              <a:t>: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germ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disease,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instance,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understanding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antibodies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work,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heart,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lungs,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veins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arteries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cardiovascular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system.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insights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subfields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epidemiology,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immunology,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cluster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inter-linked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around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cardiovascular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system.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knowledge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shaped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social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structure</a:t>
            </a:r>
            <a:r>
              <a:rPr dirty="0" sz="850" spc="20">
                <a:latin typeface="Calibri"/>
                <a:cs typeface="Calibri"/>
              </a:rPr>
              <a:t> 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medicine.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striking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immunology: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realizing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immune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exists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system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worthy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study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extremely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non-trivial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insight.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medicine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specialists,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conferences,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prizes,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organized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around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something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invisible,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arguably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distinct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all.</a:t>
            </a:r>
            <a:endParaRPr sz="850">
              <a:latin typeface="Calibri"/>
              <a:cs typeface="Calibri"/>
            </a:endParaRPr>
          </a:p>
          <a:p>
            <a:pPr algn="just" marL="331470" marR="35560" indent="189230">
              <a:lnSpc>
                <a:spcPct val="114300"/>
              </a:lnSpc>
              <a:spcBef>
                <a:spcPts val="90"/>
              </a:spcBef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pattern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repeated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well-established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sciences: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medicine,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physics,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mathematics,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chemistry,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others.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fields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monolithic,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master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time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passes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monolithic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character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changes.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discover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person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really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master.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result,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social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re-</a:t>
            </a:r>
            <a:r>
              <a:rPr dirty="0" sz="850" spc="-10">
                <a:latin typeface="Calibri"/>
                <a:cs typeface="Calibri"/>
              </a:rPr>
              <a:t>organizes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divides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around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Instead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monolith,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fields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fields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within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fields,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recursive,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self-</a:t>
            </a:r>
            <a:r>
              <a:rPr dirty="0" sz="850" spc="10">
                <a:latin typeface="Calibri"/>
                <a:cs typeface="Calibri"/>
              </a:rPr>
              <a:t>referential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social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whose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organization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mirrors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connections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deepest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insights.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And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so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the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structure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of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our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knowledge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shapes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spc="-25" i="1">
                <a:latin typeface="Calibri"/>
                <a:cs typeface="Calibri"/>
              </a:rPr>
              <a:t>the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social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organization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of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science.</a:t>
            </a:r>
            <a:r>
              <a:rPr dirty="0" sz="850" spc="29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But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that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social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shape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50" i="1">
                <a:latin typeface="Calibri"/>
                <a:cs typeface="Calibri"/>
              </a:rPr>
              <a:t>in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turn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constrains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and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10" i="1">
                <a:latin typeface="Calibri"/>
                <a:cs typeface="Calibri"/>
              </a:rPr>
              <a:t>helps</a:t>
            </a:r>
            <a:r>
              <a:rPr dirty="0" sz="850" spc="130" i="1">
                <a:latin typeface="Calibri"/>
                <a:cs typeface="Calibri"/>
              </a:rPr>
              <a:t> </a:t>
            </a:r>
            <a:r>
              <a:rPr dirty="0" sz="850" spc="-10" i="1">
                <a:latin typeface="Calibri"/>
                <a:cs typeface="Calibri"/>
              </a:rPr>
              <a:t>determine</a:t>
            </a:r>
            <a:r>
              <a:rPr dirty="0" sz="850" spc="50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what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we</a:t>
            </a:r>
            <a:r>
              <a:rPr dirty="0" sz="850" spc="120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can</a:t>
            </a:r>
            <a:r>
              <a:rPr dirty="0" sz="850" spc="125" i="1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discover.</a:t>
            </a:r>
            <a:r>
              <a:rPr dirty="0" sz="850" spc="220" i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scientific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analogue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Conway’s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law.</a:t>
            </a:r>
            <a:endParaRPr sz="850">
              <a:latin typeface="Calibri"/>
              <a:cs typeface="Calibri"/>
            </a:endParaRPr>
          </a:p>
          <a:p>
            <a:pPr algn="just" marL="521334">
              <a:lnSpc>
                <a:spcPct val="100000"/>
              </a:lnSpc>
              <a:spcBef>
                <a:spcPts val="240"/>
              </a:spcBef>
            </a:pP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AI?</a:t>
            </a:r>
            <a:endParaRPr sz="850">
              <a:latin typeface="Calibri"/>
              <a:cs typeface="Calibri"/>
            </a:endParaRPr>
          </a:p>
          <a:p>
            <a:pPr algn="just" marL="311785" marR="33655" indent="209550">
              <a:lnSpc>
                <a:spcPct val="114300"/>
              </a:lnSpc>
              <a:spcBef>
                <a:spcPts val="95"/>
              </a:spcBef>
            </a:pPr>
            <a:r>
              <a:rPr dirty="0" sz="850">
                <a:latin typeface="Calibri"/>
                <a:cs typeface="Calibri"/>
              </a:rPr>
              <a:t>Well,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since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days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AI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side,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“Hey,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Lucida Sans Unicode"/>
                <a:cs typeface="Lucida Sans Unicode"/>
              </a:rPr>
              <a:t>[</a:t>
            </a:r>
            <a:r>
              <a:rPr dirty="0" sz="850">
                <a:latin typeface="Calibri"/>
                <a:cs typeface="Calibri"/>
              </a:rPr>
              <a:t>super-special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weapon</a:t>
            </a:r>
            <a:r>
              <a:rPr dirty="0" sz="850">
                <a:latin typeface="Lucida Sans Unicode"/>
                <a:cs typeface="Lucida Sans Unicode"/>
              </a:rPr>
              <a:t>]</a:t>
            </a:r>
            <a:r>
              <a:rPr dirty="0" sz="850" spc="-10">
                <a:latin typeface="Lucida Sans Unicode"/>
                <a:cs typeface="Lucida Sans Unicode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side”,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countered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</a:t>
            </a:r>
            <a:r>
              <a:rPr dirty="0" sz="850">
                <a:latin typeface="Lucida Sans Unicode"/>
                <a:cs typeface="Lucida Sans Unicode"/>
              </a:rPr>
              <a:t>[</a:t>
            </a:r>
            <a:r>
              <a:rPr dirty="0" sz="850">
                <a:latin typeface="Calibri"/>
                <a:cs typeface="Calibri"/>
              </a:rPr>
              <a:t>super-special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weapon</a:t>
            </a:r>
            <a:r>
              <a:rPr dirty="0" sz="850">
                <a:latin typeface="Lucida Sans Unicode"/>
                <a:cs typeface="Lucida Sans Unicode"/>
              </a:rPr>
              <a:t>]</a:t>
            </a:r>
            <a:r>
              <a:rPr dirty="0" sz="850" spc="70">
                <a:latin typeface="Lucida Sans Unicode"/>
                <a:cs typeface="Lucida Sans Unicode"/>
              </a:rPr>
              <a:t> </a:t>
            </a:r>
            <a:r>
              <a:rPr dirty="0" sz="850">
                <a:latin typeface="Calibri"/>
                <a:cs typeface="Calibri"/>
              </a:rPr>
              <a:t>won’t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enough”.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latest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super-special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weapon</a:t>
            </a:r>
            <a:r>
              <a:rPr dirty="0" sz="850" spc="20">
                <a:latin typeface="Calibri"/>
                <a:cs typeface="Calibri"/>
              </a:rPr>
              <a:t> I’ve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heard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arguments</a:t>
            </a:r>
            <a:r>
              <a:rPr dirty="0" baseline="35353" sz="825" spc="30">
                <a:latin typeface="Calibri"/>
                <a:cs typeface="Calibri"/>
                <a:hlinkClick r:id="rId2" action="ppaction://hlinksldjump"/>
              </a:rPr>
              <a:t>35</a:t>
            </a:r>
            <a:r>
              <a:rPr dirty="0" sz="850" spc="20">
                <a:latin typeface="Calibri"/>
                <a:cs typeface="Calibri"/>
              </a:rPr>
              <a:t>;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earlier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versions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argument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logic,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Prolog,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systems,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whatever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powerful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technique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problem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powerful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candidate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super-special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weapon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chapter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reviewing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solve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challenging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certainly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very</a:t>
            </a:r>
            <a:r>
              <a:rPr dirty="0" sz="850" spc="20">
                <a:latin typeface="Calibri"/>
                <a:cs typeface="Calibri"/>
              </a:rPr>
              <a:t> exciting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promising.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true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systems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Prolog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Eurisko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expert</a:t>
            </a:r>
            <a:r>
              <a:rPr dirty="0" sz="850" spc="20">
                <a:latin typeface="Calibri"/>
                <a:cs typeface="Calibri"/>
              </a:rPr>
              <a:t> systems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their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day.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mere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looks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promising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doesn’t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How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earlier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ideas?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measuring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powerful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promising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is?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Conway’s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law</a:t>
            </a:r>
            <a:r>
              <a:rPr dirty="0" sz="850" spc="20">
                <a:latin typeface="Calibri"/>
                <a:cs typeface="Calibri"/>
              </a:rPr>
              <a:t> suggests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rough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heuristic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proxy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metric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evaluate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complexity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social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associated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ideas.</a:t>
            </a:r>
            <a:endParaRPr sz="850">
              <a:latin typeface="Calibri"/>
              <a:cs typeface="Calibri"/>
            </a:endParaRPr>
          </a:p>
          <a:p>
            <a:pPr algn="just" marL="325120" marR="52069" indent="196215">
              <a:lnSpc>
                <a:spcPct val="114300"/>
              </a:lnSpc>
              <a:spcBef>
                <a:spcPts val="90"/>
              </a:spcBef>
            </a:pP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ask.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First,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associated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according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metric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social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complexity?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theory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order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artificial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intelligence?</a:t>
            </a:r>
            <a:endParaRPr sz="850">
              <a:latin typeface="Calibri"/>
              <a:cs typeface="Calibri"/>
            </a:endParaRPr>
          </a:p>
          <a:p>
            <a:pPr algn="just" marL="331470" marR="30480" indent="189230">
              <a:lnSpc>
                <a:spcPct val="114300"/>
              </a:lnSpc>
              <a:spcBef>
                <a:spcPts val="95"/>
              </a:spcBef>
            </a:pP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question: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today,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exciting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fast-</a:t>
            </a:r>
            <a:r>
              <a:rPr dirty="0" sz="850" spc="10">
                <a:latin typeface="Calibri"/>
                <a:cs typeface="Calibri"/>
              </a:rPr>
              <a:t>paced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relatively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monolithic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field.</a:t>
            </a:r>
            <a:r>
              <a:rPr dirty="0" sz="850" spc="4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main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conferences,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substantial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overlap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conferences.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paper</a:t>
            </a:r>
            <a:r>
              <a:rPr dirty="0" sz="850" spc="20">
                <a:latin typeface="Calibri"/>
                <a:cs typeface="Calibri"/>
              </a:rPr>
              <a:t> after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paper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leveraging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same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basic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ideas: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stochastic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gradient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(or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close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variation)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optimize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cost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fantastic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successful.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But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01" y="7333094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1901" y="7348471"/>
            <a:ext cx="4417060" cy="66611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just" marL="38100" marR="50165" indent="8699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75">
                <a:latin typeface="Calibri"/>
                <a:cs typeface="Calibri"/>
              </a:rPr>
              <a:t>34</a:t>
            </a:r>
            <a:r>
              <a:rPr dirty="0" sz="750" spc="50">
                <a:latin typeface="Calibri"/>
                <a:cs typeface="Calibri"/>
              </a:rPr>
              <a:t>My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apologies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for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overloading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“deep”.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won’t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define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“deep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ideas”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precisely,</a:t>
            </a:r>
            <a:r>
              <a:rPr dirty="0" sz="750" spc="4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but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loosely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I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mean</a:t>
            </a:r>
            <a:r>
              <a:rPr dirty="0" sz="750" spc="40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the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kind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idea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which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basis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rich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field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enquiry.</a:t>
            </a:r>
            <a:r>
              <a:rPr dirty="0" sz="750" spc="1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backpropagation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algorithm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5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germ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theory</a:t>
            </a:r>
            <a:r>
              <a:rPr dirty="0" sz="750" spc="11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of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disease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are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both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good</a:t>
            </a:r>
            <a:r>
              <a:rPr dirty="0" sz="750" spc="114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examples.</a:t>
            </a:r>
            <a:endParaRPr sz="750">
              <a:latin typeface="Calibri"/>
              <a:cs typeface="Calibri"/>
            </a:endParaRPr>
          </a:p>
          <a:p>
            <a:pPr algn="just" marL="38100" marR="30480" indent="86995">
              <a:lnSpc>
                <a:spcPts val="800"/>
              </a:lnSpc>
              <a:spcBef>
                <a:spcPts val="130"/>
              </a:spcBef>
            </a:pPr>
            <a:r>
              <a:rPr dirty="0" baseline="30303" sz="825" spc="30">
                <a:latin typeface="Calibri"/>
                <a:cs typeface="Calibri"/>
              </a:rPr>
              <a:t>35</a:t>
            </a:r>
            <a:r>
              <a:rPr dirty="0" sz="750" spc="20">
                <a:latin typeface="Calibri"/>
                <a:cs typeface="Calibri"/>
              </a:rPr>
              <a:t>Interestingly,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often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not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leading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experts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deep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learning,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who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have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been</a:t>
            </a:r>
            <a:r>
              <a:rPr dirty="0" sz="750" spc="8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quite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restrained.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See,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example,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thoughtful</a:t>
            </a:r>
            <a:r>
              <a:rPr dirty="0" sz="750" spc="100">
                <a:latin typeface="Calibri"/>
                <a:cs typeface="Calibri"/>
                <a:hlinkClick r:id="rId3"/>
              </a:rPr>
              <a:t> </a:t>
            </a:r>
            <a:r>
              <a:rPr dirty="0" sz="750" spc="10">
                <a:latin typeface="Calibri"/>
                <a:cs typeface="Calibri"/>
                <a:hlinkClick r:id="rId3"/>
              </a:rPr>
              <a:t>post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Yann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LeCun.</a:t>
            </a:r>
            <a:r>
              <a:rPr dirty="0" sz="750" spc="2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difference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from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many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earlier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incarnations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of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argument.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3204004"/>
            <a:ext cx="344170" cy="475615"/>
            <a:chOff x="-2530" y="3204004"/>
            <a:chExt cx="344170" cy="475615"/>
          </a:xfrm>
        </p:grpSpPr>
        <p:sp>
          <p:nvSpPr>
            <p:cNvPr id="6" name="object 6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266679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69861"/>
                  </a:ln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3206534"/>
              <a:ext cx="339090" cy="470534"/>
            </a:xfrm>
            <a:custGeom>
              <a:avLst/>
              <a:gdLst/>
              <a:ahLst/>
              <a:cxnLst/>
              <a:rect l="l" t="t" r="r" b="b"/>
              <a:pathLst>
                <a:path w="339090" h="470535">
                  <a:moveTo>
                    <a:pt x="0" y="469861"/>
                  </a:moveTo>
                  <a:lnTo>
                    <a:pt x="2520" y="470369"/>
                  </a:lnTo>
                  <a:lnTo>
                    <a:pt x="266679" y="470369"/>
                  </a:lnTo>
                  <a:lnTo>
                    <a:pt x="294707" y="464712"/>
                  </a:lnTo>
                  <a:lnTo>
                    <a:pt x="317594" y="449281"/>
                  </a:lnTo>
                  <a:lnTo>
                    <a:pt x="333025" y="426392"/>
                  </a:lnTo>
                  <a:lnTo>
                    <a:pt x="338683" y="398360"/>
                  </a:lnTo>
                  <a:lnTo>
                    <a:pt x="338683" y="71996"/>
                  </a:lnTo>
                  <a:lnTo>
                    <a:pt x="333025" y="43971"/>
                  </a:lnTo>
                  <a:lnTo>
                    <a:pt x="317594" y="21086"/>
                  </a:lnTo>
                  <a:lnTo>
                    <a:pt x="294707" y="5657"/>
                  </a:lnTo>
                  <a:lnTo>
                    <a:pt x="266679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3205825"/>
            <a:ext cx="217804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95">
                <a:latin typeface="Calibri"/>
                <a:cs typeface="Calibri"/>
              </a:rPr>
              <a:t>6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0856" y="368721"/>
            <a:ext cx="4619625" cy="39757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433955">
              <a:lnSpc>
                <a:spcPts val="525"/>
              </a:lnSpc>
              <a:spcBef>
                <a:spcPts val="110"/>
              </a:spcBef>
              <a:tabLst>
                <a:tab pos="4424045" algn="l"/>
              </a:tabLst>
            </a:pPr>
            <a:r>
              <a:rPr dirty="0" sz="850">
                <a:latin typeface="Calibri"/>
                <a:cs typeface="Calibri"/>
              </a:rPr>
              <a:t>6.6.</a:t>
            </a:r>
            <a:r>
              <a:rPr dirty="0" sz="850" spc="3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future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networks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25">
                <a:latin typeface="Calibri"/>
                <a:cs typeface="Calibri"/>
              </a:rPr>
              <a:t>209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9050" marR="266065" indent="-6985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don’t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yet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well-developed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subfields,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each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exploring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their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own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deep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pushing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directions.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according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metric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social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complexity,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you’ll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forgive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words,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shallow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field.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person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master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deepest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field.</a:t>
            </a:r>
            <a:endParaRPr sz="850">
              <a:latin typeface="Calibri"/>
              <a:cs typeface="Calibri"/>
            </a:endParaRPr>
          </a:p>
          <a:p>
            <a:pPr algn="just" marL="13335" marR="249554" indent="194945">
              <a:lnSpc>
                <a:spcPct val="114300"/>
              </a:lnSpc>
            </a:pPr>
            <a:r>
              <a:rPr dirty="0" sz="850" spc="60">
                <a:latin typeface="Calibri"/>
                <a:cs typeface="Calibri"/>
              </a:rPr>
              <a:t>On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second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question:</a:t>
            </a:r>
            <a:r>
              <a:rPr dirty="0" sz="850" spc="48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needed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obtain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AI?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answer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question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is:</a:t>
            </a:r>
            <a:r>
              <a:rPr dirty="0" sz="850" spc="4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no-one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knows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sure.</a:t>
            </a:r>
            <a:r>
              <a:rPr dirty="0" sz="850" spc="17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appendix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examine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existing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question.</a:t>
            </a:r>
            <a:r>
              <a:rPr dirty="0" sz="850" spc="42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conclude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that,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optimistically,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going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take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build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AI.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Conway’s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necessarily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emergence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interrelating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disciplines,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with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complex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surprising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structure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mirroring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deepest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insights.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rich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social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deep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believe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several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decades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least)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develop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general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5">
                <a:latin typeface="Calibri"/>
                <a:cs typeface="Calibri"/>
              </a:rPr>
              <a:t>AI.</a:t>
            </a:r>
            <a:endParaRPr sz="850">
              <a:latin typeface="Calibri"/>
              <a:cs typeface="Calibri"/>
            </a:endParaRPr>
          </a:p>
          <a:p>
            <a:pPr algn="just" marL="12700" marR="268605" indent="19621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I’ve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trouble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construct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tentative,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perhaps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seems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rather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indefinite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conclusion.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doubt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frustrate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people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crave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certainty.</a:t>
            </a:r>
            <a:r>
              <a:rPr dirty="0" sz="850" spc="204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Reading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around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online,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people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loudly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assert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very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definite,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strongly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held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opinions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AI,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often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flimsy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reasoning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non-existent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frank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opinion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this: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joke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goes,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ask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scientist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away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“10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years”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more),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“I’ve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idea”.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AI,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controlled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fusion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technologies,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has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been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years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away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60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plus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years.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flipside,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definitely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deep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powerful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technique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limits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found,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wide-</a:t>
            </a:r>
            <a:r>
              <a:rPr dirty="0" sz="850" spc="-20">
                <a:latin typeface="Calibri"/>
                <a:cs typeface="Calibri"/>
              </a:rPr>
              <a:t>open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problems.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exciting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creative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opportunity.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1049655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210</a:t>
            </a:r>
            <a:r>
              <a:rPr dirty="0" sz="850">
                <a:latin typeface="Calibri"/>
                <a:cs typeface="Calibri"/>
              </a:rPr>
              <a:t>	Deep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learning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59704" y="368724"/>
            <a:ext cx="321310" cy="160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5095">
              <a:lnSpc>
                <a:spcPts val="525"/>
              </a:lnSpc>
              <a:spcBef>
                <a:spcPts val="110"/>
              </a:spcBef>
            </a:pPr>
            <a:r>
              <a:rPr dirty="0" sz="850" spc="25">
                <a:latin typeface="Calibri"/>
                <a:cs typeface="Calibri"/>
              </a:rPr>
              <a:t>211</a:t>
            </a:r>
            <a:endParaRPr sz="850">
              <a:latin typeface="Calibri"/>
              <a:cs typeface="Calibri"/>
            </a:endParaRPr>
          </a:p>
          <a:p>
            <a:pPr marL="12700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xfrm>
            <a:off x="3810901" y="861745"/>
            <a:ext cx="1588135" cy="292862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750" spc="-6945">
                <a:solidFill>
                  <a:srgbClr val="B2B2B2"/>
                </a:solidFill>
              </a:rPr>
              <a:t>A</a:t>
            </a:r>
            <a:r>
              <a:rPr dirty="0" sz="19050" spc="-11235">
                <a:solidFill>
                  <a:srgbClr val="7F7F7F"/>
                </a:solidFill>
              </a:rPr>
              <a:t>A</a:t>
            </a:r>
            <a:r>
              <a:rPr dirty="0" sz="18650" spc="-11000">
                <a:solidFill>
                  <a:srgbClr val="A5A5A5"/>
                </a:solidFill>
              </a:rPr>
              <a:t>A</a:t>
            </a:r>
            <a:r>
              <a:rPr dirty="0" sz="18250" spc="180">
                <a:solidFill>
                  <a:srgbClr val="CCCCCC"/>
                </a:solidFill>
              </a:rPr>
              <a:t>A</a:t>
            </a:r>
            <a:endParaRPr sz="18250"/>
          </a:p>
        </p:txBody>
      </p:sp>
      <p:sp>
        <p:nvSpPr>
          <p:cNvPr id="4" name="object 4"/>
          <p:cNvSpPr txBox="1"/>
          <p:nvPr/>
        </p:nvSpPr>
        <p:spPr>
          <a:xfrm>
            <a:off x="1262926" y="2041180"/>
            <a:ext cx="4159250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150" b="1">
                <a:latin typeface="Calibri"/>
                <a:cs typeface="Calibri"/>
              </a:rPr>
              <a:t>Is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70" b="1">
                <a:latin typeface="Calibri"/>
                <a:cs typeface="Calibri"/>
              </a:rPr>
              <a:t>there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100" b="1">
                <a:latin typeface="Calibri"/>
                <a:cs typeface="Calibri"/>
              </a:rPr>
              <a:t>a</a:t>
            </a:r>
            <a:r>
              <a:rPr dirty="0" sz="2300" spc="165" b="1">
                <a:latin typeface="Calibri"/>
                <a:cs typeface="Calibri"/>
              </a:rPr>
              <a:t> </a:t>
            </a:r>
            <a:r>
              <a:rPr dirty="0" sz="2300" spc="114" b="1">
                <a:latin typeface="Calibri"/>
                <a:cs typeface="Calibri"/>
              </a:rPr>
              <a:t>simple</a:t>
            </a:r>
            <a:r>
              <a:rPr dirty="0" sz="2300" spc="160" b="1">
                <a:latin typeface="Calibri"/>
                <a:cs typeface="Calibri"/>
              </a:rPr>
              <a:t> </a:t>
            </a:r>
            <a:r>
              <a:rPr dirty="0" sz="2300" spc="120" b="1">
                <a:latin typeface="Calibri"/>
                <a:cs typeface="Calibri"/>
              </a:rPr>
              <a:t>algorithm</a:t>
            </a:r>
            <a:r>
              <a:rPr dirty="0" sz="2300" spc="165" b="1">
                <a:latin typeface="Calibri"/>
                <a:cs typeface="Calibri"/>
              </a:rPr>
              <a:t> </a:t>
            </a:r>
            <a:r>
              <a:rPr dirty="0" sz="2300" spc="65" b="1">
                <a:latin typeface="Calibri"/>
                <a:cs typeface="Calibri"/>
              </a:rPr>
              <a:t>for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18077" y="2435947"/>
            <a:ext cx="1737360" cy="37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300" spc="90" b="1">
                <a:latin typeface="Calibri"/>
                <a:cs typeface="Calibri"/>
              </a:rPr>
              <a:t>intelligence?</a:t>
            </a:r>
            <a:endParaRPr sz="23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algn="just" marL="19050" marR="5080">
              <a:lnSpc>
                <a:spcPct val="114300"/>
              </a:lnSpc>
              <a:spcBef>
                <a:spcPts val="95"/>
              </a:spcBef>
            </a:pPr>
            <a:r>
              <a:rPr dirty="0" spc="55"/>
              <a:t>In</a:t>
            </a:r>
            <a:r>
              <a:rPr dirty="0" spc="145"/>
              <a:t> </a:t>
            </a:r>
            <a:r>
              <a:rPr dirty="0"/>
              <a:t>this</a:t>
            </a:r>
            <a:r>
              <a:rPr dirty="0" spc="145"/>
              <a:t> </a:t>
            </a:r>
            <a:r>
              <a:rPr dirty="0"/>
              <a:t>book,</a:t>
            </a:r>
            <a:r>
              <a:rPr dirty="0" spc="150"/>
              <a:t> </a:t>
            </a:r>
            <a:r>
              <a:rPr dirty="0"/>
              <a:t>we’ve</a:t>
            </a:r>
            <a:r>
              <a:rPr dirty="0" spc="145"/>
              <a:t> </a:t>
            </a:r>
            <a:r>
              <a:rPr dirty="0"/>
              <a:t>focused</a:t>
            </a:r>
            <a:r>
              <a:rPr dirty="0" spc="150"/>
              <a:t> </a:t>
            </a:r>
            <a:r>
              <a:rPr dirty="0"/>
              <a:t>on</a:t>
            </a:r>
            <a:r>
              <a:rPr dirty="0" spc="145"/>
              <a:t> </a:t>
            </a:r>
            <a:r>
              <a:rPr dirty="0"/>
              <a:t>the</a:t>
            </a:r>
            <a:r>
              <a:rPr dirty="0" spc="145"/>
              <a:t> </a:t>
            </a:r>
            <a:r>
              <a:rPr dirty="0"/>
              <a:t>nuts</a:t>
            </a:r>
            <a:r>
              <a:rPr dirty="0" spc="150"/>
              <a:t> </a:t>
            </a:r>
            <a:r>
              <a:rPr dirty="0"/>
              <a:t>and</a:t>
            </a:r>
            <a:r>
              <a:rPr dirty="0" spc="145"/>
              <a:t> </a:t>
            </a:r>
            <a:r>
              <a:rPr dirty="0"/>
              <a:t>bolts</a:t>
            </a:r>
            <a:r>
              <a:rPr dirty="0" spc="150"/>
              <a:t> </a:t>
            </a:r>
            <a:r>
              <a:rPr dirty="0"/>
              <a:t>of</a:t>
            </a:r>
            <a:r>
              <a:rPr dirty="0" spc="145"/>
              <a:t> </a:t>
            </a:r>
            <a:r>
              <a:rPr dirty="0"/>
              <a:t>neural</a:t>
            </a:r>
            <a:r>
              <a:rPr dirty="0" spc="145"/>
              <a:t> </a:t>
            </a:r>
            <a:r>
              <a:rPr dirty="0"/>
              <a:t>networks:</a:t>
            </a:r>
            <a:r>
              <a:rPr dirty="0" spc="250"/>
              <a:t> </a:t>
            </a:r>
            <a:r>
              <a:rPr dirty="0"/>
              <a:t>how</a:t>
            </a:r>
            <a:r>
              <a:rPr dirty="0" spc="145"/>
              <a:t> </a:t>
            </a:r>
            <a:r>
              <a:rPr dirty="0"/>
              <a:t>they</a:t>
            </a:r>
            <a:r>
              <a:rPr dirty="0" spc="150"/>
              <a:t> </a:t>
            </a:r>
            <a:r>
              <a:rPr dirty="0"/>
              <a:t>work,</a:t>
            </a:r>
            <a:r>
              <a:rPr dirty="0" spc="145"/>
              <a:t> </a:t>
            </a:r>
            <a:r>
              <a:rPr dirty="0" spc="-25"/>
              <a:t>and</a:t>
            </a:r>
            <a:r>
              <a:rPr dirty="0" spc="500"/>
              <a:t> </a:t>
            </a:r>
            <a:r>
              <a:rPr dirty="0" spc="10"/>
              <a:t>how</a:t>
            </a:r>
            <a:r>
              <a:rPr dirty="0" spc="155"/>
              <a:t> </a:t>
            </a:r>
            <a:r>
              <a:rPr dirty="0" spc="10"/>
              <a:t>they</a:t>
            </a:r>
            <a:r>
              <a:rPr dirty="0" spc="160"/>
              <a:t> </a:t>
            </a:r>
            <a:r>
              <a:rPr dirty="0" spc="10"/>
              <a:t>can</a:t>
            </a:r>
            <a:r>
              <a:rPr dirty="0" spc="155"/>
              <a:t> </a:t>
            </a:r>
            <a:r>
              <a:rPr dirty="0" spc="10"/>
              <a:t>be</a:t>
            </a:r>
            <a:r>
              <a:rPr dirty="0" spc="160"/>
              <a:t> </a:t>
            </a:r>
            <a:r>
              <a:rPr dirty="0" spc="10"/>
              <a:t>used</a:t>
            </a:r>
            <a:r>
              <a:rPr dirty="0" spc="160"/>
              <a:t> </a:t>
            </a:r>
            <a:r>
              <a:rPr dirty="0" spc="10"/>
              <a:t>to</a:t>
            </a:r>
            <a:r>
              <a:rPr dirty="0" spc="155"/>
              <a:t> </a:t>
            </a:r>
            <a:r>
              <a:rPr dirty="0" spc="10"/>
              <a:t>solve</a:t>
            </a:r>
            <a:r>
              <a:rPr dirty="0" spc="160"/>
              <a:t> </a:t>
            </a:r>
            <a:r>
              <a:rPr dirty="0" spc="10"/>
              <a:t>pattern</a:t>
            </a:r>
            <a:r>
              <a:rPr dirty="0" spc="155"/>
              <a:t> </a:t>
            </a:r>
            <a:r>
              <a:rPr dirty="0" spc="10"/>
              <a:t>recognition</a:t>
            </a:r>
            <a:r>
              <a:rPr dirty="0" spc="160"/>
              <a:t> </a:t>
            </a:r>
            <a:r>
              <a:rPr dirty="0" spc="10"/>
              <a:t>problems.</a:t>
            </a:r>
            <a:r>
              <a:rPr dirty="0" spc="330"/>
              <a:t> </a:t>
            </a:r>
            <a:r>
              <a:rPr dirty="0" spc="50"/>
              <a:t>This</a:t>
            </a:r>
            <a:r>
              <a:rPr dirty="0" spc="155"/>
              <a:t> </a:t>
            </a:r>
            <a:r>
              <a:rPr dirty="0" spc="10"/>
              <a:t>is</a:t>
            </a:r>
            <a:r>
              <a:rPr dirty="0" spc="160"/>
              <a:t> </a:t>
            </a:r>
            <a:r>
              <a:rPr dirty="0" spc="10"/>
              <a:t>material</a:t>
            </a:r>
            <a:r>
              <a:rPr dirty="0" spc="160"/>
              <a:t> </a:t>
            </a:r>
            <a:r>
              <a:rPr dirty="0" spc="10"/>
              <a:t>with</a:t>
            </a:r>
            <a:r>
              <a:rPr dirty="0" spc="155"/>
              <a:t> </a:t>
            </a:r>
            <a:r>
              <a:rPr dirty="0" spc="-20"/>
              <a:t>many</a:t>
            </a:r>
            <a:r>
              <a:rPr dirty="0" spc="500"/>
              <a:t> </a:t>
            </a:r>
            <a:r>
              <a:rPr dirty="0"/>
              <a:t>immediate</a:t>
            </a:r>
            <a:r>
              <a:rPr dirty="0" spc="114"/>
              <a:t> </a:t>
            </a:r>
            <a:r>
              <a:rPr dirty="0"/>
              <a:t>practical</a:t>
            </a:r>
            <a:r>
              <a:rPr dirty="0" spc="120"/>
              <a:t> </a:t>
            </a:r>
            <a:r>
              <a:rPr dirty="0"/>
              <a:t>applications.</a:t>
            </a:r>
            <a:r>
              <a:rPr dirty="0" spc="220"/>
              <a:t> </a:t>
            </a:r>
            <a:r>
              <a:rPr dirty="0"/>
              <a:t>But,</a:t>
            </a:r>
            <a:r>
              <a:rPr dirty="0" spc="120"/>
              <a:t> </a:t>
            </a:r>
            <a:r>
              <a:rPr dirty="0"/>
              <a:t>of</a:t>
            </a:r>
            <a:r>
              <a:rPr dirty="0" spc="120"/>
              <a:t> </a:t>
            </a:r>
            <a:r>
              <a:rPr dirty="0"/>
              <a:t>course,</a:t>
            </a:r>
            <a:r>
              <a:rPr dirty="0" spc="120"/>
              <a:t> </a:t>
            </a:r>
            <a:r>
              <a:rPr dirty="0"/>
              <a:t>one</a:t>
            </a:r>
            <a:r>
              <a:rPr dirty="0" spc="114"/>
              <a:t> </a:t>
            </a:r>
            <a:r>
              <a:rPr dirty="0"/>
              <a:t>reason</a:t>
            </a:r>
            <a:r>
              <a:rPr dirty="0" spc="120"/>
              <a:t> </a:t>
            </a:r>
            <a:r>
              <a:rPr dirty="0"/>
              <a:t>for</a:t>
            </a:r>
            <a:r>
              <a:rPr dirty="0" spc="120"/>
              <a:t> </a:t>
            </a:r>
            <a:r>
              <a:rPr dirty="0"/>
              <a:t>interest</a:t>
            </a:r>
            <a:r>
              <a:rPr dirty="0" spc="120"/>
              <a:t> </a:t>
            </a:r>
            <a:r>
              <a:rPr dirty="0"/>
              <a:t>in</a:t>
            </a:r>
            <a:r>
              <a:rPr dirty="0" spc="120"/>
              <a:t> </a:t>
            </a:r>
            <a:r>
              <a:rPr dirty="0"/>
              <a:t>neural</a:t>
            </a:r>
            <a:r>
              <a:rPr dirty="0" spc="120"/>
              <a:t> </a:t>
            </a:r>
            <a:r>
              <a:rPr dirty="0"/>
              <a:t>nets</a:t>
            </a:r>
            <a:r>
              <a:rPr dirty="0" spc="120"/>
              <a:t> </a:t>
            </a:r>
            <a:r>
              <a:rPr dirty="0"/>
              <a:t>is</a:t>
            </a:r>
            <a:r>
              <a:rPr dirty="0" spc="120"/>
              <a:t> </a:t>
            </a:r>
            <a:r>
              <a:rPr dirty="0" spc="-25"/>
              <a:t>the</a:t>
            </a:r>
            <a:r>
              <a:rPr dirty="0" spc="500"/>
              <a:t> </a:t>
            </a:r>
            <a:r>
              <a:rPr dirty="0"/>
              <a:t>hope</a:t>
            </a:r>
            <a:r>
              <a:rPr dirty="0" spc="110"/>
              <a:t> </a:t>
            </a:r>
            <a:r>
              <a:rPr dirty="0"/>
              <a:t>that</a:t>
            </a:r>
            <a:r>
              <a:rPr dirty="0" spc="120"/>
              <a:t> </a:t>
            </a:r>
            <a:r>
              <a:rPr dirty="0"/>
              <a:t>one</a:t>
            </a:r>
            <a:r>
              <a:rPr dirty="0" spc="120"/>
              <a:t> </a:t>
            </a:r>
            <a:r>
              <a:rPr dirty="0"/>
              <a:t>day</a:t>
            </a:r>
            <a:r>
              <a:rPr dirty="0" spc="120"/>
              <a:t> </a:t>
            </a:r>
            <a:r>
              <a:rPr dirty="0"/>
              <a:t>they</a:t>
            </a:r>
            <a:r>
              <a:rPr dirty="0" spc="120"/>
              <a:t> </a:t>
            </a:r>
            <a:r>
              <a:rPr dirty="0"/>
              <a:t>will</a:t>
            </a:r>
            <a:r>
              <a:rPr dirty="0" spc="120"/>
              <a:t> </a:t>
            </a:r>
            <a:r>
              <a:rPr dirty="0"/>
              <a:t>go</a:t>
            </a:r>
            <a:r>
              <a:rPr dirty="0" spc="120"/>
              <a:t> </a:t>
            </a:r>
            <a:r>
              <a:rPr dirty="0"/>
              <a:t>far</a:t>
            </a:r>
            <a:r>
              <a:rPr dirty="0" spc="120"/>
              <a:t> </a:t>
            </a:r>
            <a:r>
              <a:rPr dirty="0"/>
              <a:t>beyond</a:t>
            </a:r>
            <a:r>
              <a:rPr dirty="0" spc="120"/>
              <a:t> </a:t>
            </a:r>
            <a:r>
              <a:rPr dirty="0"/>
              <a:t>such</a:t>
            </a:r>
            <a:r>
              <a:rPr dirty="0" spc="120"/>
              <a:t> </a:t>
            </a:r>
            <a:r>
              <a:rPr dirty="0"/>
              <a:t>basic</a:t>
            </a:r>
            <a:r>
              <a:rPr dirty="0" spc="120"/>
              <a:t> </a:t>
            </a:r>
            <a:r>
              <a:rPr dirty="0"/>
              <a:t>pattern</a:t>
            </a:r>
            <a:r>
              <a:rPr dirty="0" spc="120"/>
              <a:t> </a:t>
            </a:r>
            <a:r>
              <a:rPr dirty="0"/>
              <a:t>recognition</a:t>
            </a:r>
            <a:r>
              <a:rPr dirty="0" spc="125"/>
              <a:t> </a:t>
            </a:r>
            <a:r>
              <a:rPr dirty="0"/>
              <a:t>problems.</a:t>
            </a:r>
            <a:r>
              <a:rPr dirty="0" spc="220"/>
              <a:t> </a:t>
            </a:r>
            <a:r>
              <a:rPr dirty="0" spc="-10"/>
              <a:t>Perhaps</a:t>
            </a:r>
            <a:r>
              <a:rPr dirty="0" spc="500"/>
              <a:t> </a:t>
            </a:r>
            <a:r>
              <a:rPr dirty="0" spc="10"/>
              <a:t>they,</a:t>
            </a:r>
            <a:r>
              <a:rPr dirty="0" spc="120"/>
              <a:t> </a:t>
            </a:r>
            <a:r>
              <a:rPr dirty="0" spc="10"/>
              <a:t>or</a:t>
            </a:r>
            <a:r>
              <a:rPr dirty="0" spc="120"/>
              <a:t> </a:t>
            </a:r>
            <a:r>
              <a:rPr dirty="0" spc="10"/>
              <a:t>some</a:t>
            </a:r>
            <a:r>
              <a:rPr dirty="0" spc="120"/>
              <a:t> </a:t>
            </a:r>
            <a:r>
              <a:rPr dirty="0" spc="10"/>
              <a:t>other</a:t>
            </a:r>
            <a:r>
              <a:rPr dirty="0" spc="120"/>
              <a:t> </a:t>
            </a:r>
            <a:r>
              <a:rPr dirty="0" spc="10"/>
              <a:t>approach</a:t>
            </a:r>
            <a:r>
              <a:rPr dirty="0" spc="120"/>
              <a:t> </a:t>
            </a:r>
            <a:r>
              <a:rPr dirty="0" spc="10"/>
              <a:t>based</a:t>
            </a:r>
            <a:r>
              <a:rPr dirty="0" spc="120"/>
              <a:t> </a:t>
            </a:r>
            <a:r>
              <a:rPr dirty="0" spc="10"/>
              <a:t>on</a:t>
            </a:r>
            <a:r>
              <a:rPr dirty="0" spc="120"/>
              <a:t> </a:t>
            </a:r>
            <a:r>
              <a:rPr dirty="0" spc="10"/>
              <a:t>digital</a:t>
            </a:r>
            <a:r>
              <a:rPr dirty="0" spc="120"/>
              <a:t> </a:t>
            </a:r>
            <a:r>
              <a:rPr dirty="0" spc="10"/>
              <a:t>computers,</a:t>
            </a:r>
            <a:r>
              <a:rPr dirty="0" spc="120"/>
              <a:t> </a:t>
            </a:r>
            <a:r>
              <a:rPr dirty="0" spc="10"/>
              <a:t>will</a:t>
            </a:r>
            <a:r>
              <a:rPr dirty="0" spc="120"/>
              <a:t> </a:t>
            </a:r>
            <a:r>
              <a:rPr dirty="0" spc="10"/>
              <a:t>eventually</a:t>
            </a:r>
            <a:r>
              <a:rPr dirty="0" spc="125"/>
              <a:t> </a:t>
            </a:r>
            <a:r>
              <a:rPr dirty="0" spc="10"/>
              <a:t>be</a:t>
            </a:r>
            <a:r>
              <a:rPr dirty="0" spc="120"/>
              <a:t> </a:t>
            </a:r>
            <a:r>
              <a:rPr dirty="0" spc="10"/>
              <a:t>used</a:t>
            </a:r>
            <a:r>
              <a:rPr dirty="0" spc="120"/>
              <a:t> </a:t>
            </a:r>
            <a:r>
              <a:rPr dirty="0" spc="10"/>
              <a:t>to</a:t>
            </a:r>
            <a:r>
              <a:rPr dirty="0" spc="120"/>
              <a:t> </a:t>
            </a:r>
            <a:r>
              <a:rPr dirty="0" spc="-10"/>
              <a:t>build</a:t>
            </a:r>
            <a:r>
              <a:rPr dirty="0" spc="500"/>
              <a:t> </a:t>
            </a:r>
            <a:r>
              <a:rPr dirty="0" spc="10"/>
              <a:t>thinking</a:t>
            </a:r>
            <a:r>
              <a:rPr dirty="0" spc="210"/>
              <a:t> </a:t>
            </a:r>
            <a:r>
              <a:rPr dirty="0" spc="10"/>
              <a:t>machines,</a:t>
            </a:r>
            <a:r>
              <a:rPr dirty="0" spc="229"/>
              <a:t> </a:t>
            </a:r>
            <a:r>
              <a:rPr dirty="0" spc="10"/>
              <a:t>machines</a:t>
            </a:r>
            <a:r>
              <a:rPr dirty="0" spc="215"/>
              <a:t> </a:t>
            </a:r>
            <a:r>
              <a:rPr dirty="0" spc="10"/>
              <a:t>that</a:t>
            </a:r>
            <a:r>
              <a:rPr dirty="0" spc="215"/>
              <a:t> </a:t>
            </a:r>
            <a:r>
              <a:rPr dirty="0" spc="10"/>
              <a:t>match</a:t>
            </a:r>
            <a:r>
              <a:rPr dirty="0" spc="215"/>
              <a:t> </a:t>
            </a:r>
            <a:r>
              <a:rPr dirty="0" spc="10"/>
              <a:t>or</a:t>
            </a:r>
            <a:r>
              <a:rPr dirty="0" spc="215"/>
              <a:t> </a:t>
            </a:r>
            <a:r>
              <a:rPr dirty="0" spc="10"/>
              <a:t>surpass</a:t>
            </a:r>
            <a:r>
              <a:rPr dirty="0" spc="215"/>
              <a:t> </a:t>
            </a:r>
            <a:r>
              <a:rPr dirty="0" spc="10"/>
              <a:t>human</a:t>
            </a:r>
            <a:r>
              <a:rPr dirty="0" spc="215"/>
              <a:t> </a:t>
            </a:r>
            <a:r>
              <a:rPr dirty="0" spc="10"/>
              <a:t>intelligence?</a:t>
            </a:r>
            <a:r>
              <a:rPr dirty="0" spc="434"/>
              <a:t> </a:t>
            </a:r>
            <a:r>
              <a:rPr dirty="0" spc="50"/>
              <a:t>This</a:t>
            </a:r>
            <a:r>
              <a:rPr dirty="0" spc="210"/>
              <a:t> </a:t>
            </a:r>
            <a:r>
              <a:rPr dirty="0" spc="10"/>
              <a:t>notion</a:t>
            </a:r>
            <a:r>
              <a:rPr dirty="0" spc="215"/>
              <a:t> </a:t>
            </a:r>
            <a:r>
              <a:rPr dirty="0" spc="-25"/>
              <a:t>far</a:t>
            </a:r>
            <a:r>
              <a:rPr dirty="0" spc="500"/>
              <a:t> </a:t>
            </a:r>
            <a:r>
              <a:rPr dirty="0"/>
              <a:t>exceeds</a:t>
            </a:r>
            <a:r>
              <a:rPr dirty="0" spc="114"/>
              <a:t> </a:t>
            </a:r>
            <a:r>
              <a:rPr dirty="0"/>
              <a:t>the</a:t>
            </a:r>
            <a:r>
              <a:rPr dirty="0" spc="114"/>
              <a:t> </a:t>
            </a:r>
            <a:r>
              <a:rPr dirty="0"/>
              <a:t>material</a:t>
            </a:r>
            <a:r>
              <a:rPr dirty="0" spc="114"/>
              <a:t> </a:t>
            </a:r>
            <a:r>
              <a:rPr dirty="0"/>
              <a:t>discussed</a:t>
            </a:r>
            <a:r>
              <a:rPr dirty="0" spc="120"/>
              <a:t> </a:t>
            </a:r>
            <a:r>
              <a:rPr dirty="0"/>
              <a:t>in</a:t>
            </a:r>
            <a:r>
              <a:rPr dirty="0" spc="114"/>
              <a:t> </a:t>
            </a:r>
            <a:r>
              <a:rPr dirty="0"/>
              <a:t>the</a:t>
            </a:r>
            <a:r>
              <a:rPr dirty="0" spc="114"/>
              <a:t> </a:t>
            </a:r>
            <a:r>
              <a:rPr dirty="0"/>
              <a:t>book</a:t>
            </a:r>
            <a:r>
              <a:rPr dirty="0" spc="114"/>
              <a:t> </a:t>
            </a:r>
            <a:r>
              <a:rPr dirty="0"/>
              <a:t>–</a:t>
            </a:r>
            <a:r>
              <a:rPr dirty="0" spc="120"/>
              <a:t> </a:t>
            </a:r>
            <a:r>
              <a:rPr dirty="0"/>
              <a:t>or</a:t>
            </a:r>
            <a:r>
              <a:rPr dirty="0" spc="114"/>
              <a:t> </a:t>
            </a:r>
            <a:r>
              <a:rPr dirty="0"/>
              <a:t>what</a:t>
            </a:r>
            <a:r>
              <a:rPr dirty="0" spc="114"/>
              <a:t> </a:t>
            </a:r>
            <a:r>
              <a:rPr dirty="0"/>
              <a:t>anyone</a:t>
            </a:r>
            <a:r>
              <a:rPr dirty="0" spc="114"/>
              <a:t> </a:t>
            </a:r>
            <a:r>
              <a:rPr dirty="0"/>
              <a:t>in</a:t>
            </a:r>
            <a:r>
              <a:rPr dirty="0" spc="120"/>
              <a:t> </a:t>
            </a:r>
            <a:r>
              <a:rPr dirty="0"/>
              <a:t>the</a:t>
            </a:r>
            <a:r>
              <a:rPr dirty="0" spc="114"/>
              <a:t> </a:t>
            </a:r>
            <a:r>
              <a:rPr dirty="0"/>
              <a:t>world</a:t>
            </a:r>
            <a:r>
              <a:rPr dirty="0" spc="114"/>
              <a:t> </a:t>
            </a:r>
            <a:r>
              <a:rPr dirty="0"/>
              <a:t>knows</a:t>
            </a:r>
            <a:r>
              <a:rPr dirty="0" spc="114"/>
              <a:t> </a:t>
            </a:r>
            <a:r>
              <a:rPr dirty="0"/>
              <a:t>how</a:t>
            </a:r>
            <a:r>
              <a:rPr dirty="0" spc="120"/>
              <a:t> </a:t>
            </a:r>
            <a:r>
              <a:rPr dirty="0"/>
              <a:t>to</a:t>
            </a:r>
            <a:r>
              <a:rPr dirty="0" spc="114"/>
              <a:t> </a:t>
            </a:r>
            <a:r>
              <a:rPr dirty="0" spc="-25"/>
              <a:t>do.</a:t>
            </a:r>
            <a:r>
              <a:rPr dirty="0" spc="500"/>
              <a:t> </a:t>
            </a:r>
            <a:r>
              <a:rPr dirty="0"/>
              <a:t>But</a:t>
            </a:r>
            <a:r>
              <a:rPr dirty="0" spc="90"/>
              <a:t> </a:t>
            </a:r>
            <a:r>
              <a:rPr dirty="0"/>
              <a:t>it’s</a:t>
            </a:r>
            <a:r>
              <a:rPr dirty="0" spc="90"/>
              <a:t> </a:t>
            </a:r>
            <a:r>
              <a:rPr dirty="0"/>
              <a:t>fun</a:t>
            </a:r>
            <a:r>
              <a:rPr dirty="0" spc="90"/>
              <a:t> </a:t>
            </a:r>
            <a:r>
              <a:rPr dirty="0"/>
              <a:t>to</a:t>
            </a:r>
            <a:r>
              <a:rPr dirty="0" spc="90"/>
              <a:t> </a:t>
            </a:r>
            <a:r>
              <a:rPr dirty="0" spc="-10"/>
              <a:t>speculate.</a:t>
            </a:r>
          </a:p>
          <a:p>
            <a:pPr algn="just" marL="12700" marR="32384" indent="196215">
              <a:lnSpc>
                <a:spcPct val="114300"/>
              </a:lnSpc>
            </a:pPr>
            <a:r>
              <a:rPr dirty="0"/>
              <a:t>There</a:t>
            </a:r>
            <a:r>
              <a:rPr dirty="0" spc="160"/>
              <a:t> </a:t>
            </a:r>
            <a:r>
              <a:rPr dirty="0"/>
              <a:t>has</a:t>
            </a:r>
            <a:r>
              <a:rPr dirty="0" spc="160"/>
              <a:t> </a:t>
            </a:r>
            <a:r>
              <a:rPr dirty="0"/>
              <a:t>been</a:t>
            </a:r>
            <a:r>
              <a:rPr dirty="0" spc="160"/>
              <a:t> </a:t>
            </a:r>
            <a:r>
              <a:rPr dirty="0"/>
              <a:t>much</a:t>
            </a:r>
            <a:r>
              <a:rPr dirty="0" spc="160"/>
              <a:t> </a:t>
            </a:r>
            <a:r>
              <a:rPr dirty="0"/>
              <a:t>debate</a:t>
            </a:r>
            <a:r>
              <a:rPr dirty="0" spc="160"/>
              <a:t> </a:t>
            </a:r>
            <a:r>
              <a:rPr dirty="0"/>
              <a:t>about</a:t>
            </a:r>
            <a:r>
              <a:rPr dirty="0" spc="160"/>
              <a:t> </a:t>
            </a:r>
            <a:r>
              <a:rPr dirty="0"/>
              <a:t>whether</a:t>
            </a:r>
            <a:r>
              <a:rPr dirty="0" spc="160"/>
              <a:t> </a:t>
            </a:r>
            <a:r>
              <a:rPr dirty="0"/>
              <a:t>it’s</a:t>
            </a:r>
            <a:r>
              <a:rPr dirty="0" spc="160"/>
              <a:t> </a:t>
            </a:r>
            <a:r>
              <a:rPr dirty="0"/>
              <a:t>even</a:t>
            </a:r>
            <a:r>
              <a:rPr dirty="0" spc="160"/>
              <a:t> </a:t>
            </a:r>
            <a:r>
              <a:rPr dirty="0"/>
              <a:t>possible</a:t>
            </a:r>
            <a:r>
              <a:rPr dirty="0" spc="160"/>
              <a:t> </a:t>
            </a:r>
            <a:r>
              <a:rPr dirty="0"/>
              <a:t>for</a:t>
            </a:r>
            <a:r>
              <a:rPr dirty="0" spc="165"/>
              <a:t> </a:t>
            </a:r>
            <a:r>
              <a:rPr dirty="0"/>
              <a:t>computers</a:t>
            </a:r>
            <a:r>
              <a:rPr dirty="0" spc="160"/>
              <a:t> </a:t>
            </a:r>
            <a:r>
              <a:rPr dirty="0"/>
              <a:t>to</a:t>
            </a:r>
            <a:r>
              <a:rPr dirty="0" spc="160"/>
              <a:t> </a:t>
            </a:r>
            <a:r>
              <a:rPr dirty="0" spc="-10"/>
              <a:t>match</a:t>
            </a:r>
            <a:r>
              <a:rPr dirty="0" spc="500"/>
              <a:t> </a:t>
            </a:r>
            <a:r>
              <a:rPr dirty="0"/>
              <a:t>human</a:t>
            </a:r>
            <a:r>
              <a:rPr dirty="0" spc="165"/>
              <a:t> </a:t>
            </a:r>
            <a:r>
              <a:rPr dirty="0"/>
              <a:t>intelligence.</a:t>
            </a:r>
            <a:r>
              <a:rPr dirty="0" spc="275"/>
              <a:t> </a:t>
            </a:r>
            <a:r>
              <a:rPr dirty="0"/>
              <a:t>I’m</a:t>
            </a:r>
            <a:r>
              <a:rPr dirty="0" spc="165"/>
              <a:t> </a:t>
            </a:r>
            <a:r>
              <a:rPr dirty="0"/>
              <a:t>not</a:t>
            </a:r>
            <a:r>
              <a:rPr dirty="0" spc="165"/>
              <a:t> </a:t>
            </a:r>
            <a:r>
              <a:rPr dirty="0"/>
              <a:t>going</a:t>
            </a:r>
            <a:r>
              <a:rPr dirty="0" spc="165"/>
              <a:t> </a:t>
            </a:r>
            <a:r>
              <a:rPr dirty="0"/>
              <a:t>to</a:t>
            </a:r>
            <a:r>
              <a:rPr dirty="0" spc="165"/>
              <a:t> </a:t>
            </a:r>
            <a:r>
              <a:rPr dirty="0"/>
              <a:t>engage</a:t>
            </a:r>
            <a:r>
              <a:rPr dirty="0" spc="165"/>
              <a:t> </a:t>
            </a:r>
            <a:r>
              <a:rPr dirty="0"/>
              <a:t>with</a:t>
            </a:r>
            <a:r>
              <a:rPr dirty="0" spc="165"/>
              <a:t> </a:t>
            </a:r>
            <a:r>
              <a:rPr dirty="0"/>
              <a:t>that</a:t>
            </a:r>
            <a:r>
              <a:rPr dirty="0" spc="165"/>
              <a:t> </a:t>
            </a:r>
            <a:r>
              <a:rPr dirty="0"/>
              <a:t>question.</a:t>
            </a:r>
            <a:r>
              <a:rPr dirty="0" spc="280"/>
              <a:t> </a:t>
            </a:r>
            <a:r>
              <a:rPr dirty="0"/>
              <a:t>Despite</a:t>
            </a:r>
            <a:r>
              <a:rPr dirty="0" spc="165"/>
              <a:t> </a:t>
            </a:r>
            <a:r>
              <a:rPr dirty="0"/>
              <a:t>ongoing</a:t>
            </a:r>
            <a:r>
              <a:rPr dirty="0" spc="165"/>
              <a:t> </a:t>
            </a:r>
            <a:r>
              <a:rPr dirty="0"/>
              <a:t>dispute,</a:t>
            </a:r>
            <a:r>
              <a:rPr dirty="0" spc="165"/>
              <a:t> </a:t>
            </a:r>
            <a:r>
              <a:rPr dirty="0" spc="10"/>
              <a:t>I</a:t>
            </a:r>
            <a:r>
              <a:rPr dirty="0" spc="500"/>
              <a:t> </a:t>
            </a:r>
            <a:r>
              <a:rPr dirty="0"/>
              <a:t>believe</a:t>
            </a:r>
            <a:r>
              <a:rPr dirty="0" spc="110"/>
              <a:t> </a:t>
            </a:r>
            <a:r>
              <a:rPr dirty="0"/>
              <a:t>it’s</a:t>
            </a:r>
            <a:r>
              <a:rPr dirty="0" spc="114"/>
              <a:t> </a:t>
            </a:r>
            <a:r>
              <a:rPr dirty="0"/>
              <a:t>not</a:t>
            </a:r>
            <a:r>
              <a:rPr dirty="0" spc="110"/>
              <a:t> </a:t>
            </a:r>
            <a:r>
              <a:rPr dirty="0"/>
              <a:t>in</a:t>
            </a:r>
            <a:r>
              <a:rPr dirty="0" spc="114"/>
              <a:t> </a:t>
            </a:r>
            <a:r>
              <a:rPr dirty="0"/>
              <a:t>serious</a:t>
            </a:r>
            <a:r>
              <a:rPr dirty="0" spc="110"/>
              <a:t> </a:t>
            </a:r>
            <a:r>
              <a:rPr dirty="0"/>
              <a:t>doubt</a:t>
            </a:r>
            <a:r>
              <a:rPr dirty="0" spc="114"/>
              <a:t> </a:t>
            </a:r>
            <a:r>
              <a:rPr dirty="0"/>
              <a:t>that</a:t>
            </a:r>
            <a:r>
              <a:rPr dirty="0" spc="110"/>
              <a:t> </a:t>
            </a:r>
            <a:r>
              <a:rPr dirty="0"/>
              <a:t>an</a:t>
            </a:r>
            <a:r>
              <a:rPr dirty="0" spc="114"/>
              <a:t> </a:t>
            </a:r>
            <a:r>
              <a:rPr dirty="0"/>
              <a:t>intelligent</a:t>
            </a:r>
            <a:r>
              <a:rPr dirty="0" spc="114"/>
              <a:t> </a:t>
            </a:r>
            <a:r>
              <a:rPr dirty="0"/>
              <a:t>computer</a:t>
            </a:r>
            <a:r>
              <a:rPr dirty="0" spc="110"/>
              <a:t> </a:t>
            </a:r>
            <a:r>
              <a:rPr dirty="0"/>
              <a:t>is</a:t>
            </a:r>
            <a:r>
              <a:rPr dirty="0" spc="114"/>
              <a:t> </a:t>
            </a:r>
            <a:r>
              <a:rPr dirty="0"/>
              <a:t>possible</a:t>
            </a:r>
            <a:r>
              <a:rPr dirty="0" spc="110"/>
              <a:t> </a:t>
            </a:r>
            <a:r>
              <a:rPr dirty="0"/>
              <a:t>–</a:t>
            </a:r>
            <a:r>
              <a:rPr dirty="0" spc="114"/>
              <a:t> </a:t>
            </a:r>
            <a:r>
              <a:rPr dirty="0"/>
              <a:t>although</a:t>
            </a:r>
            <a:r>
              <a:rPr dirty="0" spc="110"/>
              <a:t> </a:t>
            </a:r>
            <a:r>
              <a:rPr dirty="0"/>
              <a:t>it</a:t>
            </a:r>
            <a:r>
              <a:rPr dirty="0" spc="114"/>
              <a:t> </a:t>
            </a:r>
            <a:r>
              <a:rPr dirty="0"/>
              <a:t>may</a:t>
            </a:r>
            <a:r>
              <a:rPr dirty="0" spc="110"/>
              <a:t> </a:t>
            </a:r>
            <a:r>
              <a:rPr dirty="0" spc="-25"/>
              <a:t>be</a:t>
            </a:r>
            <a:r>
              <a:rPr dirty="0" spc="500"/>
              <a:t> </a:t>
            </a:r>
            <a:r>
              <a:rPr dirty="0"/>
              <a:t>extremely</a:t>
            </a:r>
            <a:r>
              <a:rPr dirty="0" spc="150"/>
              <a:t> </a:t>
            </a:r>
            <a:r>
              <a:rPr dirty="0"/>
              <a:t>complicated,</a:t>
            </a:r>
            <a:r>
              <a:rPr dirty="0" spc="155"/>
              <a:t> </a:t>
            </a:r>
            <a:r>
              <a:rPr dirty="0"/>
              <a:t>and</a:t>
            </a:r>
            <a:r>
              <a:rPr dirty="0" spc="155"/>
              <a:t> </a:t>
            </a:r>
            <a:r>
              <a:rPr dirty="0"/>
              <a:t>perhaps</a:t>
            </a:r>
            <a:r>
              <a:rPr dirty="0" spc="150"/>
              <a:t> </a:t>
            </a:r>
            <a:r>
              <a:rPr dirty="0"/>
              <a:t>far</a:t>
            </a:r>
            <a:r>
              <a:rPr dirty="0" spc="155"/>
              <a:t> </a:t>
            </a:r>
            <a:r>
              <a:rPr dirty="0"/>
              <a:t>beyond</a:t>
            </a:r>
            <a:r>
              <a:rPr dirty="0" spc="155"/>
              <a:t> </a:t>
            </a:r>
            <a:r>
              <a:rPr dirty="0"/>
              <a:t>current</a:t>
            </a:r>
            <a:r>
              <a:rPr dirty="0" spc="150"/>
              <a:t> </a:t>
            </a:r>
            <a:r>
              <a:rPr dirty="0"/>
              <a:t>technology</a:t>
            </a:r>
            <a:r>
              <a:rPr dirty="0" spc="155"/>
              <a:t> </a:t>
            </a:r>
            <a:r>
              <a:rPr dirty="0"/>
              <a:t>–</a:t>
            </a:r>
            <a:r>
              <a:rPr dirty="0" spc="155"/>
              <a:t> </a:t>
            </a:r>
            <a:r>
              <a:rPr dirty="0"/>
              <a:t>and</a:t>
            </a:r>
            <a:r>
              <a:rPr dirty="0" spc="150"/>
              <a:t> </a:t>
            </a:r>
            <a:r>
              <a:rPr dirty="0"/>
              <a:t>current</a:t>
            </a:r>
            <a:r>
              <a:rPr dirty="0" spc="155"/>
              <a:t> </a:t>
            </a:r>
            <a:r>
              <a:rPr dirty="0" spc="-10"/>
              <a:t>naysayers</a:t>
            </a:r>
            <a:r>
              <a:rPr dirty="0" spc="500"/>
              <a:t> </a:t>
            </a:r>
            <a:r>
              <a:rPr dirty="0"/>
              <a:t>will</a:t>
            </a:r>
            <a:r>
              <a:rPr dirty="0" spc="130"/>
              <a:t> </a:t>
            </a:r>
            <a:r>
              <a:rPr dirty="0"/>
              <a:t>one</a:t>
            </a:r>
            <a:r>
              <a:rPr dirty="0" spc="135"/>
              <a:t> </a:t>
            </a:r>
            <a:r>
              <a:rPr dirty="0"/>
              <a:t>day</a:t>
            </a:r>
            <a:r>
              <a:rPr dirty="0" spc="135"/>
              <a:t> </a:t>
            </a:r>
            <a:r>
              <a:rPr dirty="0"/>
              <a:t>seem</a:t>
            </a:r>
            <a:r>
              <a:rPr dirty="0" spc="135"/>
              <a:t> </a:t>
            </a:r>
            <a:r>
              <a:rPr dirty="0"/>
              <a:t>much</a:t>
            </a:r>
            <a:r>
              <a:rPr dirty="0" spc="135"/>
              <a:t> </a:t>
            </a:r>
            <a:r>
              <a:rPr dirty="0"/>
              <a:t>like</a:t>
            </a:r>
            <a:r>
              <a:rPr dirty="0" spc="135"/>
              <a:t> </a:t>
            </a:r>
            <a:r>
              <a:rPr dirty="0"/>
              <a:t>the</a:t>
            </a:r>
            <a:r>
              <a:rPr dirty="0" spc="135"/>
              <a:t> </a:t>
            </a:r>
            <a:r>
              <a:rPr dirty="0" spc="-10"/>
              <a:t>vitalists.</a:t>
            </a:r>
          </a:p>
          <a:p>
            <a:pPr algn="just" marL="19050" marR="32384" indent="189230">
              <a:lnSpc>
                <a:spcPct val="114300"/>
              </a:lnSpc>
            </a:pPr>
            <a:r>
              <a:rPr dirty="0" spc="10"/>
              <a:t>Rather,</a:t>
            </a:r>
            <a:r>
              <a:rPr dirty="0" spc="100"/>
              <a:t> </a:t>
            </a:r>
            <a:r>
              <a:rPr dirty="0" spc="10"/>
              <a:t>the</a:t>
            </a:r>
            <a:r>
              <a:rPr dirty="0" spc="105"/>
              <a:t> </a:t>
            </a:r>
            <a:r>
              <a:rPr dirty="0" spc="10"/>
              <a:t>question</a:t>
            </a:r>
            <a:r>
              <a:rPr dirty="0" spc="100"/>
              <a:t> </a:t>
            </a:r>
            <a:r>
              <a:rPr dirty="0" spc="65"/>
              <a:t>I</a:t>
            </a:r>
            <a:r>
              <a:rPr dirty="0" spc="105"/>
              <a:t> </a:t>
            </a:r>
            <a:r>
              <a:rPr dirty="0" spc="10"/>
              <a:t>explore</a:t>
            </a:r>
            <a:r>
              <a:rPr dirty="0" spc="105"/>
              <a:t> </a:t>
            </a:r>
            <a:r>
              <a:rPr dirty="0" spc="10"/>
              <a:t>here</a:t>
            </a:r>
            <a:r>
              <a:rPr dirty="0" spc="100"/>
              <a:t> </a:t>
            </a:r>
            <a:r>
              <a:rPr dirty="0" spc="10"/>
              <a:t>is</a:t>
            </a:r>
            <a:r>
              <a:rPr dirty="0" spc="105"/>
              <a:t> </a:t>
            </a:r>
            <a:r>
              <a:rPr dirty="0" spc="10"/>
              <a:t>whether</a:t>
            </a:r>
            <a:r>
              <a:rPr dirty="0" spc="105"/>
              <a:t> </a:t>
            </a:r>
            <a:r>
              <a:rPr dirty="0" spc="10"/>
              <a:t>there</a:t>
            </a:r>
            <a:r>
              <a:rPr dirty="0" spc="100"/>
              <a:t> </a:t>
            </a:r>
            <a:r>
              <a:rPr dirty="0" spc="10"/>
              <a:t>is</a:t>
            </a:r>
            <a:r>
              <a:rPr dirty="0" spc="105"/>
              <a:t> </a:t>
            </a:r>
            <a:r>
              <a:rPr dirty="0" spc="10"/>
              <a:t>a</a:t>
            </a:r>
            <a:r>
              <a:rPr dirty="0" spc="100"/>
              <a:t> </a:t>
            </a:r>
            <a:r>
              <a:rPr dirty="0" spc="10"/>
              <a:t>simple</a:t>
            </a:r>
            <a:r>
              <a:rPr dirty="0" spc="105"/>
              <a:t> </a:t>
            </a:r>
            <a:r>
              <a:rPr dirty="0" spc="10"/>
              <a:t>set</a:t>
            </a:r>
            <a:r>
              <a:rPr dirty="0" spc="105"/>
              <a:t> </a:t>
            </a:r>
            <a:r>
              <a:rPr dirty="0" spc="10"/>
              <a:t>of</a:t>
            </a:r>
            <a:r>
              <a:rPr dirty="0" spc="100"/>
              <a:t> </a:t>
            </a:r>
            <a:r>
              <a:rPr dirty="0" spc="10"/>
              <a:t>principles</a:t>
            </a:r>
            <a:r>
              <a:rPr dirty="0" spc="105"/>
              <a:t> </a:t>
            </a:r>
            <a:r>
              <a:rPr dirty="0" spc="-10"/>
              <a:t>which</a:t>
            </a:r>
            <a:r>
              <a:rPr dirty="0" spc="500"/>
              <a:t> </a:t>
            </a:r>
            <a:r>
              <a:rPr dirty="0" spc="10"/>
              <a:t>can</a:t>
            </a:r>
            <a:r>
              <a:rPr dirty="0" spc="150"/>
              <a:t> </a:t>
            </a:r>
            <a:r>
              <a:rPr dirty="0" spc="10"/>
              <a:t>be</a:t>
            </a:r>
            <a:r>
              <a:rPr dirty="0" spc="155"/>
              <a:t> </a:t>
            </a:r>
            <a:r>
              <a:rPr dirty="0" spc="10"/>
              <a:t>used</a:t>
            </a:r>
            <a:r>
              <a:rPr dirty="0" spc="155"/>
              <a:t> </a:t>
            </a:r>
            <a:r>
              <a:rPr dirty="0" spc="10"/>
              <a:t>to</a:t>
            </a:r>
            <a:r>
              <a:rPr dirty="0" spc="150"/>
              <a:t> </a:t>
            </a:r>
            <a:r>
              <a:rPr dirty="0" spc="10"/>
              <a:t>explain</a:t>
            </a:r>
            <a:r>
              <a:rPr dirty="0" spc="155"/>
              <a:t> </a:t>
            </a:r>
            <a:r>
              <a:rPr dirty="0" spc="10"/>
              <a:t>intelligence?</a:t>
            </a:r>
            <a:r>
              <a:rPr dirty="0" spc="320"/>
              <a:t> </a:t>
            </a:r>
            <a:r>
              <a:rPr dirty="0" spc="55"/>
              <a:t>In</a:t>
            </a:r>
            <a:r>
              <a:rPr dirty="0" spc="155"/>
              <a:t> </a:t>
            </a:r>
            <a:r>
              <a:rPr dirty="0" spc="10"/>
              <a:t>particular,</a:t>
            </a:r>
            <a:r>
              <a:rPr dirty="0" spc="165"/>
              <a:t> </a:t>
            </a:r>
            <a:r>
              <a:rPr dirty="0" spc="10"/>
              <a:t>and</a:t>
            </a:r>
            <a:r>
              <a:rPr dirty="0" spc="155"/>
              <a:t> </a:t>
            </a:r>
            <a:r>
              <a:rPr dirty="0" spc="10"/>
              <a:t>more</a:t>
            </a:r>
            <a:r>
              <a:rPr dirty="0" spc="155"/>
              <a:t> </a:t>
            </a:r>
            <a:r>
              <a:rPr dirty="0" spc="10"/>
              <a:t>concretely,</a:t>
            </a:r>
            <a:r>
              <a:rPr dirty="0" spc="165"/>
              <a:t> </a:t>
            </a:r>
            <a:r>
              <a:rPr dirty="0" spc="10"/>
              <a:t>is</a:t>
            </a:r>
            <a:r>
              <a:rPr dirty="0" spc="155"/>
              <a:t> </a:t>
            </a:r>
            <a:r>
              <a:rPr dirty="0" spc="10"/>
              <a:t>there</a:t>
            </a:r>
            <a:r>
              <a:rPr dirty="0" spc="150"/>
              <a:t> </a:t>
            </a:r>
            <a:r>
              <a:rPr dirty="0" spc="10"/>
              <a:t>a</a:t>
            </a:r>
            <a:r>
              <a:rPr dirty="0" spc="155"/>
              <a:t> </a:t>
            </a:r>
            <a:r>
              <a:rPr dirty="0" spc="-10"/>
              <a:t>simple</a:t>
            </a:r>
            <a:r>
              <a:rPr dirty="0" spc="500"/>
              <a:t> </a:t>
            </a:r>
            <a:r>
              <a:rPr dirty="0" spc="10"/>
              <a:t>algorithm</a:t>
            </a:r>
            <a:r>
              <a:rPr dirty="0" spc="145"/>
              <a:t> </a:t>
            </a:r>
            <a:r>
              <a:rPr dirty="0" spc="10"/>
              <a:t>for</a:t>
            </a:r>
            <a:r>
              <a:rPr dirty="0" spc="145"/>
              <a:t> </a:t>
            </a:r>
            <a:r>
              <a:rPr dirty="0" spc="-10"/>
              <a:t>intelligence?</a:t>
            </a:r>
          </a:p>
          <a:p>
            <a:pPr algn="just" marL="19050" marR="9525" indent="189230">
              <a:lnSpc>
                <a:spcPct val="114300"/>
              </a:lnSpc>
            </a:pPr>
            <a:r>
              <a:rPr dirty="0" spc="10"/>
              <a:t>The</a:t>
            </a:r>
            <a:r>
              <a:rPr dirty="0" spc="90"/>
              <a:t> </a:t>
            </a:r>
            <a:r>
              <a:rPr dirty="0" spc="10"/>
              <a:t>idea</a:t>
            </a:r>
            <a:r>
              <a:rPr dirty="0" spc="90"/>
              <a:t> </a:t>
            </a:r>
            <a:r>
              <a:rPr dirty="0" spc="10"/>
              <a:t>that</a:t>
            </a:r>
            <a:r>
              <a:rPr dirty="0" spc="90"/>
              <a:t> </a:t>
            </a:r>
            <a:r>
              <a:rPr dirty="0" spc="10"/>
              <a:t>there</a:t>
            </a:r>
            <a:r>
              <a:rPr dirty="0" spc="95"/>
              <a:t> </a:t>
            </a:r>
            <a:r>
              <a:rPr dirty="0" spc="10"/>
              <a:t>is</a:t>
            </a:r>
            <a:r>
              <a:rPr dirty="0" spc="90"/>
              <a:t> </a:t>
            </a:r>
            <a:r>
              <a:rPr dirty="0" spc="10"/>
              <a:t>a</a:t>
            </a:r>
            <a:r>
              <a:rPr dirty="0" spc="90"/>
              <a:t> </a:t>
            </a:r>
            <a:r>
              <a:rPr dirty="0" spc="10"/>
              <a:t>truly</a:t>
            </a:r>
            <a:r>
              <a:rPr dirty="0" spc="95"/>
              <a:t> </a:t>
            </a:r>
            <a:r>
              <a:rPr dirty="0" spc="10"/>
              <a:t>simple</a:t>
            </a:r>
            <a:r>
              <a:rPr dirty="0" spc="90"/>
              <a:t> </a:t>
            </a:r>
            <a:r>
              <a:rPr dirty="0" spc="10"/>
              <a:t>algorithm</a:t>
            </a:r>
            <a:r>
              <a:rPr dirty="0" spc="90"/>
              <a:t> </a:t>
            </a:r>
            <a:r>
              <a:rPr dirty="0" spc="10"/>
              <a:t>for</a:t>
            </a:r>
            <a:r>
              <a:rPr dirty="0" spc="90"/>
              <a:t> </a:t>
            </a:r>
            <a:r>
              <a:rPr dirty="0" spc="10"/>
              <a:t>intelligence</a:t>
            </a:r>
            <a:r>
              <a:rPr dirty="0" spc="95"/>
              <a:t> </a:t>
            </a:r>
            <a:r>
              <a:rPr dirty="0" spc="10"/>
              <a:t>is</a:t>
            </a:r>
            <a:r>
              <a:rPr dirty="0" spc="90"/>
              <a:t> </a:t>
            </a:r>
            <a:r>
              <a:rPr dirty="0" spc="10"/>
              <a:t>a</a:t>
            </a:r>
            <a:r>
              <a:rPr dirty="0" spc="90"/>
              <a:t> </a:t>
            </a:r>
            <a:r>
              <a:rPr dirty="0" spc="10"/>
              <a:t>bold</a:t>
            </a:r>
            <a:r>
              <a:rPr dirty="0" spc="95"/>
              <a:t> </a:t>
            </a:r>
            <a:r>
              <a:rPr dirty="0" spc="10"/>
              <a:t>idea.</a:t>
            </a:r>
            <a:r>
              <a:rPr dirty="0" spc="180"/>
              <a:t> </a:t>
            </a:r>
            <a:r>
              <a:rPr dirty="0" spc="10"/>
              <a:t>It</a:t>
            </a:r>
            <a:r>
              <a:rPr dirty="0" spc="90"/>
              <a:t> </a:t>
            </a:r>
            <a:r>
              <a:rPr dirty="0" spc="-10"/>
              <a:t>perhaps</a:t>
            </a:r>
            <a:r>
              <a:rPr dirty="0" spc="500"/>
              <a:t> </a:t>
            </a:r>
            <a:r>
              <a:rPr dirty="0"/>
              <a:t>sounds</a:t>
            </a:r>
            <a:r>
              <a:rPr dirty="0" spc="100"/>
              <a:t> </a:t>
            </a:r>
            <a:r>
              <a:rPr dirty="0"/>
              <a:t>too</a:t>
            </a:r>
            <a:r>
              <a:rPr dirty="0" spc="100"/>
              <a:t> </a:t>
            </a:r>
            <a:r>
              <a:rPr dirty="0"/>
              <a:t>optimistic</a:t>
            </a:r>
            <a:r>
              <a:rPr dirty="0" spc="100"/>
              <a:t> </a:t>
            </a:r>
            <a:r>
              <a:rPr dirty="0"/>
              <a:t>to</a:t>
            </a:r>
            <a:r>
              <a:rPr dirty="0" spc="100"/>
              <a:t> </a:t>
            </a:r>
            <a:r>
              <a:rPr dirty="0"/>
              <a:t>be</a:t>
            </a:r>
            <a:r>
              <a:rPr dirty="0" spc="100"/>
              <a:t> </a:t>
            </a:r>
            <a:r>
              <a:rPr dirty="0"/>
              <a:t>true.</a:t>
            </a:r>
            <a:r>
              <a:rPr dirty="0" spc="195"/>
              <a:t> </a:t>
            </a:r>
            <a:r>
              <a:rPr dirty="0"/>
              <a:t>Many</a:t>
            </a:r>
            <a:r>
              <a:rPr dirty="0" spc="100"/>
              <a:t> </a:t>
            </a:r>
            <a:r>
              <a:rPr dirty="0"/>
              <a:t>people</a:t>
            </a:r>
            <a:r>
              <a:rPr dirty="0" spc="100"/>
              <a:t> </a:t>
            </a:r>
            <a:r>
              <a:rPr dirty="0"/>
              <a:t>have</a:t>
            </a:r>
            <a:r>
              <a:rPr dirty="0" spc="100"/>
              <a:t> </a:t>
            </a:r>
            <a:r>
              <a:rPr dirty="0"/>
              <a:t>a</a:t>
            </a:r>
            <a:r>
              <a:rPr dirty="0" spc="105"/>
              <a:t> </a:t>
            </a:r>
            <a:r>
              <a:rPr dirty="0"/>
              <a:t>strong</a:t>
            </a:r>
            <a:r>
              <a:rPr dirty="0" spc="100"/>
              <a:t> </a:t>
            </a:r>
            <a:r>
              <a:rPr dirty="0"/>
              <a:t>intuitive</a:t>
            </a:r>
            <a:r>
              <a:rPr dirty="0" spc="100"/>
              <a:t> </a:t>
            </a:r>
            <a:r>
              <a:rPr dirty="0"/>
              <a:t>sense</a:t>
            </a:r>
            <a:r>
              <a:rPr dirty="0" spc="100"/>
              <a:t> </a:t>
            </a:r>
            <a:r>
              <a:rPr dirty="0"/>
              <a:t>that</a:t>
            </a:r>
            <a:r>
              <a:rPr dirty="0" spc="100"/>
              <a:t> </a:t>
            </a:r>
            <a:r>
              <a:rPr dirty="0" spc="-10"/>
              <a:t>intelligence</a:t>
            </a:r>
            <a:r>
              <a:rPr dirty="0" spc="20"/>
              <a:t> has</a:t>
            </a:r>
            <a:r>
              <a:rPr dirty="0" spc="90"/>
              <a:t> </a:t>
            </a:r>
            <a:r>
              <a:rPr dirty="0" spc="20"/>
              <a:t>considerable</a:t>
            </a:r>
            <a:r>
              <a:rPr dirty="0" spc="95"/>
              <a:t> </a:t>
            </a:r>
            <a:r>
              <a:rPr dirty="0" spc="20"/>
              <a:t>irreducible</a:t>
            </a:r>
            <a:r>
              <a:rPr dirty="0" spc="90"/>
              <a:t> </a:t>
            </a:r>
            <a:r>
              <a:rPr dirty="0" spc="20"/>
              <a:t>complexity.</a:t>
            </a:r>
            <a:r>
              <a:rPr dirty="0" spc="185"/>
              <a:t> </a:t>
            </a:r>
            <a:r>
              <a:rPr dirty="0" spc="20"/>
              <a:t>They’re</a:t>
            </a:r>
            <a:r>
              <a:rPr dirty="0" spc="90"/>
              <a:t> </a:t>
            </a:r>
            <a:r>
              <a:rPr dirty="0" spc="20"/>
              <a:t>so</a:t>
            </a:r>
            <a:r>
              <a:rPr dirty="0" spc="95"/>
              <a:t> </a:t>
            </a:r>
            <a:r>
              <a:rPr dirty="0" spc="20"/>
              <a:t>impressed</a:t>
            </a:r>
            <a:r>
              <a:rPr dirty="0" spc="90"/>
              <a:t> </a:t>
            </a:r>
            <a:r>
              <a:rPr dirty="0" spc="20"/>
              <a:t>by</a:t>
            </a:r>
            <a:r>
              <a:rPr dirty="0" spc="95"/>
              <a:t> </a:t>
            </a:r>
            <a:r>
              <a:rPr dirty="0" spc="20"/>
              <a:t>the</a:t>
            </a:r>
            <a:r>
              <a:rPr dirty="0" spc="90"/>
              <a:t> </a:t>
            </a:r>
            <a:r>
              <a:rPr dirty="0" spc="20"/>
              <a:t>amazing</a:t>
            </a:r>
            <a:r>
              <a:rPr dirty="0" spc="95"/>
              <a:t> </a:t>
            </a:r>
            <a:r>
              <a:rPr dirty="0" spc="20"/>
              <a:t>variety</a:t>
            </a:r>
            <a:r>
              <a:rPr dirty="0" spc="90"/>
              <a:t> </a:t>
            </a:r>
            <a:r>
              <a:rPr dirty="0" spc="-25"/>
              <a:t>and</a:t>
            </a:r>
            <a:r>
              <a:rPr dirty="0" spc="500"/>
              <a:t> </a:t>
            </a:r>
            <a:r>
              <a:rPr dirty="0"/>
              <a:t>flexibility</a:t>
            </a:r>
            <a:r>
              <a:rPr dirty="0" spc="130"/>
              <a:t> </a:t>
            </a:r>
            <a:r>
              <a:rPr dirty="0"/>
              <a:t>of</a:t>
            </a:r>
            <a:r>
              <a:rPr dirty="0" spc="135"/>
              <a:t> </a:t>
            </a:r>
            <a:r>
              <a:rPr dirty="0"/>
              <a:t>human</a:t>
            </a:r>
            <a:r>
              <a:rPr dirty="0" spc="135"/>
              <a:t> </a:t>
            </a:r>
            <a:r>
              <a:rPr dirty="0"/>
              <a:t>thought</a:t>
            </a:r>
            <a:r>
              <a:rPr dirty="0" spc="130"/>
              <a:t> </a:t>
            </a:r>
            <a:r>
              <a:rPr dirty="0"/>
              <a:t>that</a:t>
            </a:r>
            <a:r>
              <a:rPr dirty="0" spc="135"/>
              <a:t> </a:t>
            </a:r>
            <a:r>
              <a:rPr dirty="0"/>
              <a:t>they</a:t>
            </a:r>
            <a:r>
              <a:rPr dirty="0" spc="135"/>
              <a:t> </a:t>
            </a:r>
            <a:r>
              <a:rPr dirty="0"/>
              <a:t>conclude</a:t>
            </a:r>
            <a:r>
              <a:rPr dirty="0" spc="130"/>
              <a:t> </a:t>
            </a:r>
            <a:r>
              <a:rPr dirty="0"/>
              <a:t>that</a:t>
            </a:r>
            <a:r>
              <a:rPr dirty="0" spc="135"/>
              <a:t> </a:t>
            </a:r>
            <a:r>
              <a:rPr dirty="0"/>
              <a:t>a</a:t>
            </a:r>
            <a:r>
              <a:rPr dirty="0" spc="135"/>
              <a:t> </a:t>
            </a:r>
            <a:r>
              <a:rPr dirty="0"/>
              <a:t>simple</a:t>
            </a:r>
            <a:r>
              <a:rPr dirty="0" spc="130"/>
              <a:t> </a:t>
            </a:r>
            <a:r>
              <a:rPr dirty="0"/>
              <a:t>algorithm</a:t>
            </a:r>
            <a:r>
              <a:rPr dirty="0" spc="135"/>
              <a:t> </a:t>
            </a:r>
            <a:r>
              <a:rPr dirty="0"/>
              <a:t>for</a:t>
            </a:r>
            <a:r>
              <a:rPr dirty="0" spc="135"/>
              <a:t> </a:t>
            </a:r>
            <a:r>
              <a:rPr dirty="0"/>
              <a:t>intelligence</a:t>
            </a:r>
            <a:r>
              <a:rPr dirty="0" spc="130"/>
              <a:t> </a:t>
            </a:r>
            <a:r>
              <a:rPr dirty="0" spc="-20"/>
              <a:t>must</a:t>
            </a:r>
            <a:r>
              <a:rPr dirty="0" spc="500"/>
              <a:t> </a:t>
            </a:r>
            <a:r>
              <a:rPr dirty="0"/>
              <a:t>be</a:t>
            </a:r>
            <a:r>
              <a:rPr dirty="0" spc="105"/>
              <a:t> </a:t>
            </a:r>
            <a:r>
              <a:rPr dirty="0"/>
              <a:t>impossible.</a:t>
            </a:r>
            <a:r>
              <a:rPr dirty="0" spc="195"/>
              <a:t> </a:t>
            </a:r>
            <a:r>
              <a:rPr dirty="0"/>
              <a:t>Despite</a:t>
            </a:r>
            <a:r>
              <a:rPr dirty="0" spc="110"/>
              <a:t> </a:t>
            </a:r>
            <a:r>
              <a:rPr dirty="0"/>
              <a:t>this</a:t>
            </a:r>
            <a:r>
              <a:rPr dirty="0" spc="100"/>
              <a:t> </a:t>
            </a:r>
            <a:r>
              <a:rPr dirty="0"/>
              <a:t>intuition,</a:t>
            </a:r>
            <a:r>
              <a:rPr dirty="0" spc="105"/>
              <a:t> </a:t>
            </a:r>
            <a:r>
              <a:rPr dirty="0" spc="55"/>
              <a:t>I</a:t>
            </a:r>
            <a:r>
              <a:rPr dirty="0" spc="110"/>
              <a:t> </a:t>
            </a:r>
            <a:r>
              <a:rPr dirty="0"/>
              <a:t>don’t</a:t>
            </a:r>
            <a:r>
              <a:rPr dirty="0" spc="100"/>
              <a:t> </a:t>
            </a:r>
            <a:r>
              <a:rPr dirty="0"/>
              <a:t>think</a:t>
            </a:r>
            <a:r>
              <a:rPr dirty="0" spc="105"/>
              <a:t> </a:t>
            </a:r>
            <a:r>
              <a:rPr dirty="0"/>
              <a:t>it’s</a:t>
            </a:r>
            <a:r>
              <a:rPr dirty="0" spc="100"/>
              <a:t> </a:t>
            </a:r>
            <a:r>
              <a:rPr dirty="0"/>
              <a:t>wise</a:t>
            </a:r>
            <a:r>
              <a:rPr dirty="0" spc="110"/>
              <a:t> </a:t>
            </a:r>
            <a:r>
              <a:rPr dirty="0"/>
              <a:t>to</a:t>
            </a:r>
            <a:r>
              <a:rPr dirty="0" spc="105"/>
              <a:t> </a:t>
            </a:r>
            <a:r>
              <a:rPr dirty="0"/>
              <a:t>rush</a:t>
            </a:r>
            <a:r>
              <a:rPr dirty="0" spc="105"/>
              <a:t> </a:t>
            </a:r>
            <a:r>
              <a:rPr dirty="0"/>
              <a:t>to</a:t>
            </a:r>
            <a:r>
              <a:rPr dirty="0" spc="105"/>
              <a:t> </a:t>
            </a:r>
            <a:r>
              <a:rPr dirty="0"/>
              <a:t>judgement.</a:t>
            </a:r>
            <a:r>
              <a:rPr dirty="0" spc="195"/>
              <a:t> </a:t>
            </a:r>
            <a:r>
              <a:rPr dirty="0"/>
              <a:t>The</a:t>
            </a:r>
            <a:r>
              <a:rPr dirty="0" spc="110"/>
              <a:t> </a:t>
            </a:r>
            <a:r>
              <a:rPr dirty="0" spc="-10"/>
              <a:t>history</a:t>
            </a:r>
            <a:r>
              <a:rPr dirty="0" spc="500"/>
              <a:t> </a:t>
            </a:r>
            <a:r>
              <a:rPr dirty="0" spc="10"/>
              <a:t>of</a:t>
            </a:r>
            <a:r>
              <a:rPr dirty="0" spc="50"/>
              <a:t> </a:t>
            </a:r>
            <a:r>
              <a:rPr dirty="0" spc="10"/>
              <a:t>science</a:t>
            </a:r>
            <a:r>
              <a:rPr dirty="0" spc="55"/>
              <a:t> </a:t>
            </a:r>
            <a:r>
              <a:rPr dirty="0" spc="10"/>
              <a:t>is</a:t>
            </a:r>
            <a:r>
              <a:rPr dirty="0" spc="55"/>
              <a:t> </a:t>
            </a:r>
            <a:r>
              <a:rPr dirty="0" spc="10"/>
              <a:t>filled</a:t>
            </a:r>
            <a:r>
              <a:rPr dirty="0" spc="55"/>
              <a:t> </a:t>
            </a:r>
            <a:r>
              <a:rPr dirty="0" spc="10"/>
              <a:t>with</a:t>
            </a:r>
            <a:r>
              <a:rPr dirty="0" spc="55"/>
              <a:t> </a:t>
            </a:r>
            <a:r>
              <a:rPr dirty="0" spc="10"/>
              <a:t>instances</a:t>
            </a:r>
            <a:r>
              <a:rPr dirty="0" spc="55"/>
              <a:t> </a:t>
            </a:r>
            <a:r>
              <a:rPr dirty="0" spc="10"/>
              <a:t>where</a:t>
            </a:r>
            <a:r>
              <a:rPr dirty="0" spc="55"/>
              <a:t> </a:t>
            </a:r>
            <a:r>
              <a:rPr dirty="0" spc="10"/>
              <a:t>a</a:t>
            </a:r>
            <a:r>
              <a:rPr dirty="0" spc="55"/>
              <a:t> </a:t>
            </a:r>
            <a:r>
              <a:rPr dirty="0" spc="10"/>
              <a:t>phenomenon</a:t>
            </a:r>
            <a:r>
              <a:rPr dirty="0" spc="55"/>
              <a:t> </a:t>
            </a:r>
            <a:r>
              <a:rPr dirty="0" spc="10"/>
              <a:t>initially</a:t>
            </a:r>
            <a:r>
              <a:rPr dirty="0" spc="55"/>
              <a:t> </a:t>
            </a:r>
            <a:r>
              <a:rPr dirty="0" spc="10"/>
              <a:t>appeared</a:t>
            </a:r>
            <a:r>
              <a:rPr dirty="0" spc="55"/>
              <a:t> </a:t>
            </a:r>
            <a:r>
              <a:rPr dirty="0" spc="10"/>
              <a:t>extremely</a:t>
            </a:r>
            <a:r>
              <a:rPr dirty="0" spc="55"/>
              <a:t> </a:t>
            </a:r>
            <a:r>
              <a:rPr dirty="0" spc="-10"/>
              <a:t>complex,</a:t>
            </a:r>
            <a:r>
              <a:rPr dirty="0" spc="500"/>
              <a:t> </a:t>
            </a:r>
            <a:r>
              <a:rPr dirty="0" spc="10"/>
              <a:t>but</a:t>
            </a:r>
            <a:r>
              <a:rPr dirty="0" spc="90"/>
              <a:t> </a:t>
            </a:r>
            <a:r>
              <a:rPr dirty="0" spc="10"/>
              <a:t>was</a:t>
            </a:r>
            <a:r>
              <a:rPr dirty="0" spc="95"/>
              <a:t> </a:t>
            </a:r>
            <a:r>
              <a:rPr dirty="0" spc="10"/>
              <a:t>later</a:t>
            </a:r>
            <a:r>
              <a:rPr dirty="0" spc="90"/>
              <a:t> </a:t>
            </a:r>
            <a:r>
              <a:rPr dirty="0" spc="10"/>
              <a:t>explained</a:t>
            </a:r>
            <a:r>
              <a:rPr dirty="0" spc="95"/>
              <a:t> </a:t>
            </a:r>
            <a:r>
              <a:rPr dirty="0" spc="10"/>
              <a:t>by</a:t>
            </a:r>
            <a:r>
              <a:rPr dirty="0" spc="90"/>
              <a:t> </a:t>
            </a:r>
            <a:r>
              <a:rPr dirty="0" spc="10"/>
              <a:t>some</a:t>
            </a:r>
            <a:r>
              <a:rPr dirty="0" spc="95"/>
              <a:t> </a:t>
            </a:r>
            <a:r>
              <a:rPr dirty="0" spc="10"/>
              <a:t>simple</a:t>
            </a:r>
            <a:r>
              <a:rPr dirty="0" spc="90"/>
              <a:t> </a:t>
            </a:r>
            <a:r>
              <a:rPr dirty="0" spc="10"/>
              <a:t>but</a:t>
            </a:r>
            <a:r>
              <a:rPr dirty="0" spc="95"/>
              <a:t> </a:t>
            </a:r>
            <a:r>
              <a:rPr dirty="0" spc="10"/>
              <a:t>powerful</a:t>
            </a:r>
            <a:r>
              <a:rPr dirty="0" spc="90"/>
              <a:t> </a:t>
            </a:r>
            <a:r>
              <a:rPr dirty="0" spc="10"/>
              <a:t>set</a:t>
            </a:r>
            <a:r>
              <a:rPr dirty="0" spc="95"/>
              <a:t> </a:t>
            </a:r>
            <a:r>
              <a:rPr dirty="0" spc="10"/>
              <a:t>of</a:t>
            </a:r>
            <a:r>
              <a:rPr dirty="0" spc="95"/>
              <a:t> </a:t>
            </a:r>
            <a:r>
              <a:rPr dirty="0" spc="-10"/>
              <a:t>ideas.</a:t>
            </a:r>
          </a:p>
          <a:p>
            <a:pPr algn="just" marL="19050" marR="9525" indent="189230">
              <a:lnSpc>
                <a:spcPct val="114300"/>
              </a:lnSpc>
            </a:pPr>
            <a:r>
              <a:rPr dirty="0" spc="10"/>
              <a:t>Consider,</a:t>
            </a:r>
            <a:r>
              <a:rPr dirty="0" spc="105"/>
              <a:t> </a:t>
            </a:r>
            <a:r>
              <a:rPr dirty="0" spc="10"/>
              <a:t>for</a:t>
            </a:r>
            <a:r>
              <a:rPr dirty="0" spc="110"/>
              <a:t> </a:t>
            </a:r>
            <a:r>
              <a:rPr dirty="0" spc="10"/>
              <a:t>example,</a:t>
            </a:r>
            <a:r>
              <a:rPr dirty="0" spc="110"/>
              <a:t> </a:t>
            </a:r>
            <a:r>
              <a:rPr dirty="0" spc="10"/>
              <a:t>the</a:t>
            </a:r>
            <a:r>
              <a:rPr dirty="0" spc="110"/>
              <a:t> </a:t>
            </a:r>
            <a:r>
              <a:rPr dirty="0" spc="10"/>
              <a:t>early</a:t>
            </a:r>
            <a:r>
              <a:rPr dirty="0" spc="110"/>
              <a:t> </a:t>
            </a:r>
            <a:r>
              <a:rPr dirty="0" spc="10"/>
              <a:t>days</a:t>
            </a:r>
            <a:r>
              <a:rPr dirty="0" spc="105"/>
              <a:t> </a:t>
            </a:r>
            <a:r>
              <a:rPr dirty="0" spc="10"/>
              <a:t>of</a:t>
            </a:r>
            <a:r>
              <a:rPr dirty="0" spc="110"/>
              <a:t> </a:t>
            </a:r>
            <a:r>
              <a:rPr dirty="0" spc="10"/>
              <a:t>astronomy.</a:t>
            </a:r>
            <a:r>
              <a:rPr dirty="0" spc="204"/>
              <a:t> </a:t>
            </a:r>
            <a:r>
              <a:rPr dirty="0" spc="10"/>
              <a:t>Humans</a:t>
            </a:r>
            <a:r>
              <a:rPr dirty="0" spc="110"/>
              <a:t> </a:t>
            </a:r>
            <a:r>
              <a:rPr dirty="0" spc="10"/>
              <a:t>have</a:t>
            </a:r>
            <a:r>
              <a:rPr dirty="0" spc="110"/>
              <a:t> </a:t>
            </a:r>
            <a:r>
              <a:rPr dirty="0" spc="10"/>
              <a:t>known</a:t>
            </a:r>
            <a:r>
              <a:rPr dirty="0" spc="105"/>
              <a:t> </a:t>
            </a:r>
            <a:r>
              <a:rPr dirty="0" spc="10"/>
              <a:t>since</a:t>
            </a:r>
            <a:r>
              <a:rPr dirty="0" spc="110"/>
              <a:t> </a:t>
            </a:r>
            <a:r>
              <a:rPr dirty="0" spc="-10"/>
              <a:t>ancient</a:t>
            </a:r>
            <a:r>
              <a:rPr dirty="0" spc="500"/>
              <a:t> </a:t>
            </a:r>
            <a:r>
              <a:rPr dirty="0" spc="10"/>
              <a:t>times</a:t>
            </a:r>
            <a:r>
              <a:rPr dirty="0" spc="130"/>
              <a:t> </a:t>
            </a:r>
            <a:r>
              <a:rPr dirty="0" spc="10"/>
              <a:t>that</a:t>
            </a:r>
            <a:r>
              <a:rPr dirty="0" spc="135"/>
              <a:t> </a:t>
            </a:r>
            <a:r>
              <a:rPr dirty="0" spc="10"/>
              <a:t>there</a:t>
            </a:r>
            <a:r>
              <a:rPr dirty="0" spc="135"/>
              <a:t> </a:t>
            </a:r>
            <a:r>
              <a:rPr dirty="0" spc="10"/>
              <a:t>is</a:t>
            </a:r>
            <a:r>
              <a:rPr dirty="0" spc="135"/>
              <a:t> </a:t>
            </a:r>
            <a:r>
              <a:rPr dirty="0" spc="10"/>
              <a:t>a</a:t>
            </a:r>
            <a:r>
              <a:rPr dirty="0" spc="135"/>
              <a:t> </a:t>
            </a:r>
            <a:r>
              <a:rPr dirty="0" spc="10"/>
              <a:t>menagerie</a:t>
            </a:r>
            <a:r>
              <a:rPr dirty="0" spc="130"/>
              <a:t> </a:t>
            </a:r>
            <a:r>
              <a:rPr dirty="0" spc="10"/>
              <a:t>of</a:t>
            </a:r>
            <a:r>
              <a:rPr dirty="0" spc="135"/>
              <a:t> </a:t>
            </a:r>
            <a:r>
              <a:rPr dirty="0" spc="10"/>
              <a:t>objects</a:t>
            </a:r>
            <a:r>
              <a:rPr dirty="0" spc="135"/>
              <a:t> </a:t>
            </a:r>
            <a:r>
              <a:rPr dirty="0" spc="10"/>
              <a:t>in</a:t>
            </a:r>
            <a:r>
              <a:rPr dirty="0" spc="135"/>
              <a:t> </a:t>
            </a:r>
            <a:r>
              <a:rPr dirty="0" spc="10"/>
              <a:t>the</a:t>
            </a:r>
            <a:r>
              <a:rPr dirty="0" spc="135"/>
              <a:t> </a:t>
            </a:r>
            <a:r>
              <a:rPr dirty="0" spc="10"/>
              <a:t>sky:</a:t>
            </a:r>
            <a:r>
              <a:rPr dirty="0" spc="250"/>
              <a:t> </a:t>
            </a:r>
            <a:r>
              <a:rPr dirty="0" spc="10"/>
              <a:t>the</a:t>
            </a:r>
            <a:r>
              <a:rPr dirty="0" spc="135"/>
              <a:t> </a:t>
            </a:r>
            <a:r>
              <a:rPr dirty="0" spc="10"/>
              <a:t>sun,</a:t>
            </a:r>
            <a:r>
              <a:rPr dirty="0" spc="140"/>
              <a:t> </a:t>
            </a:r>
            <a:r>
              <a:rPr dirty="0" spc="10"/>
              <a:t>the</a:t>
            </a:r>
            <a:r>
              <a:rPr dirty="0" spc="135"/>
              <a:t> </a:t>
            </a:r>
            <a:r>
              <a:rPr dirty="0" spc="10"/>
              <a:t>moon,</a:t>
            </a:r>
            <a:r>
              <a:rPr dirty="0" spc="140"/>
              <a:t> </a:t>
            </a:r>
            <a:r>
              <a:rPr dirty="0" spc="10"/>
              <a:t>the</a:t>
            </a:r>
            <a:r>
              <a:rPr dirty="0" spc="135"/>
              <a:t> </a:t>
            </a:r>
            <a:r>
              <a:rPr dirty="0" spc="10"/>
              <a:t>planets,</a:t>
            </a:r>
            <a:r>
              <a:rPr dirty="0" spc="140"/>
              <a:t> </a:t>
            </a:r>
            <a:r>
              <a:rPr dirty="0" spc="-25"/>
              <a:t>the</a:t>
            </a:r>
            <a:r>
              <a:rPr dirty="0" spc="500"/>
              <a:t> </a:t>
            </a:r>
            <a:r>
              <a:rPr dirty="0"/>
              <a:t>comets,</a:t>
            </a:r>
            <a:r>
              <a:rPr dirty="0" spc="120"/>
              <a:t> </a:t>
            </a:r>
            <a:r>
              <a:rPr dirty="0"/>
              <a:t>and</a:t>
            </a:r>
            <a:r>
              <a:rPr dirty="0" spc="125"/>
              <a:t> </a:t>
            </a:r>
            <a:r>
              <a:rPr dirty="0"/>
              <a:t>the</a:t>
            </a:r>
            <a:r>
              <a:rPr dirty="0" spc="125"/>
              <a:t> </a:t>
            </a:r>
            <a:r>
              <a:rPr dirty="0"/>
              <a:t>stars.</a:t>
            </a:r>
            <a:r>
              <a:rPr dirty="0" spc="215"/>
              <a:t> </a:t>
            </a:r>
            <a:r>
              <a:rPr dirty="0"/>
              <a:t>These</a:t>
            </a:r>
            <a:r>
              <a:rPr dirty="0" spc="125"/>
              <a:t> </a:t>
            </a:r>
            <a:r>
              <a:rPr dirty="0"/>
              <a:t>objects</a:t>
            </a:r>
            <a:r>
              <a:rPr dirty="0" spc="120"/>
              <a:t> </a:t>
            </a:r>
            <a:r>
              <a:rPr dirty="0"/>
              <a:t>behave</a:t>
            </a:r>
            <a:r>
              <a:rPr dirty="0" spc="125"/>
              <a:t> </a:t>
            </a:r>
            <a:r>
              <a:rPr dirty="0"/>
              <a:t>in</a:t>
            </a:r>
            <a:r>
              <a:rPr dirty="0" spc="125"/>
              <a:t> </a:t>
            </a:r>
            <a:r>
              <a:rPr dirty="0"/>
              <a:t>very</a:t>
            </a:r>
            <a:r>
              <a:rPr dirty="0" spc="120"/>
              <a:t> </a:t>
            </a:r>
            <a:r>
              <a:rPr dirty="0"/>
              <a:t>different</a:t>
            </a:r>
            <a:r>
              <a:rPr dirty="0" spc="125"/>
              <a:t> </a:t>
            </a:r>
            <a:r>
              <a:rPr dirty="0"/>
              <a:t>ways</a:t>
            </a:r>
            <a:r>
              <a:rPr dirty="0" spc="125"/>
              <a:t> </a:t>
            </a:r>
            <a:r>
              <a:rPr dirty="0"/>
              <a:t>–</a:t>
            </a:r>
            <a:r>
              <a:rPr dirty="0" spc="120"/>
              <a:t> </a:t>
            </a:r>
            <a:r>
              <a:rPr dirty="0"/>
              <a:t>stars</a:t>
            </a:r>
            <a:r>
              <a:rPr dirty="0" spc="125"/>
              <a:t> </a:t>
            </a:r>
            <a:r>
              <a:rPr dirty="0"/>
              <a:t>move</a:t>
            </a:r>
            <a:r>
              <a:rPr dirty="0" spc="125"/>
              <a:t> </a:t>
            </a:r>
            <a:r>
              <a:rPr dirty="0"/>
              <a:t>in</a:t>
            </a:r>
            <a:r>
              <a:rPr dirty="0" spc="120"/>
              <a:t> </a:t>
            </a:r>
            <a:r>
              <a:rPr dirty="0"/>
              <a:t>a</a:t>
            </a:r>
            <a:r>
              <a:rPr dirty="0" spc="125"/>
              <a:t> </a:t>
            </a:r>
            <a:r>
              <a:rPr dirty="0" spc="-10"/>
              <a:t>stately,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8000" y="368721"/>
            <a:ext cx="4718050" cy="697928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525"/>
              </a:lnSpc>
              <a:spcBef>
                <a:spcPts val="110"/>
              </a:spcBef>
              <a:tabLst>
                <a:tab pos="394335" algn="l"/>
              </a:tabLst>
            </a:pPr>
            <a:r>
              <a:rPr dirty="0" sz="850" spc="25">
                <a:latin typeface="Calibri"/>
                <a:cs typeface="Calibri"/>
              </a:rPr>
              <a:t>212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intelligence?</a:t>
            </a:r>
            <a:endParaRPr sz="850">
              <a:latin typeface="Calibri"/>
              <a:cs typeface="Calibri"/>
            </a:endParaRPr>
          </a:p>
          <a:p>
            <a:pPr marL="28130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31470" marR="3048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regular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across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sky,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comets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appear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nowhere,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streak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across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sky,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disappear.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16th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century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foolish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could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have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imagined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objects’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motions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principles.</a:t>
            </a:r>
            <a:r>
              <a:rPr dirty="0" sz="850" spc="20">
                <a:latin typeface="Calibri"/>
                <a:cs typeface="Calibri"/>
              </a:rPr>
              <a:t> 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17th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century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Newton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formulated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theory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universal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gravitation,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motions,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terrestrial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phenomena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tides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Earth-bound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projecticles.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16th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century’s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foolish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optimist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retrospect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like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pessimist,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asking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little.</a:t>
            </a:r>
            <a:endParaRPr sz="850">
              <a:latin typeface="Calibri"/>
              <a:cs typeface="Calibri"/>
            </a:endParaRPr>
          </a:p>
          <a:p>
            <a:pPr algn="just" marL="325120" marR="34925" indent="196215">
              <a:lnSpc>
                <a:spcPct val="114300"/>
              </a:lnSpc>
              <a:spcBef>
                <a:spcPts val="65"/>
              </a:spcBef>
            </a:pP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science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myriad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chemical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substances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making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world,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beautifully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explained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Mendeleev’s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periodic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table,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turn,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few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rules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obtained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quantum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mechanics.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puzzle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complexity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diversity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biological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world,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whose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origin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turns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principle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evolution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natural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selection.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These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other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would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rule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explanation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merely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grounds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currently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examples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appears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complicated</a:t>
            </a:r>
            <a:r>
              <a:rPr dirty="0" baseline="35353" sz="825" spc="-15">
                <a:latin typeface="Calibri"/>
                <a:cs typeface="Calibri"/>
                <a:hlinkClick r:id="rId2" action="ppaction://hlinksldjump"/>
              </a:rPr>
              <a:t>1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algn="just" marL="327660" marR="30480" indent="193675">
              <a:lnSpc>
                <a:spcPct val="114300"/>
              </a:lnSpc>
              <a:spcBef>
                <a:spcPts val="70"/>
              </a:spcBef>
            </a:pPr>
            <a:r>
              <a:rPr dirty="0" sz="850" spc="20">
                <a:latin typeface="Calibri"/>
                <a:cs typeface="Calibri"/>
              </a:rPr>
              <a:t>Contrariwise,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despite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optimistic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examples,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logically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possible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explained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fundamentally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distinct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mechanisms.</a:t>
            </a:r>
            <a:r>
              <a:rPr dirty="0" sz="850" spc="55">
                <a:latin typeface="Calibri"/>
                <a:cs typeface="Calibri"/>
              </a:rPr>
              <a:t> 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brains,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mechanisms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perhaps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evolved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response</a:t>
            </a:r>
            <a:r>
              <a:rPr dirty="0" sz="850" spc="20">
                <a:latin typeface="Calibri"/>
                <a:cs typeface="Calibri"/>
              </a:rPr>
              <a:t> 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selection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pressures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species’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evolutionary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history.</a:t>
            </a:r>
            <a:r>
              <a:rPr dirty="0" sz="850" spc="2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point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intelligence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involves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considerable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irreducible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complexity,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simple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possible.</a:t>
            </a:r>
            <a:endParaRPr sz="850">
              <a:latin typeface="Calibri"/>
              <a:cs typeface="Calibri"/>
            </a:endParaRPr>
          </a:p>
          <a:p>
            <a:pPr algn="just" marL="521334">
              <a:lnSpc>
                <a:spcPct val="100000"/>
              </a:lnSpc>
              <a:spcBef>
                <a:spcPts val="210"/>
              </a:spcBef>
            </a:pP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two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correct?</a:t>
            </a:r>
            <a:endParaRPr sz="850">
              <a:latin typeface="Calibri"/>
              <a:cs typeface="Calibri"/>
            </a:endParaRPr>
          </a:p>
          <a:p>
            <a:pPr algn="r" marL="318135" marR="30480" indent="203200">
              <a:lnSpc>
                <a:spcPct val="114599"/>
              </a:lnSpc>
              <a:spcBef>
                <a:spcPts val="65"/>
              </a:spcBef>
            </a:pP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insight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closely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related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whether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there’s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look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ways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quantifying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complexity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first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approach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connectomics.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wiring: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brain,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glial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cells,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You’ve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probably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heard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numbers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before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order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100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billion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neurons,</a:t>
            </a:r>
            <a:r>
              <a:rPr dirty="0" sz="850" spc="55">
                <a:latin typeface="Calibri"/>
                <a:cs typeface="Calibri"/>
              </a:rPr>
              <a:t> 100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billion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glial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cells,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trillion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staggering.</a:t>
            </a:r>
            <a:r>
              <a:rPr dirty="0" sz="850" spc="4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They’re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also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intimidating.</a:t>
            </a:r>
            <a:r>
              <a:rPr dirty="0" sz="850" spc="48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those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(not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mention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glial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cells)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works,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certainly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simple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algorithm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intelligence.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There’s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second,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optimistic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molecular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biology.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genetic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needed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brain’s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-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handle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question,</a:t>
            </a:r>
            <a:r>
              <a:rPr dirty="0" sz="8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-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start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considering</a:t>
            </a:r>
            <a:r>
              <a:rPr dirty="0" sz="850" spc="-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genetic</a:t>
            </a:r>
            <a:r>
              <a:rPr dirty="0" sz="850" spc="-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differences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chimpanzees.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You’ve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probably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heard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sound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“human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beings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98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percent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chimpanzee”.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saying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popular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variations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give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95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99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variations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occur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because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originally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estimated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samples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chimp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genomes,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genomes.</a:t>
            </a:r>
            <a:r>
              <a:rPr dirty="0" sz="850" spc="20">
                <a:latin typeface="Calibri"/>
                <a:cs typeface="Calibri"/>
              </a:rPr>
              <a:t> However,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2007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entire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chimpanzee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3"/>
              </a:rPr>
              <a:t>sequenced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(see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also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4"/>
              </a:rPr>
              <a:t>here</a:t>
            </a:r>
            <a:r>
              <a:rPr dirty="0" sz="850" spc="20">
                <a:latin typeface="Calibri"/>
                <a:cs typeface="Calibri"/>
              </a:rPr>
              <a:t>),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chimp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DNA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roughly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125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million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DNA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pairs.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That’s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total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roughly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3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billion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DNA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pairs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genome.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say</a:t>
            </a:r>
            <a:endParaRPr sz="850">
              <a:latin typeface="Calibri"/>
              <a:cs typeface="Calibri"/>
            </a:endParaRPr>
          </a:p>
          <a:p>
            <a:pPr algn="just" marL="331470">
              <a:lnSpc>
                <a:spcPct val="100000"/>
              </a:lnSpc>
              <a:spcBef>
                <a:spcPts val="145"/>
              </a:spcBef>
            </a:pP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beings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98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chimpanzee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96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percent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chimpanzee.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01" y="7451929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4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1901" y="7467300"/>
            <a:ext cx="4399280" cy="54737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just" marL="38100" marR="30480" indent="127635">
              <a:lnSpc>
                <a:spcPts val="800"/>
              </a:lnSpc>
              <a:spcBef>
                <a:spcPts val="225"/>
              </a:spcBef>
            </a:pPr>
            <a:r>
              <a:rPr dirty="0" baseline="30303" sz="825" spc="30">
                <a:latin typeface="Calibri"/>
                <a:cs typeface="Calibri"/>
              </a:rPr>
              <a:t>1</a:t>
            </a:r>
            <a:r>
              <a:rPr dirty="0" sz="750" spc="20">
                <a:latin typeface="Calibri"/>
                <a:cs typeface="Calibri"/>
              </a:rPr>
              <a:t>Through</a:t>
            </a:r>
            <a:r>
              <a:rPr dirty="0" sz="750" spc="1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this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appendix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50">
                <a:latin typeface="Calibri"/>
                <a:cs typeface="Calibri"/>
              </a:rPr>
              <a:t>I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assume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that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for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a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computer </a:t>
            </a:r>
            <a:r>
              <a:rPr dirty="0" sz="750" spc="20">
                <a:latin typeface="Calibri"/>
                <a:cs typeface="Calibri"/>
              </a:rPr>
              <a:t>to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be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considered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intelligent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its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capabilities</a:t>
            </a:r>
            <a:r>
              <a:rPr dirty="0" sz="750" spc="15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must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match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or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exceed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human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thinking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ability.</a:t>
            </a:r>
            <a:r>
              <a:rPr dirty="0" sz="750" spc="18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And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I’ll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regard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question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“Is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there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simple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algorithm</a:t>
            </a:r>
            <a:r>
              <a:rPr dirty="0" sz="750" spc="85">
                <a:latin typeface="Calibri"/>
                <a:cs typeface="Calibri"/>
              </a:rPr>
              <a:t> </a:t>
            </a:r>
            <a:r>
              <a:rPr dirty="0" sz="750" spc="-25">
                <a:latin typeface="Calibri"/>
                <a:cs typeface="Calibri"/>
              </a:rPr>
              <a:t>for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intelligence?”</a:t>
            </a:r>
            <a:r>
              <a:rPr dirty="0" sz="750" spc="1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equivalent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to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“Is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there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simple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algorithm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which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can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‘think’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along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essentially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9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same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lines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as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human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brain?”</a:t>
            </a:r>
            <a:r>
              <a:rPr dirty="0" sz="750" spc="1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It’s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worth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noting,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however,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that</a:t>
            </a:r>
            <a:r>
              <a:rPr dirty="0" sz="750" spc="6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there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may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well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forms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of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intelligence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-20">
                <a:latin typeface="Calibri"/>
                <a:cs typeface="Calibri"/>
              </a:rPr>
              <a:t>that</a:t>
            </a:r>
            <a:r>
              <a:rPr dirty="0" sz="750" spc="5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don’t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subsume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human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thought,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but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nonetheless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go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beyond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it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</a:t>
            </a:r>
            <a:r>
              <a:rPr dirty="0" sz="750" spc="100">
                <a:latin typeface="Calibri"/>
                <a:cs typeface="Calibri"/>
              </a:rPr>
              <a:t> </a:t>
            </a:r>
            <a:r>
              <a:rPr dirty="0" sz="750" spc="10">
                <a:latin typeface="Calibri"/>
                <a:cs typeface="Calibri"/>
              </a:rPr>
              <a:t>interesting</a:t>
            </a:r>
            <a:r>
              <a:rPr dirty="0" sz="750" spc="10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ways.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-2530" y="863965"/>
            <a:ext cx="372745" cy="457200"/>
            <a:chOff x="-2530" y="863965"/>
            <a:chExt cx="372745" cy="457200"/>
          </a:xfrm>
        </p:grpSpPr>
        <p:sp>
          <p:nvSpPr>
            <p:cNvPr id="6" name="object 6"/>
            <p:cNvSpPr/>
            <p:nvPr/>
          </p:nvSpPr>
          <p:spPr>
            <a:xfrm>
              <a:off x="0" y="866496"/>
              <a:ext cx="367665" cy="452120"/>
            </a:xfrm>
            <a:custGeom>
              <a:avLst/>
              <a:gdLst/>
              <a:ahLst/>
              <a:cxnLst/>
              <a:rect l="l" t="t" r="r" b="b"/>
              <a:pathLst>
                <a:path w="367665" h="452119">
                  <a:moveTo>
                    <a:pt x="295363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95363" y="451713"/>
                  </a:lnTo>
                  <a:lnTo>
                    <a:pt x="323391" y="446053"/>
                  </a:lnTo>
                  <a:lnTo>
                    <a:pt x="346278" y="430620"/>
                  </a:lnTo>
                  <a:lnTo>
                    <a:pt x="361709" y="407731"/>
                  </a:lnTo>
                  <a:lnTo>
                    <a:pt x="367367" y="379704"/>
                  </a:lnTo>
                  <a:lnTo>
                    <a:pt x="367367" y="72008"/>
                  </a:lnTo>
                  <a:lnTo>
                    <a:pt x="361709" y="43976"/>
                  </a:lnTo>
                  <a:lnTo>
                    <a:pt x="346278" y="21088"/>
                  </a:lnTo>
                  <a:lnTo>
                    <a:pt x="323391" y="5657"/>
                  </a:lnTo>
                  <a:lnTo>
                    <a:pt x="295363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0" y="866496"/>
              <a:ext cx="367665" cy="452120"/>
            </a:xfrm>
            <a:custGeom>
              <a:avLst/>
              <a:gdLst/>
              <a:ahLst/>
              <a:cxnLst/>
              <a:rect l="l" t="t" r="r" b="b"/>
              <a:pathLst>
                <a:path w="367665" h="452119">
                  <a:moveTo>
                    <a:pt x="0" y="451204"/>
                  </a:moveTo>
                  <a:lnTo>
                    <a:pt x="2520" y="451713"/>
                  </a:lnTo>
                  <a:lnTo>
                    <a:pt x="295363" y="451713"/>
                  </a:lnTo>
                  <a:lnTo>
                    <a:pt x="323391" y="446053"/>
                  </a:lnTo>
                  <a:lnTo>
                    <a:pt x="346278" y="430620"/>
                  </a:lnTo>
                  <a:lnTo>
                    <a:pt x="361709" y="407731"/>
                  </a:lnTo>
                  <a:lnTo>
                    <a:pt x="367367" y="379704"/>
                  </a:lnTo>
                  <a:lnTo>
                    <a:pt x="367367" y="72008"/>
                  </a:lnTo>
                  <a:lnTo>
                    <a:pt x="361709" y="43976"/>
                  </a:lnTo>
                  <a:lnTo>
                    <a:pt x="346278" y="21088"/>
                  </a:lnTo>
                  <a:lnTo>
                    <a:pt x="323391" y="5657"/>
                  </a:lnTo>
                  <a:lnTo>
                    <a:pt x="295363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5831" y="851994"/>
            <a:ext cx="246379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120">
                <a:latin typeface="Calibri"/>
                <a:cs typeface="Calibri"/>
              </a:rPr>
              <a:t>A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50899" y="368724"/>
            <a:ext cx="4629785" cy="76479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5080">
              <a:lnSpc>
                <a:spcPts val="525"/>
              </a:lnSpc>
              <a:spcBef>
                <a:spcPts val="110"/>
              </a:spcBef>
            </a:pPr>
            <a:r>
              <a:rPr dirty="0" sz="850" spc="25">
                <a:latin typeface="Calibri"/>
                <a:cs typeface="Calibri"/>
              </a:rPr>
              <a:t>213</a:t>
            </a:r>
            <a:endParaRPr sz="850">
              <a:latin typeface="Calibri"/>
              <a:cs typeface="Calibri"/>
            </a:endParaRPr>
          </a:p>
          <a:p>
            <a:pPr algn="r" marR="2635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12700" marR="249554" indent="205740">
              <a:lnSpc>
                <a:spcPct val="114300"/>
              </a:lnSpc>
              <a:spcBef>
                <a:spcPts val="5"/>
              </a:spcBef>
            </a:pP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125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pairs?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pair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labelled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possibilities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“letters”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genetic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adenine,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cytosine,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guanine,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thymine.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pair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information</a:t>
            </a:r>
            <a:r>
              <a:rPr dirty="0" sz="850" spc="500">
                <a:latin typeface="Calibri"/>
                <a:cs typeface="Calibri"/>
              </a:rPr>
              <a:t> 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information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labels.</a:t>
            </a:r>
            <a:r>
              <a:rPr dirty="0" sz="850" spc="4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So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125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pairs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equivalent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250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million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information.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genetic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humans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chimps!</a:t>
            </a:r>
            <a:endParaRPr sz="850">
              <a:latin typeface="Calibri"/>
              <a:cs typeface="Calibri"/>
            </a:endParaRPr>
          </a:p>
          <a:p>
            <a:pPr algn="just" marL="28575" marR="249554" indent="189230">
              <a:lnSpc>
                <a:spcPct val="114300"/>
              </a:lnSpc>
              <a:spcBef>
                <a:spcPts val="185"/>
              </a:spcBef>
            </a:pP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250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million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accounts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genetic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differences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humans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chimps.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interested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difference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associated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Unfortunately,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no-one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fraction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total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genetic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difference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explain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brains.</a:t>
            </a:r>
            <a:r>
              <a:rPr dirty="0" sz="850" spc="4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let’s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assume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sake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half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250 </a:t>
            </a:r>
            <a:r>
              <a:rPr dirty="0" sz="850" spc="10">
                <a:latin typeface="Calibri"/>
                <a:cs typeface="Calibri"/>
              </a:rPr>
              <a:t>million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accounts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differences.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total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125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bits.</a:t>
            </a:r>
            <a:endParaRPr sz="850">
              <a:latin typeface="Calibri"/>
              <a:cs typeface="Calibri"/>
            </a:endParaRPr>
          </a:p>
          <a:p>
            <a:pPr algn="just" marL="15240" marR="269240" indent="203200">
              <a:lnSpc>
                <a:spcPct val="114300"/>
              </a:lnSpc>
              <a:spcBef>
                <a:spcPts val="190"/>
              </a:spcBef>
            </a:pPr>
            <a:r>
              <a:rPr dirty="0" sz="850" spc="55">
                <a:latin typeface="Calibri"/>
                <a:cs typeface="Calibri"/>
              </a:rPr>
              <a:t>125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million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bits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impressively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number.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sense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translating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equivalent</a:t>
            </a:r>
            <a:r>
              <a:rPr dirty="0" sz="850" spc="20">
                <a:latin typeface="Calibri"/>
                <a:cs typeface="Calibri"/>
              </a:rPr>
              <a:t> amount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English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text?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  <a:hlinkClick r:id="rId2"/>
              </a:rPr>
              <a:t>turns</a:t>
            </a:r>
            <a:r>
              <a:rPr dirty="0" sz="850" spc="110">
                <a:latin typeface="Calibri"/>
                <a:cs typeface="Calibri"/>
                <a:hlinkClick r:id="rId2"/>
              </a:rPr>
              <a:t> </a:t>
            </a:r>
            <a:r>
              <a:rPr dirty="0" sz="850" spc="20">
                <a:latin typeface="Calibri"/>
                <a:cs typeface="Calibri"/>
                <a:hlinkClick r:id="rId2"/>
              </a:rPr>
              <a:t>out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information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content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English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text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letter.</a:t>
            </a:r>
            <a:r>
              <a:rPr dirty="0" sz="850" spc="4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sounds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low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after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all,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alphabet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26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letters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–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20">
                <a:latin typeface="Calibri"/>
                <a:cs typeface="Calibri"/>
              </a:rPr>
              <a:t> tremendous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amount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redundancy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English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text.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course,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you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might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argue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our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genomes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redundant,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too,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two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pair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overestimate.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ignore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that,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overestimating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brain’s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genetic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complexity.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assumptions,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genetic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difference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chimp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brains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equivalent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125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million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letters,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25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million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English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words.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That’s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r>
              <a:rPr dirty="0" sz="850" spc="50">
                <a:latin typeface="Calibri"/>
                <a:cs typeface="Calibri"/>
              </a:rPr>
              <a:t> 30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King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James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Bible.</a:t>
            </a:r>
            <a:endParaRPr sz="850">
              <a:latin typeface="Calibri"/>
              <a:cs typeface="Calibri"/>
            </a:endParaRPr>
          </a:p>
          <a:p>
            <a:pPr algn="just" marL="28575" marR="245110" indent="189230">
              <a:lnSpc>
                <a:spcPct val="114300"/>
              </a:lnSpc>
              <a:spcBef>
                <a:spcPts val="190"/>
              </a:spcBef>
            </a:pPr>
            <a:r>
              <a:rPr dirty="0" sz="850" spc="30">
                <a:latin typeface="Calibri"/>
                <a:cs typeface="Calibri"/>
              </a:rPr>
              <a:t>That’s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lot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of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information.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But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it’s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not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incomprehensibly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large.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It’s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on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human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scale.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Maybe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written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group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perhaps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collectively,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through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appropriate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specialization.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although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information,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minuscule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compared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information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required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billion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neurons,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billion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glial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cells,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100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trillion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coarse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description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10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floating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characterize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would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require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70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quadrillion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bits.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means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genetic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description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factor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about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half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billion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less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full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connectome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brain.</a:t>
            </a:r>
            <a:endParaRPr sz="850">
              <a:latin typeface="Calibri"/>
              <a:cs typeface="Calibri"/>
            </a:endParaRPr>
          </a:p>
          <a:p>
            <a:pPr algn="just" marL="12700" marR="268605" indent="205740">
              <a:lnSpc>
                <a:spcPct val="114300"/>
              </a:lnSpc>
              <a:spcBef>
                <a:spcPts val="190"/>
              </a:spcBef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learn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genome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cannot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possibly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detailed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description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Rather,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specify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broad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basic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underlying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brain.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enough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guarantee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grow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intelligent.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caveats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–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growing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children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healthy,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stimulating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environment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good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nutrition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achieve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intellectual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potential.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grow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reasonable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environment,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healthy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will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remarkable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intelligence.</a:t>
            </a:r>
            <a:r>
              <a:rPr dirty="0" sz="850" spc="180">
                <a:latin typeface="Calibri"/>
                <a:cs typeface="Calibri"/>
              </a:rPr>
              <a:t> 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sense,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information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genes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essence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think.</a:t>
            </a:r>
            <a:r>
              <a:rPr dirty="0" sz="850" spc="32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furthermore,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contained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genetic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information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likely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ability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collectively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grasp.</a:t>
            </a:r>
            <a:endParaRPr sz="850">
              <a:latin typeface="Calibri"/>
              <a:cs typeface="Calibri"/>
            </a:endParaRPr>
          </a:p>
          <a:p>
            <a:pPr algn="just" marL="22860" marR="245110" indent="195580">
              <a:lnSpc>
                <a:spcPct val="114300"/>
              </a:lnSpc>
              <a:spcBef>
                <a:spcPts val="185"/>
              </a:spcBef>
            </a:pPr>
            <a:r>
              <a:rPr dirty="0" sz="850" spc="55">
                <a:latin typeface="Calibri"/>
                <a:cs typeface="Calibri"/>
              </a:rPr>
              <a:t>All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very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rough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estimates.</a:t>
            </a:r>
            <a:r>
              <a:rPr dirty="0" sz="850" spc="3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125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tremendous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overestimate,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compact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principles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underlying human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thought.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Maybe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 that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125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fine-tuning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 </a:t>
            </a:r>
            <a:r>
              <a:rPr dirty="0" sz="850" spc="-10">
                <a:latin typeface="Calibri"/>
                <a:cs typeface="Calibri"/>
              </a:rPr>
              <a:t>relatively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details.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maybe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overly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conservative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computed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numbers.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Obviously,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great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true!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current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purposes,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key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this: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architecture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complicated,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nearly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complicated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think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connections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molecular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biology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day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able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basic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principles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750099" y="863965"/>
            <a:ext cx="372745" cy="457200"/>
            <a:chOff x="5750099" y="863965"/>
            <a:chExt cx="372745" cy="457200"/>
          </a:xfrm>
        </p:grpSpPr>
        <p:sp>
          <p:nvSpPr>
            <p:cNvPr id="4" name="object 4"/>
            <p:cNvSpPr/>
            <p:nvPr/>
          </p:nvSpPr>
          <p:spPr>
            <a:xfrm>
              <a:off x="5752629" y="866496"/>
              <a:ext cx="367665" cy="452120"/>
            </a:xfrm>
            <a:custGeom>
              <a:avLst/>
              <a:gdLst/>
              <a:ahLst/>
              <a:cxnLst/>
              <a:rect l="l" t="t" r="r" b="b"/>
              <a:pathLst>
                <a:path w="367664" h="452119">
                  <a:moveTo>
                    <a:pt x="364845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64845" y="451713"/>
                  </a:lnTo>
                  <a:lnTo>
                    <a:pt x="367372" y="451203"/>
                  </a:lnTo>
                  <a:lnTo>
                    <a:pt x="367372" y="510"/>
                  </a:lnTo>
                  <a:lnTo>
                    <a:pt x="364845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5752629" y="866496"/>
              <a:ext cx="367665" cy="452120"/>
            </a:xfrm>
            <a:custGeom>
              <a:avLst/>
              <a:gdLst/>
              <a:ahLst/>
              <a:cxnLst/>
              <a:rect l="l" t="t" r="r" b="b"/>
              <a:pathLst>
                <a:path w="367664" h="452119">
                  <a:moveTo>
                    <a:pt x="367372" y="510"/>
                  </a:moveTo>
                  <a:lnTo>
                    <a:pt x="364845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64845" y="451713"/>
                  </a:lnTo>
                  <a:lnTo>
                    <a:pt x="367372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5847931" y="851994"/>
            <a:ext cx="246379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120">
                <a:latin typeface="Calibri"/>
                <a:cs typeface="Calibri"/>
              </a:rPr>
              <a:t>A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67250" cy="76479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214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intelligence?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850">
              <a:latin typeface="Arial MT"/>
              <a:cs typeface="Arial MT"/>
            </a:endParaRPr>
          </a:p>
          <a:p>
            <a:pPr algn="just" marL="306070">
              <a:lnSpc>
                <a:spcPct val="100000"/>
              </a:lnSpc>
            </a:pPr>
            <a:r>
              <a:rPr dirty="0" sz="850">
                <a:latin typeface="Calibri"/>
                <a:cs typeface="Calibri"/>
              </a:rPr>
              <a:t>behind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brain’s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architecture.</a:t>
            </a:r>
            <a:endParaRPr sz="850">
              <a:latin typeface="Calibri"/>
              <a:cs typeface="Calibri"/>
            </a:endParaRPr>
          </a:p>
          <a:p>
            <a:pPr algn="just" marL="306070" marR="29209" indent="189230">
              <a:lnSpc>
                <a:spcPct val="114300"/>
              </a:lnSpc>
              <a:spcBef>
                <a:spcPts val="135"/>
              </a:spcBef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last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few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paragraphs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I’ve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ignored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fact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125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million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merely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quantifies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genetic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difference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chimp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brains.</a:t>
            </a:r>
            <a:r>
              <a:rPr dirty="0" sz="850" spc="23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due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125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bits.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Chimps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remarkable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thinkers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their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own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right.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Maybe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key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intelligence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mostly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mental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abilities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(and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genetic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information)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chimps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common.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might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upgrade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chimpanzee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brains,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terms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complexity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underlying</a:t>
            </a:r>
            <a:r>
              <a:rPr dirty="0" sz="850" spc="20">
                <a:latin typeface="Calibri"/>
                <a:cs typeface="Calibri"/>
              </a:rPr>
              <a:t> principles.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Despite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conventional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human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chauvinism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about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unique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capabilities,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this</a:t>
            </a:r>
            <a:r>
              <a:rPr dirty="0" sz="850" spc="20">
                <a:latin typeface="Calibri"/>
                <a:cs typeface="Calibri"/>
              </a:rPr>
              <a:t> isn’t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inconceivable: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chimpanzee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human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genetic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lines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diverged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5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million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years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ago,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blink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evolutionary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timescales.</a:t>
            </a:r>
            <a:r>
              <a:rPr dirty="0" sz="850" spc="4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However,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absence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compelling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I’m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sympathetic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conventional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chauvinism:</a:t>
            </a:r>
            <a:r>
              <a:rPr dirty="0" sz="850" spc="355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my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guess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interesting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underlying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125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million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bits,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genome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share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chimpanzees.</a:t>
            </a:r>
            <a:endParaRPr sz="850">
              <a:latin typeface="Calibri"/>
              <a:cs typeface="Calibri"/>
            </a:endParaRPr>
          </a:p>
          <a:p>
            <a:pPr algn="just" marL="299720" marR="27940" indent="196215">
              <a:lnSpc>
                <a:spcPct val="114300"/>
              </a:lnSpc>
              <a:spcBef>
                <a:spcPts val="135"/>
              </a:spcBef>
            </a:pPr>
            <a:r>
              <a:rPr dirty="0" sz="850" spc="10">
                <a:latin typeface="Calibri"/>
                <a:cs typeface="Calibri"/>
              </a:rPr>
              <a:t>Adopting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molecular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biology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gave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roughly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nine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orders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magnitude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complexity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description.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encouraging,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doesn’t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tell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whether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truly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possible.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reductions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complexity?</a:t>
            </a:r>
            <a:r>
              <a:rPr dirty="0" sz="850" spc="40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settle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question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whether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possible?</a:t>
            </a:r>
            <a:endParaRPr sz="850">
              <a:latin typeface="Calibri"/>
              <a:cs typeface="Calibri"/>
            </a:endParaRPr>
          </a:p>
          <a:p>
            <a:pPr algn="just" marL="306070" marR="5715" indent="189230">
              <a:lnSpc>
                <a:spcPct val="114300"/>
              </a:lnSpc>
              <a:spcBef>
                <a:spcPts val="135"/>
              </a:spcBef>
            </a:pPr>
            <a:r>
              <a:rPr dirty="0" sz="850" spc="10">
                <a:latin typeface="Calibri"/>
                <a:cs typeface="Calibri"/>
              </a:rPr>
              <a:t>Unfortunately,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isn’t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yet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strong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enough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decisively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settle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ques-</a:t>
            </a:r>
            <a:r>
              <a:rPr dirty="0" sz="850" spc="10">
                <a:latin typeface="Calibri"/>
                <a:cs typeface="Calibri"/>
              </a:rPr>
              <a:t>tion.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describe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available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caveat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very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brief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incomplete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overview,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meant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convey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flavour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recent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work,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comprehensively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survey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known.</a:t>
            </a:r>
            <a:endParaRPr sz="850">
              <a:latin typeface="Calibri"/>
              <a:cs typeface="Calibri"/>
            </a:endParaRPr>
          </a:p>
          <a:p>
            <a:pPr algn="just" marL="306070" marR="27940" indent="189230">
              <a:lnSpc>
                <a:spcPct val="114300"/>
              </a:lnSpc>
              <a:spcBef>
                <a:spcPts val="130"/>
              </a:spcBef>
            </a:pPr>
            <a:r>
              <a:rPr dirty="0" sz="850" spc="20">
                <a:latin typeface="Calibri"/>
                <a:cs typeface="Calibri"/>
              </a:rPr>
              <a:t>Among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evidence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suggesting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intelligence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reported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April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2000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journal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Nature.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team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scientists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led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by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Mriganka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Sur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“rewired”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newborn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ferrets.</a:t>
            </a:r>
            <a:r>
              <a:rPr dirty="0" sz="850" spc="3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Usually,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signal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ferret’s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eyes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transmitted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cortex.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ferrets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scientists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took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signal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eyes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rerouted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went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auditory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cortex,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i.e,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region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hearing.</a:t>
            </a:r>
            <a:endParaRPr sz="850">
              <a:latin typeface="Calibri"/>
              <a:cs typeface="Calibri"/>
            </a:endParaRPr>
          </a:p>
          <a:p>
            <a:pPr algn="just" marL="306070" marR="9525" indent="189230">
              <a:lnSpc>
                <a:spcPct val="114300"/>
              </a:lnSpc>
              <a:spcBef>
                <a:spcPts val="135"/>
              </a:spcBef>
            </a:pP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understand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happened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this,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need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visual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cortex.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cortex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contains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orientation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columns.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little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slabs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neurons,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each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responds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stimuli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particular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direction.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You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think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orientation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columns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tiny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directional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sensors:</a:t>
            </a:r>
            <a:r>
              <a:rPr dirty="0" sz="850" spc="2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someone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shines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bright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light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from</a:t>
            </a:r>
            <a:r>
              <a:rPr dirty="0" sz="850" spc="20">
                <a:latin typeface="Calibri"/>
                <a:cs typeface="Calibri"/>
              </a:rPr>
              <a:t> some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direction,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corresponding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orientation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column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activated.</a:t>
            </a:r>
            <a:r>
              <a:rPr dirty="0" sz="850" spc="2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light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moved,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orientation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column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activated.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important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high-</a:t>
            </a:r>
            <a:r>
              <a:rPr dirty="0" sz="850" spc="-10">
                <a:latin typeface="Calibri"/>
                <a:cs typeface="Calibri"/>
              </a:rPr>
              <a:t>level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structures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cortex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orientation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map,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charts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orientation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columns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laid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out.</a:t>
            </a:r>
            <a:endParaRPr sz="850">
              <a:latin typeface="Calibri"/>
              <a:cs typeface="Calibri"/>
            </a:endParaRPr>
          </a:p>
          <a:p>
            <a:pPr algn="just" marL="306070" marR="5080" indent="189230">
              <a:lnSpc>
                <a:spcPct val="114300"/>
              </a:lnSpc>
              <a:spcBef>
                <a:spcPts val="135"/>
              </a:spcBef>
            </a:pP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scientists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found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signal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from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ferrets’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eyes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rerouted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auditory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cortex,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auditory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cortex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changed.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Orientation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columns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orientation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map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began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emerge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auditory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cortex.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disorderly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orientation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map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usually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found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cortex,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unmistakably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Furthermore,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scientists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did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ferrets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responded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visual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stimuli,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training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respond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differently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when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lights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flashed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directions.</a:t>
            </a:r>
            <a:r>
              <a:rPr dirty="0" sz="850" spc="48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These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tests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suggested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ferrets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still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learn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“see”,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least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rudimentary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fashion,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auditory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cortex.</a:t>
            </a:r>
            <a:endParaRPr sz="850">
              <a:latin typeface="Calibri"/>
              <a:cs typeface="Calibri"/>
            </a:endParaRPr>
          </a:p>
          <a:p>
            <a:pPr algn="just" marL="302260" marR="5715" indent="193675">
              <a:lnSpc>
                <a:spcPct val="114300"/>
              </a:lnSpc>
              <a:spcBef>
                <a:spcPts val="135"/>
              </a:spcBef>
            </a:pPr>
            <a:r>
              <a:rPr dirty="0" sz="850" spc="50">
                <a:latin typeface="Calibri"/>
                <a:cs typeface="Calibri"/>
              </a:rPr>
              <a:t>This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astonishing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suggests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common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principles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underlying</a:t>
            </a:r>
            <a:r>
              <a:rPr dirty="0" sz="850" spc="20">
                <a:latin typeface="Calibri"/>
                <a:cs typeface="Calibri"/>
              </a:rPr>
              <a:t> how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different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brain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learn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respond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sensory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data.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commonality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pro-</a:t>
            </a:r>
            <a:r>
              <a:rPr dirty="0" sz="850" spc="10">
                <a:latin typeface="Calibri"/>
                <a:cs typeface="Calibri"/>
              </a:rPr>
              <a:t>vides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least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support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underlying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intelligence.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However,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shouldn’t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kid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ourselves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good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ferrets’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vision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in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-2530" y="863965"/>
            <a:ext cx="372745" cy="457200"/>
            <a:chOff x="-2530" y="863965"/>
            <a:chExt cx="372745" cy="457200"/>
          </a:xfrm>
        </p:grpSpPr>
        <p:sp>
          <p:nvSpPr>
            <p:cNvPr id="4" name="object 4"/>
            <p:cNvSpPr/>
            <p:nvPr/>
          </p:nvSpPr>
          <p:spPr>
            <a:xfrm>
              <a:off x="0" y="866496"/>
              <a:ext cx="367665" cy="452120"/>
            </a:xfrm>
            <a:custGeom>
              <a:avLst/>
              <a:gdLst/>
              <a:ahLst/>
              <a:cxnLst/>
              <a:rect l="l" t="t" r="r" b="b"/>
              <a:pathLst>
                <a:path w="367665" h="452119">
                  <a:moveTo>
                    <a:pt x="295363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95363" y="451713"/>
                  </a:lnTo>
                  <a:lnTo>
                    <a:pt x="323391" y="446053"/>
                  </a:lnTo>
                  <a:lnTo>
                    <a:pt x="346278" y="430620"/>
                  </a:lnTo>
                  <a:lnTo>
                    <a:pt x="361709" y="407731"/>
                  </a:lnTo>
                  <a:lnTo>
                    <a:pt x="367367" y="379704"/>
                  </a:lnTo>
                  <a:lnTo>
                    <a:pt x="367367" y="72008"/>
                  </a:lnTo>
                  <a:lnTo>
                    <a:pt x="361709" y="43976"/>
                  </a:lnTo>
                  <a:lnTo>
                    <a:pt x="346278" y="21088"/>
                  </a:lnTo>
                  <a:lnTo>
                    <a:pt x="323391" y="5657"/>
                  </a:lnTo>
                  <a:lnTo>
                    <a:pt x="295363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0" y="866496"/>
              <a:ext cx="367665" cy="452120"/>
            </a:xfrm>
            <a:custGeom>
              <a:avLst/>
              <a:gdLst/>
              <a:ahLst/>
              <a:cxnLst/>
              <a:rect l="l" t="t" r="r" b="b"/>
              <a:pathLst>
                <a:path w="367665" h="452119">
                  <a:moveTo>
                    <a:pt x="0" y="451204"/>
                  </a:moveTo>
                  <a:lnTo>
                    <a:pt x="2520" y="451713"/>
                  </a:lnTo>
                  <a:lnTo>
                    <a:pt x="295363" y="451713"/>
                  </a:lnTo>
                  <a:lnTo>
                    <a:pt x="323391" y="446053"/>
                  </a:lnTo>
                  <a:lnTo>
                    <a:pt x="346278" y="430620"/>
                  </a:lnTo>
                  <a:lnTo>
                    <a:pt x="361709" y="407731"/>
                  </a:lnTo>
                  <a:lnTo>
                    <a:pt x="367367" y="379704"/>
                  </a:lnTo>
                  <a:lnTo>
                    <a:pt x="367367" y="72008"/>
                  </a:lnTo>
                  <a:lnTo>
                    <a:pt x="361709" y="43976"/>
                  </a:lnTo>
                  <a:lnTo>
                    <a:pt x="346278" y="21088"/>
                  </a:lnTo>
                  <a:lnTo>
                    <a:pt x="323391" y="5657"/>
                  </a:lnTo>
                  <a:lnTo>
                    <a:pt x="295363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25831" y="851994"/>
            <a:ext cx="246379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120">
                <a:latin typeface="Calibri"/>
                <a:cs typeface="Calibri"/>
              </a:rPr>
              <a:t>A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28228" y="368724"/>
            <a:ext cx="4678045" cy="72796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30480">
              <a:lnSpc>
                <a:spcPts val="525"/>
              </a:lnSpc>
              <a:spcBef>
                <a:spcPts val="110"/>
              </a:spcBef>
            </a:pPr>
            <a:r>
              <a:rPr dirty="0" sz="850" spc="25">
                <a:latin typeface="Calibri"/>
                <a:cs typeface="Calibri"/>
              </a:rPr>
              <a:t>215</a:t>
            </a:r>
            <a:endParaRPr sz="850">
              <a:latin typeface="Calibri"/>
              <a:cs typeface="Calibri"/>
            </a:endParaRPr>
          </a:p>
          <a:p>
            <a:pPr algn="r" marR="288925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51435" marR="297815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these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experiments.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behavioural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tests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tested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gross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aspects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vision.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course,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can’t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ask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ferrets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they’ve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“learned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see”.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So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experiments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prove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rewired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auditory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cortex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giving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ferrets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high-fidelity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visual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experience.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provide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limited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favour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common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principles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underlie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how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parts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learn.</a:t>
            </a:r>
            <a:endParaRPr sz="850">
              <a:latin typeface="Calibri"/>
              <a:cs typeface="Calibri"/>
            </a:endParaRPr>
          </a:p>
          <a:p>
            <a:pPr algn="just" marL="38100" marR="270510" indent="203200">
              <a:lnSpc>
                <a:spcPct val="114300"/>
              </a:lnSpc>
              <a:spcBef>
                <a:spcPts val="70"/>
              </a:spcBef>
            </a:pP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evidence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against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idea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intelligence?</a:t>
            </a:r>
            <a:r>
              <a:rPr dirty="0" sz="850" spc="3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Some</a:t>
            </a:r>
            <a:r>
              <a:rPr dirty="0" sz="850" spc="20">
                <a:latin typeface="Calibri"/>
                <a:cs typeface="Calibri"/>
              </a:rPr>
              <a:t> evidence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comes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fields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evolutionary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psychology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neuroanatomy.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Since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1960s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evolutionary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psychologists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have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discovered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wide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range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human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universals,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complex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common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humans,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across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cultures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upbringing.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human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universals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include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incest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taboo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mother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son,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use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music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dance,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well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much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complex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linguistic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structure,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use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swear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words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(i.e.,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taboo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words),</a:t>
            </a:r>
            <a:r>
              <a:rPr dirty="0" sz="850" spc="30">
                <a:latin typeface="Calibri"/>
                <a:cs typeface="Calibri"/>
              </a:rPr>
              <a:t> pronouns,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even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structures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basic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as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verb.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Complementing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these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results,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great</a:t>
            </a:r>
            <a:r>
              <a:rPr dirty="0" sz="850" spc="20">
                <a:latin typeface="Calibri"/>
                <a:cs typeface="Calibri"/>
              </a:rPr>
              <a:t> deal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evidence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from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neuroanatomy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shows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human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behaviours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controlled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particular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localized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areas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brain,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areas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seem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similar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all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people.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Taken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together,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findings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suggest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specialized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behaviours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hardwired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into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particular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parts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brains.</a:t>
            </a:r>
            <a:endParaRPr sz="850">
              <a:latin typeface="Calibri"/>
              <a:cs typeface="Calibri"/>
            </a:endParaRPr>
          </a:p>
          <a:p>
            <a:pPr algn="just" marL="38100" marR="271780" indent="203200">
              <a:lnSpc>
                <a:spcPct val="114300"/>
              </a:lnSpc>
              <a:spcBef>
                <a:spcPts val="75"/>
              </a:spcBef>
            </a:pPr>
            <a:r>
              <a:rPr dirty="0" sz="850" spc="10">
                <a:latin typeface="Calibri"/>
                <a:cs typeface="Calibri"/>
              </a:rPr>
              <a:t>Some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people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conclude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results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separate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must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required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for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functions,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consequence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irreducible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complexity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complexity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explanation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brain’s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operation</a:t>
            </a:r>
            <a:r>
              <a:rPr dirty="0" sz="850" spc="50">
                <a:latin typeface="Calibri"/>
                <a:cs typeface="Calibri"/>
              </a:rPr>
              <a:t> (and,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perhaps,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intelligence)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impossible.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example,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well-</a:t>
            </a:r>
            <a:r>
              <a:rPr dirty="0" sz="850" spc="10">
                <a:latin typeface="Calibri"/>
                <a:cs typeface="Calibri"/>
              </a:rPr>
              <a:t>known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researcher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point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view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Marvin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Minsky.</a:t>
            </a:r>
            <a:r>
              <a:rPr dirty="0" sz="850" spc="459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1970s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1980s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Minsky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developed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his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“Society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Mind”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theory,</a:t>
            </a:r>
            <a:r>
              <a:rPr dirty="0" sz="850" spc="2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based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human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intelligence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result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large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society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individually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(but</a:t>
            </a:r>
            <a:r>
              <a:rPr dirty="0" sz="850" spc="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very</a:t>
            </a:r>
            <a:r>
              <a:rPr dirty="0" sz="850" spc="6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different)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computational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processes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Minsky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calls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agents.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his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book</a:t>
            </a:r>
            <a:r>
              <a:rPr dirty="0" sz="850" spc="30">
                <a:latin typeface="Calibri"/>
                <a:cs typeface="Calibri"/>
                <a:hlinkClick r:id="rId2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describing</a:t>
            </a:r>
            <a:r>
              <a:rPr dirty="0" sz="850" spc="30">
                <a:latin typeface="Calibri"/>
                <a:cs typeface="Calibri"/>
                <a:hlinkClick r:id="rId2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the</a:t>
            </a:r>
            <a:r>
              <a:rPr dirty="0" sz="850" spc="30">
                <a:latin typeface="Calibri"/>
                <a:cs typeface="Calibri"/>
                <a:hlinkClick r:id="rId2"/>
              </a:rPr>
              <a:t> </a:t>
            </a:r>
            <a:r>
              <a:rPr dirty="0" sz="850" spc="10">
                <a:latin typeface="Calibri"/>
                <a:cs typeface="Calibri"/>
                <a:hlinkClick r:id="rId2"/>
              </a:rPr>
              <a:t>theory</a:t>
            </a:r>
            <a:r>
              <a:rPr dirty="0" sz="850" spc="10">
                <a:latin typeface="Calibri"/>
                <a:cs typeface="Calibri"/>
              </a:rPr>
              <a:t>,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Minsky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sums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power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view:</a:t>
            </a:r>
            <a:endParaRPr sz="850">
              <a:latin typeface="Calibri"/>
              <a:cs typeface="Calibri"/>
            </a:endParaRPr>
          </a:p>
          <a:p>
            <a:pPr algn="just" marL="51435" marR="294005" indent="189230">
              <a:lnSpc>
                <a:spcPct val="114300"/>
              </a:lnSpc>
              <a:spcBef>
                <a:spcPts val="75"/>
              </a:spcBef>
            </a:pPr>
            <a:r>
              <a:rPr dirty="0" sz="850" spc="10">
                <a:latin typeface="Calibri"/>
                <a:cs typeface="Calibri"/>
              </a:rPr>
              <a:t>What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magical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trick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makes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intelligent?</a:t>
            </a:r>
            <a:r>
              <a:rPr dirty="0" sz="850" spc="2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trick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trick.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power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stems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vast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diversity,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single,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perfect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principle.</a:t>
            </a:r>
            <a:r>
              <a:rPr dirty="0" sz="850" spc="3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-50">
                <a:latin typeface="Calibri"/>
                <a:cs typeface="Calibri"/>
              </a:rPr>
              <a:t>a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response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baseline="35353" sz="825" spc="15">
                <a:latin typeface="Calibri"/>
                <a:cs typeface="Calibri"/>
                <a:hlinkClick r:id="rId3" action="ppaction://hlinksldjump"/>
              </a:rPr>
              <a:t>2</a:t>
            </a:r>
            <a:r>
              <a:rPr dirty="0" baseline="35353" sz="825" spc="502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reviews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his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book,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Minsky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elaborated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motivation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Society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Mind,</a:t>
            </a:r>
            <a:r>
              <a:rPr dirty="0" sz="850" spc="2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giving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argument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similar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stated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above,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based</a:t>
            </a:r>
            <a:r>
              <a:rPr dirty="0" sz="850" spc="2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neuroanatomy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and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evolutionary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psychology:</a:t>
            </a:r>
            <a:endParaRPr sz="850">
              <a:latin typeface="Calibri"/>
              <a:cs typeface="Calibri"/>
            </a:endParaRPr>
          </a:p>
          <a:p>
            <a:pPr algn="just" marL="591185" marR="654050">
              <a:lnSpc>
                <a:spcPct val="114300"/>
              </a:lnSpc>
              <a:spcBef>
                <a:spcPts val="75"/>
              </a:spcBef>
            </a:pP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now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brain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itself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composed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hundreds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regions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nuclei,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each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significantly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architectural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elements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arrangements,</a:t>
            </a:r>
            <a:r>
              <a:rPr dirty="0" sz="850" spc="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many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them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involved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demonstrably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different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aspects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mental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activities.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modern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mass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knowledge</a:t>
            </a:r>
            <a:r>
              <a:rPr dirty="0" sz="850" spc="20">
                <a:latin typeface="Calibri"/>
                <a:cs typeface="Calibri"/>
              </a:rPr>
              <a:t> shows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phenomena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traditionally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described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commonsense</a:t>
            </a:r>
            <a:r>
              <a:rPr dirty="0" sz="850" spc="20">
                <a:latin typeface="Calibri"/>
                <a:cs typeface="Calibri"/>
              </a:rPr>
              <a:t> terms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like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“intelligence”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“understanding”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actually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involve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complex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assemblies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machinery.</a:t>
            </a:r>
            <a:endParaRPr sz="850">
              <a:latin typeface="Calibri"/>
              <a:cs typeface="Calibri"/>
            </a:endParaRPr>
          </a:p>
          <a:p>
            <a:pPr algn="just" marL="51435" marR="270510">
              <a:lnSpc>
                <a:spcPct val="114300"/>
              </a:lnSpc>
              <a:spcBef>
                <a:spcPts val="75"/>
              </a:spcBef>
            </a:pPr>
            <a:r>
              <a:rPr dirty="0" sz="850">
                <a:latin typeface="Calibri"/>
                <a:cs typeface="Calibri"/>
              </a:rPr>
              <a:t>Minsky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course,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only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person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hold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along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2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lines;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I’m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merely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giving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him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example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supporter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line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argument.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I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find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argument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interesting,</a:t>
            </a:r>
            <a:r>
              <a:rPr dirty="0" sz="850" spc="2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don’t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believe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compelling.</a:t>
            </a:r>
            <a:r>
              <a:rPr dirty="0" sz="850" spc="215">
                <a:latin typeface="Calibri"/>
                <a:cs typeface="Calibri"/>
              </a:rPr>
              <a:t>  </a:t>
            </a:r>
            <a:r>
              <a:rPr dirty="0" sz="850">
                <a:latin typeface="Calibri"/>
                <a:cs typeface="Calibri"/>
              </a:rPr>
              <a:t>While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54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brain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composed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large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number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regions,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functions,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does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not</a:t>
            </a:r>
            <a:r>
              <a:rPr dirty="0" sz="850" spc="20">
                <a:latin typeface="Calibri"/>
                <a:cs typeface="Calibri"/>
              </a:rPr>
              <a:t> therefore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follow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explanation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brain’s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function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impossible.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Perhaps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those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architectural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differences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arise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common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underlying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principles,</a:t>
            </a:r>
            <a:r>
              <a:rPr dirty="0" sz="850" spc="2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much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motion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comets,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planets,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sun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stars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arise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from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single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gravitational</a:t>
            </a:r>
            <a:r>
              <a:rPr dirty="0" sz="850" spc="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force.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Neither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Minsky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nor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anyone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else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argued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convincingly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against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underlying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principles.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79996" y="7755597"/>
            <a:ext cx="1728470" cy="0"/>
          </a:xfrm>
          <a:custGeom>
            <a:avLst/>
            <a:gdLst/>
            <a:ahLst/>
            <a:cxnLst/>
            <a:rect l="l" t="t" r="r" b="b"/>
            <a:pathLst>
              <a:path w="1728470" h="0">
                <a:moveTo>
                  <a:pt x="0" y="0"/>
                </a:moveTo>
                <a:lnTo>
                  <a:pt x="1727973" y="0"/>
                </a:lnTo>
              </a:path>
            </a:pathLst>
          </a:custGeom>
          <a:ln w="7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035188" y="7770973"/>
            <a:ext cx="4403090" cy="2438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72720">
              <a:lnSpc>
                <a:spcPts val="850"/>
              </a:lnSpc>
              <a:spcBef>
                <a:spcPts val="114"/>
              </a:spcBef>
            </a:pPr>
            <a:r>
              <a:rPr dirty="0" baseline="30303" sz="825" spc="82">
                <a:latin typeface="Calibri"/>
                <a:cs typeface="Calibri"/>
              </a:rPr>
              <a:t>2</a:t>
            </a:r>
            <a:r>
              <a:rPr dirty="0" sz="750" spc="55">
                <a:latin typeface="Calibri"/>
                <a:cs typeface="Calibri"/>
              </a:rPr>
              <a:t>In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Contemplating</a:t>
            </a:r>
            <a:r>
              <a:rPr dirty="0" sz="750" spc="7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Minds:</a:t>
            </a:r>
            <a:r>
              <a:rPr dirty="0" sz="750" spc="16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A</a:t>
            </a:r>
            <a:r>
              <a:rPr dirty="0" sz="750" spc="7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Forum</a:t>
            </a:r>
            <a:r>
              <a:rPr dirty="0" sz="750" spc="7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for</a:t>
            </a:r>
            <a:r>
              <a:rPr dirty="0" sz="750" spc="70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Artificial</a:t>
            </a:r>
            <a:r>
              <a:rPr dirty="0" sz="750" spc="75">
                <a:latin typeface="Calibri"/>
                <a:cs typeface="Calibri"/>
                <a:hlinkClick r:id="rId4"/>
              </a:rPr>
              <a:t> </a:t>
            </a:r>
            <a:r>
              <a:rPr dirty="0" sz="750" spc="20">
                <a:latin typeface="Calibri"/>
                <a:cs typeface="Calibri"/>
                <a:hlinkClick r:id="rId4"/>
              </a:rPr>
              <a:t>Intelligence</a:t>
            </a:r>
            <a:r>
              <a:rPr dirty="0" sz="750" spc="20">
                <a:latin typeface="Calibri"/>
                <a:cs typeface="Calibri"/>
              </a:rPr>
              <a:t>,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edited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by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William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60">
                <a:latin typeface="Calibri"/>
                <a:cs typeface="Calibri"/>
              </a:rPr>
              <a:t>J.</a:t>
            </a:r>
            <a:r>
              <a:rPr dirty="0" sz="750" spc="70">
                <a:latin typeface="Calibri"/>
                <a:cs typeface="Calibri"/>
              </a:rPr>
              <a:t> </a:t>
            </a:r>
            <a:r>
              <a:rPr dirty="0" sz="750" spc="20">
                <a:latin typeface="Calibri"/>
                <a:cs typeface="Calibri"/>
              </a:rPr>
              <a:t>Clancey,</a:t>
            </a:r>
            <a:r>
              <a:rPr dirty="0" sz="750" spc="75">
                <a:latin typeface="Calibri"/>
                <a:cs typeface="Calibri"/>
              </a:rPr>
              <a:t> </a:t>
            </a:r>
            <a:r>
              <a:rPr dirty="0" sz="750" spc="-10">
                <a:latin typeface="Calibri"/>
                <a:cs typeface="Calibri"/>
              </a:rPr>
              <a:t>Stephen</a:t>
            </a:r>
            <a:endParaRPr sz="750">
              <a:latin typeface="Calibri"/>
              <a:cs typeface="Calibri"/>
            </a:endParaRPr>
          </a:p>
          <a:p>
            <a:pPr marL="38100">
              <a:lnSpc>
                <a:spcPts val="850"/>
              </a:lnSpc>
            </a:pPr>
            <a:r>
              <a:rPr dirty="0" sz="750">
                <a:latin typeface="Calibri"/>
                <a:cs typeface="Calibri"/>
              </a:rPr>
              <a:t>W.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Smoliar,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and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Mark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Stefik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65">
                <a:latin typeface="Calibri"/>
                <a:cs typeface="Calibri"/>
              </a:rPr>
              <a:t>(MIT</a:t>
            </a:r>
            <a:r>
              <a:rPr dirty="0" sz="750" spc="130">
                <a:latin typeface="Calibri"/>
                <a:cs typeface="Calibri"/>
              </a:rPr>
              <a:t> </a:t>
            </a:r>
            <a:r>
              <a:rPr dirty="0" sz="750">
                <a:latin typeface="Calibri"/>
                <a:cs typeface="Calibri"/>
              </a:rPr>
              <a:t>Press,</a:t>
            </a:r>
            <a:r>
              <a:rPr dirty="0" sz="750" spc="135">
                <a:latin typeface="Calibri"/>
                <a:cs typeface="Calibri"/>
              </a:rPr>
              <a:t> </a:t>
            </a:r>
            <a:r>
              <a:rPr dirty="0" sz="750" spc="40">
                <a:latin typeface="Calibri"/>
                <a:cs typeface="Calibri"/>
              </a:rPr>
              <a:t>1994).</a:t>
            </a:r>
            <a:endParaRPr sz="75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5750099" y="863965"/>
            <a:ext cx="372745" cy="457200"/>
            <a:chOff x="5750099" y="863965"/>
            <a:chExt cx="372745" cy="457200"/>
          </a:xfrm>
        </p:grpSpPr>
        <p:sp>
          <p:nvSpPr>
            <p:cNvPr id="6" name="object 6"/>
            <p:cNvSpPr/>
            <p:nvPr/>
          </p:nvSpPr>
          <p:spPr>
            <a:xfrm>
              <a:off x="5752629" y="866496"/>
              <a:ext cx="367665" cy="452120"/>
            </a:xfrm>
            <a:custGeom>
              <a:avLst/>
              <a:gdLst/>
              <a:ahLst/>
              <a:cxnLst/>
              <a:rect l="l" t="t" r="r" b="b"/>
              <a:pathLst>
                <a:path w="367664" h="452119">
                  <a:moveTo>
                    <a:pt x="364845" y="0"/>
                  </a:move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64845" y="451713"/>
                  </a:lnTo>
                  <a:lnTo>
                    <a:pt x="367372" y="451203"/>
                  </a:lnTo>
                  <a:lnTo>
                    <a:pt x="367372" y="510"/>
                  </a:lnTo>
                  <a:lnTo>
                    <a:pt x="364845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752629" y="866496"/>
              <a:ext cx="367665" cy="452120"/>
            </a:xfrm>
            <a:custGeom>
              <a:avLst/>
              <a:gdLst/>
              <a:ahLst/>
              <a:cxnLst/>
              <a:rect l="l" t="t" r="r" b="b"/>
              <a:pathLst>
                <a:path w="367664" h="452119">
                  <a:moveTo>
                    <a:pt x="367372" y="510"/>
                  </a:moveTo>
                  <a:lnTo>
                    <a:pt x="364845" y="0"/>
                  </a:lnTo>
                  <a:lnTo>
                    <a:pt x="71996" y="0"/>
                  </a:lnTo>
                  <a:lnTo>
                    <a:pt x="43971" y="5657"/>
                  </a:lnTo>
                  <a:lnTo>
                    <a:pt x="21086" y="21088"/>
                  </a:lnTo>
                  <a:lnTo>
                    <a:pt x="5657" y="43976"/>
                  </a:lnTo>
                  <a:lnTo>
                    <a:pt x="0" y="72008"/>
                  </a:lnTo>
                  <a:lnTo>
                    <a:pt x="0" y="379704"/>
                  </a:lnTo>
                  <a:lnTo>
                    <a:pt x="5657" y="407731"/>
                  </a:lnTo>
                  <a:lnTo>
                    <a:pt x="21086" y="430620"/>
                  </a:lnTo>
                  <a:lnTo>
                    <a:pt x="43971" y="446053"/>
                  </a:lnTo>
                  <a:lnTo>
                    <a:pt x="71996" y="451713"/>
                  </a:lnTo>
                  <a:lnTo>
                    <a:pt x="364845" y="451713"/>
                  </a:lnTo>
                  <a:lnTo>
                    <a:pt x="367372" y="451203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5847931" y="851994"/>
            <a:ext cx="246379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120">
                <a:latin typeface="Calibri"/>
                <a:cs typeface="Calibri"/>
              </a:rPr>
              <a:t>A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13400" y="368721"/>
            <a:ext cx="4662170" cy="58997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525"/>
              </a:lnSpc>
              <a:spcBef>
                <a:spcPts val="110"/>
              </a:spcBef>
              <a:tabLst>
                <a:tab pos="368935" algn="l"/>
              </a:tabLst>
            </a:pPr>
            <a:r>
              <a:rPr dirty="0" sz="850" spc="25">
                <a:latin typeface="Calibri"/>
                <a:cs typeface="Calibri"/>
              </a:rPr>
              <a:t>216</a:t>
            </a:r>
            <a:r>
              <a:rPr dirty="0" sz="850">
                <a:latin typeface="Calibri"/>
                <a:cs typeface="Calibri"/>
              </a:rPr>
              <a:t>	</a:t>
            </a:r>
            <a:r>
              <a:rPr dirty="0" sz="850" spc="1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intelligence?</a:t>
            </a:r>
            <a:endParaRPr sz="850">
              <a:latin typeface="Calibri"/>
              <a:cs typeface="Calibri"/>
            </a:endParaRPr>
          </a:p>
          <a:p>
            <a:pPr marL="255904">
              <a:lnSpc>
                <a:spcPts val="525"/>
              </a:lnSpc>
            </a:pPr>
            <a:r>
              <a:rPr dirty="0" sz="850">
                <a:latin typeface="Arial MT"/>
                <a:cs typeface="Arial MT"/>
              </a:rPr>
              <a:t> </a:t>
            </a: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85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50">
              <a:latin typeface="Arial MT"/>
              <a:cs typeface="Arial MT"/>
            </a:endParaRPr>
          </a:p>
          <a:p>
            <a:pPr algn="just" marL="306070" marR="5080" indent="189230">
              <a:lnSpc>
                <a:spcPct val="114300"/>
              </a:lnSpc>
              <a:spcBef>
                <a:spcPts val="5"/>
              </a:spcBef>
            </a:pPr>
            <a:r>
              <a:rPr dirty="0" sz="850" spc="20">
                <a:latin typeface="Calibri"/>
                <a:cs typeface="Calibri"/>
              </a:rPr>
              <a:t>My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own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prejudice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favour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there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being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algorithm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11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intelligence.</a:t>
            </a:r>
            <a:r>
              <a:rPr dirty="0" sz="850" spc="20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 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main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reason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like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idea,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above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and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beyond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the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(inconclusive)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arguments</a:t>
            </a:r>
            <a:r>
              <a:rPr dirty="0" sz="850" spc="50">
                <a:latin typeface="Calibri"/>
                <a:cs typeface="Calibri"/>
              </a:rPr>
              <a:t> </a:t>
            </a:r>
            <a:r>
              <a:rPr dirty="0" sz="850" spc="30">
                <a:latin typeface="Calibri"/>
                <a:cs typeface="Calibri"/>
              </a:rPr>
              <a:t>above,</a:t>
            </a:r>
            <a:r>
              <a:rPr dirty="0" sz="850" spc="5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it’s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optimistic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comes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research,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unjustified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optimism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often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more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productive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seemingly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better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justified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pessimism,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has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courage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set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new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things.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That’s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path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discovery,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even</a:t>
            </a:r>
            <a:r>
              <a:rPr dirty="0" sz="850" spc="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discovered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perhaps</a:t>
            </a:r>
            <a:r>
              <a:rPr dirty="0" sz="850" spc="20">
                <a:latin typeface="Calibri"/>
                <a:cs typeface="Calibri"/>
              </a:rPr>
              <a:t> not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originally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hoped.</a:t>
            </a:r>
            <a:r>
              <a:rPr dirty="0" sz="850" spc="204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A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pessimist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may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more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“correct”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some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narrow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sense,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will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discover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less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optimist.</a:t>
            </a:r>
            <a:endParaRPr sz="850">
              <a:latin typeface="Calibri"/>
              <a:cs typeface="Calibri"/>
            </a:endParaRPr>
          </a:p>
          <a:p>
            <a:pPr algn="just" marL="299720" marR="5080" indent="196215">
              <a:lnSpc>
                <a:spcPct val="114300"/>
              </a:lnSpc>
            </a:pPr>
            <a:r>
              <a:rPr dirty="0" sz="850">
                <a:latin typeface="Calibri"/>
                <a:cs typeface="Calibri"/>
              </a:rPr>
              <a:t>This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point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view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stark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contrast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usually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judge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ideas:</a:t>
            </a:r>
            <a:r>
              <a:rPr dirty="0" sz="850" spc="229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attempting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figure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whether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right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wrong.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sensible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strategy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dealing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with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routine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minutiae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day-to-day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research.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can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wrong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judging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big,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bold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sort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defines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entire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research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program.</a:t>
            </a:r>
            <a:r>
              <a:rPr dirty="0" sz="850" spc="1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Sometimes,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have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only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weak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about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whether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such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correct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not.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meekly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refuse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follow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idea,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spending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all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our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time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squinting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available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evidence,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trying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discern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what’s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true.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can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accept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no-one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yet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knows,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instead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work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hard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developing</a:t>
            </a:r>
            <a:r>
              <a:rPr dirty="0" sz="850" spc="20">
                <a:latin typeface="Calibri"/>
                <a:cs typeface="Calibri"/>
              </a:rPr>
              <a:t> the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big,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bold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understanding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while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have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no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guarantee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of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success,</a:t>
            </a:r>
            <a:r>
              <a:rPr dirty="0" sz="850" spc="10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it</a:t>
            </a:r>
            <a:r>
              <a:rPr dirty="0" sz="850" spc="10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is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only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thus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our</a:t>
            </a:r>
            <a:r>
              <a:rPr dirty="0" sz="850" spc="13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understanding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advances.</a:t>
            </a:r>
            <a:endParaRPr sz="850">
              <a:latin typeface="Calibri"/>
              <a:cs typeface="Calibri"/>
            </a:endParaRPr>
          </a:p>
          <a:p>
            <a:pPr algn="just" marL="299720" marR="23495" indent="196215">
              <a:lnSpc>
                <a:spcPct val="114300"/>
              </a:lnSpc>
            </a:pPr>
            <a:r>
              <a:rPr dirty="0" sz="850" spc="10">
                <a:latin typeface="Calibri"/>
                <a:cs typeface="Calibri"/>
              </a:rPr>
              <a:t>With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said,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its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most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optimistic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form,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believe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simple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more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concrete,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I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don’t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believe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really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short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Python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(or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0">
                <a:latin typeface="Calibri"/>
                <a:cs typeface="Calibri"/>
              </a:rPr>
              <a:t>C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Lisp,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whatever)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let’s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say,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anywhere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thousand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lines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of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code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–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which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intelligence.</a:t>
            </a:r>
            <a:r>
              <a:rPr dirty="0" sz="850" spc="3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70">
                <a:latin typeface="Calibri"/>
                <a:cs typeface="Calibri"/>
              </a:rPr>
              <a:t>I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think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we’ll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ever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8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really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easily-described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neural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implement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intelligence.</a:t>
            </a:r>
            <a:r>
              <a:rPr dirty="0" sz="850" spc="2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But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65">
                <a:latin typeface="Calibri"/>
                <a:cs typeface="Calibri"/>
              </a:rPr>
              <a:t>I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do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believe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it’s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worth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could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find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such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program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or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network.</a:t>
            </a:r>
            <a:r>
              <a:rPr dirty="0" sz="850" spc="3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That’s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path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20">
                <a:latin typeface="Calibri"/>
                <a:cs typeface="Calibri"/>
              </a:rPr>
              <a:t> insight,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pursuing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that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path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day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understand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enough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write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longer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program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or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more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sophisticated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network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which</a:t>
            </a:r>
            <a:r>
              <a:rPr dirty="0" sz="850" spc="18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does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exhibit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intelligence.</a:t>
            </a:r>
            <a:r>
              <a:rPr dirty="0" sz="850" spc="2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it’s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worth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acting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though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extremely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simple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algorithm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for</a:t>
            </a:r>
            <a:r>
              <a:rPr dirty="0" sz="850" spc="13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</a:t>
            </a:r>
            <a:r>
              <a:rPr dirty="0" sz="850" spc="1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exists.</a:t>
            </a:r>
            <a:endParaRPr sz="850">
              <a:latin typeface="Calibri"/>
              <a:cs typeface="Calibri"/>
            </a:endParaRPr>
          </a:p>
          <a:p>
            <a:pPr algn="just" marL="306070" marR="5080" indent="189230">
              <a:lnSpc>
                <a:spcPct val="114300"/>
              </a:lnSpc>
            </a:pPr>
            <a:r>
              <a:rPr dirty="0" sz="850" spc="55">
                <a:latin typeface="Calibri"/>
                <a:cs typeface="Calibri"/>
              </a:rPr>
              <a:t>In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1980s,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eminent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mathematician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computer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scientist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55">
                <a:latin typeface="Calibri"/>
                <a:cs typeface="Calibri"/>
              </a:rPr>
              <a:t>Jack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Schwartz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was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invited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to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debate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between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intelligence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proponents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2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artificial</a:t>
            </a:r>
            <a:r>
              <a:rPr dirty="0" sz="850" spc="26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intelligence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skeptics.</a:t>
            </a:r>
            <a:r>
              <a:rPr dirty="0" sz="850" spc="2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debate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became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unruly,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proponents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making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over-the-top</a:t>
            </a:r>
            <a:r>
              <a:rPr dirty="0" sz="850" spc="1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claims</a:t>
            </a:r>
            <a:r>
              <a:rPr dirty="0" sz="850" spc="14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about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amazing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things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just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round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corner,</a:t>
            </a:r>
            <a:r>
              <a:rPr dirty="0" sz="850" spc="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skeptics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doubling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down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their</a:t>
            </a:r>
            <a:r>
              <a:rPr dirty="0" sz="850" spc="9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pessimism,</a:t>
            </a:r>
            <a:r>
              <a:rPr dirty="0" sz="850" spc="20">
                <a:latin typeface="Calibri"/>
                <a:cs typeface="Calibri"/>
              </a:rPr>
              <a:t> claiming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artificial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intelligence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outright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impossible.</a:t>
            </a:r>
            <a:r>
              <a:rPr dirty="0" sz="850" spc="37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Schwartz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was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outsider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17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the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debate,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and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remained</a:t>
            </a:r>
            <a:r>
              <a:rPr dirty="0" sz="850" spc="16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silent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the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discussion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heated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up.</a:t>
            </a:r>
            <a:r>
              <a:rPr dirty="0" sz="850" spc="36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During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lull,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he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was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10">
                <a:latin typeface="Calibri"/>
                <a:cs typeface="Calibri"/>
              </a:rPr>
              <a:t>asked</a:t>
            </a:r>
            <a:r>
              <a:rPr dirty="0" sz="850" spc="16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to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speak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up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state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thoughts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issues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under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discussion.</a:t>
            </a:r>
            <a:r>
              <a:rPr dirty="0" sz="850" spc="405">
                <a:latin typeface="Calibri"/>
                <a:cs typeface="Calibri"/>
              </a:rPr>
              <a:t> </a:t>
            </a:r>
            <a:r>
              <a:rPr dirty="0" sz="850" spc="60">
                <a:latin typeface="Calibri"/>
                <a:cs typeface="Calibri"/>
              </a:rPr>
              <a:t>He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said:</a:t>
            </a:r>
            <a:r>
              <a:rPr dirty="0" sz="850" spc="35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“Well,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some</a:t>
            </a:r>
            <a:r>
              <a:rPr dirty="0" sz="850" spc="195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of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these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developments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may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one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hundred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Nobel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prizes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away”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(</a:t>
            </a:r>
            <a:r>
              <a:rPr dirty="0" sz="850">
                <a:latin typeface="Calibri"/>
                <a:cs typeface="Calibri"/>
                <a:hlinkClick r:id="rId2"/>
              </a:rPr>
              <a:t>ref</a:t>
            </a:r>
            <a:r>
              <a:rPr dirty="0" sz="850">
                <a:latin typeface="Calibri"/>
                <a:cs typeface="Calibri"/>
              </a:rPr>
              <a:t>,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page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22).</a:t>
            </a:r>
            <a:r>
              <a:rPr dirty="0" sz="850" spc="2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It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seems</a:t>
            </a:r>
            <a:r>
              <a:rPr dirty="0" sz="850" spc="12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me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perfect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response.</a:t>
            </a:r>
            <a:r>
              <a:rPr dirty="0" sz="850" spc="170">
                <a:latin typeface="Calibri"/>
                <a:cs typeface="Calibri"/>
              </a:rPr>
              <a:t> </a:t>
            </a:r>
            <a:r>
              <a:rPr dirty="0" sz="850" spc="50">
                <a:latin typeface="Calibri"/>
                <a:cs typeface="Calibri"/>
              </a:rPr>
              <a:t>The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key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artificial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intelligence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is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simple,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powerful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ideas,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and</a:t>
            </a:r>
            <a:r>
              <a:rPr dirty="0" sz="850" spc="8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</a:t>
            </a:r>
            <a:r>
              <a:rPr dirty="0" sz="850" spc="8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can</a:t>
            </a:r>
            <a:r>
              <a:rPr dirty="0" sz="850" spc="20">
                <a:latin typeface="Calibri"/>
                <a:cs typeface="Calibri"/>
              </a:rPr>
              <a:t> and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should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search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optimistically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for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those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ideas.</a:t>
            </a:r>
            <a:r>
              <a:rPr dirty="0" sz="850" spc="155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But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we’re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going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to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need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many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20">
                <a:latin typeface="Calibri"/>
                <a:cs typeface="Calibri"/>
              </a:rPr>
              <a:t>such</a:t>
            </a:r>
            <a:r>
              <a:rPr dirty="0" sz="850" spc="7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ideas,</a:t>
            </a:r>
            <a:r>
              <a:rPr dirty="0" sz="850" spc="50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we’ve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still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got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long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way</a:t>
            </a:r>
            <a:r>
              <a:rPr dirty="0" sz="850" spc="114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to</a:t>
            </a:r>
            <a:r>
              <a:rPr dirty="0" sz="850" spc="120">
                <a:latin typeface="Calibri"/>
                <a:cs typeface="Calibri"/>
              </a:rPr>
              <a:t> </a:t>
            </a:r>
            <a:r>
              <a:rPr dirty="0" sz="850" spc="-25">
                <a:latin typeface="Calibri"/>
                <a:cs typeface="Calibri"/>
              </a:rPr>
              <a:t>go!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-2530" y="863965"/>
            <a:ext cx="372745" cy="457200"/>
            <a:chOff x="-2530" y="863965"/>
            <a:chExt cx="372745" cy="457200"/>
          </a:xfrm>
        </p:grpSpPr>
        <p:sp>
          <p:nvSpPr>
            <p:cNvPr id="4" name="object 4"/>
            <p:cNvSpPr/>
            <p:nvPr/>
          </p:nvSpPr>
          <p:spPr>
            <a:xfrm>
              <a:off x="0" y="866496"/>
              <a:ext cx="367665" cy="452120"/>
            </a:xfrm>
            <a:custGeom>
              <a:avLst/>
              <a:gdLst/>
              <a:ahLst/>
              <a:cxnLst/>
              <a:rect l="l" t="t" r="r" b="b"/>
              <a:pathLst>
                <a:path w="367665" h="452119">
                  <a:moveTo>
                    <a:pt x="295363" y="0"/>
                  </a:moveTo>
                  <a:lnTo>
                    <a:pt x="2520" y="0"/>
                  </a:lnTo>
                  <a:lnTo>
                    <a:pt x="0" y="508"/>
                  </a:lnTo>
                  <a:lnTo>
                    <a:pt x="0" y="451204"/>
                  </a:lnTo>
                  <a:lnTo>
                    <a:pt x="2520" y="451713"/>
                  </a:lnTo>
                  <a:lnTo>
                    <a:pt x="295363" y="451713"/>
                  </a:lnTo>
                  <a:lnTo>
                    <a:pt x="323391" y="446053"/>
                  </a:lnTo>
                  <a:lnTo>
                    <a:pt x="346278" y="430620"/>
                  </a:lnTo>
                  <a:lnTo>
                    <a:pt x="361709" y="407731"/>
                  </a:lnTo>
                  <a:lnTo>
                    <a:pt x="367367" y="379704"/>
                  </a:lnTo>
                  <a:lnTo>
                    <a:pt x="367367" y="72008"/>
                  </a:lnTo>
                  <a:lnTo>
                    <a:pt x="361709" y="43976"/>
                  </a:lnTo>
                  <a:lnTo>
                    <a:pt x="346278" y="21088"/>
                  </a:lnTo>
                  <a:lnTo>
                    <a:pt x="323391" y="5657"/>
                  </a:lnTo>
                  <a:lnTo>
                    <a:pt x="295363" y="0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0" y="866496"/>
              <a:ext cx="367665" cy="452120"/>
            </a:xfrm>
            <a:custGeom>
              <a:avLst/>
              <a:gdLst/>
              <a:ahLst/>
              <a:cxnLst/>
              <a:rect l="l" t="t" r="r" b="b"/>
              <a:pathLst>
                <a:path w="367665" h="452119">
                  <a:moveTo>
                    <a:pt x="0" y="451204"/>
                  </a:moveTo>
                  <a:lnTo>
                    <a:pt x="2520" y="451713"/>
                  </a:lnTo>
                  <a:lnTo>
                    <a:pt x="295363" y="451713"/>
                  </a:lnTo>
                  <a:lnTo>
                    <a:pt x="323391" y="446053"/>
                  </a:lnTo>
                  <a:lnTo>
                    <a:pt x="346278" y="430620"/>
                  </a:lnTo>
                  <a:lnTo>
                    <a:pt x="361709" y="407731"/>
                  </a:lnTo>
                  <a:lnTo>
                    <a:pt x="367367" y="379704"/>
                  </a:lnTo>
                  <a:lnTo>
                    <a:pt x="367367" y="72008"/>
                  </a:lnTo>
                  <a:lnTo>
                    <a:pt x="361709" y="43976"/>
                  </a:lnTo>
                  <a:lnTo>
                    <a:pt x="346278" y="21088"/>
                  </a:lnTo>
                  <a:lnTo>
                    <a:pt x="323391" y="5657"/>
                  </a:lnTo>
                  <a:lnTo>
                    <a:pt x="295363" y="0"/>
                  </a:lnTo>
                  <a:lnTo>
                    <a:pt x="2520" y="0"/>
                  </a:lnTo>
                  <a:lnTo>
                    <a:pt x="0" y="508"/>
                  </a:lnTo>
                </a:path>
              </a:pathLst>
            </a:custGeom>
            <a:ln w="5060">
              <a:solidFill>
                <a:srgbClr val="3F3F3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25831" y="851994"/>
            <a:ext cx="246379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700" spc="120">
                <a:latin typeface="Calibri"/>
                <a:cs typeface="Calibri"/>
              </a:rPr>
              <a:t>A</a:t>
            </a:r>
            <a:endParaRPr sz="2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Michael Nielsen</dc:creator>
  <cp:keywords>InfoLibros</cp:keywords>
  <dc:subject>Descarga libros gratis de manera legal en InfoLibros.org. El mejor sitio para leer y descargar libros gratis en PDF.</dc:subject>
  <dc:title>Neural Networks and Deep Learning</dc:title>
  <dcterms:created xsi:type="dcterms:W3CDTF">2026-09-11T09:14:02Z</dcterms:created>
  <dcterms:modified xsi:type="dcterms:W3CDTF">2026-09-11T09:14:02Z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verter">
    <vt:lpwstr>SolidFramework v10.0.19910.1</vt:lpwstr>
  </property>
  <property fmtid="{D5CDD505-2E9C-101B-9397-08002B2CF9AE}" pid="3" name="Created">
    <vt:filetime>2026-02-24T00:00:00Z</vt:filetime>
  </property>
  <property fmtid="{D5CDD505-2E9C-101B-9397-08002B2CF9AE}" pid="4" name="Creator">
    <vt:lpwstr>LaTeX with hyperref package</vt:lpwstr>
  </property>
  <property fmtid="{D5CDD505-2E9C-101B-9397-08002B2CF9AE}" pid="5" name="LastSaved">
    <vt:filetime>2026-09-11T00:00:00Z</vt:filetime>
  </property>
  <property fmtid="{D5CDD505-2E9C-101B-9397-08002B2CF9AE}" pid="6" name="Producer">
    <vt:lpwstr>GPL Ghostscript 10.05.1</vt:lpwstr>
  </property>
</Properties>
</file>